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68"/>
  </p:notesMasterIdLst>
  <p:handoutMasterIdLst>
    <p:handoutMasterId r:id="rId69"/>
  </p:handoutMasterIdLst>
  <p:sldIdLst>
    <p:sldId id="256" r:id="rId2"/>
    <p:sldId id="261" r:id="rId3"/>
    <p:sldId id="263" r:id="rId4"/>
    <p:sldId id="326" r:id="rId5"/>
    <p:sldId id="327" r:id="rId6"/>
    <p:sldId id="264" r:id="rId7"/>
    <p:sldId id="265" r:id="rId8"/>
    <p:sldId id="266" r:id="rId9"/>
    <p:sldId id="283" r:id="rId10"/>
    <p:sldId id="268" r:id="rId11"/>
    <p:sldId id="269" r:id="rId12"/>
    <p:sldId id="270" r:id="rId13"/>
    <p:sldId id="271" r:id="rId14"/>
    <p:sldId id="272" r:id="rId15"/>
    <p:sldId id="273" r:id="rId16"/>
    <p:sldId id="275" r:id="rId17"/>
    <p:sldId id="276" r:id="rId18"/>
    <p:sldId id="277" r:id="rId19"/>
    <p:sldId id="279" r:id="rId20"/>
    <p:sldId id="280" r:id="rId21"/>
    <p:sldId id="281" r:id="rId22"/>
    <p:sldId id="282" r:id="rId23"/>
    <p:sldId id="285" r:id="rId24"/>
    <p:sldId id="286" r:id="rId25"/>
    <p:sldId id="278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267" r:id="rId53"/>
    <p:sldId id="313" r:id="rId54"/>
    <p:sldId id="314" r:id="rId55"/>
    <p:sldId id="27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51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4EE8F0D-4C39-45F8-A86B-93ED1F9D17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F67F67-5D71-4F4C-B62B-A94D0A480B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8648D-752F-4D9E-8EC2-61293C3E9BC7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044854-0830-44C0-9D0A-E43EA97F77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98EFAA-FD92-4E85-A429-F363379A13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48D3A-3BA1-4F54-81A1-A8158414A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340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C82C2-29AC-436A-BE1C-15EF34E1D3DC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B5CAF-5B6F-425A-AE44-DCAC1E915D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54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Classe: Carro</a:t>
            </a:r>
            <a:endParaRPr lang="pt-BR" dirty="0"/>
          </a:p>
          <a:p>
            <a:r>
              <a:rPr lang="pt-BR" dirty="0"/>
              <a:t>A classe Carro representa o objeto principal e tem atributos e comportamentos relacionados ao carro como um todo.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modelo: Modelo do carro (String)</a:t>
            </a:r>
          </a:p>
          <a:p>
            <a:pPr lvl="1"/>
            <a:r>
              <a:rPr lang="pt-BR" dirty="0"/>
              <a:t>cor: Cor do carro (String)</a:t>
            </a:r>
          </a:p>
          <a:p>
            <a:pPr lvl="1"/>
            <a:r>
              <a:rPr lang="pt-BR" dirty="0"/>
              <a:t>ano: Ano de fabricação (int)</a:t>
            </a:r>
          </a:p>
          <a:p>
            <a:pPr lvl="1"/>
            <a:r>
              <a:rPr lang="pt-BR" dirty="0"/>
              <a:t>motor: Instância da classe Motor (representando o motor do carro)</a:t>
            </a:r>
          </a:p>
          <a:p>
            <a:pPr lvl="1"/>
            <a:r>
              <a:rPr lang="pt-BR" dirty="0"/>
              <a:t>rodas: Lista de instâncias da classe Roda (representando as quatro rodas do carro)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ligar(): Método para ligar o carro.</a:t>
            </a:r>
          </a:p>
          <a:p>
            <a:pPr lvl="1"/>
            <a:r>
              <a:rPr lang="pt-BR" dirty="0"/>
              <a:t>desligar(): Método para desligar o carro.</a:t>
            </a:r>
          </a:p>
          <a:p>
            <a:pPr lvl="1"/>
            <a:r>
              <a:rPr lang="pt-BR" dirty="0"/>
              <a:t>acelerar(): Método para acelerar o carro.</a:t>
            </a:r>
          </a:p>
          <a:p>
            <a:pPr lvl="1"/>
            <a:r>
              <a:rPr lang="pt-BR" dirty="0"/>
              <a:t>parar(): Método para parar o carro.</a:t>
            </a:r>
          </a:p>
          <a:p>
            <a:r>
              <a:rPr lang="pt-BR" b="1" dirty="0"/>
              <a:t>Classe: Motor</a:t>
            </a:r>
            <a:endParaRPr lang="pt-BR" dirty="0"/>
          </a:p>
          <a:p>
            <a:r>
              <a:rPr lang="pt-BR" dirty="0"/>
              <a:t>A classe Motor representa o motor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potencia: Potência do motor em cavalos (int)</a:t>
            </a:r>
          </a:p>
          <a:p>
            <a:pPr lvl="1"/>
            <a:r>
              <a:rPr lang="pt-BR" dirty="0"/>
              <a:t>tipo: Tipo de motor, como gasolina, diesel ou elétrico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ligarMotor</a:t>
            </a:r>
            <a:r>
              <a:rPr lang="pt-BR" dirty="0"/>
              <a:t>(): Método para ligar o motor.</a:t>
            </a:r>
          </a:p>
          <a:p>
            <a:pPr lvl="1"/>
            <a:r>
              <a:rPr lang="pt-BR" dirty="0" err="1"/>
              <a:t>desligarMotor</a:t>
            </a:r>
            <a:r>
              <a:rPr lang="pt-BR" dirty="0"/>
              <a:t>(): Método para desligar o motor.</a:t>
            </a:r>
          </a:p>
          <a:p>
            <a:pPr lvl="1"/>
            <a:r>
              <a:rPr lang="pt-BR" dirty="0" err="1"/>
              <a:t>aumentarPotencia</a:t>
            </a:r>
            <a:r>
              <a:rPr lang="pt-BR" dirty="0"/>
              <a:t>(): Método para aumentar a potência do motor.</a:t>
            </a:r>
          </a:p>
          <a:p>
            <a:pPr lvl="1"/>
            <a:r>
              <a:rPr lang="pt-BR" dirty="0" err="1"/>
              <a:t>diminuirPotencia</a:t>
            </a:r>
            <a:r>
              <a:rPr lang="pt-BR" dirty="0"/>
              <a:t>(): Método para diminuir a potência do motor.</a:t>
            </a:r>
          </a:p>
          <a:p>
            <a:r>
              <a:rPr lang="pt-BR" b="1" dirty="0"/>
              <a:t>Classe: Roda</a:t>
            </a:r>
            <a:endParaRPr lang="pt-BR" dirty="0"/>
          </a:p>
          <a:p>
            <a:r>
              <a:rPr lang="pt-BR" dirty="0"/>
              <a:t>A classe Roda representa as rodas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tamanho: Tamanho da roda em polegadas (int)</a:t>
            </a:r>
          </a:p>
          <a:p>
            <a:pPr lvl="1"/>
            <a:r>
              <a:rPr lang="pt-BR" dirty="0"/>
              <a:t>tipo: Tipo de pneu, como esportivo ou off-</a:t>
            </a:r>
            <a:r>
              <a:rPr lang="pt-BR" dirty="0" err="1"/>
              <a:t>road</a:t>
            </a:r>
            <a:r>
              <a:rPr lang="pt-BR" dirty="0"/>
              <a:t>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girar(): Método para girar a roda.</a:t>
            </a:r>
          </a:p>
          <a:p>
            <a:pPr lvl="1"/>
            <a:r>
              <a:rPr lang="pt-BR" dirty="0" err="1"/>
              <a:t>pararRoda</a:t>
            </a:r>
            <a:r>
              <a:rPr lang="pt-BR" dirty="0"/>
              <a:t>(): Método para parar o movimento da roda.</a:t>
            </a:r>
          </a:p>
          <a:p>
            <a:pPr lvl="1"/>
            <a:r>
              <a:rPr lang="pt-BR" dirty="0"/>
              <a:t>inflar(): Método para inflar o pneu.</a:t>
            </a:r>
          </a:p>
          <a:p>
            <a:pPr lvl="1"/>
            <a:r>
              <a:rPr lang="pt-BR" dirty="0"/>
              <a:t>esvaziar(): Método para esvaziar o pneu.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886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Classe: Carro</a:t>
            </a:r>
            <a:endParaRPr lang="pt-BR" dirty="0"/>
          </a:p>
          <a:p>
            <a:r>
              <a:rPr lang="pt-BR" dirty="0"/>
              <a:t>A classe Carro representa o objeto principal e tem atributos e comportamentos relacionados ao carro como um todo.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modelo: Modelo do carro (String)</a:t>
            </a:r>
          </a:p>
          <a:p>
            <a:pPr lvl="1"/>
            <a:r>
              <a:rPr lang="pt-BR" dirty="0"/>
              <a:t>cor: Cor do carro (String)</a:t>
            </a:r>
          </a:p>
          <a:p>
            <a:pPr lvl="1"/>
            <a:r>
              <a:rPr lang="pt-BR" dirty="0"/>
              <a:t>ano: Ano de fabricação (int)</a:t>
            </a:r>
          </a:p>
          <a:p>
            <a:pPr lvl="1"/>
            <a:r>
              <a:rPr lang="pt-BR" dirty="0"/>
              <a:t>motor: Instância da classe Motor (representando o motor do carro)</a:t>
            </a:r>
          </a:p>
          <a:p>
            <a:pPr lvl="1"/>
            <a:r>
              <a:rPr lang="pt-BR" dirty="0"/>
              <a:t>rodas: Lista de instâncias da classe Roda (representando as quatro rodas do carro)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ligar(): Método para ligar o carro.</a:t>
            </a:r>
          </a:p>
          <a:p>
            <a:pPr lvl="1"/>
            <a:r>
              <a:rPr lang="pt-BR" dirty="0"/>
              <a:t>desligar(): Método para desligar o carro.</a:t>
            </a:r>
          </a:p>
          <a:p>
            <a:pPr lvl="1"/>
            <a:r>
              <a:rPr lang="pt-BR" dirty="0"/>
              <a:t>acelerar(): Método para acelerar o carro.</a:t>
            </a:r>
          </a:p>
          <a:p>
            <a:pPr lvl="1"/>
            <a:r>
              <a:rPr lang="pt-BR" dirty="0"/>
              <a:t>parar(): Método para parar o carro.</a:t>
            </a:r>
          </a:p>
          <a:p>
            <a:r>
              <a:rPr lang="pt-BR" b="1" dirty="0"/>
              <a:t>Classe: Motor</a:t>
            </a:r>
            <a:endParaRPr lang="pt-BR" dirty="0"/>
          </a:p>
          <a:p>
            <a:r>
              <a:rPr lang="pt-BR" dirty="0"/>
              <a:t>A classe Motor representa o motor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potencia: Potência do motor em cavalos (int)</a:t>
            </a:r>
          </a:p>
          <a:p>
            <a:pPr lvl="1"/>
            <a:r>
              <a:rPr lang="pt-BR" dirty="0"/>
              <a:t>tipo: Tipo de motor, como gasolina, diesel ou elétrico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ligarMotor</a:t>
            </a:r>
            <a:r>
              <a:rPr lang="pt-BR" dirty="0"/>
              <a:t>(): Método para ligar o motor.</a:t>
            </a:r>
          </a:p>
          <a:p>
            <a:pPr lvl="1"/>
            <a:r>
              <a:rPr lang="pt-BR" dirty="0" err="1"/>
              <a:t>desligarMotor</a:t>
            </a:r>
            <a:r>
              <a:rPr lang="pt-BR" dirty="0"/>
              <a:t>(): Método para desligar o motor.</a:t>
            </a:r>
          </a:p>
          <a:p>
            <a:pPr lvl="1"/>
            <a:r>
              <a:rPr lang="pt-BR" dirty="0" err="1"/>
              <a:t>aumentarPotencia</a:t>
            </a:r>
            <a:r>
              <a:rPr lang="pt-BR" dirty="0"/>
              <a:t>(): Método para aumentar a potência do motor.</a:t>
            </a:r>
          </a:p>
          <a:p>
            <a:pPr lvl="1"/>
            <a:r>
              <a:rPr lang="pt-BR" dirty="0" err="1"/>
              <a:t>diminuirPotencia</a:t>
            </a:r>
            <a:r>
              <a:rPr lang="pt-BR" dirty="0"/>
              <a:t>(): Método para diminuir a potência do motor.</a:t>
            </a:r>
          </a:p>
          <a:p>
            <a:r>
              <a:rPr lang="pt-BR" b="1" dirty="0"/>
              <a:t>Classe: Roda</a:t>
            </a:r>
            <a:endParaRPr lang="pt-BR" dirty="0"/>
          </a:p>
          <a:p>
            <a:r>
              <a:rPr lang="pt-BR" dirty="0"/>
              <a:t>A classe Roda representa as rodas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tamanho: Tamanho da roda em polegadas (int)</a:t>
            </a:r>
          </a:p>
          <a:p>
            <a:pPr lvl="1"/>
            <a:r>
              <a:rPr lang="pt-BR" dirty="0"/>
              <a:t>tipo: Tipo de pneu, como esportivo ou off-</a:t>
            </a:r>
            <a:r>
              <a:rPr lang="pt-BR" dirty="0" err="1"/>
              <a:t>road</a:t>
            </a:r>
            <a:r>
              <a:rPr lang="pt-BR" dirty="0"/>
              <a:t>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girar(): Método para girar a roda.</a:t>
            </a:r>
          </a:p>
          <a:p>
            <a:pPr lvl="1"/>
            <a:r>
              <a:rPr lang="pt-BR" dirty="0" err="1"/>
              <a:t>pararRoda</a:t>
            </a:r>
            <a:r>
              <a:rPr lang="pt-BR" dirty="0"/>
              <a:t>(): Método para parar o movimento da roda.</a:t>
            </a:r>
          </a:p>
          <a:p>
            <a:pPr lvl="1"/>
            <a:r>
              <a:rPr lang="pt-BR" dirty="0"/>
              <a:t>inflar(): Método para inflar o pneu.</a:t>
            </a:r>
          </a:p>
          <a:p>
            <a:pPr lvl="1"/>
            <a:r>
              <a:rPr lang="pt-BR" dirty="0"/>
              <a:t>esvaziar(): Método para esvaziar o pneu.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979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Classe: Carro</a:t>
            </a:r>
            <a:endParaRPr lang="pt-BR" dirty="0"/>
          </a:p>
          <a:p>
            <a:r>
              <a:rPr lang="pt-BR" dirty="0"/>
              <a:t>A classe Carro representa o objeto principal e tem atributos e comportamentos relacionados ao carro como um todo.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modelo: Modelo do carro (String)</a:t>
            </a:r>
          </a:p>
          <a:p>
            <a:pPr lvl="1"/>
            <a:r>
              <a:rPr lang="pt-BR" dirty="0"/>
              <a:t>cor: Cor do carro (String)</a:t>
            </a:r>
          </a:p>
          <a:p>
            <a:pPr lvl="1"/>
            <a:r>
              <a:rPr lang="pt-BR" dirty="0"/>
              <a:t>ano: Ano de fabricação (int)</a:t>
            </a:r>
          </a:p>
          <a:p>
            <a:pPr lvl="1"/>
            <a:r>
              <a:rPr lang="pt-BR" dirty="0"/>
              <a:t>motor: Instância da classe Motor (representando o motor do carro)</a:t>
            </a:r>
          </a:p>
          <a:p>
            <a:pPr lvl="1"/>
            <a:r>
              <a:rPr lang="pt-BR" dirty="0"/>
              <a:t>rodas: Lista de instâncias da classe Roda (representando as quatro rodas do carro)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ligar(): Método para ligar o carro.</a:t>
            </a:r>
          </a:p>
          <a:p>
            <a:pPr lvl="1"/>
            <a:r>
              <a:rPr lang="pt-BR" dirty="0"/>
              <a:t>desligar(): Método para desligar o carro.</a:t>
            </a:r>
          </a:p>
          <a:p>
            <a:pPr lvl="1"/>
            <a:r>
              <a:rPr lang="pt-BR" dirty="0"/>
              <a:t>acelerar(): Método para acelerar o carro.</a:t>
            </a:r>
          </a:p>
          <a:p>
            <a:pPr lvl="1"/>
            <a:r>
              <a:rPr lang="pt-BR" dirty="0"/>
              <a:t>parar(): Método para parar o carro.</a:t>
            </a:r>
          </a:p>
          <a:p>
            <a:r>
              <a:rPr lang="pt-BR" b="1" dirty="0"/>
              <a:t>Classe: Motor</a:t>
            </a:r>
            <a:endParaRPr lang="pt-BR" dirty="0"/>
          </a:p>
          <a:p>
            <a:r>
              <a:rPr lang="pt-BR" dirty="0"/>
              <a:t>A classe Motor representa o motor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potencia: Potência do motor em cavalos (int)</a:t>
            </a:r>
          </a:p>
          <a:p>
            <a:pPr lvl="1"/>
            <a:r>
              <a:rPr lang="pt-BR" dirty="0"/>
              <a:t>tipo: Tipo de motor, como gasolina, diesel ou elétrico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ligarMotor</a:t>
            </a:r>
            <a:r>
              <a:rPr lang="pt-BR" dirty="0"/>
              <a:t>(): Método para ligar o motor.</a:t>
            </a:r>
          </a:p>
          <a:p>
            <a:pPr lvl="1"/>
            <a:r>
              <a:rPr lang="pt-BR" dirty="0" err="1"/>
              <a:t>desligarMotor</a:t>
            </a:r>
            <a:r>
              <a:rPr lang="pt-BR" dirty="0"/>
              <a:t>(): Método para desligar o motor.</a:t>
            </a:r>
          </a:p>
          <a:p>
            <a:pPr lvl="1"/>
            <a:r>
              <a:rPr lang="pt-BR" dirty="0" err="1"/>
              <a:t>aumentarPotencia</a:t>
            </a:r>
            <a:r>
              <a:rPr lang="pt-BR" dirty="0"/>
              <a:t>(): Método para aumentar a potência do motor.</a:t>
            </a:r>
          </a:p>
          <a:p>
            <a:pPr lvl="1"/>
            <a:r>
              <a:rPr lang="pt-BR" dirty="0" err="1"/>
              <a:t>diminuirPotencia</a:t>
            </a:r>
            <a:r>
              <a:rPr lang="pt-BR" dirty="0"/>
              <a:t>(): Método para diminuir a potência do motor.</a:t>
            </a:r>
          </a:p>
          <a:p>
            <a:r>
              <a:rPr lang="pt-BR" b="1" dirty="0"/>
              <a:t>Classe: Roda</a:t>
            </a:r>
            <a:endParaRPr lang="pt-BR" dirty="0"/>
          </a:p>
          <a:p>
            <a:r>
              <a:rPr lang="pt-BR" dirty="0"/>
              <a:t>A classe Roda representa as rodas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tamanho: Tamanho da roda em polegadas (int)</a:t>
            </a:r>
          </a:p>
          <a:p>
            <a:pPr lvl="1"/>
            <a:r>
              <a:rPr lang="pt-BR" dirty="0"/>
              <a:t>tipo: Tipo de pneu, como esportivo ou off-</a:t>
            </a:r>
            <a:r>
              <a:rPr lang="pt-BR" dirty="0" err="1"/>
              <a:t>road</a:t>
            </a:r>
            <a:r>
              <a:rPr lang="pt-BR" dirty="0"/>
              <a:t>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girar(): Método para girar a roda.</a:t>
            </a:r>
          </a:p>
          <a:p>
            <a:pPr lvl="1"/>
            <a:r>
              <a:rPr lang="pt-BR" dirty="0" err="1"/>
              <a:t>pararRoda</a:t>
            </a:r>
            <a:r>
              <a:rPr lang="pt-BR" dirty="0"/>
              <a:t>(): Método para parar o movimento da roda.</a:t>
            </a:r>
          </a:p>
          <a:p>
            <a:pPr lvl="1"/>
            <a:r>
              <a:rPr lang="pt-BR" dirty="0"/>
              <a:t>inflar(): Método para inflar o pneu.</a:t>
            </a:r>
          </a:p>
          <a:p>
            <a:pPr lvl="1"/>
            <a:r>
              <a:rPr lang="pt-BR" dirty="0"/>
              <a:t>esvaziar(): Método para esvaziar o pneu.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7502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edromiho.github.io/UMC/Projeto%20de%20Software%20e%20Seguran%C3%A7a%20da%20Informa%C3%A7%C3%A3o%20-%202026/Projeto%20de%20Software/Aula%2001%20-%20Aula%20Inaugural/index2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pedromiho.github.io/UMC/Projeto%20de%20Software%20e%20Seguran%C3%A7a%20da%20Informa%C3%A7%C3%A3o%20-%202026/Projeto%20de%20Software/Aula%2001%20-%20Aula%20Inaugural/index3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oracle.com/java/technologies/javase-downloads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jpeg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0731"/>
            <a:ext cx="9144000" cy="1776069"/>
          </a:xfrm>
        </p:spPr>
        <p:txBody>
          <a:bodyPr/>
          <a:lstStyle/>
          <a:p>
            <a:r>
              <a:rPr lang="pt-BR" sz="4000" dirty="0"/>
              <a:t>PROJETOS DE SOFTWARE E SEGURANÇA DA INFORMAÇÃO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565"/>
            <a:ext cx="9144000" cy="1277503"/>
          </a:xfrm>
        </p:spPr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Formação Acadêmica e Experiência Profissional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C449FD-0CCF-46E0-B734-7980847A4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Formação Acadêmica </a:t>
            </a:r>
          </a:p>
          <a:p>
            <a:pPr marL="1028700" lvl="1" indent="-342900"/>
            <a:r>
              <a:rPr lang="pt-BR" dirty="0"/>
              <a:t>Graduado em Tecnologia em Automação Industrial </a:t>
            </a:r>
          </a:p>
          <a:p>
            <a:pPr marL="1028700" lvl="1" indent="-342900"/>
            <a:r>
              <a:rPr lang="pt-BR" dirty="0"/>
              <a:t>Pós-graduado em Cloud </a:t>
            </a:r>
            <a:r>
              <a:rPr lang="pt-BR" dirty="0" err="1"/>
              <a:t>Computing</a:t>
            </a:r>
            <a:endParaRPr lang="pt-BR" dirty="0"/>
          </a:p>
          <a:p>
            <a:pPr marL="1028700" lvl="1" indent="-342900"/>
            <a:r>
              <a:rPr lang="pt-BR" dirty="0"/>
              <a:t>Pós-graduado em Desenvolvimento de Aplicações para Dispositivos Móveis (APP’S)</a:t>
            </a:r>
          </a:p>
          <a:p>
            <a:pPr marL="1028700" lvl="1" indent="-342900"/>
            <a:r>
              <a:rPr lang="pt-BR" dirty="0"/>
              <a:t>Pós-graduado em Desenvolvimento de Aplicações Web</a:t>
            </a:r>
          </a:p>
          <a:p>
            <a:pPr marL="342900" indent="-342900"/>
            <a:r>
              <a:rPr lang="pt-BR" b="1" dirty="0"/>
              <a:t>Experiência Profissional</a:t>
            </a:r>
          </a:p>
          <a:p>
            <a:pPr marL="1028700" lvl="1" indent="-342900"/>
            <a:r>
              <a:rPr lang="pt-BR" dirty="0"/>
              <a:t>Instrutor de Formação Profissional – SENAI</a:t>
            </a:r>
          </a:p>
          <a:p>
            <a:pPr marL="1028700" lvl="1" indent="-342900"/>
            <a:r>
              <a:rPr lang="pt-BR" dirty="0"/>
              <a:t>Professor de TI – UMC</a:t>
            </a:r>
          </a:p>
        </p:txBody>
      </p:sp>
    </p:spTree>
    <p:extLst>
      <p:ext uri="{BB962C8B-B14F-4D97-AF65-F5344CB8AC3E}">
        <p14:creationId xmlns:p14="http://schemas.microsoft.com/office/powerpoint/2010/main" val="39754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CE31E-22FC-4E3A-89BB-C8A2DD721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do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8445EB-44C6-4619-A350-BB0002D41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Fundamentos de POO em Java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Modelagem com UML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Implementação do sistema em Java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Transformação do sistema em API REST com Spring Boot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Integração com banco de dados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Boas práticas e organização de código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Segurança da Informação</a:t>
            </a:r>
          </a:p>
        </p:txBody>
      </p:sp>
    </p:spTree>
    <p:extLst>
      <p:ext uri="{BB962C8B-B14F-4D97-AF65-F5344CB8AC3E}">
        <p14:creationId xmlns:p14="http://schemas.microsoft.com/office/powerpoint/2010/main" val="1991055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404E8-3BB6-48A5-B851-9ADA9BE38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de Avaliação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722E759-F046-4335-AB4F-081920C75F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2347" y="1946275"/>
                <a:ext cx="11007306" cy="4217458"/>
              </a:xfrm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r>
                  <a:rPr lang="pt-BR" dirty="0"/>
                  <a:t>Primeiro Período</a:t>
                </a:r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Apresentação sobre ISO 27001 E ISO 27002 – 14/04 e 16/04</a:t>
                </a:r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Para saber os temas para a apresentação, clique </a:t>
                </a:r>
                <a:r>
                  <a:rPr lang="pt-BR" sz="1800" dirty="0">
                    <a:hlinkClick r:id="rId2"/>
                  </a:rPr>
                  <a:t>Aqui</a:t>
                </a:r>
                <a:endParaRPr lang="pt-BR" sz="1800" dirty="0"/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Prova – 23/04</a:t>
                </a:r>
                <a:endParaRPr lang="pt-BR" dirty="0"/>
              </a:p>
              <a:p>
                <a:pPr marL="342900" indent="-342900">
                  <a:spcBef>
                    <a:spcPts val="0"/>
                  </a:spcBef>
                </a:pPr>
                <a:r>
                  <a:rPr lang="pt-BR" dirty="0"/>
                  <a:t>Cálculo</a:t>
                </a:r>
              </a:p>
              <a:p>
                <a:pPr marL="342900" indent="-342900" algn="ctr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𝑁𝑜𝑡𝑎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1=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𝑁𝑜𝑡𝑎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𝑃𝑟𝑜𝑣𝑎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 ∗0,6+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𝑁𝑜𝑡𝑎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𝐴𝑝𝑟𝑒𝑠𝑒𝑛𝑡𝑎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çã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 ∗ 0,</m:t>
                    </m:r>
                  </m:oMath>
                </a14:m>
                <a:r>
                  <a:rPr lang="pt-BR" dirty="0"/>
                  <a:t>4</a:t>
                </a:r>
              </a:p>
              <a:p>
                <a:pPr>
                  <a:spcBef>
                    <a:spcPts val="0"/>
                  </a:spcBef>
                </a:pPr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722E759-F046-4335-AB4F-081920C75F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2347" y="1946275"/>
                <a:ext cx="11007306" cy="4217458"/>
              </a:xfrm>
              <a:blipFill>
                <a:blip r:embed="rId3"/>
                <a:stretch>
                  <a:fillRect l="-5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3530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404E8-3BB6-48A5-B851-9ADA9BE38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de Avaliação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722E759-F046-4335-AB4F-081920C75F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2347" y="1917539"/>
                <a:ext cx="11007306" cy="4296993"/>
              </a:xfrm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r>
                  <a:rPr lang="pt-BR" dirty="0"/>
                  <a:t>Segundo Período</a:t>
                </a:r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Apresentação do Projeto Final – 02/06 e 09/06</a:t>
                </a:r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A apresentação deve ser em formato </a:t>
                </a:r>
                <a:r>
                  <a:rPr lang="pt-BR" sz="1800" dirty="0" err="1"/>
                  <a:t>pitch</a:t>
                </a:r>
                <a:r>
                  <a:rPr lang="pt-BR" sz="1800" dirty="0"/>
                  <a:t>, clique </a:t>
                </a:r>
                <a:r>
                  <a:rPr lang="pt-BR" sz="1800" dirty="0">
                    <a:hlinkClick r:id="rId2"/>
                  </a:rPr>
                  <a:t>aqui</a:t>
                </a:r>
                <a:endParaRPr lang="pt-BR" sz="1800" dirty="0"/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Prova </a:t>
                </a:r>
                <a:r>
                  <a:rPr lang="pt-BR" sz="1800"/>
                  <a:t>– 11/06</a:t>
                </a:r>
                <a:endParaRPr lang="pt-BR" dirty="0"/>
              </a:p>
              <a:p>
                <a:pPr marL="342900" indent="-342900">
                  <a:spcBef>
                    <a:spcPts val="0"/>
                  </a:spcBef>
                </a:pPr>
                <a:r>
                  <a:rPr lang="pt-BR" dirty="0"/>
                  <a:t>Cálculo</a:t>
                </a:r>
              </a:p>
              <a:p>
                <a:pPr marL="342900" indent="-342900"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2=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𝑃𝑟𝑜𝑣𝑎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∗ 0,5+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𝑃𝑟𝑜𝑗𝑒𝑡𝑜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 0,5</m:t>
                      </m:r>
                    </m:oMath>
                  </m:oMathPara>
                </a14:m>
                <a:endParaRPr lang="pt-BR" dirty="0"/>
              </a:p>
              <a:p>
                <a:pPr>
                  <a:spcBef>
                    <a:spcPts val="0"/>
                  </a:spcBef>
                </a:pPr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722E759-F046-4335-AB4F-081920C75F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2347" y="1917539"/>
                <a:ext cx="11007306" cy="4296993"/>
              </a:xfrm>
              <a:blipFill>
                <a:blip r:embed="rId3"/>
                <a:stretch>
                  <a:fillRect l="-5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4368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B2440-DE8C-49A5-9DDC-322B4E9B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Código Fonte e Código Objeto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99EC3EF9-29DD-4B68-A3EA-5A3B91A7FCA0}"/>
              </a:ext>
            </a:extLst>
          </p:cNvPr>
          <p:cNvCxnSpPr>
            <a:cxnSpLocks/>
          </p:cNvCxnSpPr>
          <p:nvPr/>
        </p:nvCxnSpPr>
        <p:spPr>
          <a:xfrm>
            <a:off x="6096000" y="1844675"/>
            <a:ext cx="0" cy="46257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580C122A-C710-4310-8DDD-F9768852347F}"/>
              </a:ext>
            </a:extLst>
          </p:cNvPr>
          <p:cNvGrpSpPr/>
          <p:nvPr/>
        </p:nvGrpSpPr>
        <p:grpSpPr>
          <a:xfrm>
            <a:off x="653143" y="3023891"/>
            <a:ext cx="5164179" cy="2267363"/>
            <a:chOff x="552316" y="2706824"/>
            <a:chExt cx="5273716" cy="2267363"/>
          </a:xfrm>
        </p:grpSpPr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B5949B3-FABE-4D4B-AAF4-2EA57FAF2E76}"/>
                </a:ext>
              </a:extLst>
            </p:cNvPr>
            <p:cNvSpPr txBox="1"/>
            <p:nvPr/>
          </p:nvSpPr>
          <p:spPr>
            <a:xfrm>
              <a:off x="552316" y="2706824"/>
              <a:ext cx="52737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Código Fonte 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É o conjunto de instruções escritas por programadores em um programa.</a:t>
              </a:r>
            </a:p>
          </p:txBody>
        </p: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BA96C90B-B59C-4BF8-977A-F89D14539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4229" y="3894837"/>
              <a:ext cx="4709891" cy="1079350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E95FD3F-BB1D-F186-6CD3-7ED3BFB24A15}"/>
              </a:ext>
            </a:extLst>
          </p:cNvPr>
          <p:cNvGrpSpPr/>
          <p:nvPr/>
        </p:nvGrpSpPr>
        <p:grpSpPr>
          <a:xfrm>
            <a:off x="6457406" y="3023891"/>
            <a:ext cx="5164179" cy="2683647"/>
            <a:chOff x="6457406" y="3023891"/>
            <a:chExt cx="5164179" cy="2683647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DB500500-82F8-4D71-9E5F-208441901700}"/>
                </a:ext>
              </a:extLst>
            </p:cNvPr>
            <p:cNvSpPr txBox="1"/>
            <p:nvPr/>
          </p:nvSpPr>
          <p:spPr>
            <a:xfrm>
              <a:off x="6457406" y="3023891"/>
              <a:ext cx="516417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Código Objeto 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 É uma versão intermediária do código fonte, que é entendida pelo computador, mas precisa ser </a:t>
              </a:r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linkada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para formar o </a:t>
              </a:r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Código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executável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FFFBC70E-F93F-40A1-BA63-059199773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39151" y="4211904"/>
              <a:ext cx="2600688" cy="14956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448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C9E19-C160-4A63-8F8E-10591EE3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Compilação x Interpretação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22ABB2-2A4C-407A-937A-E498F2C4F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81405"/>
          </a:xfrm>
        </p:spPr>
        <p:txBody>
          <a:bodyPr/>
          <a:lstStyle/>
          <a:p>
            <a:pPr algn="just"/>
            <a:r>
              <a:rPr lang="pt-BR" dirty="0"/>
              <a:t>A </a:t>
            </a:r>
            <a:r>
              <a:rPr lang="pt-BR" b="1" dirty="0"/>
              <a:t>compilação</a:t>
            </a:r>
            <a:r>
              <a:rPr lang="pt-BR" dirty="0"/>
              <a:t> converte o código-fonte em código objeto, que é depois </a:t>
            </a:r>
            <a:r>
              <a:rPr lang="pt-BR" dirty="0" err="1"/>
              <a:t>linkado</a:t>
            </a:r>
            <a:r>
              <a:rPr lang="pt-BR" dirty="0"/>
              <a:t> para criar o arquivo executável.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2CFDA2B-E4E3-4BDD-9FA0-C65F78CD4731}"/>
              </a:ext>
            </a:extLst>
          </p:cNvPr>
          <p:cNvSpPr/>
          <p:nvPr/>
        </p:nvSpPr>
        <p:spPr>
          <a:xfrm>
            <a:off x="749185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Fonte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9FAB7A6-CE56-48D8-8331-0106DA839889}"/>
              </a:ext>
            </a:extLst>
          </p:cNvPr>
          <p:cNvSpPr/>
          <p:nvPr/>
        </p:nvSpPr>
        <p:spPr>
          <a:xfrm>
            <a:off x="5294977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Objeto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A76FFA6-046F-4FA8-B1EE-3BED533C5576}"/>
              </a:ext>
            </a:extLst>
          </p:cNvPr>
          <p:cNvSpPr/>
          <p:nvPr/>
        </p:nvSpPr>
        <p:spPr>
          <a:xfrm>
            <a:off x="9840769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Executável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518A7AC-7CF2-40FD-BBCE-8A7C3D001F7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508069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66535D07-389B-4D99-B4CE-165A1F71733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053861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1A7290-EA95-4677-8054-AFA6B72DA3FF}"/>
              </a:ext>
            </a:extLst>
          </p:cNvPr>
          <p:cNvSpPr txBox="1"/>
          <p:nvPr/>
        </p:nvSpPr>
        <p:spPr>
          <a:xfrm>
            <a:off x="2508069" y="3555403"/>
            <a:ext cx="278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Compilador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0A826F4-D8A8-4DA7-9DCB-A818FE451B91}"/>
              </a:ext>
            </a:extLst>
          </p:cNvPr>
          <p:cNvSpPr txBox="1"/>
          <p:nvPr/>
        </p:nvSpPr>
        <p:spPr>
          <a:xfrm>
            <a:off x="7053860" y="3555403"/>
            <a:ext cx="278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Construção (Build)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54532EC2-7AE2-4B1A-A91C-4896E2BD78E8}"/>
              </a:ext>
            </a:extLst>
          </p:cNvPr>
          <p:cNvSpPr txBox="1">
            <a:spLocks/>
          </p:cNvSpPr>
          <p:nvPr/>
        </p:nvSpPr>
        <p:spPr>
          <a:xfrm>
            <a:off x="592347" y="5297624"/>
            <a:ext cx="11007306" cy="10814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Exemplos de Linguagens compiladas: C, C++.</a:t>
            </a:r>
          </a:p>
        </p:txBody>
      </p:sp>
    </p:spTree>
    <p:extLst>
      <p:ext uri="{BB962C8B-B14F-4D97-AF65-F5344CB8AC3E}">
        <p14:creationId xmlns:p14="http://schemas.microsoft.com/office/powerpoint/2010/main" val="288279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3" grpId="0"/>
      <p:bldP spid="14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C9E19-C160-4A63-8F8E-10591EE3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Compilação x Interpretação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22ABB2-2A4C-407A-937A-E498F2C4F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81405"/>
          </a:xfrm>
        </p:spPr>
        <p:txBody>
          <a:bodyPr/>
          <a:lstStyle/>
          <a:p>
            <a:pPr algn="just"/>
            <a:r>
              <a:rPr lang="pt-BR" dirty="0"/>
              <a:t>Já </a:t>
            </a:r>
            <a:r>
              <a:rPr lang="pt-BR" b="1" dirty="0"/>
              <a:t>interpretação</a:t>
            </a:r>
            <a:r>
              <a:rPr lang="pt-BR" dirty="0"/>
              <a:t> executa o código linha por linha, traduzindo e executando cada comando de forma imediata, sem gerar um arquivo executável.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2CFDA2B-E4E3-4BDD-9FA0-C65F78CD4731}"/>
              </a:ext>
            </a:extLst>
          </p:cNvPr>
          <p:cNvSpPr/>
          <p:nvPr/>
        </p:nvSpPr>
        <p:spPr>
          <a:xfrm>
            <a:off x="2941177" y="3701143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Fonte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A76FFA6-046F-4FA8-B1EE-3BED533C5576}"/>
              </a:ext>
            </a:extLst>
          </p:cNvPr>
          <p:cNvSpPr/>
          <p:nvPr/>
        </p:nvSpPr>
        <p:spPr>
          <a:xfrm>
            <a:off x="7491940" y="3701142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Executável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518A7AC-7CF2-40FD-BBCE-8A7C3D001F70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4700061" y="4241845"/>
            <a:ext cx="2791879" cy="1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1A7290-EA95-4677-8054-AFA6B72DA3FF}"/>
              </a:ext>
            </a:extLst>
          </p:cNvPr>
          <p:cNvSpPr txBox="1"/>
          <p:nvPr/>
        </p:nvSpPr>
        <p:spPr>
          <a:xfrm>
            <a:off x="4700061" y="3669649"/>
            <a:ext cx="278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Interpretador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44DF0B2E-8D57-4F70-8E7A-D49D8362E8ED}"/>
              </a:ext>
            </a:extLst>
          </p:cNvPr>
          <p:cNvSpPr txBox="1">
            <a:spLocks/>
          </p:cNvSpPr>
          <p:nvPr/>
        </p:nvSpPr>
        <p:spPr>
          <a:xfrm>
            <a:off x="589861" y="5323250"/>
            <a:ext cx="11007306" cy="10814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Exemplos de Linguagens Interpretadas: </a:t>
            </a:r>
            <a:r>
              <a:rPr lang="pt-BR" dirty="0" err="1"/>
              <a:t>JavaScript</a:t>
            </a:r>
            <a:r>
              <a:rPr lang="pt-BR" dirty="0"/>
              <a:t>, Python, PHP.</a:t>
            </a:r>
          </a:p>
        </p:txBody>
      </p:sp>
    </p:spTree>
    <p:extLst>
      <p:ext uri="{BB962C8B-B14F-4D97-AF65-F5344CB8AC3E}">
        <p14:creationId xmlns:p14="http://schemas.microsoft.com/office/powerpoint/2010/main" val="852691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3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94843-2780-5841-84B4-8D0F8237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Interpretada x Compilada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2B76FD-25A9-5BDD-5326-442E20244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50456"/>
          </a:xfrm>
        </p:spPr>
        <p:txBody>
          <a:bodyPr/>
          <a:lstStyle/>
          <a:p>
            <a:r>
              <a:rPr lang="pt-BR" dirty="0"/>
              <a:t>Abaixo está uma comparação entre linguagens interpretadas e compiladas, destacando suas principais vantagens e desvantagens.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DA600BC-6B6C-1C7B-7AF2-12A46D647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66" y="3536813"/>
            <a:ext cx="10850468" cy="224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64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1CE1D-416B-4DA9-B8E9-60BAE61A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Compilação x Interpretação na Prática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D52BF9-EC6F-4272-AF9F-3E7625EB8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4716" y="1896926"/>
            <a:ext cx="1793802" cy="448573"/>
          </a:xfrm>
        </p:spPr>
        <p:txBody>
          <a:bodyPr/>
          <a:lstStyle/>
          <a:p>
            <a:pPr algn="ctr">
              <a:spcBef>
                <a:spcPts val="0"/>
              </a:spcBef>
            </a:pPr>
            <a:r>
              <a:rPr lang="pt-BR" sz="1600" dirty="0"/>
              <a:t>Compilação - C</a:t>
            </a:r>
          </a:p>
        </p:txBody>
      </p:sp>
      <p:pic>
        <p:nvPicPr>
          <p:cNvPr id="4" name="Espaço Reservado para Conteúdo 2">
            <a:extLst>
              <a:ext uri="{FF2B5EF4-FFF2-40B4-BE49-F238E27FC236}">
                <a16:creationId xmlns:a16="http://schemas.microsoft.com/office/drawing/2014/main" id="{0891B03A-8AD1-4B38-A239-6EC2F079B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910" y="2617250"/>
            <a:ext cx="2743469" cy="231180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FABA186-3F94-48C0-9BBC-816D48EFB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960" y="2617250"/>
            <a:ext cx="2649814" cy="1440000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10BF7A9F-5581-47BB-8C9D-2AD778D0105F}"/>
              </a:ext>
            </a:extLst>
          </p:cNvPr>
          <p:cNvSpPr txBox="1">
            <a:spLocks/>
          </p:cNvSpPr>
          <p:nvPr/>
        </p:nvSpPr>
        <p:spPr>
          <a:xfrm>
            <a:off x="7306265" y="1896926"/>
            <a:ext cx="2755205" cy="44857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pt-BR" sz="1600" dirty="0"/>
              <a:t>Interpretação - Python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6C49ABD-DF65-4A33-98F8-48E054702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193" y="5200802"/>
            <a:ext cx="3562847" cy="28579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02D9806-A30B-4E6C-BB67-9A672ECE6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1127" y="4512502"/>
            <a:ext cx="2905480" cy="161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52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1CE1D-416B-4DA9-B8E9-60BAE61A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Java se encaixa em qual tipo de abordagem.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CF47CF3A-212B-45EC-BBCD-4B5683007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81401"/>
          </a:xfrm>
        </p:spPr>
        <p:txBody>
          <a:bodyPr/>
          <a:lstStyle/>
          <a:p>
            <a:r>
              <a:rPr lang="pt-BR" dirty="0"/>
              <a:t>O </a:t>
            </a:r>
            <a:r>
              <a:rPr lang="pt-BR" b="1" dirty="0"/>
              <a:t>Java</a:t>
            </a:r>
            <a:r>
              <a:rPr lang="pt-BR" dirty="0"/>
              <a:t> é considerado uma linguagem híbrida, pois combina os conceitos de compilação e interpretação para gerar e executar o código.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362D6AD-4CE2-4B8E-AE0D-CF162B80ACA2}"/>
              </a:ext>
            </a:extLst>
          </p:cNvPr>
          <p:cNvSpPr/>
          <p:nvPr/>
        </p:nvSpPr>
        <p:spPr>
          <a:xfrm>
            <a:off x="749185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Fonte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EFA3210-0F3D-4106-B9C7-9621689B4CBE}"/>
              </a:ext>
            </a:extLst>
          </p:cNvPr>
          <p:cNvSpPr/>
          <p:nvPr/>
        </p:nvSpPr>
        <p:spPr>
          <a:xfrm>
            <a:off x="5294977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Bytecode</a:t>
            </a: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B9BA6B0-1019-4906-9D40-51AFC8DBA400}"/>
              </a:ext>
            </a:extLst>
          </p:cNvPr>
          <p:cNvSpPr/>
          <p:nvPr/>
        </p:nvSpPr>
        <p:spPr>
          <a:xfrm>
            <a:off x="9840769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Executável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9BA8EBD8-8A43-4A62-A1D1-BC5996D2CD5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508069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B23DEA85-3980-4BF4-9D36-951C4859F724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053861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7422D8E-87E9-4CC4-94FE-E7124B3A5E2F}"/>
              </a:ext>
            </a:extLst>
          </p:cNvPr>
          <p:cNvSpPr txBox="1"/>
          <p:nvPr/>
        </p:nvSpPr>
        <p:spPr>
          <a:xfrm>
            <a:off x="2508068" y="3374013"/>
            <a:ext cx="2786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JavaC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Compilador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DA180F-CE0B-4461-9F34-63740C3E3F4F}"/>
              </a:ext>
            </a:extLst>
          </p:cNvPr>
          <p:cNvSpPr txBox="1"/>
          <p:nvPr/>
        </p:nvSpPr>
        <p:spPr>
          <a:xfrm>
            <a:off x="6975442" y="3374013"/>
            <a:ext cx="2943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Virtual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(JVM)</a:t>
            </a:r>
          </a:p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Interpretador 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AD1B955A-6FE8-4AD9-87D4-D127E0483556}"/>
              </a:ext>
            </a:extLst>
          </p:cNvPr>
          <p:cNvSpPr txBox="1">
            <a:spLocks/>
          </p:cNvSpPr>
          <p:nvPr/>
        </p:nvSpPr>
        <p:spPr>
          <a:xfrm>
            <a:off x="589861" y="5323250"/>
            <a:ext cx="11007306" cy="10814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Exemplos de Linguagens de abordagem híbrida: Java (JVM) e C# (Microsoft .NET Framework).</a:t>
            </a:r>
          </a:p>
        </p:txBody>
      </p:sp>
    </p:spTree>
    <p:extLst>
      <p:ext uri="{BB962C8B-B14F-4D97-AF65-F5344CB8AC3E}">
        <p14:creationId xmlns:p14="http://schemas.microsoft.com/office/powerpoint/2010/main" val="2371313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5" grpId="0" animBg="1"/>
      <p:bldP spid="6" grpId="0" animBg="1"/>
      <p:bldP spid="7" grpId="0" animBg="1"/>
      <p:bldP spid="11" grpId="0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53FF3-C6E3-4811-8B62-94675B1A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 a Linguagem Java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525E58-5645-45B4-B804-B754A74E6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Java é uma linguagem de programação </a:t>
            </a:r>
            <a:r>
              <a:rPr lang="pt-BR" b="1" dirty="0"/>
              <a:t>orientada a objetos</a:t>
            </a:r>
            <a:r>
              <a:rPr lang="pt-BR" dirty="0"/>
              <a:t> e uma plataforma de desenvolvimento amplamente utilizada, projetada para ser </a:t>
            </a:r>
            <a:r>
              <a:rPr lang="pt-BR" b="1" dirty="0"/>
              <a:t>portável, robusta e segura</a:t>
            </a:r>
            <a:r>
              <a:rPr lang="pt-BR" dirty="0"/>
              <a:t>. Ela foi criada em 1995 pela Sun Microsystems (agora parte da </a:t>
            </a:r>
            <a:r>
              <a:rPr lang="pt-BR" b="1" dirty="0"/>
              <a:t>Oracle</a:t>
            </a:r>
            <a:r>
              <a:rPr lang="pt-BR" dirty="0"/>
              <a:t> </a:t>
            </a:r>
            <a:r>
              <a:rPr lang="pt-BR" b="1" dirty="0"/>
              <a:t>Corporation</a:t>
            </a:r>
            <a:r>
              <a:rPr lang="pt-BR" dirty="0"/>
              <a:t>).</a:t>
            </a:r>
          </a:p>
          <a:p>
            <a:pPr algn="just"/>
            <a:endParaRPr lang="pt-BR" dirty="0"/>
          </a:p>
          <a:p>
            <a:pPr marL="1028700" lvl="1" indent="-342900" algn="just"/>
            <a:r>
              <a:rPr lang="pt-BR" b="1" dirty="0"/>
              <a:t>Portabilidade: </a:t>
            </a:r>
            <a:r>
              <a:rPr lang="pt-BR" dirty="0"/>
              <a:t>Com o uso do JRE e da JVM, um programa Java pode ser executado em diversos sistemas operacionais.</a:t>
            </a:r>
            <a:endParaRPr lang="pt-BR" b="1" dirty="0"/>
          </a:p>
          <a:p>
            <a:pPr marL="1028700" lvl="1" indent="-342900" algn="just"/>
            <a:r>
              <a:rPr lang="pt-BR" b="1" dirty="0"/>
              <a:t>Orientada a Objetos:</a:t>
            </a:r>
            <a:r>
              <a:rPr lang="pt-BR" dirty="0"/>
              <a:t> Baseada em conceitos como classes, herança e encapsulamento, promovendo modularidade e reutilização de código.</a:t>
            </a:r>
          </a:p>
          <a:p>
            <a:pPr marL="1028700" lvl="1" indent="-342900" algn="just"/>
            <a:r>
              <a:rPr lang="pt-BR" b="1" dirty="0"/>
              <a:t>Desempenho otimizado:</a:t>
            </a:r>
            <a:r>
              <a:rPr lang="pt-BR" dirty="0"/>
              <a:t> Graças à compilação JIT (Just-In-Time), a execução do código se torna mais rápida.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3BB9D37-FA1C-4FC3-BF71-78F540876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586" y="661987"/>
            <a:ext cx="699589" cy="83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751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373B4-61A1-4515-A15C-1834A1A0F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Desenvolvimento em Java</a:t>
            </a: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C9C00D7E-780B-49FB-9168-091B5AE3B0A4}"/>
              </a:ext>
            </a:extLst>
          </p:cNvPr>
          <p:cNvGrpSpPr/>
          <p:nvPr/>
        </p:nvGrpSpPr>
        <p:grpSpPr>
          <a:xfrm>
            <a:off x="751113" y="2890055"/>
            <a:ext cx="1800000" cy="2289017"/>
            <a:chOff x="778992" y="3011975"/>
            <a:chExt cx="1800000" cy="2289017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BD14EB5B-EEA5-4FFF-8324-33550F9AD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8992" y="3011975"/>
              <a:ext cx="1800000" cy="1800000"/>
            </a:xfrm>
            <a:prstGeom prst="rect">
              <a:avLst/>
            </a:prstGeom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B6B71913-CCED-4DBF-8D02-5CF912D4C071}"/>
                </a:ext>
              </a:extLst>
            </p:cNvPr>
            <p:cNvSpPr txBox="1"/>
            <p:nvPr/>
          </p:nvSpPr>
          <p:spPr>
            <a:xfrm>
              <a:off x="778992" y="4931660"/>
              <a:ext cx="180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Desenvolvedor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0B7E65E9-A731-447E-A907-2913618235F0}"/>
              </a:ext>
            </a:extLst>
          </p:cNvPr>
          <p:cNvGrpSpPr/>
          <p:nvPr/>
        </p:nvGrpSpPr>
        <p:grpSpPr>
          <a:xfrm>
            <a:off x="6379116" y="2890055"/>
            <a:ext cx="1800000" cy="2289017"/>
            <a:chOff x="6357257" y="3011975"/>
            <a:chExt cx="1800000" cy="2289017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427953AB-2167-4B40-8B5D-61111B51A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57257" y="3011975"/>
              <a:ext cx="1800000" cy="1800000"/>
            </a:xfrm>
            <a:prstGeom prst="rect">
              <a:avLst/>
            </a:prstGeom>
          </p:spPr>
        </p:pic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561642CD-FB1B-4831-98D7-701BB981B102}"/>
                </a:ext>
              </a:extLst>
            </p:cNvPr>
            <p:cNvSpPr txBox="1"/>
            <p:nvPr/>
          </p:nvSpPr>
          <p:spPr>
            <a:xfrm>
              <a:off x="6537257" y="4931660"/>
              <a:ext cx="144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Usuário</a:t>
              </a:r>
            </a:p>
          </p:txBody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7BC416E-3F08-49A8-AE4D-F6031BC99DA6}"/>
              </a:ext>
            </a:extLst>
          </p:cNvPr>
          <p:cNvSpPr txBox="1"/>
          <p:nvPr/>
        </p:nvSpPr>
        <p:spPr>
          <a:xfrm>
            <a:off x="8200888" y="2890055"/>
            <a:ext cx="32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JRE – Java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endParaRPr lang="pt-B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2A1699F-FA99-4837-9C33-C86527C24A0D}"/>
              </a:ext>
            </a:extLst>
          </p:cNvPr>
          <p:cNvSpPr txBox="1"/>
          <p:nvPr/>
        </p:nvSpPr>
        <p:spPr>
          <a:xfrm>
            <a:off x="2741446" y="2890055"/>
            <a:ext cx="32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JDK – Java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Kit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30C085F-B3D5-476F-9F08-76FBCB230166}"/>
              </a:ext>
            </a:extLst>
          </p:cNvPr>
          <p:cNvSpPr txBox="1"/>
          <p:nvPr/>
        </p:nvSpPr>
        <p:spPr>
          <a:xfrm>
            <a:off x="2741446" y="3313706"/>
            <a:ext cx="3240000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JDK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o pacote completo para programadores Java, incluindo o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JRE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JVM,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ferramentas como o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javac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(compilador) e ferramentas de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debugging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documentação.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2CED54A6-222B-4F76-89B7-F76FD065108C}"/>
              </a:ext>
            </a:extLst>
          </p:cNvPr>
          <p:cNvSpPr txBox="1"/>
          <p:nvPr/>
        </p:nvSpPr>
        <p:spPr>
          <a:xfrm>
            <a:off x="8200888" y="3313706"/>
            <a:ext cx="3240000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JRE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o kit básico necessário para rodar programas Java. Ele inclui a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JVM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as bibliotecas padrão do Java. Se você só quer executar um programa Java, o JRE é suficiente.</a:t>
            </a:r>
          </a:p>
        </p:txBody>
      </p:sp>
    </p:spTree>
    <p:extLst>
      <p:ext uri="{BB962C8B-B14F-4D97-AF65-F5344CB8AC3E}">
        <p14:creationId xmlns:p14="http://schemas.microsoft.com/office/powerpoint/2010/main" val="214050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6" grpId="0"/>
      <p:bldP spid="32" grpId="0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D5079-838A-4ACC-8316-9ACE9FBBA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Ambiente de Desenvolvimento Integrado (IDE)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C8BDCB-6228-4321-A672-6E9B06B19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255576"/>
          </a:xfrm>
        </p:spPr>
        <p:txBody>
          <a:bodyPr/>
          <a:lstStyle/>
          <a:p>
            <a:pPr algn="just"/>
            <a:r>
              <a:rPr lang="pt-BR" sz="1600" dirty="0"/>
              <a:t>Uma IDE (</a:t>
            </a:r>
            <a:r>
              <a:rPr lang="pt-BR" sz="1600" dirty="0" err="1"/>
              <a:t>Integrated</a:t>
            </a:r>
            <a:r>
              <a:rPr lang="pt-BR" sz="1600" dirty="0"/>
              <a:t> </a:t>
            </a:r>
            <a:r>
              <a:rPr lang="pt-BR" sz="1600" dirty="0" err="1"/>
              <a:t>Development</a:t>
            </a:r>
            <a:r>
              <a:rPr lang="pt-BR" sz="1600" dirty="0"/>
              <a:t> </a:t>
            </a:r>
            <a:r>
              <a:rPr lang="pt-BR" sz="1600" dirty="0" err="1"/>
              <a:t>Environment</a:t>
            </a:r>
            <a:r>
              <a:rPr lang="pt-BR" sz="1600" dirty="0"/>
              <a:t>) é um programa que reúne várias ferramentas que ajudam os desenvolvedores a escrever, testar e corrigir códigos de forma mais fácil e rápida. Ela combina um editor de código, ferramentas para compilar, </a:t>
            </a:r>
            <a:r>
              <a:rPr lang="pt-BR" sz="1600" dirty="0" err="1"/>
              <a:t>debugar</a:t>
            </a:r>
            <a:r>
              <a:rPr lang="pt-BR" sz="1600" dirty="0"/>
              <a:t> (encontrar erros) e executar o programa em um só lugar, tudo organizado para melhorar a produtividade.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454C6D2A-86F6-4230-815E-C26D60E6B560}"/>
              </a:ext>
            </a:extLst>
          </p:cNvPr>
          <p:cNvGrpSpPr/>
          <p:nvPr/>
        </p:nvGrpSpPr>
        <p:grpSpPr>
          <a:xfrm>
            <a:off x="2768107" y="3704449"/>
            <a:ext cx="1920336" cy="2101911"/>
            <a:chOff x="2456321" y="3704449"/>
            <a:chExt cx="1920336" cy="2101911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C227EE27-70E6-41D2-9361-BBB511AB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321" y="3704449"/>
              <a:ext cx="720000" cy="720000"/>
            </a:xfrm>
            <a:prstGeom prst="rect">
              <a:avLst/>
            </a:prstGeom>
          </p:spPr>
        </p:pic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340CA642-557F-4293-93E4-26D61FDD8FDB}"/>
                </a:ext>
              </a:extLst>
            </p:cNvPr>
            <p:cNvSpPr txBox="1"/>
            <p:nvPr/>
          </p:nvSpPr>
          <p:spPr>
            <a:xfrm>
              <a:off x="3403166" y="3871316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Eclipse</a:t>
              </a:r>
            </a:p>
          </p:txBody>
        </p:sp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1F790CA3-7A90-4ABC-8E4F-1DB98BE75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56321" y="5086360"/>
              <a:ext cx="645882" cy="720000"/>
            </a:xfrm>
            <a:prstGeom prst="rect">
              <a:avLst/>
            </a:prstGeom>
          </p:spPr>
        </p:pic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3F84D797-F4CF-4290-86E1-523D839FDBB7}"/>
                </a:ext>
              </a:extLst>
            </p:cNvPr>
            <p:cNvSpPr txBox="1"/>
            <p:nvPr/>
          </p:nvSpPr>
          <p:spPr>
            <a:xfrm>
              <a:off x="3294309" y="5261694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NetBeans</a:t>
              </a: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F734E566-A6EC-410A-99F7-62A8034F4D35}"/>
              </a:ext>
            </a:extLst>
          </p:cNvPr>
          <p:cNvGrpSpPr/>
          <p:nvPr/>
        </p:nvGrpSpPr>
        <p:grpSpPr>
          <a:xfrm>
            <a:off x="7456550" y="3674590"/>
            <a:ext cx="1967342" cy="2131770"/>
            <a:chOff x="7768338" y="3674590"/>
            <a:chExt cx="1967342" cy="2131770"/>
          </a:xfrm>
        </p:grpSpPr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53B2690B-261C-4ACE-95C2-B5CFDE945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8338" y="3674590"/>
              <a:ext cx="720000" cy="720000"/>
            </a:xfrm>
            <a:prstGeom prst="rect">
              <a:avLst/>
            </a:prstGeom>
          </p:spPr>
        </p:pic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9E00B870-48C4-48B3-9E7F-B87512BC3F0D}"/>
                </a:ext>
              </a:extLst>
            </p:cNvPr>
            <p:cNvSpPr txBox="1"/>
            <p:nvPr/>
          </p:nvSpPr>
          <p:spPr>
            <a:xfrm>
              <a:off x="8711041" y="3849924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VS </a:t>
              </a:r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Code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61ACFCEB-0EFF-42B5-989E-4093F30A8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8338" y="5086360"/>
              <a:ext cx="720000" cy="720000"/>
            </a:xfrm>
            <a:prstGeom prst="rect">
              <a:avLst/>
            </a:prstGeom>
          </p:spPr>
        </p:pic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6100F30-FD09-40EB-94C6-5D88A939AB71}"/>
                </a:ext>
              </a:extLst>
            </p:cNvPr>
            <p:cNvSpPr txBox="1"/>
            <p:nvPr/>
          </p:nvSpPr>
          <p:spPr>
            <a:xfrm>
              <a:off x="8711041" y="5261694"/>
              <a:ext cx="883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IntelliJ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8857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462E5-03C7-46AB-8AA6-111731830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Softwares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E994F99-6B98-4FE7-BE35-E8B257BCB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000" y="2021785"/>
            <a:ext cx="1080000" cy="1080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CC2EEBF-12E5-47D3-B46F-4C515BE02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000" y="4436211"/>
            <a:ext cx="1440000" cy="913044"/>
          </a:xfrm>
          <a:prstGeom prst="rect">
            <a:avLst/>
          </a:prstGeom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5FC13738-A7ED-446A-BBE5-1419D724A6AE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3704000" y="3101785"/>
            <a:ext cx="2392000" cy="143094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01EA68D6-2ACA-41E9-B913-258E528F2FC9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6096000" y="3101785"/>
            <a:ext cx="2032000" cy="133442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DCC10EC1-9A30-4C83-BD9E-8F28EEF255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400" y="4532733"/>
            <a:ext cx="913045" cy="91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36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96ECE-4C06-4D5C-B934-1AD47AC5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JDK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3E6377-D5E4-46C1-B37F-AC343BBEF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2044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Instalar o JDK, acesse aqui para fazer o download - </a:t>
            </a:r>
            <a:r>
              <a:rPr lang="pt-BR" dirty="0">
                <a:hlinkClick r:id="rId2"/>
              </a:rPr>
              <a:t>https://www.oracle.com/java/technologies/javase-downloads.html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CC51877-C1FB-414A-A9B1-BE4961877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098" y="3130898"/>
            <a:ext cx="5599804" cy="275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30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1D69-900B-4FE7-8C1E-B177E54D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JDK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44324CD8-BD39-4960-852D-B06CB5EAC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9654" y="2656114"/>
            <a:ext cx="4772691" cy="3648584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BE576020-9183-406F-A756-4133CD8D7482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007306" cy="73306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pt-BR" dirty="0"/>
              <a:t>Certifique que você está instalando na caminho correto.</a:t>
            </a:r>
          </a:p>
        </p:txBody>
      </p:sp>
    </p:spTree>
    <p:extLst>
      <p:ext uri="{BB962C8B-B14F-4D97-AF65-F5344CB8AC3E}">
        <p14:creationId xmlns:p14="http://schemas.microsoft.com/office/powerpoint/2010/main" val="8573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96ECE-4C06-4D5C-B934-1AD47AC5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–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3E6377-D5E4-46C1-B37F-AC343BBEF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567599"/>
          </a:xfrm>
        </p:spPr>
        <p:txBody>
          <a:bodyPr/>
          <a:lstStyle/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pt-BR" dirty="0"/>
              <a:t>Instalar o Eclipse, acesse aqui para fazer o download - https://www.eclipse.org/downloads/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AC577A4-0AC3-460C-9E32-6B35D5C5642E}"/>
              </a:ext>
            </a:extLst>
          </p:cNvPr>
          <p:cNvGrpSpPr/>
          <p:nvPr/>
        </p:nvGrpSpPr>
        <p:grpSpPr>
          <a:xfrm>
            <a:off x="1007063" y="3324497"/>
            <a:ext cx="10177875" cy="2117464"/>
            <a:chOff x="1007062" y="3324497"/>
            <a:chExt cx="10177875" cy="2117464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48E881B9-EDC4-4171-AE54-25978397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7062" y="3324497"/>
              <a:ext cx="5026860" cy="2117464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F522C96D-50CD-47A2-B77A-514FC92D53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0984" y="3611597"/>
              <a:ext cx="4143953" cy="15432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8268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1D69-900B-4FE7-8C1E-B177E54D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Eclipse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BE576020-9183-406F-A756-4133CD8D7482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007306" cy="6198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pt-BR" dirty="0"/>
              <a:t>Selecione a opção </a:t>
            </a:r>
            <a:r>
              <a:rPr lang="pt-BR" b="1" dirty="0"/>
              <a:t>Eclipse IDE for Java </a:t>
            </a:r>
            <a:r>
              <a:rPr lang="pt-BR" b="1" dirty="0" err="1"/>
              <a:t>Developers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6728BAD-ADFE-440F-8B06-635B567ED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546" y="2664823"/>
            <a:ext cx="3690909" cy="372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711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1D69-900B-4FE7-8C1E-B177E54D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Eclipse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BE576020-9183-406F-A756-4133CD8D7482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007306" cy="61114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pt-BR" dirty="0"/>
              <a:t>Certifique que você está instalando na caminho correto.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C486BE6-EFCB-48C6-BAD1-5E71875B1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115" y="2656114"/>
            <a:ext cx="3865771" cy="389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62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82351-FC70-42E5-94EA-4119ED2B0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– Criar um arquivo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021801-547A-4D77-9E70-E9B8A7F15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11142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Primeiro devemos criar um </a:t>
            </a:r>
            <a:r>
              <a:rPr lang="pt-BR" b="1" dirty="0"/>
              <a:t>Projeto em Java</a:t>
            </a:r>
            <a:r>
              <a:rPr lang="pt-BR" dirty="0"/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21650E8-7F54-4DB8-8638-9303BB269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526" y="2595154"/>
            <a:ext cx="3584528" cy="376439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116163D-386B-4CBD-B455-4153D0C9C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466" y="2668147"/>
            <a:ext cx="3357625" cy="361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470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82351-FC70-42E5-94EA-4119ED2B0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– Criar um arquivo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021801-547A-4D77-9E70-E9B8A7F15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1046571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pt-BR" dirty="0"/>
              <a:t>Após criar o projeto, clique com o botão direito sobre ele, selecione New e, em seguida, </a:t>
            </a:r>
            <a:r>
              <a:rPr lang="pt-BR" dirty="0" err="1"/>
              <a:t>Class</a:t>
            </a:r>
            <a:r>
              <a:rPr lang="pt-BR" dirty="0"/>
              <a:t> para criar uma nova classe.</a:t>
            </a:r>
            <a:endParaRPr lang="pt-BR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57B9465-FC39-4EDF-A72C-16D837F91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494" y="2997499"/>
            <a:ext cx="2449658" cy="3127689"/>
          </a:xfrm>
          <a:prstGeom prst="rect">
            <a:avLst/>
          </a:prstGeom>
        </p:spPr>
      </p:pic>
      <p:grpSp>
        <p:nvGrpSpPr>
          <p:cNvPr id="14" name="Agrupar 13">
            <a:extLst>
              <a:ext uri="{FF2B5EF4-FFF2-40B4-BE49-F238E27FC236}">
                <a16:creationId xmlns:a16="http://schemas.microsoft.com/office/drawing/2014/main" id="{55CE308C-33EC-4318-9585-980B0FD420A6}"/>
              </a:ext>
            </a:extLst>
          </p:cNvPr>
          <p:cNvGrpSpPr/>
          <p:nvPr/>
        </p:nvGrpSpPr>
        <p:grpSpPr>
          <a:xfrm>
            <a:off x="6244045" y="2891245"/>
            <a:ext cx="3060213" cy="3536123"/>
            <a:chOff x="6244045" y="2891245"/>
            <a:chExt cx="3060213" cy="3536123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2AD28136-0561-4036-AD89-6D9E0C17D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4045" y="2891245"/>
              <a:ext cx="3060213" cy="3536123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602A3094-C9BA-4C8A-92D3-C50A1774C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44045" y="3208329"/>
              <a:ext cx="785405" cy="123842"/>
            </a:xfrm>
            <a:prstGeom prst="rect">
              <a:avLst/>
            </a:prstGeom>
          </p:spPr>
        </p:pic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C19C5937-0190-4C5B-9826-C2008253B285}"/>
                </a:ext>
              </a:extLst>
            </p:cNvPr>
            <p:cNvCxnSpPr/>
            <p:nvPr/>
          </p:nvCxnSpPr>
          <p:spPr>
            <a:xfrm>
              <a:off x="8107680" y="6003580"/>
              <a:ext cx="217714" cy="2665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0326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241C500-8CF3-4B7E-BE3A-EAECA2A75B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VERSIONAMENTO COM GIT E GITHUB</a:t>
            </a:r>
          </a:p>
        </p:txBody>
      </p:sp>
    </p:spTree>
    <p:extLst>
      <p:ext uri="{BB962C8B-B14F-4D97-AF65-F5344CB8AC3E}">
        <p14:creationId xmlns:p14="http://schemas.microsoft.com/office/powerpoint/2010/main" val="3499555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E GITHUB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95EBD05-6FEF-4BB1-B05C-797A7A606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825" y="3957108"/>
            <a:ext cx="2143125" cy="214312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8279FC8-1F39-4BF2-852C-CD60AD5BB4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617" y="1738884"/>
            <a:ext cx="1905000" cy="190500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DB151A38-DE86-49CC-A699-ED99A42A8D34}"/>
              </a:ext>
            </a:extLst>
          </p:cNvPr>
          <p:cNvSpPr txBox="1"/>
          <p:nvPr/>
        </p:nvSpPr>
        <p:spPr>
          <a:xfrm>
            <a:off x="3714750" y="1631350"/>
            <a:ext cx="7315200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 sistema de controle de versão distribuído amplamente utilizado para rastrear as alterações no código-fonte durante o desenvolvimento de software. Ele foi criado por Linus Torvalds em 2005 para gerenciar o desenvolvimento do kernel do Linux, mas desde então se tornou uma ferramenta fundamental em muitos outros projetos.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916D540-64D6-45CD-8FE8-9663397028A1}"/>
              </a:ext>
            </a:extLst>
          </p:cNvPr>
          <p:cNvSpPr txBox="1"/>
          <p:nvPr/>
        </p:nvSpPr>
        <p:spPr>
          <a:xfrm>
            <a:off x="1143000" y="3968636"/>
            <a:ext cx="7162799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é uma plataforma de hospedagem baseada em nuvem para projetos de software que utilizam o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controle de versão. Ele oferece recursos adicionais para colaboração, gerenciamento de projetos e integração contínua, além de fornecer um espaço centralizado para desenvolvedores compartilharem e colaborarem em projetos de código aberto e privados.</a:t>
            </a:r>
          </a:p>
        </p:txBody>
      </p:sp>
    </p:spTree>
    <p:extLst>
      <p:ext uri="{BB962C8B-B14F-4D97-AF65-F5344CB8AC3E}">
        <p14:creationId xmlns:p14="http://schemas.microsoft.com/office/powerpoint/2010/main" val="1729937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/>
              <a:t>VERSIONAMENTO - GIT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421" y="703456"/>
            <a:ext cx="584775" cy="58477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B15D7C8-0590-462A-A13A-39FB281242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09800"/>
            <a:ext cx="1544770" cy="154477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897B455-4603-4CB6-BA6F-5A79F0525A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093" y="2209800"/>
            <a:ext cx="1544770" cy="154477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330320A-6FAF-4D0A-B963-B1B6F11E20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861" y="2209800"/>
            <a:ext cx="1544770" cy="154477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1D56C068-D9C2-4BC8-8910-F16BF5F205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629" y="2209800"/>
            <a:ext cx="1544770" cy="154477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F9846454-5F08-4B1E-AE61-E723C392B7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420" y="4447309"/>
            <a:ext cx="1544770" cy="154477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2801FA62-ED3E-43EC-8FE3-E11912B422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530" y="4391025"/>
            <a:ext cx="1544770" cy="154477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F08202D7-1AFD-4A12-84A6-A9DEC34E2B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391024"/>
            <a:ext cx="1544770" cy="154477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3B0DA494-A92E-40BF-AB0A-0E694090C3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310" y="4447309"/>
            <a:ext cx="1544770" cy="154477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B9B6656-D0B7-4E9B-8F75-9267D64926BF}"/>
              </a:ext>
            </a:extLst>
          </p:cNvPr>
          <p:cNvSpPr txBox="1"/>
          <p:nvPr/>
        </p:nvSpPr>
        <p:spPr>
          <a:xfrm>
            <a:off x="1193990" y="3888131"/>
            <a:ext cx="118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Index.html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9B44584-04B9-4B5D-9706-4ECA6B49A9A3}"/>
              </a:ext>
            </a:extLst>
          </p:cNvPr>
          <p:cNvSpPr txBox="1"/>
          <p:nvPr/>
        </p:nvSpPr>
        <p:spPr>
          <a:xfrm>
            <a:off x="3714988" y="3916273"/>
            <a:ext cx="1216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D5173EC-A376-435C-9DCB-2EB9886F5095}"/>
              </a:ext>
            </a:extLst>
          </p:cNvPr>
          <p:cNvSpPr txBox="1"/>
          <p:nvPr/>
        </p:nvSpPr>
        <p:spPr>
          <a:xfrm>
            <a:off x="6263301" y="3888131"/>
            <a:ext cx="154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site-cliente.zip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0539B3A-BD03-4103-8A8B-1BF91F6D047F}"/>
              </a:ext>
            </a:extLst>
          </p:cNvPr>
          <p:cNvSpPr txBox="1"/>
          <p:nvPr/>
        </p:nvSpPr>
        <p:spPr>
          <a:xfrm>
            <a:off x="8821414" y="3888131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site-cliente-v1.zip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9248B25-4AC4-4946-8AE5-774026FD953C}"/>
              </a:ext>
            </a:extLst>
          </p:cNvPr>
          <p:cNvSpPr txBox="1"/>
          <p:nvPr/>
        </p:nvSpPr>
        <p:spPr>
          <a:xfrm>
            <a:off x="694084" y="6048334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site-cliente-v2.zip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879F95C-08AE-4ED7-B9BB-67DF8229D39D}"/>
              </a:ext>
            </a:extLst>
          </p:cNvPr>
          <p:cNvSpPr txBox="1"/>
          <p:nvPr/>
        </p:nvSpPr>
        <p:spPr>
          <a:xfrm>
            <a:off x="3403194" y="6045714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site-cliente-v3.zip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E52E7A2-1415-463E-8D54-DAA75150C46C}"/>
              </a:ext>
            </a:extLst>
          </p:cNvPr>
          <p:cNvSpPr txBox="1"/>
          <p:nvPr/>
        </p:nvSpPr>
        <p:spPr>
          <a:xfrm>
            <a:off x="5755438" y="6045714"/>
            <a:ext cx="2556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site-cliente-deu-bosta.zip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A054EA8-169F-43D6-B1B7-BFF827AE9BE1}"/>
              </a:ext>
            </a:extLst>
          </p:cNvPr>
          <p:cNvSpPr txBox="1"/>
          <p:nvPr/>
        </p:nvSpPr>
        <p:spPr>
          <a:xfrm>
            <a:off x="8499659" y="6045714"/>
            <a:ext cx="2476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site-cliente-agora-vai.zip</a:t>
            </a:r>
          </a:p>
        </p:txBody>
      </p:sp>
    </p:spTree>
    <p:extLst>
      <p:ext uri="{BB962C8B-B14F-4D97-AF65-F5344CB8AC3E}">
        <p14:creationId xmlns:p14="http://schemas.microsoft.com/office/powerpoint/2010/main" val="49427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5990613" cy="525090"/>
          </a:xfrm>
        </p:spPr>
        <p:txBody>
          <a:bodyPr/>
          <a:lstStyle/>
          <a:p>
            <a:r>
              <a:rPr lang="pt-BR" sz="2400" dirty="0"/>
              <a:t>BACKUP DO VERSIONAMENTO - GIT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425" y="716082"/>
            <a:ext cx="584775" cy="58477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330320A-6FAF-4D0A-B963-B1B6F11E20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286000"/>
            <a:ext cx="985983" cy="985983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1D56C068-D9C2-4BC8-8910-F16BF5F205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2286000"/>
            <a:ext cx="985983" cy="98598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FCB43B87-3F1A-428D-A57A-CE439496ED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695777"/>
            <a:ext cx="985983" cy="985983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B0267121-418B-47C7-BB57-FCCA074FA3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3695777"/>
            <a:ext cx="985983" cy="985983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2CFAFFD1-05A3-4972-B0B4-9E07DF62EE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5160973"/>
            <a:ext cx="985983" cy="985983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10CC1698-AE6D-4552-A790-5B3DD0303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5160973"/>
            <a:ext cx="985983" cy="985983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7227B0DB-64BA-45C2-B1A4-49CE03C6545D}"/>
              </a:ext>
            </a:extLst>
          </p:cNvPr>
          <p:cNvCxnSpPr>
            <a:cxnSpLocks/>
          </p:cNvCxnSpPr>
          <p:nvPr/>
        </p:nvCxnSpPr>
        <p:spPr>
          <a:xfrm>
            <a:off x="4724400" y="4267200"/>
            <a:ext cx="2590800" cy="0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m 11">
            <a:extLst>
              <a:ext uri="{FF2B5EF4-FFF2-40B4-BE49-F238E27FC236}">
                <a16:creationId xmlns:a16="http://schemas.microsoft.com/office/drawing/2014/main" id="{A5F182EF-309B-46ED-A535-7E2BD092AA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0" y="4178455"/>
            <a:ext cx="1445757" cy="129539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8360362D-F30B-4368-AA90-5C875EDC18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1476" y="2438400"/>
            <a:ext cx="2015924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23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/>
              <a:t>VERSIONAMENTO EM GRUPO - GIT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9617B0-F78B-45BB-82A1-8BAEA1079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714263"/>
            <a:ext cx="584775" cy="584775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A5A567B8-415C-4DB3-92C0-9724FA888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865" y="3849777"/>
            <a:ext cx="2010056" cy="100979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0C5152D-2831-48F9-87FF-AD999B685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065" y="3849777"/>
            <a:ext cx="2038635" cy="981212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F8FCF102-2563-4E50-90EE-FA543A962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865" y="5540546"/>
            <a:ext cx="2010056" cy="1009791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566AFF5C-D3A6-4395-980E-2FE79D416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21" y="5569125"/>
            <a:ext cx="2038635" cy="981212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05265959-687E-4FC3-95CF-1DA634698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419209"/>
            <a:ext cx="2010056" cy="1009791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4AD9FDF8-78C0-4B20-BF4B-A8DBD858E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865" y="2500446"/>
            <a:ext cx="2038635" cy="981212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7A01166C-7F8A-4E1A-8E41-9450E28FA3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186" y="4892847"/>
            <a:ext cx="1445757" cy="1295398"/>
          </a:xfrm>
          <a:prstGeom prst="rect">
            <a:avLst/>
          </a:prstGeom>
        </p:spPr>
      </p:pic>
      <p:cxnSp>
        <p:nvCxnSpPr>
          <p:cNvPr id="14" name="Conector: Curvo 13">
            <a:extLst>
              <a:ext uri="{FF2B5EF4-FFF2-40B4-BE49-F238E27FC236}">
                <a16:creationId xmlns:a16="http://schemas.microsoft.com/office/drawing/2014/main" id="{30A509F2-0D61-458E-9592-A76C2E637905}"/>
              </a:ext>
            </a:extLst>
          </p:cNvPr>
          <p:cNvCxnSpPr>
            <a:stCxn id="9" idx="3"/>
          </p:cNvCxnSpPr>
          <p:nvPr/>
        </p:nvCxnSpPr>
        <p:spPr>
          <a:xfrm>
            <a:off x="3624700" y="4340383"/>
            <a:ext cx="1800800" cy="765017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: Curvo 36">
            <a:extLst>
              <a:ext uri="{FF2B5EF4-FFF2-40B4-BE49-F238E27FC236}">
                <a16:creationId xmlns:a16="http://schemas.microsoft.com/office/drawing/2014/main" id="{1B40E263-29C0-4B34-B23C-B3EC4E94A262}"/>
              </a:ext>
            </a:extLst>
          </p:cNvPr>
          <p:cNvCxnSpPr>
            <a:stCxn id="29" idx="3"/>
          </p:cNvCxnSpPr>
          <p:nvPr/>
        </p:nvCxnSpPr>
        <p:spPr>
          <a:xfrm flipV="1">
            <a:off x="2752156" y="5791200"/>
            <a:ext cx="2505644" cy="268531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74BCBD17-AA4A-495E-B91B-5C43A728B0C7}"/>
              </a:ext>
            </a:extLst>
          </p:cNvPr>
          <p:cNvCxnSpPr>
            <a:stCxn id="31" idx="2"/>
          </p:cNvCxnSpPr>
          <p:nvPr/>
        </p:nvCxnSpPr>
        <p:spPr>
          <a:xfrm>
            <a:off x="4406183" y="3481658"/>
            <a:ext cx="1308817" cy="1241233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F2803641-3022-485F-9341-39453D4D42E7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6591442" y="3429000"/>
            <a:ext cx="890586" cy="1293891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Curvo 45">
            <a:extLst>
              <a:ext uri="{FF2B5EF4-FFF2-40B4-BE49-F238E27FC236}">
                <a16:creationId xmlns:a16="http://schemas.microsoft.com/office/drawing/2014/main" id="{9D73ABF0-B418-48E9-AB06-2319504D8921}"/>
              </a:ext>
            </a:extLst>
          </p:cNvPr>
          <p:cNvCxnSpPr>
            <a:cxnSpLocks/>
            <a:stCxn id="27" idx="1"/>
          </p:cNvCxnSpPr>
          <p:nvPr/>
        </p:nvCxnSpPr>
        <p:spPr>
          <a:xfrm rot="10800000" flipV="1">
            <a:off x="6880943" y="4354673"/>
            <a:ext cx="1486923" cy="925672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Curvo 48">
            <a:extLst>
              <a:ext uri="{FF2B5EF4-FFF2-40B4-BE49-F238E27FC236}">
                <a16:creationId xmlns:a16="http://schemas.microsoft.com/office/drawing/2014/main" id="{71E0D289-FE1B-4523-8D34-B9F374B5775A}"/>
              </a:ext>
            </a:extLst>
          </p:cNvPr>
          <p:cNvCxnSpPr>
            <a:stCxn id="28" idx="1"/>
          </p:cNvCxnSpPr>
          <p:nvPr/>
        </p:nvCxnSpPr>
        <p:spPr>
          <a:xfrm rot="10800000">
            <a:off x="7010401" y="5867400"/>
            <a:ext cx="2500465" cy="178042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64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675" y="816032"/>
            <a:ext cx="8360355" cy="525090"/>
          </a:xfrm>
        </p:spPr>
        <p:txBody>
          <a:bodyPr/>
          <a:lstStyle/>
          <a:p>
            <a:r>
              <a:rPr lang="pt-BR" dirty="0"/>
              <a:t>GIT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298" y="695845"/>
            <a:ext cx="584775" cy="58477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7A499A2-1FF3-4124-BB46-0281907E860E}"/>
              </a:ext>
            </a:extLst>
          </p:cNvPr>
          <p:cNvSpPr txBox="1"/>
          <p:nvPr/>
        </p:nvSpPr>
        <p:spPr>
          <a:xfrm>
            <a:off x="812800" y="1538098"/>
            <a:ext cx="10058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 software de </a:t>
            </a:r>
            <a:r>
              <a:rPr lang="pt-BR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Controle de Versão (VCS)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criado para oferecer um controle mais preciso sobre as diferentes versões dos arquivos em um projeto. Ao contrário da abordagem de gerar um novo arquivo zip a cada alteração, o </a:t>
            </a:r>
            <a:r>
              <a:rPr lang="pt-BR" sz="1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adota uma abordagem mais granular. Ele consegue monitorar cada mudança realizada no código, permitindo salvar cada alteração individualmente.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Essa capacidade de monitoramento minucioso significa que 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registra não apenas as versões finais dos arquivos, mas também todas as alterações realizadas ao longo do tempo. Cada pequena modificação, seja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adicionar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corrigir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refatoração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é registrada pelo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C046701E-8614-48A6-84EF-98CB9DAE0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4282911"/>
            <a:ext cx="1189182" cy="572363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A26A3D74-E4CC-4920-A45B-F78747724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5199758"/>
            <a:ext cx="1189182" cy="572363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75F3204D-4E79-45A1-ACBF-0D2E397C0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6116605"/>
            <a:ext cx="1189182" cy="57236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509068E-C4A2-4A42-8BAB-FE901193F8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4282911"/>
            <a:ext cx="572363" cy="57236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9256CA7D-3245-4360-92FC-C4DAFA4999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5199758"/>
            <a:ext cx="572363" cy="572363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EE459F7E-6C76-46DC-8D1F-1FC0C59142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6116605"/>
            <a:ext cx="572363" cy="572363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939F235A-6113-455D-8877-6D89727F4534}"/>
              </a:ext>
            </a:extLst>
          </p:cNvPr>
          <p:cNvCxnSpPr>
            <a:cxnSpLocks/>
            <a:stCxn id="20" idx="3"/>
            <a:endCxn id="5" idx="1"/>
          </p:cNvCxnSpPr>
          <p:nvPr/>
        </p:nvCxnSpPr>
        <p:spPr>
          <a:xfrm>
            <a:off x="3369255" y="4569093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3DB00920-E6DE-471C-A00B-08BB9365EDC1}"/>
              </a:ext>
            </a:extLst>
          </p:cNvPr>
          <p:cNvCxnSpPr>
            <a:cxnSpLocks/>
            <a:stCxn id="21" idx="3"/>
            <a:endCxn id="25" idx="1"/>
          </p:cNvCxnSpPr>
          <p:nvPr/>
        </p:nvCxnSpPr>
        <p:spPr>
          <a:xfrm>
            <a:off x="3369255" y="5485940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A48A972F-C95E-4183-90A0-34547A3513D9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>
            <a:off x="3369255" y="6402787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agem 34">
            <a:extLst>
              <a:ext uri="{FF2B5EF4-FFF2-40B4-BE49-F238E27FC236}">
                <a16:creationId xmlns:a16="http://schemas.microsoft.com/office/drawing/2014/main" id="{5944C3E0-0817-49CC-B604-A5D165A7BC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200" y="4282911"/>
            <a:ext cx="1727326" cy="1727326"/>
          </a:xfrm>
          <a:prstGeom prst="rect">
            <a:avLst/>
          </a:prstGeom>
        </p:spPr>
      </p:pic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E95C7A14-D958-47AF-8F00-B0268C5D4352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4809836" y="4569093"/>
            <a:ext cx="2475637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43BC038B-AEDB-413F-8B5F-47705D2CE3BD}"/>
              </a:ext>
            </a:extLst>
          </p:cNvPr>
          <p:cNvCxnSpPr>
            <a:cxnSpLocks/>
          </p:cNvCxnSpPr>
          <p:nvPr/>
        </p:nvCxnSpPr>
        <p:spPr>
          <a:xfrm flipV="1">
            <a:off x="4809836" y="5199758"/>
            <a:ext cx="2475637" cy="286182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3026C486-1F6C-48C6-87FA-3D6C2823D2C7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4809836" y="5772121"/>
            <a:ext cx="2475637" cy="63066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B32A179A-3BB2-44FD-AD3E-F8298E88F693}"/>
              </a:ext>
            </a:extLst>
          </p:cNvPr>
          <p:cNvSpPr txBox="1"/>
          <p:nvPr/>
        </p:nvSpPr>
        <p:spPr>
          <a:xfrm>
            <a:off x="3981454" y="3743292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Local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D5987B7-1F5D-4783-B354-36AE95AF136E}"/>
              </a:ext>
            </a:extLst>
          </p:cNvPr>
          <p:cNvSpPr txBox="1"/>
          <p:nvPr/>
        </p:nvSpPr>
        <p:spPr>
          <a:xfrm>
            <a:off x="7763663" y="3733394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Remoto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65D3E65-CABE-4E9E-83A3-AB8226916D23}"/>
              </a:ext>
            </a:extLst>
          </p:cNvPr>
          <p:cNvSpPr txBox="1"/>
          <p:nvPr/>
        </p:nvSpPr>
        <p:spPr>
          <a:xfrm>
            <a:off x="3396964" y="4244917"/>
            <a:ext cx="754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commit</a:t>
            </a:r>
            <a:endParaRPr lang="pt-BR" b="1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4B01FFC3-1C65-496C-9C67-202ACA0DA0F4}"/>
              </a:ext>
            </a:extLst>
          </p:cNvPr>
          <p:cNvSpPr txBox="1"/>
          <p:nvPr/>
        </p:nvSpPr>
        <p:spPr>
          <a:xfrm>
            <a:off x="5419582" y="4242963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push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0248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7" grpId="0"/>
      <p:bldP spid="58" grpId="0"/>
      <p:bldP spid="6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</p:spPr>
        <p:txBody>
          <a:bodyPr/>
          <a:lstStyle/>
          <a:p>
            <a:r>
              <a:rPr lang="pt-BR" dirty="0"/>
              <a:t>GITHUB</a:t>
            </a:r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48484F14-8655-4C23-A65C-5EB27FBA9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4"/>
            <a:ext cx="10647658" cy="474884"/>
          </a:xfrm>
        </p:spPr>
        <p:txBody>
          <a:bodyPr/>
          <a:lstStyle/>
          <a:p>
            <a:r>
              <a:rPr lang="pt-BR" dirty="0"/>
              <a:t>O GitHub é uma plataforma online, baseada em nuvem, que utiliza o </a:t>
            </a:r>
            <a:r>
              <a:rPr lang="pt-BR" dirty="0" err="1"/>
              <a:t>Git</a:t>
            </a:r>
            <a:r>
              <a:rPr lang="pt-BR" dirty="0"/>
              <a:t> como base para hospedar e gerenciar projetos de software. 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0" y="657133"/>
            <a:ext cx="866775" cy="8667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EC7E70B-21CA-4E40-85F2-5CEDE219C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3369533"/>
            <a:ext cx="1189182" cy="57236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3843C00-C048-488D-837E-318A8284F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4286380"/>
            <a:ext cx="1189182" cy="57236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16F73C2-17B6-4218-82F0-6DEB16301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5203227"/>
            <a:ext cx="1189182" cy="57236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F92BD1E-69CF-439D-AB06-3DE4331D6B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3369533"/>
            <a:ext cx="572363" cy="57236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F7F8601-EFA8-4D71-83EE-3C5A587D61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4286380"/>
            <a:ext cx="572363" cy="57236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53A0E6C-71ED-4B61-9F37-FE01CF85F9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5203227"/>
            <a:ext cx="572363" cy="572363"/>
          </a:xfrm>
          <a:prstGeom prst="rect">
            <a:avLst/>
          </a:prstGeom>
        </p:spPr>
      </p:pic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744FE46C-B4F0-4FE3-A59B-863E7F65224C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2934166" y="3655715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6C462C08-DA53-4662-81F5-0CCFE1CF22A7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2934166" y="4572562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D0313C43-A574-485B-95DE-7143DD29E01B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2934166" y="5489409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m 16">
            <a:extLst>
              <a:ext uri="{FF2B5EF4-FFF2-40B4-BE49-F238E27FC236}">
                <a16:creationId xmlns:a16="http://schemas.microsoft.com/office/drawing/2014/main" id="{EA8FCA34-D09F-4A85-9F96-C6D518E52E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111" y="3369533"/>
            <a:ext cx="1727326" cy="1727326"/>
          </a:xfrm>
          <a:prstGeom prst="rect">
            <a:avLst/>
          </a:prstGeom>
        </p:spPr>
      </p:pic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C3EBB308-665E-416A-AEAA-1EB4F9352175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374747" y="3655715"/>
            <a:ext cx="2475637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68FD0119-8635-4012-9600-5D2132EF695A}"/>
              </a:ext>
            </a:extLst>
          </p:cNvPr>
          <p:cNvCxnSpPr>
            <a:cxnSpLocks/>
          </p:cNvCxnSpPr>
          <p:nvPr/>
        </p:nvCxnSpPr>
        <p:spPr>
          <a:xfrm flipV="1">
            <a:off x="4374747" y="4286380"/>
            <a:ext cx="2475637" cy="286182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51486527-2515-49C7-B2FF-31AC98BFB658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4374747" y="4858743"/>
            <a:ext cx="2475637" cy="63066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5480650-D8ED-4233-9EF5-9564D09A562B}"/>
              </a:ext>
            </a:extLst>
          </p:cNvPr>
          <p:cNvSpPr txBox="1"/>
          <p:nvPr/>
        </p:nvSpPr>
        <p:spPr>
          <a:xfrm>
            <a:off x="3546365" y="2829914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Local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305FF60-4D39-440E-B305-C6BFBDFE2DA4}"/>
              </a:ext>
            </a:extLst>
          </p:cNvPr>
          <p:cNvSpPr txBox="1"/>
          <p:nvPr/>
        </p:nvSpPr>
        <p:spPr>
          <a:xfrm>
            <a:off x="7328574" y="2820016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Remoto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3788F8B-B8FA-4329-870D-18FEABE810B7}"/>
              </a:ext>
            </a:extLst>
          </p:cNvPr>
          <p:cNvSpPr txBox="1"/>
          <p:nvPr/>
        </p:nvSpPr>
        <p:spPr>
          <a:xfrm>
            <a:off x="2961875" y="3331539"/>
            <a:ext cx="754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commit</a:t>
            </a:r>
            <a:endParaRPr lang="pt-BR" b="1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88F62D6-BEB5-440D-9195-E36D24926AAB}"/>
              </a:ext>
            </a:extLst>
          </p:cNvPr>
          <p:cNvSpPr txBox="1"/>
          <p:nvPr/>
        </p:nvSpPr>
        <p:spPr>
          <a:xfrm>
            <a:off x="4984493" y="3329585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push</a:t>
            </a:r>
            <a:endParaRPr lang="pt-BR" b="1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0BCF9165-3B0E-41B1-9911-F2E86E865E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0485" y="3215512"/>
            <a:ext cx="880406" cy="880406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F7B690B2-2EBA-49AE-8A74-D467A55D06C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784" y="5690591"/>
            <a:ext cx="997053" cy="997053"/>
          </a:xfrm>
          <a:prstGeom prst="rect">
            <a:avLst/>
          </a:prstGeom>
        </p:spPr>
      </p:pic>
      <p:cxnSp>
        <p:nvCxnSpPr>
          <p:cNvPr id="4" name="Conector: Curvo 3">
            <a:extLst>
              <a:ext uri="{FF2B5EF4-FFF2-40B4-BE49-F238E27FC236}">
                <a16:creationId xmlns:a16="http://schemas.microsoft.com/office/drawing/2014/main" id="{F2EA2566-6541-4F6C-84EC-825466F18835}"/>
              </a:ext>
            </a:extLst>
          </p:cNvPr>
          <p:cNvCxnSpPr>
            <a:stCxn id="13" idx="2"/>
            <a:endCxn id="26" idx="1"/>
          </p:cNvCxnSpPr>
          <p:nvPr/>
        </p:nvCxnSpPr>
        <p:spPr>
          <a:xfrm rot="16200000" flipH="1">
            <a:off x="4367911" y="5496245"/>
            <a:ext cx="413528" cy="97221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90B12900-219E-489C-B2E5-8483558DDA3F}"/>
              </a:ext>
            </a:extLst>
          </p:cNvPr>
          <p:cNvCxnSpPr>
            <a:stCxn id="17" idx="3"/>
            <a:endCxn id="25" idx="1"/>
          </p:cNvCxnSpPr>
          <p:nvPr/>
        </p:nvCxnSpPr>
        <p:spPr>
          <a:xfrm flipV="1">
            <a:off x="8734437" y="3655715"/>
            <a:ext cx="786048" cy="577481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894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0" y="646683"/>
            <a:ext cx="866775" cy="86677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5707B3C6-AB27-4CF5-93C5-8E827EB98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6" y="2555876"/>
            <a:ext cx="4727567" cy="3162664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88EDDAD2-F5C4-48CD-A5DB-1F89E42DF6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391" y="5183061"/>
            <a:ext cx="866775" cy="86677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4C9BD48-10A4-4E2E-B896-0A8B08E0D192}"/>
              </a:ext>
            </a:extLst>
          </p:cNvPr>
          <p:cNvSpPr txBox="1"/>
          <p:nvPr/>
        </p:nvSpPr>
        <p:spPr>
          <a:xfrm>
            <a:off x="6096000" y="2235200"/>
            <a:ext cx="5638800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Repositórios Ilimitados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Hospedagem de Código- Fonte em qualquer linguagem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Características de Rede Social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integrado Hospedando sites em: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Colaboração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Forks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(Continuar projetos de outros usuários)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1467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710" y="646683"/>
            <a:ext cx="866775" cy="86677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4C9BD48-10A4-4E2E-B896-0A8B08E0D192}"/>
              </a:ext>
            </a:extLst>
          </p:cNvPr>
          <p:cNvSpPr txBox="1"/>
          <p:nvPr/>
        </p:nvSpPr>
        <p:spPr>
          <a:xfrm>
            <a:off x="3255434" y="1802543"/>
            <a:ext cx="5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OUTROS REPOSITÓRIOS: 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E548D7F-9068-43AA-BE0F-FF3DE3CF36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098" y="2740249"/>
            <a:ext cx="866775" cy="866775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705AB87D-4A2C-4D42-85ED-B02BE3FB0069}"/>
              </a:ext>
            </a:extLst>
          </p:cNvPr>
          <p:cNvSpPr txBox="1"/>
          <p:nvPr/>
        </p:nvSpPr>
        <p:spPr>
          <a:xfrm>
            <a:off x="2738740" y="3774783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GitHub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1E517323-3EB1-4A8E-A38D-132862836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468" y="2730845"/>
            <a:ext cx="866775" cy="885581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BD0D5F4F-A951-4C10-AA71-929F134AF336}"/>
              </a:ext>
            </a:extLst>
          </p:cNvPr>
          <p:cNvSpPr txBox="1"/>
          <p:nvPr/>
        </p:nvSpPr>
        <p:spPr>
          <a:xfrm>
            <a:off x="4646468" y="3774783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GitLab</a:t>
            </a:r>
            <a:endParaRPr lang="pt-BR" b="1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D0C812CA-4BAA-4437-BA51-575B16125B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220" y="2740249"/>
            <a:ext cx="885582" cy="885582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D574F6F2-6E5B-4A95-B35F-3DE6EAEB25B7}"/>
              </a:ext>
            </a:extLst>
          </p:cNvPr>
          <p:cNvSpPr txBox="1"/>
          <p:nvPr/>
        </p:nvSpPr>
        <p:spPr>
          <a:xfrm>
            <a:off x="6451964" y="3774783"/>
            <a:ext cx="1092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Bitbucket</a:t>
            </a:r>
            <a:endParaRPr lang="pt-BR" b="1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FD44AE7-B125-492A-BFBD-43431637F1CA}"/>
              </a:ext>
            </a:extLst>
          </p:cNvPr>
          <p:cNvSpPr txBox="1"/>
          <p:nvPr/>
        </p:nvSpPr>
        <p:spPr>
          <a:xfrm>
            <a:off x="8519807" y="3774783"/>
            <a:ext cx="1296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phabricator</a:t>
            </a:r>
            <a:endParaRPr lang="pt-BR" b="1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9AD9840A-5DC3-4D54-89A3-434A8B157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800" y="2587765"/>
            <a:ext cx="1724266" cy="1171739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3194337F-B618-449F-B58F-A600D16012E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883" y="4578126"/>
            <a:ext cx="1128593" cy="1128593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1D6DA14F-2193-4ED1-B9AA-E1E772A2176B}"/>
              </a:ext>
            </a:extLst>
          </p:cNvPr>
          <p:cNvSpPr txBox="1"/>
          <p:nvPr/>
        </p:nvSpPr>
        <p:spPr>
          <a:xfrm>
            <a:off x="6451964" y="5791412"/>
            <a:ext cx="1076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Kallithea</a:t>
            </a:r>
            <a:r>
              <a:rPr lang="pt-BR" dirty="0"/>
              <a:t> </a:t>
            </a: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F38CE4DF-EF63-4EDE-B67E-5021424B56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409" y="4419600"/>
            <a:ext cx="658590" cy="1280993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AA4C7485-C029-4BEE-9A41-F70640146FB2}"/>
              </a:ext>
            </a:extLst>
          </p:cNvPr>
          <p:cNvSpPr txBox="1"/>
          <p:nvPr/>
        </p:nvSpPr>
        <p:spPr>
          <a:xfrm>
            <a:off x="4693755" y="5791412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Gogs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1068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469824"/>
            <a:ext cx="6324600" cy="661756"/>
          </a:xfrm>
        </p:spPr>
        <p:txBody>
          <a:bodyPr/>
          <a:lstStyle/>
          <a:p>
            <a:r>
              <a:rPr lang="pt-BR" dirty="0"/>
              <a:t>REQUISITOS DE SOFTWARE</a:t>
            </a:r>
          </a:p>
        </p:txBody>
      </p:sp>
      <p:pic>
        <p:nvPicPr>
          <p:cNvPr id="18" name="Picture 4" descr="Ícone computador desktop 569520 Vetor no Vecteezy">
            <a:extLst>
              <a:ext uri="{FF2B5EF4-FFF2-40B4-BE49-F238E27FC236}">
                <a16:creationId xmlns:a16="http://schemas.microsoft.com/office/drawing/2014/main" id="{56D57693-D5BC-4D2E-AAAE-94900BECC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134" y="1295400"/>
            <a:ext cx="1903731" cy="190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474E0B7B-5D69-4915-99EE-FA95ACC96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893" y="4838065"/>
            <a:ext cx="1143000" cy="1143000"/>
          </a:xfrm>
          <a:prstGeom prst="rect">
            <a:avLst/>
          </a:prstGeom>
        </p:spPr>
      </p:pic>
      <p:cxnSp>
        <p:nvCxnSpPr>
          <p:cNvPr id="27" name="Conector de seta reta 8">
            <a:extLst>
              <a:ext uri="{FF2B5EF4-FFF2-40B4-BE49-F238E27FC236}">
                <a16:creationId xmlns:a16="http://schemas.microsoft.com/office/drawing/2014/main" id="{77521FBD-946F-4675-B785-20A5B2526885}"/>
              </a:ext>
            </a:extLst>
          </p:cNvPr>
          <p:cNvCxnSpPr>
            <a:cxnSpLocks/>
          </p:cNvCxnSpPr>
          <p:nvPr/>
        </p:nvCxnSpPr>
        <p:spPr>
          <a:xfrm>
            <a:off x="6633974" y="3179446"/>
            <a:ext cx="708064" cy="1448212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11">
            <a:extLst>
              <a:ext uri="{FF2B5EF4-FFF2-40B4-BE49-F238E27FC236}">
                <a16:creationId xmlns:a16="http://schemas.microsoft.com/office/drawing/2014/main" id="{2EACEA22-ED32-4B7C-A603-D17386A598F0}"/>
              </a:ext>
            </a:extLst>
          </p:cNvPr>
          <p:cNvCxnSpPr>
            <a:cxnSpLocks/>
          </p:cNvCxnSpPr>
          <p:nvPr/>
        </p:nvCxnSpPr>
        <p:spPr>
          <a:xfrm>
            <a:off x="7212328" y="2759496"/>
            <a:ext cx="2279571" cy="898104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13">
            <a:extLst>
              <a:ext uri="{FF2B5EF4-FFF2-40B4-BE49-F238E27FC236}">
                <a16:creationId xmlns:a16="http://schemas.microsoft.com/office/drawing/2014/main" id="{25FB3328-7082-4243-BBA7-DCB54AF0158B}"/>
              </a:ext>
            </a:extLst>
          </p:cNvPr>
          <p:cNvCxnSpPr>
            <a:cxnSpLocks/>
          </p:cNvCxnSpPr>
          <p:nvPr/>
        </p:nvCxnSpPr>
        <p:spPr>
          <a:xfrm flipH="1">
            <a:off x="2666996" y="2759496"/>
            <a:ext cx="2312676" cy="898104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Imagem 30">
            <a:extLst>
              <a:ext uri="{FF2B5EF4-FFF2-40B4-BE49-F238E27FC236}">
                <a16:creationId xmlns:a16="http://schemas.microsoft.com/office/drawing/2014/main" id="{CFBA1E16-A56B-4072-899E-C21CF275CC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4714" y="3407195"/>
            <a:ext cx="1220463" cy="1220463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4206ABF3-F522-4A3D-911F-3973164B6277}"/>
              </a:ext>
            </a:extLst>
          </p:cNvPr>
          <p:cNvSpPr txBox="1"/>
          <p:nvPr/>
        </p:nvSpPr>
        <p:spPr>
          <a:xfrm>
            <a:off x="9614322" y="4627658"/>
            <a:ext cx="15532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GitHub Desktop</a:t>
            </a:r>
            <a:endParaRPr lang="pt-BR" b="1" dirty="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D8C48F1B-1E42-4AA5-981C-5842721E89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527" y="3407195"/>
            <a:ext cx="1220469" cy="1220469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F1EE8953-EDE3-4892-B165-41BE273FB91F}"/>
              </a:ext>
            </a:extLst>
          </p:cNvPr>
          <p:cNvSpPr txBox="1"/>
          <p:nvPr/>
        </p:nvSpPr>
        <p:spPr>
          <a:xfrm>
            <a:off x="1707134" y="4627658"/>
            <a:ext cx="699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Git</a:t>
            </a:r>
            <a:endParaRPr lang="pt-BR" b="1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91CBD86-B442-4825-BE5E-A2134037D82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486" y="4720210"/>
            <a:ext cx="1260855" cy="1260855"/>
          </a:xfrm>
          <a:prstGeom prst="rect">
            <a:avLst/>
          </a:prstGeom>
        </p:spPr>
      </p:pic>
      <p:cxnSp>
        <p:nvCxnSpPr>
          <p:cNvPr id="22" name="Conector de seta reta 8">
            <a:extLst>
              <a:ext uri="{FF2B5EF4-FFF2-40B4-BE49-F238E27FC236}">
                <a16:creationId xmlns:a16="http://schemas.microsoft.com/office/drawing/2014/main" id="{13F16DB7-8397-4B70-92F1-AC5FC4B0323D}"/>
              </a:ext>
            </a:extLst>
          </p:cNvPr>
          <p:cNvCxnSpPr>
            <a:cxnSpLocks/>
          </p:cNvCxnSpPr>
          <p:nvPr/>
        </p:nvCxnSpPr>
        <p:spPr>
          <a:xfrm flipH="1">
            <a:off x="4557755" y="3208548"/>
            <a:ext cx="866055" cy="1419110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4DA7E8F-B1C2-47F7-83AA-90673056B180}"/>
              </a:ext>
            </a:extLst>
          </p:cNvPr>
          <p:cNvSpPr txBox="1"/>
          <p:nvPr/>
        </p:nvSpPr>
        <p:spPr>
          <a:xfrm>
            <a:off x="3795625" y="5892801"/>
            <a:ext cx="1650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vs</a:t>
            </a:r>
            <a:r>
              <a:rPr lang="pt-BR" sz="2400" b="1" dirty="0"/>
              <a:t> </a:t>
            </a:r>
            <a:r>
              <a:rPr lang="pt-BR" sz="2400" b="1" dirty="0" err="1"/>
              <a:t>code</a:t>
            </a:r>
            <a:endParaRPr lang="pt-BR" b="1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21E1684-8333-438D-80C9-D1517C593CDA}"/>
              </a:ext>
            </a:extLst>
          </p:cNvPr>
          <p:cNvSpPr txBox="1"/>
          <p:nvPr/>
        </p:nvSpPr>
        <p:spPr>
          <a:xfrm>
            <a:off x="6745965" y="5892800"/>
            <a:ext cx="165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Chrome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5552734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object 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57015" algn="l"/>
              </a:tabLst>
            </a:pPr>
            <a:r>
              <a:rPr lang="pt-BR" spc="-5" dirty="0"/>
              <a:t>CRIANDO SEU PERFIL NO GITHUB</a:t>
            </a:r>
            <a:endParaRPr spc="-5" dirty="0"/>
          </a:p>
        </p:txBody>
      </p:sp>
      <p:pic>
        <p:nvPicPr>
          <p:cNvPr id="81" name="Imagem 80">
            <a:extLst>
              <a:ext uri="{FF2B5EF4-FFF2-40B4-BE49-F238E27FC236}">
                <a16:creationId xmlns:a16="http://schemas.microsoft.com/office/drawing/2014/main" id="{AE981B44-0F0B-4EC4-9666-81227582AC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783" y="1795363"/>
            <a:ext cx="37338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7227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C367E3A-FDA6-49A0-8F16-20579A3BBA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pc="-5" dirty="0"/>
              <a:t>Criando Um Repositório Com O </a:t>
            </a:r>
            <a:r>
              <a:rPr lang="pt-BR" spc="-5" dirty="0" err="1"/>
              <a:t>Github</a:t>
            </a:r>
            <a:endParaRPr lang="pt-BR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3A12ED28-37CA-4D4D-BBF5-AE43DE57F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32916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3702F7F-84B3-48AE-A5B2-12C051E4C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688" y="2198132"/>
            <a:ext cx="6248623" cy="4302011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 flipV="1">
            <a:off x="7808578" y="4659869"/>
            <a:ext cx="533400" cy="1066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7DBBDD1B-1034-4C04-A6EB-F83B0FFB8CCB}"/>
              </a:ext>
            </a:extLst>
          </p:cNvPr>
          <p:cNvSpPr txBox="1"/>
          <p:nvPr/>
        </p:nvSpPr>
        <p:spPr>
          <a:xfrm>
            <a:off x="4650314" y="1727775"/>
            <a:ext cx="292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Criando um repositório Local</a:t>
            </a:r>
          </a:p>
        </p:txBody>
      </p:sp>
    </p:spTree>
    <p:extLst>
      <p:ext uri="{BB962C8B-B14F-4D97-AF65-F5344CB8AC3E}">
        <p14:creationId xmlns:p14="http://schemas.microsoft.com/office/powerpoint/2010/main" val="5361351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C609017-918A-49EF-B0BA-319C1BA81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626751"/>
            <a:ext cx="3724795" cy="4534533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GITHUB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>
            <a:off x="3581400" y="4724400"/>
            <a:ext cx="1219200" cy="1143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92B4914D-3BC9-44BD-8EE5-FBA337491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86000"/>
            <a:ext cx="5084876" cy="3506083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F9824C8-1442-4B44-A230-45EB07657B65}"/>
              </a:ext>
            </a:extLst>
          </p:cNvPr>
          <p:cNvCxnSpPr>
            <a:cxnSpLocks/>
          </p:cNvCxnSpPr>
          <p:nvPr/>
        </p:nvCxnSpPr>
        <p:spPr>
          <a:xfrm flipH="1">
            <a:off x="10439400" y="2286000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2CFDB80C-6567-46FD-9CE0-1C51A815EDE5}"/>
              </a:ext>
            </a:extLst>
          </p:cNvPr>
          <p:cNvSpPr txBox="1"/>
          <p:nvPr/>
        </p:nvSpPr>
        <p:spPr>
          <a:xfrm>
            <a:off x="5856644" y="1771709"/>
            <a:ext cx="5715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Subindo o Repositório Local para o Repositório em nuvem  </a:t>
            </a:r>
          </a:p>
        </p:txBody>
      </p:sp>
    </p:spTree>
    <p:extLst>
      <p:ext uri="{BB962C8B-B14F-4D97-AF65-F5344CB8AC3E}">
        <p14:creationId xmlns:p14="http://schemas.microsoft.com/office/powerpoint/2010/main" val="37216939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BF6EB53-4F58-44B7-80DA-48478D580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00247"/>
            <a:ext cx="5812272" cy="399141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A73F4779-4CAD-425C-B8AE-1BB63F5F7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438400"/>
            <a:ext cx="4363059" cy="311511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GITHUB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>
            <a:off x="3581400" y="3995955"/>
            <a:ext cx="1219200" cy="1143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F9824C8-1442-4B44-A230-45EB07657B65}"/>
              </a:ext>
            </a:extLst>
          </p:cNvPr>
          <p:cNvCxnSpPr>
            <a:cxnSpLocks/>
          </p:cNvCxnSpPr>
          <p:nvPr/>
        </p:nvCxnSpPr>
        <p:spPr>
          <a:xfrm flipH="1">
            <a:off x="10574772" y="2286000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1376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ATUALIZANDO O REPOSITÓRIO NO GIT E NO GITHUB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07932CA-0FDA-4A2B-BDCC-E3DA5B9B4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64" y="2362200"/>
            <a:ext cx="10162671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094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ATUALIZANDO O REPOSITÓRIO NO GIT E NO GITHUB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484F32B-A64A-44C2-9B6B-341427A59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52311"/>
            <a:ext cx="5285031" cy="3484453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F2B0EB92-F7E1-4654-AFC3-CFAA5A0A18F7}"/>
              </a:ext>
            </a:extLst>
          </p:cNvPr>
          <p:cNvCxnSpPr>
            <a:cxnSpLocks/>
          </p:cNvCxnSpPr>
          <p:nvPr/>
        </p:nvCxnSpPr>
        <p:spPr>
          <a:xfrm flipH="1">
            <a:off x="1524000" y="4563564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B4B11253-A4C5-4FB8-83A5-1F1E86A80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526911"/>
            <a:ext cx="5307520" cy="3484453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11126B99-0B55-4F38-9AE8-8A34BE49C607}"/>
              </a:ext>
            </a:extLst>
          </p:cNvPr>
          <p:cNvCxnSpPr>
            <a:cxnSpLocks/>
          </p:cNvCxnSpPr>
          <p:nvPr/>
        </p:nvCxnSpPr>
        <p:spPr>
          <a:xfrm flipV="1">
            <a:off x="10439400" y="3974711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85C57BC5-18EA-41E4-8AE3-962B01DF3E21}"/>
              </a:ext>
            </a:extLst>
          </p:cNvPr>
          <p:cNvSpPr txBox="1"/>
          <p:nvPr/>
        </p:nvSpPr>
        <p:spPr>
          <a:xfrm>
            <a:off x="1695912" y="1905000"/>
            <a:ext cx="3307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Atualizando um repositório Local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348B72D-16D9-4C8C-B926-D1B6253B516C}"/>
              </a:ext>
            </a:extLst>
          </p:cNvPr>
          <p:cNvSpPr txBox="1"/>
          <p:nvPr/>
        </p:nvSpPr>
        <p:spPr>
          <a:xfrm>
            <a:off x="7696200" y="176650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Subindo a Atualização para um repositório em nuvem</a:t>
            </a:r>
          </a:p>
        </p:txBody>
      </p:sp>
    </p:spTree>
    <p:extLst>
      <p:ext uri="{BB962C8B-B14F-4D97-AF65-F5344CB8AC3E}">
        <p14:creationId xmlns:p14="http://schemas.microsoft.com/office/powerpoint/2010/main" val="25035478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79FB034-53B0-4B28-88E6-2811784B3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797" y="2827796"/>
            <a:ext cx="6761427" cy="3097079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7848600" y="3131386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E03A58-4D7A-4525-BFD8-80636BE4EBED}"/>
              </a:ext>
            </a:extLst>
          </p:cNvPr>
          <p:cNvSpPr txBox="1"/>
          <p:nvPr/>
        </p:nvSpPr>
        <p:spPr>
          <a:xfrm>
            <a:off x="4190998" y="2112333"/>
            <a:ext cx="3563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Acessar o GitHub em seu navegador</a:t>
            </a:r>
          </a:p>
        </p:txBody>
      </p:sp>
    </p:spTree>
    <p:extLst>
      <p:ext uri="{BB962C8B-B14F-4D97-AF65-F5344CB8AC3E}">
        <p14:creationId xmlns:p14="http://schemas.microsoft.com/office/powerpoint/2010/main" val="2836584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EC3D815-6677-4380-8BB4-C3000CE0D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2379081"/>
            <a:ext cx="7086600" cy="322957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6400800" y="4800600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A45FC7-F49B-4155-9630-493E2F2F0FD0}"/>
              </a:ext>
            </a:extLst>
          </p:cNvPr>
          <p:cNvSpPr txBox="1"/>
          <p:nvPr/>
        </p:nvSpPr>
        <p:spPr>
          <a:xfrm>
            <a:off x="3892897" y="1843873"/>
            <a:ext cx="4406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Escolher um repositório que deseja por no ar</a:t>
            </a:r>
          </a:p>
        </p:txBody>
      </p:sp>
    </p:spTree>
    <p:extLst>
      <p:ext uri="{BB962C8B-B14F-4D97-AF65-F5344CB8AC3E}">
        <p14:creationId xmlns:p14="http://schemas.microsoft.com/office/powerpoint/2010/main" val="5460300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E4AB9E6-CE85-483E-BF54-4734A28BD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871" y="2438400"/>
            <a:ext cx="7216257" cy="3435952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5943600" y="2895600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</p:spTree>
    <p:extLst>
      <p:ext uri="{BB962C8B-B14F-4D97-AF65-F5344CB8AC3E}">
        <p14:creationId xmlns:p14="http://schemas.microsoft.com/office/powerpoint/2010/main" val="10652175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30698C8-4EC5-4018-9CFF-BE7AD6A7C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49" y="1912813"/>
            <a:ext cx="9784102" cy="4591080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>
            <a:off x="2438400" y="4495800"/>
            <a:ext cx="853451" cy="12954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</p:spTree>
    <p:extLst>
      <p:ext uri="{BB962C8B-B14F-4D97-AF65-F5344CB8AC3E}">
        <p14:creationId xmlns:p14="http://schemas.microsoft.com/office/powerpoint/2010/main" val="35253007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A330462-35E9-4AC3-80BD-691CFD590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575" y="2133600"/>
            <a:ext cx="9836849" cy="4137476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>
            <a:off x="4267200" y="3657600"/>
            <a:ext cx="853451" cy="12954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EA51FC8-CB15-4322-A666-68F66511FACD}"/>
              </a:ext>
            </a:extLst>
          </p:cNvPr>
          <p:cNvSpPr txBox="1"/>
          <p:nvPr/>
        </p:nvSpPr>
        <p:spPr>
          <a:xfrm>
            <a:off x="5911268" y="3581400"/>
            <a:ext cx="3883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Mude de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none</a:t>
            </a:r>
            <a:r>
              <a:rPr lang="pt-BR" dirty="0"/>
              <a:t> para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Main</a:t>
            </a:r>
            <a:r>
              <a:rPr lang="pt-BR" dirty="0"/>
              <a:t> e de um </a:t>
            </a:r>
            <a:r>
              <a:rPr lang="pt-BR" b="1" dirty="0" err="1">
                <a:solidFill>
                  <a:schemeClr val="accent6">
                    <a:lumMod val="75000"/>
                  </a:schemeClr>
                </a:solidFill>
              </a:rPr>
              <a:t>save</a:t>
            </a:r>
            <a:endParaRPr lang="pt-BR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8497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4885791-A9D4-46ED-B412-A3D731AE8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430727"/>
            <a:ext cx="9525000" cy="3905352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 flipV="1">
            <a:off x="6705600" y="3697603"/>
            <a:ext cx="1219199" cy="137159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8D6707-A07E-4689-9F87-0A57656DCF00}"/>
              </a:ext>
            </a:extLst>
          </p:cNvPr>
          <p:cNvSpPr txBox="1"/>
          <p:nvPr/>
        </p:nvSpPr>
        <p:spPr>
          <a:xfrm>
            <a:off x="3892897" y="1794861"/>
            <a:ext cx="3549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 aqui está o link da </a:t>
            </a:r>
            <a:r>
              <a:rPr lang="pt-BR"/>
              <a:t>sua página </a:t>
            </a:r>
            <a:r>
              <a:rPr lang="pt-BR" dirty="0"/>
              <a:t>web</a:t>
            </a:r>
          </a:p>
        </p:txBody>
      </p:sp>
    </p:spTree>
    <p:extLst>
      <p:ext uri="{BB962C8B-B14F-4D97-AF65-F5344CB8AC3E}">
        <p14:creationId xmlns:p14="http://schemas.microsoft.com/office/powerpoint/2010/main" val="21083709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Introdução ao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19342165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:a16="http://schemas.microsoft.com/office/drawing/2014/main" id="{0DC79D17-1A96-442A-947A-B4DB3AE9AD29}"/>
              </a:ext>
            </a:extLst>
          </p:cNvPr>
          <p:cNvGrpSpPr/>
          <p:nvPr/>
        </p:nvGrpSpPr>
        <p:grpSpPr>
          <a:xfrm>
            <a:off x="7239109" y="4885239"/>
            <a:ext cx="4489200" cy="1300018"/>
            <a:chOff x="7239109" y="4885239"/>
            <a:chExt cx="4489200" cy="1300018"/>
          </a:xfrm>
        </p:grpSpPr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DE604C56-BBE6-447A-A9A1-E9DF5DA0ED0C}"/>
                </a:ext>
              </a:extLst>
            </p:cNvPr>
            <p:cNvSpPr/>
            <p:nvPr/>
          </p:nvSpPr>
          <p:spPr>
            <a:xfrm>
              <a:off x="7239109" y="4885239"/>
              <a:ext cx="4489200" cy="130001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7EB223A7-2364-4062-AF25-2B48AE5FF2CB}"/>
                </a:ext>
              </a:extLst>
            </p:cNvPr>
            <p:cNvSpPr txBox="1"/>
            <p:nvPr/>
          </p:nvSpPr>
          <p:spPr>
            <a:xfrm>
              <a:off x="7520350" y="5025578"/>
              <a:ext cx="39267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Proprietário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D1D03383-166A-4607-8508-D3B5B868B84F}"/>
              </a:ext>
            </a:extLst>
          </p:cNvPr>
          <p:cNvGrpSpPr/>
          <p:nvPr/>
        </p:nvGrpSpPr>
        <p:grpSpPr>
          <a:xfrm>
            <a:off x="7240722" y="3149421"/>
            <a:ext cx="4487587" cy="1300018"/>
            <a:chOff x="7240722" y="3149421"/>
            <a:chExt cx="4487587" cy="1300018"/>
          </a:xfrm>
        </p:grpSpPr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2D90D42D-03AA-4A68-8788-5E01579EEF0C}"/>
                </a:ext>
              </a:extLst>
            </p:cNvPr>
            <p:cNvSpPr/>
            <p:nvPr/>
          </p:nvSpPr>
          <p:spPr>
            <a:xfrm>
              <a:off x="7240722" y="3149421"/>
              <a:ext cx="4487587" cy="130001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FDC17D77-A301-436F-A1D5-028D726B7193}"/>
                </a:ext>
              </a:extLst>
            </p:cNvPr>
            <p:cNvSpPr txBox="1"/>
            <p:nvPr/>
          </p:nvSpPr>
          <p:spPr>
            <a:xfrm>
              <a:off x="7521862" y="3289760"/>
              <a:ext cx="39253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Carro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Estrutura da Aplicação Java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C449FD-0CCF-46E0-B734-7980847A4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6"/>
            <a:ext cx="11007306" cy="1011736"/>
          </a:xfrm>
        </p:spPr>
        <p:txBody>
          <a:bodyPr/>
          <a:lstStyle/>
          <a:p>
            <a:r>
              <a:rPr lang="pt-BR" b="1" dirty="0"/>
              <a:t>Java</a:t>
            </a:r>
            <a:r>
              <a:rPr lang="pt-BR" dirty="0"/>
              <a:t> é uma linguagem orientada a objetos que usa </a:t>
            </a:r>
            <a:r>
              <a:rPr lang="pt-BR" b="1" dirty="0"/>
              <a:t>classes</a:t>
            </a:r>
            <a:r>
              <a:rPr lang="pt-BR" dirty="0"/>
              <a:t> para criar aplicações modulares, seguras e multiplataforma.</a:t>
            </a:r>
          </a:p>
          <a:p>
            <a:pPr marL="0" indent="0" algn="just">
              <a:buNone/>
            </a:pPr>
            <a:endParaRPr lang="pt-BR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3495EC24-3F3D-4747-87A4-5ED52E431561}"/>
              </a:ext>
            </a:extLst>
          </p:cNvPr>
          <p:cNvSpPr txBox="1">
            <a:spLocks/>
          </p:cNvSpPr>
          <p:nvPr/>
        </p:nvSpPr>
        <p:spPr>
          <a:xfrm>
            <a:off x="592347" y="3149421"/>
            <a:ext cx="6087809" cy="144281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Classes</a:t>
            </a:r>
            <a:r>
              <a:rPr lang="pt-BR" sz="1800" dirty="0"/>
              <a:t> - São os blocos fundamentais no Java, definindo </a:t>
            </a:r>
            <a:r>
              <a:rPr lang="pt-BR" sz="1800" b="1" dirty="0"/>
              <a:t>propriedades</a:t>
            </a:r>
            <a:r>
              <a:rPr lang="pt-BR" sz="1800" dirty="0"/>
              <a:t> (variáveis) e </a:t>
            </a:r>
            <a:r>
              <a:rPr lang="pt-BR" sz="1800" b="1" dirty="0"/>
              <a:t>comportamentos</a:t>
            </a:r>
            <a:r>
              <a:rPr lang="pt-BR" sz="1800" dirty="0"/>
              <a:t> (métodos), servindo como modelos para criar objetos. </a:t>
            </a:r>
            <a:endParaRPr lang="pt-BR" dirty="0"/>
          </a:p>
          <a:p>
            <a:endParaRPr lang="pt-BR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CF880EC0-2781-4144-989F-63A1ED8233EF}"/>
              </a:ext>
            </a:extLst>
          </p:cNvPr>
          <p:cNvSpPr txBox="1">
            <a:spLocks/>
          </p:cNvSpPr>
          <p:nvPr/>
        </p:nvSpPr>
        <p:spPr>
          <a:xfrm>
            <a:off x="592347" y="4885239"/>
            <a:ext cx="6087809" cy="1300018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Pacotes - </a:t>
            </a:r>
            <a:r>
              <a:rPr lang="pt-BR" sz="1800" dirty="0"/>
              <a:t>Agrupam </a:t>
            </a:r>
            <a:r>
              <a:rPr lang="pt-BR" sz="1800" b="1" dirty="0"/>
              <a:t>classes</a:t>
            </a:r>
            <a:r>
              <a:rPr lang="pt-BR" sz="1800" dirty="0"/>
              <a:t> relacionadas, facilitando a organização do código e evitando conflitos de nomes entre classes. </a:t>
            </a:r>
            <a:endParaRPr lang="pt-BR" dirty="0"/>
          </a:p>
          <a:p>
            <a:endParaRPr lang="pt-BR" dirty="0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E842520-BB6D-45AA-9C14-4F1B64C0C522}"/>
              </a:ext>
            </a:extLst>
          </p:cNvPr>
          <p:cNvGrpSpPr/>
          <p:nvPr/>
        </p:nvGrpSpPr>
        <p:grpSpPr>
          <a:xfrm>
            <a:off x="7521862" y="3799430"/>
            <a:ext cx="3925307" cy="540000"/>
            <a:chOff x="7826591" y="3870826"/>
            <a:chExt cx="4007223" cy="540000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EAD70460-CC6B-41CD-9478-10E7710AA8AE}"/>
                </a:ext>
              </a:extLst>
            </p:cNvPr>
            <p:cNvSpPr/>
            <p:nvPr/>
          </p:nvSpPr>
          <p:spPr>
            <a:xfrm>
              <a:off x="7826591" y="3870826"/>
              <a:ext cx="1080000" cy="540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Carro</a:t>
              </a: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5B1928D4-10CF-4E80-94D4-23BE1BBD08DC}"/>
                </a:ext>
              </a:extLst>
            </p:cNvPr>
            <p:cNvSpPr/>
            <p:nvPr/>
          </p:nvSpPr>
          <p:spPr>
            <a:xfrm>
              <a:off x="9290203" y="3870826"/>
              <a:ext cx="1080000" cy="540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Motor</a:t>
              </a: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34817852-7BA8-46A5-8EC1-D33D737377C3}"/>
                </a:ext>
              </a:extLst>
            </p:cNvPr>
            <p:cNvSpPr/>
            <p:nvPr/>
          </p:nvSpPr>
          <p:spPr>
            <a:xfrm>
              <a:off x="10753814" y="3870826"/>
              <a:ext cx="1080000" cy="540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Roda</a:t>
              </a:r>
            </a:p>
          </p:txBody>
        </p:sp>
      </p:grp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F47B3CA-C137-47FD-B6CA-B88C06C4ACC3}"/>
              </a:ext>
            </a:extLst>
          </p:cNvPr>
          <p:cNvSpPr/>
          <p:nvPr/>
        </p:nvSpPr>
        <p:spPr>
          <a:xfrm>
            <a:off x="8954557" y="5535248"/>
            <a:ext cx="1058303" cy="54000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Proprietário</a:t>
            </a:r>
          </a:p>
        </p:txBody>
      </p:sp>
    </p:spTree>
    <p:extLst>
      <p:ext uri="{BB962C8B-B14F-4D97-AF65-F5344CB8AC3E}">
        <p14:creationId xmlns:p14="http://schemas.microsoft.com/office/powerpoint/2010/main" val="1297685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Estrutura da Aplicação Java</a:t>
            </a:r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4C66DAB0-2101-4D94-80DC-52C252E5652F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137835" cy="1083251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Módulos</a:t>
            </a:r>
            <a:r>
              <a:rPr lang="pt-BR" sz="1800" dirty="0"/>
              <a:t> - Em Java, o </a:t>
            </a:r>
            <a:r>
              <a:rPr lang="pt-BR" sz="1800" b="1" dirty="0"/>
              <a:t>módulo</a:t>
            </a:r>
            <a:r>
              <a:rPr lang="pt-BR" sz="1800" dirty="0"/>
              <a:t> é uma unidade que agrupa </a:t>
            </a:r>
            <a:r>
              <a:rPr lang="pt-BR" sz="1800" b="1" dirty="0"/>
              <a:t>pacotes</a:t>
            </a:r>
            <a:r>
              <a:rPr lang="pt-BR" sz="1800" dirty="0"/>
              <a:t> e </a:t>
            </a:r>
            <a:r>
              <a:rPr lang="pt-BR" sz="1800" b="1" dirty="0"/>
              <a:t>classes</a:t>
            </a:r>
            <a:r>
              <a:rPr lang="pt-BR" sz="1800" dirty="0"/>
              <a:t>, introduzido no </a:t>
            </a:r>
            <a:r>
              <a:rPr lang="pt-BR" sz="1800" b="1" dirty="0"/>
              <a:t>Java</a:t>
            </a:r>
            <a:r>
              <a:rPr lang="pt-BR" sz="1800" dirty="0"/>
              <a:t> </a:t>
            </a:r>
            <a:r>
              <a:rPr lang="pt-BR" sz="1800" b="1" dirty="0"/>
              <a:t>9</a:t>
            </a:r>
            <a:r>
              <a:rPr lang="pt-BR" sz="1800" dirty="0"/>
              <a:t> para melhorar a organização, manutenção e gestão de dependências do código.</a:t>
            </a:r>
            <a:endParaRPr lang="pt-BR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83F0773-AF13-4499-993C-1F18EF8E632A}"/>
              </a:ext>
            </a:extLst>
          </p:cNvPr>
          <p:cNvSpPr/>
          <p:nvPr/>
        </p:nvSpPr>
        <p:spPr>
          <a:xfrm>
            <a:off x="1024808" y="3121892"/>
            <a:ext cx="10142385" cy="301105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D43D76FD-1C6E-4E1C-A179-22077B4C1F6D}"/>
              </a:ext>
            </a:extLst>
          </p:cNvPr>
          <p:cNvGrpSpPr/>
          <p:nvPr/>
        </p:nvGrpSpPr>
        <p:grpSpPr>
          <a:xfrm>
            <a:off x="1262303" y="4627419"/>
            <a:ext cx="9667394" cy="1301688"/>
            <a:chOff x="1262303" y="4391376"/>
            <a:chExt cx="9667394" cy="1301688"/>
          </a:xfrm>
        </p:grpSpPr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16FD2CD4-EBEB-4A6F-9C69-BA56099E6505}"/>
                </a:ext>
              </a:extLst>
            </p:cNvPr>
            <p:cNvGrpSpPr/>
            <p:nvPr/>
          </p:nvGrpSpPr>
          <p:grpSpPr>
            <a:xfrm>
              <a:off x="6348460" y="4391376"/>
              <a:ext cx="4581237" cy="1300018"/>
              <a:chOff x="7398327" y="3149421"/>
              <a:chExt cx="4581237" cy="1300018"/>
            </a:xfrm>
          </p:grpSpPr>
          <p:sp>
            <p:nvSpPr>
              <p:cNvPr id="23" name="Retângulo: Cantos Arredondados 22">
                <a:extLst>
                  <a:ext uri="{FF2B5EF4-FFF2-40B4-BE49-F238E27FC236}">
                    <a16:creationId xmlns:a16="http://schemas.microsoft.com/office/drawing/2014/main" id="{2FDDF08F-01E6-4F6C-AC97-F88CBA7AD83C}"/>
                  </a:ext>
                </a:extLst>
              </p:cNvPr>
              <p:cNvSpPr/>
              <p:nvPr/>
            </p:nvSpPr>
            <p:spPr>
              <a:xfrm>
                <a:off x="7398327" y="3149421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4" name="Agrupar 23">
                <a:extLst>
                  <a:ext uri="{FF2B5EF4-FFF2-40B4-BE49-F238E27FC236}">
                    <a16:creationId xmlns:a16="http://schemas.microsoft.com/office/drawing/2014/main" id="{FC66686B-D88E-401E-A9BE-F1D3219D803A}"/>
                  </a:ext>
                </a:extLst>
              </p:cNvPr>
              <p:cNvGrpSpPr/>
              <p:nvPr/>
            </p:nvGrpSpPr>
            <p:grpSpPr>
              <a:xfrm>
                <a:off x="7685334" y="3799430"/>
                <a:ext cx="4007223" cy="540000"/>
                <a:chOff x="7826591" y="3870826"/>
                <a:chExt cx="4007223" cy="540000"/>
              </a:xfrm>
            </p:grpSpPr>
            <p:sp>
              <p:nvSpPr>
                <p:cNvPr id="25" name="Retângulo: Cantos Arredondados 24">
                  <a:extLst>
                    <a:ext uri="{FF2B5EF4-FFF2-40B4-BE49-F238E27FC236}">
                      <a16:creationId xmlns:a16="http://schemas.microsoft.com/office/drawing/2014/main" id="{587D0432-DD5F-4504-B6A7-E9ABDE34EAD1}"/>
                    </a:ext>
                  </a:extLst>
                </p:cNvPr>
                <p:cNvSpPr/>
                <p:nvPr/>
              </p:nvSpPr>
              <p:spPr>
                <a:xfrm>
                  <a:off x="7826591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Carro</a:t>
                  </a:r>
                </a:p>
              </p:txBody>
            </p:sp>
            <p:sp>
              <p:nvSpPr>
                <p:cNvPr id="26" name="Retângulo: Cantos Arredondados 25">
                  <a:extLst>
                    <a:ext uri="{FF2B5EF4-FFF2-40B4-BE49-F238E27FC236}">
                      <a16:creationId xmlns:a16="http://schemas.microsoft.com/office/drawing/2014/main" id="{B736B1A1-8E07-4ED3-81CF-1EC84030C758}"/>
                    </a:ext>
                  </a:extLst>
                </p:cNvPr>
                <p:cNvSpPr/>
                <p:nvPr/>
              </p:nvSpPr>
              <p:spPr>
                <a:xfrm>
                  <a:off x="9290203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Motor</a:t>
                  </a:r>
                </a:p>
              </p:txBody>
            </p:sp>
            <p:sp>
              <p:nvSpPr>
                <p:cNvPr id="27" name="Retângulo: Cantos Arredondados 26">
                  <a:extLst>
                    <a:ext uri="{FF2B5EF4-FFF2-40B4-BE49-F238E27FC236}">
                      <a16:creationId xmlns:a16="http://schemas.microsoft.com/office/drawing/2014/main" id="{5F427E1F-1A20-4E7D-B117-8E8DBD7897D8}"/>
                    </a:ext>
                  </a:extLst>
                </p:cNvPr>
                <p:cNvSpPr/>
                <p:nvPr/>
              </p:nvSpPr>
              <p:spPr>
                <a:xfrm>
                  <a:off x="10753814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Roda</a:t>
                  </a:r>
                </a:p>
              </p:txBody>
            </p:sp>
          </p:grpSp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4D09A519-1B2B-48D1-BB08-D582870E9E46}"/>
                  </a:ext>
                </a:extLst>
              </p:cNvPr>
              <p:cNvSpPr txBox="1"/>
              <p:nvPr/>
            </p:nvSpPr>
            <p:spPr>
              <a:xfrm>
                <a:off x="7685334" y="3289760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Carro</a:t>
                </a:r>
              </a:p>
            </p:txBody>
          </p:sp>
        </p:grp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7B20BF3E-8000-450B-BE4C-3F8BE1EE298C}"/>
                </a:ext>
              </a:extLst>
            </p:cNvPr>
            <p:cNvGrpSpPr/>
            <p:nvPr/>
          </p:nvGrpSpPr>
          <p:grpSpPr>
            <a:xfrm>
              <a:off x="1262303" y="4393046"/>
              <a:ext cx="4581237" cy="1300018"/>
              <a:chOff x="7398327" y="4921880"/>
              <a:chExt cx="4581237" cy="1300018"/>
            </a:xfrm>
          </p:grpSpPr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id="{CDCFBAE8-EF2E-4731-BDD6-6FAD51CD8DF8}"/>
                  </a:ext>
                </a:extLst>
              </p:cNvPr>
              <p:cNvSpPr/>
              <p:nvPr/>
            </p:nvSpPr>
            <p:spPr>
              <a:xfrm>
                <a:off x="7398327" y="4921880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id="{90DE3BB4-9910-418B-A415-FA31508F7081}"/>
                  </a:ext>
                </a:extLst>
              </p:cNvPr>
              <p:cNvSpPr/>
              <p:nvPr/>
            </p:nvSpPr>
            <p:spPr>
              <a:xfrm>
                <a:off x="9148945" y="5571889"/>
                <a:ext cx="1080000" cy="54000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</a:p>
            </p:txBody>
          </p:sp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730CD2D9-B99E-48A8-B58B-3826B12C0C50}"/>
                  </a:ext>
                </a:extLst>
              </p:cNvPr>
              <p:cNvSpPr txBox="1"/>
              <p:nvPr/>
            </p:nvSpPr>
            <p:spPr>
              <a:xfrm>
                <a:off x="7685334" y="5062219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36AB40FA-0044-44DC-9A9F-E8D8EB417C56}"/>
              </a:ext>
            </a:extLst>
          </p:cNvPr>
          <p:cNvSpPr txBox="1"/>
          <p:nvPr/>
        </p:nvSpPr>
        <p:spPr>
          <a:xfrm>
            <a:off x="1262303" y="3469610"/>
            <a:ext cx="9667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Condomínio</a:t>
            </a:r>
          </a:p>
        </p:txBody>
      </p:sp>
    </p:spTree>
    <p:extLst>
      <p:ext uri="{BB962C8B-B14F-4D97-AF65-F5344CB8AC3E}">
        <p14:creationId xmlns:p14="http://schemas.microsoft.com/office/powerpoint/2010/main" val="2431228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83F0773-AF13-4499-993C-1F18EF8E632A}"/>
              </a:ext>
            </a:extLst>
          </p:cNvPr>
          <p:cNvSpPr/>
          <p:nvPr/>
        </p:nvSpPr>
        <p:spPr>
          <a:xfrm>
            <a:off x="698669" y="2944700"/>
            <a:ext cx="10794660" cy="354336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Estrutura da Aplicação Java</a:t>
            </a:r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4C66DAB0-2101-4D94-80DC-52C252E5652F}"/>
              </a:ext>
            </a:extLst>
          </p:cNvPr>
          <p:cNvSpPr txBox="1">
            <a:spLocks/>
          </p:cNvSpPr>
          <p:nvPr/>
        </p:nvSpPr>
        <p:spPr>
          <a:xfrm>
            <a:off x="592347" y="1844677"/>
            <a:ext cx="11137835" cy="959686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Aplicação - </a:t>
            </a:r>
            <a:r>
              <a:rPr lang="pt-BR" sz="1800" dirty="0"/>
              <a:t>A </a:t>
            </a:r>
            <a:r>
              <a:rPr lang="pt-BR" sz="1800" b="1" dirty="0"/>
              <a:t>aplicação</a:t>
            </a:r>
            <a:r>
              <a:rPr lang="pt-BR" sz="1800" dirty="0"/>
              <a:t> em Java é o programa final que combina classes, pacotes e módulos para executar uma lógica e atingir um objetivo funcional.</a:t>
            </a:r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CA28FDE4-2131-4B87-A02C-0A695216081D}"/>
              </a:ext>
            </a:extLst>
          </p:cNvPr>
          <p:cNvGrpSpPr/>
          <p:nvPr/>
        </p:nvGrpSpPr>
        <p:grpSpPr>
          <a:xfrm>
            <a:off x="891309" y="3878797"/>
            <a:ext cx="10409382" cy="2383458"/>
            <a:chOff x="849745" y="3684834"/>
            <a:chExt cx="10409382" cy="2432426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A9CD1FFD-2369-455A-B262-886F0EE06B08}"/>
                </a:ext>
              </a:extLst>
            </p:cNvPr>
            <p:cNvSpPr/>
            <p:nvPr/>
          </p:nvSpPr>
          <p:spPr>
            <a:xfrm>
              <a:off x="849745" y="3684834"/>
              <a:ext cx="10409382" cy="243242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36AB40FA-0044-44DC-9A9F-E8D8EB417C56}"/>
                </a:ext>
              </a:extLst>
            </p:cNvPr>
            <p:cNvSpPr txBox="1"/>
            <p:nvPr/>
          </p:nvSpPr>
          <p:spPr>
            <a:xfrm>
              <a:off x="1262303" y="3829749"/>
              <a:ext cx="96258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Condomínio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D43D76FD-1C6E-4E1C-A179-22077B4C1F6D}"/>
              </a:ext>
            </a:extLst>
          </p:cNvPr>
          <p:cNvGrpSpPr/>
          <p:nvPr/>
        </p:nvGrpSpPr>
        <p:grpSpPr>
          <a:xfrm>
            <a:off x="1262303" y="4733229"/>
            <a:ext cx="9667394" cy="1301688"/>
            <a:chOff x="1262303" y="4391376"/>
            <a:chExt cx="9667394" cy="1301688"/>
          </a:xfrm>
        </p:grpSpPr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16FD2CD4-EBEB-4A6F-9C69-BA56099E6505}"/>
                </a:ext>
              </a:extLst>
            </p:cNvPr>
            <p:cNvGrpSpPr/>
            <p:nvPr/>
          </p:nvGrpSpPr>
          <p:grpSpPr>
            <a:xfrm>
              <a:off x="6348460" y="4391376"/>
              <a:ext cx="4581237" cy="1300018"/>
              <a:chOff x="7398327" y="3149421"/>
              <a:chExt cx="4581237" cy="1300018"/>
            </a:xfrm>
          </p:grpSpPr>
          <p:sp>
            <p:nvSpPr>
              <p:cNvPr id="23" name="Retângulo: Cantos Arredondados 22">
                <a:extLst>
                  <a:ext uri="{FF2B5EF4-FFF2-40B4-BE49-F238E27FC236}">
                    <a16:creationId xmlns:a16="http://schemas.microsoft.com/office/drawing/2014/main" id="{2FDDF08F-01E6-4F6C-AC97-F88CBA7AD83C}"/>
                  </a:ext>
                </a:extLst>
              </p:cNvPr>
              <p:cNvSpPr/>
              <p:nvPr/>
            </p:nvSpPr>
            <p:spPr>
              <a:xfrm>
                <a:off x="7398327" y="3149421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4" name="Agrupar 23">
                <a:extLst>
                  <a:ext uri="{FF2B5EF4-FFF2-40B4-BE49-F238E27FC236}">
                    <a16:creationId xmlns:a16="http://schemas.microsoft.com/office/drawing/2014/main" id="{FC66686B-D88E-401E-A9BE-F1D3219D803A}"/>
                  </a:ext>
                </a:extLst>
              </p:cNvPr>
              <p:cNvGrpSpPr/>
              <p:nvPr/>
            </p:nvGrpSpPr>
            <p:grpSpPr>
              <a:xfrm>
                <a:off x="7685334" y="3799430"/>
                <a:ext cx="4007223" cy="540000"/>
                <a:chOff x="7826591" y="3870826"/>
                <a:chExt cx="4007223" cy="540000"/>
              </a:xfrm>
            </p:grpSpPr>
            <p:sp>
              <p:nvSpPr>
                <p:cNvPr id="25" name="Retângulo: Cantos Arredondados 24">
                  <a:extLst>
                    <a:ext uri="{FF2B5EF4-FFF2-40B4-BE49-F238E27FC236}">
                      <a16:creationId xmlns:a16="http://schemas.microsoft.com/office/drawing/2014/main" id="{587D0432-DD5F-4504-B6A7-E9ABDE34EAD1}"/>
                    </a:ext>
                  </a:extLst>
                </p:cNvPr>
                <p:cNvSpPr/>
                <p:nvPr/>
              </p:nvSpPr>
              <p:spPr>
                <a:xfrm>
                  <a:off x="7826591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Carro</a:t>
                  </a:r>
                </a:p>
              </p:txBody>
            </p:sp>
            <p:sp>
              <p:nvSpPr>
                <p:cNvPr id="26" name="Retângulo: Cantos Arredondados 25">
                  <a:extLst>
                    <a:ext uri="{FF2B5EF4-FFF2-40B4-BE49-F238E27FC236}">
                      <a16:creationId xmlns:a16="http://schemas.microsoft.com/office/drawing/2014/main" id="{B736B1A1-8E07-4ED3-81CF-1EC84030C758}"/>
                    </a:ext>
                  </a:extLst>
                </p:cNvPr>
                <p:cNvSpPr/>
                <p:nvPr/>
              </p:nvSpPr>
              <p:spPr>
                <a:xfrm>
                  <a:off x="9290203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Motor</a:t>
                  </a:r>
                </a:p>
              </p:txBody>
            </p:sp>
            <p:sp>
              <p:nvSpPr>
                <p:cNvPr id="27" name="Retângulo: Cantos Arredondados 26">
                  <a:extLst>
                    <a:ext uri="{FF2B5EF4-FFF2-40B4-BE49-F238E27FC236}">
                      <a16:creationId xmlns:a16="http://schemas.microsoft.com/office/drawing/2014/main" id="{5F427E1F-1A20-4E7D-B117-8E8DBD7897D8}"/>
                    </a:ext>
                  </a:extLst>
                </p:cNvPr>
                <p:cNvSpPr/>
                <p:nvPr/>
              </p:nvSpPr>
              <p:spPr>
                <a:xfrm>
                  <a:off x="10753814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Roda</a:t>
                  </a:r>
                </a:p>
              </p:txBody>
            </p:sp>
          </p:grpSp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4D09A519-1B2B-48D1-BB08-D582870E9E46}"/>
                  </a:ext>
                </a:extLst>
              </p:cNvPr>
              <p:cNvSpPr txBox="1"/>
              <p:nvPr/>
            </p:nvSpPr>
            <p:spPr>
              <a:xfrm>
                <a:off x="7685334" y="3289760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Carro</a:t>
                </a:r>
              </a:p>
            </p:txBody>
          </p:sp>
        </p:grp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7B20BF3E-8000-450B-BE4C-3F8BE1EE298C}"/>
                </a:ext>
              </a:extLst>
            </p:cNvPr>
            <p:cNvGrpSpPr/>
            <p:nvPr/>
          </p:nvGrpSpPr>
          <p:grpSpPr>
            <a:xfrm>
              <a:off x="1262303" y="4393046"/>
              <a:ext cx="4581237" cy="1300018"/>
              <a:chOff x="7398327" y="4921880"/>
              <a:chExt cx="4581237" cy="1300018"/>
            </a:xfrm>
          </p:grpSpPr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id="{CDCFBAE8-EF2E-4731-BDD6-6FAD51CD8DF8}"/>
                  </a:ext>
                </a:extLst>
              </p:cNvPr>
              <p:cNvSpPr/>
              <p:nvPr/>
            </p:nvSpPr>
            <p:spPr>
              <a:xfrm>
                <a:off x="7398327" y="4921880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id="{90DE3BB4-9910-418B-A415-FA31508F7081}"/>
                  </a:ext>
                </a:extLst>
              </p:cNvPr>
              <p:cNvSpPr/>
              <p:nvPr/>
            </p:nvSpPr>
            <p:spPr>
              <a:xfrm>
                <a:off x="9148945" y="5571889"/>
                <a:ext cx="1080000" cy="54000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</a:p>
            </p:txBody>
          </p:sp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730CD2D9-B99E-48A8-B58B-3826B12C0C50}"/>
                  </a:ext>
                </a:extLst>
              </p:cNvPr>
              <p:cNvSpPr txBox="1"/>
              <p:nvPr/>
            </p:nvSpPr>
            <p:spPr>
              <a:xfrm>
                <a:off x="7685334" y="5062219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C80C7CDF-1C80-4120-B914-9414936C1369}"/>
              </a:ext>
            </a:extLst>
          </p:cNvPr>
          <p:cNvSpPr txBox="1"/>
          <p:nvPr/>
        </p:nvSpPr>
        <p:spPr>
          <a:xfrm>
            <a:off x="891308" y="3169280"/>
            <a:ext cx="1040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 de Registros de veículos no condomínio</a:t>
            </a:r>
          </a:p>
        </p:txBody>
      </p:sp>
    </p:spTree>
    <p:extLst>
      <p:ext uri="{BB962C8B-B14F-4D97-AF65-F5344CB8AC3E}">
        <p14:creationId xmlns:p14="http://schemas.microsoft.com/office/powerpoint/2010/main" val="30001188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F4A5B-820D-4A3B-A096-910A555B5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65AE52-2386-410D-87CF-93C688A6A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212561"/>
          </a:xfrm>
        </p:spPr>
        <p:txBody>
          <a:bodyPr/>
          <a:lstStyle/>
          <a:p>
            <a:r>
              <a:rPr lang="pt-BR" dirty="0"/>
              <a:t>Variáveis são espaços na memória RAM do computador usados para armazenar valores que podem mudar durante a execução de um programa.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38A8377-0F0F-42EB-95FF-CC11B03B9CFD}"/>
              </a:ext>
            </a:extLst>
          </p:cNvPr>
          <p:cNvSpPr txBox="1"/>
          <p:nvPr/>
        </p:nvSpPr>
        <p:spPr>
          <a:xfrm>
            <a:off x="7018780" y="4291771"/>
            <a:ext cx="923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24B0819-30ED-43BA-A55E-0BA876FA9C76}"/>
              </a:ext>
            </a:extLst>
          </p:cNvPr>
          <p:cNvSpPr txBox="1"/>
          <p:nvPr/>
        </p:nvSpPr>
        <p:spPr>
          <a:xfrm>
            <a:off x="593982" y="3318164"/>
            <a:ext cx="5346815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Sintaxe: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tipo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nome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Exemplo: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idade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50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float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peso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80.5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float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genero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‘F’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endParaRPr lang="pt-BR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E22F6C3E-FD74-4EA3-934A-BC2241BC79A5}"/>
              </a:ext>
            </a:extLst>
          </p:cNvPr>
          <p:cNvGrpSpPr/>
          <p:nvPr/>
        </p:nvGrpSpPr>
        <p:grpSpPr>
          <a:xfrm>
            <a:off x="6464961" y="3890305"/>
            <a:ext cx="5134692" cy="2124371"/>
            <a:chOff x="6464961" y="3598918"/>
            <a:chExt cx="5134692" cy="2124371"/>
          </a:xfrm>
        </p:grpSpPr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F853FF01-9978-40FC-B520-CCB207FD5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64961" y="3598918"/>
              <a:ext cx="5134692" cy="2124371"/>
            </a:xfrm>
            <a:prstGeom prst="rect">
              <a:avLst/>
            </a:prstGeom>
          </p:spPr>
        </p:pic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B214EEC5-44A2-483E-AAE3-D3905781A569}"/>
                </a:ext>
              </a:extLst>
            </p:cNvPr>
            <p:cNvGrpSpPr/>
            <p:nvPr/>
          </p:nvGrpSpPr>
          <p:grpSpPr>
            <a:xfrm>
              <a:off x="7122689" y="4145558"/>
              <a:ext cx="3819236" cy="661758"/>
              <a:chOff x="4082473" y="4145558"/>
              <a:chExt cx="3819236" cy="661758"/>
            </a:xfrm>
          </p:grpSpPr>
          <p:sp>
            <p:nvSpPr>
              <p:cNvPr id="18" name="Retângulo 17">
                <a:extLst>
                  <a:ext uri="{FF2B5EF4-FFF2-40B4-BE49-F238E27FC236}">
                    <a16:creationId xmlns:a16="http://schemas.microsoft.com/office/drawing/2014/main" id="{55B3CAC1-7E01-4C30-8E3C-B1F8956256CA}"/>
                  </a:ext>
                </a:extLst>
              </p:cNvPr>
              <p:cNvSpPr/>
              <p:nvPr/>
            </p:nvSpPr>
            <p:spPr>
              <a:xfrm>
                <a:off x="40824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peso</a:t>
                </a:r>
              </a:p>
            </p:txBody>
          </p:sp>
          <p:sp>
            <p:nvSpPr>
              <p:cNvPr id="19" name="Retângulo 18">
                <a:extLst>
                  <a:ext uri="{FF2B5EF4-FFF2-40B4-BE49-F238E27FC236}">
                    <a16:creationId xmlns:a16="http://schemas.microsoft.com/office/drawing/2014/main" id="{7010807D-D2AA-42CE-A1E6-19865620C6FB}"/>
                  </a:ext>
                </a:extLst>
              </p:cNvPr>
              <p:cNvSpPr/>
              <p:nvPr/>
            </p:nvSpPr>
            <p:spPr>
              <a:xfrm>
                <a:off x="55302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idade</a:t>
                </a:r>
              </a:p>
            </p:txBody>
          </p:sp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8E7D9336-81D0-405D-94DC-FA796E028661}"/>
                  </a:ext>
                </a:extLst>
              </p:cNvPr>
              <p:cNvSpPr/>
              <p:nvPr/>
            </p:nvSpPr>
            <p:spPr>
              <a:xfrm>
                <a:off x="69780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pt-BR" dirty="0" err="1">
                    <a:solidFill>
                      <a:schemeClr val="tx1"/>
                    </a:solidFill>
                  </a:rPr>
                  <a:t>genero</a:t>
                </a:r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549197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A85AD-118A-4E2C-96D3-4507101E4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Primitivos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F38E1E-B74B-4052-80E0-03F90DF78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898525"/>
          </a:xfrm>
        </p:spPr>
        <p:txBody>
          <a:bodyPr/>
          <a:lstStyle/>
          <a:p>
            <a:r>
              <a:rPr lang="pt-BR" sz="1600" dirty="0"/>
              <a:t>Os </a:t>
            </a:r>
            <a:r>
              <a:rPr lang="pt-BR" sz="1600" b="1" dirty="0"/>
              <a:t>tipos primitivos </a:t>
            </a:r>
            <a:r>
              <a:rPr lang="pt-BR" sz="1600" dirty="0"/>
              <a:t>em Java são a base para armazenar dados simples, não são objetos e oferecem alto desempenho, atualmente temos os seguintes tipos primitivos.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40156C4-4D2D-40C4-8010-E7CCCD3D2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093" y="2937163"/>
            <a:ext cx="10135813" cy="2832858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04DDF1D8-7463-45E5-92E3-2928CC5AA7A7}"/>
              </a:ext>
            </a:extLst>
          </p:cNvPr>
          <p:cNvSpPr txBox="1">
            <a:spLocks/>
          </p:cNvSpPr>
          <p:nvPr/>
        </p:nvSpPr>
        <p:spPr>
          <a:xfrm>
            <a:off x="592347" y="6003580"/>
            <a:ext cx="11007306" cy="53576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A </a:t>
            </a:r>
            <a:r>
              <a:rPr lang="pt-BR" sz="1600" b="1" dirty="0"/>
              <a:t>String</a:t>
            </a:r>
            <a:r>
              <a:rPr lang="pt-BR" sz="1600" dirty="0"/>
              <a:t> em Java é uma </a:t>
            </a:r>
            <a:r>
              <a:rPr lang="pt-BR" sz="1600" b="1" dirty="0"/>
              <a:t>classe</a:t>
            </a:r>
            <a:r>
              <a:rPr lang="pt-BR" sz="1600" dirty="0"/>
              <a:t> usada para representar e manipular texto, com métodos para operações como concatenação e busca.</a:t>
            </a:r>
          </a:p>
        </p:txBody>
      </p:sp>
    </p:spTree>
    <p:extLst>
      <p:ext uri="{BB962C8B-B14F-4D97-AF65-F5344CB8AC3E}">
        <p14:creationId xmlns:p14="http://schemas.microsoft.com/office/powerpoint/2010/main" val="5081235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23EEF-917F-4D43-A87E-1445E5C8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Maneiras de declarar 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0B9142-A693-42C9-996E-FDC78EBC3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51107"/>
          </a:xfrm>
        </p:spPr>
        <p:txBody>
          <a:bodyPr/>
          <a:lstStyle/>
          <a:p>
            <a:r>
              <a:rPr lang="pt-BR" sz="1800" dirty="0"/>
              <a:t>A escolha do estilo de escrita para variáveis, funções e outros elementos do código é principalmente uma questão de convenção, impactando diretamente a legibilidade, manutenção e colaboração em projetos. Aqui estão algumas formas de declarar variáveis.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4EA972-E191-44CB-AC3A-542EA73B6CD4}"/>
              </a:ext>
            </a:extLst>
          </p:cNvPr>
          <p:cNvSpPr txBox="1"/>
          <p:nvPr/>
        </p:nvSpPr>
        <p:spPr>
          <a:xfrm>
            <a:off x="605793" y="3339053"/>
            <a:ext cx="10993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Camel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Camel Case a primeira palavra toda fica no formato minúsculo e as primeiras letras subsequentes de palavras adicionais em maiúscula.</a:t>
            </a:r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1C014D-255C-4684-A6CE-E10513D4F6AC}"/>
              </a:ext>
            </a:extLst>
          </p:cNvPr>
          <p:cNvSpPr txBox="1"/>
          <p:nvPr/>
        </p:nvSpPr>
        <p:spPr>
          <a:xfrm>
            <a:off x="4274570" y="4141573"/>
            <a:ext cx="30448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amel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5883BB3-FFE9-4B18-BDE5-88C284C26FE5}"/>
              </a:ext>
            </a:extLst>
          </p:cNvPr>
          <p:cNvSpPr txBox="1"/>
          <p:nvPr/>
        </p:nvSpPr>
        <p:spPr>
          <a:xfrm>
            <a:off x="592346" y="4972570"/>
            <a:ext cx="10993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Snake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Snake Case a todas as letras minúsculas e as palavras são separadas por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underline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0705B9B-627A-4CA3-B389-586867518A5C}"/>
              </a:ext>
            </a:extLst>
          </p:cNvPr>
          <p:cNvSpPr txBox="1"/>
          <p:nvPr/>
        </p:nvSpPr>
        <p:spPr>
          <a:xfrm>
            <a:off x="4190751" y="5480162"/>
            <a:ext cx="3243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snake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7947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23EEF-917F-4D43-A87E-1445E5C8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Maneiras de declarar Classes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0B9142-A693-42C9-996E-FDC78EBC3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51107"/>
          </a:xfrm>
        </p:spPr>
        <p:txBody>
          <a:bodyPr/>
          <a:lstStyle/>
          <a:p>
            <a:r>
              <a:rPr lang="pt-BR" sz="1800" dirty="0"/>
              <a:t>A escolha do estilo de escrita para variáveis, Classes e outros elementos do código é principalmente uma questão de convenção, impactando diretamente a legibilidade, manutenção e colaboração em projetos. O </a:t>
            </a:r>
            <a:r>
              <a:rPr lang="pt-BR" sz="1800" b="1" dirty="0"/>
              <a:t>Pascal Case </a:t>
            </a:r>
            <a:r>
              <a:rPr lang="pt-BR" sz="1800" dirty="0"/>
              <a:t>é o padrão utilizado para declarar </a:t>
            </a:r>
            <a:r>
              <a:rPr lang="pt-BR" sz="1800" b="1" dirty="0"/>
              <a:t>Classes</a:t>
            </a:r>
            <a:r>
              <a:rPr lang="pt-BR" sz="1800" dirty="0"/>
              <a:t>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4EA972-E191-44CB-AC3A-542EA73B6CD4}"/>
              </a:ext>
            </a:extLst>
          </p:cNvPr>
          <p:cNvSpPr txBox="1"/>
          <p:nvPr/>
        </p:nvSpPr>
        <p:spPr>
          <a:xfrm>
            <a:off x="599071" y="3495242"/>
            <a:ext cx="10993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Pascal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Pascal Case é um padrão de nomenclatura em que cada palavra começa com uma letra maiúscula, sem espaços ou separadores entre elas. </a:t>
            </a:r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1C014D-255C-4684-A6CE-E10513D4F6AC}"/>
              </a:ext>
            </a:extLst>
          </p:cNvPr>
          <p:cNvSpPr txBox="1"/>
          <p:nvPr/>
        </p:nvSpPr>
        <p:spPr>
          <a:xfrm>
            <a:off x="4577015" y="4354009"/>
            <a:ext cx="3037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ascal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718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FFAC6-2133-477F-AA15-B001B89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Declarando variáveis em Java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FAECF8-34E6-4AFA-B566-341971F6A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698" y="1844675"/>
            <a:ext cx="4284453" cy="4351338"/>
          </a:xfrm>
        </p:spPr>
        <p:txBody>
          <a:bodyPr/>
          <a:lstStyle/>
          <a:p>
            <a:r>
              <a:rPr lang="pt-BR" dirty="0"/>
              <a:t>Número Inteiro: </a:t>
            </a:r>
          </a:p>
          <a:p>
            <a:pPr marL="1028700" lvl="1" indent="-342900"/>
            <a:r>
              <a:rPr lang="pt-BR" b="1" dirty="0"/>
              <a:t>byte</a:t>
            </a:r>
            <a:r>
              <a:rPr lang="pt-BR" dirty="0"/>
              <a:t> dia = 20;</a:t>
            </a:r>
          </a:p>
          <a:p>
            <a:pPr marL="1028700" lvl="1" indent="-342900"/>
            <a:r>
              <a:rPr lang="pt-BR" b="1" dirty="0"/>
              <a:t>int</a:t>
            </a:r>
            <a:r>
              <a:rPr lang="pt-BR" dirty="0"/>
              <a:t> idade = 20;</a:t>
            </a:r>
          </a:p>
          <a:p>
            <a:pPr marL="1028700" lvl="1" indent="-342900"/>
            <a:r>
              <a:rPr lang="pt-BR" b="1" dirty="0"/>
              <a:t>short</a:t>
            </a:r>
            <a:r>
              <a:rPr lang="pt-BR" dirty="0"/>
              <a:t> ano = 2024;</a:t>
            </a:r>
          </a:p>
          <a:p>
            <a:pPr marL="1028700" lvl="1" indent="-342900"/>
            <a:r>
              <a:rPr lang="pt-BR" b="1" dirty="0" err="1"/>
              <a:t>long</a:t>
            </a:r>
            <a:r>
              <a:rPr lang="pt-BR" dirty="0"/>
              <a:t> </a:t>
            </a:r>
            <a:r>
              <a:rPr lang="pt-BR" dirty="0" err="1"/>
              <a:t>anoNascimento</a:t>
            </a:r>
            <a:r>
              <a:rPr lang="pt-BR" dirty="0"/>
              <a:t> = 2000;</a:t>
            </a:r>
          </a:p>
          <a:p>
            <a:pPr marL="342900" indent="-342900"/>
            <a:r>
              <a:rPr lang="pt-BR" dirty="0"/>
              <a:t>Número Decimal: </a:t>
            </a:r>
          </a:p>
          <a:p>
            <a:pPr marL="1028700" lvl="1" indent="-342900"/>
            <a:r>
              <a:rPr lang="pt-BR" b="1" dirty="0" err="1"/>
              <a:t>float</a:t>
            </a:r>
            <a:r>
              <a:rPr lang="pt-BR" dirty="0"/>
              <a:t> altura = 1.75f;</a:t>
            </a:r>
          </a:p>
          <a:p>
            <a:pPr marL="1028700" lvl="1" indent="-342900"/>
            <a:r>
              <a:rPr lang="pt-BR" b="1" dirty="0"/>
              <a:t>double</a:t>
            </a:r>
            <a:r>
              <a:rPr lang="pt-BR" dirty="0"/>
              <a:t> peso = 78.5;</a:t>
            </a:r>
          </a:p>
          <a:p>
            <a:endParaRPr lang="pt-BR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2D9FF185-15E1-43CA-8912-C4AEA2EBF44F}"/>
              </a:ext>
            </a:extLst>
          </p:cNvPr>
          <p:cNvSpPr txBox="1">
            <a:spLocks/>
          </p:cNvSpPr>
          <p:nvPr/>
        </p:nvSpPr>
        <p:spPr>
          <a:xfrm>
            <a:off x="6699849" y="1844675"/>
            <a:ext cx="4284453" cy="4351338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Caractere/Texto</a:t>
            </a:r>
          </a:p>
          <a:p>
            <a:pPr marL="1028700" lvl="1" indent="-342900"/>
            <a:r>
              <a:rPr lang="pt-BR" b="1" dirty="0"/>
              <a:t>char</a:t>
            </a:r>
            <a:r>
              <a:rPr lang="pt-BR" dirty="0"/>
              <a:t> </a:t>
            </a:r>
            <a:r>
              <a:rPr lang="pt-BR" dirty="0" err="1"/>
              <a:t>genero</a:t>
            </a:r>
            <a:r>
              <a:rPr lang="pt-BR" dirty="0"/>
              <a:t> = 'F';</a:t>
            </a:r>
          </a:p>
          <a:p>
            <a:pPr marL="1028700" lvl="1" indent="-342900"/>
            <a:r>
              <a:rPr lang="pt-BR" b="1" dirty="0"/>
              <a:t>String</a:t>
            </a:r>
            <a:r>
              <a:rPr lang="pt-BR" dirty="0"/>
              <a:t> nome = "Pedro";</a:t>
            </a:r>
          </a:p>
          <a:p>
            <a:r>
              <a:rPr lang="pt-BR" dirty="0"/>
              <a:t>Booleano</a:t>
            </a:r>
          </a:p>
          <a:p>
            <a:pPr marL="1028700" lvl="1" indent="-342900"/>
            <a:r>
              <a:rPr lang="pt-BR" b="1" dirty="0" err="1"/>
              <a:t>boolean</a:t>
            </a:r>
            <a:r>
              <a:rPr lang="pt-BR" dirty="0"/>
              <a:t> logico = </a:t>
            </a:r>
            <a:r>
              <a:rPr lang="pt-BR" dirty="0" err="1"/>
              <a:t>true</a:t>
            </a:r>
            <a:r>
              <a:rPr lang="pt-BR" dirty="0"/>
              <a:t>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54221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FFAC6-2133-477F-AA15-B001B89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Aritméticos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AFB2D6F-375C-40FE-B0C0-B8EACB620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117300" cy="1093834"/>
          </a:xfrm>
        </p:spPr>
        <p:txBody>
          <a:bodyPr/>
          <a:lstStyle/>
          <a:p>
            <a:r>
              <a:rPr lang="pt-BR" dirty="0"/>
              <a:t>Os operadores aritméticos no Java são usados para realizar operações matemáticas básicas, como adição (+), subtração (-), multiplicação (*), divisão (/) e módulo (%), diretamente entre variáveis e valores.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A8F1A65-477D-466D-8FC0-F858095D1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33" y="3215092"/>
            <a:ext cx="9395534" cy="285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689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210BC-4B14-4230-B4E3-941B123DC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Matemáticas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DAF30B-D69F-4420-A813-3AA90FF16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22812"/>
          </a:xfrm>
        </p:spPr>
        <p:txBody>
          <a:bodyPr/>
          <a:lstStyle/>
          <a:p>
            <a:r>
              <a:rPr lang="pt-BR" dirty="0"/>
              <a:t>A biblioteca </a:t>
            </a:r>
            <a:r>
              <a:rPr lang="pt-BR" dirty="0" err="1"/>
              <a:t>Math</a:t>
            </a:r>
            <a:r>
              <a:rPr lang="pt-BR" dirty="0"/>
              <a:t> no Java oferece métodos estáticos e constantes para cálculos matemáticos, como potência, raiz quadrada, trigonometria e logaritmos, sem precisar criar objetos.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104DBE-243B-4E8E-B119-2531F8115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63" y="3251710"/>
            <a:ext cx="10280073" cy="286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572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161A8E-0FFF-4F90-A095-346E0D25F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Exibindo informações no console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756728-F910-4CB6-81DE-609C00761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exibir informações no console sem adicionar uma quebra de linha ao final, utilizamos o comando </a:t>
            </a:r>
            <a:r>
              <a:rPr lang="pt-BR" b="1" dirty="0" err="1"/>
              <a:t>System.out.print</a:t>
            </a:r>
            <a:r>
              <a:rPr lang="pt-BR" b="1" dirty="0"/>
              <a:t>()</a:t>
            </a:r>
            <a:r>
              <a:rPr lang="pt-BR" dirty="0"/>
              <a:t>.</a:t>
            </a:r>
            <a:r>
              <a:rPr lang="pt-BR" b="1" dirty="0"/>
              <a:t> </a:t>
            </a:r>
            <a:r>
              <a:rPr lang="pt-BR" dirty="0"/>
              <a:t>Veja o exemplo:</a:t>
            </a:r>
          </a:p>
          <a:p>
            <a:r>
              <a:rPr lang="pt-BR" dirty="0"/>
              <a:t>	</a:t>
            </a:r>
            <a:r>
              <a:rPr lang="pt-BR" dirty="0" err="1"/>
              <a:t>System.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 err="1"/>
              <a:t>.print</a:t>
            </a:r>
            <a:r>
              <a:rPr lang="pt-BR" dirty="0"/>
              <a:t>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“Olá, mundo”</a:t>
            </a:r>
            <a:r>
              <a:rPr lang="pt-BR" dirty="0"/>
              <a:t>)</a:t>
            </a:r>
          </a:p>
          <a:p>
            <a:endParaRPr lang="pt-BR" dirty="0"/>
          </a:p>
          <a:p>
            <a:r>
              <a:rPr lang="pt-BR" dirty="0"/>
              <a:t>Para exibir informações no console adicionando uma quebra de linha ao final, utilizamos o comando </a:t>
            </a:r>
            <a:r>
              <a:rPr lang="pt-BR" b="1" dirty="0" err="1"/>
              <a:t>System.out.println</a:t>
            </a:r>
            <a:r>
              <a:rPr lang="pt-BR" b="1" dirty="0"/>
              <a:t>()</a:t>
            </a:r>
            <a:r>
              <a:rPr lang="pt-BR" dirty="0"/>
              <a:t>.</a:t>
            </a:r>
            <a:r>
              <a:rPr lang="pt-BR" b="1" dirty="0"/>
              <a:t> </a:t>
            </a:r>
            <a:r>
              <a:rPr lang="pt-BR" dirty="0"/>
              <a:t>Veja o exemplo:</a:t>
            </a:r>
          </a:p>
          <a:p>
            <a:r>
              <a:rPr lang="pt-BR" dirty="0"/>
              <a:t>	</a:t>
            </a:r>
            <a:r>
              <a:rPr lang="pt-BR" dirty="0" err="1"/>
              <a:t>System.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 err="1"/>
              <a:t>.println</a:t>
            </a:r>
            <a:r>
              <a:rPr lang="pt-BR" dirty="0"/>
              <a:t>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“Olá, mundo”</a:t>
            </a:r>
            <a:r>
              <a:rPr lang="pt-BR" dirty="0"/>
              <a:t>)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239325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F3035-0183-4D59-B954-2A85D9BB1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Controlando o número de casas decimais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7D100C-8567-477C-9CE5-048F0AB27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controlar o número de casas decimais exibidas no console, utilizamos a formatação %.</a:t>
            </a:r>
            <a:r>
              <a:rPr lang="pt-BR" dirty="0" err="1"/>
              <a:t>nºf</a:t>
            </a:r>
            <a:r>
              <a:rPr lang="pt-BR" dirty="0"/>
              <a:t>, onde nº representa a quantidade de casas decimais desejadas. Veja o exemplo abaixo:</a:t>
            </a:r>
          </a:p>
          <a:p>
            <a:r>
              <a:rPr lang="pt-BR" dirty="0"/>
              <a:t>	</a:t>
            </a:r>
            <a:r>
              <a:rPr lang="pt-BR" b="1" dirty="0"/>
              <a:t>double</a:t>
            </a:r>
            <a:r>
              <a:rPr lang="pt-BR" dirty="0"/>
              <a:t> imc = 35.885577;</a:t>
            </a:r>
          </a:p>
          <a:p>
            <a:r>
              <a:rPr lang="pt-BR" dirty="0"/>
              <a:t>	System.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out</a:t>
            </a:r>
            <a:r>
              <a:rPr lang="pt-BR" dirty="0"/>
              <a:t>.printf(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“%.2f”</a:t>
            </a:r>
            <a:r>
              <a:rPr lang="pt-BR" dirty="0"/>
              <a:t>, imc);</a:t>
            </a:r>
          </a:p>
          <a:p>
            <a:r>
              <a:rPr lang="pt-BR" dirty="0"/>
              <a:t>	Resultado = </a:t>
            </a:r>
            <a:r>
              <a:rPr lang="pt-BR" b="1" dirty="0"/>
              <a:t>35,89</a:t>
            </a:r>
          </a:p>
          <a:p>
            <a:r>
              <a:rPr lang="pt-BR" dirty="0" err="1"/>
              <a:t>Obs</a:t>
            </a:r>
            <a:r>
              <a:rPr lang="pt-BR" dirty="0"/>
              <a:t>: Caso queria quebrar a linha, utilize o %n, ficando da seguinte forma:</a:t>
            </a:r>
          </a:p>
          <a:p>
            <a:r>
              <a:rPr lang="pt-BR" dirty="0"/>
              <a:t>	System.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out</a:t>
            </a:r>
            <a:r>
              <a:rPr lang="pt-BR" dirty="0"/>
              <a:t>.printf(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“%.2f  %n”</a:t>
            </a:r>
            <a:r>
              <a:rPr lang="pt-BR" dirty="0"/>
              <a:t>, imc);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22165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15533-C167-4461-9846-4A29BBC24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Concatenando Elementos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428867-D995-44A0-BB21-4FE7F3A3E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574598"/>
          </a:xfrm>
        </p:spPr>
        <p:txBody>
          <a:bodyPr/>
          <a:lstStyle/>
          <a:p>
            <a:r>
              <a:rPr lang="pt-BR" dirty="0"/>
              <a:t>A concatenação é o processo de unir dois ou mais elementos, em um único valor. No Java, a concatenação é feita principalmente com o operador + ou o método </a:t>
            </a:r>
            <a:r>
              <a:rPr lang="pt-BR" dirty="0" err="1"/>
              <a:t>concat</a:t>
            </a:r>
            <a:r>
              <a:rPr lang="pt-BR" dirty="0"/>
              <a:t>() da classe String.</a:t>
            </a:r>
          </a:p>
          <a:p>
            <a:r>
              <a:rPr lang="pt-BR" dirty="0"/>
              <a:t>	</a:t>
            </a:r>
            <a:r>
              <a:rPr lang="pt-BR" dirty="0">
                <a:solidFill>
                  <a:srgbClr val="C00000"/>
                </a:solidFill>
              </a:rPr>
              <a:t>int</a:t>
            </a:r>
            <a:r>
              <a:rPr lang="pt-BR" dirty="0"/>
              <a:t>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 = 7;</a:t>
            </a:r>
          </a:p>
          <a:p>
            <a:r>
              <a:rPr lang="pt-BR" dirty="0"/>
              <a:t>	</a:t>
            </a:r>
            <a:r>
              <a:rPr lang="pt-BR" dirty="0" err="1"/>
              <a:t>System.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 err="1"/>
              <a:t>.println</a:t>
            </a:r>
            <a:r>
              <a:rPr lang="pt-BR" dirty="0"/>
              <a:t>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“A nota do aluno é igual a ” </a:t>
            </a:r>
            <a:r>
              <a:rPr lang="pt-BR" dirty="0"/>
              <a:t>+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);</a:t>
            </a:r>
          </a:p>
          <a:p>
            <a:r>
              <a:rPr lang="pt-BR" dirty="0"/>
              <a:t>Para concatenar números formatados com texto, utilizamos o método </a:t>
            </a:r>
            <a:r>
              <a:rPr lang="pt-BR" b="1" dirty="0" err="1"/>
              <a:t>printf</a:t>
            </a:r>
            <a:r>
              <a:rPr lang="pt-BR" b="1" dirty="0"/>
              <a:t>()</a:t>
            </a:r>
            <a:r>
              <a:rPr lang="pt-BR" dirty="0"/>
              <a:t>, como no exemplo abaixo:</a:t>
            </a:r>
          </a:p>
          <a:p>
            <a:r>
              <a:rPr lang="pt-BR" dirty="0">
                <a:solidFill>
                  <a:srgbClr val="C00000"/>
                </a:solidFill>
              </a:rPr>
              <a:t>	double</a:t>
            </a:r>
            <a:r>
              <a:rPr lang="pt-BR" dirty="0"/>
              <a:t>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 = 7.5555555;</a:t>
            </a:r>
          </a:p>
          <a:p>
            <a:r>
              <a:rPr lang="pt-BR" dirty="0"/>
              <a:t>	System.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/>
              <a:t>.printf(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“A nota do aluno é igual a %.2f %n”,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);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01108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93925-0098-424B-9208-D35510EC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Concatenando Elementos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BDBF75-9D9B-4DE5-ADA8-79A2AC4B0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84219"/>
          </a:xfrm>
        </p:spPr>
        <p:txBody>
          <a:bodyPr/>
          <a:lstStyle/>
          <a:p>
            <a:r>
              <a:rPr lang="pt-BR" sz="1800" dirty="0"/>
              <a:t>No Java, podemos concatenar múltiplos elementos dentro do mesmo </a:t>
            </a:r>
            <a:r>
              <a:rPr lang="pt-BR" sz="1800" dirty="0" err="1"/>
              <a:t>printf</a:t>
            </a:r>
            <a:r>
              <a:rPr lang="pt-BR" sz="1800" dirty="0"/>
              <a:t>(), utilizando especificadores de formato para controlar como cada tipo de dado será exibido. Os especificadores de formato são utilizados para definir o tipo de dado e o formato de exibição, como por exemplo: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8316165-2B94-467D-881A-098F9AEA61D0}"/>
              </a:ext>
            </a:extLst>
          </p:cNvPr>
          <p:cNvSpPr txBox="1"/>
          <p:nvPr/>
        </p:nvSpPr>
        <p:spPr>
          <a:xfrm>
            <a:off x="592347" y="3755187"/>
            <a:ext cx="32880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%f - Números de ponto flutuante,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%d - Números inteiros,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%s - String (texto),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%n - Quebra de linha.</a:t>
            </a:r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C2A8B18-4A69-43F0-8523-A22CABFFBC9E}"/>
              </a:ext>
            </a:extLst>
          </p:cNvPr>
          <p:cNvSpPr txBox="1"/>
          <p:nvPr/>
        </p:nvSpPr>
        <p:spPr>
          <a:xfrm>
            <a:off x="4641190" y="3785964"/>
            <a:ext cx="69584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pt-B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idade = 20; 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salario = 4500.75; 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nome = "João"; 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.printf(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"Nome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%s,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Idade: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%d,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Salário: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%.2f%n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nome, idade, salario);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2224533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27E75-8D0D-499D-801C-87E73E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Entrada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759D3-CE45-44C8-9E6A-853BAEBFA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6" y="1816967"/>
            <a:ext cx="11007306" cy="1055543"/>
          </a:xfrm>
        </p:spPr>
        <p:txBody>
          <a:bodyPr/>
          <a:lstStyle/>
          <a:p>
            <a:r>
              <a:rPr lang="pt-BR" dirty="0"/>
              <a:t>No Java, a entrada de dados é feita com a classe </a:t>
            </a:r>
            <a:r>
              <a:rPr lang="pt-BR" b="1" dirty="0"/>
              <a:t>Scanner</a:t>
            </a:r>
            <a:r>
              <a:rPr lang="pt-BR" dirty="0"/>
              <a:t> do pacote </a:t>
            </a:r>
            <a:r>
              <a:rPr lang="pt-BR" b="1" dirty="0" err="1"/>
              <a:t>java.util</a:t>
            </a:r>
            <a:r>
              <a:rPr lang="pt-BR" dirty="0"/>
              <a:t>, permitindo que o programa leia informações do usuário, como números e textos, diretamente do teclado.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791BBC9-B3A4-4169-9044-2D1D74837508}"/>
              </a:ext>
            </a:extLst>
          </p:cNvPr>
          <p:cNvGrpSpPr/>
          <p:nvPr/>
        </p:nvGrpSpPr>
        <p:grpSpPr>
          <a:xfrm>
            <a:off x="2783609" y="3020292"/>
            <a:ext cx="6624783" cy="3608488"/>
            <a:chOff x="3932381" y="3020292"/>
            <a:chExt cx="6624783" cy="3608488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252A8F5E-F15C-40B8-B8A6-7D2B6B4E07A7}"/>
                </a:ext>
              </a:extLst>
            </p:cNvPr>
            <p:cNvSpPr/>
            <p:nvPr/>
          </p:nvSpPr>
          <p:spPr>
            <a:xfrm>
              <a:off x="3932381" y="3020292"/>
              <a:ext cx="6624783" cy="36084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import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java.util.Scanner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;             Importa a biblioteca Scanner</a:t>
              </a:r>
            </a:p>
            <a:p>
              <a:pPr>
                <a:lnSpc>
                  <a:spcPct val="150000"/>
                </a:lnSpc>
              </a:pP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public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class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Main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{</a:t>
              </a:r>
            </a:p>
            <a:p>
              <a:pPr marL="457200">
                <a:lnSpc>
                  <a:spcPct val="150000"/>
                </a:lnSpc>
              </a:pP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public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static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void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main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(String[] </a:t>
              </a: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args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 {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Scanner </a:t>
              </a: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= </a:t>
              </a:r>
              <a:r>
                <a:rPr lang="pt-BR" sz="1400" b="1" dirty="0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new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Scanner(System.</a:t>
              </a:r>
              <a:r>
                <a:rPr lang="pt-BR" sz="1400" b="1" i="1" dirty="0">
                  <a:solidFill>
                    <a:srgbClr val="0000C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in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);            Cria um objeto scanner.           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String </a:t>
              </a:r>
              <a:r>
                <a:rPr lang="pt-BR" sz="1400" dirty="0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nome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;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System.</a:t>
              </a:r>
              <a:r>
                <a:rPr lang="pt-BR" sz="1400" b="1" i="1" dirty="0" err="1">
                  <a:solidFill>
                    <a:srgbClr val="0000C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out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.println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</a:t>
              </a:r>
              <a:r>
                <a:rPr lang="pt-BR" sz="1400" dirty="0">
                  <a:solidFill>
                    <a:srgbClr val="2A00FF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"Digite um nome: "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);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nome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= </a:t>
              </a: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.next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();            Lê a próxima palavra escrita pelo o usuário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System.</a:t>
              </a:r>
              <a:r>
                <a:rPr lang="pt-BR" sz="1400" b="1" i="1" dirty="0" err="1">
                  <a:solidFill>
                    <a:srgbClr val="0000C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out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.println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</a:t>
              </a:r>
              <a:r>
                <a:rPr lang="pt-BR" sz="1400" dirty="0">
                  <a:solidFill>
                    <a:srgbClr val="2A00FF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"Você digitou "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+ </a:t>
              </a:r>
              <a:r>
                <a:rPr lang="pt-BR" sz="1400" dirty="0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nome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);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.close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();            Encerra o objeto Scanner</a:t>
              </a:r>
            </a:p>
            <a:p>
              <a:pPr marL="457200"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}</a:t>
              </a:r>
            </a:p>
            <a:p>
              <a:pPr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}</a:t>
              </a:r>
            </a:p>
          </p:txBody>
        </p: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07A06BE7-E7EE-4C41-A9CD-EC8A15EA5BB9}"/>
                </a:ext>
              </a:extLst>
            </p:cNvPr>
            <p:cNvCxnSpPr/>
            <p:nvPr/>
          </p:nvCxnSpPr>
          <p:spPr>
            <a:xfrm>
              <a:off x="5878944" y="3268807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44C4E0CF-C29A-4F19-9AF4-A4BB87990052}"/>
                </a:ext>
              </a:extLst>
            </p:cNvPr>
            <p:cNvCxnSpPr/>
            <p:nvPr/>
          </p:nvCxnSpPr>
          <p:spPr>
            <a:xfrm>
              <a:off x="7749308" y="4224770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de Seta Reta 9">
              <a:extLst>
                <a:ext uri="{FF2B5EF4-FFF2-40B4-BE49-F238E27FC236}">
                  <a16:creationId xmlns:a16="http://schemas.microsoft.com/office/drawing/2014/main" id="{1DCF1559-8E1B-4A28-8C7B-430B279F1B25}"/>
                </a:ext>
              </a:extLst>
            </p:cNvPr>
            <p:cNvCxnSpPr/>
            <p:nvPr/>
          </p:nvCxnSpPr>
          <p:spPr>
            <a:xfrm>
              <a:off x="6229926" y="5189970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19F063E0-260B-4434-A855-4DCC42918658}"/>
                </a:ext>
              </a:extLst>
            </p:cNvPr>
            <p:cNvCxnSpPr/>
            <p:nvPr/>
          </p:nvCxnSpPr>
          <p:spPr>
            <a:xfrm>
              <a:off x="5710525" y="5826846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322057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27E75-8D0D-499D-801C-87E73E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</a:t>
            </a:r>
            <a:r>
              <a:rPr lang="pt-BR" dirty="0" err="1"/>
              <a:t>next</a:t>
            </a:r>
            <a:r>
              <a:rPr lang="pt-BR" dirty="0"/>
              <a:t>()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759D3-CE45-44C8-9E6A-853BAEBFA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55543"/>
          </a:xfrm>
        </p:spPr>
        <p:txBody>
          <a:bodyPr/>
          <a:lstStyle/>
          <a:p>
            <a:r>
              <a:rPr lang="pt-BR" dirty="0"/>
              <a:t>Os métodos </a:t>
            </a:r>
            <a:r>
              <a:rPr lang="pt-BR" b="1" dirty="0" err="1"/>
              <a:t>next</a:t>
            </a:r>
            <a:r>
              <a:rPr lang="pt-BR" b="1" dirty="0"/>
              <a:t>()</a:t>
            </a:r>
            <a:r>
              <a:rPr lang="pt-BR" dirty="0"/>
              <a:t> da classe </a:t>
            </a:r>
            <a:r>
              <a:rPr lang="pt-BR" b="1" dirty="0"/>
              <a:t>Scanner</a:t>
            </a:r>
            <a:r>
              <a:rPr lang="pt-BR" dirty="0"/>
              <a:t> no Java são usados para capturar dados fornecidos pelo usuário. A tabela abaixo apresenta os principais tipos de métodos </a:t>
            </a:r>
            <a:r>
              <a:rPr lang="pt-BR" b="1" dirty="0" err="1"/>
              <a:t>next</a:t>
            </a:r>
            <a:r>
              <a:rPr lang="pt-BR" b="1" dirty="0"/>
              <a:t>()</a:t>
            </a:r>
            <a:r>
              <a:rPr lang="pt-BR" dirty="0"/>
              <a:t> e os dados que cada um é capaz de ler.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05E4199-5CDE-4157-B835-63078EF21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974" y="3000653"/>
            <a:ext cx="7380052" cy="310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025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27E75-8D0D-499D-801C-87E73E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Atenção ao usar o </a:t>
            </a:r>
            <a:r>
              <a:rPr lang="pt-BR" dirty="0" err="1"/>
              <a:t>nextInt</a:t>
            </a:r>
            <a:r>
              <a:rPr lang="pt-BR" dirty="0"/>
              <a:t>()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759D3-CE45-44C8-9E6A-853BAEBFA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77919"/>
          </a:xfrm>
        </p:spPr>
        <p:txBody>
          <a:bodyPr/>
          <a:lstStyle/>
          <a:p>
            <a:r>
              <a:rPr lang="pt-BR" dirty="0"/>
              <a:t>Ao usar </a:t>
            </a:r>
            <a:r>
              <a:rPr lang="pt-BR" b="1" dirty="0" err="1"/>
              <a:t>nextInt</a:t>
            </a:r>
            <a:r>
              <a:rPr lang="pt-BR" b="1" dirty="0"/>
              <a:t>() </a:t>
            </a:r>
            <a:r>
              <a:rPr lang="pt-BR" dirty="0"/>
              <a:t>seguido de </a:t>
            </a:r>
            <a:r>
              <a:rPr lang="pt-BR" b="1" dirty="0" err="1"/>
              <a:t>nextLine</a:t>
            </a:r>
            <a:r>
              <a:rPr lang="pt-BR" b="1" dirty="0"/>
              <a:t>()</a:t>
            </a:r>
            <a:r>
              <a:rPr lang="pt-BR" dirty="0"/>
              <a:t>, é preciso atenção, pois </a:t>
            </a:r>
            <a:r>
              <a:rPr lang="pt-BR" b="1" dirty="0" err="1"/>
              <a:t>nextInt</a:t>
            </a:r>
            <a:r>
              <a:rPr lang="pt-BR" b="1" dirty="0"/>
              <a:t>()</a:t>
            </a:r>
            <a:r>
              <a:rPr lang="pt-BR" dirty="0"/>
              <a:t> lê apenas o número e deixa a quebra de linha (\n) no buffer. Isso faz com que o </a:t>
            </a:r>
            <a:r>
              <a:rPr lang="pt-BR" b="1" dirty="0" err="1"/>
              <a:t>nextLine</a:t>
            </a:r>
            <a:r>
              <a:rPr lang="pt-BR" b="1" dirty="0"/>
              <a:t>() </a:t>
            </a:r>
            <a:r>
              <a:rPr lang="pt-BR" dirty="0"/>
              <a:t>capture a quebra residual, causando comportamentos inesperados.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49008A9-DC1E-40A7-A6E7-D65A324ACC50}"/>
              </a:ext>
            </a:extLst>
          </p:cNvPr>
          <p:cNvSpPr/>
          <p:nvPr/>
        </p:nvSpPr>
        <p:spPr>
          <a:xfrm>
            <a:off x="7081421" y="4334084"/>
            <a:ext cx="3352800" cy="16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   </a:t>
            </a:r>
            <a:endParaRPr lang="pt-BR" sz="14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pt-BR" sz="1400" i="1" dirty="0" err="1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pt-BR" sz="14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"Número: "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pt-BR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it-IT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it-IT" sz="1400" i="1" dirty="0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.println(</a:t>
            </a:r>
            <a:r>
              <a:rPr lang="it-IT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"Nome: "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it-IT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9B80088-2530-4A60-9D22-39866862350B}"/>
              </a:ext>
            </a:extLst>
          </p:cNvPr>
          <p:cNvSpPr/>
          <p:nvPr/>
        </p:nvSpPr>
        <p:spPr>
          <a:xfrm>
            <a:off x="1899821" y="4334084"/>
            <a:ext cx="3352800" cy="13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pt-BR" sz="1400" i="1" dirty="0" err="1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pt-BR" sz="14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"Número: "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pt-BR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it-IT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it-IT" sz="1400" i="1" dirty="0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.println(</a:t>
            </a:r>
            <a:r>
              <a:rPr lang="it-IT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"Nome: "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it-IT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FEFE0A-B91B-4E9F-A279-F74AD32F826D}"/>
              </a:ext>
            </a:extLst>
          </p:cNvPr>
          <p:cNvSpPr txBox="1"/>
          <p:nvPr/>
        </p:nvSpPr>
        <p:spPr>
          <a:xfrm>
            <a:off x="2817039" y="380852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4A992FE-D63C-4159-8E85-1885DA211269}"/>
              </a:ext>
            </a:extLst>
          </p:cNvPr>
          <p:cNvSpPr txBox="1"/>
          <p:nvPr/>
        </p:nvSpPr>
        <p:spPr>
          <a:xfrm>
            <a:off x="8094819" y="380852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SOLUÇÃO</a:t>
            </a:r>
          </a:p>
        </p:txBody>
      </p:sp>
    </p:spTree>
    <p:extLst>
      <p:ext uri="{BB962C8B-B14F-4D97-AF65-F5344CB8AC3E}">
        <p14:creationId xmlns:p14="http://schemas.microsoft.com/office/powerpoint/2010/main" val="38924322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3"/>
            <a:ext cx="11007306" cy="1005057"/>
          </a:xfrm>
        </p:spPr>
        <p:txBody>
          <a:bodyPr/>
          <a:lstStyle/>
          <a:p>
            <a:r>
              <a:rPr lang="pt-BR" b="1" dirty="0"/>
              <a:t>Desafio 01 - Conversão de Temperatura</a:t>
            </a:r>
          </a:p>
          <a:p>
            <a:pPr marL="457200" lvl="1" indent="0">
              <a:buNone/>
            </a:pPr>
            <a:r>
              <a:rPr lang="pt-BR" dirty="0"/>
              <a:t>Solicite ao usuário uma temperatura em Celsius (tipo </a:t>
            </a:r>
            <a:r>
              <a:rPr lang="pt-BR" dirty="0" err="1"/>
              <a:t>double</a:t>
            </a:r>
            <a:r>
              <a:rPr lang="pt-BR" dirty="0"/>
              <a:t>) e converta para Fahrenheit (F) e Kelvin(K). A fórmula é: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3708174"/>
            <a:ext cx="11007306" cy="1438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02 - Calculando Juros Compostos</a:t>
            </a:r>
          </a:p>
          <a:p>
            <a:pPr marL="457200" lvl="1" indent="0">
              <a:buNone/>
            </a:pPr>
            <a:r>
              <a:rPr lang="pt-BR" dirty="0"/>
              <a:t>Implemente um programa que solicite o capital inicial, a taxa de juros (em % ao mês) e o número de meses. Calcule e exiba o montante total com base na fórmula de juros compostos: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215C524-60E0-4A24-8CF9-E8DB22B30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594" y="2905052"/>
            <a:ext cx="2800741" cy="52394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1897DEA-BF5A-4227-ADC2-D30E34CF1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29" y="3028894"/>
            <a:ext cx="2162477" cy="27626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2933227-E1EE-4436-BDDA-AD67684D4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7470" y="5457383"/>
            <a:ext cx="3178402" cy="64782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D3678FC-9AFD-4823-9261-A6176C2C4C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5836" y="5284694"/>
            <a:ext cx="2698859" cy="9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360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3"/>
            <a:ext cx="11007306" cy="1405163"/>
          </a:xfrm>
        </p:spPr>
        <p:txBody>
          <a:bodyPr/>
          <a:lstStyle/>
          <a:p>
            <a:r>
              <a:rPr lang="pt-BR" b="1" dirty="0"/>
              <a:t>Desafio 03 – Média de Aluno</a:t>
            </a:r>
          </a:p>
          <a:p>
            <a:pPr marL="457200" lvl="1" indent="0">
              <a:buNone/>
            </a:pPr>
            <a:r>
              <a:rPr lang="pt-BR" dirty="0"/>
              <a:t>Faça um programa que leia três notas de um aluno e calcule a média final. Ao final, exiba a média formatada.</a:t>
            </a:r>
          </a:p>
          <a:p>
            <a:pPr marL="457200" lvl="1" indent="0">
              <a:buNone/>
            </a:pPr>
            <a:r>
              <a:rPr lang="pt-BR" b="1" dirty="0"/>
              <a:t>Exemplo de Saída</a:t>
            </a:r>
            <a:r>
              <a:rPr lang="pt-BR" dirty="0"/>
              <a:t>: “A média final do aluno é 7.0”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3473732"/>
            <a:ext cx="11007306" cy="1438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04 - Calculadora de Juros Simples</a:t>
            </a:r>
          </a:p>
          <a:p>
            <a:pPr marL="457200" lvl="1" indent="0">
              <a:buNone/>
            </a:pPr>
            <a:r>
              <a:rPr lang="pt-BR" dirty="0"/>
              <a:t>Crie um programa que leia o capital inicial, a taxa de juros mensal (%) e o tempo (em meses). Calcule os juros simples e mostre os valores dos juros e do montante total ao final do período.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783F312-A659-4D3D-A42C-EF86BB561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891" y="5470663"/>
            <a:ext cx="1695687" cy="38105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B6A7C83-89A8-49DC-A205-0411EF50A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422" y="4985610"/>
            <a:ext cx="3292047" cy="135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7910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4"/>
            <a:ext cx="11007306" cy="1118610"/>
          </a:xfrm>
        </p:spPr>
        <p:txBody>
          <a:bodyPr/>
          <a:lstStyle/>
          <a:p>
            <a:r>
              <a:rPr lang="pt-BR" b="1" dirty="0"/>
              <a:t>Desafio 05 – Área e Perímetro de um Círculo</a:t>
            </a:r>
          </a:p>
          <a:p>
            <a:pPr marL="457200" lvl="1" indent="0">
              <a:buNone/>
            </a:pPr>
            <a:r>
              <a:rPr lang="pt-BR" dirty="0"/>
              <a:t>Crie um programa que leia o raio de um círculo e calcule: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509FF2E-4AAC-40A4-BDB9-FA28F435B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23" y="2863274"/>
            <a:ext cx="3038899" cy="9526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D5E7A3F-70A6-4700-9D44-B2905DDB1F74}"/>
              </a:ext>
            </a:extLst>
          </p:cNvPr>
          <p:cNvSpPr txBox="1"/>
          <p:nvPr/>
        </p:nvSpPr>
        <p:spPr>
          <a:xfrm>
            <a:off x="592347" y="3994727"/>
            <a:ext cx="4663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a biblioteca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o valor de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61812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560</TotalTime>
  <Words>3612</Words>
  <Application>Microsoft Office PowerPoint</Application>
  <PresentationFormat>Widescreen</PresentationFormat>
  <Paragraphs>424</Paragraphs>
  <Slides>66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66</vt:i4>
      </vt:variant>
    </vt:vector>
  </HeadingPairs>
  <TitlesOfParts>
    <vt:vector size="73" baseType="lpstr">
      <vt:lpstr>Arial</vt:lpstr>
      <vt:lpstr>Calibri</vt:lpstr>
      <vt:lpstr>Calibri Light</vt:lpstr>
      <vt:lpstr>Cambria Math</vt:lpstr>
      <vt:lpstr>Tahoma</vt:lpstr>
      <vt:lpstr>Times New Roman</vt:lpstr>
      <vt:lpstr>Tema do Office</vt:lpstr>
      <vt:lpstr>PROJETOS DE SOFTWARE E SEGURANÇA DA INFORMAÇÃO</vt:lpstr>
      <vt:lpstr>Formação Acadêmica e Experiência Profissional</vt:lpstr>
      <vt:lpstr>Programação do Curso</vt:lpstr>
      <vt:lpstr>Métodos de Avaliação</vt:lpstr>
      <vt:lpstr>Métodos de Avaliação</vt:lpstr>
      <vt:lpstr>Código Fonte e Código Objeto</vt:lpstr>
      <vt:lpstr>Compilação x Interpretação</vt:lpstr>
      <vt:lpstr>Compilação x Interpretação</vt:lpstr>
      <vt:lpstr>Linguagem Interpretada x Compilada</vt:lpstr>
      <vt:lpstr>Compilação x Interpretação na Prática</vt:lpstr>
      <vt:lpstr>O Java se encaixa em qual tipo de abordagem.</vt:lpstr>
      <vt:lpstr>Sobre a Linguagem Java </vt:lpstr>
      <vt:lpstr>Desenvolvimento em Java</vt:lpstr>
      <vt:lpstr>Ambiente de Desenvolvimento Integrado (IDE)</vt:lpstr>
      <vt:lpstr>Requisitos Softwares </vt:lpstr>
      <vt:lpstr>Passo a Passo - JDK</vt:lpstr>
      <vt:lpstr>Passo a Passo - JDK</vt:lpstr>
      <vt:lpstr>Passo a Passo – Eclipse</vt:lpstr>
      <vt:lpstr>Passo a Passo - Eclipse</vt:lpstr>
      <vt:lpstr>Passo a Passo - Eclipse</vt:lpstr>
      <vt:lpstr>Passo a Passo – Criar um arquivo</vt:lpstr>
      <vt:lpstr>Passo a Passo – Criar um arquivo</vt:lpstr>
      <vt:lpstr>VERSIONAMENTO COM GIT E GITHUB</vt:lpstr>
      <vt:lpstr>GIT E GITHUB</vt:lpstr>
      <vt:lpstr>VERSIONAMENTO - GIT</vt:lpstr>
      <vt:lpstr>BACKUP DO VERSIONAMENTO - GIT</vt:lpstr>
      <vt:lpstr>VERSIONAMENTO EM GRUPO - GIT</vt:lpstr>
      <vt:lpstr>GIT</vt:lpstr>
      <vt:lpstr>GITHUB</vt:lpstr>
      <vt:lpstr>GITHUB</vt:lpstr>
      <vt:lpstr>GITHUB</vt:lpstr>
      <vt:lpstr>REQUISITOS DE SOFTWARE</vt:lpstr>
      <vt:lpstr>CRIANDO SEU PERFIL NO GITHUB</vt:lpstr>
      <vt:lpstr>Criando Um Repositório Com O Github</vt:lpstr>
      <vt:lpstr>CRIANDO UM REPOSITÓRIO NO GIT</vt:lpstr>
      <vt:lpstr>CRIANDO UM REPOSITÓRIO NO GITHUB</vt:lpstr>
      <vt:lpstr>CRIANDO UM REPOSITÓRIO NO GITHUB</vt:lpstr>
      <vt:lpstr>ATUALIZANDO O REPOSITÓRIO NO GIT E NO GITHUB</vt:lpstr>
      <vt:lpstr>ATUALIZANDO O REPOSITÓRIO NO GIT E NO GITHUB</vt:lpstr>
      <vt:lpstr>COLOCANDO O PROJETO NO GITHUB PAGES</vt:lpstr>
      <vt:lpstr>COLOCANDO O PROJETO NO GITHUB PAGES</vt:lpstr>
      <vt:lpstr>COLOCANDO O PROJETO NO GITHUB PAGES</vt:lpstr>
      <vt:lpstr>COLOCANDO O PROJETO NO GITHUB PAGES</vt:lpstr>
      <vt:lpstr>COLOCANDO O PROJETO NO GITHUB PAGES</vt:lpstr>
      <vt:lpstr>COLOCANDO O PROJETO NO GITHUB PAGES</vt:lpstr>
      <vt:lpstr>Introdução ao Java</vt:lpstr>
      <vt:lpstr>Estrutura da Aplicação Java</vt:lpstr>
      <vt:lpstr>Estrutura da Aplicação Java</vt:lpstr>
      <vt:lpstr>Estrutura da Aplicação Java</vt:lpstr>
      <vt:lpstr>Variáveis</vt:lpstr>
      <vt:lpstr>Tipos Primitivos </vt:lpstr>
      <vt:lpstr>Maneiras de declarar variáveis</vt:lpstr>
      <vt:lpstr>Maneiras de declarar Classes</vt:lpstr>
      <vt:lpstr>Declarando variáveis em Java</vt:lpstr>
      <vt:lpstr>Operadores Aritméticos</vt:lpstr>
      <vt:lpstr>Funções Matemáticas</vt:lpstr>
      <vt:lpstr>Exibindo informações no console </vt:lpstr>
      <vt:lpstr>Controlando o número de casas decimais</vt:lpstr>
      <vt:lpstr>Concatenando Elementos</vt:lpstr>
      <vt:lpstr>Concatenando Elementos</vt:lpstr>
      <vt:lpstr>Entrada de Dados</vt:lpstr>
      <vt:lpstr>Métodos next()</vt:lpstr>
      <vt:lpstr>Atenção ao usar o nextInt()</vt:lpstr>
      <vt:lpstr>Desafios</vt:lpstr>
      <vt:lpstr>Desafios</vt:lpstr>
      <vt:lpstr>Desafios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73</cp:revision>
  <dcterms:created xsi:type="dcterms:W3CDTF">2024-03-08T12:14:33Z</dcterms:created>
  <dcterms:modified xsi:type="dcterms:W3CDTF">2026-02-09T20:08:37Z</dcterms:modified>
</cp:coreProperties>
</file>