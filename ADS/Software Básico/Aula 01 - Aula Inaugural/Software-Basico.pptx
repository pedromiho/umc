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4"/>
  </p:sldMasterIdLst>
  <p:notesMasterIdLst>
    <p:notesMasterId r:id="rId15"/>
  </p:notesMasterIdLst>
  <p:sldIdLst>
    <p:sldId id="26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12192000"/>
  <p:embeddedFontLs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Inter" panose="020B0604020202020204" charset="0"/>
      <p:regular r:id="rId20"/>
    </p:embeddedFont>
    <p:embeddedFont>
      <p:font typeface="Inter Bold" panose="020B0604020202020204" charset="0"/>
      <p:regular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font" Target="fonts/font6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1317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Slide de Título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pt-BR"/>
              <a:t>Clique para editar o estilo do subtítulo Mestre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2898832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FB9411-69F7-EFE2-E8A8-43455A05C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A187DA8-D59F-5DFA-55C8-48BC1BA60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AF99D26-DA4B-D0AF-3054-103CA613A8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82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F81AA659-8FD3-461F-8FBC-BDBF8F913D9D}" type="datetimeFigureOut">
              <a:rPr lang="pt-BR" smtClean="0"/>
              <a:pPr/>
              <a:t>17/08/2026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96EC41-5B15-2A4A-34B9-2E8C0BCEE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82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514FFF6-E682-D349-81F9-96FA3093F4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200" b="0" i="0" u="none" strike="noStrike" cap="none">
                <a:solidFill>
                  <a:schemeClr val="tx1">
                    <a:tint val="82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950E8CF1-C835-4717-86DC-68B0F0260540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720932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Cabeçalho da Seção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920485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Duas Partes de Conteúdo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 dirty="0"/>
              <a:t>Clique para editar o título Mestre</a:t>
            </a:r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Google Shape;29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Google Shape;30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501746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Comparação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 dirty="0"/>
              <a:t>Clique para editar o título Mestre</a:t>
            </a:r>
            <a:endParaRPr dirty="0"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pt-BR" smtClean="0"/>
              <a:pPr/>
              <a:t>‹nº›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85057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Somente Título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2333628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Em Branco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5627268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Conteúdo com Legenda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r>
              <a:rPr lang="pt-BR"/>
              <a:t>Clique para editar o título Mestre</a:t>
            </a:r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9315736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292A8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  <a:ln>
            <a:noFill/>
          </a:ln>
        </p:spPr>
      </p:pic>
      <p:pic>
        <p:nvPicPr>
          <p:cNvPr id="12" name="Google Shape;12;p1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283716" y="719713"/>
            <a:ext cx="1273846" cy="72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047616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74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18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2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4">
            <a:extLst>
              <a:ext uri="{FF2B5EF4-FFF2-40B4-BE49-F238E27FC236}">
                <a16:creationId xmlns:a16="http://schemas.microsoft.com/office/drawing/2014/main" id="{C77C15DC-3A66-F382-C24B-51C728202B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Software Básico</a:t>
            </a:r>
          </a:p>
        </p:txBody>
      </p:sp>
      <p:sp>
        <p:nvSpPr>
          <p:cNvPr id="6" name="Subtítulo 5">
            <a:extLst>
              <a:ext uri="{FF2B5EF4-FFF2-40B4-BE49-F238E27FC236}">
                <a16:creationId xmlns:a16="http://schemas.microsoft.com/office/drawing/2014/main" id="{6FD7A77A-F9D8-9C8E-94CC-30DE2EF415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3039654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7400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91756" y="908199"/>
            <a:ext cx="6296860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Nossa Universidade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661475" y="1749028"/>
            <a:ext cx="6296860" cy="786011"/>
          </a:xfrm>
          <a:prstGeom prst="roundRect">
            <a:avLst>
              <a:gd name="adj" fmla="val 757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809506" y="1897062"/>
            <a:ext cx="6000798" cy="227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🏛️</a:t>
            </a: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Instituição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809506" y="2188567"/>
            <a:ext cx="6000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Universidade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Mogi das Cruzes (UMC)— comprometida com ensino de </a:t>
            </a:r>
            <a:r>
              <a:rPr lang="en-US" sz="1100" kern="0" spc="-22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qualidade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61475" y="2641302"/>
            <a:ext cx="6296860" cy="786011"/>
          </a:xfrm>
          <a:prstGeom prst="roundRect">
            <a:avLst>
              <a:gd name="adj" fmla="val 757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809506" y="2789336"/>
            <a:ext cx="6000798" cy="227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📚</a:t>
            </a: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Estrutura Acadêmica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9506" y="3080841"/>
            <a:ext cx="6000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Cursos, laboratórios, biblioteca, plataformas digitais e suporte ao estudante.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61475" y="3533576"/>
            <a:ext cx="6296860" cy="786011"/>
          </a:xfrm>
          <a:prstGeom prst="roundRect">
            <a:avLst>
              <a:gd name="adj" fmla="val 757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809506" y="3681611"/>
            <a:ext cx="6000798" cy="227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Oportunidades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09506" y="3973115"/>
            <a:ext cx="6000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Estágios, </a:t>
            </a:r>
            <a:r>
              <a:rPr lang="en-US" sz="1100" kern="0" spc="-22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pesquisa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r>
              <a:rPr lang="en-US" sz="1100" kern="0" spc="-22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extensão</a:t>
            </a: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61475" y="4425850"/>
            <a:ext cx="6296860" cy="786011"/>
          </a:xfrm>
          <a:prstGeom prst="roundRect">
            <a:avLst>
              <a:gd name="adj" fmla="val 7575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809506" y="4573885"/>
            <a:ext cx="6000798" cy="2278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kern="0" spc="-42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1350" b="1" kern="0" spc="-42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O que se espera de você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809506" y="4865389"/>
            <a:ext cx="60007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Curiosidade, dedicação, colaboração e disposição para aprender continuamente.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61475" y="5331420"/>
            <a:ext cx="6296860" cy="675977"/>
          </a:xfrm>
          <a:prstGeom prst="roundRect">
            <a:avLst>
              <a:gd name="adj" fmla="val 8808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156" y="5488781"/>
            <a:ext cx="177200" cy="14168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22037" y="5473104"/>
            <a:ext cx="5694617" cy="403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kern="0" spc="-22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📌 Professor: apresente-se, compartilhe sua trajetória e abra espaço para os alunos se apresentarem brevemente.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9350" y="835255"/>
            <a:ext cx="7810942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b="1" kern="0" spc="-8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Jornada da Disciplina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4556" y="1569549"/>
            <a:ext cx="11478330" cy="212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kern="0" spc="-23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Entenda o que vamos construir juntos ao longo do semestre — do zero ao projeto completo.</a:t>
            </a:r>
            <a:endParaRPr lang="en-US" sz="1150" dirty="0"/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610006BC-FD76-BF63-C578-FDAEE12C832D}"/>
              </a:ext>
            </a:extLst>
          </p:cNvPr>
          <p:cNvGrpSpPr/>
          <p:nvPr/>
        </p:nvGrpSpPr>
        <p:grpSpPr>
          <a:xfrm>
            <a:off x="661475" y="5454519"/>
            <a:ext cx="10868745" cy="1064121"/>
            <a:chOff x="661475" y="5261471"/>
            <a:chExt cx="10868745" cy="1064121"/>
          </a:xfrm>
        </p:grpSpPr>
        <p:sp>
          <p:nvSpPr>
            <p:cNvPr id="10" name="Shape 7"/>
            <p:cNvSpPr/>
            <p:nvPr/>
          </p:nvSpPr>
          <p:spPr>
            <a:xfrm>
              <a:off x="661475" y="5261471"/>
              <a:ext cx="3544799" cy="1064121"/>
            </a:xfrm>
            <a:prstGeom prst="roundRect">
              <a:avLst>
                <a:gd name="adj" fmla="val 5875"/>
              </a:avLst>
            </a:prstGeom>
            <a:solidFill>
              <a:srgbClr val="FFFFFF"/>
            </a:solidFill>
            <a:ln w="19050">
              <a:solidFill>
                <a:srgbClr val="C0C1D7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 8"/>
            <p:cNvSpPr/>
            <p:nvPr/>
          </p:nvSpPr>
          <p:spPr>
            <a:xfrm>
              <a:off x="829349" y="5429349"/>
              <a:ext cx="3209051" cy="2324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450" b="1" kern="0" spc="-44" dirty="0">
                  <a:solidFill>
                    <a:srgbClr val="000000"/>
                  </a:solidFill>
                  <a:latin typeface="Twemoji Mozilla" pitchFamily="34" charset="0"/>
                  <a:ea typeface="Twemoji Mozilla" pitchFamily="34" charset="-122"/>
                  <a:cs typeface="Twemoji Mozilla" pitchFamily="34" charset="-120"/>
                </a:rPr>
                <a:t>📋</a:t>
              </a:r>
              <a:r>
                <a:rPr lang="en-US" sz="1450" b="1" kern="0" spc="-44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 Plano de Ensino</a:t>
              </a:r>
              <a:endParaRPr lang="en-US" sz="145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829349" y="5732066"/>
              <a:ext cx="3209051" cy="4256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19000"/>
                </a:lnSpc>
                <a:buNone/>
              </a:pPr>
              <a:r>
                <a:rPr lang="en-US" sz="1150" kern="0" spc="-23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Guia </a:t>
              </a:r>
              <a:r>
                <a:rPr lang="en-US" sz="1150" kern="0" spc="-23" dirty="0" err="1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oficial</a:t>
              </a:r>
              <a:r>
                <a:rPr lang="en-US" sz="1150" kern="0" spc="-23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da </a:t>
              </a:r>
              <a:r>
                <a:rPr lang="en-US" sz="1150" kern="0" spc="-23" dirty="0" err="1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disciplina</a:t>
              </a:r>
              <a:r>
                <a:rPr lang="en-US" sz="1150" kern="0" spc="-23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com </a:t>
              </a:r>
              <a:r>
                <a:rPr lang="en-US" sz="1150" kern="0" spc="-23" dirty="0" err="1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objetivos</a:t>
              </a:r>
              <a:r>
                <a:rPr lang="en-US" sz="1150" kern="0" spc="-23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, </a:t>
              </a:r>
              <a:r>
                <a:rPr lang="en-US" sz="1150" kern="0" spc="-23" dirty="0" err="1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conteúdos</a:t>
              </a:r>
              <a:r>
                <a:rPr lang="en-US" sz="1150" kern="0" spc="-23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 e </a:t>
              </a:r>
              <a:r>
                <a:rPr lang="en-US" sz="1150" kern="0" spc="-23" dirty="0" err="1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regras</a:t>
              </a:r>
              <a:r>
                <a:rPr lang="en-US" sz="1150" kern="0" spc="-23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.</a:t>
              </a:r>
              <a:endParaRPr lang="en-US" sz="115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4323448" y="5261471"/>
              <a:ext cx="3544799" cy="1064121"/>
            </a:xfrm>
            <a:prstGeom prst="roundRect">
              <a:avLst>
                <a:gd name="adj" fmla="val 5875"/>
              </a:avLst>
            </a:prstGeom>
            <a:solidFill>
              <a:srgbClr val="FFFFFF"/>
            </a:solidFill>
            <a:ln w="19050">
              <a:solidFill>
                <a:srgbClr val="C0C1D7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Text 11"/>
            <p:cNvSpPr/>
            <p:nvPr/>
          </p:nvSpPr>
          <p:spPr>
            <a:xfrm>
              <a:off x="4491322" y="5429349"/>
              <a:ext cx="3209051" cy="2324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450" b="1" kern="0" spc="-44" dirty="0">
                  <a:solidFill>
                    <a:srgbClr val="000000"/>
                  </a:solidFill>
                  <a:latin typeface="Twemoji Mozilla" pitchFamily="34" charset="0"/>
                  <a:ea typeface="Twemoji Mozilla" pitchFamily="34" charset="-122"/>
                  <a:cs typeface="Twemoji Mozilla" pitchFamily="34" charset="-120"/>
                </a:rPr>
                <a:t>📅</a:t>
              </a:r>
              <a:r>
                <a:rPr lang="en-US" sz="1450" b="1" kern="0" spc="-44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 Cronograma</a:t>
              </a:r>
              <a:endParaRPr lang="en-US" sz="145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4491322" y="5732066"/>
              <a:ext cx="3209051" cy="4256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19000"/>
                </a:lnSpc>
                <a:buNone/>
              </a:pPr>
              <a:r>
                <a:rPr lang="en-US" sz="1150" kern="0" spc="-23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M1 – 31/10</a:t>
              </a:r>
            </a:p>
            <a:p>
              <a:pPr marL="0" indent="0" algn="l">
                <a:lnSpc>
                  <a:spcPct val="119000"/>
                </a:lnSpc>
                <a:buNone/>
              </a:pPr>
              <a:r>
                <a:rPr lang="en-US" sz="1150" kern="0" spc="-23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</a:rPr>
                <a:t>M2 – 11/12</a:t>
              </a:r>
              <a:endParaRPr lang="en-US" sz="115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7985421" y="5261471"/>
              <a:ext cx="3544799" cy="1064121"/>
            </a:xfrm>
            <a:prstGeom prst="roundRect">
              <a:avLst>
                <a:gd name="adj" fmla="val 5875"/>
              </a:avLst>
            </a:prstGeom>
            <a:solidFill>
              <a:srgbClr val="FFFFFF"/>
            </a:solidFill>
            <a:ln w="19050">
              <a:solidFill>
                <a:srgbClr val="C0C1D7"/>
              </a:solidFill>
              <a:prstDash val="solid"/>
            </a:ln>
          </p:spPr>
          <p:txBody>
            <a:bodyPr/>
            <a:lstStyle/>
            <a:p>
              <a:endParaRPr lang="pt-BR" dirty="0"/>
            </a:p>
          </p:txBody>
        </p:sp>
        <p:sp>
          <p:nvSpPr>
            <p:cNvPr id="17" name="Text 14"/>
            <p:cNvSpPr/>
            <p:nvPr/>
          </p:nvSpPr>
          <p:spPr>
            <a:xfrm>
              <a:off x="8153295" y="5429349"/>
              <a:ext cx="3209051" cy="232470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450" b="1" kern="0" spc="-44" dirty="0">
                  <a:solidFill>
                    <a:srgbClr val="000000"/>
                  </a:solidFill>
                  <a:latin typeface="Twemoji Mozilla" pitchFamily="34" charset="0"/>
                  <a:ea typeface="Twemoji Mozilla" pitchFamily="34" charset="-122"/>
                  <a:cs typeface="Twemoji Mozilla" pitchFamily="34" charset="-120"/>
                </a:rPr>
                <a:t>📊</a:t>
              </a:r>
              <a:r>
                <a:rPr lang="en-US" sz="1450" b="1" kern="0" spc="-44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 Avaliação</a:t>
              </a:r>
              <a:endParaRPr lang="en-US" sz="145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8153295" y="5732066"/>
              <a:ext cx="3209051" cy="4256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19000"/>
                </a:lnSpc>
                <a:buNone/>
              </a:pPr>
              <a:r>
                <a:rPr lang="en-US" sz="1150" kern="0" spc="-23" dirty="0" err="1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</a:rPr>
                <a:t>Ainda</a:t>
              </a:r>
              <a:r>
                <a:rPr lang="en-US" sz="1150" kern="0" spc="-23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</a:rPr>
                <a:t> </a:t>
              </a:r>
              <a:r>
                <a:rPr lang="en-US" sz="1150" kern="0" spc="-23" dirty="0" err="1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</a:rPr>
                <a:t>em</a:t>
              </a:r>
              <a:r>
                <a:rPr lang="en-US" sz="1150" kern="0" spc="-23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</a:rPr>
                <a:t> </a:t>
              </a:r>
              <a:r>
                <a:rPr lang="en-US" sz="1150" kern="0" spc="-23" dirty="0" err="1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</a:rPr>
                <a:t>avalição</a:t>
              </a:r>
              <a:r>
                <a:rPr lang="en-US" sz="1150" kern="0" spc="-23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</a:rPr>
                <a:t>.</a:t>
              </a:r>
              <a:endParaRPr lang="en-US" sz="1150" dirty="0"/>
            </a:p>
          </p:txBody>
        </p:sp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B737290E-D239-EF27-B43E-4D1CDD96B7EE}"/>
              </a:ext>
            </a:extLst>
          </p:cNvPr>
          <p:cNvGrpSpPr/>
          <p:nvPr/>
        </p:nvGrpSpPr>
        <p:grpSpPr>
          <a:xfrm>
            <a:off x="1361594" y="1938773"/>
            <a:ext cx="9468506" cy="3553023"/>
            <a:chOff x="1361545" y="1576586"/>
            <a:chExt cx="9468506" cy="3553023"/>
          </a:xfrm>
        </p:grpSpPr>
        <p:sp>
          <p:nvSpPr>
            <p:cNvPr id="5" name="Text 2"/>
            <p:cNvSpPr/>
            <p:nvPr/>
          </p:nvSpPr>
          <p:spPr>
            <a:xfrm>
              <a:off x="9011939" y="4267080"/>
              <a:ext cx="1428100" cy="27511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700" b="1" kern="0" spc="-52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Arquivos</a:t>
              </a:r>
              <a:endParaRPr lang="en-US" sz="17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7212142" y="4267080"/>
              <a:ext cx="1428100" cy="27511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700" b="1" kern="0" spc="-52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Estruturas</a:t>
              </a:r>
              <a:endParaRPr lang="en-US" sz="170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5422126" y="4267080"/>
              <a:ext cx="1428100" cy="27511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700" b="1" kern="0" spc="-52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Python</a:t>
              </a:r>
              <a:endParaRPr lang="en-US" sz="17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3632110" y="4267080"/>
              <a:ext cx="1428100" cy="27511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700" b="1" kern="0" spc="-52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Algoritmos</a:t>
              </a:r>
              <a:endParaRPr lang="en-US" sz="17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1802968" y="4267080"/>
              <a:ext cx="1428100" cy="27511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700" b="1" kern="0" spc="-52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Fundamentos</a:t>
              </a:r>
              <a:endParaRPr lang="en-US" sz="1700" dirty="0"/>
            </a:p>
          </p:txBody>
        </p:sp>
        <p:grpSp>
          <p:nvGrpSpPr>
            <p:cNvPr id="19" name="Agrupar 18">
              <a:extLst>
                <a:ext uri="{FF2B5EF4-FFF2-40B4-BE49-F238E27FC236}">
                  <a16:creationId xmlns:a16="http://schemas.microsoft.com/office/drawing/2014/main" id="{128B00EE-5882-895B-1240-40BB95468388}"/>
                </a:ext>
              </a:extLst>
            </p:cNvPr>
            <p:cNvGrpSpPr/>
            <p:nvPr/>
          </p:nvGrpSpPr>
          <p:grpSpPr>
            <a:xfrm>
              <a:off x="1361545" y="1576586"/>
              <a:ext cx="9468506" cy="3553023"/>
              <a:chOff x="1361545" y="1576586"/>
              <a:chExt cx="9468506" cy="3553023"/>
            </a:xfrm>
          </p:grpSpPr>
          <p:pic>
            <p:nvPicPr>
              <p:cNvPr id="4" name="Image 0" descr="preencoded.png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61545" y="1576586"/>
                <a:ext cx="9468506" cy="3553023"/>
              </a:xfrm>
              <a:prstGeom prst="rect">
                <a:avLst/>
              </a:prstGeom>
            </p:spPr>
          </p:pic>
          <p:pic>
            <p:nvPicPr>
              <p:cNvPr id="20" name="Imagem 19" descr="Forma&#10;&#10;O conteúdo gerado por IA pode estar incorreto.">
                <a:extLst>
                  <a:ext uri="{FF2B5EF4-FFF2-40B4-BE49-F238E27FC236}">
                    <a16:creationId xmlns:a16="http://schemas.microsoft.com/office/drawing/2014/main" id="{CFC2A988-FCBE-10A2-483C-253E1450DB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43447" y="2409945"/>
                <a:ext cx="680351" cy="680351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106" y="896426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kern="0" spc="-9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 é muito mais do que programar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637602"/>
            <a:ext cx="7833596" cy="321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mercado de tecnologia é vasto. Conheça as principais áreas de atuação do profissional de TI hoje.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058492"/>
            <a:ext cx="321262" cy="32127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550419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Desenvolvimento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61475" y="2883298"/>
            <a:ext cx="534904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Web, mobile, sistemas e APIs</a:t>
            </a:r>
            <a:endParaRPr lang="en-US" sz="12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81173" y="2058492"/>
            <a:ext cx="321262" cy="32127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81173" y="2550419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Cloud &amp; Infra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6181173" y="2883298"/>
            <a:ext cx="534904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AWS, Azure, servidores e redes</a:t>
            </a:r>
            <a:endParaRPr lang="en-US" sz="12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394076"/>
            <a:ext cx="321262" cy="32127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3886002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Segurança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661475" y="4218881"/>
            <a:ext cx="534904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Cibersegurança e governança</a:t>
            </a:r>
            <a:endParaRPr lang="en-US" sz="12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81173" y="3394076"/>
            <a:ext cx="321262" cy="32127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81173" y="3886002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Dados &amp; IA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6181173" y="4218881"/>
            <a:ext cx="534904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Banco de dados, analytics e ML</a:t>
            </a:r>
            <a:endParaRPr lang="en-US" sz="12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1475" y="4729659"/>
            <a:ext cx="321262" cy="32127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61475" y="5221586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DevOps &amp; Automação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661475" y="5554465"/>
            <a:ext cx="534904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CI/CD, pipelines e scripts</a:t>
            </a:r>
            <a:endParaRPr lang="en-US" sz="12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81173" y="4729659"/>
            <a:ext cx="321262" cy="32127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181173" y="5221586"/>
            <a:ext cx="534904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kern="0" spc="-47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Suporte &amp; Redes</a:t>
            </a:r>
            <a:endParaRPr lang="en-US" sz="1550" dirty="0"/>
          </a:p>
        </p:txBody>
      </p:sp>
      <p:sp>
        <p:nvSpPr>
          <p:cNvPr id="21" name="Text 13"/>
          <p:cNvSpPr/>
          <p:nvPr/>
        </p:nvSpPr>
        <p:spPr>
          <a:xfrm>
            <a:off x="6181173" y="5554465"/>
            <a:ext cx="5349047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Infraestrutura e atendimento</a:t>
            </a:r>
            <a:endParaRPr lang="en-US" sz="1250" dirty="0"/>
          </a:p>
        </p:txBody>
      </p:sp>
      <p:sp>
        <p:nvSpPr>
          <p:cNvPr id="22" name="Shape 14"/>
          <p:cNvSpPr/>
          <p:nvPr/>
        </p:nvSpPr>
        <p:spPr>
          <a:xfrm>
            <a:off x="661475" y="5945784"/>
            <a:ext cx="10868745" cy="583605"/>
          </a:xfrm>
          <a:prstGeom prst="roundRect">
            <a:avLst>
              <a:gd name="adj" fmla="val 11563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22106" y="6140550"/>
            <a:ext cx="200814" cy="160635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183551" y="6122393"/>
            <a:ext cx="10795623" cy="244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📌 Professor: pergunte à turma "Em qual dessas áreas você se imagina </a:t>
            </a:r>
            <a:r>
              <a:rPr lang="en-US" sz="1250" kern="0" spc="-25" dirty="0" err="1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trabalhando</a:t>
            </a:r>
            <a:r>
              <a:rPr lang="en-US" sz="1250" kern="0" spc="-2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?”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6788" y="941532"/>
            <a:ext cx="10868745" cy="57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kern="0" spc="-58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Computador como Ferramenta</a:t>
            </a:r>
            <a:endParaRPr lang="en-US" sz="31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730" y="2100671"/>
            <a:ext cx="4352977" cy="43530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3758" y="1624664"/>
            <a:ext cx="5315512" cy="152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096000" y="2646808"/>
            <a:ext cx="5453270" cy="2434228"/>
          </a:xfrm>
          <a:prstGeom prst="rect">
            <a:avLst/>
          </a:prstGeom>
          <a:noFill/>
          <a:ln/>
        </p:spPr>
        <p:txBody>
          <a:bodyPr wrap="square" lIns="0" tIns="38985" rIns="0" bIns="0" rtlCol="0" anchor="t">
            <a:noAutofit/>
          </a:bodyPr>
          <a:lstStyle/>
          <a:p>
            <a:pPr>
              <a:lnSpc>
                <a:spcPct val="101000"/>
              </a:lnSpc>
              <a:buSzPct val="100000"/>
            </a:pPr>
            <a:r>
              <a:rPr lang="en-US" sz="2000" b="1" spc="-29" dirty="0" err="1"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Componentes</a:t>
            </a:r>
            <a:r>
              <a:rPr lang="en-US" sz="2000" b="1" spc="-29" dirty="0">
                <a:latin typeface="Inter Bold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2000" b="1" spc="-29" dirty="0" err="1"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Essenciais</a:t>
            </a:r>
            <a:endParaRPr lang="en-US" sz="2000" dirty="0"/>
          </a:p>
          <a:p>
            <a:pPr marL="152400" indent="-152400" algn="l">
              <a:lnSpc>
                <a:spcPct val="101000"/>
              </a:lnSpc>
              <a:buSzPct val="100000"/>
              <a:buChar char="•"/>
            </a:pPr>
            <a:endParaRPr lang="en-US" b="1" kern="0" spc="-15" dirty="0">
              <a:solidFill>
                <a:srgbClr val="272525"/>
              </a:solidFill>
              <a:latin typeface="Inter Bold" pitchFamily="34" charset="0"/>
              <a:ea typeface="Inter Bold" pitchFamily="34" charset="-122"/>
              <a:cs typeface="Inter Bold" pitchFamily="34" charset="-120"/>
            </a:endParaRPr>
          </a:p>
          <a:p>
            <a:pPr marL="152400" lvl="6" indent="-152400">
              <a:lnSpc>
                <a:spcPct val="150000"/>
              </a:lnSpc>
              <a:buSzPct val="100000"/>
              <a:buChar char="•"/>
            </a:pPr>
            <a:r>
              <a:rPr lang="en-US" sz="1800" b="1" kern="0" spc="-1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Entrada:</a:t>
            </a:r>
            <a:r>
              <a:rPr lang="en-US" sz="18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teclado, mouse, câmera, microfone</a:t>
            </a:r>
            <a:endParaRPr lang="en-US" sz="1800" dirty="0"/>
          </a:p>
          <a:p>
            <a:pPr marL="152400" lvl="6" indent="-152400">
              <a:lnSpc>
                <a:spcPct val="150000"/>
              </a:lnSpc>
              <a:buSzPct val="100000"/>
              <a:buChar char="•"/>
            </a:pPr>
            <a:r>
              <a:rPr lang="en-US" sz="1800" b="1" kern="0" spc="-1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Processamento:</a:t>
            </a:r>
            <a:r>
              <a:rPr lang="en-US" sz="18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CPU, RAM, GPU</a:t>
            </a:r>
            <a:endParaRPr lang="en-US" sz="1800" dirty="0"/>
          </a:p>
          <a:p>
            <a:pPr marL="152400" lvl="6" indent="-152400">
              <a:lnSpc>
                <a:spcPct val="150000"/>
              </a:lnSpc>
              <a:buSzPct val="100000"/>
              <a:buChar char="•"/>
            </a:pPr>
            <a:r>
              <a:rPr lang="en-US" sz="1800" b="1" kern="0" spc="-1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Saída:</a:t>
            </a:r>
            <a:r>
              <a:rPr lang="en-US" sz="18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monitor, impressora, áudio</a:t>
            </a:r>
            <a:endParaRPr lang="en-US" sz="1800" dirty="0"/>
          </a:p>
          <a:p>
            <a:pPr marL="152400" lvl="6" indent="-152400">
              <a:lnSpc>
                <a:spcPct val="150000"/>
              </a:lnSpc>
              <a:buSzPct val="100000"/>
              <a:buChar char="•"/>
            </a:pPr>
            <a:r>
              <a:rPr lang="en-US" sz="1800" b="1" kern="0" spc="-15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Armazenamento:</a:t>
            </a:r>
            <a:r>
              <a:rPr lang="en-US" sz="1800" kern="0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HD, SSD, pendrive, nuvem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242147" y="5574307"/>
            <a:ext cx="5553386" cy="577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1000"/>
              </a:lnSpc>
            </a:pPr>
            <a:r>
              <a:rPr lang="en-US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</a:t>
            </a:r>
            <a:r>
              <a:rPr lang="en-US" spc="-15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computador</a:t>
            </a:r>
            <a:r>
              <a:rPr lang="en-US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é </a:t>
            </a:r>
            <a:r>
              <a:rPr lang="en-US" spc="-15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</a:t>
            </a:r>
            <a:r>
              <a:rPr lang="en-US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ferramenta </a:t>
            </a:r>
            <a:r>
              <a:rPr lang="en-US" spc="-15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poderosa</a:t>
            </a:r>
            <a:r>
              <a:rPr lang="en-US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O </a:t>
            </a:r>
            <a:r>
              <a:rPr lang="en-US" spc="-15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profissional</a:t>
            </a:r>
            <a:r>
              <a:rPr lang="en-US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TI </a:t>
            </a:r>
          </a:p>
          <a:p>
            <a:pPr>
              <a:lnSpc>
                <a:spcPct val="101000"/>
              </a:lnSpc>
            </a:pPr>
            <a:r>
              <a:rPr lang="en-US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 quem </a:t>
            </a:r>
            <a:r>
              <a:rPr lang="en-US" spc="-15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transforma</a:t>
            </a:r>
            <a:r>
              <a:rPr lang="en-US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pc="-15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essa</a:t>
            </a:r>
            <a:r>
              <a:rPr lang="en-US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ferramenta </a:t>
            </a:r>
            <a:r>
              <a:rPr lang="en-US" spc="-15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</a:t>
            </a:r>
            <a:r>
              <a:rPr lang="en-US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pc="-15" dirty="0" err="1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solução</a:t>
            </a:r>
            <a:r>
              <a:rPr lang="en-US" spc="-1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dirty="0"/>
          </a:p>
        </p:txBody>
      </p:sp>
      <p:sp>
        <p:nvSpPr>
          <p:cNvPr id="7" name="Shape 4"/>
          <p:cNvSpPr/>
          <p:nvPr/>
        </p:nvSpPr>
        <p:spPr>
          <a:xfrm flipH="1">
            <a:off x="6096000" y="5529163"/>
            <a:ext cx="119015" cy="577552"/>
          </a:xfrm>
          <a:prstGeom prst="roundRect">
            <a:avLst>
              <a:gd name="adj" fmla="val 4999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2848" y="753022"/>
            <a:ext cx="8869818" cy="8242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10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um profissional de TI faz quando recebe um problema que nunca resolveu antes?</a:t>
            </a:r>
            <a:endParaRPr lang="en-US" sz="2400" dirty="0"/>
          </a:p>
        </p:txBody>
      </p:sp>
      <p:grpSp>
        <p:nvGrpSpPr>
          <p:cNvPr id="16" name="Agrupar 15">
            <a:extLst>
              <a:ext uri="{FF2B5EF4-FFF2-40B4-BE49-F238E27FC236}">
                <a16:creationId xmlns:a16="http://schemas.microsoft.com/office/drawing/2014/main" id="{D617855D-0E0F-6DCA-1913-65DAC20C4F35}"/>
              </a:ext>
            </a:extLst>
          </p:cNvPr>
          <p:cNvGrpSpPr/>
          <p:nvPr/>
        </p:nvGrpSpPr>
        <p:grpSpPr>
          <a:xfrm>
            <a:off x="648929" y="1946787"/>
            <a:ext cx="11093261" cy="3067665"/>
            <a:chOff x="5390817" y="3371751"/>
            <a:chExt cx="5981947" cy="1582837"/>
          </a:xfrm>
        </p:grpSpPr>
        <p:pic>
          <p:nvPicPr>
            <p:cNvPr id="4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90817" y="3371751"/>
              <a:ext cx="5981947" cy="1582837"/>
            </a:xfrm>
            <a:prstGeom prst="rect">
              <a:avLst/>
            </a:prstGeom>
          </p:spPr>
        </p:pic>
        <p:sp>
          <p:nvSpPr>
            <p:cNvPr id="5" name="Text 1"/>
            <p:cNvSpPr/>
            <p:nvPr/>
          </p:nvSpPr>
          <p:spPr>
            <a:xfrm>
              <a:off x="5852344" y="3906939"/>
              <a:ext cx="904193" cy="1619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600" b="1" kern="0" spc="-31" dirty="0">
                  <a:solidFill>
                    <a:srgbClr val="000000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Problema</a:t>
              </a:r>
              <a:endParaRPr lang="en-US" sz="1600" dirty="0"/>
            </a:p>
          </p:txBody>
        </p:sp>
        <p:sp>
          <p:nvSpPr>
            <p:cNvPr id="6" name="Text 2"/>
            <p:cNvSpPr/>
            <p:nvPr/>
          </p:nvSpPr>
          <p:spPr>
            <a:xfrm>
              <a:off x="5852344" y="4114891"/>
              <a:ext cx="904193" cy="3788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lnSpc>
                  <a:spcPct val="102000"/>
                </a:lnSpc>
                <a:buNone/>
              </a:pPr>
              <a:r>
                <a:rPr lang="en-US" sz="1200" kern="0" spc="-26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Identificar e descrever o desafio</a:t>
              </a:r>
              <a:endParaRPr lang="en-US" sz="1200" dirty="0"/>
            </a:p>
          </p:txBody>
        </p:sp>
        <p:sp>
          <p:nvSpPr>
            <p:cNvPr id="7" name="Text 3"/>
            <p:cNvSpPr/>
            <p:nvPr/>
          </p:nvSpPr>
          <p:spPr>
            <a:xfrm>
              <a:off x="6888482" y="3832465"/>
              <a:ext cx="904193" cy="1619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600" b="1" kern="0" spc="-31" dirty="0">
                  <a:solidFill>
                    <a:srgbClr val="000000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Análise</a:t>
              </a:r>
              <a:endParaRPr lang="en-US" sz="1800" dirty="0"/>
            </a:p>
          </p:txBody>
        </p:sp>
        <p:sp>
          <p:nvSpPr>
            <p:cNvPr id="8" name="Text 4"/>
            <p:cNvSpPr/>
            <p:nvPr/>
          </p:nvSpPr>
          <p:spPr>
            <a:xfrm>
              <a:off x="6957547" y="4040417"/>
              <a:ext cx="737903" cy="3788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lnSpc>
                  <a:spcPct val="102000"/>
                </a:lnSpc>
                <a:buNone/>
              </a:pPr>
              <a:r>
                <a:rPr lang="en-US" sz="1200" kern="0" spc="-26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Decompor e entender os requisitos</a:t>
              </a:r>
              <a:endParaRPr lang="en-US" sz="1200" dirty="0"/>
            </a:p>
          </p:txBody>
        </p:sp>
        <p:sp>
          <p:nvSpPr>
            <p:cNvPr id="9" name="Text 5"/>
            <p:cNvSpPr/>
            <p:nvPr/>
          </p:nvSpPr>
          <p:spPr>
            <a:xfrm>
              <a:off x="7924620" y="3906939"/>
              <a:ext cx="904192" cy="1619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600" b="1" kern="0" spc="-31" dirty="0">
                  <a:solidFill>
                    <a:srgbClr val="000000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Estratégia</a:t>
              </a:r>
              <a:endParaRPr lang="en-US" sz="1000" dirty="0"/>
            </a:p>
          </p:txBody>
        </p:sp>
        <p:sp>
          <p:nvSpPr>
            <p:cNvPr id="10" name="Text 6"/>
            <p:cNvSpPr/>
            <p:nvPr/>
          </p:nvSpPr>
          <p:spPr>
            <a:xfrm>
              <a:off x="7924620" y="4114891"/>
              <a:ext cx="904192" cy="3788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lnSpc>
                  <a:spcPct val="102000"/>
                </a:lnSpc>
                <a:buNone/>
              </a:pPr>
              <a:r>
                <a:rPr lang="en-US" sz="1200" kern="0" spc="-26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Escolher abordagem e prioridades</a:t>
              </a:r>
              <a:endParaRPr lang="en-US" sz="1200" dirty="0"/>
            </a:p>
          </p:txBody>
        </p:sp>
        <p:sp>
          <p:nvSpPr>
            <p:cNvPr id="11" name="Text 7"/>
            <p:cNvSpPr/>
            <p:nvPr/>
          </p:nvSpPr>
          <p:spPr>
            <a:xfrm>
              <a:off x="8960758" y="3958747"/>
              <a:ext cx="904193" cy="1619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600" b="1" kern="0" spc="-31" dirty="0">
                  <a:solidFill>
                    <a:srgbClr val="000000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Algoritmo</a:t>
              </a:r>
              <a:endParaRPr lang="en-US" sz="1600" dirty="0"/>
            </a:p>
          </p:txBody>
        </p:sp>
        <p:sp>
          <p:nvSpPr>
            <p:cNvPr id="12" name="Text 8"/>
            <p:cNvSpPr/>
            <p:nvPr/>
          </p:nvSpPr>
          <p:spPr>
            <a:xfrm>
              <a:off x="8960758" y="4166700"/>
              <a:ext cx="904193" cy="25256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lnSpc>
                  <a:spcPct val="102000"/>
                </a:lnSpc>
                <a:buNone/>
              </a:pPr>
              <a:r>
                <a:rPr lang="en-US" sz="1200" kern="0" spc="-26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Definir passos lógicos da solução</a:t>
              </a:r>
              <a:endParaRPr lang="en-US" sz="1200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10002653" y="3906939"/>
              <a:ext cx="904193" cy="1619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600" b="1" kern="0" spc="-31" dirty="0">
                  <a:solidFill>
                    <a:srgbClr val="000000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Código</a:t>
              </a:r>
              <a:endParaRPr lang="en-US" sz="1600" dirty="0"/>
            </a:p>
          </p:txBody>
        </p:sp>
        <p:sp>
          <p:nvSpPr>
            <p:cNvPr id="14" name="Text 10"/>
            <p:cNvSpPr/>
            <p:nvPr/>
          </p:nvSpPr>
          <p:spPr>
            <a:xfrm>
              <a:off x="10002653" y="4114891"/>
              <a:ext cx="904193" cy="3788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lnSpc>
                  <a:spcPct val="102000"/>
                </a:lnSpc>
                <a:buNone/>
              </a:pPr>
              <a:r>
                <a:rPr lang="en-US" kern="0" spc="-26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Implementar o algoritmo em linguagem</a:t>
              </a:r>
              <a:endParaRPr lang="en-US" dirty="0"/>
            </a:p>
          </p:txBody>
        </p:sp>
      </p:grpSp>
      <p:sp>
        <p:nvSpPr>
          <p:cNvPr id="15" name="Text 11"/>
          <p:cNvSpPr/>
          <p:nvPr/>
        </p:nvSpPr>
        <p:spPr>
          <a:xfrm>
            <a:off x="972370" y="5210321"/>
            <a:ext cx="10929578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kern="0" spc="-28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de escrever uma linha de código, o profissional pensa. Decompõe o problema, organiza a lógica e define um algoritmo — a sequência de passos que leva à solução.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0556" y="925055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b="1" kern="0" spc="-73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Algoritmos e Descrição Narrativa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55528" y="1640339"/>
            <a:ext cx="58429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kern="0" spc="-3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 que é um algoritmo?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04118" y="1942610"/>
            <a:ext cx="10832254" cy="264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 conjunto de instruções </a:t>
            </a:r>
            <a:r>
              <a:rPr lang="en-US" b="1" kern="0" spc="-19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organizadas, claras e sequenciais</a:t>
            </a:r>
            <a:r>
              <a:rPr lang="en-US" kern="0" spc="-19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resolver um problema específico.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5527" y="2318743"/>
            <a:ext cx="5842945" cy="191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b="1" kern="0" spc="-36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Formas de representar algoritmos</a:t>
            </a:r>
            <a:endParaRPr lang="en-US" sz="1200" dirty="0"/>
          </a:p>
        </p:txBody>
      </p: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FDDDCCB5-349D-C543-EDDE-49E41EEC0379}"/>
              </a:ext>
            </a:extLst>
          </p:cNvPr>
          <p:cNvGrpSpPr/>
          <p:nvPr/>
        </p:nvGrpSpPr>
        <p:grpSpPr>
          <a:xfrm>
            <a:off x="778358" y="2663567"/>
            <a:ext cx="4726068" cy="1562397"/>
            <a:chOff x="6810403" y="1229519"/>
            <a:chExt cx="4726068" cy="1313259"/>
          </a:xfrm>
        </p:grpSpPr>
        <p:sp>
          <p:nvSpPr>
            <p:cNvPr id="6" name="Text 4"/>
            <p:cNvSpPr/>
            <p:nvPr/>
          </p:nvSpPr>
          <p:spPr>
            <a:xfrm>
              <a:off x="6810403" y="1229519"/>
              <a:ext cx="4726068" cy="1919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00" b="1" kern="0" spc="-36" dirty="0">
                  <a:solidFill>
                    <a:srgbClr val="000000"/>
                  </a:solidFill>
                  <a:latin typeface="Twemoji Mozilla" pitchFamily="34" charset="0"/>
                  <a:ea typeface="Twemoji Mozilla" pitchFamily="34" charset="-122"/>
                  <a:cs typeface="Twemoji Mozilla" pitchFamily="34" charset="-120"/>
                </a:rPr>
                <a:t>☕</a:t>
              </a:r>
              <a:r>
                <a:rPr lang="en-US" sz="1600" b="1" kern="0" spc="-36" dirty="0">
                  <a:solidFill>
                    <a:srgbClr val="000000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 Algoritmo ruim — Fazer café</a:t>
              </a:r>
              <a:endParaRPr lang="en-US" sz="16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6810403" y="1511300"/>
              <a:ext cx="4726068" cy="1031478"/>
            </a:xfrm>
            <a:prstGeom prst="roundRect">
              <a:avLst>
                <a:gd name="adj" fmla="val 5003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 6"/>
            <p:cNvSpPr/>
            <p:nvPr/>
          </p:nvSpPr>
          <p:spPr>
            <a:xfrm>
              <a:off x="6957739" y="1634133"/>
              <a:ext cx="4431395" cy="78581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200" kern="0" spc="-19" dirty="0">
                  <a:solidFill>
                    <a:srgbClr val="735C0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1. Fazer café.</a:t>
              </a:r>
              <a:endParaRPr lang="en-US" sz="1200" dirty="0"/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en-US" sz="1200" kern="0" spc="-19" dirty="0">
                  <a:solidFill>
                    <a:srgbClr val="735C0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2. Colocar as coisas.</a:t>
              </a:r>
              <a:endParaRPr lang="en-US" sz="1200" dirty="0"/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en-US" sz="1200" kern="0" spc="-19" dirty="0">
                  <a:solidFill>
                    <a:srgbClr val="735C0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3. Preparar.</a:t>
              </a:r>
              <a:endParaRPr lang="en-US" sz="1200" dirty="0"/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en-US" sz="1200" kern="0" spc="-19" dirty="0">
                  <a:solidFill>
                    <a:srgbClr val="735C0F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4. Tomar.</a:t>
              </a:r>
              <a:endParaRPr lang="en-US" sz="1200" dirty="0"/>
            </a:p>
          </p:txBody>
        </p:sp>
      </p:grp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F3A3A533-627E-EDDC-FE1A-F0EF926D4F2C}"/>
              </a:ext>
            </a:extLst>
          </p:cNvPr>
          <p:cNvGrpSpPr/>
          <p:nvPr/>
        </p:nvGrpSpPr>
        <p:grpSpPr>
          <a:xfrm>
            <a:off x="655528" y="4417354"/>
            <a:ext cx="6848358" cy="529233"/>
            <a:chOff x="6810403" y="2632571"/>
            <a:chExt cx="4726068" cy="529233"/>
          </a:xfrm>
        </p:grpSpPr>
        <p:sp>
          <p:nvSpPr>
            <p:cNvPr id="9" name="Shape 7"/>
            <p:cNvSpPr/>
            <p:nvPr/>
          </p:nvSpPr>
          <p:spPr>
            <a:xfrm>
              <a:off x="6810403" y="2632571"/>
              <a:ext cx="4726068" cy="529233"/>
            </a:xfrm>
            <a:prstGeom prst="roundRect">
              <a:avLst>
                <a:gd name="adj" fmla="val 9750"/>
              </a:avLst>
            </a:prstGeom>
            <a:solidFill>
              <a:srgbClr val="FCF2B5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1" name="Text 8"/>
            <p:cNvSpPr/>
            <p:nvPr/>
          </p:nvSpPr>
          <p:spPr>
            <a:xfrm>
              <a:off x="7209550" y="2735064"/>
              <a:ext cx="4204091" cy="32424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10000"/>
                </a:lnSpc>
                <a:buNone/>
              </a:pPr>
              <a:r>
                <a:rPr lang="en-US" sz="1200" kern="0" spc="-19" dirty="0">
                  <a:solidFill>
                    <a:srgbClr val="00000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O que há de errado? Faltam clareza, precisão, sequência e detalhamento. Um computador — ou outra pessoa — não conseguiria executar isso!</a:t>
              </a:r>
              <a:endParaRPr lang="en-US" sz="1200" dirty="0"/>
            </a:p>
          </p:txBody>
        </p:sp>
      </p:grpSp>
      <p:grpSp>
        <p:nvGrpSpPr>
          <p:cNvPr id="32" name="Agrupar 31">
            <a:extLst>
              <a:ext uri="{FF2B5EF4-FFF2-40B4-BE49-F238E27FC236}">
                <a16:creationId xmlns:a16="http://schemas.microsoft.com/office/drawing/2014/main" id="{B254B7DB-19BD-8FCF-0FDE-FFFB2B5D71CA}"/>
              </a:ext>
            </a:extLst>
          </p:cNvPr>
          <p:cNvGrpSpPr/>
          <p:nvPr/>
        </p:nvGrpSpPr>
        <p:grpSpPr>
          <a:xfrm>
            <a:off x="6120245" y="2832050"/>
            <a:ext cx="4726068" cy="1193899"/>
            <a:chOff x="6810403" y="3251597"/>
            <a:chExt cx="4726068" cy="1193899"/>
          </a:xfrm>
        </p:grpSpPr>
        <p:sp>
          <p:nvSpPr>
            <p:cNvPr id="12" name="Text 9"/>
            <p:cNvSpPr/>
            <p:nvPr/>
          </p:nvSpPr>
          <p:spPr>
            <a:xfrm>
              <a:off x="6810403" y="3251597"/>
              <a:ext cx="4726068" cy="1919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600" b="1" kern="0" spc="-36" dirty="0">
                  <a:solidFill>
                    <a:srgbClr val="000000"/>
                  </a:solidFill>
                  <a:latin typeface="Twemoji Mozilla" pitchFamily="34" charset="0"/>
                  <a:ea typeface="Twemoji Mozilla" pitchFamily="34" charset="-122"/>
                  <a:cs typeface="Twemoji Mozilla" pitchFamily="34" charset="-120"/>
                </a:rPr>
                <a:t>✅</a:t>
              </a:r>
              <a:r>
                <a:rPr lang="en-US" sz="1600" b="1" kern="0" spc="-36" dirty="0">
                  <a:solidFill>
                    <a:srgbClr val="000000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 Algoritmo melhorado</a:t>
              </a:r>
              <a:endParaRPr lang="en-US" sz="16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6810403" y="3523357"/>
              <a:ext cx="4726068" cy="9221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193040" indent="-193040" algn="l">
                <a:lnSpc>
                  <a:spcPct val="110000"/>
                </a:lnSpc>
                <a:buSzPct val="100000"/>
                <a:buFont typeface="+mj-lt"/>
                <a:buAutoNum type="arabicPeriod"/>
              </a:pPr>
              <a:r>
                <a:rPr lang="en-US" kern="0" spc="-19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Encher a chaleira com água</a:t>
              </a:r>
              <a:endParaRPr lang="en-US" dirty="0"/>
            </a:p>
            <a:p>
              <a:pPr marL="193040" indent="-193040" algn="l">
                <a:lnSpc>
                  <a:spcPct val="110000"/>
                </a:lnSpc>
                <a:buSzPct val="100000"/>
                <a:buFont typeface="+mj-lt"/>
                <a:buAutoNum type="arabicPeriod" startAt="2"/>
              </a:pPr>
              <a:r>
                <a:rPr lang="en-US" kern="0" spc="-19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Aquecer a água até ferver</a:t>
              </a:r>
              <a:endParaRPr lang="en-US" dirty="0"/>
            </a:p>
            <a:p>
              <a:pPr marL="193040" indent="-193040" algn="l">
                <a:lnSpc>
                  <a:spcPct val="110000"/>
                </a:lnSpc>
                <a:buSzPct val="100000"/>
                <a:buFont typeface="+mj-lt"/>
                <a:buAutoNum type="arabicPeriod" startAt="3"/>
              </a:pPr>
              <a:r>
                <a:rPr lang="en-US" kern="0" spc="-19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Colocar o filtro e o pó de café</a:t>
              </a:r>
              <a:endParaRPr lang="en-US" dirty="0"/>
            </a:p>
            <a:p>
              <a:pPr marL="193040" indent="-193040" algn="l">
                <a:lnSpc>
                  <a:spcPct val="110000"/>
                </a:lnSpc>
                <a:buSzPct val="100000"/>
                <a:buFont typeface="+mj-lt"/>
                <a:buAutoNum type="arabicPeriod" startAt="4"/>
              </a:pPr>
              <a:r>
                <a:rPr lang="en-US" kern="0" spc="-19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Despejar a água quente lentamente</a:t>
              </a:r>
              <a:endParaRPr lang="en-US" dirty="0"/>
            </a:p>
            <a:p>
              <a:pPr marL="193040" indent="-193040" algn="l">
                <a:lnSpc>
                  <a:spcPct val="110000"/>
                </a:lnSpc>
                <a:buSzPct val="100000"/>
                <a:buFont typeface="+mj-lt"/>
                <a:buAutoNum type="arabicPeriod" startAt="5"/>
              </a:pPr>
              <a:r>
                <a:rPr lang="en-US" kern="0" spc="-19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Aguardar coar e servir na xícara</a:t>
              </a:r>
              <a:endParaRPr lang="en-US" dirty="0"/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D1213F0E-3E6B-43F3-A2F8-679F9DDF9275}"/>
              </a:ext>
            </a:extLst>
          </p:cNvPr>
          <p:cNvGrpSpPr/>
          <p:nvPr/>
        </p:nvGrpSpPr>
        <p:grpSpPr>
          <a:xfrm>
            <a:off x="667726" y="5077162"/>
            <a:ext cx="10868745" cy="1648817"/>
            <a:chOff x="667726" y="4925755"/>
            <a:chExt cx="10868745" cy="1648817"/>
          </a:xfrm>
        </p:grpSpPr>
        <p:pic>
          <p:nvPicPr>
            <p:cNvPr id="14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7726" y="4925755"/>
              <a:ext cx="3622882" cy="491430"/>
            </a:xfrm>
            <a:prstGeom prst="rect">
              <a:avLst/>
            </a:prstGeom>
          </p:spPr>
        </p:pic>
        <p:sp>
          <p:nvSpPr>
            <p:cNvPr id="15" name="Text 11"/>
            <p:cNvSpPr/>
            <p:nvPr/>
          </p:nvSpPr>
          <p:spPr>
            <a:xfrm>
              <a:off x="790556" y="5496957"/>
              <a:ext cx="3377223" cy="1919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200" b="1" kern="0" spc="-36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Entrada</a:t>
              </a:r>
              <a:endParaRPr lang="en-US" sz="1200" dirty="0"/>
            </a:p>
          </p:txBody>
        </p:sp>
        <p:pic>
          <p:nvPicPr>
            <p:cNvPr id="16" name="Image 2" descr="preencoded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290608" y="4925755"/>
              <a:ext cx="3622882" cy="491430"/>
            </a:xfrm>
            <a:prstGeom prst="rect">
              <a:avLst/>
            </a:prstGeom>
          </p:spPr>
        </p:pic>
        <p:sp>
          <p:nvSpPr>
            <p:cNvPr id="17" name="Text 12"/>
            <p:cNvSpPr/>
            <p:nvPr/>
          </p:nvSpPr>
          <p:spPr>
            <a:xfrm>
              <a:off x="4413438" y="5496957"/>
              <a:ext cx="3377223" cy="1919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200" b="1" kern="0" spc="-36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Processamento</a:t>
              </a:r>
              <a:endParaRPr lang="en-US" sz="1200" dirty="0"/>
            </a:p>
          </p:txBody>
        </p:sp>
        <p:pic>
          <p:nvPicPr>
            <p:cNvPr id="18" name="Image 3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913490" y="4925755"/>
              <a:ext cx="3622882" cy="491430"/>
            </a:xfrm>
            <a:prstGeom prst="rect">
              <a:avLst/>
            </a:prstGeom>
          </p:spPr>
        </p:pic>
        <p:sp>
          <p:nvSpPr>
            <p:cNvPr id="19" name="Text 13"/>
            <p:cNvSpPr/>
            <p:nvPr/>
          </p:nvSpPr>
          <p:spPr>
            <a:xfrm>
              <a:off x="8036320" y="5496957"/>
              <a:ext cx="3377223" cy="1919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200" b="1" kern="0" spc="-36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Saída</a:t>
              </a:r>
              <a:endParaRPr lang="en-US" sz="1200" dirty="0"/>
            </a:p>
          </p:txBody>
        </p:sp>
        <p:sp>
          <p:nvSpPr>
            <p:cNvPr id="20" name="Shape 14"/>
            <p:cNvSpPr/>
            <p:nvPr/>
          </p:nvSpPr>
          <p:spPr>
            <a:xfrm>
              <a:off x="667726" y="5901571"/>
              <a:ext cx="3569702" cy="673001"/>
            </a:xfrm>
            <a:prstGeom prst="roundRect">
              <a:avLst>
                <a:gd name="adj" fmla="val 7667"/>
              </a:avLst>
            </a:prstGeom>
            <a:solidFill>
              <a:srgbClr val="FFFFFF"/>
            </a:solidFill>
            <a:ln w="12700">
              <a:solidFill>
                <a:srgbClr val="C0C1D7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Text 15"/>
            <p:cNvSpPr/>
            <p:nvPr/>
          </p:nvSpPr>
          <p:spPr>
            <a:xfrm>
              <a:off x="803255" y="6037104"/>
              <a:ext cx="3298643" cy="1919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200" b="1" kern="0" spc="-36" dirty="0">
                  <a:solidFill>
                    <a:srgbClr val="000000"/>
                  </a:solidFill>
                  <a:latin typeface="Twemoji Mozilla" pitchFamily="34" charset="0"/>
                  <a:ea typeface="Twemoji Mozilla" pitchFamily="34" charset="-122"/>
                  <a:cs typeface="Twemoji Mozilla" pitchFamily="34" charset="-120"/>
                </a:rPr>
                <a:t>📝</a:t>
              </a:r>
              <a:r>
                <a:rPr lang="en-US" sz="1200" b="1" kern="0" spc="-36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 Descrição Narrativa</a:t>
              </a:r>
              <a:endParaRPr lang="en-US" sz="1200" dirty="0"/>
            </a:p>
          </p:txBody>
        </p:sp>
        <p:sp>
          <p:nvSpPr>
            <p:cNvPr id="22" name="Text 16"/>
            <p:cNvSpPr/>
            <p:nvPr/>
          </p:nvSpPr>
          <p:spPr>
            <a:xfrm>
              <a:off x="803255" y="6276915"/>
              <a:ext cx="3298643" cy="1621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0000"/>
                </a:lnSpc>
                <a:buNone/>
              </a:pPr>
              <a:r>
                <a:rPr lang="en-US" sz="950" kern="0" spc="-19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Texto em linguagem natural — hoje!</a:t>
              </a:r>
              <a:endParaRPr lang="en-US" sz="950" dirty="0"/>
            </a:p>
          </p:txBody>
        </p:sp>
        <p:sp>
          <p:nvSpPr>
            <p:cNvPr id="23" name="Shape 17"/>
            <p:cNvSpPr/>
            <p:nvPr/>
          </p:nvSpPr>
          <p:spPr>
            <a:xfrm>
              <a:off x="4317198" y="5901571"/>
              <a:ext cx="3569702" cy="673001"/>
            </a:xfrm>
            <a:prstGeom prst="roundRect">
              <a:avLst>
                <a:gd name="adj" fmla="val 7667"/>
              </a:avLst>
            </a:prstGeom>
            <a:solidFill>
              <a:srgbClr val="FFFFFF"/>
            </a:solidFill>
            <a:ln w="12700">
              <a:solidFill>
                <a:srgbClr val="C0C1D7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Text 18"/>
            <p:cNvSpPr/>
            <p:nvPr/>
          </p:nvSpPr>
          <p:spPr>
            <a:xfrm>
              <a:off x="4452727" y="6037104"/>
              <a:ext cx="3298643" cy="1919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200" b="1" kern="0" spc="-36" dirty="0">
                  <a:solidFill>
                    <a:srgbClr val="000000"/>
                  </a:solidFill>
                  <a:latin typeface="Twemoji Mozilla" pitchFamily="34" charset="0"/>
                  <a:ea typeface="Twemoji Mozilla" pitchFamily="34" charset="-122"/>
                  <a:cs typeface="Twemoji Mozilla" pitchFamily="34" charset="-120"/>
                </a:rPr>
                <a:t>📐</a:t>
              </a:r>
              <a:r>
                <a:rPr lang="en-US" sz="1200" b="1" kern="0" spc="-36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 Pseudocódigo</a:t>
              </a:r>
              <a:endParaRPr lang="en-US" sz="1200" dirty="0"/>
            </a:p>
          </p:txBody>
        </p:sp>
        <p:sp>
          <p:nvSpPr>
            <p:cNvPr id="25" name="Text 19"/>
            <p:cNvSpPr/>
            <p:nvPr/>
          </p:nvSpPr>
          <p:spPr>
            <a:xfrm>
              <a:off x="4452727" y="6276915"/>
              <a:ext cx="3298643" cy="1621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0000"/>
                </a:lnSpc>
                <a:buNone/>
              </a:pPr>
              <a:r>
                <a:rPr lang="en-US" sz="950" kern="0" spc="-19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Estrutura próxima ao código</a:t>
              </a:r>
              <a:endParaRPr lang="en-US" sz="950" dirty="0"/>
            </a:p>
          </p:txBody>
        </p:sp>
        <p:sp>
          <p:nvSpPr>
            <p:cNvPr id="26" name="Shape 20"/>
            <p:cNvSpPr/>
            <p:nvPr/>
          </p:nvSpPr>
          <p:spPr>
            <a:xfrm>
              <a:off x="7966670" y="5901571"/>
              <a:ext cx="3569801" cy="673001"/>
            </a:xfrm>
            <a:prstGeom prst="roundRect">
              <a:avLst>
                <a:gd name="adj" fmla="val 7667"/>
              </a:avLst>
            </a:prstGeom>
            <a:solidFill>
              <a:srgbClr val="FFFFFF"/>
            </a:solidFill>
            <a:ln w="12700">
              <a:solidFill>
                <a:srgbClr val="C0C1D7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Text 21"/>
            <p:cNvSpPr/>
            <p:nvPr/>
          </p:nvSpPr>
          <p:spPr>
            <a:xfrm>
              <a:off x="8102199" y="6037104"/>
              <a:ext cx="3298742" cy="19198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200" b="1" kern="0" spc="-36" dirty="0">
                  <a:solidFill>
                    <a:srgbClr val="000000"/>
                  </a:solidFill>
                  <a:latin typeface="Twemoji Mozilla" pitchFamily="34" charset="0"/>
                  <a:ea typeface="Twemoji Mozilla" pitchFamily="34" charset="-122"/>
                  <a:cs typeface="Twemoji Mozilla" pitchFamily="34" charset="-120"/>
                </a:rPr>
                <a:t>🔷</a:t>
              </a:r>
              <a:r>
                <a:rPr lang="en-US" sz="1200" b="1" kern="0" spc="-36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 Fluxograma</a:t>
              </a:r>
              <a:endParaRPr lang="en-US" sz="1200" dirty="0"/>
            </a:p>
          </p:txBody>
        </p:sp>
        <p:sp>
          <p:nvSpPr>
            <p:cNvPr id="28" name="Text 22"/>
            <p:cNvSpPr/>
            <p:nvPr/>
          </p:nvSpPr>
          <p:spPr>
            <a:xfrm>
              <a:off x="8102199" y="6276915"/>
              <a:ext cx="3298742" cy="1621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0000"/>
                </a:lnSpc>
                <a:buNone/>
              </a:pPr>
              <a:r>
                <a:rPr lang="en-US" sz="950" kern="0" spc="-19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Representação visual com formas</a:t>
              </a:r>
              <a:endParaRPr lang="en-US" sz="950" dirty="0"/>
            </a:p>
          </p:txBody>
        </p:sp>
      </p:grp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9800" y="4484094"/>
            <a:ext cx="449844" cy="36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4806" y="845080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kern="0" spc="-9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 Prático: Calculando a Média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36380" y="1754684"/>
            <a:ext cx="5238421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kern="0" spc="-47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r>
              <a:rPr lang="en-US" sz="2000" b="1" kern="0" spc="-4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Descrição Narrativa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34806" y="2413499"/>
            <a:ext cx="5059045" cy="137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Font typeface="+mj-lt"/>
              <a:buAutoNum type="arabicPeriod"/>
            </a:pPr>
            <a:r>
              <a:rPr lang="en-US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Solicitar a Nota 1 ao usuário</a:t>
            </a:r>
            <a:endParaRPr lang="en-US" dirty="0"/>
          </a:p>
          <a:p>
            <a:pPr marL="254000" indent="-254000" algn="l">
              <a:lnSpc>
                <a:spcPct val="123000"/>
              </a:lnSpc>
              <a:buSzPct val="100000"/>
              <a:buFont typeface="+mj-lt"/>
              <a:buAutoNum type="arabicPeriod" startAt="2"/>
            </a:pPr>
            <a:r>
              <a:rPr lang="en-US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Solicitar a Nota 2 ao usuário</a:t>
            </a:r>
            <a:endParaRPr lang="en-US" dirty="0"/>
          </a:p>
          <a:p>
            <a:pPr marL="254000" indent="-254000" algn="l">
              <a:lnSpc>
                <a:spcPct val="123000"/>
              </a:lnSpc>
              <a:buSzPct val="100000"/>
              <a:buFont typeface="+mj-lt"/>
              <a:buAutoNum type="arabicPeriod" startAt="3"/>
            </a:pPr>
            <a:r>
              <a:rPr lang="en-US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Somar as duas notas</a:t>
            </a:r>
            <a:endParaRPr lang="en-US" dirty="0"/>
          </a:p>
          <a:p>
            <a:pPr marL="254000" indent="-254000" algn="l">
              <a:lnSpc>
                <a:spcPct val="123000"/>
              </a:lnSpc>
              <a:buSzPct val="100000"/>
              <a:buFont typeface="+mj-lt"/>
              <a:buAutoNum type="arabicPeriod" startAt="4"/>
            </a:pPr>
            <a:r>
              <a:rPr lang="en-US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Dividir o resultado por 2</a:t>
            </a:r>
            <a:endParaRPr lang="en-US" dirty="0"/>
          </a:p>
          <a:p>
            <a:pPr marL="254000" indent="-254000" algn="l">
              <a:lnSpc>
                <a:spcPct val="123000"/>
              </a:lnSpc>
              <a:buSzPct val="100000"/>
              <a:buFont typeface="+mj-lt"/>
              <a:buAutoNum type="arabicPeriod" startAt="5"/>
            </a:pPr>
            <a:r>
              <a:rPr lang="en-US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Apresentar a média calculada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317199" y="1754684"/>
            <a:ext cx="5238421" cy="257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kern="0" spc="-47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🐍</a:t>
            </a:r>
            <a:r>
              <a:rPr lang="en-US" sz="2000" b="1" kern="0" spc="-47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Conexão com Python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298149" y="2316325"/>
            <a:ext cx="5238421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algoritmo é a solução lógica. Python é apenas a linguagem que usamos para expressá-la:</a:t>
            </a:r>
            <a:endParaRPr lang="en-US" dirty="0"/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80C6776D-1A31-3200-DE15-76994767AAEB}"/>
              </a:ext>
            </a:extLst>
          </p:cNvPr>
          <p:cNvGrpSpPr/>
          <p:nvPr/>
        </p:nvGrpSpPr>
        <p:grpSpPr>
          <a:xfrm>
            <a:off x="6298149" y="2942633"/>
            <a:ext cx="5238421" cy="1349177"/>
            <a:chOff x="6298149" y="2641104"/>
            <a:chExt cx="5238421" cy="1349177"/>
          </a:xfrm>
        </p:grpSpPr>
        <p:sp>
          <p:nvSpPr>
            <p:cNvPr id="7" name="Shape 5"/>
            <p:cNvSpPr/>
            <p:nvPr/>
          </p:nvSpPr>
          <p:spPr>
            <a:xfrm>
              <a:off x="6298149" y="2641104"/>
              <a:ext cx="5238421" cy="1349177"/>
            </a:xfrm>
            <a:prstGeom prst="roundRect">
              <a:avLst>
                <a:gd name="adj" fmla="val 5002"/>
              </a:avLst>
            </a:prstGeom>
            <a:solidFill>
              <a:srgbClr val="F2F2F2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Text 6"/>
            <p:cNvSpPr/>
            <p:nvPr/>
          </p:nvSpPr>
          <p:spPr>
            <a:xfrm>
              <a:off x="6490927" y="2801739"/>
              <a:ext cx="4852866" cy="10279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33000"/>
                </a:lnSpc>
                <a:buNone/>
              </a:pPr>
              <a:r>
                <a:rPr lang="en-US" sz="1250" kern="0" spc="-25" dirty="0">
                  <a:solidFill>
                    <a:srgbClr val="24292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nota1 = float(input("Nota 1: "))</a:t>
              </a:r>
              <a:endParaRPr lang="en-US" sz="1250" dirty="0"/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en-US" sz="1250" kern="0" spc="-25" dirty="0">
                  <a:solidFill>
                    <a:srgbClr val="24292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nota2 = float(input("Nota 2: "))</a:t>
              </a:r>
              <a:endParaRPr lang="en-US" sz="1250" dirty="0"/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en-US" sz="1250" kern="0" spc="-25" dirty="0">
                  <a:solidFill>
                    <a:srgbClr val="24292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media = (nota1 + nota2) / 2</a:t>
              </a:r>
              <a:endParaRPr lang="en-US" sz="1250" dirty="0"/>
            </a:p>
            <a:p>
              <a:pPr marL="0" indent="0" algn="l">
                <a:lnSpc>
                  <a:spcPct val="133000"/>
                </a:lnSpc>
                <a:buNone/>
              </a:pPr>
              <a:r>
                <a:rPr lang="en-US" sz="1250" kern="0" spc="-25" dirty="0">
                  <a:solidFill>
                    <a:srgbClr val="24292E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print("Média:", media)</a:t>
              </a:r>
              <a:endParaRPr lang="en-US" sz="1250" dirty="0"/>
            </a:p>
          </p:txBody>
        </p:sp>
      </p:grpSp>
      <p:sp>
        <p:nvSpPr>
          <p:cNvPr id="9" name="Text 7"/>
          <p:cNvSpPr/>
          <p:nvPr/>
        </p:nvSpPr>
        <p:spPr>
          <a:xfrm>
            <a:off x="1075804" y="4131174"/>
            <a:ext cx="420412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kern="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algoritmo vem primeiro. A linguagem é apenas o vocabulário que usamos para comunicar a solução ao computador.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834805" y="4008341"/>
            <a:ext cx="45719" cy="721122"/>
          </a:xfrm>
          <a:prstGeom prst="roundRect">
            <a:avLst>
              <a:gd name="adj" fmla="val 4999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pt-BR"/>
          </a:p>
        </p:txBody>
      </p:sp>
      <p:grpSp>
        <p:nvGrpSpPr>
          <p:cNvPr id="23" name="Agrupar 22">
            <a:extLst>
              <a:ext uri="{FF2B5EF4-FFF2-40B4-BE49-F238E27FC236}">
                <a16:creationId xmlns:a16="http://schemas.microsoft.com/office/drawing/2014/main" id="{15670E0A-E6E2-C504-597C-4E8755574F37}"/>
              </a:ext>
            </a:extLst>
          </p:cNvPr>
          <p:cNvGrpSpPr/>
          <p:nvPr/>
        </p:nvGrpSpPr>
        <p:grpSpPr>
          <a:xfrm>
            <a:off x="667825" y="5621287"/>
            <a:ext cx="10868745" cy="910927"/>
            <a:chOff x="661475" y="5172174"/>
            <a:chExt cx="10868745" cy="910927"/>
          </a:xfrm>
        </p:grpSpPr>
        <p:sp>
          <p:nvSpPr>
            <p:cNvPr id="11" name="Shape 9"/>
            <p:cNvSpPr/>
            <p:nvPr/>
          </p:nvSpPr>
          <p:spPr>
            <a:xfrm>
              <a:off x="661475" y="5172174"/>
              <a:ext cx="10868745" cy="910927"/>
            </a:xfrm>
            <a:prstGeom prst="roundRect">
              <a:avLst>
                <a:gd name="adj" fmla="val 7408"/>
              </a:avLst>
            </a:prstGeom>
            <a:solidFill>
              <a:srgbClr val="DADBF1"/>
            </a:solidFill>
            <a:ln w="6350">
              <a:solidFill>
                <a:srgbClr val="C0C1D7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Shape 10"/>
            <p:cNvSpPr/>
            <p:nvPr/>
          </p:nvSpPr>
          <p:spPr>
            <a:xfrm>
              <a:off x="667825" y="5178524"/>
              <a:ext cx="3618616" cy="898227"/>
            </a:xfrm>
            <a:custGeom>
              <a:avLst/>
              <a:gdLst/>
              <a:ahLst/>
              <a:cxnLst/>
              <a:rect l="l" t="t" r="r" b="b"/>
              <a:pathLst>
                <a:path w="3618616" h="898227">
                  <a:moveTo>
                    <a:pt x="56233" y="0"/>
                  </a:moveTo>
                  <a:lnTo>
                    <a:pt x="3618616" y="0"/>
                  </a:lnTo>
                  <a:lnTo>
                    <a:pt x="3618616" y="898227"/>
                  </a:lnTo>
                  <a:lnTo>
                    <a:pt x="56233" y="898227"/>
                  </a:lnTo>
                  <a:arcTo wR="56233" hR="56234" stAng="5400000" swAng="5400000"/>
                  <a:lnTo>
                    <a:pt x="0" y="56234"/>
                  </a:lnTo>
                  <a:arcTo wR="56233" hR="56234" stAng="10800000" swAng="5400000"/>
                  <a:close/>
                </a:path>
              </a:pathLst>
            </a:custGeom>
            <a:solidFill>
              <a:srgbClr val="DADBF1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Text 11"/>
            <p:cNvSpPr/>
            <p:nvPr/>
          </p:nvSpPr>
          <p:spPr>
            <a:xfrm>
              <a:off x="828456" y="5339159"/>
              <a:ext cx="3297353" cy="25737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50" b="1" kern="0" spc="-47" dirty="0">
                  <a:solidFill>
                    <a:srgbClr val="000000"/>
                  </a:solidFill>
                  <a:latin typeface="Twemoji Mozilla" pitchFamily="34" charset="0"/>
                  <a:ea typeface="Twemoji Mozilla" pitchFamily="34" charset="-122"/>
                  <a:cs typeface="Twemoji Mozilla" pitchFamily="34" charset="-120"/>
                </a:rPr>
                <a:t>📥</a:t>
              </a:r>
              <a:r>
                <a:rPr lang="en-US" sz="1550" b="1" kern="0" spc="-47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 Entrada</a:t>
              </a:r>
              <a:endParaRPr lang="en-US" sz="155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828456" y="5678388"/>
              <a:ext cx="3297353" cy="2377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23000"/>
                </a:lnSpc>
                <a:buNone/>
              </a:pPr>
              <a:r>
                <a:rPr lang="en-US" sz="1250" kern="0" spc="-25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Nota 1, Nota 2</a:t>
              </a:r>
              <a:endParaRPr lang="en-US" sz="1250" dirty="0"/>
            </a:p>
          </p:txBody>
        </p:sp>
        <p:sp>
          <p:nvSpPr>
            <p:cNvPr id="15" name="Shape 13"/>
            <p:cNvSpPr/>
            <p:nvPr/>
          </p:nvSpPr>
          <p:spPr>
            <a:xfrm>
              <a:off x="4286440" y="5178524"/>
              <a:ext cx="3618715" cy="898227"/>
            </a:xfrm>
            <a:prstGeom prst="rect">
              <a:avLst/>
            </a:prstGeom>
            <a:solidFill>
              <a:srgbClr val="DADBF1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Shape 14"/>
            <p:cNvSpPr/>
            <p:nvPr/>
          </p:nvSpPr>
          <p:spPr>
            <a:xfrm>
              <a:off x="4286440" y="5178524"/>
              <a:ext cx="19050" cy="898227"/>
            </a:xfrm>
            <a:prstGeom prst="roundRect">
              <a:avLst>
                <a:gd name="adj" fmla="val 49999"/>
              </a:avLst>
            </a:prstGeom>
            <a:solidFill>
              <a:srgbClr val="C0C1D7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Text 15"/>
            <p:cNvSpPr/>
            <p:nvPr/>
          </p:nvSpPr>
          <p:spPr>
            <a:xfrm>
              <a:off x="4447072" y="5339159"/>
              <a:ext cx="3297453" cy="25737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50" b="1" kern="0" spc="-47" dirty="0">
                  <a:solidFill>
                    <a:srgbClr val="000000"/>
                  </a:solidFill>
                  <a:latin typeface="Twemoji Mozilla" pitchFamily="34" charset="0"/>
                  <a:ea typeface="Twemoji Mozilla" pitchFamily="34" charset="-122"/>
                  <a:cs typeface="Twemoji Mozilla" pitchFamily="34" charset="-120"/>
                </a:rPr>
                <a:t>⚙️</a:t>
              </a:r>
              <a:r>
                <a:rPr lang="en-US" sz="1550" b="1" kern="0" spc="-47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 Processamento</a:t>
              </a:r>
              <a:endParaRPr lang="en-US" sz="155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4447072" y="5678388"/>
              <a:ext cx="3297453" cy="2377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23000"/>
                </a:lnSpc>
                <a:buNone/>
              </a:pPr>
              <a:r>
                <a:rPr lang="en-US" sz="1250" kern="0" spc="-25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(N1 + N2) ÷ 2</a:t>
              </a:r>
              <a:endParaRPr lang="en-US" sz="1250" dirty="0"/>
            </a:p>
          </p:txBody>
        </p:sp>
        <p:sp>
          <p:nvSpPr>
            <p:cNvPr id="19" name="Shape 17"/>
            <p:cNvSpPr/>
            <p:nvPr/>
          </p:nvSpPr>
          <p:spPr>
            <a:xfrm>
              <a:off x="7905155" y="5178524"/>
              <a:ext cx="3618715" cy="898227"/>
            </a:xfrm>
            <a:custGeom>
              <a:avLst/>
              <a:gdLst/>
              <a:ahLst/>
              <a:cxnLst/>
              <a:rect l="l" t="t" r="r" b="b"/>
              <a:pathLst>
                <a:path w="3618715" h="898227">
                  <a:moveTo>
                    <a:pt x="0" y="0"/>
                  </a:moveTo>
                  <a:lnTo>
                    <a:pt x="3562482" y="0"/>
                  </a:lnTo>
                  <a:arcTo wR="56233" hR="56234" stAng="16200000" swAng="5400000"/>
                  <a:lnTo>
                    <a:pt x="3618715" y="841993"/>
                  </a:lnTo>
                  <a:arcTo wR="56233" hR="56234" stAng="0" swAng="5400000"/>
                  <a:lnTo>
                    <a:pt x="0" y="8982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DBF1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Shape 18"/>
            <p:cNvSpPr/>
            <p:nvPr/>
          </p:nvSpPr>
          <p:spPr>
            <a:xfrm>
              <a:off x="7905155" y="5178524"/>
              <a:ext cx="19050" cy="898227"/>
            </a:xfrm>
            <a:prstGeom prst="roundRect">
              <a:avLst>
                <a:gd name="adj" fmla="val 49999"/>
              </a:avLst>
            </a:prstGeom>
            <a:solidFill>
              <a:srgbClr val="C0C1D7"/>
            </a:solidFill>
            <a:ln/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Text 19"/>
            <p:cNvSpPr/>
            <p:nvPr/>
          </p:nvSpPr>
          <p:spPr>
            <a:xfrm>
              <a:off x="8065786" y="5339159"/>
              <a:ext cx="3297453" cy="25737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50" b="1" kern="0" spc="-47" dirty="0">
                  <a:solidFill>
                    <a:srgbClr val="000000"/>
                  </a:solidFill>
                  <a:latin typeface="Twemoji Mozilla" pitchFamily="34" charset="0"/>
                  <a:ea typeface="Twemoji Mozilla" pitchFamily="34" charset="-122"/>
                  <a:cs typeface="Twemoji Mozilla" pitchFamily="34" charset="-120"/>
                </a:rPr>
                <a:t>📤</a:t>
              </a:r>
              <a:r>
                <a:rPr lang="en-US" sz="1550" b="1" kern="0" spc="-47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 Saída</a:t>
              </a:r>
              <a:endParaRPr lang="en-US" sz="155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8065786" y="5678388"/>
              <a:ext cx="3297453" cy="2377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23000"/>
                </a:lnSpc>
                <a:buNone/>
              </a:pPr>
              <a:r>
                <a:rPr lang="en-US" sz="1250" kern="0" spc="-25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Média final</a:t>
              </a:r>
              <a:endParaRPr lang="en-US" sz="125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106" y="866775"/>
            <a:ext cx="10868745" cy="508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kern="0" spc="-95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Mãos na Massa! </a:t>
            </a:r>
            <a:r>
              <a:rPr lang="en-US" sz="3150" b="1" kern="0" spc="-95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✋</a:t>
            </a:r>
            <a:endParaRPr lang="en-US" sz="3150" dirty="0"/>
          </a:p>
        </p:txBody>
      </p:sp>
      <p:sp>
        <p:nvSpPr>
          <p:cNvPr id="3" name="Text 1"/>
          <p:cNvSpPr/>
          <p:nvPr/>
        </p:nvSpPr>
        <p:spPr>
          <a:xfrm>
            <a:off x="661475" y="1675408"/>
            <a:ext cx="10688965" cy="748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ct val="123000"/>
              </a:lnSpc>
              <a:buNone/>
            </a:pPr>
            <a:r>
              <a:rPr lang="pt-BR" sz="1800" dirty="0"/>
              <a:t>Escreva a descrição narrativa para os problemas abaixo. Sem computador — só papel, caneta </a:t>
            </a:r>
          </a:p>
          <a:p>
            <a:pPr marL="0" indent="0" algn="just">
              <a:lnSpc>
                <a:spcPct val="123000"/>
              </a:lnSpc>
              <a:buNone/>
            </a:pPr>
            <a:r>
              <a:rPr lang="pt-BR" sz="1800" dirty="0"/>
              <a:t>e raciocínio lógico!</a:t>
            </a:r>
          </a:p>
          <a:p>
            <a:pPr marL="0" indent="0" algn="l">
              <a:lnSpc>
                <a:spcPct val="123000"/>
              </a:lnSpc>
              <a:buNone/>
            </a:pPr>
            <a:endParaRPr lang="en-US" sz="1800" dirty="0"/>
          </a:p>
        </p:txBody>
      </p: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AD3C33DF-00C9-A15A-5808-7934125229D0}"/>
              </a:ext>
            </a:extLst>
          </p:cNvPr>
          <p:cNvGrpSpPr/>
          <p:nvPr/>
        </p:nvGrpSpPr>
        <p:grpSpPr>
          <a:xfrm>
            <a:off x="661475" y="2344869"/>
            <a:ext cx="5366112" cy="1392932"/>
            <a:chOff x="661475" y="2066727"/>
            <a:chExt cx="5366112" cy="1392932"/>
          </a:xfrm>
        </p:grpSpPr>
        <p:pic>
          <p:nvPicPr>
            <p:cNvPr id="4" name="Image 0" descr="preencoded.png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1475" y="2066727"/>
              <a:ext cx="5366112" cy="1392932"/>
            </a:xfrm>
            <a:prstGeom prst="rect">
              <a:avLst/>
            </a:prstGeom>
          </p:spPr>
        </p:pic>
        <p:sp>
          <p:nvSpPr>
            <p:cNvPr id="5" name="Text 2"/>
            <p:cNvSpPr/>
            <p:nvPr/>
          </p:nvSpPr>
          <p:spPr>
            <a:xfrm>
              <a:off x="3248043" y="2187178"/>
              <a:ext cx="192777" cy="2410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500" b="1" kern="0" spc="-38" dirty="0">
                  <a:solidFill>
                    <a:srgbClr val="FFFFFF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1</a:t>
              </a:r>
              <a:endParaRPr lang="en-US" sz="1500" dirty="0"/>
            </a:p>
          </p:txBody>
        </p:sp>
        <p:sp>
          <p:nvSpPr>
            <p:cNvPr id="6" name="Text 3"/>
            <p:cNvSpPr/>
            <p:nvPr/>
          </p:nvSpPr>
          <p:spPr>
            <a:xfrm>
              <a:off x="841156" y="2709366"/>
              <a:ext cx="5006751" cy="2510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50" b="1" kern="0" spc="-47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Preparar um Sanduíche</a:t>
              </a:r>
              <a:endParaRPr lang="en-US" sz="1550" dirty="0"/>
            </a:p>
          </p:txBody>
        </p:sp>
        <p:sp>
          <p:nvSpPr>
            <p:cNvPr id="7" name="Text 4"/>
            <p:cNvSpPr/>
            <p:nvPr/>
          </p:nvSpPr>
          <p:spPr>
            <a:xfrm>
              <a:off x="841156" y="3042245"/>
              <a:ext cx="5006751" cy="2377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23000"/>
                </a:lnSpc>
                <a:buNone/>
              </a:pPr>
              <a:r>
                <a:rPr lang="en-US" sz="1250" kern="0" spc="-25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Liste cada passo, do início ao fim. Seja preciso!</a:t>
              </a:r>
              <a:endParaRPr lang="en-US" sz="1250" dirty="0"/>
            </a:p>
          </p:txBody>
        </p: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D8EF8C1D-08A9-AAB5-DF21-8E34DA59513C}"/>
              </a:ext>
            </a:extLst>
          </p:cNvPr>
          <p:cNvGrpSpPr/>
          <p:nvPr/>
        </p:nvGrpSpPr>
        <p:grpSpPr>
          <a:xfrm>
            <a:off x="6164108" y="2322919"/>
            <a:ext cx="5366112" cy="1392932"/>
            <a:chOff x="6164108" y="2066727"/>
            <a:chExt cx="5366112" cy="1392932"/>
          </a:xfrm>
        </p:grpSpPr>
        <p:pic>
          <p:nvPicPr>
            <p:cNvPr id="8" name="Image 1" descr="preencoded.png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64108" y="2066727"/>
              <a:ext cx="5366112" cy="1392932"/>
            </a:xfrm>
            <a:prstGeom prst="rect">
              <a:avLst/>
            </a:prstGeom>
          </p:spPr>
        </p:pic>
        <p:sp>
          <p:nvSpPr>
            <p:cNvPr id="9" name="Text 5"/>
            <p:cNvSpPr/>
            <p:nvPr/>
          </p:nvSpPr>
          <p:spPr>
            <a:xfrm>
              <a:off x="8750676" y="2187178"/>
              <a:ext cx="192777" cy="2410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500" b="1" kern="0" spc="-38" dirty="0">
                  <a:solidFill>
                    <a:srgbClr val="FFFFFF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2</a:t>
              </a:r>
              <a:endParaRPr lang="en-US" sz="1500" dirty="0"/>
            </a:p>
          </p:txBody>
        </p:sp>
        <p:sp>
          <p:nvSpPr>
            <p:cNvPr id="10" name="Text 6"/>
            <p:cNvSpPr/>
            <p:nvPr/>
          </p:nvSpPr>
          <p:spPr>
            <a:xfrm>
              <a:off x="6343789" y="2709366"/>
              <a:ext cx="5006751" cy="2510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50" b="1" kern="0" spc="-47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Lavar </a:t>
              </a:r>
              <a:r>
                <a:rPr lang="en-US" sz="1550" b="1" kern="0" spc="-47" dirty="0" err="1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roupas</a:t>
              </a:r>
              <a:r>
                <a:rPr lang="en-US" sz="1550" b="1" kern="0" spc="-47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 </a:t>
              </a:r>
              <a:r>
                <a:rPr lang="en-US" sz="1550" b="1" kern="0" spc="-47" dirty="0" err="1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na</a:t>
              </a:r>
              <a:r>
                <a:rPr lang="en-US" sz="1550" b="1" kern="0" spc="-47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 </a:t>
              </a:r>
              <a:r>
                <a:rPr lang="en-US" sz="1550" b="1" kern="0" spc="-47" dirty="0" err="1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máquina</a:t>
              </a:r>
              <a:endParaRPr lang="en-US" sz="1550" dirty="0"/>
            </a:p>
          </p:txBody>
        </p:sp>
        <p:sp>
          <p:nvSpPr>
            <p:cNvPr id="11" name="Text 7"/>
            <p:cNvSpPr/>
            <p:nvPr/>
          </p:nvSpPr>
          <p:spPr>
            <a:xfrm>
              <a:off x="6343789" y="3042245"/>
              <a:ext cx="5006751" cy="2377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ct val="123000"/>
                </a:lnSpc>
              </a:pPr>
              <a:r>
                <a:rPr lang="pt-BR" sz="1250" spc="-25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</a:rPr>
                <a:t>Descreva o processo completo para lavar roupa</a:t>
              </a:r>
              <a:br>
                <a:rPr lang="pt-BR" sz="1250" spc="-25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</a:rPr>
              </a:br>
              <a:endParaRPr lang="en-US" sz="125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endParaRPr>
            </a:p>
          </p:txBody>
        </p:sp>
      </p:grp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27168F16-A430-EA3F-DCB7-C7A10688214F}"/>
              </a:ext>
            </a:extLst>
          </p:cNvPr>
          <p:cNvGrpSpPr/>
          <p:nvPr/>
        </p:nvGrpSpPr>
        <p:grpSpPr>
          <a:xfrm>
            <a:off x="661375" y="3891905"/>
            <a:ext cx="5366112" cy="1392932"/>
            <a:chOff x="661475" y="3596184"/>
            <a:chExt cx="5366112" cy="1392932"/>
          </a:xfrm>
        </p:grpSpPr>
        <p:pic>
          <p:nvPicPr>
            <p:cNvPr id="12" name="Image 2" descr="preencoded.png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61475" y="3596184"/>
              <a:ext cx="5366112" cy="1392932"/>
            </a:xfrm>
            <a:prstGeom prst="rect">
              <a:avLst/>
            </a:prstGeom>
          </p:spPr>
        </p:pic>
        <p:sp>
          <p:nvSpPr>
            <p:cNvPr id="13" name="Text 8"/>
            <p:cNvSpPr/>
            <p:nvPr/>
          </p:nvSpPr>
          <p:spPr>
            <a:xfrm>
              <a:off x="3248043" y="3716635"/>
              <a:ext cx="192777" cy="2410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500" b="1" kern="0" spc="-38" dirty="0">
                  <a:solidFill>
                    <a:srgbClr val="FFFFFF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3</a:t>
              </a:r>
              <a:endParaRPr lang="en-US" sz="1500" dirty="0"/>
            </a:p>
          </p:txBody>
        </p:sp>
        <p:sp>
          <p:nvSpPr>
            <p:cNvPr id="14" name="Text 9"/>
            <p:cNvSpPr/>
            <p:nvPr/>
          </p:nvSpPr>
          <p:spPr>
            <a:xfrm>
              <a:off x="841156" y="4238823"/>
              <a:ext cx="5006751" cy="2510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550" b="1" kern="0" spc="-47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Trocar um </a:t>
              </a:r>
              <a:r>
                <a:rPr lang="en-US" sz="1550" b="1" kern="0" spc="-47" dirty="0" err="1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pneu</a:t>
              </a:r>
              <a:r>
                <a:rPr lang="en-US" sz="1550" b="1" kern="0" spc="-47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 </a:t>
              </a:r>
              <a:r>
                <a:rPr lang="en-US" sz="1550" b="1" kern="0" spc="-47" dirty="0" err="1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furado</a:t>
              </a:r>
              <a:endParaRPr lang="en-US" sz="1550" dirty="0"/>
            </a:p>
          </p:txBody>
        </p:sp>
        <p:sp>
          <p:nvSpPr>
            <p:cNvPr id="15" name="Text 10"/>
            <p:cNvSpPr/>
            <p:nvPr/>
          </p:nvSpPr>
          <p:spPr>
            <a:xfrm>
              <a:off x="841156" y="4571702"/>
              <a:ext cx="5006751" cy="2377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23000"/>
                </a:lnSpc>
                <a:buNone/>
              </a:pPr>
              <a:r>
                <a:rPr lang="pt-BR" sz="1250" kern="0" spc="-25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Liste cada passo, desde encontrar as ferramentas até guardar tudo.</a:t>
              </a:r>
              <a:endParaRPr lang="en-US" sz="1250" dirty="0"/>
            </a:p>
          </p:txBody>
        </p:sp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A94F759F-41CB-7981-03C1-602051879F0C}"/>
              </a:ext>
            </a:extLst>
          </p:cNvPr>
          <p:cNvGrpSpPr/>
          <p:nvPr/>
        </p:nvGrpSpPr>
        <p:grpSpPr>
          <a:xfrm>
            <a:off x="6164108" y="3897728"/>
            <a:ext cx="5366112" cy="1392932"/>
            <a:chOff x="6164108" y="3596184"/>
            <a:chExt cx="5366112" cy="1392932"/>
          </a:xfrm>
        </p:grpSpPr>
        <p:pic>
          <p:nvPicPr>
            <p:cNvPr id="16" name="Image 3" descr="preencoded.png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64108" y="3596184"/>
              <a:ext cx="5366112" cy="1392932"/>
            </a:xfrm>
            <a:prstGeom prst="rect">
              <a:avLst/>
            </a:prstGeom>
          </p:spPr>
        </p:pic>
        <p:sp>
          <p:nvSpPr>
            <p:cNvPr id="17" name="Text 11"/>
            <p:cNvSpPr/>
            <p:nvPr/>
          </p:nvSpPr>
          <p:spPr>
            <a:xfrm>
              <a:off x="8750676" y="3716635"/>
              <a:ext cx="192777" cy="241002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marL="0" indent="0" algn="ctr">
                <a:lnSpc>
                  <a:spcPct val="100000"/>
                </a:lnSpc>
                <a:buNone/>
              </a:pPr>
              <a:r>
                <a:rPr lang="en-US" sz="1500" b="1" kern="0" spc="-38" dirty="0">
                  <a:solidFill>
                    <a:srgbClr val="FFFFFF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4</a:t>
              </a:r>
              <a:endParaRPr lang="en-US" sz="1500" dirty="0"/>
            </a:p>
          </p:txBody>
        </p:sp>
        <p:sp>
          <p:nvSpPr>
            <p:cNvPr id="18" name="Text 12"/>
            <p:cNvSpPr/>
            <p:nvPr/>
          </p:nvSpPr>
          <p:spPr>
            <a:xfrm>
              <a:off x="6343789" y="4238823"/>
              <a:ext cx="5006751" cy="25102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pt-BR" sz="1550" b="1" kern="0" spc="-47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Fazer um miojo/macarrão instantâneo</a:t>
              </a:r>
              <a:endParaRPr lang="en-US" sz="1550" dirty="0"/>
            </a:p>
          </p:txBody>
        </p:sp>
        <p:sp>
          <p:nvSpPr>
            <p:cNvPr id="19" name="Text 13"/>
            <p:cNvSpPr/>
            <p:nvPr/>
          </p:nvSpPr>
          <p:spPr>
            <a:xfrm>
              <a:off x="6343789" y="4571702"/>
              <a:ext cx="5006751" cy="23772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ct val="123000"/>
                </a:lnSpc>
              </a:pPr>
              <a:r>
                <a:rPr lang="pt-BR" sz="1250" spc="-25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</a:rPr>
                <a:t>Descreva o processo completo </a:t>
              </a:r>
              <a:r>
                <a:rPr lang="pt-BR" sz="1250" spc="-25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</a:rPr>
                <a:t>para preparação do miojo</a:t>
              </a:r>
              <a:br>
                <a:rPr lang="pt-BR" sz="1250" spc="-25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</a:rPr>
              </a:br>
              <a:endParaRPr lang="en-US" sz="1250" spc="-25" dirty="0">
                <a:solidFill>
                  <a:srgbClr val="272525"/>
                </a:solidFill>
                <a:latin typeface="Inter" pitchFamily="34" charset="0"/>
                <a:ea typeface="Inter" pitchFamily="34" charset="-122"/>
              </a:endParaRPr>
            </a:p>
          </p:txBody>
        </p:sp>
      </p:grpSp>
      <p:sp>
        <p:nvSpPr>
          <p:cNvPr id="20" name="Shape 14"/>
          <p:cNvSpPr/>
          <p:nvPr/>
        </p:nvSpPr>
        <p:spPr>
          <a:xfrm>
            <a:off x="661475" y="5580558"/>
            <a:ext cx="10868745" cy="821333"/>
          </a:xfrm>
          <a:prstGeom prst="roundRect">
            <a:avLst>
              <a:gd name="adj" fmla="val 8216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106" y="5775325"/>
            <a:ext cx="200814" cy="160635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183551" y="5757168"/>
            <a:ext cx="10186038" cy="481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kern="0" spc="-2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</a:t>
            </a:r>
            <a:r>
              <a:rPr lang="en-US" sz="1250" kern="0" spc="-25" dirty="0" err="1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dividam</a:t>
            </a:r>
            <a:r>
              <a:rPr lang="en-US" sz="1250" kern="0" spc="-2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50" kern="0" spc="-25" dirty="0" err="1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</a:t>
            </a:r>
            <a:r>
              <a:rPr lang="en-US" sz="1250" kern="0" spc="-2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grupos de 3–4 pessoas. Cada grupo recebe um problema e apresenta sua solução em 5 minutos. Compare as respostas: existem várias soluções corretas!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85824" y="879971"/>
            <a:ext cx="6296860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kern="0" spc="-84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Jornada que está começando</a:t>
            </a:r>
            <a:endParaRPr lang="en-US" sz="2750" dirty="0"/>
          </a:p>
        </p:txBody>
      </p: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C935FD43-D367-6206-818C-614FE4A1A3FF}"/>
              </a:ext>
            </a:extLst>
          </p:cNvPr>
          <p:cNvGrpSpPr/>
          <p:nvPr/>
        </p:nvGrpSpPr>
        <p:grpSpPr>
          <a:xfrm>
            <a:off x="1233714" y="1670772"/>
            <a:ext cx="9492343" cy="2828657"/>
            <a:chOff x="6020442" y="1334294"/>
            <a:chExt cx="4722595" cy="2039938"/>
          </a:xfrm>
        </p:grpSpPr>
        <p:pic>
          <p:nvPicPr>
            <p:cNvPr id="4" name="Image 1" descr="preencoded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20442" y="1334294"/>
              <a:ext cx="4722595" cy="2039938"/>
            </a:xfrm>
            <a:prstGeom prst="rect">
              <a:avLst/>
            </a:prstGeom>
          </p:spPr>
        </p:pic>
        <p:sp>
          <p:nvSpPr>
            <p:cNvPr id="5" name="Text 1"/>
            <p:cNvSpPr/>
            <p:nvPr/>
          </p:nvSpPr>
          <p:spPr>
            <a:xfrm>
              <a:off x="7147383" y="2354263"/>
              <a:ext cx="701217" cy="27246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800" b="1" kern="0" spc="-24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Algoritmos</a:t>
              </a:r>
              <a:endParaRPr lang="en-US" sz="1800" dirty="0"/>
            </a:p>
          </p:txBody>
        </p:sp>
        <p:sp>
          <p:nvSpPr>
            <p:cNvPr id="6" name="Text 2"/>
            <p:cNvSpPr/>
            <p:nvPr/>
          </p:nvSpPr>
          <p:spPr>
            <a:xfrm>
              <a:off x="7152819" y="2725326"/>
              <a:ext cx="701217" cy="55030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lnSpc>
                  <a:spcPct val="91000"/>
                </a:lnSpc>
                <a:buNone/>
              </a:pPr>
              <a:r>
                <a:rPr lang="en-US" kern="0" spc="-16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Sequência lógica de passos</a:t>
              </a:r>
              <a:endParaRPr lang="en-US" dirty="0"/>
            </a:p>
          </p:txBody>
        </p:sp>
        <p:sp>
          <p:nvSpPr>
            <p:cNvPr id="7" name="Text 3"/>
            <p:cNvSpPr/>
            <p:nvPr/>
          </p:nvSpPr>
          <p:spPr>
            <a:xfrm>
              <a:off x="8945210" y="2520863"/>
              <a:ext cx="701216" cy="12771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800" b="1" kern="0" spc="-24" dirty="0">
                  <a:solidFill>
                    <a:srgbClr val="000000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Estruturas</a:t>
              </a:r>
              <a:endParaRPr lang="en-US" sz="1800" dirty="0"/>
            </a:p>
          </p:txBody>
        </p:sp>
        <p:sp>
          <p:nvSpPr>
            <p:cNvPr id="8" name="Text 4"/>
            <p:cNvSpPr/>
            <p:nvPr/>
          </p:nvSpPr>
          <p:spPr>
            <a:xfrm>
              <a:off x="8945210" y="2811237"/>
              <a:ext cx="701216" cy="1788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lnSpc>
                  <a:spcPct val="91000"/>
                </a:lnSpc>
                <a:buNone/>
              </a:pPr>
              <a:r>
                <a:rPr lang="en-US" kern="0" spc="-16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Listas, dicionários e mais</a:t>
              </a:r>
              <a:endParaRPr lang="en-US" dirty="0"/>
            </a:p>
          </p:txBody>
        </p:sp>
        <p:sp>
          <p:nvSpPr>
            <p:cNvPr id="9" name="Text 5"/>
            <p:cNvSpPr/>
            <p:nvPr/>
          </p:nvSpPr>
          <p:spPr>
            <a:xfrm>
              <a:off x="6249346" y="1518365"/>
              <a:ext cx="701217" cy="2533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800" b="1" kern="0" spc="-24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Lógica</a:t>
              </a:r>
              <a:endParaRPr lang="en-US" sz="800" dirty="0"/>
            </a:p>
          </p:txBody>
        </p:sp>
        <p:sp>
          <p:nvSpPr>
            <p:cNvPr id="10" name="Text 6"/>
            <p:cNvSpPr/>
            <p:nvPr/>
          </p:nvSpPr>
          <p:spPr>
            <a:xfrm>
              <a:off x="6201320" y="1823515"/>
              <a:ext cx="749243" cy="500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ctr">
                <a:lnSpc>
                  <a:spcPct val="91000"/>
                </a:lnSpc>
                <a:buNone/>
              </a:pPr>
              <a:r>
                <a:rPr lang="en-US" kern="0" spc="-16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Pensar soluções antes do código</a:t>
              </a:r>
              <a:endParaRPr lang="en-US" dirty="0"/>
            </a:p>
          </p:txBody>
        </p:sp>
        <p:sp>
          <p:nvSpPr>
            <p:cNvPr id="11" name="Text 7"/>
            <p:cNvSpPr/>
            <p:nvPr/>
          </p:nvSpPr>
          <p:spPr>
            <a:xfrm>
              <a:off x="9819215" y="1518365"/>
              <a:ext cx="701217" cy="1277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800" b="1" kern="0" spc="-24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Arquivos</a:t>
              </a:r>
              <a:endParaRPr lang="en-US" sz="1800" dirty="0"/>
            </a:p>
          </p:txBody>
        </p:sp>
        <p:sp>
          <p:nvSpPr>
            <p:cNvPr id="12" name="Text 8"/>
            <p:cNvSpPr/>
            <p:nvPr/>
          </p:nvSpPr>
          <p:spPr>
            <a:xfrm>
              <a:off x="9819215" y="1770213"/>
              <a:ext cx="701217" cy="2533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lnSpc>
                  <a:spcPct val="91000"/>
                </a:lnSpc>
                <a:buNone/>
              </a:pPr>
              <a:r>
                <a:rPr lang="en-US" kern="0" spc="-16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Leitura e escrita persistente</a:t>
              </a:r>
              <a:endParaRPr lang="en-US" dirty="0"/>
            </a:p>
          </p:txBody>
        </p:sp>
        <p:sp>
          <p:nvSpPr>
            <p:cNvPr id="13" name="Text 9"/>
            <p:cNvSpPr/>
            <p:nvPr/>
          </p:nvSpPr>
          <p:spPr>
            <a:xfrm>
              <a:off x="8058830" y="1518365"/>
              <a:ext cx="701217" cy="12771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ctr">
                <a:lnSpc>
                  <a:spcPct val="104000"/>
                </a:lnSpc>
                <a:buNone/>
              </a:pPr>
              <a:r>
                <a:rPr lang="en-US" sz="1800" b="1" kern="0" spc="-24" dirty="0">
                  <a:solidFill>
                    <a:srgbClr val="000000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Python</a:t>
              </a:r>
              <a:endParaRPr lang="en-US" sz="1800" dirty="0"/>
            </a:p>
          </p:txBody>
        </p:sp>
        <p:sp>
          <p:nvSpPr>
            <p:cNvPr id="14" name="Text 10"/>
            <p:cNvSpPr/>
            <p:nvPr/>
          </p:nvSpPr>
          <p:spPr>
            <a:xfrm>
              <a:off x="8058830" y="1775036"/>
              <a:ext cx="701217" cy="5005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ctr">
                <a:lnSpc>
                  <a:spcPct val="91000"/>
                </a:lnSpc>
                <a:buNone/>
              </a:pPr>
              <a:r>
                <a:rPr lang="en-US" kern="0" spc="-16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Introdução à sintaxe prática</a:t>
              </a:r>
              <a:endParaRPr lang="en-US" dirty="0"/>
            </a:p>
          </p:txBody>
        </p:sp>
      </p:grp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E843F975-74CF-642A-5020-ECE1D08E3F3B}"/>
              </a:ext>
            </a:extLst>
          </p:cNvPr>
          <p:cNvGrpSpPr/>
          <p:nvPr/>
        </p:nvGrpSpPr>
        <p:grpSpPr>
          <a:xfrm>
            <a:off x="463998" y="5911434"/>
            <a:ext cx="5400001" cy="836414"/>
            <a:chOff x="2396579" y="4625182"/>
            <a:chExt cx="2867209" cy="836414"/>
          </a:xfrm>
        </p:grpSpPr>
        <p:sp>
          <p:nvSpPr>
            <p:cNvPr id="17" name="Shape 13"/>
            <p:cNvSpPr/>
            <p:nvPr/>
          </p:nvSpPr>
          <p:spPr>
            <a:xfrm>
              <a:off x="2396579" y="4625182"/>
              <a:ext cx="2867209" cy="720000"/>
            </a:xfrm>
            <a:prstGeom prst="roundRect">
              <a:avLst>
                <a:gd name="adj" fmla="val 6048"/>
              </a:avLst>
            </a:prstGeom>
            <a:solidFill>
              <a:srgbClr val="DADBF1"/>
            </a:solidFill>
            <a:ln w="6350">
              <a:solidFill>
                <a:srgbClr val="C0C1D7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Text 14"/>
            <p:cNvSpPr/>
            <p:nvPr/>
          </p:nvSpPr>
          <p:spPr>
            <a:xfrm>
              <a:off x="2430588" y="4773216"/>
              <a:ext cx="2799189" cy="22780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350" b="1" kern="0" spc="-42" dirty="0">
                  <a:solidFill>
                    <a:srgbClr val="000000"/>
                  </a:solidFill>
                  <a:latin typeface="Twemoji Mozilla" pitchFamily="34" charset="0"/>
                  <a:ea typeface="Twemoji Mozilla" pitchFamily="34" charset="-122"/>
                  <a:cs typeface="Twemoji Mozilla" pitchFamily="34" charset="-120"/>
                </a:rPr>
                <a:t>🧠</a:t>
              </a:r>
              <a:r>
                <a:rPr lang="en-US" sz="1350" b="1" kern="0" spc="-42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 Você já começou</a:t>
              </a:r>
              <a:endParaRPr lang="en-US" sz="1350" dirty="0"/>
            </a:p>
          </p:txBody>
        </p:sp>
        <p:sp>
          <p:nvSpPr>
            <p:cNvPr id="19" name="Text 15"/>
            <p:cNvSpPr/>
            <p:nvPr/>
          </p:nvSpPr>
          <p:spPr>
            <a:xfrm>
              <a:off x="2430588" y="5064721"/>
              <a:ext cx="2799189" cy="3968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100" kern="0" spc="-22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Hoje você pensou como um programador — sem escrever uma linha de código.</a:t>
              </a:r>
              <a:endParaRPr lang="en-US" sz="1100" dirty="0"/>
            </a:p>
          </p:txBody>
        </p:sp>
      </p:grp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FBF2986A-4978-4D8B-D81A-C8B8DCD12443}"/>
              </a:ext>
            </a:extLst>
          </p:cNvPr>
          <p:cNvGrpSpPr/>
          <p:nvPr/>
        </p:nvGrpSpPr>
        <p:grpSpPr>
          <a:xfrm>
            <a:off x="490298" y="5098955"/>
            <a:ext cx="5465262" cy="635992"/>
            <a:chOff x="490298" y="5080409"/>
            <a:chExt cx="5465262" cy="635992"/>
          </a:xfrm>
        </p:grpSpPr>
        <p:sp>
          <p:nvSpPr>
            <p:cNvPr id="15" name="Text 11"/>
            <p:cNvSpPr/>
            <p:nvPr/>
          </p:nvSpPr>
          <p:spPr>
            <a:xfrm>
              <a:off x="555560" y="5137846"/>
              <a:ext cx="5400000" cy="52111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kern="0" spc="-22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Programar não começa quando abrimos o Python.</a:t>
              </a:r>
              <a:endParaRPr lang="en-US" dirty="0"/>
            </a:p>
            <a:p>
              <a:pPr marL="0" indent="0" algn="l">
                <a:lnSpc>
                  <a:spcPct val="117000"/>
                </a:lnSpc>
                <a:buNone/>
              </a:pPr>
              <a:r>
                <a:rPr lang="en-US" kern="0" spc="-22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Programar começa quando aprendemos a </a:t>
              </a:r>
              <a:r>
                <a:rPr lang="en-US" b="1" kern="0" spc="-22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pensar na solução.</a:t>
              </a:r>
              <a:endParaRPr lang="en-US" dirty="0"/>
            </a:p>
          </p:txBody>
        </p:sp>
        <p:sp>
          <p:nvSpPr>
            <p:cNvPr id="16" name="Shape 12"/>
            <p:cNvSpPr/>
            <p:nvPr/>
          </p:nvSpPr>
          <p:spPr>
            <a:xfrm>
              <a:off x="490298" y="5080409"/>
              <a:ext cx="36000" cy="635992"/>
            </a:xfrm>
            <a:prstGeom prst="roundRect">
              <a:avLst>
                <a:gd name="adj" fmla="val 49999"/>
              </a:avLst>
            </a:prstGeom>
            <a:solidFill>
              <a:srgbClr val="4950BC"/>
            </a:solidFill>
            <a:ln/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F3C4B1D4-D0A8-00A3-F266-378A4EB38E6F}"/>
              </a:ext>
            </a:extLst>
          </p:cNvPr>
          <p:cNvGrpSpPr/>
          <p:nvPr/>
        </p:nvGrpSpPr>
        <p:grpSpPr>
          <a:xfrm>
            <a:off x="6328001" y="4998744"/>
            <a:ext cx="5399999" cy="836414"/>
            <a:chOff x="5558084" y="4625182"/>
            <a:chExt cx="3271068" cy="836414"/>
          </a:xfrm>
        </p:grpSpPr>
        <p:sp>
          <p:nvSpPr>
            <p:cNvPr id="20" name="Shape 16"/>
            <p:cNvSpPr/>
            <p:nvPr/>
          </p:nvSpPr>
          <p:spPr>
            <a:xfrm>
              <a:off x="5558084" y="4625182"/>
              <a:ext cx="3271068" cy="720000"/>
            </a:xfrm>
            <a:prstGeom prst="roundRect">
              <a:avLst>
                <a:gd name="adj" fmla="val 6048"/>
              </a:avLst>
            </a:prstGeom>
            <a:solidFill>
              <a:srgbClr val="DADBF1"/>
            </a:solidFill>
            <a:ln w="6350">
              <a:solidFill>
                <a:srgbClr val="C0C1D7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Text 17"/>
            <p:cNvSpPr/>
            <p:nvPr/>
          </p:nvSpPr>
          <p:spPr>
            <a:xfrm>
              <a:off x="5706115" y="4773216"/>
              <a:ext cx="2799288" cy="22780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350" b="1" kern="0" spc="-42" dirty="0">
                  <a:solidFill>
                    <a:srgbClr val="000000"/>
                  </a:solidFill>
                  <a:latin typeface="Twemoji Mozilla" pitchFamily="34" charset="0"/>
                  <a:ea typeface="Twemoji Mozilla" pitchFamily="34" charset="-122"/>
                  <a:cs typeface="Twemoji Mozilla" pitchFamily="34" charset="-120"/>
                </a:rPr>
                <a:t>🔜</a:t>
              </a:r>
              <a:r>
                <a:rPr lang="en-US" sz="1350" b="1" kern="0" spc="-42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 Próxima aula</a:t>
              </a:r>
              <a:endParaRPr lang="en-US" sz="1350" dirty="0"/>
            </a:p>
          </p:txBody>
        </p:sp>
        <p:sp>
          <p:nvSpPr>
            <p:cNvPr id="22" name="Text 18"/>
            <p:cNvSpPr/>
            <p:nvPr/>
          </p:nvSpPr>
          <p:spPr>
            <a:xfrm>
              <a:off x="5706115" y="5064721"/>
              <a:ext cx="2799288" cy="3968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100" kern="0" spc="-22" dirty="0">
                  <a:solidFill>
                    <a:srgbClr val="272525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Pseudocódigo, fluxogramas e as primeiras estruturas lógicas formais.</a:t>
              </a:r>
              <a:endParaRPr lang="en-US" sz="1100" dirty="0"/>
            </a:p>
          </p:txBody>
        </p:sp>
      </p:grpSp>
      <p:grpSp>
        <p:nvGrpSpPr>
          <p:cNvPr id="27" name="Agrupar 26">
            <a:extLst>
              <a:ext uri="{FF2B5EF4-FFF2-40B4-BE49-F238E27FC236}">
                <a16:creationId xmlns:a16="http://schemas.microsoft.com/office/drawing/2014/main" id="{F742CBA1-EE35-B95A-EA76-EABF80E234E9}"/>
              </a:ext>
            </a:extLst>
          </p:cNvPr>
          <p:cNvGrpSpPr/>
          <p:nvPr/>
        </p:nvGrpSpPr>
        <p:grpSpPr>
          <a:xfrm>
            <a:off x="6328002" y="5911434"/>
            <a:ext cx="5399998" cy="720000"/>
            <a:chOff x="2356573" y="5715893"/>
            <a:chExt cx="6296860" cy="786011"/>
          </a:xfrm>
        </p:grpSpPr>
        <p:sp>
          <p:nvSpPr>
            <p:cNvPr id="23" name="Shape 19"/>
            <p:cNvSpPr/>
            <p:nvPr/>
          </p:nvSpPr>
          <p:spPr>
            <a:xfrm>
              <a:off x="2356573" y="5715893"/>
              <a:ext cx="6296860" cy="786011"/>
            </a:xfrm>
            <a:prstGeom prst="roundRect">
              <a:avLst>
                <a:gd name="adj" fmla="val 7575"/>
              </a:avLst>
            </a:prstGeom>
            <a:solidFill>
              <a:srgbClr val="DADBF1"/>
            </a:solidFill>
            <a:ln w="6350">
              <a:solidFill>
                <a:srgbClr val="C0C1D7"/>
              </a:solidFill>
              <a:prstDash val="solid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4" name="Text 20"/>
            <p:cNvSpPr/>
            <p:nvPr/>
          </p:nvSpPr>
          <p:spPr>
            <a:xfrm>
              <a:off x="2504604" y="5863928"/>
              <a:ext cx="6000798" cy="227806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1350" b="1" kern="0" spc="-42" dirty="0">
                  <a:solidFill>
                    <a:srgbClr val="000000"/>
                  </a:solidFill>
                  <a:latin typeface="Twemoji Mozilla" pitchFamily="34" charset="0"/>
                  <a:ea typeface="Twemoji Mozilla" pitchFamily="34" charset="-122"/>
                  <a:cs typeface="Twemoji Mozilla" pitchFamily="34" charset="-120"/>
                </a:rPr>
                <a:t>💡</a:t>
              </a:r>
              <a:r>
                <a:rPr lang="en-US" sz="1350" b="1" kern="0" spc="-42" dirty="0">
                  <a:solidFill>
                    <a:srgbClr val="272525"/>
                  </a:solidFill>
                  <a:latin typeface="Inter Bold" pitchFamily="34" charset="0"/>
                  <a:ea typeface="Inter Bold" pitchFamily="34" charset="-122"/>
                  <a:cs typeface="Inter Bold" pitchFamily="34" charset="-120"/>
                </a:rPr>
                <a:t> Dúvidas?</a:t>
              </a:r>
              <a:endParaRPr lang="en-US" sz="1350" dirty="0"/>
            </a:p>
          </p:txBody>
        </p:sp>
        <p:sp>
          <p:nvSpPr>
            <p:cNvPr id="25" name="Text 21"/>
            <p:cNvSpPr/>
            <p:nvPr/>
          </p:nvSpPr>
          <p:spPr>
            <a:xfrm>
              <a:off x="2504604" y="6155432"/>
              <a:ext cx="6000798" cy="198438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17000"/>
                </a:lnSpc>
                <a:buNone/>
              </a:pPr>
              <a:r>
                <a:rPr lang="en-US" sz="1100" dirty="0"/>
                <a:t>Teams, Sala de aula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1CCDD9F2-AC7E-460B-B50E-85EA69E3348E}" vid="{50ADE620-622A-4655-B0AD-D77B51B00B10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79269AC9697AD4AB61243AA96E1BEFD" ma:contentTypeVersion="0" ma:contentTypeDescription="Crie um novo documento." ma:contentTypeScope="" ma:versionID="31c71926217461f0d7ebc59204e20aa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A440C73-5E91-4D53-BD36-9C258E5A0C2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9B12DE2-01D1-438E-871C-CA2997403BF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8A7CD97-5FE5-4A89-BAB8-650D585BF4C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91</TotalTime>
  <Words>847</Words>
  <Application>Microsoft Office PowerPoint</Application>
  <PresentationFormat>Widescreen</PresentationFormat>
  <Paragraphs>151</Paragraphs>
  <Slides>10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8" baseType="lpstr">
      <vt:lpstr>Times New Roman</vt:lpstr>
      <vt:lpstr>Consolas</vt:lpstr>
      <vt:lpstr>Inter Bold</vt:lpstr>
      <vt:lpstr>Calibri</vt:lpstr>
      <vt:lpstr>Twemoji Mozilla</vt:lpstr>
      <vt:lpstr>Arial</vt:lpstr>
      <vt:lpstr>Inter</vt:lpstr>
      <vt:lpstr>Tema1</vt:lpstr>
      <vt:lpstr>Software Básico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Pedro Miho</dc:creator>
  <cp:lastModifiedBy>Pedro Miho</cp:lastModifiedBy>
  <cp:revision>6</cp:revision>
  <dcterms:created xsi:type="dcterms:W3CDTF">2026-08-17T11:55:34Z</dcterms:created>
  <dcterms:modified xsi:type="dcterms:W3CDTF">2026-08-17T23:35:42Z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0x010100E79269AC9697AD4AB61243AA96E1BEFD</vt:lpwstr>
  </property>
</Properties>
</file>