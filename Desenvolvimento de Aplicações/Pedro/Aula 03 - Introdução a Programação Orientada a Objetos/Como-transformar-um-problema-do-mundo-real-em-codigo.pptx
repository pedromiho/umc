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295896"/>
            <a:ext cx="2946326" cy="243979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757814" y="1344017"/>
            <a:ext cx="3363233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AULA 5 · DESENVOLVIMENTO DE APLICAÇÕES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59444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à Programação Orientada a Objetos com Dart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661475" y="2803327"/>
            <a:ext cx="6296860" cy="2078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13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transformar um problema do mundo real em código?</a:t>
            </a:r>
            <a:endParaRPr lang="en-US" sz="4350" dirty="0"/>
          </a:p>
        </p:txBody>
      </p:sp>
      <p:sp>
        <p:nvSpPr>
          <p:cNvPr id="7" name="Text 4"/>
          <p:cNvSpPr/>
          <p:nvPr/>
        </p:nvSpPr>
        <p:spPr>
          <a:xfrm>
            <a:off x="661475" y="5086648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Hoje vamos descobrir como o Dart nos ajuda a modelar a realidade em estruturas de código organizadas, reutilizáveis e poderosas.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475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veremos hoje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94631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36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32558"/>
            <a:ext cx="356424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846263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 &amp; Classe como molde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203450"/>
            <a:ext cx="356424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Objeto, instância e estado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1475" y="2655491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36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1475" y="2893417"/>
            <a:ext cx="356424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3007122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Atributos e Métodos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3364309"/>
            <a:ext cx="356424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+ comportamento de um objeto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1475" y="3816350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36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4054277"/>
            <a:ext cx="356424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167981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Construtores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1475" y="4525169"/>
            <a:ext cx="356424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Posicionais, nomeados e boas práticas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1475" y="4977209"/>
            <a:ext cx="30241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36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5215136"/>
            <a:ext cx="3564245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5328841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Abstração &amp; Encapsulamento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686028"/>
            <a:ext cx="356424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Esconder complexidade e proteger dados</a:t>
            </a:r>
            <a:endParaRPr lang="en-US" sz="11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478" y="2183805"/>
            <a:ext cx="5548372" cy="31441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0062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Classe, Objeto e Instância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763316"/>
            <a:ext cx="296398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molde — ela define quais informações e comportamentos um objeto terá. Um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objeto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instância concreta criada a partir desse molde.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3360" y="2770088"/>
            <a:ext cx="2963987" cy="1388070"/>
          </a:xfrm>
          <a:prstGeom prst="roundRect">
            <a:avLst>
              <a:gd name="adj" fmla="val 4575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566" y="2955230"/>
            <a:ext cx="189007" cy="151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24779" y="2916734"/>
            <a:ext cx="2321363" cy="1094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Pense na classe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a planta baixa de um apartamento. Cada aluno criado é um apartamento diferente, construído com o mesmo projeto.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8572583" y="1790502"/>
            <a:ext cx="2963987" cy="3930848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9" name="Text 5"/>
          <p:cNvSpPr/>
          <p:nvPr/>
        </p:nvSpPr>
        <p:spPr>
          <a:xfrm>
            <a:off x="8753951" y="1941711"/>
            <a:ext cx="2601252" cy="362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Aluno {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nome;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idade;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curso;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estudar() {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print('$nome está estudando.');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aluno1 = Aluno();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aluno1.nome = 'Carlos';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aluno1.idade = 20;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aluno1.curso = 'Dev. de Sistemas';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aluno1.estudar();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502"/>
            <a:ext cx="10868745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6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Atributos, Estado e Métodos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61475" y="959743"/>
            <a:ext cx="3584783" cy="681236"/>
          </a:xfrm>
          <a:prstGeom prst="roundRect">
            <a:avLst>
              <a:gd name="adj" fmla="val 64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1704" y="1069975"/>
            <a:ext cx="336432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🗂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Atributos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1704" y="1272977"/>
            <a:ext cx="3364324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as </a:t>
            </a:r>
            <a:pPr algn="l" indent="0" marL="0">
              <a:lnSpc>
                <a:spcPct val="103000"/>
              </a:lnSpc>
              <a:buNone/>
            </a:pPr>
            <a:r>
              <a:rPr lang="en-US" sz="800" b="1" spc="-1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objeto — os dados que ele armazena, como 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curso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303406" y="959743"/>
            <a:ext cx="3584783" cy="681236"/>
          </a:xfrm>
          <a:prstGeom prst="roundRect">
            <a:avLst>
              <a:gd name="adj" fmla="val 64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3636" y="1069975"/>
            <a:ext cx="336432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📸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Estado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13636" y="1272977"/>
            <a:ext cx="3364324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ct val="103000"/>
              </a:lnSpc>
              <a:buNone/>
            </a:pPr>
            <a:r>
              <a:rPr lang="en-US" sz="800" b="1" spc="-1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conjunto de valores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dos atributos em um dado momento define o estado atual do objeto.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45338" y="959743"/>
            <a:ext cx="3584783" cy="681236"/>
          </a:xfrm>
          <a:prstGeom prst="roundRect">
            <a:avLst>
              <a:gd name="adj" fmla="val 64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55567" y="1069975"/>
            <a:ext cx="3364324" cy="168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Métodos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55567" y="1272977"/>
            <a:ext cx="3364324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as </a:t>
            </a:r>
            <a:pPr algn="l" indent="0" marL="0">
              <a:lnSpc>
                <a:spcPct val="103000"/>
              </a:lnSpc>
              <a:buNone/>
            </a:pPr>
            <a:r>
              <a:rPr lang="en-US" sz="800" b="1" spc="-1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ações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o objeto pode executar, como 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estudar()</a:t>
            </a:r>
            <a:pPr algn="l" indent="0" marL="0">
              <a:lnSpc>
                <a:spcPct val="103000"/>
              </a:lnSpc>
              <a:buNone/>
            </a:pPr>
            <a:r>
              <a:rPr lang="en-US" sz="8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Eles definem o comportamento.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0642" y="1705273"/>
            <a:ext cx="4910312" cy="46321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112073" y="4710584"/>
            <a:ext cx="1558826" cy="24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Atributos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112073" y="5024694"/>
            <a:ext cx="1558826" cy="45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200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do objeto, definem suas características.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879" y="2571595"/>
            <a:ext cx="1558826" cy="24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85879" y="2885705"/>
            <a:ext cx="1558826" cy="45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200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atuais derivados dos atributos.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29109" y="4710584"/>
            <a:ext cx="1558825" cy="244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Comportamento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29109" y="5024694"/>
            <a:ext cx="1558825" cy="45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1000"/>
              </a:lnSpc>
              <a:buNone/>
            </a:pPr>
            <a:r>
              <a:rPr lang="en-US" sz="1200" spc="-2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Ações executadas pelos métodos do objeto.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1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10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Problema da Inicialização Manual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63092"/>
            <a:ext cx="5226911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Atribuir cada atributo manualmente é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verboso e propenso a erros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construtor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resolve isso: ele inicializa o objeto no momento da criação, de forma concisa e segura.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this.nome</a:t>
            </a:r>
            <a:pPr algn="l" indent="0" marL="0">
              <a:lnSpc>
                <a:spcPct val="127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construtor, o Dart já faz a atribuição automaticamente — sem repetição de código.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309659" y="1597620"/>
            <a:ext cx="5226911" cy="4423966"/>
          </a:xfrm>
          <a:prstGeom prst="roundRect">
            <a:avLst>
              <a:gd name="adj" fmla="val 161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513746" y="1767681"/>
            <a:ext cx="4818736" cy="408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Aluno {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nome;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idade;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nota;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Construtor posicional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Aluno(this.nome, this.idade, this.nota);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estudar() {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print('$nome está estudando.');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Criação direta e limpa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spc="-2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aluno = Aluno('Carlos', 20, 8.5);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006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Parâmetros Posicionais × Nomeados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48780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Posicional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689795"/>
            <a:ext cx="5261439" cy="510183"/>
          </a:xfrm>
          <a:prstGeom prst="roundRect">
            <a:avLst>
              <a:gd name="adj" fmla="val 1167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31532" y="1831479"/>
            <a:ext cx="55309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Aluno('Carlos', 20, 8.5);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2319536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Rápido, mas a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ordem importa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Difícil de ler quando há muitos parâmetros.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1475" y="2672953"/>
            <a:ext cx="5261439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846983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Nomeado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2C5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✓ Recomendado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1475" y="3187998"/>
            <a:ext cx="5261439" cy="141743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831532" y="3329682"/>
            <a:ext cx="492132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Aluno(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 'Carlos',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nota: 8.5,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475" y="4724995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legível, ordem livre e 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garante null safety.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5131" y="1362075"/>
            <a:ext cx="5261439" cy="4139208"/>
          </a:xfrm>
          <a:prstGeom prst="roundRect">
            <a:avLst>
              <a:gd name="adj" fmla="val 1438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45188" y="1503759"/>
            <a:ext cx="4921325" cy="3855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Aluno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nome;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idade;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nota;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Aluno({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this.nome,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this.idade,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this.nota,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aluno = Aluno(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nome: 'Carlos',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idade: 20,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nota: 8.5,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1475" y="5740400"/>
            <a:ext cx="10868745" cy="477540"/>
          </a:xfrm>
          <a:prstGeom prst="roundRect">
            <a:avLst>
              <a:gd name="adj" fmla="val 12468"/>
            </a:avLst>
          </a:prstGeom>
          <a:solidFill>
            <a:srgbClr val="B6D6F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56" y="5897761"/>
            <a:ext cx="177200" cy="1416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22037" y="5882084"/>
            <a:ext cx="10876087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Flutter, quase todos os widgets usam parâmetros nomeados. Adotar essa prática agora facilita muito o aprendizado futuro!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22474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7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Abstração: Escondendo a Complexidade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3360" y="1858169"/>
            <a:ext cx="2987104" cy="1349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liga para alguém no celular sem saber como o sinal é transmitido. Isso é </a:t>
            </a:r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abstração</a:t>
            </a:r>
            <a:pPr algn="l" indent="0" marL="0">
              <a:lnSpc>
                <a:spcPct val="113000"/>
              </a:lnSpc>
              <a:spcAft>
                <a:spcPts val="650"/>
              </a:spcAft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expor apenas o que o usuário precisa usar, ocultando a complexidade interna.</a:t>
            </a:r>
            <a:endParaRPr lang="en-US" sz="10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classe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Celular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 método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fazerLigacao()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expõe uma ação simples. O que acontece "por baixo" não interessa a quem usa.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8549466" y="1879005"/>
            <a:ext cx="2987104" cy="3652242"/>
          </a:xfrm>
          <a:prstGeom prst="roundRect">
            <a:avLst>
              <a:gd name="adj" fmla="val 1860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708212" y="2011263"/>
            <a:ext cx="2669612" cy="338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Celular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modelo;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Celular(this.modelo);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fazerLigacao()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print('Realizando ligação...');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enviarMensagem(String texto)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print('Enviando: $texto');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meuCelular = Celular('Galaxy S24');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meuCelular.fazerLigacao();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97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7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Encapsulamento: Protegendo os Dados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324670"/>
            <a:ext cx="5273047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encapsulamento, qualquer código pode definir um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saldo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negativo diretamente. Com o prefixo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 atributo se torna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privado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acessível apenas via métodos controlados.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263523" y="1345505"/>
            <a:ext cx="5273047" cy="3863975"/>
          </a:xfrm>
          <a:prstGeom prst="roundRect">
            <a:avLst>
              <a:gd name="adj" fmla="val 143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22269" y="1477764"/>
            <a:ext cx="4955555" cy="3599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Conta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_saldo = 0;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depositar(double valor)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(valor &gt; 0)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_saldo += valor;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consultarSaldo()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_saldo;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conta = Conta();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conta.depositar(500);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spc="-21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print(conta.consultarSaldo()); // 500.0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5417840"/>
            <a:ext cx="5388039" cy="751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978" y="5569148"/>
            <a:ext cx="500923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8978" y="5831384"/>
            <a:ext cx="5009231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conta.saldo = -999;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ninguém impede!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2082" y="5417840"/>
            <a:ext cx="5388138" cy="7511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69585" y="5569148"/>
            <a:ext cx="50093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Solução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69585" y="5831384"/>
            <a:ext cx="5009330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_saldo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privado + método 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depositar()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validação.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111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Completo: Classe Produto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017885"/>
            <a:ext cx="114783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Leia o código abaixo e identifique: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atributos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construtor nomeado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o </a:t>
            </a:r>
            <a:pPr algn="l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objeto após cada chamada.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61475" y="1282005"/>
            <a:ext cx="5305590" cy="4939506"/>
          </a:xfrm>
          <a:prstGeom prst="roundRect">
            <a:avLst>
              <a:gd name="adj" fmla="val 89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88174" y="1387574"/>
            <a:ext cx="5052192" cy="4728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Produto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nome;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preco;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Produto({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this.nome,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this.preco,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exibirProduto()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print('$nome - R$ $preco');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aplicarDesconto(double percentual)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preco -= preco * percentual / 100;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produto = Produto(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nome: 'Notebook',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preco: 3500,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produto.exibirProduto();      // R$ 3500.0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produto.aplicarDesconto(10);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produto.exibirProduto();      // R$ 3150.0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spc="-17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230980" y="1282005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0567" y="1301800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27438" y="1318220"/>
            <a:ext cx="5009132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 &amp; Atributos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27438" y="1542058"/>
            <a:ext cx="500913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Produto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30980" y="1791494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0567" y="1811288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438" y="1827709"/>
            <a:ext cx="5009132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Construtor Nomeado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27438" y="2051546"/>
            <a:ext cx="500913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garante inicialização segura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30980" y="2300982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0567" y="2320776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27438" y="2337197"/>
            <a:ext cx="5009132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27438" y="2561034"/>
            <a:ext cx="500913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exibirProduto()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aplicarDesconto()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30980" y="2810470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0567" y="2830264"/>
            <a:ext cx="158349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27438" y="2846685"/>
            <a:ext cx="5009132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 Mutável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27438" y="3070523"/>
            <a:ext cx="500913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preço muda após o desconto — o objeto tem novo estado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36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 &amp; Revisão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1216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Desafio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669355"/>
            <a:ext cx="5249930" cy="665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a classe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Funcionario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os atributos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cargo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salario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Implemente os métodos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exibirDados()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aumentarSalario(double percentual)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Instancie usando parâmetros nomeados e teste o aumento.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508945"/>
            <a:ext cx="5249930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701826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Perguntas de Revisão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3059013"/>
            <a:ext cx="5249930" cy="1003895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a diferença entre classe e objeto?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o estado de um objeto?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usar parâmetros nomeados?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protege um atributo?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86640" y="1312168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Conceitos da Aula</a:t>
            </a:r>
            <a:endParaRPr lang="en-US" sz="1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640" y="1684437"/>
            <a:ext cx="756028" cy="9072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63613" y="1835646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Classe &amp; Objeto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640" y="2591693"/>
            <a:ext cx="756028" cy="9072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63613" y="2742902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 &amp; Comportamento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640" y="3498949"/>
            <a:ext cx="756028" cy="9072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63613" y="3650159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Construtores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640" y="4406205"/>
            <a:ext cx="756028" cy="9072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63613" y="4557415"/>
            <a:ext cx="437295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Abstração &amp; Encapsulamento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286640" y="5449491"/>
            <a:ext cx="5249930" cy="735013"/>
          </a:xfrm>
          <a:prstGeom prst="roundRect">
            <a:avLst>
              <a:gd name="adj" fmla="val 8641"/>
            </a:avLst>
          </a:prstGeom>
          <a:solidFill>
            <a:srgbClr val="DADBF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846" y="5634633"/>
            <a:ext cx="189007" cy="15120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78059" y="5596136"/>
            <a:ext cx="4607306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6, avançaremos para polimorfismo e sobrescrita de métodos com 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pPr algn="l" indent="0" marL="0">
              <a:lnSpc>
                <a:spcPct val="120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2026-08-24T12:14:59Z</dcterms:created>
  <dcterms:modified xsi:type="dcterms:W3CDTF">2026-08-24T12:14:59Z</dcterms:modified>
</cp:coreProperties>
</file>