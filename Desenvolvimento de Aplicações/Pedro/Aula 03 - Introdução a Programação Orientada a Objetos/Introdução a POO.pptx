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7" r:id="rId7"/>
    <p:sldId id="265" r:id="rId8"/>
    <p:sldId id="260" r:id="rId9"/>
    <p:sldId id="261" r:id="rId10"/>
    <p:sldId id="262" r:id="rId11"/>
  </p:sldIdLst>
  <p:sldSz cx="12192000" cy="6858000"/>
  <p:notesSz cx="6858000" cy="12192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  <p:embeddedFont>
      <p:font typeface="Inter Bold" panose="020B0604020202020204" charset="0"/>
      <p:regular r:id="rId24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0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401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6457506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just"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568088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88363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8715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954085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38665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047335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424924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18408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618050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64940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327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50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764867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0E16DD16-0717-48CC-A2B4-295DAA44BC51}"/>
              </a:ext>
            </a:extLst>
          </p:cNvPr>
          <p:cNvGrpSpPr/>
          <p:nvPr/>
        </p:nvGrpSpPr>
        <p:grpSpPr>
          <a:xfrm>
            <a:off x="822342" y="914896"/>
            <a:ext cx="3459572" cy="243979"/>
            <a:chOff x="661475" y="1295896"/>
            <a:chExt cx="3459572" cy="243979"/>
          </a:xfrm>
        </p:grpSpPr>
        <p:sp>
          <p:nvSpPr>
            <p:cNvPr id="3" name="Shape 0"/>
            <p:cNvSpPr/>
            <p:nvPr/>
          </p:nvSpPr>
          <p:spPr>
            <a:xfrm>
              <a:off x="661475" y="1295896"/>
              <a:ext cx="2946326" cy="243979"/>
            </a:xfrm>
            <a:prstGeom prst="roundRect">
              <a:avLst>
                <a:gd name="adj" fmla="val 22126"/>
              </a:avLst>
            </a:prstGeom>
            <a:solidFill>
              <a:srgbClr val="DADBF1"/>
            </a:solidFill>
            <a:ln/>
          </p:spPr>
        </p:sp>
        <p:sp>
          <p:nvSpPr>
            <p:cNvPr id="4" name="Text 1"/>
            <p:cNvSpPr/>
            <p:nvPr/>
          </p:nvSpPr>
          <p:spPr>
            <a:xfrm>
              <a:off x="757814" y="1344017"/>
              <a:ext cx="3363233" cy="14773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1000" kern="0" spc="-25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DESENVOLVIMENTO DE APLICAÇÕES</a:t>
              </a:r>
              <a:endParaRPr lang="en-US" sz="1000" dirty="0"/>
            </a:p>
          </p:txBody>
        </p:sp>
      </p:grpSp>
      <p:sp>
        <p:nvSpPr>
          <p:cNvPr id="5" name="Text 2"/>
          <p:cNvSpPr/>
          <p:nvPr/>
        </p:nvSpPr>
        <p:spPr>
          <a:xfrm>
            <a:off x="661475" y="2432876"/>
            <a:ext cx="6296860" cy="1992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en-US" sz="4000" b="1" kern="0" spc="-9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Programação Orientada a Objetos com Dart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61475" y="5086647"/>
            <a:ext cx="6416658" cy="808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23000"/>
              </a:lnSpc>
              <a:buNone/>
            </a:pPr>
            <a:r>
              <a:rPr lang="en-US" sz="16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Hoje vamos descobrir como o Dart nos ajuda a modelar a realidade em estruturas de código organizadas, reutilizáveis e poderosas.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3886" y="795833"/>
            <a:ext cx="1043802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que veremos hoje</a:t>
            </a:r>
            <a:endParaRPr lang="en-US" sz="295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6E329AD6-2D6E-4E0A-B6E8-CDD28F1965F8}"/>
              </a:ext>
            </a:extLst>
          </p:cNvPr>
          <p:cNvGrpSpPr/>
          <p:nvPr/>
        </p:nvGrpSpPr>
        <p:grpSpPr>
          <a:xfrm>
            <a:off x="963882" y="2314708"/>
            <a:ext cx="3792845" cy="516226"/>
            <a:chOff x="963886" y="1747317"/>
            <a:chExt cx="3792845" cy="516226"/>
          </a:xfrm>
        </p:grpSpPr>
        <p:sp>
          <p:nvSpPr>
            <p:cNvPr id="3" name="Text 1"/>
            <p:cNvSpPr/>
            <p:nvPr/>
          </p:nvSpPr>
          <p:spPr>
            <a:xfrm>
              <a:off x="963887" y="1759934"/>
              <a:ext cx="228598" cy="2110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963886" y="1978621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1192486" y="174731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POO &amp; Classe como molde</a:t>
              </a:r>
              <a:endParaRPr lang="en-US" sz="145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63887" y="2045857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Objeto, instância e estado</a:t>
              </a:r>
              <a:endParaRPr lang="en-US" sz="1150" dirty="0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0E751D6-7FD2-4D50-B5C8-4E979D47003F}"/>
              </a:ext>
            </a:extLst>
          </p:cNvPr>
          <p:cNvGrpSpPr/>
          <p:nvPr/>
        </p:nvGrpSpPr>
        <p:grpSpPr>
          <a:xfrm>
            <a:off x="963882" y="3740291"/>
            <a:ext cx="3792844" cy="526603"/>
            <a:chOff x="963886" y="2902397"/>
            <a:chExt cx="3792844" cy="526603"/>
          </a:xfrm>
        </p:grpSpPr>
        <p:sp>
          <p:nvSpPr>
            <p:cNvPr id="7" name="Text 5"/>
            <p:cNvSpPr/>
            <p:nvPr/>
          </p:nvSpPr>
          <p:spPr>
            <a:xfrm>
              <a:off x="963886" y="2926011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963886" y="313948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1192485" y="290239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Atributos e Métodos</a:t>
              </a:r>
              <a:endParaRPr lang="en-US" sz="14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63886" y="3211314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Estado + comportamento de um objeto</a:t>
              </a:r>
              <a:endParaRPr lang="en-US" sz="1150" dirty="0"/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4E36A6A8-F3BA-4023-B408-5F539315C982}"/>
              </a:ext>
            </a:extLst>
          </p:cNvPr>
          <p:cNvGrpSpPr/>
          <p:nvPr/>
        </p:nvGrpSpPr>
        <p:grpSpPr>
          <a:xfrm>
            <a:off x="963884" y="5252451"/>
            <a:ext cx="3792843" cy="596850"/>
            <a:chOff x="963886" y="4064712"/>
            <a:chExt cx="3792843" cy="596850"/>
          </a:xfrm>
        </p:grpSpPr>
        <p:sp>
          <p:nvSpPr>
            <p:cNvPr id="11" name="Text 9"/>
            <p:cNvSpPr/>
            <p:nvPr/>
          </p:nvSpPr>
          <p:spPr>
            <a:xfrm>
              <a:off x="963886" y="4088326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03</a:t>
              </a:r>
              <a:endParaRPr lang="en-US" sz="11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963886" y="430034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1192484" y="4064712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Construtores</a:t>
              </a:r>
              <a:endParaRPr lang="en-US" sz="14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63886" y="4443876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Posicionais, nomeados e boas práticas</a:t>
              </a:r>
              <a:endParaRPr lang="en-US" sz="1150" dirty="0"/>
            </a:p>
          </p:txBody>
        </p:sp>
      </p:grp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850" y="2801458"/>
            <a:ext cx="4754170" cy="26940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C6F5D3D-DEC2-4880-8C54-EFF5AC1D7603}"/>
              </a:ext>
            </a:extLst>
          </p:cNvPr>
          <p:cNvGrpSpPr/>
          <p:nvPr/>
        </p:nvGrpSpPr>
        <p:grpSpPr>
          <a:xfrm>
            <a:off x="4795212" y="5750720"/>
            <a:ext cx="6914187" cy="643023"/>
            <a:chOff x="5186269" y="5837733"/>
            <a:chExt cx="5380131" cy="643023"/>
          </a:xfrm>
        </p:grpSpPr>
        <p:sp>
          <p:nvSpPr>
            <p:cNvPr id="5" name="Shape 2"/>
            <p:cNvSpPr/>
            <p:nvPr/>
          </p:nvSpPr>
          <p:spPr>
            <a:xfrm>
              <a:off x="5186269" y="5837733"/>
              <a:ext cx="5380131" cy="643023"/>
            </a:xfrm>
            <a:prstGeom prst="roundRect">
              <a:avLst>
                <a:gd name="adj" fmla="val 4575"/>
              </a:avLst>
            </a:prstGeom>
            <a:solidFill>
              <a:srgbClr val="DADBF1"/>
            </a:solidFill>
            <a:ln/>
          </p:spPr>
        </p:sp>
        <p:sp>
          <p:nvSpPr>
            <p:cNvPr id="7" name="Text 3"/>
            <p:cNvSpPr/>
            <p:nvPr/>
          </p:nvSpPr>
          <p:spPr>
            <a:xfrm>
              <a:off x="5418060" y="5905666"/>
              <a:ext cx="4916548" cy="507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just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💡 Pense na </a:t>
              </a:r>
              <a:r>
                <a:rPr lang="en-US" sz="1150" kern="0" spc="-24" dirty="0" err="1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classe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</a:t>
              </a:r>
              <a:r>
                <a:rPr lang="en-US" sz="1150" kern="0" spc="-24" dirty="0" err="1">
                  <a:solidFill>
                    <a:srgbClr val="000000"/>
                  </a:solidFill>
                  <a:highlight>
                    <a:srgbClr val="F2F2F2"/>
                  </a:highlight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como a planta baixa de um apartamento. Cada aluno criado é um apartamento diferente, construído com o mesmo projeto.</a:t>
              </a:r>
              <a:endParaRPr lang="en-US" sz="1150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5582356-F247-4002-8F62-15D17ABDECEA}"/>
              </a:ext>
            </a:extLst>
          </p:cNvPr>
          <p:cNvGrpSpPr/>
          <p:nvPr/>
        </p:nvGrpSpPr>
        <p:grpSpPr>
          <a:xfrm>
            <a:off x="4795212" y="3201659"/>
            <a:ext cx="2545388" cy="2327074"/>
            <a:chOff x="8572583" y="1790502"/>
            <a:chExt cx="2963987" cy="3930848"/>
          </a:xfrm>
        </p:grpSpPr>
        <p:sp>
          <p:nvSpPr>
            <p:cNvPr id="8" name="Shape 4"/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</p:sp>
        <p:sp>
          <p:nvSpPr>
            <p:cNvPr id="9" name="Text 5"/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r>
                <a:rPr lang="en-US" sz="115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41" y="3201659"/>
            <a:ext cx="3632231" cy="3279097"/>
          </a:xfrm>
          <a:prstGeom prst="rect">
            <a:avLst/>
          </a:prstGeom>
        </p:spPr>
      </p:pic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B67CDB6-8DF9-46EB-97D4-A5D3ED86B9EE}"/>
              </a:ext>
            </a:extLst>
          </p:cNvPr>
          <p:cNvGrpSpPr/>
          <p:nvPr/>
        </p:nvGrpSpPr>
        <p:grpSpPr>
          <a:xfrm>
            <a:off x="7955768" y="3201659"/>
            <a:ext cx="3753631" cy="2327074"/>
            <a:chOff x="8572583" y="1790502"/>
            <a:chExt cx="2963987" cy="3930848"/>
          </a:xfrm>
        </p:grpSpPr>
        <p:sp>
          <p:nvSpPr>
            <p:cNvPr id="23" name="Shape 4">
              <a:extLst>
                <a:ext uri="{FF2B5EF4-FFF2-40B4-BE49-F238E27FC236}">
                  <a16:creationId xmlns:a16="http://schemas.microsoft.com/office/drawing/2014/main" id="{A11253D3-565B-4142-AB2F-FE5632B0EE35}"/>
                </a:ext>
              </a:extLst>
            </p:cNvPr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18BFF428-23D1-474C-A0A4-4FD1DFFCE11E}"/>
                </a:ext>
              </a:extLst>
            </p:cNvPr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print(‘O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é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classificacaoMinima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</a:t>
              </a:r>
              <a:r>
                <a:rPr lang="pt-BR" sz="1200" dirty="0"/>
                <a:t>	</a:t>
              </a:r>
              <a:r>
                <a:rPr lang="en-US" sz="120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0957037-9315-43FB-8288-FB9F768B82CA}"/>
              </a:ext>
            </a:extLst>
          </p:cNvPr>
          <p:cNvSpPr txBox="1"/>
          <p:nvPr/>
        </p:nvSpPr>
        <p:spPr>
          <a:xfrm>
            <a:off x="5450499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Atributos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034661E-CF89-43E8-93F5-118DDBF190C0}"/>
              </a:ext>
            </a:extLst>
          </p:cNvPr>
          <p:cNvSpPr txBox="1"/>
          <p:nvPr/>
        </p:nvSpPr>
        <p:spPr>
          <a:xfrm>
            <a:off x="8995746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Métodos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51" y="2748079"/>
            <a:ext cx="4134659" cy="3732678"/>
          </a:xfrm>
          <a:prstGeom prst="rect">
            <a:avLst/>
          </a:prstGeom>
        </p:spPr>
      </p:pic>
      <p:grpSp>
        <p:nvGrpSpPr>
          <p:cNvPr id="2" name="Agrupar 1">
            <a:extLst>
              <a:ext uri="{FF2B5EF4-FFF2-40B4-BE49-F238E27FC236}">
                <a16:creationId xmlns:a16="http://schemas.microsoft.com/office/drawing/2014/main" id="{63E85DE9-1C61-475E-B439-595AC68C4BBF}"/>
              </a:ext>
            </a:extLst>
          </p:cNvPr>
          <p:cNvGrpSpPr/>
          <p:nvPr/>
        </p:nvGrpSpPr>
        <p:grpSpPr>
          <a:xfrm>
            <a:off x="6674761" y="2665762"/>
            <a:ext cx="4247189" cy="3737945"/>
            <a:chOff x="4795211" y="2742811"/>
            <a:chExt cx="4247189" cy="3737945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05582356-F247-4002-8F62-15D17ABDECEA}"/>
                </a:ext>
              </a:extLst>
            </p:cNvPr>
            <p:cNvGrpSpPr/>
            <p:nvPr/>
          </p:nvGrpSpPr>
          <p:grpSpPr>
            <a:xfrm>
              <a:off x="4795211" y="3201659"/>
              <a:ext cx="4247189" cy="1438074"/>
              <a:chOff x="8572583" y="1790502"/>
              <a:chExt cx="2963987" cy="3930848"/>
            </a:xfrm>
          </p:grpSpPr>
          <p:sp>
            <p:nvSpPr>
              <p:cNvPr id="8" name="Shape 4"/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</p:sp>
          <p:sp>
            <p:nvSpPr>
              <p:cNvPr id="9" name="Text 5"/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HomemAranha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Homem-Aranha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: Um novo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dia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Ação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12;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145;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C0957037-9315-43FB-8288-FB9F768B82CA}"/>
                </a:ext>
              </a:extLst>
            </p:cNvPr>
            <p:cNvSpPr txBox="1"/>
            <p:nvPr/>
          </p:nvSpPr>
          <p:spPr>
            <a:xfrm>
              <a:off x="6301398" y="2742811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28E58B70-8839-4AEB-9F69-E436702EA900}"/>
                </a:ext>
              </a:extLst>
            </p:cNvPr>
            <p:cNvGrpSpPr/>
            <p:nvPr/>
          </p:nvGrpSpPr>
          <p:grpSpPr>
            <a:xfrm>
              <a:off x="4795211" y="5042682"/>
              <a:ext cx="4247189" cy="1438074"/>
              <a:chOff x="8572583" y="1790502"/>
              <a:chExt cx="2963987" cy="3930848"/>
            </a:xfrm>
          </p:grpSpPr>
          <p:sp>
            <p:nvSpPr>
              <p:cNvPr id="18" name="Shape 4">
                <a:extLst>
                  <a:ext uri="{FF2B5EF4-FFF2-40B4-BE49-F238E27FC236}">
                    <a16:creationId xmlns:a16="http://schemas.microsoft.com/office/drawing/2014/main" id="{4F6D6129-D344-43F8-9D99-FAF009CB0A48}"/>
                  </a:ext>
                </a:extLst>
              </p:cNvPr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</p:sp>
          <p:sp>
            <p:nvSpPr>
              <p:cNvPr id="19" name="Text 5">
                <a:extLst>
                  <a:ext uri="{FF2B5EF4-FFF2-40B4-BE49-F238E27FC236}">
                    <a16:creationId xmlns:a16="http://schemas.microsoft.com/office/drawing/2014/main" id="{D4C23212-4E64-4A51-B0F3-02271FC07FFF}"/>
                  </a:ext>
                </a:extLst>
              </p:cNvPr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agora entre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nós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Terror;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14;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105;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A7322A1A-4110-42E3-8F87-172ED5ED59E1}"/>
                </a:ext>
              </a:extLst>
            </p:cNvPr>
            <p:cNvSpPr txBox="1"/>
            <p:nvPr/>
          </p:nvSpPr>
          <p:spPr>
            <a:xfrm>
              <a:off x="6301398" y="4639733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8605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705" y="990632"/>
            <a:ext cx="10868745" cy="324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6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Atributos, Estado e Métodos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71804" y="1903028"/>
            <a:ext cx="3584783" cy="681236"/>
          </a:xfrm>
          <a:prstGeom prst="roundRect">
            <a:avLst>
              <a:gd name="adj" fmla="val 640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033" y="2013260"/>
            <a:ext cx="3364324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3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🗂</a:t>
            </a:r>
            <a:r>
              <a:rPr lang="en-US" sz="1000" b="1" kern="0" spc="-3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Atributos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82033" y="2216262"/>
            <a:ext cx="3364324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as </a:t>
            </a:r>
            <a:r>
              <a:rPr lang="en-US" sz="800" b="1" kern="0" spc="-1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características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objeto — os dados que ele armazena, como </a:t>
            </a:r>
            <a:r>
              <a:rPr lang="en-US" sz="80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80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idade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r>
              <a:rPr lang="en-US" sz="80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curso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413735" y="1903028"/>
            <a:ext cx="3584783" cy="681236"/>
          </a:xfrm>
          <a:prstGeom prst="roundRect">
            <a:avLst>
              <a:gd name="adj" fmla="val 640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3965" y="2013260"/>
            <a:ext cx="3364324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3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📸</a:t>
            </a:r>
            <a:r>
              <a:rPr lang="en-US" sz="1000" b="1" kern="0" spc="-3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Estado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23965" y="2216262"/>
            <a:ext cx="3364324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800" b="1" kern="0" spc="-1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conjunto de valores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atributos em um dado momento define o estado atual do objeto.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055667" y="1903028"/>
            <a:ext cx="3584783" cy="681236"/>
          </a:xfrm>
          <a:prstGeom prst="roundRect">
            <a:avLst>
              <a:gd name="adj" fmla="val 640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65896" y="2013260"/>
            <a:ext cx="3364324" cy="168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3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000" b="1" kern="0" spc="-3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Métodos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65896" y="2216262"/>
            <a:ext cx="3364324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as </a:t>
            </a:r>
            <a:r>
              <a:rPr lang="en-US" sz="800" b="1" kern="0" spc="-1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ações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o objeto pode executar, como </a:t>
            </a:r>
            <a:r>
              <a:rPr lang="en-US" sz="80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estudar()</a:t>
            </a:r>
            <a:r>
              <a:rPr lang="en-US" sz="800" kern="0" spc="-1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Eles definem o comportamento.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529109" y="4710584"/>
            <a:ext cx="1558825" cy="244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b="1" kern="0" spc="-46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Comportamento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29109" y="5024694"/>
            <a:ext cx="1558825" cy="454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1000"/>
              </a:lnSpc>
              <a:buNone/>
            </a:pPr>
            <a:r>
              <a:rPr lang="en-US" sz="1200" kern="0" spc="-2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Ações executadas pelos métodos do objeto.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nosso ambiente </a:t>
            </a:r>
            <a:r>
              <a:rPr lang="pt-BR" dirty="0" err="1"/>
              <a:t>Dart</a:t>
            </a:r>
            <a:endParaRPr lang="pt-BR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AC02035-5055-41F2-80F5-53C5F894E5EC}"/>
              </a:ext>
            </a:extLst>
          </p:cNvPr>
          <p:cNvGrpSpPr/>
          <p:nvPr/>
        </p:nvGrpSpPr>
        <p:grpSpPr>
          <a:xfrm>
            <a:off x="1281115" y="3292243"/>
            <a:ext cx="3086215" cy="2593380"/>
            <a:chOff x="749185" y="2132310"/>
            <a:chExt cx="3086215" cy="259338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2132310"/>
              <a:ext cx="3086215" cy="2593380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352807"/>
              <a:ext cx="2551928" cy="21523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criar o ambiente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create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acessar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cd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indent="457200"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rodar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</a:t>
              </a:r>
              <a:endParaRPr lang="en-US" sz="1300" dirty="0"/>
            </a:p>
          </p:txBody>
        </p:sp>
      </p:grp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FFD67019-8671-4933-B859-0932C19CB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6604320" cy="669925"/>
          </a:xfrm>
        </p:spPr>
        <p:txBody>
          <a:bodyPr/>
          <a:lstStyle/>
          <a:p>
            <a:r>
              <a:rPr lang="pt-BR" dirty="0"/>
              <a:t>Acesse o terminal do </a:t>
            </a:r>
            <a:r>
              <a:rPr lang="pt-BR" dirty="0" err="1"/>
              <a:t>vscode</a:t>
            </a:r>
            <a:r>
              <a:rPr lang="pt-BR" dirty="0"/>
              <a:t> e execute os seguintes comandos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C64B435-BA5B-4744-9651-C03BED5DE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445" y="3248087"/>
            <a:ext cx="5262439" cy="268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273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nossa primeira classe e objeto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E51ADC27-1BDA-4FA0-A1F5-93279A7E3D66}"/>
              </a:ext>
            </a:extLst>
          </p:cNvPr>
          <p:cNvGrpSpPr/>
          <p:nvPr/>
        </p:nvGrpSpPr>
        <p:grpSpPr>
          <a:xfrm>
            <a:off x="749185" y="2480732"/>
            <a:ext cx="4974281" cy="3921853"/>
            <a:chOff x="749185" y="1978620"/>
            <a:chExt cx="5226911" cy="4423966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String titulo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genero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classificacao = 0;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duracao = 0 ;</a:t>
              </a:r>
            </a:p>
            <a:p>
              <a:pPr>
                <a:lnSpc>
                  <a:spcPct val="133000"/>
                </a:lnSpc>
              </a:pPr>
              <a:endParaRPr lang="en-US" sz="1200" kern="0" spc="-24" dirty="0">
                <a:solidFill>
                  <a:srgbClr val="D73A49"/>
                </a:solidFill>
                <a:latin typeface="Consolas" pitchFamily="34" charset="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infoFilme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print(“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Gênero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genero,classificação</a:t>
              </a: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e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tem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duração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de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”);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 </a:t>
              </a:r>
              <a:r>
                <a:rPr lang="en-US" sz="1200" dirty="0"/>
                <a:t>	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CA30FD8-9E41-4F53-9A43-998038E5CEB3}"/>
              </a:ext>
            </a:extLst>
          </p:cNvPr>
          <p:cNvSpPr txBox="1"/>
          <p:nvPr/>
        </p:nvSpPr>
        <p:spPr>
          <a:xfrm>
            <a:off x="1496427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Classe - Filme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66CEC46-9A65-4D34-A990-5A2712889C40}"/>
              </a:ext>
            </a:extLst>
          </p:cNvPr>
          <p:cNvGrpSpPr/>
          <p:nvPr/>
        </p:nvGrpSpPr>
        <p:grpSpPr>
          <a:xfrm>
            <a:off x="6815668" y="2482372"/>
            <a:ext cx="4627148" cy="3921853"/>
            <a:chOff x="749184" y="1978620"/>
            <a:chExt cx="5226911" cy="4423966"/>
          </a:xfrm>
        </p:grpSpPr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DA80A062-F6CE-4586-B11F-FCB108E1DCD5}"/>
                </a:ext>
              </a:extLst>
            </p:cNvPr>
            <p:cNvSpPr/>
            <p:nvPr/>
          </p:nvSpPr>
          <p:spPr>
            <a:xfrm>
              <a:off x="749184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3" name="Text 3">
              <a:extLst>
                <a:ext uri="{FF2B5EF4-FFF2-40B4-BE49-F238E27FC236}">
                  <a16:creationId xmlns:a16="http://schemas.microsoft.com/office/drawing/2014/main" id="{2CD653F1-C2BE-4B4B-A59A-9E01997A01F0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main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Filme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Filme();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filme.titulo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filme.genero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filme.classificacao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12;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filme.duracao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145;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filme.infoFilme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print(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filme.podeAssistir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(15));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</p:txBody>
        </p:sp>
      </p:grp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5EB8DE2-2A9A-43BE-AEBF-165914C7584B}"/>
              </a:ext>
            </a:extLst>
          </p:cNvPr>
          <p:cNvSpPr txBox="1"/>
          <p:nvPr/>
        </p:nvSpPr>
        <p:spPr>
          <a:xfrm>
            <a:off x="7562909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Objeto – Homem Aranha</a:t>
            </a:r>
          </a:p>
        </p:txBody>
      </p:sp>
    </p:spTree>
    <p:extLst>
      <p:ext uri="{BB962C8B-B14F-4D97-AF65-F5344CB8AC3E}">
        <p14:creationId xmlns:p14="http://schemas.microsoft.com/office/powerpoint/2010/main" val="3854461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286" y="861417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Problema da Inicialização Manual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55430" y="1860087"/>
            <a:ext cx="5104325" cy="480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Atribuir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atributo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manualmente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verboso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e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propenso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a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construtor é usado para inicializar os atributos de um objeto no momento em que ele é criado, deixando o código mais organizado e seguro.</a:t>
            </a:r>
          </a:p>
          <a:p>
            <a:pPr algn="just">
              <a:lnSpc>
                <a:spcPct val="150000"/>
              </a:lnSpc>
            </a:pPr>
            <a:endParaRPr lang="pt-BR" sz="1600" kern="0" spc="-27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this.nome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Dart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atribui automaticamente os valores aos atributos, evitando código repetitivo e reduzindo a possibilidade de erros.</a:t>
            </a:r>
            <a:endParaRPr lang="en-US" sz="1600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D0642EFA-A20D-472E-BAF8-FD80B1470BC4}"/>
              </a:ext>
            </a:extLst>
          </p:cNvPr>
          <p:cNvGrpSpPr/>
          <p:nvPr/>
        </p:nvGrpSpPr>
        <p:grpSpPr>
          <a:xfrm>
            <a:off x="6309659" y="2049694"/>
            <a:ext cx="5226911" cy="4423966"/>
            <a:chOff x="6309659" y="1597620"/>
            <a:chExt cx="5226911" cy="4423966"/>
          </a:xfrm>
        </p:grpSpPr>
        <p:sp>
          <p:nvSpPr>
            <p:cNvPr id="4" name="Shape 2"/>
            <p:cNvSpPr/>
            <p:nvPr/>
          </p:nvSpPr>
          <p:spPr>
            <a:xfrm>
              <a:off x="6309659" y="1597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13746" y="1767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Aluno {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nome;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idade;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double nota;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// Construtor posicional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Aluno(this.nome, this.idade, this.nota);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void estudar() {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print('$nome está estudando.');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// Criação direta e limpa</a:t>
              </a:r>
              <a:endParaRPr lang="en-US" sz="13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var aluno = Aluno('Carlos', 20, 8.5);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0060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Parâmetros Posicionais × Nomeados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348780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Posicional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61475" y="1689795"/>
            <a:ext cx="5261439" cy="510183"/>
          </a:xfrm>
          <a:prstGeom prst="roundRect">
            <a:avLst>
              <a:gd name="adj" fmla="val 11670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831532" y="1831479"/>
            <a:ext cx="553091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Aluno('Carlos', 20, 8.5);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1475" y="2319536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Rápido, mas a </a:t>
            </a:r>
            <a:r>
              <a:rPr lang="en-US" sz="110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ordem importa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Difícil de ler quando há muitos parâmetros.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1475" y="2672953"/>
            <a:ext cx="5261439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61475" y="2846983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Nomeado </a:t>
            </a:r>
            <a:r>
              <a:rPr lang="en-US" sz="1350" b="1" kern="0" spc="-42" dirty="0">
                <a:solidFill>
                  <a:srgbClr val="22C55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✓ Recomendado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61475" y="3187998"/>
            <a:ext cx="5261439" cy="1417439"/>
          </a:xfrm>
          <a:prstGeom prst="roundRect">
            <a:avLst>
              <a:gd name="adj" fmla="val 4201"/>
            </a:avLst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831532" y="3329682"/>
            <a:ext cx="4921325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228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Aluno(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228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nome: 'Carlos',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228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idade: 20,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228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nota: 8.5,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228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1475" y="4724995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legível, ordem livre e </a:t>
            </a:r>
            <a:r>
              <a:rPr lang="en-US" sz="1100" kern="0" spc="-22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garante null safety.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5131" y="1362075"/>
            <a:ext cx="5261439" cy="4139208"/>
          </a:xfrm>
          <a:prstGeom prst="roundRect">
            <a:avLst>
              <a:gd name="adj" fmla="val 1438"/>
            </a:avLst>
          </a:prstGeom>
          <a:solidFill>
            <a:srgbClr val="F2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45188" y="1503759"/>
            <a:ext cx="4921325" cy="3855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Aluno {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nome;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idade;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nota;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Aluno({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 this.nome,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 this.idade,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 this.nota,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aluno = Aluno(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nome: 'Carlos',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idade: 20,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nota: 8.5,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1475" y="5740400"/>
            <a:ext cx="10868745" cy="477540"/>
          </a:xfrm>
          <a:prstGeom prst="roundRect">
            <a:avLst>
              <a:gd name="adj" fmla="val 12468"/>
            </a:avLst>
          </a:prstGeom>
          <a:solidFill>
            <a:srgbClr val="B6D6FC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156" y="5897761"/>
            <a:ext cx="177200" cy="14168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22037" y="5882084"/>
            <a:ext cx="10876087" cy="204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💬 Em Flutter, quase todos os widgets usam parâmetros nomeados. Adotar essa prática agora facilita muito o aprendizado futuro!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222474"/>
            <a:ext cx="6296860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kern="0" spc="-7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Abstração: Escondendo a Complexidade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233360" y="1858169"/>
            <a:ext cx="2987104" cy="1349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spcAft>
                <a:spcPts val="650"/>
              </a:spcAft>
              <a:buNone/>
            </a:pPr>
            <a:r>
              <a:rPr lang="en-US" sz="100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liga para alguém no celular sem saber como o sinal é transmitido. Isso é </a:t>
            </a:r>
            <a:r>
              <a:rPr lang="en-US" sz="100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abstração</a:t>
            </a:r>
            <a:r>
              <a:rPr lang="en-US" sz="100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expor apenas o que o usuário precisa usar, ocultando a complexidade interna.</a:t>
            </a:r>
            <a:endParaRPr lang="en-US" sz="10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classe </a:t>
            </a:r>
            <a:r>
              <a:rPr lang="en-US" sz="1000" kern="0" spc="-21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Celular</a:t>
            </a:r>
            <a:r>
              <a:rPr lang="en-US" sz="100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 método </a:t>
            </a:r>
            <a:r>
              <a:rPr lang="en-US" sz="1000" kern="0" spc="-21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fazerLigacao()</a:t>
            </a:r>
            <a:r>
              <a:rPr lang="en-US" sz="100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expõe uma ação simples. O que acontece "por baixo" não interessa a quem usa.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549466" y="1879005"/>
            <a:ext cx="2987104" cy="3652242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8708212" y="2011263"/>
            <a:ext cx="2669612" cy="3387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Celular {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modelo;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Celular(this.modelo);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fazerLigacao() {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print('Realizando ligação...');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enviarMensagem(String texto) {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print('Enviando: $texto');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meuCelular = Celular('Galaxy S24');</a:t>
            </a:r>
            <a:endParaRPr lang="en-US" sz="10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00" kern="0" spc="-21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meuCelular.fazerLigacao();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08B486C1-EED8-4560-A43C-DADF57CF6D3E}" vid="{41356845-1778-46A9-88C9-DA0406DFE36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68</TotalTime>
  <Words>916</Words>
  <Application>Microsoft Office PowerPoint</Application>
  <PresentationFormat>Widescreen</PresentationFormat>
  <Paragraphs>168</Paragraphs>
  <Slides>10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20" baseType="lpstr">
      <vt:lpstr>Calibri</vt:lpstr>
      <vt:lpstr>Times New Roman</vt:lpstr>
      <vt:lpstr>Consolas</vt:lpstr>
      <vt:lpstr>Inter Bold</vt:lpstr>
      <vt:lpstr>Inter Light</vt:lpstr>
      <vt:lpstr>Calibri Light</vt:lpstr>
      <vt:lpstr>Arial</vt:lpstr>
      <vt:lpstr>Inter</vt:lpstr>
      <vt:lpstr>Twemoji Mozilla</vt:lpstr>
      <vt:lpstr>Tema1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Criando nosso ambiente Dart</vt:lpstr>
      <vt:lpstr>Criando nossa primeira classe e objeto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lastModifiedBy>Pedro Henrique Miho de Souza</cp:lastModifiedBy>
  <cp:revision>10</cp:revision>
  <dcterms:created xsi:type="dcterms:W3CDTF">2026-08-24T12:14:59Z</dcterms:created>
  <dcterms:modified xsi:type="dcterms:W3CDTF">2026-08-24T18:29:01Z</dcterms:modified>
</cp:coreProperties>
</file>