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1" r:id="rId1"/>
  </p:sldMasterIdLst>
  <p:notesMasterIdLst>
    <p:notesMasterId r:id="rId10"/>
  </p:notesMasterIdLst>
  <p:sldIdLst>
    <p:sldId id="256" r:id="rId2"/>
    <p:sldId id="257" r:id="rId3"/>
    <p:sldId id="258" r:id="rId4"/>
    <p:sldId id="264" r:id="rId5"/>
    <p:sldId id="267" r:id="rId6"/>
    <p:sldId id="265" r:id="rId7"/>
    <p:sldId id="260" r:id="rId8"/>
    <p:sldId id="261" r:id="rId9"/>
  </p:sldIdLst>
  <p:sldSz cx="12192000" cy="6858000"/>
  <p:notesSz cx="6858000" cy="12192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Calibri Light" panose="020F0302020204030204" pitchFamily="34" charset="0"/>
      <p:regular r:id="rId15"/>
      <p:italic r:id="rId16"/>
    </p:embeddedFont>
    <p:embeddedFont>
      <p:font typeface="Consolas" panose="020B0609020204030204" pitchFamily="49" charset="0"/>
      <p:regular r:id="rId17"/>
      <p:bold r:id="rId18"/>
      <p:italic r:id="rId19"/>
      <p:boldItalic r:id="rId20"/>
    </p:embeddedFont>
    <p:embeddedFont>
      <p:font typeface="Inter" panose="020B0604020202020204" charset="0"/>
      <p:regular r:id="rId21"/>
    </p:embeddedFont>
    <p:embeddedFont>
      <p:font typeface="Inter Bold" panose="020B0604020202020204" charset="0"/>
      <p:regular r:id="rId22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11.fntdata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font" Target="fonts/font1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6710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2401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6457506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algn="just">
              <a:lnSpc>
                <a:spcPct val="150000"/>
              </a:lnSpc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algn="just">
              <a:lnSpc>
                <a:spcPct val="150000"/>
              </a:lnSpc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algn="just">
              <a:lnSpc>
                <a:spcPct val="150000"/>
              </a:lnSpc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algn="just">
              <a:lnSpc>
                <a:spcPct val="150000"/>
              </a:lnSpc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568088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0883639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537CFC-895E-42D9-B850-249E3AA64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E2EF1D-1141-40D7-BDED-690939FB81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8ECF165-5788-48F8-B64E-CAD147B1C6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9848715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8013D5-4B61-49F1-B604-8019D708D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954085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F29988-C070-4222-8D96-E36CF17E1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2386651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047335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9EF455-B40C-43F1-B648-F6F57DD2C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70ACE-9666-4656-BDDD-596392FA70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424924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87CECA-FA2C-4E5F-A052-5D5CBF0F7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0184082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DB2585-BC56-4839-AEEF-1B75486F2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28134"/>
            <a:ext cx="9392728" cy="491707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9D1A810-2C5E-49EA-AAFC-FDC1AA5F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5287" y="1825624"/>
            <a:ext cx="10981426" cy="4618307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6180504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EDB59BB-5636-42CF-B124-FAF3D7953F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3875309-BF17-4BAA-9583-FFA5CD6256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54D6C19-C741-47D2-A6CB-2906DBB982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AC129DE-944E-4128-9F49-76B5C1F4F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20892AE-B301-431E-9D8C-F0BDAF576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964940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73278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6E30110-E419-43DB-AEFA-3636065754B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bg1"/>
          </a:solidFill>
          <a:ln>
            <a:solidFill>
              <a:srgbClr val="292A86"/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AAA702B-ED3B-45E1-8C71-1ACC187886A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B168A8-B937-4519-802D-8D1D90A0A0E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050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764867"/>
          </a:xfrm>
          <a:prstGeom prst="rect">
            <a:avLst/>
          </a:prstGeom>
        </p:spPr>
      </p:pic>
      <p:grpSp>
        <p:nvGrpSpPr>
          <p:cNvPr id="8" name="Agrupar 7">
            <a:extLst>
              <a:ext uri="{FF2B5EF4-FFF2-40B4-BE49-F238E27FC236}">
                <a16:creationId xmlns:a16="http://schemas.microsoft.com/office/drawing/2014/main" id="{0E16DD16-0717-48CC-A2B4-295DAA44BC51}"/>
              </a:ext>
            </a:extLst>
          </p:cNvPr>
          <p:cNvGrpSpPr/>
          <p:nvPr/>
        </p:nvGrpSpPr>
        <p:grpSpPr>
          <a:xfrm>
            <a:off x="822342" y="914896"/>
            <a:ext cx="3459572" cy="243979"/>
            <a:chOff x="661475" y="1295896"/>
            <a:chExt cx="3459572" cy="243979"/>
          </a:xfrm>
        </p:grpSpPr>
        <p:sp>
          <p:nvSpPr>
            <p:cNvPr id="3" name="Shape 0"/>
            <p:cNvSpPr/>
            <p:nvPr/>
          </p:nvSpPr>
          <p:spPr>
            <a:xfrm>
              <a:off x="661475" y="1295896"/>
              <a:ext cx="2946326" cy="243979"/>
            </a:xfrm>
            <a:prstGeom prst="roundRect">
              <a:avLst>
                <a:gd name="adj" fmla="val 22126"/>
              </a:avLst>
            </a:prstGeom>
            <a:solidFill>
              <a:srgbClr val="DADBF1"/>
            </a:solidFill>
            <a:ln/>
          </p:spPr>
        </p:sp>
        <p:sp>
          <p:nvSpPr>
            <p:cNvPr id="4" name="Text 1"/>
            <p:cNvSpPr/>
            <p:nvPr/>
          </p:nvSpPr>
          <p:spPr>
            <a:xfrm>
              <a:off x="757814" y="1344017"/>
              <a:ext cx="3363233" cy="14773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96000"/>
                </a:lnSpc>
                <a:buNone/>
              </a:pPr>
              <a:r>
                <a:rPr lang="en-US" sz="1000" kern="0" spc="-25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DESENVOLVIMENTO DE APLICAÇÕES</a:t>
              </a:r>
              <a:endParaRPr lang="en-US" sz="1000" dirty="0"/>
            </a:p>
          </p:txBody>
        </p:sp>
      </p:grpSp>
      <p:sp>
        <p:nvSpPr>
          <p:cNvPr id="5" name="Text 2"/>
          <p:cNvSpPr/>
          <p:nvPr/>
        </p:nvSpPr>
        <p:spPr>
          <a:xfrm>
            <a:off x="661475" y="2432876"/>
            <a:ext cx="6296860" cy="1992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en-US" sz="4000" b="1" kern="0" spc="-95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Introdução à Programação Orientada a Objetos com Dart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61475" y="5086647"/>
            <a:ext cx="6416658" cy="8083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just">
              <a:lnSpc>
                <a:spcPct val="123000"/>
              </a:lnSpc>
              <a:buNone/>
            </a:pPr>
            <a:r>
              <a:rPr lang="en-US" sz="1600" kern="0" spc="-2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Hoje vamos descobrir como o Dart nos ajuda a modelar a realidade em estruturas de código organizadas, reutilizáveis e poderosas.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3886" y="795833"/>
            <a:ext cx="10438020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kern="0" spc="-89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 que veremos hoje</a:t>
            </a:r>
            <a:endParaRPr lang="en-US" sz="2950" dirty="0"/>
          </a:p>
        </p:txBody>
      </p: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6E329AD6-2D6E-4E0A-B6E8-CDD28F1965F8}"/>
              </a:ext>
            </a:extLst>
          </p:cNvPr>
          <p:cNvGrpSpPr/>
          <p:nvPr/>
        </p:nvGrpSpPr>
        <p:grpSpPr>
          <a:xfrm>
            <a:off x="963882" y="2314708"/>
            <a:ext cx="3792845" cy="516226"/>
            <a:chOff x="963886" y="1747317"/>
            <a:chExt cx="3792845" cy="516226"/>
          </a:xfrm>
        </p:grpSpPr>
        <p:sp>
          <p:nvSpPr>
            <p:cNvPr id="3" name="Text 1"/>
            <p:cNvSpPr/>
            <p:nvPr/>
          </p:nvSpPr>
          <p:spPr>
            <a:xfrm>
              <a:off x="963887" y="1759934"/>
              <a:ext cx="228598" cy="21100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150" kern="0" spc="-36" dirty="0">
                  <a:solidFill>
                    <a:srgbClr val="272525"/>
                  </a:solidFill>
                  <a:latin typeface="Inter Light" pitchFamily="34" charset="0"/>
                  <a:ea typeface="Inter Light" pitchFamily="34" charset="-122"/>
                  <a:cs typeface="Inter Light" pitchFamily="34" charset="-120"/>
                </a:rPr>
                <a:t>01</a:t>
              </a:r>
              <a:endParaRPr lang="en-US" sz="115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963886" y="1978621"/>
              <a:ext cx="3564245" cy="19050"/>
            </a:xfrm>
            <a:prstGeom prst="rect">
              <a:avLst/>
            </a:prstGeom>
            <a:solidFill>
              <a:srgbClr val="4950B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1192486" y="1747317"/>
              <a:ext cx="3564245" cy="23624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450" b="1" kern="0" spc="-45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POO &amp; Classe como molde</a:t>
              </a:r>
              <a:endParaRPr lang="en-US" sz="145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963887" y="2045857"/>
              <a:ext cx="3564245" cy="21768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20000"/>
                </a:lnSpc>
                <a:buNone/>
              </a:pPr>
              <a:r>
                <a:rPr lang="en-US" sz="1150" kern="0" spc="-24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Objeto, instância e estado</a:t>
              </a:r>
              <a:endParaRPr lang="en-US" sz="1150" dirty="0"/>
            </a:p>
          </p:txBody>
        </p:sp>
      </p:grp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C0E751D6-7FD2-4D50-B5C8-4E979D47003F}"/>
              </a:ext>
            </a:extLst>
          </p:cNvPr>
          <p:cNvGrpSpPr/>
          <p:nvPr/>
        </p:nvGrpSpPr>
        <p:grpSpPr>
          <a:xfrm>
            <a:off x="963882" y="3740291"/>
            <a:ext cx="3792844" cy="526603"/>
            <a:chOff x="963886" y="2902397"/>
            <a:chExt cx="3792844" cy="526603"/>
          </a:xfrm>
        </p:grpSpPr>
        <p:sp>
          <p:nvSpPr>
            <p:cNvPr id="7" name="Text 5"/>
            <p:cNvSpPr/>
            <p:nvPr/>
          </p:nvSpPr>
          <p:spPr>
            <a:xfrm>
              <a:off x="963886" y="2926011"/>
              <a:ext cx="302411" cy="18901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150" kern="0" spc="-36" dirty="0">
                  <a:solidFill>
                    <a:srgbClr val="272525"/>
                  </a:solidFill>
                  <a:latin typeface="Inter Light" pitchFamily="34" charset="0"/>
                  <a:ea typeface="Inter Light" pitchFamily="34" charset="-122"/>
                  <a:cs typeface="Inter Light" pitchFamily="34" charset="-120"/>
                </a:rPr>
                <a:t>02</a:t>
              </a:r>
              <a:endParaRPr lang="en-US" sz="115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963886" y="3139480"/>
              <a:ext cx="3564245" cy="19050"/>
            </a:xfrm>
            <a:prstGeom prst="rect">
              <a:avLst/>
            </a:prstGeom>
            <a:solidFill>
              <a:srgbClr val="4950BC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1192485" y="2902397"/>
              <a:ext cx="3564245" cy="23624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450" b="1" kern="0" spc="-45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Atributos e Métodos</a:t>
              </a:r>
              <a:endParaRPr lang="en-US" sz="14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963886" y="3211314"/>
              <a:ext cx="3564245" cy="21768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20000"/>
                </a:lnSpc>
                <a:buNone/>
              </a:pPr>
              <a:r>
                <a:rPr lang="en-US" sz="1150" kern="0" spc="-24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Estado + comportamento de um objeto</a:t>
              </a:r>
              <a:endParaRPr lang="en-US" sz="1150" dirty="0"/>
            </a:p>
          </p:txBody>
        </p:sp>
      </p:grp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4E36A6A8-F3BA-4023-B408-5F539315C982}"/>
              </a:ext>
            </a:extLst>
          </p:cNvPr>
          <p:cNvGrpSpPr/>
          <p:nvPr/>
        </p:nvGrpSpPr>
        <p:grpSpPr>
          <a:xfrm>
            <a:off x="963884" y="5252451"/>
            <a:ext cx="3792843" cy="596850"/>
            <a:chOff x="963886" y="4064712"/>
            <a:chExt cx="3792843" cy="596850"/>
          </a:xfrm>
        </p:grpSpPr>
        <p:sp>
          <p:nvSpPr>
            <p:cNvPr id="11" name="Text 9"/>
            <p:cNvSpPr/>
            <p:nvPr/>
          </p:nvSpPr>
          <p:spPr>
            <a:xfrm>
              <a:off x="963886" y="4088326"/>
              <a:ext cx="302411" cy="18901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150" kern="0" spc="-36" dirty="0">
                  <a:solidFill>
                    <a:srgbClr val="272525"/>
                  </a:solidFill>
                  <a:latin typeface="Inter Light" pitchFamily="34" charset="0"/>
                  <a:ea typeface="Inter Light" pitchFamily="34" charset="-122"/>
                  <a:cs typeface="Inter Light" pitchFamily="34" charset="-120"/>
                </a:rPr>
                <a:t>03</a:t>
              </a:r>
              <a:endParaRPr lang="en-US" sz="115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963886" y="4300340"/>
              <a:ext cx="3564245" cy="19050"/>
            </a:xfrm>
            <a:prstGeom prst="rect">
              <a:avLst/>
            </a:prstGeom>
            <a:solidFill>
              <a:srgbClr val="4950BC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1192484" y="4064712"/>
              <a:ext cx="3564245" cy="23624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450" b="1" kern="0" spc="-45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Construtores</a:t>
              </a:r>
              <a:endParaRPr lang="en-US" sz="14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963886" y="4443876"/>
              <a:ext cx="3564245" cy="21768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20000"/>
                </a:lnSpc>
                <a:buNone/>
              </a:pPr>
              <a:r>
                <a:rPr lang="en-US" sz="1150" kern="0" spc="-24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Posicionais, nomeados e boas práticas</a:t>
              </a:r>
              <a:endParaRPr lang="en-US" sz="1150" dirty="0"/>
            </a:p>
          </p:txBody>
        </p:sp>
      </p:grp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850" y="2801458"/>
            <a:ext cx="4754170" cy="269408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81494" y="873621"/>
            <a:ext cx="6296860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kern="0" spc="-89" dirty="0" err="1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Classe</a:t>
            </a:r>
            <a:endParaRPr lang="en-US" sz="2950" dirty="0"/>
          </a:p>
        </p:txBody>
      </p:sp>
      <p:sp>
        <p:nvSpPr>
          <p:cNvPr id="4" name="Text 1"/>
          <p:cNvSpPr/>
          <p:nvPr/>
        </p:nvSpPr>
        <p:spPr>
          <a:xfrm>
            <a:off x="881495" y="1701683"/>
            <a:ext cx="10389042" cy="988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Uma </a:t>
            </a:r>
            <a:r>
              <a:rPr lang="en-US" b="1" kern="0" spc="-24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classe</a:t>
            </a:r>
            <a:r>
              <a:rPr lang="en-US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é o molde — ela define quais informações e comportamentos um objeto terá. Um </a:t>
            </a:r>
            <a:r>
              <a:rPr lang="en-US" b="1" kern="0" spc="-24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objeto</a:t>
            </a:r>
            <a:r>
              <a:rPr lang="en-US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é a instância concreta criada a partir desse molde.</a:t>
            </a:r>
            <a:endParaRPr lang="en-US" dirty="0"/>
          </a:p>
        </p:txBody>
      </p: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0C6F5D3D-DEC2-4880-8C54-EFF5AC1D7603}"/>
              </a:ext>
            </a:extLst>
          </p:cNvPr>
          <p:cNvGrpSpPr/>
          <p:nvPr/>
        </p:nvGrpSpPr>
        <p:grpSpPr>
          <a:xfrm>
            <a:off x="4795212" y="5750720"/>
            <a:ext cx="6914187" cy="643023"/>
            <a:chOff x="5186269" y="5837733"/>
            <a:chExt cx="5380131" cy="643023"/>
          </a:xfrm>
        </p:grpSpPr>
        <p:sp>
          <p:nvSpPr>
            <p:cNvPr id="5" name="Shape 2"/>
            <p:cNvSpPr/>
            <p:nvPr/>
          </p:nvSpPr>
          <p:spPr>
            <a:xfrm>
              <a:off x="5186269" y="5837733"/>
              <a:ext cx="5380131" cy="643023"/>
            </a:xfrm>
            <a:prstGeom prst="roundRect">
              <a:avLst>
                <a:gd name="adj" fmla="val 4575"/>
              </a:avLst>
            </a:prstGeom>
            <a:solidFill>
              <a:srgbClr val="DADBF1"/>
            </a:solidFill>
            <a:ln/>
          </p:spPr>
        </p:sp>
        <p:sp>
          <p:nvSpPr>
            <p:cNvPr id="7" name="Text 3"/>
            <p:cNvSpPr/>
            <p:nvPr/>
          </p:nvSpPr>
          <p:spPr>
            <a:xfrm>
              <a:off x="5418060" y="5905666"/>
              <a:ext cx="4916548" cy="507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just">
                <a:lnSpc>
                  <a:spcPct val="120000"/>
                </a:lnSpc>
                <a:buNone/>
              </a:pPr>
              <a:r>
                <a:rPr lang="en-US" sz="1150" kern="0" spc="-24" dirty="0">
                  <a:solidFill>
                    <a:srgbClr val="000000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💡 Pense na </a:t>
              </a:r>
              <a:r>
                <a:rPr lang="en-US" sz="1150" kern="0" spc="-24" dirty="0" err="1">
                  <a:solidFill>
                    <a:srgbClr val="000000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classe</a:t>
              </a:r>
              <a:r>
                <a:rPr lang="en-US" sz="1150" kern="0" spc="-24" dirty="0">
                  <a:solidFill>
                    <a:srgbClr val="000000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 </a:t>
              </a:r>
              <a:r>
                <a:rPr lang="en-US" sz="1150" kern="0" spc="-24" dirty="0" err="1">
                  <a:solidFill>
                    <a:srgbClr val="000000"/>
                  </a:solidFill>
                  <a:highlight>
                    <a:srgbClr val="F2F2F2"/>
                  </a:highlight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150" kern="0" spc="-24" dirty="0">
                  <a:solidFill>
                    <a:srgbClr val="000000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 como a planta baixa de um apartamento. Cada aluno criado é um apartamento diferente, construído com o mesmo projeto.</a:t>
              </a:r>
              <a:endParaRPr lang="en-US" sz="1150" dirty="0"/>
            </a:p>
          </p:txBody>
        </p:sp>
      </p:grp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05582356-F247-4002-8F62-15D17ABDECEA}"/>
              </a:ext>
            </a:extLst>
          </p:cNvPr>
          <p:cNvGrpSpPr/>
          <p:nvPr/>
        </p:nvGrpSpPr>
        <p:grpSpPr>
          <a:xfrm>
            <a:off x="4795212" y="3201659"/>
            <a:ext cx="2545388" cy="2327074"/>
            <a:chOff x="8572583" y="1790502"/>
            <a:chExt cx="2963987" cy="3930848"/>
          </a:xfrm>
        </p:grpSpPr>
        <p:sp>
          <p:nvSpPr>
            <p:cNvPr id="8" name="Shape 4"/>
            <p:cNvSpPr/>
            <p:nvPr/>
          </p:nvSpPr>
          <p:spPr>
            <a:xfrm>
              <a:off x="8572583" y="1790502"/>
              <a:ext cx="2963987" cy="3930848"/>
            </a:xfrm>
            <a:prstGeom prst="roundRect">
              <a:avLst>
                <a:gd name="adj" fmla="val 2143"/>
              </a:avLst>
            </a:prstGeom>
            <a:solidFill>
              <a:srgbClr val="F2F2F2"/>
            </a:solidFill>
            <a:ln/>
          </p:spPr>
        </p:sp>
        <p:sp>
          <p:nvSpPr>
            <p:cNvPr id="9" name="Text 5"/>
            <p:cNvSpPr/>
            <p:nvPr/>
          </p:nvSpPr>
          <p:spPr>
            <a:xfrm>
              <a:off x="8753951" y="1941711"/>
              <a:ext cx="2601252" cy="36284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 </a:t>
              </a:r>
              <a:r>
                <a:rPr lang="en-US" sz="115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{</a:t>
              </a:r>
              <a:endParaRPr lang="en-US" sz="1150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String </a:t>
              </a:r>
              <a:r>
                <a:rPr lang="en-US" sz="115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titulo</a:t>
              </a: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  <a:endParaRPr lang="en-US" sz="1150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String </a:t>
              </a:r>
              <a:r>
                <a:rPr lang="en-US" sz="115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genero</a:t>
              </a: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  <a:endParaRPr lang="en-US" sz="1150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int </a:t>
              </a:r>
              <a:r>
                <a:rPr lang="en-US" sz="115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classificacao</a:t>
              </a: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int </a:t>
              </a:r>
              <a:r>
                <a:rPr lang="en-US" sz="115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duracao</a:t>
              </a: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  <a:r>
                <a:rPr lang="en-US" sz="1150" dirty="0"/>
                <a:t>	</a:t>
              </a:r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}</a:t>
              </a:r>
            </a:p>
            <a:p>
              <a:pPr marL="0" indent="0" algn="l">
                <a:lnSpc>
                  <a:spcPct val="133000"/>
                </a:lnSpc>
                <a:buNone/>
              </a:pPr>
              <a:endParaRPr lang="en-US" sz="1150" dirty="0"/>
            </a:p>
          </p:txBody>
        </p:sp>
      </p:grpSp>
      <p:pic>
        <p:nvPicPr>
          <p:cNvPr id="17" name="Imagem 16">
            <a:extLst>
              <a:ext uri="{FF2B5EF4-FFF2-40B4-BE49-F238E27FC236}">
                <a16:creationId xmlns:a16="http://schemas.microsoft.com/office/drawing/2014/main" id="{6723FB6E-59F4-4271-91E6-9482D2E3AD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941" y="3201659"/>
            <a:ext cx="3632231" cy="3279097"/>
          </a:xfrm>
          <a:prstGeom prst="rect">
            <a:avLst/>
          </a:prstGeom>
        </p:spPr>
      </p:pic>
      <p:grpSp>
        <p:nvGrpSpPr>
          <p:cNvPr id="22" name="Agrupar 21">
            <a:extLst>
              <a:ext uri="{FF2B5EF4-FFF2-40B4-BE49-F238E27FC236}">
                <a16:creationId xmlns:a16="http://schemas.microsoft.com/office/drawing/2014/main" id="{1B67CDB6-8DF9-46EB-97D4-A5D3ED86B9EE}"/>
              </a:ext>
            </a:extLst>
          </p:cNvPr>
          <p:cNvGrpSpPr/>
          <p:nvPr/>
        </p:nvGrpSpPr>
        <p:grpSpPr>
          <a:xfrm>
            <a:off x="7955768" y="3201659"/>
            <a:ext cx="3753631" cy="2327074"/>
            <a:chOff x="8572583" y="1790502"/>
            <a:chExt cx="2963987" cy="3930848"/>
          </a:xfrm>
        </p:grpSpPr>
        <p:sp>
          <p:nvSpPr>
            <p:cNvPr id="23" name="Shape 4">
              <a:extLst>
                <a:ext uri="{FF2B5EF4-FFF2-40B4-BE49-F238E27FC236}">
                  <a16:creationId xmlns:a16="http://schemas.microsoft.com/office/drawing/2014/main" id="{A11253D3-565B-4142-AB2F-FE5632B0EE35}"/>
                </a:ext>
              </a:extLst>
            </p:cNvPr>
            <p:cNvSpPr/>
            <p:nvPr/>
          </p:nvSpPr>
          <p:spPr>
            <a:xfrm>
              <a:off x="8572583" y="1790502"/>
              <a:ext cx="2963987" cy="3930848"/>
            </a:xfrm>
            <a:prstGeom prst="roundRect">
              <a:avLst>
                <a:gd name="adj" fmla="val 2143"/>
              </a:avLst>
            </a:prstGeom>
            <a:solidFill>
              <a:srgbClr val="F2F2F2"/>
            </a:solidFill>
            <a:ln/>
          </p:spPr>
        </p:sp>
        <p:sp>
          <p:nvSpPr>
            <p:cNvPr id="24" name="Text 5">
              <a:extLst>
                <a:ext uri="{FF2B5EF4-FFF2-40B4-BE49-F238E27FC236}">
                  <a16:creationId xmlns:a16="http://schemas.microsoft.com/office/drawing/2014/main" id="{18BFF428-23D1-474C-A0A4-4FD1DFFCE11E}"/>
                </a:ext>
              </a:extLst>
            </p:cNvPr>
            <p:cNvSpPr/>
            <p:nvPr/>
          </p:nvSpPr>
          <p:spPr>
            <a:xfrm>
              <a:off x="8753951" y="1941711"/>
              <a:ext cx="2601252" cy="36284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 lnSpcReduction="10000"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 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{</a:t>
              </a:r>
              <a:endParaRPr lang="en-US" sz="1200" dirty="0"/>
            </a:p>
            <a:p>
              <a:pPr>
                <a:lnSpc>
                  <a:spcPct val="133000"/>
                </a:lnSpc>
              </a:pP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void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nomeFilme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() {</a:t>
              </a:r>
              <a:endParaRPr lang="en-US" sz="1200" dirty="0"/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print(‘O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nome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do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é $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titulo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');</a:t>
              </a:r>
              <a:endParaRPr lang="en-US" sz="1200" dirty="0"/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}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 </a:t>
              </a:r>
              <a:b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</a:b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 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bool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podeAssistir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(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int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idade) { 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   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return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idade &gt;= 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classificacaoMinima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;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 }</a:t>
              </a:r>
              <a:r>
                <a:rPr lang="pt-BR" sz="1200" dirty="0"/>
                <a:t>	</a:t>
              </a:r>
              <a:r>
                <a:rPr lang="en-US" sz="1200" dirty="0"/>
                <a:t>	</a:t>
              </a:r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}</a:t>
              </a:r>
            </a:p>
            <a:p>
              <a:pPr marL="0" indent="0" algn="l">
                <a:lnSpc>
                  <a:spcPct val="133000"/>
                </a:lnSpc>
                <a:buNone/>
              </a:pPr>
              <a:endParaRPr lang="en-US" sz="1150" dirty="0"/>
            </a:p>
          </p:txBody>
        </p:sp>
      </p:grp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C0957037-9315-43FB-8288-FB9F768B82CA}"/>
              </a:ext>
            </a:extLst>
          </p:cNvPr>
          <p:cNvSpPr txBox="1"/>
          <p:nvPr/>
        </p:nvSpPr>
        <p:spPr>
          <a:xfrm>
            <a:off x="5450499" y="2742811"/>
            <a:ext cx="1234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kern="0" spc="-24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</a:rPr>
              <a:t>Atributos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7034661E-CF89-43E8-93F5-118DDBF190C0}"/>
              </a:ext>
            </a:extLst>
          </p:cNvPr>
          <p:cNvSpPr txBox="1"/>
          <p:nvPr/>
        </p:nvSpPr>
        <p:spPr>
          <a:xfrm>
            <a:off x="8995746" y="2742811"/>
            <a:ext cx="1234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kern="0" spc="-24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</a:rPr>
              <a:t>Métodos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81494" y="873621"/>
            <a:ext cx="6296860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kern="0" spc="-89" dirty="0" err="1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Objeto</a:t>
            </a:r>
            <a:endParaRPr lang="en-US" sz="2950" dirty="0"/>
          </a:p>
        </p:txBody>
      </p:sp>
      <p:sp>
        <p:nvSpPr>
          <p:cNvPr id="4" name="Text 1"/>
          <p:cNvSpPr/>
          <p:nvPr/>
        </p:nvSpPr>
        <p:spPr>
          <a:xfrm>
            <a:off x="881495" y="1701683"/>
            <a:ext cx="10389042" cy="988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just">
              <a:lnSpc>
                <a:spcPct val="120000"/>
              </a:lnSpc>
              <a:buNone/>
            </a:pPr>
            <a:r>
              <a:rPr lang="en-US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Uma </a:t>
            </a:r>
            <a:r>
              <a:rPr lang="en-US" b="1" kern="0" spc="-24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classe</a:t>
            </a:r>
            <a:r>
              <a:rPr lang="en-US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é o molde — ela define quais informações e comportamentos um objeto terá. Um </a:t>
            </a:r>
            <a:r>
              <a:rPr lang="en-US" b="1" kern="0" spc="-24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objeto</a:t>
            </a:r>
            <a:r>
              <a:rPr lang="en-US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é a instância concreta criada a partir desse molde.</a:t>
            </a:r>
            <a:endParaRPr lang="en-US" dirty="0"/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6723FB6E-59F4-4271-91E6-9482D2E3AD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51" y="2748079"/>
            <a:ext cx="4134659" cy="3732678"/>
          </a:xfrm>
          <a:prstGeom prst="rect">
            <a:avLst/>
          </a:prstGeom>
        </p:spPr>
      </p:pic>
      <p:grpSp>
        <p:nvGrpSpPr>
          <p:cNvPr id="2" name="Agrupar 1">
            <a:extLst>
              <a:ext uri="{FF2B5EF4-FFF2-40B4-BE49-F238E27FC236}">
                <a16:creationId xmlns:a16="http://schemas.microsoft.com/office/drawing/2014/main" id="{63E85DE9-1C61-475E-B439-595AC68C4BBF}"/>
              </a:ext>
            </a:extLst>
          </p:cNvPr>
          <p:cNvGrpSpPr/>
          <p:nvPr/>
        </p:nvGrpSpPr>
        <p:grpSpPr>
          <a:xfrm>
            <a:off x="6674761" y="2665762"/>
            <a:ext cx="4247189" cy="3737945"/>
            <a:chOff x="4795211" y="2742811"/>
            <a:chExt cx="4247189" cy="3737945"/>
          </a:xfrm>
        </p:grpSpPr>
        <p:grpSp>
          <p:nvGrpSpPr>
            <p:cNvPr id="13" name="Agrupar 12">
              <a:extLst>
                <a:ext uri="{FF2B5EF4-FFF2-40B4-BE49-F238E27FC236}">
                  <a16:creationId xmlns:a16="http://schemas.microsoft.com/office/drawing/2014/main" id="{05582356-F247-4002-8F62-15D17ABDECEA}"/>
                </a:ext>
              </a:extLst>
            </p:cNvPr>
            <p:cNvGrpSpPr/>
            <p:nvPr/>
          </p:nvGrpSpPr>
          <p:grpSpPr>
            <a:xfrm>
              <a:off x="4795211" y="3201659"/>
              <a:ext cx="4247189" cy="1438074"/>
              <a:chOff x="8572583" y="1790502"/>
              <a:chExt cx="2963987" cy="3930848"/>
            </a:xfrm>
          </p:grpSpPr>
          <p:sp>
            <p:nvSpPr>
              <p:cNvPr id="8" name="Shape 4"/>
              <p:cNvSpPr/>
              <p:nvPr/>
            </p:nvSpPr>
            <p:spPr>
              <a:xfrm>
                <a:off x="8572583" y="1790502"/>
                <a:ext cx="2963987" cy="3930848"/>
              </a:xfrm>
              <a:prstGeom prst="roundRect">
                <a:avLst>
                  <a:gd name="adj" fmla="val 2143"/>
                </a:avLst>
              </a:prstGeom>
              <a:solidFill>
                <a:srgbClr val="F2F2F2"/>
              </a:solidFill>
              <a:ln/>
            </p:spPr>
          </p:sp>
          <p:sp>
            <p:nvSpPr>
              <p:cNvPr id="9" name="Text 5"/>
              <p:cNvSpPr/>
              <p:nvPr/>
            </p:nvSpPr>
            <p:spPr>
              <a:xfrm>
                <a:off x="8753951" y="1941711"/>
                <a:ext cx="2601252" cy="362843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rmAutofit/>
              </a:bodyPr>
              <a:lstStyle/>
              <a:p>
                <a:pPr marL="0" indent="0" algn="l">
                  <a:lnSpc>
                    <a:spcPct val="133000"/>
                  </a:lnSpc>
                  <a:buNone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objeto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</a:t>
                </a: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HomemAranha</a:t>
                </a:r>
                <a:endPara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endParaRPr>
              </a:p>
              <a:p>
                <a:pPr marL="171450" indent="-171450" algn="l">
                  <a:lnSpc>
                    <a:spcPct val="133000"/>
                  </a:lnSpc>
                  <a:buFont typeface="Arial" panose="020B0604020202020204" pitchFamily="34" charset="0"/>
                  <a:buChar char="•"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titulo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: </a:t>
                </a: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Homem-Aranha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: Um novo </a:t>
                </a: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dia</a:t>
                </a:r>
                <a:endPara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endParaRPr>
              </a:p>
              <a:p>
                <a:pPr marL="171450" indent="-171450" algn="l">
                  <a:lnSpc>
                    <a:spcPct val="133000"/>
                  </a:lnSpc>
                  <a:buFont typeface="Arial" panose="020B0604020202020204" pitchFamily="34" charset="0"/>
                  <a:buChar char="•"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genero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: </a:t>
                </a: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Ação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;</a:t>
                </a:r>
                <a:endParaRPr lang="en-US" sz="1150" dirty="0"/>
              </a:p>
              <a:p>
                <a:pPr marL="171450" indent="-171450" algn="l">
                  <a:lnSpc>
                    <a:spcPct val="133000"/>
                  </a:lnSpc>
                  <a:buFont typeface="Arial" panose="020B0604020202020204" pitchFamily="34" charset="0"/>
                  <a:buChar char="•"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classificacao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: 12;</a:t>
                </a:r>
              </a:p>
              <a:p>
                <a:pPr marL="171450" indent="-171450" algn="l">
                  <a:lnSpc>
                    <a:spcPct val="133000"/>
                  </a:lnSpc>
                  <a:buFont typeface="Arial" panose="020B0604020202020204" pitchFamily="34" charset="0"/>
                  <a:buChar char="•"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duracao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145;</a:t>
                </a:r>
              </a:p>
              <a:p>
                <a:pPr marL="0" indent="0" algn="l">
                  <a:lnSpc>
                    <a:spcPct val="133000"/>
                  </a:lnSpc>
                  <a:buNone/>
                </a:pPr>
                <a:endParaRPr lang="en-US" sz="1150" dirty="0"/>
              </a:p>
            </p:txBody>
          </p:sp>
        </p:grpSp>
        <p:sp>
          <p:nvSpPr>
            <p:cNvPr id="25" name="CaixaDeTexto 24">
              <a:extLst>
                <a:ext uri="{FF2B5EF4-FFF2-40B4-BE49-F238E27FC236}">
                  <a16:creationId xmlns:a16="http://schemas.microsoft.com/office/drawing/2014/main" id="{C0957037-9315-43FB-8288-FB9F768B82CA}"/>
                </a:ext>
              </a:extLst>
            </p:cNvPr>
            <p:cNvSpPr txBox="1"/>
            <p:nvPr/>
          </p:nvSpPr>
          <p:spPr>
            <a:xfrm>
              <a:off x="6301398" y="2742811"/>
              <a:ext cx="123481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kern="0" spc="-24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</a:rPr>
                <a:t>Atributos</a:t>
              </a:r>
            </a:p>
          </p:txBody>
        </p:sp>
        <p:grpSp>
          <p:nvGrpSpPr>
            <p:cNvPr id="16" name="Agrupar 15">
              <a:extLst>
                <a:ext uri="{FF2B5EF4-FFF2-40B4-BE49-F238E27FC236}">
                  <a16:creationId xmlns:a16="http://schemas.microsoft.com/office/drawing/2014/main" id="{28E58B70-8839-4AEB-9F69-E436702EA900}"/>
                </a:ext>
              </a:extLst>
            </p:cNvPr>
            <p:cNvGrpSpPr/>
            <p:nvPr/>
          </p:nvGrpSpPr>
          <p:grpSpPr>
            <a:xfrm>
              <a:off x="4795211" y="5042682"/>
              <a:ext cx="4247189" cy="1438074"/>
              <a:chOff x="8572583" y="1790502"/>
              <a:chExt cx="2963987" cy="3930848"/>
            </a:xfrm>
          </p:grpSpPr>
          <p:sp>
            <p:nvSpPr>
              <p:cNvPr id="18" name="Shape 4">
                <a:extLst>
                  <a:ext uri="{FF2B5EF4-FFF2-40B4-BE49-F238E27FC236}">
                    <a16:creationId xmlns:a16="http://schemas.microsoft.com/office/drawing/2014/main" id="{4F6D6129-D344-43F8-9D99-FAF009CB0A48}"/>
                  </a:ext>
                </a:extLst>
              </p:cNvPr>
              <p:cNvSpPr/>
              <p:nvPr/>
            </p:nvSpPr>
            <p:spPr>
              <a:xfrm>
                <a:off x="8572583" y="1790502"/>
                <a:ext cx="2963987" cy="3930848"/>
              </a:xfrm>
              <a:prstGeom prst="roundRect">
                <a:avLst>
                  <a:gd name="adj" fmla="val 2143"/>
                </a:avLst>
              </a:prstGeom>
              <a:solidFill>
                <a:srgbClr val="F2F2F2"/>
              </a:solidFill>
              <a:ln/>
            </p:spPr>
          </p:sp>
          <p:sp>
            <p:nvSpPr>
              <p:cNvPr id="19" name="Text 5">
                <a:extLst>
                  <a:ext uri="{FF2B5EF4-FFF2-40B4-BE49-F238E27FC236}">
                    <a16:creationId xmlns:a16="http://schemas.microsoft.com/office/drawing/2014/main" id="{D4C23212-4E64-4A51-B0F3-02271FC07FFF}"/>
                  </a:ext>
                </a:extLst>
              </p:cNvPr>
              <p:cNvSpPr/>
              <p:nvPr/>
            </p:nvSpPr>
            <p:spPr>
              <a:xfrm>
                <a:off x="8753951" y="1941711"/>
                <a:ext cx="2601252" cy="362843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rmAutofit/>
              </a:bodyPr>
              <a:lstStyle/>
              <a:p>
                <a:pPr marL="0" indent="0" algn="l">
                  <a:lnSpc>
                    <a:spcPct val="133000"/>
                  </a:lnSpc>
                  <a:buNone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objeto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</a:t>
                </a: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Sobrenatural</a:t>
                </a:r>
                <a:endPara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endParaRPr>
              </a:p>
              <a:p>
                <a:pPr marL="171450" indent="-171450" algn="l">
                  <a:lnSpc>
                    <a:spcPct val="133000"/>
                  </a:lnSpc>
                  <a:buFont typeface="Arial" panose="020B0604020202020204" pitchFamily="34" charset="0"/>
                  <a:buChar char="•"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titulo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: </a:t>
                </a: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Sobrenatural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: agora entre </a:t>
                </a: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nós</a:t>
                </a:r>
                <a:endPara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endParaRPr>
              </a:p>
              <a:p>
                <a:pPr marL="171450" indent="-171450" algn="l">
                  <a:lnSpc>
                    <a:spcPct val="133000"/>
                  </a:lnSpc>
                  <a:buFont typeface="Arial" panose="020B0604020202020204" pitchFamily="34" charset="0"/>
                  <a:buChar char="•"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genero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: Terror;</a:t>
                </a:r>
                <a:endParaRPr lang="en-US" sz="1150" dirty="0"/>
              </a:p>
              <a:p>
                <a:pPr marL="171450" indent="-171450" algn="l">
                  <a:lnSpc>
                    <a:spcPct val="133000"/>
                  </a:lnSpc>
                  <a:buFont typeface="Arial" panose="020B0604020202020204" pitchFamily="34" charset="0"/>
                  <a:buChar char="•"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classificacao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: 14;</a:t>
                </a:r>
              </a:p>
              <a:p>
                <a:pPr marL="171450" indent="-171450" algn="l">
                  <a:lnSpc>
                    <a:spcPct val="133000"/>
                  </a:lnSpc>
                  <a:buFont typeface="Arial" panose="020B0604020202020204" pitchFamily="34" charset="0"/>
                  <a:buChar char="•"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duracao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105;</a:t>
                </a:r>
              </a:p>
              <a:p>
                <a:pPr marL="0" indent="0" algn="l">
                  <a:lnSpc>
                    <a:spcPct val="133000"/>
                  </a:lnSpc>
                  <a:buNone/>
                </a:pPr>
                <a:endParaRPr lang="en-US" sz="1150" dirty="0"/>
              </a:p>
            </p:txBody>
          </p:sp>
        </p:grp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A7322A1A-4110-42E3-8F87-172ED5ED59E1}"/>
                </a:ext>
              </a:extLst>
            </p:cNvPr>
            <p:cNvSpPr txBox="1"/>
            <p:nvPr/>
          </p:nvSpPr>
          <p:spPr>
            <a:xfrm>
              <a:off x="6301398" y="4639733"/>
              <a:ext cx="123481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kern="0" spc="-24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</a:rPr>
                <a:t>Atributos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78605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ECD7E2-C0A3-482C-B83D-50400D422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300" b="1" kern="0" spc="-10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</a:rPr>
              <a:t>Criando nosso ambiente </a:t>
            </a:r>
            <a:r>
              <a:rPr lang="pt-BR" sz="3300" b="1" kern="0" spc="-100" dirty="0" err="1">
                <a:solidFill>
                  <a:srgbClr val="000000"/>
                </a:solidFill>
                <a:latin typeface="Inter Bold" pitchFamily="34" charset="0"/>
                <a:ea typeface="Inter Bold" pitchFamily="34" charset="-122"/>
              </a:rPr>
              <a:t>Dart</a:t>
            </a:r>
            <a:endParaRPr lang="pt-BR" sz="3300" b="1" kern="0" spc="-100" dirty="0">
              <a:solidFill>
                <a:srgbClr val="000000"/>
              </a:solidFill>
              <a:latin typeface="Inter Bold" pitchFamily="34" charset="0"/>
              <a:ea typeface="Inter Bold" pitchFamily="34" charset="-122"/>
            </a:endParaRP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EAC02035-5055-41F2-80F5-53C5F894E5EC}"/>
              </a:ext>
            </a:extLst>
          </p:cNvPr>
          <p:cNvGrpSpPr/>
          <p:nvPr/>
        </p:nvGrpSpPr>
        <p:grpSpPr>
          <a:xfrm>
            <a:off x="1281115" y="3292243"/>
            <a:ext cx="3086215" cy="2593380"/>
            <a:chOff x="749185" y="2132310"/>
            <a:chExt cx="3086215" cy="2593380"/>
          </a:xfrm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21F04C3E-9F4D-4C0F-AF3C-F2BC9D58CACF}"/>
                </a:ext>
              </a:extLst>
            </p:cNvPr>
            <p:cNvSpPr/>
            <p:nvPr/>
          </p:nvSpPr>
          <p:spPr>
            <a:xfrm>
              <a:off x="749185" y="2132310"/>
              <a:ext cx="3086215" cy="2593380"/>
            </a:xfrm>
            <a:prstGeom prst="roundRect">
              <a:avLst>
                <a:gd name="adj" fmla="val 1615"/>
              </a:avLst>
            </a:prstGeom>
            <a:solidFill>
              <a:srgbClr val="F2F2F2"/>
            </a:solidFill>
            <a:ln/>
          </p:spPr>
        </p:sp>
        <p:sp>
          <p:nvSpPr>
            <p:cNvPr id="5" name="Text 3">
              <a:extLst>
                <a:ext uri="{FF2B5EF4-FFF2-40B4-BE49-F238E27FC236}">
                  <a16:creationId xmlns:a16="http://schemas.microsoft.com/office/drawing/2014/main" id="{3FD61A11-EF33-4142-B00D-16646AC334BB}"/>
                </a:ext>
              </a:extLst>
            </p:cNvPr>
            <p:cNvSpPr/>
            <p:nvPr/>
          </p:nvSpPr>
          <p:spPr>
            <a:xfrm>
              <a:off x="953272" y="2352807"/>
              <a:ext cx="2551928" cy="215238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>
                <a:lnSpc>
                  <a:spcPct val="133000"/>
                </a:lnSpc>
              </a:pPr>
              <a:r>
                <a:rPr lang="pt-BR" sz="1300" kern="0" spc="-27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Para criar o ambiente</a:t>
              </a:r>
            </a:p>
            <a:p>
              <a:pPr indent="457200">
                <a:lnSpc>
                  <a:spcPct val="133000"/>
                </a:lnSpc>
              </a:pPr>
              <a:r>
                <a:rPr lang="pt-BR" sz="13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dart</a:t>
              </a:r>
              <a:r>
                <a:rPr lang="pt-BR" sz="13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pt-BR" sz="13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create</a:t>
              </a:r>
              <a:r>
                <a:rPr lang="pt-BR" sz="13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pt-BR" sz="13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meu_app</a:t>
              </a:r>
              <a:endParaRPr lang="pt-BR" sz="1300" kern="0" spc="-27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endParaRPr lang="pt-BR" sz="1300" kern="0" spc="-27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r>
                <a:rPr lang="pt-BR" sz="1300" kern="0" spc="-27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Para acessar a aplicação</a:t>
              </a:r>
            </a:p>
            <a:p>
              <a:pPr indent="457200">
                <a:lnSpc>
                  <a:spcPct val="133000"/>
                </a:lnSpc>
              </a:pPr>
              <a:r>
                <a:rPr lang="pt-BR" sz="13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cd</a:t>
              </a:r>
              <a:r>
                <a:rPr lang="pt-BR" sz="13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pt-BR" sz="13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meu_app</a:t>
              </a:r>
              <a:endParaRPr lang="pt-BR" sz="1300" kern="0" spc="-27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 indent="457200">
                <a:lnSpc>
                  <a:spcPct val="133000"/>
                </a:lnSpc>
              </a:pPr>
              <a:endParaRPr lang="pt-BR" sz="1300" kern="0" spc="-27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r>
                <a:rPr lang="pt-BR" sz="1300" kern="0" spc="-27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Para rodar a aplicação</a:t>
              </a:r>
            </a:p>
            <a:p>
              <a:pPr indent="457200">
                <a:lnSpc>
                  <a:spcPct val="133000"/>
                </a:lnSpc>
              </a:pPr>
              <a:r>
                <a:rPr lang="pt-BR" sz="13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dart</a:t>
              </a:r>
              <a:r>
                <a:rPr lang="pt-BR" sz="13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pt-BR" sz="13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run</a:t>
              </a:r>
              <a:endParaRPr lang="en-US" sz="1300" dirty="0"/>
            </a:p>
          </p:txBody>
        </p:sp>
      </p:grp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FFD67019-8671-4933-B859-0932C19CB5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6604320" cy="669925"/>
          </a:xfrm>
        </p:spPr>
        <p:txBody>
          <a:bodyPr/>
          <a:lstStyle/>
          <a:p>
            <a:r>
              <a:rPr lang="pt-BR" dirty="0"/>
              <a:t>Acesse o terminal do </a:t>
            </a:r>
            <a:r>
              <a:rPr lang="pt-BR" dirty="0" err="1"/>
              <a:t>vscode</a:t>
            </a:r>
            <a:r>
              <a:rPr lang="pt-BR" dirty="0"/>
              <a:t> e execute os seguintes comandos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AC64B435-BA5B-4744-9651-C03BED5DE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8445" y="3248087"/>
            <a:ext cx="5262439" cy="2681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273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ECD7E2-C0A3-482C-B83D-50400D422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300" b="1" kern="0" spc="-10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</a:rPr>
              <a:t>Criando nossa primeira classe e objeto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E51ADC27-1BDA-4FA0-A1F5-93279A7E3D66}"/>
              </a:ext>
            </a:extLst>
          </p:cNvPr>
          <p:cNvGrpSpPr/>
          <p:nvPr/>
        </p:nvGrpSpPr>
        <p:grpSpPr>
          <a:xfrm>
            <a:off x="749185" y="2480732"/>
            <a:ext cx="4974281" cy="3921853"/>
            <a:chOff x="749185" y="1978620"/>
            <a:chExt cx="5226911" cy="4423966"/>
          </a:xfrm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21F04C3E-9F4D-4C0F-AF3C-F2BC9D58CACF}"/>
                </a:ext>
              </a:extLst>
            </p:cNvPr>
            <p:cNvSpPr/>
            <p:nvPr/>
          </p:nvSpPr>
          <p:spPr>
            <a:xfrm>
              <a:off x="749185" y="1978620"/>
              <a:ext cx="5226911" cy="4423966"/>
            </a:xfrm>
            <a:prstGeom prst="roundRect">
              <a:avLst>
                <a:gd name="adj" fmla="val 1615"/>
              </a:avLst>
            </a:prstGeom>
            <a:solidFill>
              <a:srgbClr val="F2F2F2"/>
            </a:solidFill>
            <a:ln/>
          </p:spPr>
        </p:sp>
        <p:sp>
          <p:nvSpPr>
            <p:cNvPr id="5" name="Text 3">
              <a:extLst>
                <a:ext uri="{FF2B5EF4-FFF2-40B4-BE49-F238E27FC236}">
                  <a16:creationId xmlns:a16="http://schemas.microsoft.com/office/drawing/2014/main" id="{3FD61A11-EF33-4142-B00D-16646AC334BB}"/>
                </a:ext>
              </a:extLst>
            </p:cNvPr>
            <p:cNvSpPr/>
            <p:nvPr/>
          </p:nvSpPr>
          <p:spPr>
            <a:xfrm>
              <a:off x="953272" y="2148681"/>
              <a:ext cx="4818736" cy="40838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ct val="133000"/>
                </a:lnSpc>
              </a:pP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 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{</a:t>
              </a:r>
              <a:endParaRPr lang="en-US" sz="1200" dirty="0"/>
            </a:p>
            <a:p>
              <a:pPr>
                <a:lnSpc>
                  <a:spcPct val="133000"/>
                </a:lnSpc>
              </a:pP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it-IT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String titulo = "";</a:t>
              </a:r>
            </a:p>
            <a:p>
              <a:pPr>
                <a:lnSpc>
                  <a:spcPct val="133000"/>
                </a:lnSpc>
              </a:pPr>
              <a:r>
                <a:rPr lang="it-IT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String genero = "";</a:t>
              </a:r>
            </a:p>
            <a:p>
              <a:pPr>
                <a:lnSpc>
                  <a:spcPct val="133000"/>
                </a:lnSpc>
              </a:pPr>
              <a:r>
                <a:rPr lang="it-IT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int classificacao = 0;</a:t>
              </a:r>
            </a:p>
            <a:p>
              <a:pPr>
                <a:lnSpc>
                  <a:spcPct val="133000"/>
                </a:lnSpc>
              </a:pPr>
              <a:r>
                <a:rPr lang="it-IT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int duracao = 0 ;</a:t>
              </a:r>
            </a:p>
            <a:p>
              <a:pPr>
                <a:lnSpc>
                  <a:spcPct val="133000"/>
                </a:lnSpc>
              </a:pPr>
              <a:endParaRPr lang="en-US" sz="1200" kern="0" spc="-24" dirty="0">
                <a:solidFill>
                  <a:srgbClr val="D73A49"/>
                </a:solidFill>
                <a:latin typeface="Consolas" pitchFamily="34" charset="0"/>
              </a:endParaRPr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void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infoFilme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() {</a:t>
              </a:r>
              <a:endParaRPr lang="en-US" sz="1200" dirty="0"/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print(“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titulo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$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titulo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Gênero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$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genero,classificação</a:t>
              </a:r>
              <a:endParaRPr lang="en-US" sz="1200" kern="0" spc="-27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$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classificacao</a:t>
              </a: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e 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tem</a:t>
              </a: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duração</a:t>
              </a: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de $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duracao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”);</a:t>
              </a:r>
              <a:endParaRPr lang="en-US" sz="1200" dirty="0"/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}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 </a:t>
              </a:r>
              <a:b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</a:b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 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bool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podeAssistir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(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int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idade) { 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   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return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idade &gt;= </a:t>
              </a:r>
              <a:r>
                <a:rPr lang="it-IT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classificacao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;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 } </a:t>
              </a:r>
              <a:r>
                <a:rPr lang="en-US" sz="1200" dirty="0"/>
                <a:t>	</a:t>
              </a:r>
            </a:p>
            <a:p>
              <a:pPr>
                <a:lnSpc>
                  <a:spcPct val="133000"/>
                </a:lnSpc>
              </a:pP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}</a:t>
              </a:r>
            </a:p>
          </p:txBody>
        </p:sp>
      </p:grp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CA30FD8-9E41-4F53-9A43-998038E5CEB3}"/>
              </a:ext>
            </a:extLst>
          </p:cNvPr>
          <p:cNvSpPr txBox="1"/>
          <p:nvPr/>
        </p:nvSpPr>
        <p:spPr>
          <a:xfrm>
            <a:off x="1496427" y="2008140"/>
            <a:ext cx="3132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Classe - Filme</a:t>
            </a: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C66CEC46-9A65-4D34-A990-5A2712889C40}"/>
              </a:ext>
            </a:extLst>
          </p:cNvPr>
          <p:cNvGrpSpPr/>
          <p:nvPr/>
        </p:nvGrpSpPr>
        <p:grpSpPr>
          <a:xfrm>
            <a:off x="6815668" y="2482372"/>
            <a:ext cx="4627148" cy="3921853"/>
            <a:chOff x="749184" y="1978620"/>
            <a:chExt cx="5226911" cy="4423966"/>
          </a:xfrm>
        </p:grpSpPr>
        <p:sp>
          <p:nvSpPr>
            <p:cNvPr id="12" name="Shape 2">
              <a:extLst>
                <a:ext uri="{FF2B5EF4-FFF2-40B4-BE49-F238E27FC236}">
                  <a16:creationId xmlns:a16="http://schemas.microsoft.com/office/drawing/2014/main" id="{DA80A062-F6CE-4586-B11F-FCB108E1DCD5}"/>
                </a:ext>
              </a:extLst>
            </p:cNvPr>
            <p:cNvSpPr/>
            <p:nvPr/>
          </p:nvSpPr>
          <p:spPr>
            <a:xfrm>
              <a:off x="749184" y="1978620"/>
              <a:ext cx="5226911" cy="4423966"/>
            </a:xfrm>
            <a:prstGeom prst="roundRect">
              <a:avLst>
                <a:gd name="adj" fmla="val 1615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 dirty="0"/>
            </a:p>
          </p:txBody>
        </p:sp>
        <p:sp>
          <p:nvSpPr>
            <p:cNvPr id="13" name="Text 3">
              <a:extLst>
                <a:ext uri="{FF2B5EF4-FFF2-40B4-BE49-F238E27FC236}">
                  <a16:creationId xmlns:a16="http://schemas.microsoft.com/office/drawing/2014/main" id="{2CD653F1-C2BE-4B4B-A59A-9E01997A01F0}"/>
                </a:ext>
              </a:extLst>
            </p:cNvPr>
            <p:cNvSpPr/>
            <p:nvPr/>
          </p:nvSpPr>
          <p:spPr>
            <a:xfrm>
              <a:off x="953272" y="2148681"/>
              <a:ext cx="4818736" cy="40838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ct val="133000"/>
                </a:lnSpc>
              </a:pP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void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main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() {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Filme </a:t>
              </a: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= Filme();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filme.titulo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= "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Homem-Aranha</a:t>
              </a: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: Um novo 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dia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";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filme.genero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= "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Ação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";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filme.classificacao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= 12;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filme.duracao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= 145;</a:t>
              </a:r>
            </a:p>
            <a:p>
              <a:pPr>
                <a:lnSpc>
                  <a:spcPct val="133000"/>
                </a:lnSpc>
              </a:pPr>
              <a:endParaRPr lang="pt-BR" sz="1200" kern="0" spc="-24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filme.infoFilme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();</a:t>
              </a:r>
            </a:p>
            <a:p>
              <a:pPr>
                <a:lnSpc>
                  <a:spcPct val="133000"/>
                </a:lnSpc>
              </a:pPr>
              <a:endParaRPr lang="pt-BR" sz="1200" kern="0" spc="-24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print(</a:t>
              </a: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filme.podeAssistir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(15));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}</a:t>
              </a:r>
              <a:endParaRPr lang="en-US" sz="1200" kern="0" spc="-24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</p:txBody>
        </p:sp>
      </p:grp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05EB8DE2-2A9A-43BE-AEBF-165914C7584B}"/>
              </a:ext>
            </a:extLst>
          </p:cNvPr>
          <p:cNvSpPr txBox="1"/>
          <p:nvPr/>
        </p:nvSpPr>
        <p:spPr>
          <a:xfrm>
            <a:off x="7562909" y="2008140"/>
            <a:ext cx="3132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Objeto – Homem Aranha</a:t>
            </a:r>
          </a:p>
        </p:txBody>
      </p:sp>
    </p:spTree>
    <p:extLst>
      <p:ext uri="{BB962C8B-B14F-4D97-AF65-F5344CB8AC3E}">
        <p14:creationId xmlns:p14="http://schemas.microsoft.com/office/powerpoint/2010/main" val="38544618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286" y="861417"/>
            <a:ext cx="10868745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b="1" kern="0" spc="-10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 Problema da Inicialização Manual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55431" y="1860087"/>
            <a:ext cx="4500770" cy="480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1600" kern="0" spc="-27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Atribuir</a:t>
            </a: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kern="0" spc="-27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</a:t>
            </a: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kern="0" spc="-27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atributo</a:t>
            </a: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kern="0" spc="-27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manualmente</a:t>
            </a: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é </a:t>
            </a:r>
            <a:r>
              <a:rPr lang="en-US" sz="1600" b="1" kern="0" spc="-27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verboso</a:t>
            </a:r>
            <a:r>
              <a:rPr lang="en-US" sz="1600" b="1" kern="0" spc="-27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e </a:t>
            </a:r>
            <a:r>
              <a:rPr lang="en-US" sz="1600" b="1" kern="0" spc="-27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propenso</a:t>
            </a:r>
            <a:r>
              <a:rPr lang="en-US" sz="1600" b="1" kern="0" spc="-27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a </a:t>
            </a:r>
            <a:r>
              <a:rPr lang="en-US" sz="1600" b="1" kern="0" spc="-27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erros</a:t>
            </a: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</a:t>
            </a:r>
            <a:r>
              <a:rPr lang="pt-BR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construtor é usado para inicializar os atributos de um objeto no momento em que ele é criado, deixando o código mais organizado e seguro.</a:t>
            </a:r>
          </a:p>
          <a:p>
            <a:pPr algn="just">
              <a:lnSpc>
                <a:spcPct val="150000"/>
              </a:lnSpc>
            </a:pPr>
            <a:endParaRPr lang="pt-BR" sz="1600" kern="0" spc="-27" dirty="0">
              <a:solidFill>
                <a:srgbClr val="272525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algn="just">
              <a:lnSpc>
                <a:spcPct val="150000"/>
              </a:lnSpc>
            </a:pPr>
            <a:r>
              <a:rPr lang="pt-BR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 </a:t>
            </a:r>
            <a:r>
              <a:rPr lang="pt-BR" sz="1600" kern="0" spc="-27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this.nome</a:t>
            </a:r>
            <a:r>
              <a:rPr lang="pt-BR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o </a:t>
            </a:r>
            <a:r>
              <a:rPr lang="pt-BR" sz="1600" kern="0" spc="-27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Dart</a:t>
            </a:r>
            <a:r>
              <a:rPr lang="pt-BR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atribui automaticamente os valores aos atributos, evitando código repetitivo e reduzindo a possibilidade de erros.</a:t>
            </a:r>
            <a:endParaRPr lang="en-US" sz="1600" dirty="0"/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D0642EFA-A20D-472E-BAF8-FD80B1470BC4}"/>
              </a:ext>
            </a:extLst>
          </p:cNvPr>
          <p:cNvGrpSpPr/>
          <p:nvPr/>
        </p:nvGrpSpPr>
        <p:grpSpPr>
          <a:xfrm>
            <a:off x="5503333" y="2049694"/>
            <a:ext cx="6033237" cy="4423966"/>
            <a:chOff x="6309659" y="1597620"/>
            <a:chExt cx="5226911" cy="4423966"/>
          </a:xfrm>
        </p:grpSpPr>
        <p:sp>
          <p:nvSpPr>
            <p:cNvPr id="4" name="Shape 2"/>
            <p:cNvSpPr/>
            <p:nvPr/>
          </p:nvSpPr>
          <p:spPr>
            <a:xfrm>
              <a:off x="6309659" y="1597620"/>
              <a:ext cx="5226911" cy="4423966"/>
            </a:xfrm>
            <a:prstGeom prst="roundRect">
              <a:avLst>
                <a:gd name="adj" fmla="val 1615"/>
              </a:avLst>
            </a:prstGeom>
            <a:solidFill>
              <a:srgbClr val="F2F2F2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13746" y="1767681"/>
              <a:ext cx="4818736" cy="40838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void main() {</a:t>
              </a:r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=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("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Homem-Aranha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: Um novo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dia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", 12, 145, "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Ação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");</a:t>
              </a:r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}</a:t>
              </a:r>
            </a:p>
            <a:p>
              <a:pPr>
                <a:lnSpc>
                  <a:spcPct val="133000"/>
                </a:lnSpc>
              </a:pPr>
              <a:endParaRPr lang="en-US" sz="1200" kern="0" spc="-27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endParaRPr lang="en-US" sz="1200" kern="0" spc="-27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{</a:t>
              </a:r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String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titulo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String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genero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int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classificacao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int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duracao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</a:p>
            <a:p>
              <a:pPr>
                <a:lnSpc>
                  <a:spcPct val="133000"/>
                </a:lnSpc>
              </a:pPr>
              <a:endParaRPr lang="en-US" sz="1200" kern="0" spc="-27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this.titulo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this.classificacao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this.duracao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this.genero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);</a:t>
              </a:r>
            </a:p>
            <a:p>
              <a:pPr>
                <a:lnSpc>
                  <a:spcPct val="133000"/>
                </a:lnSpc>
              </a:pPr>
              <a:endParaRPr lang="en-US" sz="1200" kern="0" spc="-27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3156" y="861566"/>
            <a:ext cx="10868745" cy="4430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kern="0" spc="-84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Parâmetros Posicionais × Nomeados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803156" y="1570286"/>
            <a:ext cx="5261439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4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Posicional</a:t>
            </a:r>
            <a:endParaRPr lang="en-US" sz="1350" dirty="0"/>
          </a:p>
        </p:txBody>
      </p: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CB8EE238-AEC3-4A85-8B6C-5EEAE3F4B620}"/>
              </a:ext>
            </a:extLst>
          </p:cNvPr>
          <p:cNvGrpSpPr/>
          <p:nvPr/>
        </p:nvGrpSpPr>
        <p:grpSpPr>
          <a:xfrm>
            <a:off x="803156" y="1911301"/>
            <a:ext cx="5700967" cy="510183"/>
            <a:chOff x="661475" y="1689795"/>
            <a:chExt cx="5700967" cy="510183"/>
          </a:xfrm>
        </p:grpSpPr>
        <p:sp>
          <p:nvSpPr>
            <p:cNvPr id="4" name="Shape 2"/>
            <p:cNvSpPr/>
            <p:nvPr/>
          </p:nvSpPr>
          <p:spPr>
            <a:xfrm>
              <a:off x="661475" y="1689795"/>
              <a:ext cx="5261439" cy="510183"/>
            </a:xfrm>
            <a:prstGeom prst="roundRect">
              <a:avLst>
                <a:gd name="adj" fmla="val 11670"/>
              </a:avLst>
            </a:prstGeom>
            <a:solidFill>
              <a:srgbClr val="F2F2F2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831532" y="1831479"/>
              <a:ext cx="5530910" cy="226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ct val="133000"/>
                </a:lnSpc>
              </a:pPr>
              <a:r>
                <a:rPr lang="pt-BR" sz="1100" kern="0" spc="-22" dirty="0">
                  <a:solidFill>
                    <a:srgbClr val="E3620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Filme("Homem-Aranha: Um novo dia", 12, 145, "Ação")</a:t>
              </a:r>
              <a:endParaRPr lang="en-US" sz="1100" dirty="0"/>
            </a:p>
          </p:txBody>
        </p:sp>
      </p:grpSp>
      <p:sp>
        <p:nvSpPr>
          <p:cNvPr id="6" name="Text 4"/>
          <p:cNvSpPr/>
          <p:nvPr/>
        </p:nvSpPr>
        <p:spPr>
          <a:xfrm>
            <a:off x="803156" y="2541042"/>
            <a:ext cx="5871023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Rápido, mas a </a:t>
            </a:r>
            <a:r>
              <a:rPr lang="en-US" sz="1100" b="1" kern="0" spc="-2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ordem importa</a:t>
            </a: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Difícil de ler quando há muitos parâmetros.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03156" y="2894459"/>
            <a:ext cx="5261439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3156" y="3068489"/>
            <a:ext cx="5261439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4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Nomeado </a:t>
            </a:r>
            <a:r>
              <a:rPr lang="en-US" sz="1350" b="1" kern="0" spc="-42" dirty="0">
                <a:solidFill>
                  <a:srgbClr val="22C55E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✓ Recomendado</a:t>
            </a:r>
            <a:endParaRPr lang="en-US" sz="1350" dirty="0"/>
          </a:p>
        </p:txBody>
      </p:sp>
      <p:grpSp>
        <p:nvGrpSpPr>
          <p:cNvPr id="17" name="Agrupar 16">
            <a:extLst>
              <a:ext uri="{FF2B5EF4-FFF2-40B4-BE49-F238E27FC236}">
                <a16:creationId xmlns:a16="http://schemas.microsoft.com/office/drawing/2014/main" id="{10F9DD25-C948-4070-9F9A-90E6C9B1FBCF}"/>
              </a:ext>
            </a:extLst>
          </p:cNvPr>
          <p:cNvGrpSpPr/>
          <p:nvPr/>
        </p:nvGrpSpPr>
        <p:grpSpPr>
          <a:xfrm>
            <a:off x="803156" y="3409504"/>
            <a:ext cx="5261439" cy="1711026"/>
            <a:chOff x="661475" y="3187998"/>
            <a:chExt cx="5261439" cy="1417439"/>
          </a:xfrm>
        </p:grpSpPr>
        <p:sp>
          <p:nvSpPr>
            <p:cNvPr id="9" name="Shape 7"/>
            <p:cNvSpPr/>
            <p:nvPr/>
          </p:nvSpPr>
          <p:spPr>
            <a:xfrm>
              <a:off x="661475" y="3187998"/>
              <a:ext cx="5261439" cy="1417439"/>
            </a:xfrm>
            <a:prstGeom prst="roundRect">
              <a:avLst>
                <a:gd name="adj" fmla="val 4201"/>
              </a:avLst>
            </a:prstGeom>
            <a:solidFill>
              <a:srgbClr val="F2F2F2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831532" y="3329682"/>
              <a:ext cx="4921325" cy="11340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1100" kern="0" spc="-22" dirty="0" err="1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100" kern="0" spc="-22" dirty="0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</a:t>
              </a:r>
              <a:endParaRPr lang="en-US" sz="1100" dirty="0"/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en-US" sz="1100" kern="0" spc="-22" dirty="0" err="1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titulo</a:t>
              </a:r>
              <a:r>
                <a:rPr lang="en-US" sz="1100" kern="0" spc="-22" dirty="0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: "</a:t>
              </a:r>
              <a:r>
                <a:rPr lang="en-US" sz="1100" kern="0" spc="-22" dirty="0" err="1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Homem-Aranha</a:t>
              </a:r>
              <a:r>
                <a:rPr lang="en-US" sz="1100" kern="0" spc="-22" dirty="0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: Um novo </a:t>
              </a:r>
              <a:r>
                <a:rPr lang="en-US" sz="1100" kern="0" spc="-22" dirty="0" err="1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dia</a:t>
              </a:r>
              <a:r>
                <a:rPr lang="en-US" sz="1100" kern="0" spc="-22" dirty="0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",</a:t>
              </a:r>
              <a:endParaRPr lang="en-US" sz="1100" dirty="0"/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en-US" sz="1100" kern="0" spc="-22" dirty="0" err="1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genero</a:t>
              </a:r>
              <a:r>
                <a:rPr lang="en-US" sz="1100" kern="0" spc="-22" dirty="0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: “</a:t>
              </a:r>
              <a:r>
                <a:rPr lang="en-US" sz="1100" kern="0" spc="-22" dirty="0" err="1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Ação</a:t>
              </a:r>
              <a:r>
                <a:rPr lang="en-US" sz="1100" kern="0" spc="-22" dirty="0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”,</a:t>
              </a:r>
              <a:endParaRPr lang="en-US" sz="1100" dirty="0"/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en-US" sz="1100" kern="0" spc="-22" dirty="0" err="1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classificacao</a:t>
              </a:r>
              <a:r>
                <a:rPr lang="en-US" sz="1100" kern="0" spc="-22" dirty="0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: 12,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22863A"/>
                  </a:solidFill>
                  <a:latin typeface="Consolas" pitchFamily="34" charset="0"/>
                </a:rPr>
                <a:t>  </a:t>
              </a:r>
              <a:r>
                <a:rPr lang="en-US" sz="1100" kern="0" spc="-22" dirty="0" err="1">
                  <a:solidFill>
                    <a:srgbClr val="22863A"/>
                  </a:solidFill>
                  <a:latin typeface="Consolas" pitchFamily="34" charset="0"/>
                </a:rPr>
                <a:t>duracao</a:t>
              </a:r>
              <a:r>
                <a:rPr lang="en-US" sz="1100" kern="0" spc="-22" dirty="0">
                  <a:solidFill>
                    <a:srgbClr val="22863A"/>
                  </a:solidFill>
                  <a:latin typeface="Consolas" pitchFamily="34" charset="0"/>
                </a:rPr>
                <a:t>: 145</a:t>
              </a:r>
              <a:endParaRPr lang="en-US" sz="1100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100" kern="0" spc="-22" dirty="0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);</a:t>
              </a:r>
              <a:endParaRPr lang="en-US" sz="1100" dirty="0"/>
            </a:p>
          </p:txBody>
        </p:sp>
      </p:grpSp>
      <p:sp>
        <p:nvSpPr>
          <p:cNvPr id="11" name="Text 9"/>
          <p:cNvSpPr/>
          <p:nvPr/>
        </p:nvSpPr>
        <p:spPr>
          <a:xfrm>
            <a:off x="803156" y="5275793"/>
            <a:ext cx="5871023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Mais legível, ordem livre e </a:t>
            </a:r>
            <a:r>
              <a:rPr lang="en-US" sz="1100" kern="0" spc="-22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required</a:t>
            </a: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garante null safety.</a:t>
            </a:r>
            <a:endParaRPr lang="en-US" sz="1100" dirty="0"/>
          </a:p>
        </p:txBody>
      </p: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7A024263-5553-46C7-8201-23B5F4A36B11}"/>
              </a:ext>
            </a:extLst>
          </p:cNvPr>
          <p:cNvGrpSpPr/>
          <p:nvPr/>
        </p:nvGrpSpPr>
        <p:grpSpPr>
          <a:xfrm>
            <a:off x="6416812" y="1583581"/>
            <a:ext cx="5261439" cy="4139208"/>
            <a:chOff x="6275131" y="1362075"/>
            <a:chExt cx="5261439" cy="4139208"/>
          </a:xfrm>
        </p:grpSpPr>
        <p:sp>
          <p:nvSpPr>
            <p:cNvPr id="12" name="Shape 10"/>
            <p:cNvSpPr/>
            <p:nvPr/>
          </p:nvSpPr>
          <p:spPr>
            <a:xfrm>
              <a:off x="6275131" y="1362075"/>
              <a:ext cx="5261439" cy="4139208"/>
            </a:xfrm>
            <a:prstGeom prst="roundRect">
              <a:avLst>
                <a:gd name="adj" fmla="val 1438"/>
              </a:avLst>
            </a:prstGeom>
            <a:solidFill>
              <a:srgbClr val="F2F2F2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445188" y="1503759"/>
              <a:ext cx="4921325" cy="385583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 fontScale="92500" lnSpcReduction="20000"/>
            </a:bodyPr>
            <a:lstStyle/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void main() {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=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titulo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: "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Homem-Aranha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: Um novo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dia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",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genero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: "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Ação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",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classificacao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: 12,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duracao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: 145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);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}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{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String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titulo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String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genero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int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classificacao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int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duracao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</a:p>
            <a:p>
              <a:pPr>
                <a:lnSpc>
                  <a:spcPct val="133000"/>
                </a:lnSpc>
              </a:pPr>
              <a:endParaRPr lang="en-US" sz="1100" kern="0" spc="-22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({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required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this.titulo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required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this.classificacao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required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this.duracao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required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this.genero</a:t>
              </a:r>
              <a:endParaRPr lang="en-US" sz="1100" kern="0" spc="-22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});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}</a:t>
              </a:r>
            </a:p>
          </p:txBody>
        </p:sp>
      </p:grp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37" y="6119267"/>
            <a:ext cx="177200" cy="141684"/>
          </a:xfrm>
          <a:prstGeom prst="rect">
            <a:avLst/>
          </a:prstGeom>
        </p:spPr>
      </p:pic>
      <p:grpSp>
        <p:nvGrpSpPr>
          <p:cNvPr id="20" name="Agrupar 19">
            <a:extLst>
              <a:ext uri="{FF2B5EF4-FFF2-40B4-BE49-F238E27FC236}">
                <a16:creationId xmlns:a16="http://schemas.microsoft.com/office/drawing/2014/main" id="{15916BF1-C7EF-4AAC-A821-0291B34BE5FB}"/>
              </a:ext>
            </a:extLst>
          </p:cNvPr>
          <p:cNvGrpSpPr/>
          <p:nvPr/>
        </p:nvGrpSpPr>
        <p:grpSpPr>
          <a:xfrm>
            <a:off x="803156" y="5961906"/>
            <a:ext cx="11336649" cy="477540"/>
            <a:chOff x="661475" y="5740400"/>
            <a:chExt cx="11336649" cy="477540"/>
          </a:xfrm>
        </p:grpSpPr>
        <p:sp>
          <p:nvSpPr>
            <p:cNvPr id="14" name="Shape 12"/>
            <p:cNvSpPr/>
            <p:nvPr/>
          </p:nvSpPr>
          <p:spPr>
            <a:xfrm>
              <a:off x="661475" y="5740400"/>
              <a:ext cx="10868745" cy="477540"/>
            </a:xfrm>
            <a:prstGeom prst="roundRect">
              <a:avLst>
                <a:gd name="adj" fmla="val 12468"/>
              </a:avLst>
            </a:prstGeom>
            <a:solidFill>
              <a:srgbClr val="B6D6FC"/>
            </a:solidFill>
            <a:ln/>
          </p:spPr>
        </p:sp>
        <p:sp>
          <p:nvSpPr>
            <p:cNvPr id="16" name="Text 13"/>
            <p:cNvSpPr/>
            <p:nvPr/>
          </p:nvSpPr>
          <p:spPr>
            <a:xfrm>
              <a:off x="1122037" y="5882084"/>
              <a:ext cx="10876087" cy="20478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100" kern="0" spc="-22" dirty="0">
                  <a:solidFill>
                    <a:srgbClr val="000000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💬 Em Flutter, quase todos os widgets usam parâmetros nomeados. Adotar essa prática agora facilita muito o aprendizado futuro!</a:t>
              </a:r>
              <a:endParaRPr lang="en-US" sz="1100" dirty="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Tema1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a1" id="{08B486C1-EED8-4560-A43C-DADF57CF6D3E}" vid="{41356845-1778-46A9-88C9-DA0406DFE36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Tema1</Template>
  <TotalTime>80</TotalTime>
  <Words>762</Words>
  <Application>Microsoft Office PowerPoint</Application>
  <PresentationFormat>Widescreen</PresentationFormat>
  <Paragraphs>142</Paragraphs>
  <Slides>8</Slides>
  <Notes>6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7" baseType="lpstr">
      <vt:lpstr>Arial</vt:lpstr>
      <vt:lpstr>Calibri Light</vt:lpstr>
      <vt:lpstr>Inter</vt:lpstr>
      <vt:lpstr>Inter Light</vt:lpstr>
      <vt:lpstr>Calibri</vt:lpstr>
      <vt:lpstr>Times New Roman</vt:lpstr>
      <vt:lpstr>Consolas</vt:lpstr>
      <vt:lpstr>Inter Bold</vt:lpstr>
      <vt:lpstr>Tema1</vt:lpstr>
      <vt:lpstr>Apresentação do PowerPoint</vt:lpstr>
      <vt:lpstr>Apresentação do PowerPoint</vt:lpstr>
      <vt:lpstr>Apresentação do PowerPoint</vt:lpstr>
      <vt:lpstr>Apresentação do PowerPoint</vt:lpstr>
      <vt:lpstr>Criando nosso ambiente Dart</vt:lpstr>
      <vt:lpstr>Criando nossa primeira classe e objeto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/>
  <cp:lastModifiedBy>Pedro Henrique Miho de Souza</cp:lastModifiedBy>
  <cp:revision>13</cp:revision>
  <dcterms:created xsi:type="dcterms:W3CDTF">2026-08-24T12:14:59Z</dcterms:created>
  <dcterms:modified xsi:type="dcterms:W3CDTF">2026-08-24T21:05:29Z</dcterms:modified>
</cp:coreProperties>
</file>