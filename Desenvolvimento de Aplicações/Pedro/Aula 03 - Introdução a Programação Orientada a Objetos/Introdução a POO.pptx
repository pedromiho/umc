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7" r:id="rId6"/>
    <p:sldId id="265" r:id="rId7"/>
    <p:sldId id="260" r:id="rId8"/>
    <p:sldId id="261" r:id="rId9"/>
    <p:sldId id="268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71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40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45750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6808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8836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4871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5408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8665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4733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2492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1840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18050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6494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32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5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764867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0E16DD16-0717-48CC-A2B4-295DAA44BC51}"/>
              </a:ext>
            </a:extLst>
          </p:cNvPr>
          <p:cNvGrpSpPr/>
          <p:nvPr/>
        </p:nvGrpSpPr>
        <p:grpSpPr>
          <a:xfrm>
            <a:off x="822342" y="914896"/>
            <a:ext cx="3459572" cy="243979"/>
            <a:chOff x="661475" y="1295896"/>
            <a:chExt cx="3459572" cy="243979"/>
          </a:xfrm>
        </p:grpSpPr>
        <p:sp>
          <p:nvSpPr>
            <p:cNvPr id="3" name="Shape 0"/>
            <p:cNvSpPr/>
            <p:nvPr/>
          </p:nvSpPr>
          <p:spPr>
            <a:xfrm>
              <a:off x="661475" y="1295896"/>
              <a:ext cx="2946326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 1"/>
            <p:cNvSpPr/>
            <p:nvPr/>
          </p:nvSpPr>
          <p:spPr>
            <a:xfrm>
              <a:off x="757814" y="1344017"/>
              <a:ext cx="3363233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DESENVOLVIMENTO DE APLICAÇÕES</a:t>
              </a:r>
              <a:endParaRPr lang="en-US" sz="1000" dirty="0"/>
            </a:p>
          </p:txBody>
        </p:sp>
      </p:grpSp>
      <p:sp>
        <p:nvSpPr>
          <p:cNvPr id="5" name="Text 2"/>
          <p:cNvSpPr/>
          <p:nvPr/>
        </p:nvSpPr>
        <p:spPr>
          <a:xfrm>
            <a:off x="661475" y="2432876"/>
            <a:ext cx="6296860" cy="199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400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Introdução à Programação Orientada a Objetos com Dart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61475" y="5086647"/>
            <a:ext cx="6416658" cy="808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23000"/>
              </a:lnSpc>
              <a:buNone/>
            </a:pPr>
            <a:r>
              <a:rPr lang="en-US" sz="16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 vamos descobrir como o Dart nos ajuda a modelar a realidade em estruturas de código organizadas, reutilizáveis e poderosas.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886" y="795833"/>
            <a:ext cx="1043802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veremos hoje</a:t>
            </a:r>
            <a:endParaRPr lang="en-US" sz="2950" dirty="0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E329AD6-2D6E-4E0A-B6E8-CDD28F1965F8}"/>
              </a:ext>
            </a:extLst>
          </p:cNvPr>
          <p:cNvGrpSpPr/>
          <p:nvPr/>
        </p:nvGrpSpPr>
        <p:grpSpPr>
          <a:xfrm>
            <a:off x="963882" y="2314708"/>
            <a:ext cx="3792845" cy="516226"/>
            <a:chOff x="963886" y="1747317"/>
            <a:chExt cx="3792845" cy="516226"/>
          </a:xfrm>
        </p:grpSpPr>
        <p:sp>
          <p:nvSpPr>
            <p:cNvPr id="3" name="Text 1"/>
            <p:cNvSpPr/>
            <p:nvPr/>
          </p:nvSpPr>
          <p:spPr>
            <a:xfrm>
              <a:off x="963887" y="1759934"/>
              <a:ext cx="228598" cy="2110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50" kern="0" spc="-36" dirty="0">
                  <a:solidFill>
                    <a:srgbClr val="272525"/>
                  </a:solidFill>
                  <a:latin typeface="Inter Light" pitchFamily="34" charset="0"/>
                  <a:ea typeface="Inter Light" pitchFamily="34" charset="-122"/>
                  <a:cs typeface="Inter Light" pitchFamily="34" charset="-120"/>
                </a:rPr>
                <a:t>01</a:t>
              </a:r>
              <a:endParaRPr lang="en-US" sz="115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963886" y="1978621"/>
              <a:ext cx="3564245" cy="19050"/>
            </a:xfrm>
            <a:prstGeom prst="rect">
              <a:avLst/>
            </a:prstGeom>
            <a:solidFill>
              <a:srgbClr val="4950B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 3"/>
            <p:cNvSpPr/>
            <p:nvPr/>
          </p:nvSpPr>
          <p:spPr>
            <a:xfrm>
              <a:off x="1192486" y="1747317"/>
              <a:ext cx="3564245" cy="2362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b="1" kern="0" spc="-45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POO &amp; Classe como molde</a:t>
              </a:r>
              <a:endParaRPr lang="en-US" sz="14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63887" y="2045857"/>
              <a:ext cx="3564245" cy="217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150" kern="0" spc="-24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Objeto, instância e estado</a:t>
              </a:r>
              <a:endParaRPr lang="en-US" sz="1150" dirty="0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C0E751D6-7FD2-4D50-B5C8-4E979D47003F}"/>
              </a:ext>
            </a:extLst>
          </p:cNvPr>
          <p:cNvGrpSpPr/>
          <p:nvPr/>
        </p:nvGrpSpPr>
        <p:grpSpPr>
          <a:xfrm>
            <a:off x="963882" y="3740291"/>
            <a:ext cx="3792844" cy="526603"/>
            <a:chOff x="963886" y="2902397"/>
            <a:chExt cx="3792844" cy="526603"/>
          </a:xfrm>
        </p:grpSpPr>
        <p:sp>
          <p:nvSpPr>
            <p:cNvPr id="7" name="Text 5"/>
            <p:cNvSpPr/>
            <p:nvPr/>
          </p:nvSpPr>
          <p:spPr>
            <a:xfrm>
              <a:off x="963886" y="2926011"/>
              <a:ext cx="302411" cy="189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50" kern="0" spc="-36" dirty="0">
                  <a:solidFill>
                    <a:srgbClr val="272525"/>
                  </a:solidFill>
                  <a:latin typeface="Inter Light" pitchFamily="34" charset="0"/>
                  <a:ea typeface="Inter Light" pitchFamily="34" charset="-122"/>
                  <a:cs typeface="Inter Light" pitchFamily="34" charset="-120"/>
                </a:rPr>
                <a:t>02</a:t>
              </a:r>
              <a:endParaRPr lang="en-US" sz="11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963886" y="3139480"/>
              <a:ext cx="3564245" cy="19050"/>
            </a:xfrm>
            <a:prstGeom prst="rect">
              <a:avLst/>
            </a:prstGeom>
            <a:solidFill>
              <a:srgbClr val="4950B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7"/>
            <p:cNvSpPr/>
            <p:nvPr/>
          </p:nvSpPr>
          <p:spPr>
            <a:xfrm>
              <a:off x="1192485" y="2902397"/>
              <a:ext cx="3564245" cy="2362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b="1" kern="0" spc="-45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Atributos e Métodos</a:t>
              </a:r>
              <a:endParaRPr lang="en-US" sz="14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63886" y="3211314"/>
              <a:ext cx="3564245" cy="217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150" kern="0" spc="-24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Estado + comportamento de um objeto</a:t>
              </a:r>
              <a:endParaRPr lang="en-US" sz="1150" dirty="0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4E36A6A8-F3BA-4023-B408-5F539315C982}"/>
              </a:ext>
            </a:extLst>
          </p:cNvPr>
          <p:cNvGrpSpPr/>
          <p:nvPr/>
        </p:nvGrpSpPr>
        <p:grpSpPr>
          <a:xfrm>
            <a:off x="963884" y="5252451"/>
            <a:ext cx="3792843" cy="596850"/>
            <a:chOff x="963886" y="4064712"/>
            <a:chExt cx="3792843" cy="596850"/>
          </a:xfrm>
        </p:grpSpPr>
        <p:sp>
          <p:nvSpPr>
            <p:cNvPr id="11" name="Text 9"/>
            <p:cNvSpPr/>
            <p:nvPr/>
          </p:nvSpPr>
          <p:spPr>
            <a:xfrm>
              <a:off x="963886" y="4088326"/>
              <a:ext cx="302411" cy="189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50" kern="0" spc="-36" dirty="0">
                  <a:solidFill>
                    <a:srgbClr val="272525"/>
                  </a:solidFill>
                  <a:latin typeface="Inter Light" pitchFamily="34" charset="0"/>
                  <a:ea typeface="Inter Light" pitchFamily="34" charset="-122"/>
                  <a:cs typeface="Inter Light" pitchFamily="34" charset="-120"/>
                </a:rPr>
                <a:t>03</a:t>
              </a:r>
              <a:endParaRPr lang="en-US" sz="11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963886" y="4300340"/>
              <a:ext cx="3564245" cy="19050"/>
            </a:xfrm>
            <a:prstGeom prst="rect">
              <a:avLst/>
            </a:prstGeom>
            <a:solidFill>
              <a:srgbClr val="4950B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/>
            <p:nvPr/>
          </p:nvSpPr>
          <p:spPr>
            <a:xfrm>
              <a:off x="1192484" y="4064712"/>
              <a:ext cx="3564245" cy="2362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b="1" kern="0" spc="-45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Construtores</a:t>
              </a:r>
              <a:endParaRPr lang="en-US" sz="14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63886" y="4443876"/>
              <a:ext cx="3564245" cy="217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150" kern="0" spc="-24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Posicionais, nomeados e boas práticas</a:t>
              </a:r>
              <a:endParaRPr lang="en-US" sz="1150" dirty="0"/>
            </a:p>
          </p:txBody>
        </p:sp>
      </p:grp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850" y="2801458"/>
            <a:ext cx="4754170" cy="26940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81494" y="87362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881495" y="1701683"/>
            <a:ext cx="10389042" cy="988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</a:t>
            </a:r>
            <a:r>
              <a:rPr lang="en-US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</a:t>
            </a:r>
            <a:r>
              <a:rPr lang="en-US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molde — ela define quais informações e comportamentos um objeto terá. Um </a:t>
            </a:r>
            <a:r>
              <a:rPr lang="en-US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objeto</a:t>
            </a:r>
            <a:r>
              <a:rPr lang="en-US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instância concreta criada a partir desse molde.</a:t>
            </a:r>
            <a:endParaRPr lang="en-US" dirty="0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C6F5D3D-DEC2-4880-8C54-EFF5AC1D7603}"/>
              </a:ext>
            </a:extLst>
          </p:cNvPr>
          <p:cNvGrpSpPr/>
          <p:nvPr/>
        </p:nvGrpSpPr>
        <p:grpSpPr>
          <a:xfrm>
            <a:off x="4795212" y="5750720"/>
            <a:ext cx="6914187" cy="643023"/>
            <a:chOff x="5186269" y="5837733"/>
            <a:chExt cx="5380131" cy="643023"/>
          </a:xfrm>
        </p:grpSpPr>
        <p:sp>
          <p:nvSpPr>
            <p:cNvPr id="5" name="Shape 2"/>
            <p:cNvSpPr/>
            <p:nvPr/>
          </p:nvSpPr>
          <p:spPr>
            <a:xfrm>
              <a:off x="5186269" y="5837733"/>
              <a:ext cx="5380131" cy="643023"/>
            </a:xfrm>
            <a:prstGeom prst="roundRect">
              <a:avLst>
                <a:gd name="adj" fmla="val 4575"/>
              </a:avLst>
            </a:prstGeom>
            <a:solidFill>
              <a:srgbClr val="DADBF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3"/>
            <p:cNvSpPr/>
            <p:nvPr/>
          </p:nvSpPr>
          <p:spPr>
            <a:xfrm>
              <a:off x="5418060" y="5905666"/>
              <a:ext cx="4916548" cy="5071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just">
                <a:lnSpc>
                  <a:spcPct val="120000"/>
                </a:lnSpc>
                <a:buNone/>
              </a:pPr>
              <a:r>
                <a:rPr lang="en-US" sz="1150" kern="0" spc="-24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💡 Pense na </a:t>
              </a:r>
              <a:r>
                <a:rPr lang="en-US" sz="1150" kern="0" spc="-24" dirty="0" err="1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classe</a:t>
              </a:r>
              <a:r>
                <a:rPr lang="en-US" sz="1150" kern="0" spc="-24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150" kern="0" spc="-24" dirty="0" err="1">
                  <a:solidFill>
                    <a:srgbClr val="000000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150" kern="0" spc="-24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como a planta baixa de um apartamento. Cada aluno criado é um apartamento diferente, construído com o mesmo projeto.</a:t>
              </a:r>
              <a:endParaRPr lang="en-US" sz="1150" dirty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05582356-F247-4002-8F62-15D17ABDECEA}"/>
              </a:ext>
            </a:extLst>
          </p:cNvPr>
          <p:cNvGrpSpPr/>
          <p:nvPr/>
        </p:nvGrpSpPr>
        <p:grpSpPr>
          <a:xfrm>
            <a:off x="4795212" y="3201659"/>
            <a:ext cx="2545388" cy="2327074"/>
            <a:chOff x="8572583" y="1790502"/>
            <a:chExt cx="2963987" cy="3930848"/>
          </a:xfrm>
        </p:grpSpPr>
        <p:sp>
          <p:nvSpPr>
            <p:cNvPr id="8" name="Shape 4"/>
            <p:cNvSpPr/>
            <p:nvPr/>
          </p:nvSpPr>
          <p:spPr>
            <a:xfrm>
              <a:off x="8572583" y="1790502"/>
              <a:ext cx="2963987" cy="3930848"/>
            </a:xfrm>
            <a:prstGeom prst="roundRect">
              <a:avLst>
                <a:gd name="adj" fmla="val 2143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5"/>
            <p:cNvSpPr/>
            <p:nvPr/>
          </p:nvSpPr>
          <p:spPr>
            <a:xfrm>
              <a:off x="8753951" y="1941711"/>
              <a:ext cx="2601252" cy="3628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 </a:t>
              </a:r>
              <a:r>
                <a:rPr lang="en-US" sz="115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{</a:t>
              </a:r>
              <a:endParaRPr lang="en-US" sz="11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String </a:t>
              </a:r>
              <a:r>
                <a:rPr lang="en-US" sz="115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titulo</a:t>
              </a: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  <a:endParaRPr lang="en-US" sz="11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String </a:t>
              </a:r>
              <a:r>
                <a:rPr lang="en-US" sz="115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genero</a:t>
              </a: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  <a:endParaRPr lang="en-US" sz="11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int </a:t>
              </a:r>
              <a:r>
                <a:rPr lang="en-US" sz="115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classificacao</a:t>
              </a: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int </a:t>
              </a:r>
              <a:r>
                <a:rPr lang="en-US" sz="115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duracao</a:t>
              </a: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  <a:r>
                <a:rPr lang="en-US" sz="1150" dirty="0"/>
                <a:t>	</a:t>
              </a: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  <a:p>
              <a:pPr marL="0" indent="0" algn="l">
                <a:lnSpc>
                  <a:spcPct val="133000"/>
                </a:lnSpc>
                <a:buNone/>
              </a:pPr>
              <a:endParaRPr lang="en-US" sz="1150" dirty="0"/>
            </a:p>
          </p:txBody>
        </p:sp>
      </p:grpSp>
      <p:pic>
        <p:nvPicPr>
          <p:cNvPr id="17" name="Imagem 16">
            <a:extLst>
              <a:ext uri="{FF2B5EF4-FFF2-40B4-BE49-F238E27FC236}">
                <a16:creationId xmlns:a16="http://schemas.microsoft.com/office/drawing/2014/main" id="{6723FB6E-59F4-4271-91E6-9482D2E3A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41" y="3201659"/>
            <a:ext cx="3632231" cy="3279097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1B67CDB6-8DF9-46EB-97D4-A5D3ED86B9EE}"/>
              </a:ext>
            </a:extLst>
          </p:cNvPr>
          <p:cNvGrpSpPr/>
          <p:nvPr/>
        </p:nvGrpSpPr>
        <p:grpSpPr>
          <a:xfrm>
            <a:off x="7955768" y="3201659"/>
            <a:ext cx="3753631" cy="2327074"/>
            <a:chOff x="8572583" y="1790502"/>
            <a:chExt cx="2963987" cy="3930848"/>
          </a:xfrm>
        </p:grpSpPr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A11253D3-565B-4142-AB2F-FE5632B0EE35}"/>
                </a:ext>
              </a:extLst>
            </p:cNvPr>
            <p:cNvSpPr/>
            <p:nvPr/>
          </p:nvSpPr>
          <p:spPr>
            <a:xfrm>
              <a:off x="8572583" y="1790502"/>
              <a:ext cx="2963987" cy="3930848"/>
            </a:xfrm>
            <a:prstGeom prst="roundRect">
              <a:avLst>
                <a:gd name="adj" fmla="val 2143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18BFF428-23D1-474C-A0A4-4FD1DFFCE11E}"/>
                </a:ext>
              </a:extLst>
            </p:cNvPr>
            <p:cNvSpPr/>
            <p:nvPr/>
          </p:nvSpPr>
          <p:spPr>
            <a:xfrm>
              <a:off x="8753951" y="1941711"/>
              <a:ext cx="2601252" cy="36284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 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{</a:t>
              </a:r>
              <a:endParaRPr lang="en-US" sz="1200" dirty="0"/>
            </a:p>
            <a:p>
              <a:pPr>
                <a:lnSpc>
                  <a:spcPct val="133000"/>
                </a:lnSpc>
              </a:pP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nomeFilme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{</a:t>
              </a:r>
              <a:endParaRPr lang="en-US" sz="1200" dirty="0"/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print(‘O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do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é $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titulo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  <a:endParaRPr lang="en-US" sz="1200" dirty="0"/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b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</a:b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bool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podeAssistir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int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idade) { 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   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return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idade &gt;= 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classificacaoMinima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;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 }</a:t>
              </a:r>
              <a:r>
                <a:rPr lang="pt-BR" sz="1200" dirty="0"/>
                <a:t>	</a:t>
              </a:r>
              <a:r>
                <a:rPr lang="en-US" sz="1200" dirty="0"/>
                <a:t>	</a:t>
              </a: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  <a:p>
              <a:pPr marL="0" indent="0" algn="l">
                <a:lnSpc>
                  <a:spcPct val="133000"/>
                </a:lnSpc>
                <a:buNone/>
              </a:pPr>
              <a:endParaRPr lang="en-US" sz="1150" dirty="0"/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0957037-9315-43FB-8288-FB9F768B82CA}"/>
              </a:ext>
            </a:extLst>
          </p:cNvPr>
          <p:cNvSpPr txBox="1"/>
          <p:nvPr/>
        </p:nvSpPr>
        <p:spPr>
          <a:xfrm>
            <a:off x="5450499" y="2742811"/>
            <a:ext cx="123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Atributos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034661E-CF89-43E8-93F5-118DDBF190C0}"/>
              </a:ext>
            </a:extLst>
          </p:cNvPr>
          <p:cNvSpPr txBox="1"/>
          <p:nvPr/>
        </p:nvSpPr>
        <p:spPr>
          <a:xfrm>
            <a:off x="8995746" y="2742811"/>
            <a:ext cx="123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Métodos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81494" y="87362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Objeto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881495" y="1701683"/>
            <a:ext cx="10389042" cy="988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</a:t>
            </a:r>
            <a:r>
              <a:rPr lang="en-US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</a:t>
            </a:r>
            <a:r>
              <a:rPr lang="en-US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molde — ela define quais informações e comportamentos um objeto terá. Um </a:t>
            </a:r>
            <a:r>
              <a:rPr lang="en-US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objeto</a:t>
            </a:r>
            <a:r>
              <a:rPr lang="en-US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instância concreta criada a partir desse molde.</a:t>
            </a:r>
            <a:endParaRPr lang="en-US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6723FB6E-59F4-4271-91E6-9482D2E3A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51" y="2748079"/>
            <a:ext cx="4134659" cy="3732678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63E85DE9-1C61-475E-B439-595AC68C4BBF}"/>
              </a:ext>
            </a:extLst>
          </p:cNvPr>
          <p:cNvGrpSpPr/>
          <p:nvPr/>
        </p:nvGrpSpPr>
        <p:grpSpPr>
          <a:xfrm>
            <a:off x="6674761" y="2665762"/>
            <a:ext cx="4247189" cy="3737945"/>
            <a:chOff x="4795211" y="2742811"/>
            <a:chExt cx="4247189" cy="3737945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05582356-F247-4002-8F62-15D17ABDECEA}"/>
                </a:ext>
              </a:extLst>
            </p:cNvPr>
            <p:cNvGrpSpPr/>
            <p:nvPr/>
          </p:nvGrpSpPr>
          <p:grpSpPr>
            <a:xfrm>
              <a:off x="4795211" y="3201659"/>
              <a:ext cx="4247189" cy="1438074"/>
              <a:chOff x="8572583" y="1790502"/>
              <a:chExt cx="2963987" cy="3930848"/>
            </a:xfrm>
          </p:grpSpPr>
          <p:sp>
            <p:nvSpPr>
              <p:cNvPr id="8" name="Shape 4"/>
              <p:cNvSpPr/>
              <p:nvPr/>
            </p:nvSpPr>
            <p:spPr>
              <a:xfrm>
                <a:off x="8572583" y="1790502"/>
                <a:ext cx="2963987" cy="3930848"/>
              </a:xfrm>
              <a:prstGeom prst="roundRect">
                <a:avLst>
                  <a:gd name="adj" fmla="val 2143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8753951" y="1941711"/>
                <a:ext cx="2601252" cy="36284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objeto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HomemAranha</a:t>
                </a:r>
                <a:endPara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171450" indent="-171450" algn="l">
                  <a:lnSpc>
                    <a:spcPct val="133000"/>
                  </a:lnSpc>
                  <a:buFont typeface="Arial" panose="020B0604020202020204" pitchFamily="34" charset="0"/>
                  <a:buChar char="•"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titulo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: </a:t>
                </a: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Homem-Aranha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: Um novo </a:t>
                </a: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dia</a:t>
                </a:r>
                <a:endPara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171450" indent="-171450" algn="l">
                  <a:lnSpc>
                    <a:spcPct val="133000"/>
                  </a:lnSpc>
                  <a:buFont typeface="Arial" panose="020B0604020202020204" pitchFamily="34" charset="0"/>
                  <a:buChar char="•"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genero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: </a:t>
                </a: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Ação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;</a:t>
                </a:r>
                <a:endParaRPr lang="en-US" sz="1150" dirty="0"/>
              </a:p>
              <a:p>
                <a:pPr marL="171450" indent="-171450" algn="l">
                  <a:lnSpc>
                    <a:spcPct val="133000"/>
                  </a:lnSpc>
                  <a:buFont typeface="Arial" panose="020B0604020202020204" pitchFamily="34" charset="0"/>
                  <a:buChar char="•"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classificacao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: 12;</a:t>
                </a:r>
              </a:p>
              <a:p>
                <a:pPr marL="171450" indent="-171450" algn="l">
                  <a:lnSpc>
                    <a:spcPct val="133000"/>
                  </a:lnSpc>
                  <a:buFont typeface="Arial" panose="020B0604020202020204" pitchFamily="34" charset="0"/>
                  <a:buChar char="•"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duracao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145;</a:t>
                </a:r>
              </a:p>
              <a:p>
                <a:pPr marL="0" indent="0" algn="l">
                  <a:lnSpc>
                    <a:spcPct val="133000"/>
                  </a:lnSpc>
                  <a:buNone/>
                </a:pPr>
                <a:endParaRPr lang="en-US" sz="1150" dirty="0"/>
              </a:p>
            </p:txBody>
          </p:sp>
        </p:grp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C0957037-9315-43FB-8288-FB9F768B82CA}"/>
                </a:ext>
              </a:extLst>
            </p:cNvPr>
            <p:cNvSpPr txBox="1"/>
            <p:nvPr/>
          </p:nvSpPr>
          <p:spPr>
            <a:xfrm>
              <a:off x="6301398" y="2742811"/>
              <a:ext cx="1234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kern="0" spc="-2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</a:rPr>
                <a:t>Atributos</a:t>
              </a:r>
            </a:p>
          </p:txBody>
        </p: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28E58B70-8839-4AEB-9F69-E436702EA900}"/>
                </a:ext>
              </a:extLst>
            </p:cNvPr>
            <p:cNvGrpSpPr/>
            <p:nvPr/>
          </p:nvGrpSpPr>
          <p:grpSpPr>
            <a:xfrm>
              <a:off x="4795211" y="5042682"/>
              <a:ext cx="4247189" cy="1438074"/>
              <a:chOff x="8572583" y="1790502"/>
              <a:chExt cx="2963987" cy="3930848"/>
            </a:xfrm>
          </p:grpSpPr>
          <p:sp>
            <p:nvSpPr>
              <p:cNvPr id="18" name="Shape 4">
                <a:extLst>
                  <a:ext uri="{FF2B5EF4-FFF2-40B4-BE49-F238E27FC236}">
                    <a16:creationId xmlns:a16="http://schemas.microsoft.com/office/drawing/2014/main" id="{4F6D6129-D344-43F8-9D99-FAF009CB0A48}"/>
                  </a:ext>
                </a:extLst>
              </p:cNvPr>
              <p:cNvSpPr/>
              <p:nvPr/>
            </p:nvSpPr>
            <p:spPr>
              <a:xfrm>
                <a:off x="8572583" y="1790502"/>
                <a:ext cx="2963987" cy="3930848"/>
              </a:xfrm>
              <a:prstGeom prst="roundRect">
                <a:avLst>
                  <a:gd name="adj" fmla="val 2143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Text 5">
                <a:extLst>
                  <a:ext uri="{FF2B5EF4-FFF2-40B4-BE49-F238E27FC236}">
                    <a16:creationId xmlns:a16="http://schemas.microsoft.com/office/drawing/2014/main" id="{D4C23212-4E64-4A51-B0F3-02271FC07FFF}"/>
                  </a:ext>
                </a:extLst>
              </p:cNvPr>
              <p:cNvSpPr/>
              <p:nvPr/>
            </p:nvSpPr>
            <p:spPr>
              <a:xfrm>
                <a:off x="8753951" y="1941711"/>
                <a:ext cx="2601252" cy="36284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33000"/>
                  </a:lnSpc>
                  <a:buNone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objeto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</a:t>
                </a: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Sobrenatural</a:t>
                </a:r>
                <a:endPara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171450" indent="-171450" algn="l">
                  <a:lnSpc>
                    <a:spcPct val="133000"/>
                  </a:lnSpc>
                  <a:buFont typeface="Arial" panose="020B0604020202020204" pitchFamily="34" charset="0"/>
                  <a:buChar char="•"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titulo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: </a:t>
                </a: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Sobrenatural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: agora entre </a:t>
                </a: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nós</a:t>
                </a:r>
                <a:endParaRPr lang="en-US" sz="115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171450" indent="-171450" algn="l">
                  <a:lnSpc>
                    <a:spcPct val="133000"/>
                  </a:lnSpc>
                  <a:buFont typeface="Arial" panose="020B0604020202020204" pitchFamily="34" charset="0"/>
                  <a:buChar char="•"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genero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: Terror;</a:t>
                </a:r>
                <a:endParaRPr lang="en-US" sz="1150" dirty="0"/>
              </a:p>
              <a:p>
                <a:pPr marL="171450" indent="-171450" algn="l">
                  <a:lnSpc>
                    <a:spcPct val="133000"/>
                  </a:lnSpc>
                  <a:buFont typeface="Arial" panose="020B0604020202020204" pitchFamily="34" charset="0"/>
                  <a:buChar char="•"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classificacao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: 14;</a:t>
                </a:r>
              </a:p>
              <a:p>
                <a:pPr marL="171450" indent="-171450" algn="l">
                  <a:lnSpc>
                    <a:spcPct val="133000"/>
                  </a:lnSpc>
                  <a:buFont typeface="Arial" panose="020B0604020202020204" pitchFamily="34" charset="0"/>
                  <a:buChar char="•"/>
                </a:pPr>
                <a:r>
                  <a:rPr lang="en-US" sz="1150" kern="0" spc="-24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duracao</a:t>
                </a:r>
                <a:r>
                  <a:rPr lang="en-US" sz="1150" kern="0" spc="-24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105;</a:t>
                </a:r>
              </a:p>
              <a:p>
                <a:pPr marL="0" indent="0" algn="l">
                  <a:lnSpc>
                    <a:spcPct val="133000"/>
                  </a:lnSpc>
                  <a:buNone/>
                </a:pPr>
                <a:endParaRPr lang="en-US" sz="1150" dirty="0"/>
              </a:p>
            </p:txBody>
          </p:sp>
        </p:grp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7322A1A-4110-42E3-8F87-172ED5ED59E1}"/>
                </a:ext>
              </a:extLst>
            </p:cNvPr>
            <p:cNvSpPr txBox="1"/>
            <p:nvPr/>
          </p:nvSpPr>
          <p:spPr>
            <a:xfrm>
              <a:off x="6301398" y="4639733"/>
              <a:ext cx="1234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kern="0" spc="-2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</a:rPr>
                <a:t>Atributos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8605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CD7E2-C0A3-482C-B83D-50400D42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Criando nosso ambiente </a:t>
            </a:r>
            <a:r>
              <a:rPr lang="pt-BR" sz="3300" b="1" kern="0" spc="-100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Dart</a:t>
            </a:r>
            <a:endParaRPr lang="pt-BR" sz="3300" b="1" kern="0" spc="-100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AC02035-5055-41F2-80F5-53C5F894E5EC}"/>
              </a:ext>
            </a:extLst>
          </p:cNvPr>
          <p:cNvGrpSpPr/>
          <p:nvPr/>
        </p:nvGrpSpPr>
        <p:grpSpPr>
          <a:xfrm>
            <a:off x="1281115" y="3292243"/>
            <a:ext cx="3086215" cy="2593380"/>
            <a:chOff x="749185" y="2132310"/>
            <a:chExt cx="3086215" cy="259338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21F04C3E-9F4D-4C0F-AF3C-F2BC9D58CACF}"/>
                </a:ext>
              </a:extLst>
            </p:cNvPr>
            <p:cNvSpPr/>
            <p:nvPr/>
          </p:nvSpPr>
          <p:spPr>
            <a:xfrm>
              <a:off x="749185" y="2132310"/>
              <a:ext cx="3086215" cy="2593380"/>
            </a:xfrm>
            <a:prstGeom prst="roundRect">
              <a:avLst>
                <a:gd name="adj" fmla="val 1615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FD61A11-EF33-4142-B00D-16646AC334BB}"/>
                </a:ext>
              </a:extLst>
            </p:cNvPr>
            <p:cNvSpPr/>
            <p:nvPr/>
          </p:nvSpPr>
          <p:spPr>
            <a:xfrm>
              <a:off x="953272" y="2352807"/>
              <a:ext cx="2551928" cy="21523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pt-BR" sz="1300" kern="0" spc="-27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Para criar o ambiente</a:t>
              </a:r>
            </a:p>
            <a:p>
              <a:pPr indent="457200">
                <a:lnSpc>
                  <a:spcPct val="133000"/>
                </a:lnSpc>
              </a:pPr>
              <a:r>
                <a:rPr lang="pt-BR" sz="13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dart</a:t>
              </a:r>
              <a:r>
                <a:rPr lang="pt-BR" sz="13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pt-BR" sz="13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create</a:t>
              </a:r>
              <a:r>
                <a:rPr lang="pt-BR" sz="13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pt-BR" sz="13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meu_app</a:t>
              </a:r>
              <a:endParaRPr lang="pt-BR" sz="13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endParaRPr lang="pt-BR" sz="13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300" kern="0" spc="-27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Para acessar a aplicação</a:t>
              </a:r>
            </a:p>
            <a:p>
              <a:pPr indent="457200">
                <a:lnSpc>
                  <a:spcPct val="133000"/>
                </a:lnSpc>
              </a:pPr>
              <a:r>
                <a:rPr lang="pt-BR" sz="13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cd</a:t>
              </a:r>
              <a:r>
                <a:rPr lang="pt-BR" sz="13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pt-BR" sz="13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meu_app</a:t>
              </a:r>
              <a:endParaRPr lang="pt-BR" sz="13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indent="457200">
                <a:lnSpc>
                  <a:spcPct val="133000"/>
                </a:lnSpc>
              </a:pPr>
              <a:endParaRPr lang="pt-BR" sz="13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300" kern="0" spc="-27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Para rodar a aplicação</a:t>
              </a:r>
            </a:p>
            <a:p>
              <a:pPr indent="457200">
                <a:lnSpc>
                  <a:spcPct val="133000"/>
                </a:lnSpc>
              </a:pPr>
              <a:r>
                <a:rPr lang="pt-BR" sz="13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dart</a:t>
              </a:r>
              <a:r>
                <a:rPr lang="pt-BR" sz="13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pt-BR" sz="13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run</a:t>
              </a:r>
              <a:endParaRPr lang="en-US" sz="1300" dirty="0"/>
            </a:p>
          </p:txBody>
        </p:sp>
      </p:grp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FFD67019-8671-4933-B859-0932C19CB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6604320" cy="669925"/>
          </a:xfrm>
        </p:spPr>
        <p:txBody>
          <a:bodyPr/>
          <a:lstStyle/>
          <a:p>
            <a:r>
              <a:rPr lang="pt-BR" dirty="0"/>
              <a:t>Acesse o terminal do </a:t>
            </a:r>
            <a:r>
              <a:rPr lang="pt-BR" dirty="0" err="1"/>
              <a:t>vscode</a:t>
            </a:r>
            <a:r>
              <a:rPr lang="pt-BR" dirty="0"/>
              <a:t> e execute os seguintes comandos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C64B435-BA5B-4744-9651-C03BED5D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445" y="3248087"/>
            <a:ext cx="5262439" cy="268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7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CD7E2-C0A3-482C-B83D-50400D42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Criando nossa primeira classe e objeto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51ADC27-1BDA-4FA0-A1F5-93279A7E3D66}"/>
              </a:ext>
            </a:extLst>
          </p:cNvPr>
          <p:cNvGrpSpPr/>
          <p:nvPr/>
        </p:nvGrpSpPr>
        <p:grpSpPr>
          <a:xfrm>
            <a:off x="749185" y="2480732"/>
            <a:ext cx="4974281" cy="3921853"/>
            <a:chOff x="749185" y="1978620"/>
            <a:chExt cx="5226911" cy="4423966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21F04C3E-9F4D-4C0F-AF3C-F2BC9D58CACF}"/>
                </a:ext>
              </a:extLst>
            </p:cNvPr>
            <p:cNvSpPr/>
            <p:nvPr/>
          </p:nvSpPr>
          <p:spPr>
            <a:xfrm>
              <a:off x="749185" y="1978620"/>
              <a:ext cx="5226911" cy="4423966"/>
            </a:xfrm>
            <a:prstGeom prst="roundRect">
              <a:avLst>
                <a:gd name="adj" fmla="val 1615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FD61A11-EF33-4142-B00D-16646AC334BB}"/>
                </a:ext>
              </a:extLst>
            </p:cNvPr>
            <p:cNvSpPr/>
            <p:nvPr/>
          </p:nvSpPr>
          <p:spPr>
            <a:xfrm>
              <a:off x="953272" y="2148681"/>
              <a:ext cx="4818736" cy="40838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33000"/>
                </a:lnSpc>
              </a:pP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 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{</a:t>
              </a:r>
              <a:endParaRPr lang="en-US" sz="1200" dirty="0"/>
            </a:p>
            <a:p>
              <a:pPr>
                <a:lnSpc>
                  <a:spcPct val="133000"/>
                </a:lnSpc>
              </a:pP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it-IT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String titulo = "";</a:t>
              </a:r>
            </a:p>
            <a:p>
              <a:pPr>
                <a:lnSpc>
                  <a:spcPct val="133000"/>
                </a:lnSpc>
              </a:pPr>
              <a:r>
                <a:rPr lang="it-IT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String genero = "";</a:t>
              </a:r>
            </a:p>
            <a:p>
              <a:pPr>
                <a:lnSpc>
                  <a:spcPct val="133000"/>
                </a:lnSpc>
              </a:pPr>
              <a:r>
                <a:rPr lang="it-IT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int classificacao = 0;</a:t>
              </a:r>
            </a:p>
            <a:p>
              <a:pPr>
                <a:lnSpc>
                  <a:spcPct val="133000"/>
                </a:lnSpc>
              </a:pPr>
              <a:r>
                <a:rPr lang="it-IT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int duracao = 0 ;</a:t>
              </a:r>
            </a:p>
            <a:p>
              <a:pPr>
                <a:lnSpc>
                  <a:spcPct val="133000"/>
                </a:lnSpc>
              </a:pPr>
              <a:endParaRPr lang="en-US" sz="1200" kern="0" spc="-24" dirty="0">
                <a:solidFill>
                  <a:srgbClr val="D73A49"/>
                </a:solidFill>
                <a:latin typeface="Consolas" pitchFamily="34" charset="0"/>
              </a:endParaRP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void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infoFilme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{</a:t>
              </a:r>
              <a:endParaRPr lang="en-US" sz="1200" dirty="0"/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print(“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titulo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$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titulo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Gênero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$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genero,classificação</a:t>
              </a:r>
              <a:endParaRPr lang="en-US" sz="12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$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classificacao</a:t>
              </a: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e 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tem</a:t>
              </a: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duração</a:t>
              </a: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de $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duracao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”);</a:t>
              </a:r>
              <a:endParaRPr lang="en-US" sz="1200" dirty="0"/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b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</a:b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 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bool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podeAssistir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(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int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idade) { 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   </a:t>
              </a:r>
              <a:r>
                <a:rPr lang="pt-BR" sz="1200" kern="0" spc="-27" dirty="0" err="1">
                  <a:solidFill>
                    <a:srgbClr val="D73A49"/>
                  </a:solidFill>
                  <a:latin typeface="Consolas" pitchFamily="34" charset="0"/>
                </a:rPr>
                <a:t>return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idade &gt;= </a:t>
              </a:r>
              <a:r>
                <a:rPr lang="it-IT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classificacao</a:t>
              </a: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;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7" dirty="0">
                  <a:solidFill>
                    <a:srgbClr val="D73A49"/>
                  </a:solidFill>
                  <a:latin typeface="Consolas" pitchFamily="34" charset="0"/>
                </a:rPr>
                <a:t>  } </a:t>
              </a:r>
              <a:r>
                <a:rPr lang="en-US" sz="1200" dirty="0"/>
                <a:t>	</a:t>
              </a:r>
            </a:p>
            <a:p>
              <a:pPr>
                <a:lnSpc>
                  <a:spcPct val="133000"/>
                </a:lnSpc>
              </a:pP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A30FD8-9E41-4F53-9A43-998038E5CEB3}"/>
              </a:ext>
            </a:extLst>
          </p:cNvPr>
          <p:cNvSpPr txBox="1"/>
          <p:nvPr/>
        </p:nvSpPr>
        <p:spPr>
          <a:xfrm>
            <a:off x="1496427" y="2008140"/>
            <a:ext cx="313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 - Filme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66CEC46-9A65-4D34-A990-5A2712889C40}"/>
              </a:ext>
            </a:extLst>
          </p:cNvPr>
          <p:cNvGrpSpPr/>
          <p:nvPr/>
        </p:nvGrpSpPr>
        <p:grpSpPr>
          <a:xfrm>
            <a:off x="6815668" y="2482372"/>
            <a:ext cx="4627148" cy="3921853"/>
            <a:chOff x="749184" y="1978620"/>
            <a:chExt cx="5226911" cy="4423966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DA80A062-F6CE-4586-B11F-FCB108E1DCD5}"/>
                </a:ext>
              </a:extLst>
            </p:cNvPr>
            <p:cNvSpPr/>
            <p:nvPr/>
          </p:nvSpPr>
          <p:spPr>
            <a:xfrm>
              <a:off x="749184" y="1978620"/>
              <a:ext cx="5226911" cy="4423966"/>
            </a:xfrm>
            <a:prstGeom prst="roundRect">
              <a:avLst>
                <a:gd name="adj" fmla="val 1615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2CD653F1-C2BE-4B4B-A59A-9E01997A01F0}"/>
                </a:ext>
              </a:extLst>
            </p:cNvPr>
            <p:cNvSpPr/>
            <p:nvPr/>
          </p:nvSpPr>
          <p:spPr>
            <a:xfrm>
              <a:off x="953272" y="2148681"/>
              <a:ext cx="4818736" cy="40838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33000"/>
                </a:lnSpc>
              </a:pP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main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{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Filme </a:t>
              </a: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Filme();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filme.titulo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"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Homem-Aranha</a:t>
              </a:r>
              <a:r>
                <a:rPr lang="en-US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Um novo 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dia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";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filme.genero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"</a:t>
              </a:r>
              <a:r>
                <a:rPr lang="en-US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Ação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";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filme.classificacao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12;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filme.duracao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145;</a:t>
              </a:r>
            </a:p>
            <a:p>
              <a:pPr>
                <a:lnSpc>
                  <a:spcPct val="133000"/>
                </a:lnSpc>
              </a:pPr>
              <a:endParaRPr lang="pt-BR" sz="1200" kern="0" spc="-24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filme.infoFilme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();</a:t>
              </a:r>
            </a:p>
            <a:p>
              <a:pPr>
                <a:lnSpc>
                  <a:spcPct val="133000"/>
                </a:lnSpc>
              </a:pPr>
              <a:endParaRPr lang="pt-BR" sz="1200" kern="0" spc="-24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</a:t>
              </a:r>
              <a:r>
                <a:rPr lang="pt-BR" sz="1200" kern="0" spc="-24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filme.podeAssistir</a:t>
              </a: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(15));</a:t>
              </a:r>
            </a:p>
            <a:p>
              <a:pPr>
                <a:lnSpc>
                  <a:spcPct val="133000"/>
                </a:lnSpc>
              </a:pPr>
              <a:r>
                <a:rPr lang="pt-BR" sz="1200" kern="0" spc="-24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200" kern="0" spc="-24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5EB8DE2-2A9A-43BE-AEBF-165914C7584B}"/>
              </a:ext>
            </a:extLst>
          </p:cNvPr>
          <p:cNvSpPr txBox="1"/>
          <p:nvPr/>
        </p:nvSpPr>
        <p:spPr>
          <a:xfrm>
            <a:off x="7562909" y="2008140"/>
            <a:ext cx="313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Objeto – Homem Aranha</a:t>
            </a:r>
          </a:p>
        </p:txBody>
      </p:sp>
    </p:spTree>
    <p:extLst>
      <p:ext uri="{BB962C8B-B14F-4D97-AF65-F5344CB8AC3E}">
        <p14:creationId xmlns:p14="http://schemas.microsoft.com/office/powerpoint/2010/main" val="3854461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286" y="86141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Problema da Inicialização Manual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5431" y="1860087"/>
            <a:ext cx="4500770" cy="480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kern="0" spc="-27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Atribuir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kern="0" spc="-27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kern="0" spc="-27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atributo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kern="0" spc="-27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manualmente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</a:t>
            </a:r>
            <a:r>
              <a:rPr lang="en-US" sz="1600" b="1" kern="0" spc="-27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verboso</a:t>
            </a:r>
            <a:r>
              <a:rPr lang="en-US" sz="16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 </a:t>
            </a:r>
            <a:r>
              <a:rPr lang="en-US" sz="1600" b="1" kern="0" spc="-27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propenso</a:t>
            </a:r>
            <a:r>
              <a:rPr lang="en-US" sz="16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 </a:t>
            </a:r>
            <a:r>
              <a:rPr lang="en-US" sz="1600" b="1" kern="0" spc="-27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erros</a:t>
            </a: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pt-BR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construtor é usado para inicializar os atributos de um objeto no momento em que ele é criado, deixando o código mais organizado e seguro.</a:t>
            </a:r>
          </a:p>
          <a:p>
            <a:pPr algn="just">
              <a:lnSpc>
                <a:spcPct val="150000"/>
              </a:lnSpc>
            </a:pPr>
            <a:endParaRPr lang="pt-BR" sz="1600" kern="0" spc="-27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pt-BR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</a:t>
            </a:r>
            <a:r>
              <a:rPr lang="pt-BR" sz="1600" kern="0" spc="-27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this.nome</a:t>
            </a:r>
            <a:r>
              <a:rPr lang="pt-BR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 </a:t>
            </a:r>
            <a:r>
              <a:rPr lang="pt-BR" sz="1600" kern="0" spc="-27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Dart</a:t>
            </a:r>
            <a:r>
              <a:rPr lang="pt-BR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atribui automaticamente os valores aos atributos, evitando código repetitivo e reduzindo a possibilidade de erros.</a:t>
            </a:r>
            <a:endParaRPr lang="en-US" sz="1600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D0642EFA-A20D-472E-BAF8-FD80B1470BC4}"/>
              </a:ext>
            </a:extLst>
          </p:cNvPr>
          <p:cNvGrpSpPr/>
          <p:nvPr/>
        </p:nvGrpSpPr>
        <p:grpSpPr>
          <a:xfrm>
            <a:off x="5503333" y="2049694"/>
            <a:ext cx="6033237" cy="4423966"/>
            <a:chOff x="6309659" y="1597620"/>
            <a:chExt cx="5226911" cy="4423966"/>
          </a:xfrm>
        </p:grpSpPr>
        <p:sp>
          <p:nvSpPr>
            <p:cNvPr id="4" name="Shape 2"/>
            <p:cNvSpPr/>
            <p:nvPr/>
          </p:nvSpPr>
          <p:spPr>
            <a:xfrm>
              <a:off x="6309659" y="1597620"/>
              <a:ext cx="5226911" cy="4423966"/>
            </a:xfrm>
            <a:prstGeom prst="roundRect">
              <a:avLst>
                <a:gd name="adj" fmla="val 1615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 3"/>
            <p:cNvSpPr/>
            <p:nvPr/>
          </p:nvSpPr>
          <p:spPr>
            <a:xfrm>
              <a:off x="6513746" y="1767681"/>
              <a:ext cx="4818736" cy="40838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main() {</a:t>
              </a: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("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Homem-Aranha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Um novo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dia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", 12, 145, "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Ação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");</a:t>
              </a: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  <a:p>
              <a:pPr>
                <a:lnSpc>
                  <a:spcPct val="133000"/>
                </a:lnSpc>
              </a:pPr>
              <a:endParaRPr lang="en-US" sz="12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endParaRPr lang="en-US" sz="12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{</a:t>
              </a: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String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titulo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String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genero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int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classificacao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int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duracao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>
                <a:lnSpc>
                  <a:spcPct val="133000"/>
                </a:lnSpc>
              </a:pPr>
              <a:endParaRPr lang="en-US" sz="12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this.titulo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this.classificacao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this.duracao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</a:t>
              </a:r>
              <a:r>
                <a:rPr lang="en-US" sz="1200" kern="0" spc="-27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this.genero</a:t>
              </a: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</a:p>
            <a:p>
              <a:pPr>
                <a:lnSpc>
                  <a:spcPct val="133000"/>
                </a:lnSpc>
              </a:pPr>
              <a:endParaRPr lang="en-US" sz="1200" kern="0" spc="-27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1200" kern="0" spc="-27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3156" y="86156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Parâmetros Posicionais × Nomeados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803156" y="1570286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Posicional</a:t>
            </a:r>
            <a:endParaRPr lang="en-US" sz="1350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B8EE238-AEC3-4A85-8B6C-5EEAE3F4B620}"/>
              </a:ext>
            </a:extLst>
          </p:cNvPr>
          <p:cNvGrpSpPr/>
          <p:nvPr/>
        </p:nvGrpSpPr>
        <p:grpSpPr>
          <a:xfrm>
            <a:off x="803156" y="1911301"/>
            <a:ext cx="5700967" cy="510183"/>
            <a:chOff x="661475" y="1689795"/>
            <a:chExt cx="5700967" cy="510183"/>
          </a:xfrm>
        </p:grpSpPr>
        <p:sp>
          <p:nvSpPr>
            <p:cNvPr id="4" name="Shape 2"/>
            <p:cNvSpPr/>
            <p:nvPr/>
          </p:nvSpPr>
          <p:spPr>
            <a:xfrm>
              <a:off x="661475" y="1689795"/>
              <a:ext cx="5261439" cy="510183"/>
            </a:xfrm>
            <a:prstGeom prst="roundRect">
              <a:avLst>
                <a:gd name="adj" fmla="val 11670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 3"/>
            <p:cNvSpPr/>
            <p:nvPr/>
          </p:nvSpPr>
          <p:spPr>
            <a:xfrm>
              <a:off x="831532" y="1831479"/>
              <a:ext cx="5530910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33000"/>
                </a:lnSpc>
              </a:pPr>
              <a:r>
                <a:rPr lang="pt-BR" sz="1100" kern="0" spc="-22" dirty="0">
                  <a:solidFill>
                    <a:srgbClr val="E3620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Filme("Homem-Aranha: Um novo dia", 12, 145, "Ação")</a:t>
              </a:r>
              <a:endParaRPr lang="en-US" sz="11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803156" y="2541042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Rápido, mas a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ordem importa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Difícil de ler quando há muitos parâmetros.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3156" y="2894459"/>
            <a:ext cx="5261439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3156" y="3068489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Nomeado </a:t>
            </a:r>
            <a:r>
              <a:rPr lang="en-US" sz="1350" b="1" kern="0" spc="-42" dirty="0">
                <a:solidFill>
                  <a:srgbClr val="22C5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 Recomendado</a:t>
            </a:r>
            <a:endParaRPr lang="en-US" sz="1350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10F9DD25-C948-4070-9F9A-90E6C9B1FBCF}"/>
              </a:ext>
            </a:extLst>
          </p:cNvPr>
          <p:cNvGrpSpPr/>
          <p:nvPr/>
        </p:nvGrpSpPr>
        <p:grpSpPr>
          <a:xfrm>
            <a:off x="803156" y="3409504"/>
            <a:ext cx="5261439" cy="1711026"/>
            <a:chOff x="661475" y="3187998"/>
            <a:chExt cx="5261439" cy="1417439"/>
          </a:xfrm>
        </p:grpSpPr>
        <p:sp>
          <p:nvSpPr>
            <p:cNvPr id="9" name="Shape 7"/>
            <p:cNvSpPr/>
            <p:nvPr/>
          </p:nvSpPr>
          <p:spPr>
            <a:xfrm>
              <a:off x="661475" y="3187998"/>
              <a:ext cx="5261439" cy="1417439"/>
            </a:xfrm>
            <a:prstGeom prst="roundRect">
              <a:avLst>
                <a:gd name="adj" fmla="val 420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8"/>
            <p:cNvSpPr/>
            <p:nvPr/>
          </p:nvSpPr>
          <p:spPr>
            <a:xfrm>
              <a:off x="831532" y="3329682"/>
              <a:ext cx="4921325" cy="11340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kern="0" spc="-22" dirty="0" err="1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endParaRPr lang="en-US" sz="1100" dirty="0"/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100" kern="0" spc="-22" dirty="0" err="1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titulo</a:t>
              </a: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"</a:t>
              </a:r>
              <a:r>
                <a:rPr lang="en-US" sz="1100" kern="0" spc="-22" dirty="0" err="1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Homem-Aranha</a:t>
              </a: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Um novo </a:t>
              </a:r>
              <a:r>
                <a:rPr lang="en-US" sz="1100" kern="0" spc="-22" dirty="0" err="1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dia</a:t>
              </a: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",</a:t>
              </a:r>
              <a:endParaRPr lang="en-US" sz="1100" dirty="0"/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100" kern="0" spc="-22" dirty="0" err="1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genero</a:t>
              </a: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“</a:t>
              </a:r>
              <a:r>
                <a:rPr lang="en-US" sz="1100" kern="0" spc="-22" dirty="0" err="1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Ação</a:t>
              </a: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”,</a:t>
              </a:r>
              <a:endParaRPr lang="en-US" sz="1100" dirty="0"/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100" kern="0" spc="-22" dirty="0" err="1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classificacao</a:t>
              </a: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12,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</a:rPr>
                <a:t>  </a:t>
              </a:r>
              <a:r>
                <a:rPr lang="en-US" sz="1100" kern="0" spc="-22" dirty="0" err="1">
                  <a:solidFill>
                    <a:srgbClr val="22863A"/>
                  </a:solidFill>
                  <a:latin typeface="Consolas" pitchFamily="34" charset="0"/>
                </a:rPr>
                <a:t>duracao</a:t>
              </a: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</a:rPr>
                <a:t>: 145</a:t>
              </a:r>
              <a:endParaRPr lang="en-US" sz="11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kern="0" spc="-22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  <a:endParaRPr lang="en-US" sz="11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803156" y="5275793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legível, ordem livre e </a:t>
            </a:r>
            <a:r>
              <a:rPr lang="en-US" sz="110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garante null safety.</a:t>
            </a:r>
            <a:endParaRPr lang="en-US" sz="1100" dirty="0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7A024263-5553-46C7-8201-23B5F4A36B11}"/>
              </a:ext>
            </a:extLst>
          </p:cNvPr>
          <p:cNvGrpSpPr/>
          <p:nvPr/>
        </p:nvGrpSpPr>
        <p:grpSpPr>
          <a:xfrm>
            <a:off x="6416812" y="1583581"/>
            <a:ext cx="5261439" cy="4139208"/>
            <a:chOff x="6275131" y="1362075"/>
            <a:chExt cx="5261439" cy="4139208"/>
          </a:xfrm>
        </p:grpSpPr>
        <p:sp>
          <p:nvSpPr>
            <p:cNvPr id="12" name="Shape 10"/>
            <p:cNvSpPr/>
            <p:nvPr/>
          </p:nvSpPr>
          <p:spPr>
            <a:xfrm>
              <a:off x="6275131" y="1362075"/>
              <a:ext cx="5261439" cy="4139208"/>
            </a:xfrm>
            <a:prstGeom prst="roundRect">
              <a:avLst>
                <a:gd name="adj" fmla="val 1438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/>
            <p:nvPr/>
          </p:nvSpPr>
          <p:spPr>
            <a:xfrm>
              <a:off x="6445188" y="1503759"/>
              <a:ext cx="4921325" cy="38558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main() {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titulo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"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Homem-Aranha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Um novo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dia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",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genero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"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Ação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",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classificacao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12,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duracao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145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);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{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String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titulo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String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genero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int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classificacao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int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duracao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</a:p>
            <a:p>
              <a:pPr>
                <a:lnSpc>
                  <a:spcPct val="133000"/>
                </a:lnSpc>
              </a:pPr>
              <a:endParaRPr lang="en-US" sz="1100" kern="0" spc="-22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Filme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({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required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this.titulo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required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this.classificacao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required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this.duracao</a:t>
              </a: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required </a:t>
              </a:r>
              <a:r>
                <a:rPr lang="en-US" sz="1100" kern="0" spc="-22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this.genero</a:t>
              </a:r>
              <a:endParaRPr lang="en-US" sz="1100" kern="0" spc="-22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});</a:t>
              </a:r>
            </a:p>
            <a:p>
              <a:pPr>
                <a:lnSpc>
                  <a:spcPct val="133000"/>
                </a:lnSpc>
              </a:pPr>
              <a:r>
                <a:rPr lang="en-US" sz="1100" kern="0" spc="-22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</p:txBody>
        </p:sp>
      </p:grp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37" y="6119267"/>
            <a:ext cx="177200" cy="141684"/>
          </a:xfrm>
          <a:prstGeom prst="rect">
            <a:avLst/>
          </a:prstGeom>
        </p:spPr>
      </p:pic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5916BF1-C7EF-4AAC-A821-0291B34BE5FB}"/>
              </a:ext>
            </a:extLst>
          </p:cNvPr>
          <p:cNvGrpSpPr/>
          <p:nvPr/>
        </p:nvGrpSpPr>
        <p:grpSpPr>
          <a:xfrm>
            <a:off x="803156" y="5961906"/>
            <a:ext cx="11336649" cy="477540"/>
            <a:chOff x="661475" y="5740400"/>
            <a:chExt cx="11336649" cy="477540"/>
          </a:xfrm>
        </p:grpSpPr>
        <p:sp>
          <p:nvSpPr>
            <p:cNvPr id="14" name="Shape 12"/>
            <p:cNvSpPr/>
            <p:nvPr/>
          </p:nvSpPr>
          <p:spPr>
            <a:xfrm>
              <a:off x="661475" y="5740400"/>
              <a:ext cx="10868745" cy="477540"/>
            </a:xfrm>
            <a:prstGeom prst="roundRect">
              <a:avLst>
                <a:gd name="adj" fmla="val 12468"/>
              </a:avLst>
            </a:prstGeom>
            <a:solidFill>
              <a:srgbClr val="B6D6F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13"/>
            <p:cNvSpPr/>
            <p:nvPr/>
          </p:nvSpPr>
          <p:spPr>
            <a:xfrm>
              <a:off x="1122037" y="5882084"/>
              <a:ext cx="10876087" cy="2047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100" kern="0" spc="-22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💬 Em Flutter, quase todos os widgets usam parâmetros nomeados. Adotar essa prática agora facilita muito o aprendizado futuro!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C3C13-C0B5-86FE-559D-5E1BF51E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0EF66C-FE7C-1147-C4D4-BD3E4920C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19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08B486C1-EED8-4560-A43C-DADF57CF6D3E}" vid="{41356845-1778-46A9-88C9-DA0406DFE36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85</TotalTime>
  <Words>763</Words>
  <Application>Microsoft Office PowerPoint</Application>
  <PresentationFormat>Widescreen</PresentationFormat>
  <Paragraphs>143</Paragraphs>
  <Slides>9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Consolas</vt:lpstr>
      <vt:lpstr>Inter Bold</vt:lpstr>
      <vt:lpstr>Inter Light</vt:lpstr>
      <vt:lpstr>Arial</vt:lpstr>
      <vt:lpstr>Inter</vt:lpstr>
      <vt:lpstr>Times New Roman</vt:lpstr>
      <vt:lpstr>Tema1</vt:lpstr>
      <vt:lpstr>Apresentação do PowerPoint</vt:lpstr>
      <vt:lpstr>Apresentação do PowerPoint</vt:lpstr>
      <vt:lpstr>Apresentação do PowerPoint</vt:lpstr>
      <vt:lpstr>Apresentação do PowerPoint</vt:lpstr>
      <vt:lpstr>Criando nosso ambiente Dart</vt:lpstr>
      <vt:lpstr>Criando nossa primeira classe e objeto</vt:lpstr>
      <vt:lpstr>Apresentação do PowerPoint</vt:lpstr>
      <vt:lpstr>Apresentação do PowerPoint</vt:lpstr>
      <vt:lpstr>Desafio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Pedro Miho</cp:lastModifiedBy>
  <cp:revision>14</cp:revision>
  <dcterms:created xsi:type="dcterms:W3CDTF">2026-08-24T12:14:59Z</dcterms:created>
  <dcterms:modified xsi:type="dcterms:W3CDTF">2026-08-24T22:56:05Z</dcterms:modified>
</cp:coreProperties>
</file>