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7" r:id="rId1"/>
  </p:sldMasterIdLst>
  <p:sldIdLst>
    <p:sldId id="256" r:id="rId2"/>
    <p:sldId id="261" r:id="rId3"/>
    <p:sldId id="262" r:id="rId4"/>
    <p:sldId id="263" r:id="rId5"/>
    <p:sldId id="264" r:id="rId6"/>
    <p:sldId id="265" r:id="rId7"/>
    <p:sldId id="267" r:id="rId8"/>
    <p:sldId id="266" r:id="rId9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92A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69" d="100"/>
          <a:sy n="69" d="100"/>
        </p:scale>
        <p:origin x="780" y="6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D9F73EA-414C-4929-B3E7-AD122EFFBF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52931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37FCEED-3F66-43BC-8B20-36021361A3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60550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dirty="0"/>
              <a:t>Clique para editar o estilo do subtítulo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395079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E5DFB8E-AD99-4A2B-8BE2-ED878F9124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1BA61F7-989E-45C9-916D-42CE0B17B3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11007306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9072721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0440976-951F-48E1-9F65-E2E7237C0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F3F09C38-83BA-4379-9DE9-B52DAEE2D6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801F2F7-E203-4170-8B06-E39E4EF61B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E2FDAB5-81C4-491B-B1DB-3E7A63996A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F87684E-F6A9-4B10-B6C6-98901C57A4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26914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621A5A9C-1616-4A2F-9897-2AA0D6A7B0E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19E4B8E-0EE6-4C64-9500-F64ED0B84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BFE3A651-93A6-476E-86D8-9380EB079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D3856C12-D3CA-9CE2-7861-13FBF02F48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07102269-6BD9-547A-4740-3B8E3F48BF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Conteúdo 2">
            <a:extLst>
              <a:ext uri="{FF2B5EF4-FFF2-40B4-BE49-F238E27FC236}">
                <a16:creationId xmlns:a16="http://schemas.microsoft.com/office/drawing/2014/main" id="{CB7389AF-7009-AFBD-694C-4FEB5C402AFC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096000" y="1844675"/>
            <a:ext cx="5181600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21180244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7207A11-9E53-4968-BFBB-FBA312D24C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DE141C8A-81E9-4FD8-AF20-F5BD9DA313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CB1C8E84-38D3-49F5-9A51-7C0AF548DF7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F895D1BB-221B-469A-A06C-FD406B207A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EAA33C3-5B87-4019-8743-8F9C2F983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70BDA0B8-E9EF-4477-9209-5DEC09732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FBCF0E10-CAD6-4E43-98B3-1AFB88B68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10" name="Título 1">
            <a:extLst>
              <a:ext uri="{FF2B5EF4-FFF2-40B4-BE49-F238E27FC236}">
                <a16:creationId xmlns:a16="http://schemas.microsoft.com/office/drawing/2014/main" id="{9AF65EF7-14AA-3189-A9E5-924E752AE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2645059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420D39C8-444E-4546-80F5-D0180A75AF9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61C134A4-BE1B-4962-9516-659CD4519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1CE7749A-36AE-46D1-BE46-BE0E2F45BD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6F8FEF21-0B4E-C030-F1F6-1E8EDC3D8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3457533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E43BC826-C9FB-472E-956F-F80F0568AE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6E154652-AECB-47CC-A9CD-8426C4D1A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7E24980-9E3E-413B-9621-9DCBCC5F48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3773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FF34EE3-79AE-487D-B73B-1A408180A0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844675"/>
            <a:ext cx="5256212" cy="43513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E5AF76A-9469-4EBF-8DAC-F6889FD7546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8B4ED122-B6B8-4D0E-98A8-D120579846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14136D5D-BD69-4CD2-A354-F8289DAAC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9566D364-0170-A389-F159-C7C9D62E4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  <p:sp>
        <p:nvSpPr>
          <p:cNvPr id="9" name="Espaço Reservado para Conteúdo 2">
            <a:extLst>
              <a:ext uri="{FF2B5EF4-FFF2-40B4-BE49-F238E27FC236}">
                <a16:creationId xmlns:a16="http://schemas.microsoft.com/office/drawing/2014/main" id="{76796487-CD7B-89D5-C833-332E8D160F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9345" y="1844675"/>
            <a:ext cx="5060308" cy="4351338"/>
          </a:xfrm>
          <a:prstGeom prst="rect">
            <a:avLst/>
          </a:prstGeom>
        </p:spPr>
        <p:txBody>
          <a:bodyPr/>
          <a:lstStyle>
            <a:lvl1pPr marL="0" indent="0" algn="just">
              <a:lnSpc>
                <a:spcPct val="150000"/>
              </a:lnSpc>
              <a:spcBef>
                <a:spcPts val="0"/>
              </a:spcBef>
              <a:buNone/>
              <a:defRPr sz="2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marL="457200" indent="0" algn="just">
              <a:lnSpc>
                <a:spcPct val="150000"/>
              </a:lnSpc>
              <a:spcBef>
                <a:spcPts val="0"/>
              </a:spcBef>
              <a:buNone/>
              <a:defRPr sz="1600">
                <a:latin typeface="Times New Roman" panose="02020603050405020304" pitchFamily="18" charset="0"/>
                <a:cs typeface="Times New Roman" panose="02020603050405020304" pitchFamily="18" charset="0"/>
              </a:defRPr>
            </a:lvl2pPr>
            <a:lvl3pPr marL="914400" indent="0" algn="just">
              <a:lnSpc>
                <a:spcPct val="150000"/>
              </a:lnSpc>
              <a:spcBef>
                <a:spcPts val="0"/>
              </a:spcBef>
              <a:buNone/>
              <a:defRPr sz="1400">
                <a:latin typeface="Times New Roman" panose="02020603050405020304" pitchFamily="18" charset="0"/>
                <a:cs typeface="Times New Roman" panose="02020603050405020304" pitchFamily="18" charset="0"/>
              </a:defRPr>
            </a:lvl3pPr>
            <a:lvl4pPr marL="1371600" indent="0" algn="just">
              <a:lnSpc>
                <a:spcPct val="150000"/>
              </a:lnSpc>
              <a:spcBef>
                <a:spcPts val="0"/>
              </a:spcBef>
              <a:buNone/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4pPr>
            <a:lvl5pPr marL="1828800" indent="0" algn="just">
              <a:lnSpc>
                <a:spcPct val="150000"/>
              </a:lnSpc>
              <a:spcBef>
                <a:spcPts val="0"/>
              </a:spcBef>
              <a:buNone/>
              <a:defRPr sz="1000">
                <a:latin typeface="Times New Roman" panose="02020603050405020304" pitchFamily="18" charset="0"/>
                <a:cs typeface="Times New Roman" panose="02020603050405020304" pitchFamily="18" charset="0"/>
              </a:defRPr>
            </a:lvl5pPr>
          </a:lstStyle>
          <a:p>
            <a:pPr lvl="0"/>
            <a:r>
              <a:rPr lang="pt-BR" dirty="0"/>
              <a:t>Editar estilos de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42814922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920F7117-B346-47D7-9DBC-5BBD02B232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773382"/>
            <a:ext cx="6172200" cy="408766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DFDB8822-F4D3-4DE6-B130-D7308F116C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1773382"/>
            <a:ext cx="3932237" cy="409560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E370F3C1-6276-4A5F-B650-8B2E8FB0633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D55C27-F8C6-4481-8569-CAC50CAE9F1F}" type="datetimeFigureOut">
              <a:rPr lang="pt-BR" smtClean="0"/>
              <a:t>28/08/2026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B142CF32-D9DD-42DF-9B63-B3207D85D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62A81DD0-CB02-442E-A173-AFA500CC71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BD41EC5-C773-4CDF-9E39-1AADF374E505}" type="slidenum">
              <a:rPr lang="pt-BR" smtClean="0"/>
              <a:t>‹nº›</a:t>
            </a:fld>
            <a:endParaRPr lang="pt-BR"/>
          </a:p>
        </p:txBody>
      </p:sp>
      <p:sp>
        <p:nvSpPr>
          <p:cNvPr id="8" name="Título 1">
            <a:extLst>
              <a:ext uri="{FF2B5EF4-FFF2-40B4-BE49-F238E27FC236}">
                <a16:creationId xmlns:a16="http://schemas.microsoft.com/office/drawing/2014/main" id="{E29F35F0-D02B-295C-BF50-6E6DC9981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6953941" cy="448573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Clique para editar o título Mestre</a:t>
            </a:r>
          </a:p>
        </p:txBody>
      </p:sp>
    </p:spTree>
    <p:extLst>
      <p:ext uri="{BB962C8B-B14F-4D97-AF65-F5344CB8AC3E}">
        <p14:creationId xmlns:p14="http://schemas.microsoft.com/office/powerpoint/2010/main" val="1776478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56E30110-E419-43DB-AEFA-3636065754B3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6762736"/>
            <a:ext cx="12192000" cy="95264"/>
          </a:xfrm>
          <a:prstGeom prst="rect">
            <a:avLst/>
          </a:prstGeom>
          <a:solidFill>
            <a:schemeClr val="bg1"/>
          </a:solidFill>
          <a:ln>
            <a:solidFill>
              <a:srgbClr val="292A86"/>
            </a:solidFill>
          </a:ln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4AAA702B-ED3B-45E1-8C71-1ACC187886AA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582422" y="635357"/>
            <a:ext cx="122428" cy="888712"/>
          </a:xfrm>
          <a:prstGeom prst="rect">
            <a:avLst/>
          </a:prstGeom>
          <a:solidFill>
            <a:srgbClr val="292A86"/>
          </a:solidFill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49B168A8-B937-4519-802D-8D1D90A0A0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283716" y="719713"/>
            <a:ext cx="127384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04958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B5C3A-A09A-4259-AF3D-EF5302F61C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384768"/>
            <a:ext cx="9144000" cy="1186495"/>
          </a:xfrm>
        </p:spPr>
        <p:txBody>
          <a:bodyPr/>
          <a:lstStyle/>
          <a:p>
            <a:r>
              <a:rPr lang="pt-BR" dirty="0"/>
              <a:t>Boas práticas em APIs REST</a:t>
            </a:r>
            <a:endParaRPr lang="pt-BR" b="1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4FF2C9F-673D-46AD-83CF-B874F96C37E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t-BR" dirty="0"/>
              <a:t>Prof. Esp. Pedro Miho</a:t>
            </a:r>
          </a:p>
        </p:txBody>
      </p:sp>
    </p:spTree>
    <p:extLst>
      <p:ext uri="{BB962C8B-B14F-4D97-AF65-F5344CB8AC3E}">
        <p14:creationId xmlns:p14="http://schemas.microsoft.com/office/powerpoint/2010/main" val="40469824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226649-2914-4E1D-8077-540D4B09C5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>
            <a:normAutofit/>
          </a:bodyPr>
          <a:lstStyle/>
          <a:p>
            <a:r>
              <a:rPr lang="pt-BR" sz="2600"/>
              <a:t>Por que uma API precisa retornar informações?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8C449FD-0CCF-46E0-B734-7980847A40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25625"/>
            <a:ext cx="5181600" cy="4370388"/>
          </a:xfrm>
        </p:spPr>
        <p:txBody>
          <a:bodyPr>
            <a:normAutofit/>
          </a:bodyPr>
          <a:lstStyle/>
          <a:p>
            <a:r>
              <a:rPr lang="pt-BR" sz="1600" dirty="0"/>
              <a:t>Quando uma aplicação realiza uma requisição, ela precisa saber </a:t>
            </a:r>
            <a:r>
              <a:rPr lang="pt-BR" sz="1600" b="1" dirty="0"/>
              <a:t>qual foi o resultado da operação</a:t>
            </a:r>
            <a:r>
              <a:rPr lang="pt-BR" sz="1600" dirty="0"/>
              <a:t>.</a:t>
            </a:r>
          </a:p>
          <a:p>
            <a:endParaRPr lang="pt-BR" sz="1600" dirty="0"/>
          </a:p>
          <a:p>
            <a:r>
              <a:rPr lang="pt-BR" sz="1600" dirty="0"/>
              <a:t>Uma resposta adequada permite identificar:</a:t>
            </a:r>
          </a:p>
          <a:p>
            <a:pPr lvl="1"/>
            <a:endParaRPr lang="pt-BR" dirty="0"/>
          </a:p>
          <a:p>
            <a:pPr lvl="1"/>
            <a:r>
              <a:rPr lang="pt-BR" dirty="0"/>
              <a:t>✅ Se a operação foi realizada com sucesso</a:t>
            </a:r>
          </a:p>
          <a:p>
            <a:pPr lvl="1"/>
            <a:r>
              <a:rPr lang="pt-BR" dirty="0"/>
              <a:t>❌ Se houve algum erro</a:t>
            </a:r>
          </a:p>
          <a:p>
            <a:pPr lvl="1"/>
            <a:r>
              <a:rPr lang="pt-BR" dirty="0"/>
              <a:t>🔎 Se o recurso foi encontrado</a:t>
            </a:r>
          </a:p>
          <a:p>
            <a:pPr lvl="1"/>
            <a:r>
              <a:rPr lang="pt-BR" dirty="0"/>
              <a:t>🆕 Se um novo recurso foi criado</a:t>
            </a:r>
          </a:p>
          <a:p>
            <a:pPr lvl="1"/>
            <a:r>
              <a:rPr lang="pt-BR" dirty="0"/>
              <a:t>📭 Se não há conteúdo para retorna</a:t>
            </a:r>
          </a:p>
          <a:p>
            <a:endParaRPr lang="pt-BR" sz="1600" dirty="0"/>
          </a:p>
        </p:txBody>
      </p:sp>
      <p:pic>
        <p:nvPicPr>
          <p:cNvPr id="6" name="Gráfico 5" descr="Monitor com preenchimento sólido">
            <a:extLst>
              <a:ext uri="{FF2B5EF4-FFF2-40B4-BE49-F238E27FC236}">
                <a16:creationId xmlns:a16="http://schemas.microsoft.com/office/drawing/2014/main" id="{B26DEF2A-BEBF-4541-6E07-02927D879B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4113" y="1825625"/>
            <a:ext cx="1153102" cy="1153102"/>
          </a:xfrm>
          <a:prstGeom prst="rect">
            <a:avLst/>
          </a:prstGeom>
        </p:spPr>
      </p:pic>
      <p:pic>
        <p:nvPicPr>
          <p:cNvPr id="7" name="Gráfico 6" descr="Monitor com preenchimento sólido">
            <a:extLst>
              <a:ext uri="{FF2B5EF4-FFF2-40B4-BE49-F238E27FC236}">
                <a16:creationId xmlns:a16="http://schemas.microsoft.com/office/drawing/2014/main" id="{ADEE0CCC-935E-2912-DD49-F7599893F8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894113" y="5247698"/>
            <a:ext cx="1153102" cy="1153102"/>
          </a:xfrm>
          <a:prstGeom prst="rect">
            <a:avLst/>
          </a:prstGeom>
        </p:spPr>
      </p:pic>
      <p:pic>
        <p:nvPicPr>
          <p:cNvPr id="10" name="Gráfico 9" descr="Chefe feminina com preenchimento sólido">
            <a:extLst>
              <a:ext uri="{FF2B5EF4-FFF2-40B4-BE49-F238E27FC236}">
                <a16:creationId xmlns:a16="http://schemas.microsoft.com/office/drawing/2014/main" id="{2F00A95B-DB73-7177-A58E-7B433DCA169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013464" y="3656012"/>
            <a:ext cx="914400" cy="914400"/>
          </a:xfrm>
          <a:prstGeom prst="rect">
            <a:avLst/>
          </a:prstGeom>
        </p:spPr>
      </p:pic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6FA832B-B5EB-0CA5-A064-02CA52BED239}"/>
              </a:ext>
            </a:extLst>
          </p:cNvPr>
          <p:cNvCxnSpPr>
            <a:cxnSpLocks/>
            <a:endCxn id="10" idx="0"/>
          </p:cNvCxnSpPr>
          <p:nvPr/>
        </p:nvCxnSpPr>
        <p:spPr>
          <a:xfrm>
            <a:off x="9470664" y="2978727"/>
            <a:ext cx="0" cy="677285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>
            <a:extLst>
              <a:ext uri="{FF2B5EF4-FFF2-40B4-BE49-F238E27FC236}">
                <a16:creationId xmlns:a16="http://schemas.microsoft.com/office/drawing/2014/main" id="{428E6CF2-2DBC-AABF-9CCE-77D187A28992}"/>
              </a:ext>
            </a:extLst>
          </p:cNvPr>
          <p:cNvCxnSpPr>
            <a:endCxn id="7" idx="0"/>
          </p:cNvCxnSpPr>
          <p:nvPr/>
        </p:nvCxnSpPr>
        <p:spPr>
          <a:xfrm>
            <a:off x="9470664" y="4570412"/>
            <a:ext cx="0" cy="677286"/>
          </a:xfrm>
          <a:prstGeom prst="straightConnector1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5DD823C0-96D7-318E-999D-ED50B2765369}"/>
              </a:ext>
            </a:extLst>
          </p:cNvPr>
          <p:cNvSpPr txBox="1"/>
          <p:nvPr/>
        </p:nvSpPr>
        <p:spPr>
          <a:xfrm>
            <a:off x="7044530" y="3148092"/>
            <a:ext cx="1968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DELETE /dentista/1</a:t>
            </a: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B5C479D0-7A90-99F0-65D3-3FAA83D20330}"/>
              </a:ext>
            </a:extLst>
          </p:cNvPr>
          <p:cNvSpPr txBox="1"/>
          <p:nvPr/>
        </p:nvSpPr>
        <p:spPr>
          <a:xfrm>
            <a:off x="7044530" y="4739778"/>
            <a:ext cx="173925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204 No </a:t>
            </a:r>
            <a:r>
              <a:rPr lang="pt-BR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content</a:t>
            </a:r>
            <a:endParaRPr lang="pt-BR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6CF21398-A554-377B-19F1-A11CA0A06C09}"/>
              </a:ext>
            </a:extLst>
          </p:cNvPr>
          <p:cNvSpPr txBox="1"/>
          <p:nvPr/>
        </p:nvSpPr>
        <p:spPr>
          <a:xfrm>
            <a:off x="10157547" y="4739778"/>
            <a:ext cx="11531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200 ok</a:t>
            </a:r>
          </a:p>
        </p:txBody>
      </p:sp>
    </p:spTree>
    <p:extLst>
      <p:ext uri="{BB962C8B-B14F-4D97-AF65-F5344CB8AC3E}">
        <p14:creationId xmlns:p14="http://schemas.microsoft.com/office/powerpoint/2010/main" val="3975453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ítulo 4">
            <a:extLst>
              <a:ext uri="{FF2B5EF4-FFF2-40B4-BE49-F238E27FC236}">
                <a16:creationId xmlns:a16="http://schemas.microsoft.com/office/drawing/2014/main" id="{4C794F55-4CFD-3395-272F-56DD2DB1D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não retornar sempre 200?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1B398AE6-87A0-5B75-09C1-38A6451BA4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347" y="1844675"/>
            <a:ext cx="3854962" cy="934299"/>
          </a:xfrm>
        </p:spPr>
        <p:txBody>
          <a:bodyPr/>
          <a:lstStyle/>
          <a:p>
            <a:r>
              <a:rPr lang="pl-PL" dirty="0"/>
              <a:t>O problema do 200 OK</a:t>
            </a:r>
            <a:endParaRPr lang="pt-BR" dirty="0"/>
          </a:p>
          <a:p>
            <a:r>
              <a:rPr lang="pt-BR" dirty="0"/>
              <a:t>Imagine que a API sempre retorne: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D68E81AC-D157-BA7D-9D04-357F11166B7F}"/>
              </a:ext>
            </a:extLst>
          </p:cNvPr>
          <p:cNvGrpSpPr/>
          <p:nvPr/>
        </p:nvGrpSpPr>
        <p:grpSpPr>
          <a:xfrm>
            <a:off x="749185" y="2929003"/>
            <a:ext cx="3744126" cy="638572"/>
            <a:chOff x="749185" y="2527734"/>
            <a:chExt cx="5284556" cy="638572"/>
          </a:xfrm>
        </p:grpSpPr>
        <p:sp>
          <p:nvSpPr>
            <p:cNvPr id="7" name="Shape 20">
              <a:extLst>
                <a:ext uri="{FF2B5EF4-FFF2-40B4-BE49-F238E27FC236}">
                  <a16:creationId xmlns:a16="http://schemas.microsoft.com/office/drawing/2014/main" id="{099A7046-6B53-424C-9D65-D39D7084A6C8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 21">
              <a:extLst>
                <a:ext uri="{FF2B5EF4-FFF2-40B4-BE49-F238E27FC236}">
                  <a16:creationId xmlns:a16="http://schemas.microsoft.com/office/drawing/2014/main" id="{5F947C80-BA30-A56B-4289-9B84B915316C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200 ok</a:t>
              </a:r>
              <a:endParaRPr lang="en-US" sz="1600" dirty="0"/>
            </a:p>
          </p:txBody>
        </p:sp>
      </p:grp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758A7394-E2A5-22A7-2C5E-BCC8E1135833}"/>
              </a:ext>
            </a:extLst>
          </p:cNvPr>
          <p:cNvSpPr txBox="1"/>
          <p:nvPr/>
        </p:nvSpPr>
        <p:spPr>
          <a:xfrm>
            <a:off x="592347" y="3894361"/>
            <a:ext cx="610985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 qualquer situação.</a:t>
            </a:r>
          </a:p>
        </p:txBody>
      </p:sp>
      <p:grpSp>
        <p:nvGrpSpPr>
          <p:cNvPr id="12" name="Agrupar 11">
            <a:extLst>
              <a:ext uri="{FF2B5EF4-FFF2-40B4-BE49-F238E27FC236}">
                <a16:creationId xmlns:a16="http://schemas.microsoft.com/office/drawing/2014/main" id="{F54C0C7B-B09F-93CD-3DB5-29033A1F1068}"/>
              </a:ext>
            </a:extLst>
          </p:cNvPr>
          <p:cNvGrpSpPr/>
          <p:nvPr/>
        </p:nvGrpSpPr>
        <p:grpSpPr>
          <a:xfrm>
            <a:off x="749185" y="4520405"/>
            <a:ext cx="4418560" cy="1638537"/>
            <a:chOff x="749185" y="2527734"/>
            <a:chExt cx="5284556" cy="638572"/>
          </a:xfrm>
        </p:grpSpPr>
        <p:sp>
          <p:nvSpPr>
            <p:cNvPr id="13" name="Shape 20">
              <a:extLst>
                <a:ext uri="{FF2B5EF4-FFF2-40B4-BE49-F238E27FC236}">
                  <a16:creationId xmlns:a16="http://schemas.microsoft.com/office/drawing/2014/main" id="{47F4AB36-CAFD-8FB7-7A48-BB1581BF6DD0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 21">
              <a:extLst>
                <a:ext uri="{FF2B5EF4-FFF2-40B4-BE49-F238E27FC236}">
                  <a16:creationId xmlns:a16="http://schemas.microsoft.com/office/drawing/2014/main" id="{3152C665-A472-A659-55B7-500A11DD6A77}"/>
                </a:ext>
              </a:extLst>
            </p:cNvPr>
            <p:cNvSpPr/>
            <p:nvPr/>
          </p:nvSpPr>
          <p:spPr>
            <a:xfrm>
              <a:off x="896521" y="2583345"/>
              <a:ext cx="4989884" cy="52735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DELETE /</a:t>
              </a:r>
              <a:r>
                <a:rPr lang="en-US" sz="1600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dentistas</a:t>
              </a: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/10</a:t>
              </a: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→ 200 OK</a:t>
              </a:r>
            </a:p>
            <a:p>
              <a:pPr marL="0" indent="0" algn="l">
                <a:buNone/>
              </a:pPr>
              <a:endParaRPr lang="en-US" sz="1600" kern="0" spc="-19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POST /</a:t>
              </a:r>
              <a:r>
                <a:rPr lang="en-US" sz="1600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dentistas</a:t>
              </a:r>
              <a:endParaRPr lang="en-US" sz="1600" kern="0" spc="-19" dirty="0">
                <a:solidFill>
                  <a:srgbClr val="D73A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endParaRPr>
            </a:p>
            <a:p>
              <a:pPr marL="0" indent="0" algn="l">
                <a:buNone/>
              </a:pPr>
              <a:r>
                <a:rPr lang="en-US" sz="1600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→ 200 OK</a:t>
              </a:r>
              <a:endParaRPr lang="en-US" sz="1600" dirty="0"/>
            </a:p>
          </p:txBody>
        </p:sp>
      </p:grpSp>
      <p:sp>
        <p:nvSpPr>
          <p:cNvPr id="16" name="Shape 4">
            <a:extLst>
              <a:ext uri="{FF2B5EF4-FFF2-40B4-BE49-F238E27FC236}">
                <a16:creationId xmlns:a16="http://schemas.microsoft.com/office/drawing/2014/main" id="{349BA34A-7609-7A9C-1F95-D40F3620CE79}"/>
              </a:ext>
            </a:extLst>
          </p:cNvPr>
          <p:cNvSpPr/>
          <p:nvPr/>
        </p:nvSpPr>
        <p:spPr>
          <a:xfrm>
            <a:off x="6096000" y="1844675"/>
            <a:ext cx="5503653" cy="4314267"/>
          </a:xfrm>
          <a:prstGeom prst="roundRect">
            <a:avLst>
              <a:gd name="adj" fmla="val 3224"/>
            </a:avLst>
          </a:prstGeom>
          <a:solidFill>
            <a:srgbClr val="DADBF1"/>
          </a:solidFill>
          <a:ln w="6350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94C0EA91-E1E8-C87F-27C7-88A376B9674E}"/>
              </a:ext>
            </a:extLst>
          </p:cNvPr>
          <p:cNvSpPr/>
          <p:nvPr/>
        </p:nvSpPr>
        <p:spPr>
          <a:xfrm>
            <a:off x="6291357" y="2040037"/>
            <a:ext cx="567021" cy="567035"/>
          </a:xfrm>
          <a:prstGeom prst="ellipse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pt-BR"/>
          </a:p>
        </p:txBody>
      </p:sp>
      <p:sp>
        <p:nvSpPr>
          <p:cNvPr id="19" name="Text 7">
            <a:extLst>
              <a:ext uri="{FF2B5EF4-FFF2-40B4-BE49-F238E27FC236}">
                <a16:creationId xmlns:a16="http://schemas.microsoft.com/office/drawing/2014/main" id="{0215E048-C979-F2A0-56E4-CA227D5EF056}"/>
              </a:ext>
            </a:extLst>
          </p:cNvPr>
          <p:cNvSpPr/>
          <p:nvPr/>
        </p:nvSpPr>
        <p:spPr>
          <a:xfrm>
            <a:off x="6291357" y="2833005"/>
            <a:ext cx="5151458" cy="31705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cliente não consegue saber claramente o que aconteceu.</a:t>
            </a:r>
          </a:p>
          <a:p>
            <a:pPr algn="just"/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Por isso, utilizamos diferentes códigos HTTP para representar diferentes resultados.</a:t>
            </a:r>
          </a:p>
          <a:p>
            <a:pPr algn="just"/>
            <a:endParaRPr lang="pt-BR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t-BR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código HTTP faz parte do contrato da API</a:t>
            </a:r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pic>
        <p:nvPicPr>
          <p:cNvPr id="21" name="Gráfico 20" descr="Ponto de interrogação com preenchimento sólido">
            <a:extLst>
              <a:ext uri="{FF2B5EF4-FFF2-40B4-BE49-F238E27FC236}">
                <a16:creationId xmlns:a16="http://schemas.microsoft.com/office/drawing/2014/main" id="{3129B824-0F4C-7D8D-915E-E7C2D83B70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415554" y="2164241"/>
            <a:ext cx="318625" cy="318625"/>
          </a:xfrm>
          <a:prstGeom prst="rect">
            <a:avLst/>
          </a:prstGeom>
        </p:spPr>
      </p:pic>
      <p:sp>
        <p:nvSpPr>
          <p:cNvPr id="22" name="Título 4">
            <a:extLst>
              <a:ext uri="{FF2B5EF4-FFF2-40B4-BE49-F238E27FC236}">
                <a16:creationId xmlns:a16="http://schemas.microsoft.com/office/drawing/2014/main" id="{505775BE-BC99-D44A-DEDD-FB4F58227DE5}"/>
              </a:ext>
            </a:extLst>
          </p:cNvPr>
          <p:cNvSpPr txBox="1">
            <a:spLocks/>
          </p:cNvSpPr>
          <p:nvPr/>
        </p:nvSpPr>
        <p:spPr>
          <a:xfrm>
            <a:off x="7090020" y="2087537"/>
            <a:ext cx="4352796" cy="519535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Times New Roman" panose="02020603050405020304" pitchFamily="18" charset="0"/>
                <a:ea typeface="+mj-ea"/>
                <a:cs typeface="Times New Roman" panose="02020603050405020304" pitchFamily="18" charset="0"/>
              </a:defRPr>
            </a:lvl1pPr>
          </a:lstStyle>
          <a:p>
            <a:r>
              <a:rPr lang="pt-BR" dirty="0"/>
              <a:t>Será que deu certo ?</a:t>
            </a:r>
          </a:p>
        </p:txBody>
      </p:sp>
    </p:spTree>
    <p:extLst>
      <p:ext uri="{BB962C8B-B14F-4D97-AF65-F5344CB8AC3E}">
        <p14:creationId xmlns:p14="http://schemas.microsoft.com/office/powerpoint/2010/main" val="16862156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9B4CEBC-29AA-0B64-6D86-B49A19BD5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9185" y="854420"/>
            <a:ext cx="9409981" cy="448573"/>
          </a:xfrm>
        </p:spPr>
        <p:txBody>
          <a:bodyPr>
            <a:normAutofit/>
          </a:bodyPr>
          <a:lstStyle/>
          <a:p>
            <a:r>
              <a:rPr lang="pt-BR" sz="2600" b="1" dirty="0"/>
              <a:t>Os principais métodos HTTP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D5FD78D7-7ED8-1593-FC54-8D4E2A2ECF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4613956"/>
              </p:ext>
            </p:extLst>
          </p:nvPr>
        </p:nvGraphicFramePr>
        <p:xfrm>
          <a:off x="1795568" y="2176304"/>
          <a:ext cx="8600865" cy="3688080"/>
        </p:xfrm>
        <a:graphic>
          <a:graphicData uri="http://schemas.openxmlformats.org/drawingml/2006/table">
            <a:tbl>
              <a:tblPr/>
              <a:tblGrid>
                <a:gridCol w="2230544">
                  <a:extLst>
                    <a:ext uri="{9D8B030D-6E8A-4147-A177-3AD203B41FA5}">
                      <a16:colId xmlns:a16="http://schemas.microsoft.com/office/drawing/2014/main" val="4025802244"/>
                    </a:ext>
                  </a:extLst>
                </a:gridCol>
                <a:gridCol w="2370244">
                  <a:extLst>
                    <a:ext uri="{9D8B030D-6E8A-4147-A177-3AD203B41FA5}">
                      <a16:colId xmlns:a16="http://schemas.microsoft.com/office/drawing/2014/main" val="263985013"/>
                    </a:ext>
                  </a:extLst>
                </a:gridCol>
                <a:gridCol w="4000077">
                  <a:extLst>
                    <a:ext uri="{9D8B030D-6E8A-4147-A177-3AD203B41FA5}">
                      <a16:colId xmlns:a16="http://schemas.microsoft.com/office/drawing/2014/main" val="1048547562"/>
                    </a:ext>
                  </a:extLst>
                </a:gridCol>
              </a:tblGrid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Método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Objetivo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33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Exemplo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A8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813336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GET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Consultar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Buscar dentistas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2003081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Criar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Cadastrar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96890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PUT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Atualizar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Alterar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629347"/>
                  </a:ext>
                </a:extLst>
              </a:tr>
              <a:tr h="73761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DELETE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Excluir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pt-BR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Remover dentista</a:t>
                      </a:r>
                    </a:p>
                  </a:txBody>
                  <a:tcPr marL="167640" marR="167640" marT="83820" marB="8382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62061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14003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169926-66C9-E8D9-E88F-DF83CCC304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DELETE → 204 No </a:t>
            </a:r>
            <a:r>
              <a:rPr lang="pt-BR" dirty="0" err="1"/>
              <a:t>Content</a:t>
            </a:r>
            <a:endParaRPr lang="pt-BR" dirty="0"/>
          </a:p>
        </p:txBody>
      </p:sp>
      <p:sp>
        <p:nvSpPr>
          <p:cNvPr id="4" name="Espaço Reservado para Conteúdo 5">
            <a:extLst>
              <a:ext uri="{FF2B5EF4-FFF2-40B4-BE49-F238E27FC236}">
                <a16:creationId xmlns:a16="http://schemas.microsoft.com/office/drawing/2014/main" id="{B985A1DE-1C57-DBCF-90DE-766022BEF0FB}"/>
              </a:ext>
            </a:extLst>
          </p:cNvPr>
          <p:cNvSpPr txBox="1">
            <a:spLocks/>
          </p:cNvSpPr>
          <p:nvPr/>
        </p:nvSpPr>
        <p:spPr>
          <a:xfrm>
            <a:off x="592347" y="1844675"/>
            <a:ext cx="3854962" cy="934299"/>
          </a:xfrm>
          <a:prstGeom prst="rect">
            <a:avLst/>
          </a:prstGeom>
        </p:spPr>
        <p:txBody>
          <a:bodyPr/>
          <a:lstStyle>
            <a:lvl1pPr marL="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1pPr>
            <a:lvl2pPr marL="4572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2pPr>
            <a:lvl3pPr marL="9144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3pPr>
            <a:lvl4pPr marL="13716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4pPr>
            <a:lvl5pPr marL="1828800" indent="0" algn="just" defTabSz="914400" rtl="0" eaLnBrk="1" latinLnBrk="0" hangingPunct="1">
              <a:lnSpc>
                <a:spcPct val="150000"/>
              </a:lnSpc>
              <a:spcBef>
                <a:spcPts val="0"/>
              </a:spcBef>
              <a:buFont typeface="Arial" panose="020B0604020202020204" pitchFamily="34" charset="0"/>
              <a:buNone/>
              <a:defRPr sz="1000" kern="120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dirty="0"/>
              <a:t>Excluindo um recurso</a:t>
            </a:r>
          </a:p>
          <a:p>
            <a:r>
              <a:rPr lang="pt-BR" dirty="0"/>
              <a:t>O DELETE remove um recurso:</a:t>
            </a:r>
          </a:p>
        </p:txBody>
      </p:sp>
      <p:grpSp>
        <p:nvGrpSpPr>
          <p:cNvPr id="5" name="Agrupar 4">
            <a:extLst>
              <a:ext uri="{FF2B5EF4-FFF2-40B4-BE49-F238E27FC236}">
                <a16:creationId xmlns:a16="http://schemas.microsoft.com/office/drawing/2014/main" id="{CFE8BC8B-B77C-EA18-385E-A8ADEC830A8A}"/>
              </a:ext>
            </a:extLst>
          </p:cNvPr>
          <p:cNvGrpSpPr/>
          <p:nvPr/>
        </p:nvGrpSpPr>
        <p:grpSpPr>
          <a:xfrm>
            <a:off x="749184" y="3094765"/>
            <a:ext cx="8907433" cy="638572"/>
            <a:chOff x="749185" y="2527734"/>
            <a:chExt cx="5284556" cy="638572"/>
          </a:xfrm>
        </p:grpSpPr>
        <p:sp>
          <p:nvSpPr>
            <p:cNvPr id="6" name="Shape 20">
              <a:extLst>
                <a:ext uri="{FF2B5EF4-FFF2-40B4-BE49-F238E27FC236}">
                  <a16:creationId xmlns:a16="http://schemas.microsoft.com/office/drawing/2014/main" id="{0792856E-ADEE-0B2B-C0D2-088D46F750EF}"/>
                </a:ext>
              </a:extLst>
            </p:cNvPr>
            <p:cNvSpPr/>
            <p:nvPr/>
          </p:nvSpPr>
          <p:spPr>
            <a:xfrm>
              <a:off x="749185" y="2527734"/>
              <a:ext cx="5284556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 21">
              <a:extLst>
                <a:ext uri="{FF2B5EF4-FFF2-40B4-BE49-F238E27FC236}">
                  <a16:creationId xmlns:a16="http://schemas.microsoft.com/office/drawing/2014/main" id="{34FCB611-6168-027F-8F72-D032DAAE9404}"/>
                </a:ext>
              </a:extLst>
            </p:cNvPr>
            <p:cNvSpPr/>
            <p:nvPr/>
          </p:nvSpPr>
          <p:spPr>
            <a:xfrm>
              <a:off x="896521" y="2712610"/>
              <a:ext cx="4989884" cy="2688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pPr marL="0" indent="0" algn="l">
                <a:buNone/>
              </a:pP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DELETE /</a:t>
              </a:r>
              <a:r>
                <a:rPr lang="en-US" kern="0" spc="-19" dirty="0" err="1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dentistas</a:t>
              </a:r>
              <a:r>
                <a:rPr lang="en-US" kern="0" spc="-19" dirty="0">
                  <a:solidFill>
                    <a:srgbClr val="D73A49"/>
                  </a:solidFill>
                  <a:latin typeface="Consolas" pitchFamily="34" charset="0"/>
                  <a:ea typeface="Consolas" pitchFamily="34" charset="-122"/>
                  <a:cs typeface="Consolas" pitchFamily="34" charset="-120"/>
                </a:rPr>
                <a:t>/10</a:t>
              </a:r>
              <a:endParaRPr lang="en-US" dirty="0"/>
            </a:p>
          </p:txBody>
        </p:sp>
      </p:grpSp>
      <p:sp>
        <p:nvSpPr>
          <p:cNvPr id="8" name="CaixaDeTexto 7">
            <a:extLst>
              <a:ext uri="{FF2B5EF4-FFF2-40B4-BE49-F238E27FC236}">
                <a16:creationId xmlns:a16="http://schemas.microsoft.com/office/drawing/2014/main" id="{E228A5B1-C484-25ED-07D5-96C8C9E0663A}"/>
              </a:ext>
            </a:extLst>
          </p:cNvPr>
          <p:cNvSpPr txBox="1"/>
          <p:nvPr/>
        </p:nvSpPr>
        <p:spPr>
          <a:xfrm>
            <a:off x="592347" y="4049128"/>
            <a:ext cx="390096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 a exclusão ocorrer com sucesso:</a:t>
            </a:r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BC709487-7ECE-3733-C273-F44D2FF513FA}"/>
              </a:ext>
            </a:extLst>
          </p:cNvPr>
          <p:cNvGrpSpPr/>
          <p:nvPr/>
        </p:nvGrpSpPr>
        <p:grpSpPr>
          <a:xfrm>
            <a:off x="749185" y="4765029"/>
            <a:ext cx="8907432" cy="522650"/>
            <a:chOff x="749185" y="2527734"/>
            <a:chExt cx="4477939" cy="638572"/>
          </a:xfrm>
        </p:grpSpPr>
        <p:sp>
          <p:nvSpPr>
            <p:cNvPr id="10" name="Shape 20">
              <a:extLst>
                <a:ext uri="{FF2B5EF4-FFF2-40B4-BE49-F238E27FC236}">
                  <a16:creationId xmlns:a16="http://schemas.microsoft.com/office/drawing/2014/main" id="{AFB8129F-1E14-8F35-7574-175C494FB5A4}"/>
                </a:ext>
              </a:extLst>
            </p:cNvPr>
            <p:cNvSpPr/>
            <p:nvPr/>
          </p:nvSpPr>
          <p:spPr>
            <a:xfrm>
              <a:off x="749185" y="2527734"/>
              <a:ext cx="4477939" cy="638572"/>
            </a:xfrm>
            <a:prstGeom prst="roundRect">
              <a:avLst>
                <a:gd name="adj" fmla="val 8081"/>
              </a:avLst>
            </a:prstGeom>
            <a:solidFill>
              <a:srgbClr val="F2F2F2"/>
            </a:solidFill>
            <a:ln/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 21">
              <a:extLst>
                <a:ext uri="{FF2B5EF4-FFF2-40B4-BE49-F238E27FC236}">
                  <a16:creationId xmlns:a16="http://schemas.microsoft.com/office/drawing/2014/main" id="{54A36054-122B-868F-925A-DD6F2AF26F47}"/>
                </a:ext>
              </a:extLst>
            </p:cNvPr>
            <p:cNvSpPr/>
            <p:nvPr/>
          </p:nvSpPr>
          <p:spPr>
            <a:xfrm>
              <a:off x="896523" y="2670506"/>
              <a:ext cx="4228246" cy="3530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>
              <a:noAutofit/>
            </a:bodyPr>
            <a:lstStyle/>
            <a:p>
              <a:r>
                <a:rPr lang="pt-BR" kern="0" spc="-19" dirty="0">
                  <a:solidFill>
                    <a:srgbClr val="D73A49"/>
                  </a:solidFill>
                  <a:latin typeface="Consolas" pitchFamily="34" charset="0"/>
                </a:rPr>
                <a:t>204 No </a:t>
              </a:r>
              <a:r>
                <a:rPr lang="pt-BR" kern="0" spc="-19" dirty="0" err="1">
                  <a:solidFill>
                    <a:srgbClr val="D73A49"/>
                  </a:solidFill>
                  <a:latin typeface="Consolas" pitchFamily="34" charset="0"/>
                </a:rPr>
                <a:t>Content</a:t>
              </a:r>
              <a:endParaRPr lang="pt-BR" kern="0" spc="-19" dirty="0">
                <a:solidFill>
                  <a:srgbClr val="D73A49"/>
                </a:solidFill>
                <a:latin typeface="Consolas" pitchFamily="34" charset="0"/>
              </a:endParaRPr>
            </a:p>
          </p:txBody>
        </p:sp>
      </p:grp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5276BF1F-FE60-7935-32B4-0812C890ED2B}"/>
              </a:ext>
            </a:extLst>
          </p:cNvPr>
          <p:cNvSpPr txBox="1"/>
          <p:nvPr/>
        </p:nvSpPr>
        <p:spPr>
          <a:xfrm>
            <a:off x="592347" y="5603470"/>
            <a:ext cx="108376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Como não existe necessariamente informação para devolver, o corpo da resposta pode ficar vazio.</a:t>
            </a:r>
          </a:p>
        </p:txBody>
      </p:sp>
    </p:spTree>
    <p:extLst>
      <p:ext uri="{BB962C8B-B14F-4D97-AF65-F5344CB8AC3E}">
        <p14:creationId xmlns:p14="http://schemas.microsoft.com/office/powerpoint/2010/main" val="1843293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3DA52F6-A789-393D-0223-A390957C8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Colocando </a:t>
            </a:r>
            <a:r>
              <a:rPr lang="pt-BR"/>
              <a:t>em prática</a:t>
            </a:r>
          </a:p>
        </p:txBody>
      </p:sp>
      <p:pic>
        <p:nvPicPr>
          <p:cNvPr id="5" name="Imagem 4" descr="Tela de celular&#10;&#10;O conteúdo gerado por IA pode estar incorreto.">
            <a:extLst>
              <a:ext uri="{FF2B5EF4-FFF2-40B4-BE49-F238E27FC236}">
                <a16:creationId xmlns:a16="http://schemas.microsoft.com/office/drawing/2014/main" id="{F5DDB60E-DFAD-AB23-8357-1FFC1BD44B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600" y="2207910"/>
            <a:ext cx="7344800" cy="1638529"/>
          </a:xfrm>
          <a:prstGeom prst="rect">
            <a:avLst/>
          </a:prstGeom>
        </p:spPr>
      </p:pic>
      <p:pic>
        <p:nvPicPr>
          <p:cNvPr id="7" name="Imagem 6" descr="Texto&#10;&#10;O conteúdo gerado por IA pode estar incorreto.">
            <a:extLst>
              <a:ext uri="{FF2B5EF4-FFF2-40B4-BE49-F238E27FC236}">
                <a16:creationId xmlns:a16="http://schemas.microsoft.com/office/drawing/2014/main" id="{73591627-856C-55F0-D6AE-196821AA1D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09448" y="4751356"/>
            <a:ext cx="5373105" cy="1538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0886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93DCA-E4E4-845E-D23E-82890D1A47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EE5BB9-3715-B5EC-AC01-0CA2A2F57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Colocando </a:t>
            </a:r>
            <a:r>
              <a:rPr lang="pt-BR"/>
              <a:t>em prática</a:t>
            </a:r>
          </a:p>
        </p:txBody>
      </p:sp>
      <p:pic>
        <p:nvPicPr>
          <p:cNvPr id="4" name="Imagem 3" descr="Tela de celular&#10;&#10;O conteúdo gerado por IA pode estar incorreto.">
            <a:extLst>
              <a:ext uri="{FF2B5EF4-FFF2-40B4-BE49-F238E27FC236}">
                <a16:creationId xmlns:a16="http://schemas.microsoft.com/office/drawing/2014/main" id="{5866078B-6D83-5864-0345-F6E1F5BBE7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889" y="1849700"/>
            <a:ext cx="7678222" cy="1676634"/>
          </a:xfrm>
          <a:prstGeom prst="rect">
            <a:avLst/>
          </a:prstGeom>
        </p:spPr>
      </p:pic>
      <p:pic>
        <p:nvPicPr>
          <p:cNvPr id="8" name="Imagem 7" descr="Texto&#10;&#10;O conteúdo gerado por IA pode estar incorreto.">
            <a:extLst>
              <a:ext uri="{FF2B5EF4-FFF2-40B4-BE49-F238E27FC236}">
                <a16:creationId xmlns:a16="http://schemas.microsoft.com/office/drawing/2014/main" id="{6E381689-411A-EF00-0497-0440A52E8E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4165" y="4169983"/>
            <a:ext cx="7023670" cy="19682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22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A13988-3FAB-3D91-E08A-F445845AD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88F25C0-AA25-02FF-5D54-55E6DFA4A6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683220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</TotalTime>
  <Words>235</Words>
  <Application>Microsoft Office PowerPoint</Application>
  <PresentationFormat>Widescreen</PresentationFormat>
  <Paragraphs>56</Paragraphs>
  <Slides>8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8</vt:i4>
      </vt:variant>
    </vt:vector>
  </HeadingPairs>
  <TitlesOfParts>
    <vt:vector size="12" baseType="lpstr">
      <vt:lpstr>Arial</vt:lpstr>
      <vt:lpstr>Consolas</vt:lpstr>
      <vt:lpstr>Times New Roman</vt:lpstr>
      <vt:lpstr>Tema do Office</vt:lpstr>
      <vt:lpstr>Boas práticas em APIs REST</vt:lpstr>
      <vt:lpstr>Por que uma API precisa retornar informações?</vt:lpstr>
      <vt:lpstr>Por que não retornar sempre 200?</vt:lpstr>
      <vt:lpstr>Os principais métodos HTTP</vt:lpstr>
      <vt:lpstr>DELETE → 204 No Content</vt:lpstr>
      <vt:lpstr>Colocando em prática</vt:lpstr>
      <vt:lpstr>Colocando em prática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Lucas Tadeu Monteiro Guedes Fernandes Salomao</dc:creator>
  <cp:lastModifiedBy>2t27lab001</cp:lastModifiedBy>
  <cp:revision>14</cp:revision>
  <dcterms:created xsi:type="dcterms:W3CDTF">2024-03-08T12:14:33Z</dcterms:created>
  <dcterms:modified xsi:type="dcterms:W3CDTF">2026-08-28T13:15:11Z</dcterms:modified>
</cp:coreProperties>
</file>