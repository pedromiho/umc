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78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84768"/>
            <a:ext cx="9144000" cy="1186495"/>
          </a:xfrm>
        </p:spPr>
        <p:txBody>
          <a:bodyPr/>
          <a:lstStyle/>
          <a:p>
            <a:r>
              <a:rPr lang="pt-BR" dirty="0"/>
              <a:t>Boas práticas em APIs REST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/>
              <a:t>Por que uma API precisa retornar informações?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r>
              <a:rPr lang="pt-BR" sz="1600" dirty="0"/>
              <a:t>Quando uma aplicação realiza uma requisição, ela precisa saber </a:t>
            </a:r>
            <a:r>
              <a:rPr lang="pt-BR" sz="1600" b="1" dirty="0"/>
              <a:t>qual foi o resultado da operação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Uma resposta adequada permite identificar: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✅ Se a operação foi realizada com sucesso</a:t>
            </a:r>
          </a:p>
          <a:p>
            <a:pPr lvl="1"/>
            <a:r>
              <a:rPr lang="pt-BR" dirty="0"/>
              <a:t>❌ Se houve algum erro</a:t>
            </a:r>
          </a:p>
          <a:p>
            <a:pPr lvl="1"/>
            <a:r>
              <a:rPr lang="pt-BR" dirty="0"/>
              <a:t>🔎 Se o recurso foi encontrado</a:t>
            </a:r>
          </a:p>
          <a:p>
            <a:pPr lvl="1"/>
            <a:r>
              <a:rPr lang="pt-BR" dirty="0"/>
              <a:t>🆕 Se um novo recurso foi criado</a:t>
            </a:r>
          </a:p>
          <a:p>
            <a:pPr lvl="1"/>
            <a:r>
              <a:rPr lang="pt-BR" dirty="0"/>
              <a:t>📭 Se não há conteúdo para retorna</a:t>
            </a:r>
          </a:p>
          <a:p>
            <a:endParaRPr lang="pt-BR" sz="1600" dirty="0"/>
          </a:p>
        </p:txBody>
      </p:sp>
      <p:pic>
        <p:nvPicPr>
          <p:cNvPr id="6" name="Gráfico 5" descr="Monitor com preenchimento sólido">
            <a:extLst>
              <a:ext uri="{FF2B5EF4-FFF2-40B4-BE49-F238E27FC236}">
                <a16:creationId xmlns:a16="http://schemas.microsoft.com/office/drawing/2014/main" id="{B26DEF2A-BEBF-4541-6E07-02927D879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1825625"/>
            <a:ext cx="1153102" cy="1153102"/>
          </a:xfrm>
          <a:prstGeom prst="rect">
            <a:avLst/>
          </a:prstGeom>
        </p:spPr>
      </p:pic>
      <p:pic>
        <p:nvPicPr>
          <p:cNvPr id="7" name="Gráfico 6" descr="Monitor com preenchimento sólido">
            <a:extLst>
              <a:ext uri="{FF2B5EF4-FFF2-40B4-BE49-F238E27FC236}">
                <a16:creationId xmlns:a16="http://schemas.microsoft.com/office/drawing/2014/main" id="{ADEE0CCC-935E-2912-DD49-F7599893F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5247698"/>
            <a:ext cx="1153102" cy="1153102"/>
          </a:xfrm>
          <a:prstGeom prst="rect">
            <a:avLst/>
          </a:prstGeom>
        </p:spPr>
      </p:pic>
      <p:pic>
        <p:nvPicPr>
          <p:cNvPr id="10" name="Gráfico 9" descr="Chefe feminina com preenchimento sólido">
            <a:extLst>
              <a:ext uri="{FF2B5EF4-FFF2-40B4-BE49-F238E27FC236}">
                <a16:creationId xmlns:a16="http://schemas.microsoft.com/office/drawing/2014/main" id="{2F00A95B-DB73-7177-A58E-7B433DCA1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13464" y="3656012"/>
            <a:ext cx="914400" cy="914400"/>
          </a:xfrm>
          <a:prstGeom prst="rect">
            <a:avLst/>
          </a:prstGeom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6FA832B-B5EB-0CA5-A064-02CA52BED239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470664" y="2978727"/>
            <a:ext cx="0" cy="67728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428E6CF2-2DBC-AABF-9CCE-77D187A28992}"/>
              </a:ext>
            </a:extLst>
          </p:cNvPr>
          <p:cNvCxnSpPr>
            <a:endCxn id="7" idx="0"/>
          </p:cNvCxnSpPr>
          <p:nvPr/>
        </p:nvCxnSpPr>
        <p:spPr>
          <a:xfrm>
            <a:off x="9470664" y="4570412"/>
            <a:ext cx="0" cy="67728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D823C0-96D7-318E-999D-ED50B2765369}"/>
              </a:ext>
            </a:extLst>
          </p:cNvPr>
          <p:cNvSpPr txBox="1"/>
          <p:nvPr/>
        </p:nvSpPr>
        <p:spPr>
          <a:xfrm>
            <a:off x="7044530" y="3148092"/>
            <a:ext cx="196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/dentista/1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C479D0-7A90-99F0-65D3-3FAA83D20330}"/>
              </a:ext>
            </a:extLst>
          </p:cNvPr>
          <p:cNvSpPr txBox="1"/>
          <p:nvPr/>
        </p:nvSpPr>
        <p:spPr>
          <a:xfrm>
            <a:off x="7044530" y="4739778"/>
            <a:ext cx="1739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204 No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CF21398-A554-377B-19F1-A11CA0A06C09}"/>
              </a:ext>
            </a:extLst>
          </p:cNvPr>
          <p:cNvSpPr txBox="1"/>
          <p:nvPr/>
        </p:nvSpPr>
        <p:spPr>
          <a:xfrm>
            <a:off x="10157547" y="4739778"/>
            <a:ext cx="11531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ok</a:t>
            </a:r>
          </a:p>
        </p:txBody>
      </p:sp>
    </p:spTree>
    <p:extLst>
      <p:ext uri="{BB962C8B-B14F-4D97-AF65-F5344CB8AC3E}">
        <p14:creationId xmlns:p14="http://schemas.microsoft.com/office/powerpoint/2010/main" val="39754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794F55-4CFD-3395-272F-56DD2DB1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retornar sempre 200?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398AE6-87A0-5B75-09C1-38A6451BA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854962" cy="934299"/>
          </a:xfrm>
        </p:spPr>
        <p:txBody>
          <a:bodyPr/>
          <a:lstStyle/>
          <a:p>
            <a:r>
              <a:rPr lang="pl-PL" dirty="0"/>
              <a:t>O problema do 200 OK</a:t>
            </a:r>
            <a:endParaRPr lang="pt-BR" dirty="0"/>
          </a:p>
          <a:p>
            <a:r>
              <a:rPr lang="pt-BR" dirty="0"/>
              <a:t>Imagine que a API sempre retorne: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8E81AC-D157-BA7D-9D04-357F11166B7F}"/>
              </a:ext>
            </a:extLst>
          </p:cNvPr>
          <p:cNvGrpSpPr/>
          <p:nvPr/>
        </p:nvGrpSpPr>
        <p:grpSpPr>
          <a:xfrm>
            <a:off x="749185" y="2929003"/>
            <a:ext cx="3744126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99A7046-6B53-424C-9D65-D39D7084A6C8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5F947C80-BA30-A56B-4289-9B84B915316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200 ok</a:t>
              </a:r>
              <a:endParaRPr lang="en-US" sz="1600" dirty="0"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58A7394-E2A5-22A7-2C5E-BCC8E1135833}"/>
              </a:ext>
            </a:extLst>
          </p:cNvPr>
          <p:cNvSpPr txBox="1"/>
          <p:nvPr/>
        </p:nvSpPr>
        <p:spPr>
          <a:xfrm>
            <a:off x="592347" y="3894361"/>
            <a:ext cx="6109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qualquer situação.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F54C0C7B-B09F-93CD-3DB5-29033A1F1068}"/>
              </a:ext>
            </a:extLst>
          </p:cNvPr>
          <p:cNvGrpSpPr/>
          <p:nvPr/>
        </p:nvGrpSpPr>
        <p:grpSpPr>
          <a:xfrm>
            <a:off x="749185" y="4520405"/>
            <a:ext cx="4418560" cy="1638537"/>
            <a:chOff x="749185" y="2527734"/>
            <a:chExt cx="5284556" cy="638572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47F4AB36-CAFD-8FB7-7A48-BB1581BF6DD0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3152C665-A472-A659-55B7-500A11DD6A77}"/>
                </a:ext>
              </a:extLst>
            </p:cNvPr>
            <p:cNvSpPr/>
            <p:nvPr/>
          </p:nvSpPr>
          <p:spPr>
            <a:xfrm>
              <a:off x="896521" y="2583345"/>
              <a:ext cx="4989884" cy="527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</a:p>
            <a:p>
              <a:pPr marL="0" indent="0" algn="l">
                <a:buNone/>
              </a:pP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POST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  <a:endParaRPr lang="en-US" sz="1600" dirty="0"/>
            </a:p>
          </p:txBody>
        </p:sp>
      </p:grpSp>
      <p:sp>
        <p:nvSpPr>
          <p:cNvPr id="16" name="Shape 4">
            <a:extLst>
              <a:ext uri="{FF2B5EF4-FFF2-40B4-BE49-F238E27FC236}">
                <a16:creationId xmlns:a16="http://schemas.microsoft.com/office/drawing/2014/main" id="{349BA34A-7609-7A9C-1F95-D40F3620CE79}"/>
              </a:ext>
            </a:extLst>
          </p:cNvPr>
          <p:cNvSpPr/>
          <p:nvPr/>
        </p:nvSpPr>
        <p:spPr>
          <a:xfrm>
            <a:off x="6096000" y="1844675"/>
            <a:ext cx="5503653" cy="4314267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94C0EA91-E1E8-C87F-27C7-88A376B9674E}"/>
              </a:ext>
            </a:extLst>
          </p:cNvPr>
          <p:cNvSpPr/>
          <p:nvPr/>
        </p:nvSpPr>
        <p:spPr>
          <a:xfrm>
            <a:off x="6291357" y="2040037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0215E048-C979-F2A0-56E4-CA227D5EF056}"/>
              </a:ext>
            </a:extLst>
          </p:cNvPr>
          <p:cNvSpPr/>
          <p:nvPr/>
        </p:nvSpPr>
        <p:spPr>
          <a:xfrm>
            <a:off x="6291357" y="2833005"/>
            <a:ext cx="5151458" cy="3170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cliente não consegue saber claramente o que aconteceu.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 isso, utilizamos diferentes códigos HTTP para representar diferentes resultados.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código HTTP faz parte do contrato da 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21" name="Gráfico 20" descr="Ponto de interrogação com preenchimento sólido">
            <a:extLst>
              <a:ext uri="{FF2B5EF4-FFF2-40B4-BE49-F238E27FC236}">
                <a16:creationId xmlns:a16="http://schemas.microsoft.com/office/drawing/2014/main" id="{3129B824-0F4C-7D8D-915E-E7C2D83B7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5554" y="2164241"/>
            <a:ext cx="318625" cy="318625"/>
          </a:xfrm>
          <a:prstGeom prst="rect">
            <a:avLst/>
          </a:prstGeom>
        </p:spPr>
      </p:pic>
      <p:sp>
        <p:nvSpPr>
          <p:cNvPr id="22" name="Título 4">
            <a:extLst>
              <a:ext uri="{FF2B5EF4-FFF2-40B4-BE49-F238E27FC236}">
                <a16:creationId xmlns:a16="http://schemas.microsoft.com/office/drawing/2014/main" id="{505775BE-BC99-D44A-DEDD-FB4F58227DE5}"/>
              </a:ext>
            </a:extLst>
          </p:cNvPr>
          <p:cNvSpPr txBox="1">
            <a:spLocks/>
          </p:cNvSpPr>
          <p:nvPr/>
        </p:nvSpPr>
        <p:spPr>
          <a:xfrm>
            <a:off x="7090020" y="2087537"/>
            <a:ext cx="4352796" cy="5195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Será que deu certo ?</a:t>
            </a:r>
          </a:p>
        </p:txBody>
      </p:sp>
    </p:spTree>
    <p:extLst>
      <p:ext uri="{BB962C8B-B14F-4D97-AF65-F5344CB8AC3E}">
        <p14:creationId xmlns:p14="http://schemas.microsoft.com/office/powerpoint/2010/main" val="1686215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4CEBC-29AA-0B64-6D86-B49A19BD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 dirty="0"/>
              <a:t>Os principais métodos HTTP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5FD78D7-7ED8-1593-FC54-8D4E2A2EC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13956"/>
              </p:ext>
            </p:extLst>
          </p:nvPr>
        </p:nvGraphicFramePr>
        <p:xfrm>
          <a:off x="1795568" y="2176304"/>
          <a:ext cx="8600865" cy="3688080"/>
        </p:xfrm>
        <a:graphic>
          <a:graphicData uri="http://schemas.openxmlformats.org/drawingml/2006/table">
            <a:tbl>
              <a:tblPr/>
              <a:tblGrid>
                <a:gridCol w="2230544">
                  <a:extLst>
                    <a:ext uri="{9D8B030D-6E8A-4147-A177-3AD203B41FA5}">
                      <a16:colId xmlns:a16="http://schemas.microsoft.com/office/drawing/2014/main" val="4025802244"/>
                    </a:ext>
                  </a:extLst>
                </a:gridCol>
                <a:gridCol w="2370244">
                  <a:extLst>
                    <a:ext uri="{9D8B030D-6E8A-4147-A177-3AD203B41FA5}">
                      <a16:colId xmlns:a16="http://schemas.microsoft.com/office/drawing/2014/main" val="263985013"/>
                    </a:ext>
                  </a:extLst>
                </a:gridCol>
                <a:gridCol w="4000077">
                  <a:extLst>
                    <a:ext uri="{9D8B030D-6E8A-4147-A177-3AD203B41FA5}">
                      <a16:colId xmlns:a16="http://schemas.microsoft.com/office/drawing/2014/main" val="104854756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Método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Objetivo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81333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Consultar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Buscar dentistas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00308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9689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Atualizar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29347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Excluir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Remover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206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400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DELETE → 204 No </a:t>
            </a:r>
            <a:r>
              <a:rPr lang="pt-BR" dirty="0" err="1"/>
              <a:t>Content</a:t>
            </a:r>
            <a:endParaRPr lang="pt-BR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44675"/>
            <a:ext cx="3854962" cy="934299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Excluindo um recurso</a:t>
            </a:r>
          </a:p>
          <a:p>
            <a:r>
              <a:rPr lang="pt-BR" dirty="0"/>
              <a:t>O DELETE remove um recurso: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3094765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  <a:endParaRPr lang="en-US" dirty="0"/>
            </a:p>
          </p:txBody>
        </p:sp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E228A5B1-C484-25ED-07D5-96C8C9E0663A}"/>
              </a:ext>
            </a:extLst>
          </p:cNvPr>
          <p:cNvSpPr txBox="1"/>
          <p:nvPr/>
        </p:nvSpPr>
        <p:spPr>
          <a:xfrm>
            <a:off x="592347" y="4049128"/>
            <a:ext cx="39009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 a exclusão ocorrer com sucesso: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BC709487-7ECE-3733-C273-F44D2FF513FA}"/>
              </a:ext>
            </a:extLst>
          </p:cNvPr>
          <p:cNvGrpSpPr/>
          <p:nvPr/>
        </p:nvGrpSpPr>
        <p:grpSpPr>
          <a:xfrm>
            <a:off x="749185" y="4765029"/>
            <a:ext cx="8907432" cy="522650"/>
            <a:chOff x="749185" y="2527734"/>
            <a:chExt cx="4477939" cy="638572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AFB8129F-1E14-8F35-7574-175C494FB5A4}"/>
                </a:ext>
              </a:extLst>
            </p:cNvPr>
            <p:cNvSpPr/>
            <p:nvPr/>
          </p:nvSpPr>
          <p:spPr>
            <a:xfrm>
              <a:off x="749185" y="2527734"/>
              <a:ext cx="4477939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 21">
              <a:extLst>
                <a:ext uri="{FF2B5EF4-FFF2-40B4-BE49-F238E27FC236}">
                  <a16:creationId xmlns:a16="http://schemas.microsoft.com/office/drawing/2014/main" id="{54A36054-122B-868F-925A-DD6F2AF26F47}"/>
                </a:ext>
              </a:extLst>
            </p:cNvPr>
            <p:cNvSpPr/>
            <p:nvPr/>
          </p:nvSpPr>
          <p:spPr>
            <a:xfrm>
              <a:off x="896523" y="2670506"/>
              <a:ext cx="4228246" cy="353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kern="0" spc="-19" dirty="0">
                  <a:solidFill>
                    <a:srgbClr val="D73A49"/>
                  </a:solidFill>
                  <a:latin typeface="Consolas" pitchFamily="34" charset="0"/>
                </a:rPr>
                <a:t>204 No </a:t>
              </a:r>
              <a:r>
                <a:rPr lang="pt-BR" kern="0" spc="-19" dirty="0" err="1">
                  <a:solidFill>
                    <a:srgbClr val="D73A49"/>
                  </a:solidFill>
                  <a:latin typeface="Consolas" pitchFamily="34" charset="0"/>
                </a:rPr>
                <a:t>Content</a:t>
              </a: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276BF1F-FE60-7935-32B4-0812C890ED2B}"/>
              </a:ext>
            </a:extLst>
          </p:cNvPr>
          <p:cNvSpPr txBox="1"/>
          <p:nvPr/>
        </p:nvSpPr>
        <p:spPr>
          <a:xfrm>
            <a:off x="592347" y="5603470"/>
            <a:ext cx="108376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Como não existe necessariamente informação para devolver, o corpo da resposta pode ficar vazio.</a:t>
            </a:r>
          </a:p>
        </p:txBody>
      </p: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DA52F6-A789-393D-0223-A390957C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5AEEF6-6526-B691-C20D-CD6DE1149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863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</TotalTime>
  <Words>232</Words>
  <Application>Microsoft Office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Consolas</vt:lpstr>
      <vt:lpstr>Times New Roman</vt:lpstr>
      <vt:lpstr>Tema do Office</vt:lpstr>
      <vt:lpstr>Boas práticas em APIs REST</vt:lpstr>
      <vt:lpstr>Por que uma API precisa retornar informações?</vt:lpstr>
      <vt:lpstr>Por que não retornar sempre 200?</vt:lpstr>
      <vt:lpstr>Os principais métodos HTTP</vt:lpstr>
      <vt:lpstr>DELETE → 204 No Content</vt:lpstr>
      <vt:lpstr>Colocando em prática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2t27lab001</cp:lastModifiedBy>
  <cp:revision>12</cp:revision>
  <dcterms:created xsi:type="dcterms:W3CDTF">2024-03-08T12:14:33Z</dcterms:created>
  <dcterms:modified xsi:type="dcterms:W3CDTF">2026-08-28T12:34:55Z</dcterms:modified>
</cp:coreProperties>
</file>