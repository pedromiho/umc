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6858000" cx="12192000"/>
  <p:notesSz cx="6858000" cy="9144000"/>
  <p:embeddedFontLst>
    <p:embeddedFont>
      <p:font typeface="Tahoma"/>
      <p:regular r:id="rId45"/>
      <p:bold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580335-EBF8-4850-A6B2-0440B80F2F8F}">
  <a:tblStyle styleId="{6F580335-EBF8-4850-A6B2-0440B80F2F8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font" Target="fonts/Tahoma-bold.fntdata"/><Relationship Id="rId23" Type="http://schemas.openxmlformats.org/officeDocument/2006/relationships/slide" Target="slides/slide18.xml"/><Relationship Id="rId45" Type="http://schemas.openxmlformats.org/officeDocument/2006/relationships/font" Target="fonts/Tahoma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3caa418df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3caa418df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63caa418df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import 'package:flutter/material.dart';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void main()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runApp(MaterialApp(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home: Scaffold(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appBar: AppBar(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title: Text('Aula 1'),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body: Center(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child: Row(    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children: [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Text('Hello World!', style: TextStyle(fontSize: 24)),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Icon(Icons.android, color: Colors.green),  // Ícone do Android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descr="File:Dart logo.png - Wikimedia Commons" id="24" name="Google Shape;24;p3"/>
          <p:cNvSpPr/>
          <p:nvPr/>
        </p:nvSpPr>
        <p:spPr>
          <a:xfrm>
            <a:off x="0" y="427078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Flutter Logo PNG vector in SVG, PDF, AI, CDR format" id="25" name="Google Shape;25;p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Ficheiro:Dart programming language logo.svg – Wikipédia, a enciclopédia  livre" id="26" name="Google Shape;26;p3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03452" y="6254795"/>
            <a:ext cx="1827439" cy="56823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/>
          <p:nvPr/>
        </p:nvSpPr>
        <p:spPr>
          <a:xfrm>
            <a:off x="-1" y="0"/>
            <a:ext cx="161109" cy="6962503"/>
          </a:xfrm>
          <a:prstGeom prst="rect">
            <a:avLst/>
          </a:prstGeom>
          <a:solidFill>
            <a:srgbClr val="0840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10138" y="-1"/>
            <a:ext cx="54339" cy="69625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artpad.dev/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/>
              <a:t>Desenvolvimento de Aplicações</a:t>
            </a:r>
            <a:endParaRPr b="1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2" name="Google Shape;92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None/>
            </a:pPr>
            <a:r>
              <a:rPr b="1" lang="pt-BR">
                <a:solidFill>
                  <a:srgbClr val="888888"/>
                </a:solidFill>
              </a:rPr>
              <a:t>Prof. M.Sc. Leonardo Torres</a:t>
            </a:r>
            <a:endParaRPr b="1">
              <a:solidFill>
                <a:srgbClr val="888888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None/>
            </a:pPr>
            <a:r>
              <a:rPr b="1" lang="pt-BR">
                <a:solidFill>
                  <a:srgbClr val="888888"/>
                </a:solidFill>
              </a:rPr>
              <a:t>leonardotorres@umc.br</a:t>
            </a:r>
            <a:endParaRPr b="1">
              <a:solidFill>
                <a:srgbClr val="888888"/>
              </a:solidFill>
            </a:endParaRPr>
          </a:p>
        </p:txBody>
      </p:sp>
      <p:pic>
        <p:nvPicPr>
          <p:cNvPr id="93" name="Google Shape;9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4075" y="221225"/>
            <a:ext cx="2153077" cy="125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601571" y="160337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Agenda</a:t>
            </a:r>
            <a:endParaRPr/>
          </a:p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353830" y="1638300"/>
            <a:ext cx="11000100" cy="453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just">
              <a:spcBef>
                <a:spcPts val="1000"/>
              </a:spcBef>
              <a:spcAft>
                <a:spcPts val="0"/>
              </a:spcAft>
              <a:buSzPts val="2800"/>
              <a:buChar char="●"/>
            </a:pPr>
            <a:r>
              <a:rPr lang="pt-BR"/>
              <a:t>Ementa</a:t>
            </a:r>
            <a:endParaRPr/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/>
              <a:t>Conteúdo Programático</a:t>
            </a:r>
            <a:endParaRPr/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/>
              <a:t>Objetivos da disciplina</a:t>
            </a:r>
            <a:endParaRPr/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/>
              <a:t>Critérios de Avaliação</a:t>
            </a:r>
            <a:endParaRPr/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/>
              <a:t>Bibliografia</a:t>
            </a:r>
            <a:endParaRPr/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/>
              <a:t>Apresentações</a:t>
            </a:r>
            <a:endParaRPr/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/>
              <a:t>Introdução ao DART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pt-BR"/>
              <a:t>Ementa </a:t>
            </a:r>
            <a:endParaRPr/>
          </a:p>
        </p:txBody>
      </p:sp>
      <p:sp>
        <p:nvSpPr>
          <p:cNvPr id="106" name="Google Shape;106;p15"/>
          <p:cNvSpPr txBox="1"/>
          <p:nvPr>
            <p:ph idx="1" type="body"/>
          </p:nvPr>
        </p:nvSpPr>
        <p:spPr>
          <a:xfrm>
            <a:off x="595961" y="1401894"/>
            <a:ext cx="11000100" cy="45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0" i="0" lang="pt-B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Desenvolvimento prático de aplicações web e mobile, com foco em tecnologias modernas e frameworks de mercado. Implementação de aplicações cliente-servidor utilizando conceitos de programação back-end e front-end.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840B0"/>
              </a:buClr>
              <a:buSzPts val="2800"/>
              <a:buNone/>
            </a:pPr>
            <a:r>
              <a:t/>
            </a:r>
            <a:endParaRPr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Flutter - Beautiful native apps in record time" id="107" name="Google Shape;107;p15"/>
          <p:cNvPicPr preferRelativeResize="0"/>
          <p:nvPr/>
        </p:nvPicPr>
        <p:blipFill rotWithShape="1">
          <a:blip r:embed="rId3">
            <a:alphaModFix/>
          </a:blip>
          <a:srcRect b="27167" l="0" r="0" t="0"/>
          <a:stretch/>
        </p:blipFill>
        <p:spPr>
          <a:xfrm>
            <a:off x="832644" y="5702922"/>
            <a:ext cx="3048000" cy="1089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pt-BR"/>
              <a:t>Conteúdo Programático</a:t>
            </a:r>
            <a:endParaRPr/>
          </a:p>
        </p:txBody>
      </p:sp>
      <p:sp>
        <p:nvSpPr>
          <p:cNvPr id="113" name="Google Shape;113;p16"/>
          <p:cNvSpPr txBox="1"/>
          <p:nvPr>
            <p:ph idx="1" type="body"/>
          </p:nvPr>
        </p:nvSpPr>
        <p:spPr>
          <a:xfrm>
            <a:off x="424070" y="1205948"/>
            <a:ext cx="10972800" cy="53406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527685" lvl="0" marL="74295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pt-BR"/>
              <a:t>Tecnologias para dispositivos móveis multiplataforma</a:t>
            </a:r>
            <a:endParaRPr/>
          </a:p>
          <a:p>
            <a:pPr indent="-527685" lvl="0" marL="742950" rtl="0" algn="just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pt-BR"/>
              <a:t>Linguagem Dart e Ambiente Flutter – (Introdução, variáveis, tipos, arrays, Estrutura Condicional, Estrutura de Repetição, Orientação a Objetos)</a:t>
            </a:r>
            <a:endParaRPr/>
          </a:p>
          <a:p>
            <a:pPr indent="-527685" lvl="0" marL="742950" rtl="0" algn="just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pt-BR"/>
              <a:t>Ambiente Flutter</a:t>
            </a:r>
            <a:endParaRPr/>
          </a:p>
          <a:p>
            <a:pPr indent="-527685" lvl="0" marL="742950" rtl="0" algn="just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pt-BR"/>
              <a:t>Emuladores</a:t>
            </a:r>
            <a:endParaRPr/>
          </a:p>
          <a:p>
            <a:pPr indent="-527685" lvl="0" marL="742950" rtl="0" algn="just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pt-BR"/>
              <a:t>Componentes visuais no Flutter - Widgets</a:t>
            </a:r>
            <a:endParaRPr/>
          </a:p>
          <a:p>
            <a:pPr indent="-527685" lvl="0" marL="742950" rtl="0" algn="just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pt-BR"/>
              <a:t> Persistência </a:t>
            </a:r>
            <a:endParaRPr/>
          </a:p>
          <a:p>
            <a:pPr indent="-527685" lvl="0" marL="742950" rtl="0" algn="just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pt-BR"/>
              <a:t>Comunicação com serviços Web</a:t>
            </a:r>
            <a:endParaRPr/>
          </a:p>
          <a:p>
            <a:pPr indent="-527685" lvl="0" marL="742950" rtl="0" algn="just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pt-BR"/>
              <a:t>Geolocalização</a:t>
            </a:r>
            <a:endParaRPr/>
          </a:p>
          <a:p>
            <a:pPr indent="-527685" lvl="0" marL="742950" rtl="0" algn="just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pt-BR"/>
              <a:t>Gerando aplicativo para o IOS – Apple Store e Android - Google Play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pt-BR"/>
              <a:t>Objetivo</a:t>
            </a:r>
            <a:endParaRPr/>
          </a:p>
        </p:txBody>
      </p:sp>
      <p:sp>
        <p:nvSpPr>
          <p:cNvPr id="119" name="Google Shape;119;p17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Abordar o estudo e desenvolvimento de aplicações multiplataforma (web-móvel)</a:t>
            </a:r>
            <a:endParaRPr sz="3200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Flutter 2020: The State of Cross-Platform | by Constantin Stan | The ..." id="120" name="Google Shape;12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9099" y="2648939"/>
            <a:ext cx="6978072" cy="3851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pt-BR"/>
              <a:t>Datas importantes</a:t>
            </a:r>
            <a:endParaRPr/>
          </a:p>
        </p:txBody>
      </p:sp>
      <p:sp>
        <p:nvSpPr>
          <p:cNvPr id="126" name="Google Shape;126;p18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05/09 - Atividade em sala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03/10 - Lista de exercícios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/>
              <a:t>22/10 - Avaliação  M1</a:t>
            </a:r>
            <a:endParaRPr b="1"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05/11 - Lista de exercícios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19/11 - Atividade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/>
              <a:t>26/11 - Avaliação M2</a:t>
            </a:r>
            <a:endParaRPr b="1"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pt-BR"/>
              <a:t>Apresentação dos alunos</a:t>
            </a:r>
            <a:endParaRPr/>
          </a:p>
        </p:txBody>
      </p:sp>
      <p:sp>
        <p:nvSpPr>
          <p:cNvPr id="132" name="Google Shape;132;p19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pt-BR"/>
              <a:t> </a:t>
            </a:r>
            <a:r>
              <a:rPr lang="pt-BR">
                <a:latin typeface="Arial"/>
                <a:ea typeface="Arial"/>
                <a:cs typeface="Arial"/>
                <a:sym typeface="Arial"/>
              </a:rPr>
              <a:t>Nome:</a:t>
            </a:r>
            <a:endParaRPr/>
          </a:p>
          <a:p>
            <a:pPr indent="-17780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 Função / Empresa (Caso trabalhe):</a:t>
            </a:r>
            <a:endParaRPr/>
          </a:p>
          <a:p>
            <a:pPr indent="-17780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 Conhecimentos de Linguagem de Programação.</a:t>
            </a:r>
            <a:endParaRPr/>
          </a:p>
          <a:p>
            <a:pPr indent="-17780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 O que espera da disciplina?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pt-BR"/>
              <a:t>Um pouco da história...</a:t>
            </a:r>
            <a:endParaRPr/>
          </a:p>
        </p:txBody>
      </p:sp>
      <p:sp>
        <p:nvSpPr>
          <p:cNvPr id="138" name="Google Shape;138;p20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/>
              <a:t>Apple lançou seu iOS SDK em 2008</a:t>
            </a:r>
            <a:endParaRPr/>
          </a:p>
          <a:p>
            <a:pPr indent="-4064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/>
              <a:t>Google lançou o Android SDK em 2009</a:t>
            </a:r>
            <a:endParaRPr/>
          </a:p>
          <a:p>
            <a:pPr indent="-4064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/>
              <a:t>Desenvolver exige ou exigiu dois SDK o IOS é baseado na linguagem Objective-C (ou, Swift)</a:t>
            </a:r>
            <a:endParaRPr/>
          </a:p>
          <a:p>
            <a:pPr indent="-4064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/>
              <a:t>Android exige Java e/ou Kotlin</a:t>
            </a:r>
            <a:endParaRPr/>
          </a:p>
        </p:txBody>
      </p:sp>
      <p:pic>
        <p:nvPicPr>
          <p:cNvPr id="139" name="Google Shape;13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571" y="5531955"/>
            <a:ext cx="1474304" cy="1290016"/>
          </a:xfrm>
          <a:prstGeom prst="rect">
            <a:avLst/>
          </a:prstGeom>
          <a:noFill/>
          <a:ln>
            <a:noFill/>
          </a:ln>
        </p:spPr>
      </p:pic>
      <p:sp>
        <p:nvSpPr>
          <p:cNvPr descr="iOS Logo : valor, histria, png, vector" id="140" name="Google Shape;140;p2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66852" y="5733613"/>
            <a:ext cx="2425148" cy="1124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pt-BR"/>
              <a:t>Flutter</a:t>
            </a:r>
            <a:endParaRPr/>
          </a:p>
        </p:txBody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/>
              <a:t>O que é ???? 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Flutter é a ferramenta do Google para desenvolvimento de aplicativos nativos para Android, iOS, Web e Desktop, ou seja, o desenvolvimento é realizado apenas uma vez e pode ser executado em até 4 plataformas.</a:t>
            </a:r>
            <a:endParaRPr/>
          </a:p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43546" y="5963478"/>
            <a:ext cx="2048453" cy="970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pt-BR"/>
              <a:t>Flutter</a:t>
            </a:r>
            <a:endParaRPr/>
          </a:p>
        </p:txBody>
      </p:sp>
      <p:sp>
        <p:nvSpPr>
          <p:cNvPr id="154" name="Google Shape;154;p22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Flutter sofre algumas críticas pelo fato de utilizar Dart, mas é graças à ela que ele se torna um framework único, tanto para o desenvolvedor quanto para o usuário final. O desenvolvedor tem uma </a:t>
            </a:r>
            <a:r>
              <a:rPr lang="pt-BR"/>
              <a:t>incrível </a:t>
            </a:r>
            <a:r>
              <a:rPr lang="pt-BR"/>
              <a:t>experiência e o usuário final tem um aplicativo nativo, de alta performance.</a:t>
            </a:r>
            <a:endParaRPr/>
          </a:p>
        </p:txBody>
      </p:sp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43546" y="5963478"/>
            <a:ext cx="2048453" cy="970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type="title"/>
          </p:nvPr>
        </p:nvSpPr>
        <p:spPr>
          <a:xfrm>
            <a:off x="331304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pt-BR"/>
              <a:t>Flutter- Exemplo</a:t>
            </a:r>
            <a:endParaRPr/>
          </a:p>
        </p:txBody>
      </p:sp>
      <p:sp>
        <p:nvSpPr>
          <p:cNvPr id="162" name="Google Shape;162;p23"/>
          <p:cNvSpPr txBox="1"/>
          <p:nvPr>
            <p:ph idx="1" type="body"/>
          </p:nvPr>
        </p:nvSpPr>
        <p:spPr>
          <a:xfrm>
            <a:off x="331304" y="834887"/>
            <a:ext cx="11106717" cy="5854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import 'package:flutter/material.dart';</a:t>
            </a:r>
            <a:endParaRPr/>
          </a:p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void main() {</a:t>
            </a:r>
            <a:endParaRPr/>
          </a:p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runApp(MaterialApp(</a:t>
            </a:r>
            <a:endParaRPr/>
          </a:p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  home: Scaffold(</a:t>
            </a:r>
            <a:endParaRPr/>
          </a:p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    appBar: AppBar(</a:t>
            </a:r>
            <a:endParaRPr/>
          </a:p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      title: Text('Aula 1'),</a:t>
            </a:r>
            <a:endParaRPr/>
          </a:p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    ),</a:t>
            </a:r>
            <a:endParaRPr/>
          </a:p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    body: Center(</a:t>
            </a:r>
            <a:endParaRPr/>
          </a:p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      child: Row(          </a:t>
            </a:r>
            <a:endParaRPr/>
          </a:p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        children: [</a:t>
            </a:r>
            <a:endParaRPr/>
          </a:p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          Text('Hello World!', style: TextStyle(fontSize: 24)),</a:t>
            </a:r>
            <a:endParaRPr/>
          </a:p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          Icon(Icons.android, color: Colors.green),  // Ícone do Android</a:t>
            </a:r>
            <a:endParaRPr/>
          </a:p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        ],</a:t>
            </a:r>
            <a:endParaRPr/>
          </a:p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      ),</a:t>
            </a:r>
            <a:endParaRPr/>
          </a:p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    ),</a:t>
            </a:r>
            <a:endParaRPr/>
          </a:p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  ),</a:t>
            </a:r>
            <a:endParaRPr/>
          </a:p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));</a:t>
            </a:r>
            <a:endParaRPr/>
          </a:p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}</a:t>
            </a:r>
            <a:endParaRPr/>
          </a:p>
          <a:p>
            <a:pPr indent="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163" name="Google Shape;16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43546" y="5963478"/>
            <a:ext cx="2048453" cy="970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pt-BR"/>
              <a:t>Instalação</a:t>
            </a:r>
            <a:endParaRPr/>
          </a:p>
        </p:txBody>
      </p:sp>
      <p:sp>
        <p:nvSpPr>
          <p:cNvPr id="169" name="Google Shape;169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pt-BR"/>
              <a:t>Instalação</a:t>
            </a:r>
            <a:endParaRPr/>
          </a:p>
        </p:txBody>
      </p:sp>
      <p:sp>
        <p:nvSpPr>
          <p:cNvPr id="175" name="Google Shape;175;p25"/>
          <p:cNvSpPr txBox="1"/>
          <p:nvPr>
            <p:ph idx="1" type="body"/>
          </p:nvPr>
        </p:nvSpPr>
        <p:spPr>
          <a:xfrm>
            <a:off x="601570" y="1122948"/>
            <a:ext cx="10752229" cy="5054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Para começar vamos baixar os seguintes programas:</a:t>
            </a:r>
            <a:endParaRPr/>
          </a:p>
          <a:p>
            <a:pPr indent="-470535" lvl="0" marL="6858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pt-BR"/>
              <a:t>Baixe e instale o Visual Studio code. </a:t>
            </a:r>
            <a:r>
              <a:rPr lang="pt-BR">
                <a:solidFill>
                  <a:srgbClr val="0000FF"/>
                </a:solidFill>
              </a:rPr>
              <a:t>https://code.visualstudio.com/download</a:t>
            </a:r>
            <a:endParaRPr>
              <a:solidFill>
                <a:srgbClr val="0000FF"/>
              </a:solidFill>
            </a:endParaRPr>
          </a:p>
          <a:p>
            <a:pPr indent="-470535" lvl="0" marL="6858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pt-BR"/>
              <a:t>Baixe e instale o Android Studio. </a:t>
            </a:r>
            <a:r>
              <a:rPr lang="pt-BR">
                <a:solidFill>
                  <a:srgbClr val="0000FF"/>
                </a:solidFill>
              </a:rPr>
              <a:t>https://developer.android.com/studio/index.html?hl=pt-br</a:t>
            </a:r>
            <a:endParaRPr>
              <a:solidFill>
                <a:srgbClr val="0000FF"/>
              </a:solidFill>
            </a:endParaRPr>
          </a:p>
          <a:p>
            <a:pPr indent="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Vamos baixar o Flutter.</a:t>
            </a:r>
            <a:endParaRPr/>
          </a:p>
          <a:p>
            <a:pPr indent="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Entre no site: </a:t>
            </a:r>
            <a:r>
              <a:rPr lang="pt-BR">
                <a:solidFill>
                  <a:srgbClr val="0000FF"/>
                </a:solidFill>
              </a:rPr>
              <a:t>https://flutter.dev/docs/get-started/install/windows</a:t>
            </a:r>
            <a:endParaRPr>
              <a:solidFill>
                <a:srgbClr val="0000FF"/>
              </a:solidFill>
            </a:endParaRPr>
          </a:p>
          <a:p>
            <a:pPr indent="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Baixe o arquivo para que possamos começar a instalar e configurar.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pt-BR"/>
              <a:t>Configuração do ambiente</a:t>
            </a:r>
            <a:endParaRPr/>
          </a:p>
        </p:txBody>
      </p:sp>
      <p:pic>
        <p:nvPicPr>
          <p:cNvPr id="181" name="Google Shape;181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768" y="2345313"/>
            <a:ext cx="8964276" cy="3124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pt-BR"/>
              <a:t>Configuração do ambiente</a:t>
            </a:r>
            <a:endParaRPr/>
          </a:p>
        </p:txBody>
      </p:sp>
      <p:sp>
        <p:nvSpPr>
          <p:cNvPr id="187" name="Google Shape;187;p27"/>
          <p:cNvSpPr txBox="1"/>
          <p:nvPr>
            <p:ph idx="1" type="body"/>
          </p:nvPr>
        </p:nvSpPr>
        <p:spPr>
          <a:xfrm>
            <a:off x="353830" y="1638300"/>
            <a:ext cx="7089707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Depois de baixar crie uma pasta em c: com o nome src, esse nome é sugerido no próprio site e descompacte o arquivo baixado nela.</a:t>
            </a:r>
            <a:endParaRPr/>
          </a:p>
        </p:txBody>
      </p:sp>
      <p:pic>
        <p:nvPicPr>
          <p:cNvPr id="188" name="Google Shape;18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7905" y="1804266"/>
            <a:ext cx="3525940" cy="382651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pt-BR"/>
              <a:t>Configuração do ambiente</a:t>
            </a:r>
            <a:endParaRPr/>
          </a:p>
        </p:txBody>
      </p:sp>
      <p:sp>
        <p:nvSpPr>
          <p:cNvPr id="194" name="Google Shape;194;p28"/>
          <p:cNvSpPr txBox="1"/>
          <p:nvPr>
            <p:ph idx="1" type="body"/>
          </p:nvPr>
        </p:nvSpPr>
        <p:spPr>
          <a:xfrm>
            <a:off x="353830" y="1010654"/>
            <a:ext cx="10999970" cy="5166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i="0" lang="pt-B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Nosso próximo passo é configurar as variáveis de ambiente do Windows.</a:t>
            </a:r>
            <a:endParaRPr/>
          </a:p>
        </p:txBody>
      </p:sp>
      <p:pic>
        <p:nvPicPr>
          <p:cNvPr id="195" name="Google Shape;19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571" y="2336217"/>
            <a:ext cx="3905795" cy="4248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pt-BR"/>
              <a:t>Configuração do ambiente</a:t>
            </a:r>
            <a:endParaRPr/>
          </a:p>
        </p:txBody>
      </p:sp>
      <p:sp>
        <p:nvSpPr>
          <p:cNvPr id="201" name="Google Shape;201;p29"/>
          <p:cNvSpPr txBox="1"/>
          <p:nvPr>
            <p:ph idx="1" type="body"/>
          </p:nvPr>
        </p:nvSpPr>
        <p:spPr>
          <a:xfrm>
            <a:off x="353830" y="1638300"/>
            <a:ext cx="54373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Altere o Path tanto do usuário quanto do sistema:</a:t>
            </a:r>
            <a:endParaRPr/>
          </a:p>
        </p:txBody>
      </p:sp>
      <p:pic>
        <p:nvPicPr>
          <p:cNvPr id="202" name="Google Shape;20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9004" y="1398908"/>
            <a:ext cx="5849166" cy="5487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0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pt-BR"/>
              <a:t>Configuração do ambiente</a:t>
            </a:r>
            <a:endParaRPr/>
          </a:p>
        </p:txBody>
      </p:sp>
      <p:pic>
        <p:nvPicPr>
          <p:cNvPr id="208" name="Google Shape;208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6516" y="1638300"/>
            <a:ext cx="4859484" cy="4538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pt-BR"/>
              <a:t>Configuração do ambiente</a:t>
            </a:r>
            <a:endParaRPr/>
          </a:p>
        </p:txBody>
      </p:sp>
      <p:sp>
        <p:nvSpPr>
          <p:cNvPr id="214" name="Google Shape;214;p31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Depois disso entre no terminal ou prompt de comando e digite: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Flutter Doctor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Obs: Essa ferramenta nos orienta para que possamos deixar tudo em ordem.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pt-BR"/>
              <a:t>Configuração do ambiente</a:t>
            </a:r>
            <a:endParaRPr/>
          </a:p>
        </p:txBody>
      </p:sp>
      <p:sp>
        <p:nvSpPr>
          <p:cNvPr id="220" name="Google Shape;220;p32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No terminal digite: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flutter doctor --android-licenses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Esse comando é para resolvermos o problema com licensas do android, quando perguntar coloque (Y) para todos aceitando tudo.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3"/>
          <p:cNvSpPr txBox="1"/>
          <p:nvPr>
            <p:ph type="title"/>
          </p:nvPr>
        </p:nvSpPr>
        <p:spPr>
          <a:xfrm>
            <a:off x="596015" y="27662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pt-BR"/>
              <a:t>DART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4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231" name="Google Shape;231;p34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Dartpad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u="sng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https://dartpad.dev/</a:t>
            </a:r>
            <a:endParaRPr>
              <a:solidFill>
                <a:srgbClr val="0000FF"/>
              </a:solidFill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Ou instalar o Flutter</a:t>
            </a:r>
            <a:endParaRPr/>
          </a:p>
          <a:p>
            <a:pPr indent="0" lvl="1" marL="6858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solidFill>
                  <a:srgbClr val="0000FF"/>
                </a:solidFill>
              </a:rPr>
              <a:t>Flutter doctor</a:t>
            </a:r>
            <a:endParaRPr>
              <a:solidFill>
                <a:srgbClr val="0000FF"/>
              </a:solidFill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Instalar o Visual Code</a:t>
            </a:r>
            <a:endParaRPr/>
          </a:p>
          <a:p>
            <a:pPr indent="0" lvl="1" marL="6858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Instalar plugin Flutter</a:t>
            </a:r>
            <a:endParaRPr/>
          </a:p>
          <a:p>
            <a:pPr indent="0" lvl="1" marL="6858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Instalar o plugin Dart</a:t>
            </a:r>
            <a:endParaRPr/>
          </a:p>
          <a:p>
            <a:pPr indent="0" lvl="1" marL="6858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Instalar o plugin CodeRunner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5"/>
          <p:cNvSpPr txBox="1"/>
          <p:nvPr>
            <p:ph type="title"/>
          </p:nvPr>
        </p:nvSpPr>
        <p:spPr>
          <a:xfrm>
            <a:off x="3251894" y="252272"/>
            <a:ext cx="8020595" cy="933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pt-BR"/>
              <a:t>Primeiro Programa em Dart</a:t>
            </a:r>
            <a:endParaRPr/>
          </a:p>
        </p:txBody>
      </p:sp>
      <p:pic>
        <p:nvPicPr>
          <p:cNvPr id="237" name="Google Shape;237;p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65953"/>
            <a:ext cx="3098071" cy="579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8835" y="2761077"/>
            <a:ext cx="8640381" cy="19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6"/>
          <p:cNvSpPr txBox="1"/>
          <p:nvPr>
            <p:ph type="title"/>
          </p:nvPr>
        </p:nvSpPr>
        <p:spPr>
          <a:xfrm>
            <a:off x="3474594" y="2223868"/>
            <a:ext cx="977918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pt-BR"/>
              <a:t>VARIÁVEIS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7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pt-BR"/>
              <a:t>Características do Dart</a:t>
            </a:r>
            <a:endParaRPr/>
          </a:p>
        </p:txBody>
      </p:sp>
      <p:sp>
        <p:nvSpPr>
          <p:cNvPr id="249" name="Google Shape;249;p37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sz="2800"/>
              <a:t>O Dart, assim como diversas outras linguagens de programação, como o C, C++ e Java, possui tipagem estática. Linguagens com tipagem estática não permitem ao desenvolvedor alterar o tipo da variável depois de declarada.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8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pt-BR"/>
              <a:t>Operadores</a:t>
            </a:r>
            <a:endParaRPr/>
          </a:p>
        </p:txBody>
      </p:sp>
      <p:graphicFrame>
        <p:nvGraphicFramePr>
          <p:cNvPr id="255" name="Google Shape;255;p38"/>
          <p:cNvGraphicFramePr/>
          <p:nvPr/>
        </p:nvGraphicFramePr>
        <p:xfrm>
          <a:off x="692150" y="20177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{6F580335-EBF8-4850-A6B2-0440B80F2F8F}</a:tableStyleId>
              </a:tblPr>
              <a:tblGrid>
                <a:gridCol w="5127625"/>
                <a:gridCol w="5127625"/>
              </a:tblGrid>
              <a:tr h="37085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u="none" cap="none" strike="noStrike"/>
                        <a:t>Operadores</a:t>
                      </a:r>
                      <a:endParaRPr/>
                    </a:p>
                  </a:txBody>
                  <a:tcPr marT="45725" marB="45725" marR="91450" marL="91450" anchor="ctr"/>
                </a:tc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+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/>
                        <a:t>Soma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/>
                        <a:t>Subtração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/>
                        <a:t>/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/>
                        <a:t>Divisão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/>
                        <a:t>*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/>
                        <a:t>Multiplicação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/>
                        <a:t>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/>
                        <a:t>Resto da divisão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/>
                        <a:t>&lt;=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/>
                        <a:t>Menor igual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/>
                        <a:t>&gt;=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/>
                        <a:t>Maior igual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9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pt-BR"/>
              <a:t>Exemplo</a:t>
            </a:r>
            <a:endParaRPr/>
          </a:p>
        </p:txBody>
      </p:sp>
      <p:sp>
        <p:nvSpPr>
          <p:cNvPr id="261" name="Google Shape;261;p39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b="0" lang="pt-BR" sz="24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void main() {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b="0" lang="pt-BR" sz="24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  var a = 10;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b="0" lang="pt-BR" sz="24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  var b = 5;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br>
              <a:rPr b="0" lang="pt-BR" sz="24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pt-BR" sz="24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  print(a + b);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b="0" lang="pt-BR" sz="24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  print(a - b);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b="0" lang="pt-BR" sz="24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  print(a * b);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b="0" lang="pt-BR" sz="24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  print(a / b);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b="0" lang="pt-BR" sz="24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  print(a % b);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b="0" lang="pt-BR" sz="24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br>
              <a:rPr b="0" lang="pt-BR" sz="24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sz="2400">
              <a:solidFill>
                <a:srgbClr val="00206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0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pt-BR"/>
              <a:t>Tipos de Dados</a:t>
            </a:r>
            <a:endParaRPr/>
          </a:p>
        </p:txBody>
      </p:sp>
      <p:graphicFrame>
        <p:nvGraphicFramePr>
          <p:cNvPr id="267" name="Google Shape;267;p40"/>
          <p:cNvGraphicFramePr/>
          <p:nvPr/>
        </p:nvGraphicFramePr>
        <p:xfrm>
          <a:off x="692150" y="20177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{6F580335-EBF8-4850-A6B2-0440B80F2F8F}</a:tableStyleId>
              </a:tblPr>
              <a:tblGrid>
                <a:gridCol w="5127625"/>
                <a:gridCol w="5127625"/>
              </a:tblGrid>
              <a:tr h="37085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/>
                        <a:t>Tipos</a:t>
                      </a:r>
                      <a:endParaRPr/>
                    </a:p>
                  </a:txBody>
                  <a:tcPr marT="45725" marB="45725" marR="91450" marL="91450" anchor="ctr"/>
                </a:tc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/>
                        <a:t>Inteiro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</a:t>
                      </a:r>
                      <a:r>
                        <a:rPr lang="pt-BR" sz="2000"/>
                        <a:t> numero </a:t>
                      </a:r>
                      <a:r>
                        <a:rPr lang="pt-BR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</a:t>
                      </a:r>
                      <a:r>
                        <a:rPr lang="pt-BR" sz="2000"/>
                        <a:t> </a:t>
                      </a:r>
                      <a:r>
                        <a:rPr lang="pt-BR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10;</a:t>
                      </a:r>
                      <a:endParaRPr sz="20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/>
                        <a:t>Double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double</a:t>
                      </a:r>
                      <a:r>
                        <a:rPr lang="pt-BR" sz="2000"/>
                        <a:t> numero_decimal </a:t>
                      </a:r>
                      <a:r>
                        <a:rPr lang="pt-BR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</a:t>
                      </a:r>
                      <a:r>
                        <a:rPr lang="pt-BR" sz="2000"/>
                        <a:t> </a:t>
                      </a:r>
                      <a:r>
                        <a:rPr lang="pt-BR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10.5;</a:t>
                      </a:r>
                      <a:endParaRPr sz="20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/>
                        <a:t>String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pt-BR" sz="2000"/>
                        <a:t> nome </a:t>
                      </a:r>
                      <a:r>
                        <a:rPr lang="pt-BR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</a:t>
                      </a:r>
                      <a:r>
                        <a:rPr lang="pt-BR" sz="2000"/>
                        <a:t> </a:t>
                      </a:r>
                      <a:r>
                        <a:rPr lang="pt-BR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“Fatec_Ferraz";</a:t>
                      </a:r>
                      <a:endParaRPr sz="20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/>
                        <a:t>Booleano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/>
                        <a:t>bool vivo </a:t>
                      </a:r>
                      <a:r>
                        <a:rPr lang="pt-BR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</a:t>
                      </a:r>
                      <a:r>
                        <a:rPr lang="pt-BR" sz="2000"/>
                        <a:t> </a:t>
                      </a:r>
                      <a:r>
                        <a:rPr lang="pt-BR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true;</a:t>
                      </a:r>
                      <a:endParaRPr sz="20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/>
                        <a:t>Dynamic-</a:t>
                      </a:r>
                      <a:r>
                        <a:rPr b="0" i="0" lang="pt-BR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permite que uma variável consiga armazenar qualquer tipo de dado e, inclusive, alterá-lo em tempo de execução.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/>
                        <a:t>dynamic dinamico </a:t>
                      </a:r>
                      <a:r>
                        <a:rPr lang="pt-BR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</a:t>
                      </a:r>
                      <a:r>
                        <a:rPr lang="pt-BR" sz="2000"/>
                        <a:t> </a:t>
                      </a:r>
                      <a:r>
                        <a:rPr lang="pt-BR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"Fatec_Ferraz";</a:t>
                      </a:r>
                      <a:r>
                        <a:rPr lang="pt-BR" sz="2000"/>
                        <a:t> </a:t>
                      </a:r>
                      <a:r>
                        <a:rPr lang="pt-BR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print(</a:t>
                      </a:r>
                      <a:r>
                        <a:rPr lang="pt-BR" sz="2000"/>
                        <a:t>dinamico</a:t>
                      </a:r>
                      <a:r>
                        <a:rPr lang="pt-BR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);</a:t>
                      </a:r>
                      <a:r>
                        <a:rPr lang="pt-BR" sz="2000"/>
                        <a:t> </a:t>
                      </a:r>
                      <a:r>
                        <a:rPr lang="pt-BR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// Fatec_Ferraz</a:t>
                      </a:r>
                      <a:endParaRPr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print(</a:t>
                      </a:r>
                      <a:r>
                        <a:rPr lang="pt-BR" sz="2000"/>
                        <a:t>dinamico</a:t>
                      </a:r>
                      <a:r>
                        <a:rPr lang="pt-BR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);</a:t>
                      </a:r>
                      <a:r>
                        <a:rPr lang="pt-BR" sz="2000"/>
                        <a:t> </a:t>
                      </a:r>
                      <a:r>
                        <a:rPr lang="pt-BR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// 10</a:t>
                      </a:r>
                      <a:endParaRPr sz="20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pt-BR" sz="2000"/>
                        <a:t>Var-o Dart vai inferir o tipo de variável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pt-BR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 curso = ‘ADS';</a:t>
                      </a:r>
                      <a:endParaRPr sz="20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1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pt-BR"/>
              <a:t>Tipos de Dados</a:t>
            </a:r>
            <a:endParaRPr/>
          </a:p>
        </p:txBody>
      </p:sp>
      <p:sp>
        <p:nvSpPr>
          <p:cNvPr id="273" name="Google Shape;273;p41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List = símbolo = [     ] é indexado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Map {   } = Chave, valor (não permite repetição da chave)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Set = não é indexado, não permite repetição (valores únicos)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2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pt-BR"/>
              <a:t>Tipos de Dados</a:t>
            </a:r>
            <a:endParaRPr/>
          </a:p>
        </p:txBody>
      </p:sp>
      <p:sp>
        <p:nvSpPr>
          <p:cNvPr id="279" name="Google Shape;279;p42"/>
          <p:cNvSpPr txBox="1"/>
          <p:nvPr>
            <p:ph idx="1" type="body"/>
          </p:nvPr>
        </p:nvSpPr>
        <p:spPr>
          <a:xfrm>
            <a:off x="692330" y="2017467"/>
            <a:ext cx="8438417" cy="4579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800"/>
              <a:buNone/>
            </a:pPr>
            <a:r>
              <a:rPr b="1" i="1" lang="pt-BR" u="sng">
                <a:solidFill>
                  <a:srgbClr val="7030A0"/>
                </a:solidFill>
              </a:rPr>
              <a:t>Listas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void main() {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  List alunos = ["Ana", "Ivo", "Teo"];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  print(alunos);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}</a:t>
            </a:r>
            <a:endParaRPr/>
          </a:p>
        </p:txBody>
      </p:sp>
      <p:pic>
        <p:nvPicPr>
          <p:cNvPr id="280" name="Google Shape;28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3988" y="4153000"/>
            <a:ext cx="5578012" cy="27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3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pt-BR"/>
              <a:t>Tipos de Dados</a:t>
            </a:r>
            <a:endParaRPr/>
          </a:p>
        </p:txBody>
      </p:sp>
      <p:sp>
        <p:nvSpPr>
          <p:cNvPr id="286" name="Google Shape;286;p43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800"/>
              <a:buNone/>
            </a:pPr>
            <a:r>
              <a:rPr b="1" i="1" lang="pt-BR" u="sng">
                <a:solidFill>
                  <a:srgbClr val="7030A0"/>
                </a:solidFill>
              </a:rPr>
              <a:t>Map</a:t>
            </a:r>
            <a:endParaRPr/>
          </a:p>
        </p:txBody>
      </p:sp>
      <p:pic>
        <p:nvPicPr>
          <p:cNvPr id="287" name="Google Shape;28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331" y="2749096"/>
            <a:ext cx="3967333" cy="254711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3"/>
          <p:cNvSpPr txBox="1"/>
          <p:nvPr/>
        </p:nvSpPr>
        <p:spPr>
          <a:xfrm>
            <a:off x="5403669" y="1765206"/>
            <a:ext cx="6096000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void main()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  Map&lt;String, double&gt; alunos =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    "Ana": 10.0,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    "Ivo": 6.0,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    "Teo": 5.5,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  };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  print(alunos);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  print(alunos is Map);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  print(alunos['Ivo']);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  print(alunos.length);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  print(alunos.values);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  print(alunos.keys);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sz="1800">
              <a:solidFill>
                <a:srgbClr val="00206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4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pt-BR"/>
              <a:t>Tipos de Dados</a:t>
            </a:r>
            <a:endParaRPr/>
          </a:p>
        </p:txBody>
      </p:sp>
      <p:sp>
        <p:nvSpPr>
          <p:cNvPr id="294" name="Google Shape;294;p44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800"/>
              <a:buNone/>
            </a:pPr>
            <a:r>
              <a:rPr b="1" i="1" lang="pt-BR" u="sng">
                <a:solidFill>
                  <a:srgbClr val="7030A0"/>
                </a:solidFill>
              </a:rPr>
              <a:t>Set</a:t>
            </a:r>
            <a:endParaRPr/>
          </a:p>
        </p:txBody>
      </p:sp>
      <p:sp>
        <p:nvSpPr>
          <p:cNvPr id="295" name="Google Shape;295;p44"/>
          <p:cNvSpPr txBox="1"/>
          <p:nvPr/>
        </p:nvSpPr>
        <p:spPr>
          <a:xfrm>
            <a:off x="2771503" y="1957890"/>
            <a:ext cx="8175172" cy="55399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void main()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  Set&lt;String&gt; alunos = {"Ana", "Ivo", "Teo"};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pt-BR" sz="24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pt-BR" sz="24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  print(alunos);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  print(alunos is Set);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  print(alunos.length);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  alunos.add("Pedro");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  print(alunos.length);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  print(alunos.contains("Teo"));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  print(alunos.first);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  print(alunos.last);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pt-BR" sz="24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sz="24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solidFill>
                <a:srgbClr val="00206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5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pt-BR"/>
              <a:t>Interpolação</a:t>
            </a:r>
            <a:endParaRPr/>
          </a:p>
        </p:txBody>
      </p:sp>
      <p:sp>
        <p:nvSpPr>
          <p:cNvPr id="301" name="Google Shape;301;p45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void main() {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String nome = "UMC";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String cidade = "Mogi das Cruzes";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print("$nome $cidade");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print("1 + 1 = ${1 + 1}");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}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6"/>
          <p:cNvSpPr txBox="1"/>
          <p:nvPr>
            <p:ph type="title"/>
          </p:nvPr>
        </p:nvSpPr>
        <p:spPr>
          <a:xfrm>
            <a:off x="2954089" y="2533356"/>
            <a:ext cx="977918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pt-BR"/>
              <a:t>Entrada de Dados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7"/>
          <p:cNvSpPr txBox="1"/>
          <p:nvPr>
            <p:ph type="title"/>
          </p:nvPr>
        </p:nvSpPr>
        <p:spPr>
          <a:xfrm>
            <a:off x="692331" y="261257"/>
            <a:ext cx="8020595" cy="933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pt-BR"/>
              <a:t>Entrada de Dados </a:t>
            </a:r>
            <a:endParaRPr/>
          </a:p>
        </p:txBody>
      </p:sp>
      <p:sp>
        <p:nvSpPr>
          <p:cNvPr id="312" name="Google Shape;312;p47"/>
          <p:cNvSpPr txBox="1"/>
          <p:nvPr>
            <p:ph idx="1" type="body"/>
          </p:nvPr>
        </p:nvSpPr>
        <p:spPr>
          <a:xfrm>
            <a:off x="486384" y="1303506"/>
            <a:ext cx="10460292" cy="5293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Em Dart utilizamos a função </a:t>
            </a:r>
            <a:r>
              <a:rPr b="1" lang="pt-BR" u="sng">
                <a:solidFill>
                  <a:srgbClr val="1E4E79"/>
                </a:solidFill>
              </a:rPr>
              <a:t>.readLineSync() </a:t>
            </a:r>
            <a:r>
              <a:rPr lang="pt-BR"/>
              <a:t>.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Para a função precisamos importar a biblioteca </a:t>
            </a:r>
            <a:r>
              <a:rPr b="1" lang="pt-BR" u="sng">
                <a:solidFill>
                  <a:srgbClr val="1E4E79"/>
                </a:solidFill>
              </a:rPr>
              <a:t>dart: io</a:t>
            </a:r>
            <a:endParaRPr b="1" u="sng">
              <a:solidFill>
                <a:srgbClr val="1E4E79"/>
              </a:solidFill>
            </a:endParaRPr>
          </a:p>
          <a:p>
            <a:pPr indent="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pt-BR" sz="2000">
                <a:latin typeface="Consolas"/>
                <a:ea typeface="Consolas"/>
                <a:cs typeface="Consolas"/>
                <a:sym typeface="Consolas"/>
              </a:rPr>
              <a:t>import 'dart:io';</a:t>
            </a:r>
            <a:br>
              <a:rPr b="0" lang="pt-BR" sz="2000">
                <a:latin typeface="Consolas"/>
                <a:ea typeface="Consolas"/>
                <a:cs typeface="Consolas"/>
                <a:sym typeface="Consolas"/>
              </a:rPr>
            </a:br>
            <a:r>
              <a:rPr b="0" lang="pt-BR" sz="2000">
                <a:latin typeface="Consolas"/>
                <a:ea typeface="Consolas"/>
                <a:cs typeface="Consolas"/>
                <a:sym typeface="Consolas"/>
              </a:rPr>
              <a:t>void main() {</a:t>
            </a:r>
            <a:endParaRPr/>
          </a:p>
          <a:p>
            <a:pPr indent="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pt-BR" sz="2000">
                <a:latin typeface="Consolas"/>
                <a:ea typeface="Consolas"/>
                <a:cs typeface="Consolas"/>
                <a:sym typeface="Consolas"/>
              </a:rPr>
              <a:t>  String nome;</a:t>
            </a:r>
            <a:endParaRPr/>
          </a:p>
          <a:p>
            <a:pPr indent="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pt-BR" sz="2000">
                <a:latin typeface="Consolas"/>
                <a:ea typeface="Consolas"/>
                <a:cs typeface="Consolas"/>
                <a:sym typeface="Consolas"/>
              </a:rPr>
              <a:t>  print("Boa noite!!! Digite seu nome:");</a:t>
            </a:r>
            <a:endParaRPr/>
          </a:p>
          <a:p>
            <a:pPr indent="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pt-BR" sz="2000">
                <a:latin typeface="Consolas"/>
                <a:ea typeface="Consolas"/>
                <a:cs typeface="Consolas"/>
                <a:sym typeface="Consolas"/>
              </a:rPr>
              <a:t>  nome = stdin.readLineSync()!; // Exclamação assume um compromisso para valor não nulo</a:t>
            </a:r>
            <a:endParaRPr/>
          </a:p>
          <a:p>
            <a:pPr indent="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pt-BR" sz="2000">
                <a:latin typeface="Consolas"/>
                <a:ea typeface="Consolas"/>
                <a:cs typeface="Consolas"/>
                <a:sym typeface="Consolas"/>
              </a:rPr>
              <a:t>  print("Boa noite " + nome);</a:t>
            </a:r>
            <a:endParaRPr/>
          </a:p>
          <a:p>
            <a:pPr indent="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pt-BR" sz="2000"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CCCCCC"/>
              </a:buClr>
              <a:buSzPct val="100000"/>
              <a:buNone/>
            </a:pPr>
            <a:br>
              <a:rPr b="0" lang="pt-BR" sz="20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sz="20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u="sng">
              <a:solidFill>
                <a:srgbClr val="1E4E79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8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pt-BR"/>
              <a:t>Entrada de Dados </a:t>
            </a:r>
            <a:endParaRPr/>
          </a:p>
        </p:txBody>
      </p:sp>
      <p:sp>
        <p:nvSpPr>
          <p:cNvPr id="318" name="Google Shape;318;p48"/>
          <p:cNvSpPr txBox="1"/>
          <p:nvPr>
            <p:ph idx="1" type="body"/>
          </p:nvPr>
        </p:nvSpPr>
        <p:spPr>
          <a:xfrm>
            <a:off x="692331" y="1722783"/>
            <a:ext cx="10479252" cy="48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Exemplo:</a:t>
            </a:r>
            <a:endParaRPr/>
          </a:p>
          <a:p>
            <a:pPr indent="0" lvl="0" marL="2286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pt-BR" sz="2000">
                <a:latin typeface="Consolas"/>
                <a:ea typeface="Consolas"/>
                <a:cs typeface="Consolas"/>
                <a:sym typeface="Consolas"/>
              </a:rPr>
              <a:t>import 'dart:io';</a:t>
            </a:r>
            <a:endParaRPr sz="1600"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9796"/>
              <a:buNone/>
            </a:pPr>
            <a:r>
              <a:rPr lang="pt-BR" sz="1782">
                <a:latin typeface="Consolas"/>
                <a:ea typeface="Consolas"/>
                <a:cs typeface="Consolas"/>
                <a:sym typeface="Consolas"/>
              </a:rPr>
              <a:t>void main() {</a:t>
            </a:r>
            <a:endParaRPr sz="2982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9796"/>
              <a:buNone/>
            </a:pPr>
            <a:r>
              <a:rPr lang="pt-BR" sz="1782">
                <a:latin typeface="Consolas"/>
                <a:ea typeface="Consolas"/>
                <a:cs typeface="Consolas"/>
                <a:sym typeface="Consolas"/>
              </a:rPr>
              <a:t>  //criacao das variáveis</a:t>
            </a:r>
            <a:endParaRPr sz="2982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9796"/>
              <a:buNone/>
            </a:pPr>
            <a:r>
              <a:rPr lang="pt-BR" sz="1782">
                <a:latin typeface="Consolas"/>
                <a:ea typeface="Consolas"/>
                <a:cs typeface="Consolas"/>
                <a:sym typeface="Consolas"/>
              </a:rPr>
              <a:t>  double PI = 3.1415;</a:t>
            </a:r>
            <a:endParaRPr sz="2982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9796"/>
              <a:buNone/>
            </a:pPr>
            <a:r>
              <a:rPr lang="pt-BR" sz="1782">
                <a:latin typeface="Consolas"/>
                <a:ea typeface="Consolas"/>
                <a:cs typeface="Consolas"/>
                <a:sym typeface="Consolas"/>
              </a:rPr>
              <a:t>  double raio;</a:t>
            </a:r>
            <a:endParaRPr sz="2982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9796"/>
              <a:buNone/>
            </a:pPr>
            <a:r>
              <a:rPr lang="pt-BR" sz="1782">
                <a:latin typeface="Consolas"/>
                <a:ea typeface="Consolas"/>
                <a:cs typeface="Consolas"/>
                <a:sym typeface="Consolas"/>
              </a:rPr>
              <a:t>  double ac;</a:t>
            </a:r>
            <a:endParaRPr sz="2982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9796"/>
              <a:buNone/>
            </a:pPr>
            <a:r>
              <a:rPr lang="pt-BR" sz="1782">
                <a:latin typeface="Consolas"/>
                <a:ea typeface="Consolas"/>
                <a:cs typeface="Consolas"/>
                <a:sym typeface="Consolas"/>
              </a:rPr>
              <a:t>  //entrada de dados</a:t>
            </a:r>
            <a:endParaRPr sz="2982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9796"/>
              <a:buNone/>
            </a:pPr>
            <a:r>
              <a:rPr lang="pt-BR" sz="1782">
                <a:latin typeface="Consolas"/>
                <a:ea typeface="Consolas"/>
                <a:cs typeface="Consolas"/>
                <a:sym typeface="Consolas"/>
              </a:rPr>
              <a:t>  print("Digite o raio da circunferência");</a:t>
            </a:r>
            <a:endParaRPr sz="2982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9796"/>
              <a:buNone/>
            </a:pPr>
            <a:r>
              <a:rPr lang="pt-BR" sz="1782">
                <a:latin typeface="Consolas"/>
                <a:ea typeface="Consolas"/>
                <a:cs typeface="Consolas"/>
                <a:sym typeface="Consolas"/>
              </a:rPr>
              <a:t>  raio = double.parse(stdin.readLineSync()!);</a:t>
            </a:r>
            <a:endParaRPr sz="2982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9796"/>
              <a:buNone/>
            </a:pPr>
            <a:r>
              <a:rPr lang="pt-BR" sz="1782">
                <a:latin typeface="Consolas"/>
                <a:ea typeface="Consolas"/>
                <a:cs typeface="Consolas"/>
                <a:sym typeface="Consolas"/>
              </a:rPr>
              <a:t>  //processamento</a:t>
            </a:r>
            <a:endParaRPr sz="2982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9796"/>
              <a:buNone/>
            </a:pPr>
            <a:r>
              <a:rPr lang="pt-BR" sz="1782">
                <a:latin typeface="Consolas"/>
                <a:ea typeface="Consolas"/>
                <a:cs typeface="Consolas"/>
                <a:sym typeface="Consolas"/>
              </a:rPr>
              <a:t>  ac = PI * raio * raio;</a:t>
            </a:r>
            <a:endParaRPr sz="2982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9796"/>
              <a:buNone/>
            </a:pPr>
            <a:r>
              <a:rPr lang="pt-BR" sz="1782">
                <a:latin typeface="Consolas"/>
                <a:ea typeface="Consolas"/>
                <a:cs typeface="Consolas"/>
                <a:sym typeface="Consolas"/>
              </a:rPr>
              <a:t>  //saída</a:t>
            </a:r>
            <a:endParaRPr sz="2982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9796"/>
              <a:buNone/>
            </a:pPr>
            <a:r>
              <a:rPr lang="pt-BR" sz="1782">
                <a:latin typeface="Consolas"/>
                <a:ea typeface="Consolas"/>
                <a:cs typeface="Consolas"/>
                <a:sym typeface="Consolas"/>
              </a:rPr>
              <a:t>  print("A Àrea da circuferência é " + ac.toString());</a:t>
            </a:r>
            <a:endParaRPr sz="2982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9796"/>
              <a:buNone/>
            </a:pPr>
            <a:r>
              <a:rPr lang="pt-BR" sz="1782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982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9"/>
          <p:cNvSpPr txBox="1"/>
          <p:nvPr>
            <p:ph type="title"/>
          </p:nvPr>
        </p:nvSpPr>
        <p:spPr>
          <a:xfrm>
            <a:off x="2954089" y="2533356"/>
            <a:ext cx="977918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pt-BR"/>
              <a:t>Constantes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0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pt-BR"/>
              <a:t>Constantes</a:t>
            </a:r>
            <a:endParaRPr/>
          </a:p>
        </p:txBody>
      </p:sp>
      <p:sp>
        <p:nvSpPr>
          <p:cNvPr id="329" name="Google Shape;329;p50"/>
          <p:cNvSpPr txBox="1"/>
          <p:nvPr>
            <p:ph idx="1" type="body"/>
          </p:nvPr>
        </p:nvSpPr>
        <p:spPr>
          <a:xfrm>
            <a:off x="692331" y="1722783"/>
            <a:ext cx="5748226" cy="48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Final ou const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Const = é um valor que pode ser gerado em tempo de compilação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Final = é um valor que será gerado em tempo de runtime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30" name="Google Shape;33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8607" y="1989295"/>
            <a:ext cx="5224032" cy="3417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1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pt-BR"/>
              <a:t>Exercícios</a:t>
            </a:r>
            <a:endParaRPr/>
          </a:p>
        </p:txBody>
      </p:sp>
      <p:sp>
        <p:nvSpPr>
          <p:cNvPr id="336" name="Google Shape;336;p51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482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R"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Faça um programa na Linguagem Dart que receba 2 números e apresente a multiplicação dos dois números.</a:t>
            </a:r>
            <a:endParaRPr sz="3200"/>
          </a:p>
          <a:p>
            <a:pPr indent="-4826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arenR"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Faça um programa na Linguagem Dart para efetuar o cálculo e a apresentação do valor de uma prestação em atraso, utilizando a fórmula PRESTAÇÃO &lt;-- VALOR + (VALOR * (TAXA/100) * TEMPO).</a:t>
            </a:r>
            <a:endParaRPr sz="3200"/>
          </a:p>
          <a:p>
            <a:pPr indent="-4826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arenR"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Faça um programa na Linguagem Dart para efetuar a leitura de um número inteiro e apresentar o resultado do quadrado desse número.</a:t>
            </a:r>
            <a:endParaRPr sz="3200"/>
          </a:p>
          <a:p>
            <a:pPr indent="0" lvl="0" marL="2286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6858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