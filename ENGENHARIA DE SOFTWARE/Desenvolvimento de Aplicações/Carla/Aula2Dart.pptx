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5810503" y="2614630"/>
            <a:ext cx="5541009" cy="414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680415" y="418541"/>
            <a:ext cx="238696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212525" y="6254791"/>
            <a:ext cx="1809219" cy="5682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61290" cy="6858000"/>
          </a:xfrm>
          <a:custGeom>
            <a:rect b="b" l="l" r="r" t="t"/>
            <a:pathLst>
              <a:path extrusionOk="0" h="6858000" w="161290">
                <a:moveTo>
                  <a:pt x="161112" y="0"/>
                </a:moveTo>
                <a:lnTo>
                  <a:pt x="0" y="0"/>
                </a:lnTo>
                <a:lnTo>
                  <a:pt x="0" y="6858000"/>
                </a:lnTo>
                <a:lnTo>
                  <a:pt x="161112" y="6858000"/>
                </a:lnTo>
                <a:lnTo>
                  <a:pt x="161112" y="0"/>
                </a:lnTo>
                <a:close/>
              </a:path>
            </a:pathLst>
          </a:custGeom>
          <a:solidFill>
            <a:srgbClr val="0840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210134" y="0"/>
            <a:ext cx="54610" cy="6858000"/>
          </a:xfrm>
          <a:custGeom>
            <a:rect b="b" l="l" r="r" t="t"/>
            <a:pathLst>
              <a:path extrusionOk="0" h="6858000" w="54610">
                <a:moveTo>
                  <a:pt x="54339" y="0"/>
                </a:moveTo>
                <a:lnTo>
                  <a:pt x="0" y="0"/>
                </a:lnTo>
                <a:lnTo>
                  <a:pt x="0" y="6857999"/>
                </a:lnTo>
                <a:lnTo>
                  <a:pt x="54339" y="6858000"/>
                </a:lnTo>
                <a:lnTo>
                  <a:pt x="54339" y="0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5810503" y="2614630"/>
            <a:ext cx="5541009" cy="414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12192038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type="title"/>
          </p:nvPr>
        </p:nvSpPr>
        <p:spPr>
          <a:xfrm>
            <a:off x="1206195" y="2688793"/>
            <a:ext cx="4411345" cy="121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0" lvl="0" marL="12700" marR="5080" rtl="0" algn="l">
              <a:lnSpc>
                <a:spcPct val="10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rgbClr val="FFFFFF"/>
                </a:solidFill>
              </a:rPr>
              <a:t>Desenvolvimento de Aplicações</a:t>
            </a:r>
            <a:endParaRPr sz="4100"/>
          </a:p>
        </p:txBody>
      </p:sp>
      <p:sp>
        <p:nvSpPr>
          <p:cNvPr id="48" name="Google Shape;48;p7"/>
          <p:cNvSpPr txBox="1"/>
          <p:nvPr/>
        </p:nvSpPr>
        <p:spPr>
          <a:xfrm>
            <a:off x="1206195" y="4741240"/>
            <a:ext cx="34596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Prof. Leonardo Torres</a:t>
            </a:r>
            <a:endParaRPr b="1"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leonardotorres@umc.br</a:t>
            </a:r>
            <a:endParaRPr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6390640" y="1062482"/>
            <a:ext cx="4756150" cy="4756785"/>
            <a:chOff x="6390640" y="1062482"/>
            <a:chExt cx="4756150" cy="4756785"/>
          </a:xfrm>
        </p:grpSpPr>
        <p:sp>
          <p:nvSpPr>
            <p:cNvPr id="50" name="Google Shape;50;p7"/>
            <p:cNvSpPr/>
            <p:nvPr/>
          </p:nvSpPr>
          <p:spPr>
            <a:xfrm>
              <a:off x="6390640" y="1062482"/>
              <a:ext cx="4756150" cy="4756785"/>
            </a:xfrm>
            <a:custGeom>
              <a:rect b="b" l="l" r="r" t="t"/>
              <a:pathLst>
                <a:path extrusionOk="0" h="4756785" w="4756150">
                  <a:moveTo>
                    <a:pt x="2378075" y="0"/>
                  </a:moveTo>
                  <a:lnTo>
                    <a:pt x="2329544" y="485"/>
                  </a:lnTo>
                  <a:lnTo>
                    <a:pt x="2281250" y="1935"/>
                  </a:lnTo>
                  <a:lnTo>
                    <a:pt x="2233203" y="4340"/>
                  </a:lnTo>
                  <a:lnTo>
                    <a:pt x="2185410" y="7691"/>
                  </a:lnTo>
                  <a:lnTo>
                    <a:pt x="2137882" y="11979"/>
                  </a:lnTo>
                  <a:lnTo>
                    <a:pt x="2090627" y="17195"/>
                  </a:lnTo>
                  <a:lnTo>
                    <a:pt x="2043655" y="23329"/>
                  </a:lnTo>
                  <a:lnTo>
                    <a:pt x="1996976" y="30372"/>
                  </a:lnTo>
                  <a:lnTo>
                    <a:pt x="1950597" y="38316"/>
                  </a:lnTo>
                  <a:lnTo>
                    <a:pt x="1904529" y="47150"/>
                  </a:lnTo>
                  <a:lnTo>
                    <a:pt x="1858780" y="56866"/>
                  </a:lnTo>
                  <a:lnTo>
                    <a:pt x="1813360" y="67454"/>
                  </a:lnTo>
                  <a:lnTo>
                    <a:pt x="1768279" y="78905"/>
                  </a:lnTo>
                  <a:lnTo>
                    <a:pt x="1723544" y="91211"/>
                  </a:lnTo>
                  <a:lnTo>
                    <a:pt x="1679166" y="104361"/>
                  </a:lnTo>
                  <a:lnTo>
                    <a:pt x="1635154" y="118346"/>
                  </a:lnTo>
                  <a:lnTo>
                    <a:pt x="1591516" y="133158"/>
                  </a:lnTo>
                  <a:lnTo>
                    <a:pt x="1548263" y="148787"/>
                  </a:lnTo>
                  <a:lnTo>
                    <a:pt x="1505403" y="165224"/>
                  </a:lnTo>
                  <a:lnTo>
                    <a:pt x="1462946" y="182459"/>
                  </a:lnTo>
                  <a:lnTo>
                    <a:pt x="1420900" y="200484"/>
                  </a:lnTo>
                  <a:lnTo>
                    <a:pt x="1379275" y="219289"/>
                  </a:lnTo>
                  <a:lnTo>
                    <a:pt x="1338081" y="238866"/>
                  </a:lnTo>
                  <a:lnTo>
                    <a:pt x="1297325" y="259204"/>
                  </a:lnTo>
                  <a:lnTo>
                    <a:pt x="1257019" y="280294"/>
                  </a:lnTo>
                  <a:lnTo>
                    <a:pt x="1217170" y="302128"/>
                  </a:lnTo>
                  <a:lnTo>
                    <a:pt x="1177788" y="324696"/>
                  </a:lnTo>
                  <a:lnTo>
                    <a:pt x="1138882" y="347989"/>
                  </a:lnTo>
                  <a:lnTo>
                    <a:pt x="1100462" y="371998"/>
                  </a:lnTo>
                  <a:lnTo>
                    <a:pt x="1062537" y="396713"/>
                  </a:lnTo>
                  <a:lnTo>
                    <a:pt x="1025115" y="422126"/>
                  </a:lnTo>
                  <a:lnTo>
                    <a:pt x="988206" y="448227"/>
                  </a:lnTo>
                  <a:lnTo>
                    <a:pt x="951820" y="475006"/>
                  </a:lnTo>
                  <a:lnTo>
                    <a:pt x="915965" y="502456"/>
                  </a:lnTo>
                  <a:lnTo>
                    <a:pt x="880651" y="530565"/>
                  </a:lnTo>
                  <a:lnTo>
                    <a:pt x="845887" y="559326"/>
                  </a:lnTo>
                  <a:lnTo>
                    <a:pt x="811681" y="588729"/>
                  </a:lnTo>
                  <a:lnTo>
                    <a:pt x="778045" y="618765"/>
                  </a:lnTo>
                  <a:lnTo>
                    <a:pt x="744985" y="649425"/>
                  </a:lnTo>
                  <a:lnTo>
                    <a:pt x="712513" y="680698"/>
                  </a:lnTo>
                  <a:lnTo>
                    <a:pt x="680636" y="712577"/>
                  </a:lnTo>
                  <a:lnTo>
                    <a:pt x="649365" y="745052"/>
                  </a:lnTo>
                  <a:lnTo>
                    <a:pt x="618708" y="778114"/>
                  </a:lnTo>
                  <a:lnTo>
                    <a:pt x="588674" y="811753"/>
                  </a:lnTo>
                  <a:lnTo>
                    <a:pt x="559273" y="845961"/>
                  </a:lnTo>
                  <a:lnTo>
                    <a:pt x="530515" y="880727"/>
                  </a:lnTo>
                  <a:lnTo>
                    <a:pt x="502407" y="916044"/>
                  </a:lnTo>
                  <a:lnTo>
                    <a:pt x="474960" y="951901"/>
                  </a:lnTo>
                  <a:lnTo>
                    <a:pt x="448183" y="988290"/>
                  </a:lnTo>
                  <a:lnTo>
                    <a:pt x="422084" y="1025200"/>
                  </a:lnTo>
                  <a:lnTo>
                    <a:pt x="396674" y="1062624"/>
                  </a:lnTo>
                  <a:lnTo>
                    <a:pt x="371961" y="1100552"/>
                  </a:lnTo>
                  <a:lnTo>
                    <a:pt x="347954" y="1138974"/>
                  </a:lnTo>
                  <a:lnTo>
                    <a:pt x="324663" y="1177882"/>
                  </a:lnTo>
                  <a:lnTo>
                    <a:pt x="302097" y="1217266"/>
                  </a:lnTo>
                  <a:lnTo>
                    <a:pt x="280265" y="1257117"/>
                  </a:lnTo>
                  <a:lnTo>
                    <a:pt x="259177" y="1297426"/>
                  </a:lnTo>
                  <a:lnTo>
                    <a:pt x="238841" y="1338183"/>
                  </a:lnTo>
                  <a:lnTo>
                    <a:pt x="219266" y="1379379"/>
                  </a:lnTo>
                  <a:lnTo>
                    <a:pt x="200463" y="1421006"/>
                  </a:lnTo>
                  <a:lnTo>
                    <a:pt x="182440" y="1463053"/>
                  </a:lnTo>
                  <a:lnTo>
                    <a:pt x="165206" y="1505512"/>
                  </a:lnTo>
                  <a:lnTo>
                    <a:pt x="148771" y="1548374"/>
                  </a:lnTo>
                  <a:lnTo>
                    <a:pt x="133144" y="1591629"/>
                  </a:lnTo>
                  <a:lnTo>
                    <a:pt x="118333" y="1635268"/>
                  </a:lnTo>
                  <a:lnTo>
                    <a:pt x="104349" y="1679282"/>
                  </a:lnTo>
                  <a:lnTo>
                    <a:pt x="91201" y="1723661"/>
                  </a:lnTo>
                  <a:lnTo>
                    <a:pt x="78897" y="1768397"/>
                  </a:lnTo>
                  <a:lnTo>
                    <a:pt x="67447" y="1813480"/>
                  </a:lnTo>
                  <a:lnTo>
                    <a:pt x="56860" y="1858901"/>
                  </a:lnTo>
                  <a:lnTo>
                    <a:pt x="47145" y="1904650"/>
                  </a:lnTo>
                  <a:lnTo>
                    <a:pt x="38312" y="1950719"/>
                  </a:lnTo>
                  <a:lnTo>
                    <a:pt x="30369" y="1997099"/>
                  </a:lnTo>
                  <a:lnTo>
                    <a:pt x="23326" y="2043780"/>
                  </a:lnTo>
                  <a:lnTo>
                    <a:pt x="17193" y="2090752"/>
                  </a:lnTo>
                  <a:lnTo>
                    <a:pt x="11978" y="2138007"/>
                  </a:lnTo>
                  <a:lnTo>
                    <a:pt x="7690" y="2185536"/>
                  </a:lnTo>
                  <a:lnTo>
                    <a:pt x="4339" y="2233329"/>
                  </a:lnTo>
                  <a:lnTo>
                    <a:pt x="1934" y="2281377"/>
                  </a:lnTo>
                  <a:lnTo>
                    <a:pt x="485" y="2329671"/>
                  </a:lnTo>
                  <a:lnTo>
                    <a:pt x="0" y="2378202"/>
                  </a:lnTo>
                  <a:lnTo>
                    <a:pt x="485" y="2426727"/>
                  </a:lnTo>
                  <a:lnTo>
                    <a:pt x="1934" y="2475017"/>
                  </a:lnTo>
                  <a:lnTo>
                    <a:pt x="4339" y="2523060"/>
                  </a:lnTo>
                  <a:lnTo>
                    <a:pt x="7690" y="2570849"/>
                  </a:lnTo>
                  <a:lnTo>
                    <a:pt x="11978" y="2618373"/>
                  </a:lnTo>
                  <a:lnTo>
                    <a:pt x="17193" y="2665624"/>
                  </a:lnTo>
                  <a:lnTo>
                    <a:pt x="23326" y="2712592"/>
                  </a:lnTo>
                  <a:lnTo>
                    <a:pt x="30369" y="2759269"/>
                  </a:lnTo>
                  <a:lnTo>
                    <a:pt x="38312" y="2805644"/>
                  </a:lnTo>
                  <a:lnTo>
                    <a:pt x="47145" y="2851709"/>
                  </a:lnTo>
                  <a:lnTo>
                    <a:pt x="56860" y="2897455"/>
                  </a:lnTo>
                  <a:lnTo>
                    <a:pt x="67447" y="2942872"/>
                  </a:lnTo>
                  <a:lnTo>
                    <a:pt x="78897" y="2987951"/>
                  </a:lnTo>
                  <a:lnTo>
                    <a:pt x="91201" y="3032683"/>
                  </a:lnTo>
                  <a:lnTo>
                    <a:pt x="104349" y="3077058"/>
                  </a:lnTo>
                  <a:lnTo>
                    <a:pt x="118333" y="3121069"/>
                  </a:lnTo>
                  <a:lnTo>
                    <a:pt x="133144" y="3164704"/>
                  </a:lnTo>
                  <a:lnTo>
                    <a:pt x="148771" y="3207955"/>
                  </a:lnTo>
                  <a:lnTo>
                    <a:pt x="165206" y="3250813"/>
                  </a:lnTo>
                  <a:lnTo>
                    <a:pt x="182440" y="3293269"/>
                  </a:lnTo>
                  <a:lnTo>
                    <a:pt x="200463" y="3335313"/>
                  </a:lnTo>
                  <a:lnTo>
                    <a:pt x="219266" y="3376937"/>
                  </a:lnTo>
                  <a:lnTo>
                    <a:pt x="238841" y="3418130"/>
                  </a:lnTo>
                  <a:lnTo>
                    <a:pt x="259177" y="3458884"/>
                  </a:lnTo>
                  <a:lnTo>
                    <a:pt x="280265" y="3499189"/>
                  </a:lnTo>
                  <a:lnTo>
                    <a:pt x="302097" y="3539037"/>
                  </a:lnTo>
                  <a:lnTo>
                    <a:pt x="324663" y="3578418"/>
                  </a:lnTo>
                  <a:lnTo>
                    <a:pt x="347954" y="3617323"/>
                  </a:lnTo>
                  <a:lnTo>
                    <a:pt x="371961" y="3655743"/>
                  </a:lnTo>
                  <a:lnTo>
                    <a:pt x="396674" y="3693668"/>
                  </a:lnTo>
                  <a:lnTo>
                    <a:pt x="422084" y="3731089"/>
                  </a:lnTo>
                  <a:lnTo>
                    <a:pt x="448183" y="3767997"/>
                  </a:lnTo>
                  <a:lnTo>
                    <a:pt x="474960" y="3804383"/>
                  </a:lnTo>
                  <a:lnTo>
                    <a:pt x="502407" y="3840238"/>
                  </a:lnTo>
                  <a:lnTo>
                    <a:pt x="530515" y="3875552"/>
                  </a:lnTo>
                  <a:lnTo>
                    <a:pt x="559273" y="3910316"/>
                  </a:lnTo>
                  <a:lnTo>
                    <a:pt x="588674" y="3944521"/>
                  </a:lnTo>
                  <a:lnTo>
                    <a:pt x="618708" y="3978158"/>
                  </a:lnTo>
                  <a:lnTo>
                    <a:pt x="649365" y="4011217"/>
                  </a:lnTo>
                  <a:lnTo>
                    <a:pt x="680636" y="4043690"/>
                  </a:lnTo>
                  <a:lnTo>
                    <a:pt x="712513" y="4075567"/>
                  </a:lnTo>
                  <a:lnTo>
                    <a:pt x="744985" y="4106839"/>
                  </a:lnTo>
                  <a:lnTo>
                    <a:pt x="778045" y="4137496"/>
                  </a:lnTo>
                  <a:lnTo>
                    <a:pt x="811681" y="4167530"/>
                  </a:lnTo>
                  <a:lnTo>
                    <a:pt x="845887" y="4196931"/>
                  </a:lnTo>
                  <a:lnTo>
                    <a:pt x="880651" y="4225690"/>
                  </a:lnTo>
                  <a:lnTo>
                    <a:pt x="915965" y="4253798"/>
                  </a:lnTo>
                  <a:lnTo>
                    <a:pt x="951820" y="4281246"/>
                  </a:lnTo>
                  <a:lnTo>
                    <a:pt x="988206" y="4308024"/>
                  </a:lnTo>
                  <a:lnTo>
                    <a:pt x="1025115" y="4334123"/>
                  </a:lnTo>
                  <a:lnTo>
                    <a:pt x="1062537" y="4359534"/>
                  </a:lnTo>
                  <a:lnTo>
                    <a:pt x="1100462" y="4384248"/>
                  </a:lnTo>
                  <a:lnTo>
                    <a:pt x="1138882" y="4408255"/>
                  </a:lnTo>
                  <a:lnTo>
                    <a:pt x="1177788" y="4431547"/>
                  </a:lnTo>
                  <a:lnTo>
                    <a:pt x="1217170" y="4454114"/>
                  </a:lnTo>
                  <a:lnTo>
                    <a:pt x="1257019" y="4475946"/>
                  </a:lnTo>
                  <a:lnTo>
                    <a:pt x="1297325" y="4497036"/>
                  </a:lnTo>
                  <a:lnTo>
                    <a:pt x="1338081" y="4517373"/>
                  </a:lnTo>
                  <a:lnTo>
                    <a:pt x="1379275" y="4536948"/>
                  </a:lnTo>
                  <a:lnTo>
                    <a:pt x="1420900" y="4555752"/>
                  </a:lnTo>
                  <a:lnTo>
                    <a:pt x="1462946" y="4573776"/>
                  </a:lnTo>
                  <a:lnTo>
                    <a:pt x="1505403" y="4591010"/>
                  </a:lnTo>
                  <a:lnTo>
                    <a:pt x="1548263" y="4607446"/>
                  </a:lnTo>
                  <a:lnTo>
                    <a:pt x="1591516" y="4623074"/>
                  </a:lnTo>
                  <a:lnTo>
                    <a:pt x="1635154" y="4637885"/>
                  </a:lnTo>
                  <a:lnTo>
                    <a:pt x="1679166" y="4651870"/>
                  </a:lnTo>
                  <a:lnTo>
                    <a:pt x="1723544" y="4665019"/>
                  </a:lnTo>
                  <a:lnTo>
                    <a:pt x="1768279" y="4677324"/>
                  </a:lnTo>
                  <a:lnTo>
                    <a:pt x="1813360" y="4688775"/>
                  </a:lnTo>
                  <a:lnTo>
                    <a:pt x="1858780" y="4699362"/>
                  </a:lnTo>
                  <a:lnTo>
                    <a:pt x="1904529" y="4709077"/>
                  </a:lnTo>
                  <a:lnTo>
                    <a:pt x="1950597" y="4717911"/>
                  </a:lnTo>
                  <a:lnTo>
                    <a:pt x="1996976" y="4725854"/>
                  </a:lnTo>
                  <a:lnTo>
                    <a:pt x="2043655" y="4732897"/>
                  </a:lnTo>
                  <a:lnTo>
                    <a:pt x="2090627" y="4739031"/>
                  </a:lnTo>
                  <a:lnTo>
                    <a:pt x="2137882" y="4744247"/>
                  </a:lnTo>
                  <a:lnTo>
                    <a:pt x="2185410" y="4748535"/>
                  </a:lnTo>
                  <a:lnTo>
                    <a:pt x="2233203" y="4751886"/>
                  </a:lnTo>
                  <a:lnTo>
                    <a:pt x="2281250" y="4754291"/>
                  </a:lnTo>
                  <a:lnTo>
                    <a:pt x="2329544" y="4755740"/>
                  </a:lnTo>
                  <a:lnTo>
                    <a:pt x="2378075" y="4756226"/>
                  </a:lnTo>
                  <a:lnTo>
                    <a:pt x="2426600" y="4755740"/>
                  </a:lnTo>
                  <a:lnTo>
                    <a:pt x="2474890" y="4754291"/>
                  </a:lnTo>
                  <a:lnTo>
                    <a:pt x="2522933" y="4751886"/>
                  </a:lnTo>
                  <a:lnTo>
                    <a:pt x="2570722" y="4748535"/>
                  </a:lnTo>
                  <a:lnTo>
                    <a:pt x="2618246" y="4744247"/>
                  </a:lnTo>
                  <a:lnTo>
                    <a:pt x="2665498" y="4739031"/>
                  </a:lnTo>
                  <a:lnTo>
                    <a:pt x="2712466" y="4732897"/>
                  </a:lnTo>
                  <a:lnTo>
                    <a:pt x="2759143" y="4725854"/>
                  </a:lnTo>
                  <a:lnTo>
                    <a:pt x="2805519" y="4717911"/>
                  </a:lnTo>
                  <a:lnTo>
                    <a:pt x="2851584" y="4709077"/>
                  </a:lnTo>
                  <a:lnTo>
                    <a:pt x="2897330" y="4699362"/>
                  </a:lnTo>
                  <a:lnTo>
                    <a:pt x="2942748" y="4688775"/>
                  </a:lnTo>
                  <a:lnTo>
                    <a:pt x="2987827" y="4677324"/>
                  </a:lnTo>
                  <a:lnTo>
                    <a:pt x="3032560" y="4665019"/>
                  </a:lnTo>
                  <a:lnTo>
                    <a:pt x="3076936" y="4651870"/>
                  </a:lnTo>
                  <a:lnTo>
                    <a:pt x="3120947" y="4637885"/>
                  </a:lnTo>
                  <a:lnTo>
                    <a:pt x="3164583" y="4623074"/>
                  </a:lnTo>
                  <a:lnTo>
                    <a:pt x="3207835" y="4607446"/>
                  </a:lnTo>
                  <a:lnTo>
                    <a:pt x="3250693" y="4591010"/>
                  </a:lnTo>
                  <a:lnTo>
                    <a:pt x="3293150" y="4573776"/>
                  </a:lnTo>
                  <a:lnTo>
                    <a:pt x="3335195" y="4555752"/>
                  </a:lnTo>
                  <a:lnTo>
                    <a:pt x="3376819" y="4536948"/>
                  </a:lnTo>
                  <a:lnTo>
                    <a:pt x="3418013" y="4517373"/>
                  </a:lnTo>
                  <a:lnTo>
                    <a:pt x="3458768" y="4497036"/>
                  </a:lnTo>
                  <a:lnTo>
                    <a:pt x="3499074" y="4475946"/>
                  </a:lnTo>
                  <a:lnTo>
                    <a:pt x="3538923" y="4454114"/>
                  </a:lnTo>
                  <a:lnTo>
                    <a:pt x="3578304" y="4431547"/>
                  </a:lnTo>
                  <a:lnTo>
                    <a:pt x="3617210" y="4408255"/>
                  </a:lnTo>
                  <a:lnTo>
                    <a:pt x="3655631" y="4384248"/>
                  </a:lnTo>
                  <a:lnTo>
                    <a:pt x="3693556" y="4359534"/>
                  </a:lnTo>
                  <a:lnTo>
                    <a:pt x="3730978" y="4334123"/>
                  </a:lnTo>
                  <a:lnTo>
                    <a:pt x="3767888" y="4308024"/>
                  </a:lnTo>
                  <a:lnTo>
                    <a:pt x="3804275" y="4281246"/>
                  </a:lnTo>
                  <a:lnTo>
                    <a:pt x="3840130" y="4253798"/>
                  </a:lnTo>
                  <a:lnTo>
                    <a:pt x="3875445" y="4225690"/>
                  </a:lnTo>
                  <a:lnTo>
                    <a:pt x="3910210" y="4196931"/>
                  </a:lnTo>
                  <a:lnTo>
                    <a:pt x="3944416" y="4167530"/>
                  </a:lnTo>
                  <a:lnTo>
                    <a:pt x="3978054" y="4137496"/>
                  </a:lnTo>
                  <a:lnTo>
                    <a:pt x="4011114" y="4106839"/>
                  </a:lnTo>
                  <a:lnTo>
                    <a:pt x="4043588" y="4075567"/>
                  </a:lnTo>
                  <a:lnTo>
                    <a:pt x="4075466" y="4043690"/>
                  </a:lnTo>
                  <a:lnTo>
                    <a:pt x="4106739" y="4011217"/>
                  </a:lnTo>
                  <a:lnTo>
                    <a:pt x="4137397" y="3978158"/>
                  </a:lnTo>
                  <a:lnTo>
                    <a:pt x="4167432" y="3944521"/>
                  </a:lnTo>
                  <a:lnTo>
                    <a:pt x="4196834" y="3910316"/>
                  </a:lnTo>
                  <a:lnTo>
                    <a:pt x="4225594" y="3875552"/>
                  </a:lnTo>
                  <a:lnTo>
                    <a:pt x="4253703" y="3840238"/>
                  </a:lnTo>
                  <a:lnTo>
                    <a:pt x="4281151" y="3804383"/>
                  </a:lnTo>
                  <a:lnTo>
                    <a:pt x="4307930" y="3767997"/>
                  </a:lnTo>
                  <a:lnTo>
                    <a:pt x="4334030" y="3731089"/>
                  </a:lnTo>
                  <a:lnTo>
                    <a:pt x="4359442" y="3693668"/>
                  </a:lnTo>
                  <a:lnTo>
                    <a:pt x="4384157" y="3655743"/>
                  </a:lnTo>
                  <a:lnTo>
                    <a:pt x="4408165" y="3617323"/>
                  </a:lnTo>
                  <a:lnTo>
                    <a:pt x="4431458" y="3578418"/>
                  </a:lnTo>
                  <a:lnTo>
                    <a:pt x="4454025" y="3539037"/>
                  </a:lnTo>
                  <a:lnTo>
                    <a:pt x="4475859" y="3499189"/>
                  </a:lnTo>
                  <a:lnTo>
                    <a:pt x="4496949" y="3458884"/>
                  </a:lnTo>
                  <a:lnTo>
                    <a:pt x="4517286" y="3418130"/>
                  </a:lnTo>
                  <a:lnTo>
                    <a:pt x="4536862" y="3376937"/>
                  </a:lnTo>
                  <a:lnTo>
                    <a:pt x="4555667" y="3335313"/>
                  </a:lnTo>
                  <a:lnTo>
                    <a:pt x="4573692" y="3293269"/>
                  </a:lnTo>
                  <a:lnTo>
                    <a:pt x="4590927" y="3250813"/>
                  </a:lnTo>
                  <a:lnTo>
                    <a:pt x="4607363" y="3207955"/>
                  </a:lnTo>
                  <a:lnTo>
                    <a:pt x="4622992" y="3164704"/>
                  </a:lnTo>
                  <a:lnTo>
                    <a:pt x="4637804" y="3121069"/>
                  </a:lnTo>
                  <a:lnTo>
                    <a:pt x="4651789" y="3077058"/>
                  </a:lnTo>
                  <a:lnTo>
                    <a:pt x="4664939" y="3032683"/>
                  </a:lnTo>
                  <a:lnTo>
                    <a:pt x="4677244" y="2987951"/>
                  </a:lnTo>
                  <a:lnTo>
                    <a:pt x="4688695" y="2942872"/>
                  </a:lnTo>
                  <a:lnTo>
                    <a:pt x="4699283" y="2897455"/>
                  </a:lnTo>
                  <a:lnTo>
                    <a:pt x="4708999" y="2851709"/>
                  </a:lnTo>
                  <a:lnTo>
                    <a:pt x="4717833" y="2805644"/>
                  </a:lnTo>
                  <a:lnTo>
                    <a:pt x="4725777" y="2759269"/>
                  </a:lnTo>
                  <a:lnTo>
                    <a:pt x="4732820" y="2712592"/>
                  </a:lnTo>
                  <a:lnTo>
                    <a:pt x="4738954" y="2665624"/>
                  </a:lnTo>
                  <a:lnTo>
                    <a:pt x="4744170" y="2618373"/>
                  </a:lnTo>
                  <a:lnTo>
                    <a:pt x="4748458" y="2570849"/>
                  </a:lnTo>
                  <a:lnTo>
                    <a:pt x="4751809" y="2523060"/>
                  </a:lnTo>
                  <a:lnTo>
                    <a:pt x="4754214" y="2475017"/>
                  </a:lnTo>
                  <a:lnTo>
                    <a:pt x="4755664" y="2426727"/>
                  </a:lnTo>
                  <a:lnTo>
                    <a:pt x="4756150" y="2378202"/>
                  </a:lnTo>
                  <a:lnTo>
                    <a:pt x="4755664" y="2329671"/>
                  </a:lnTo>
                  <a:lnTo>
                    <a:pt x="4754214" y="2281377"/>
                  </a:lnTo>
                  <a:lnTo>
                    <a:pt x="4751809" y="2233329"/>
                  </a:lnTo>
                  <a:lnTo>
                    <a:pt x="4748458" y="2185536"/>
                  </a:lnTo>
                  <a:lnTo>
                    <a:pt x="4744170" y="2138007"/>
                  </a:lnTo>
                  <a:lnTo>
                    <a:pt x="4738954" y="2090752"/>
                  </a:lnTo>
                  <a:lnTo>
                    <a:pt x="4732820" y="2043780"/>
                  </a:lnTo>
                  <a:lnTo>
                    <a:pt x="4725777" y="1997099"/>
                  </a:lnTo>
                  <a:lnTo>
                    <a:pt x="4717833" y="1950720"/>
                  </a:lnTo>
                  <a:lnTo>
                    <a:pt x="4708999" y="1904650"/>
                  </a:lnTo>
                  <a:lnTo>
                    <a:pt x="4699283" y="1858901"/>
                  </a:lnTo>
                  <a:lnTo>
                    <a:pt x="4688695" y="1813480"/>
                  </a:lnTo>
                  <a:lnTo>
                    <a:pt x="4677244" y="1768397"/>
                  </a:lnTo>
                  <a:lnTo>
                    <a:pt x="4664939" y="1723661"/>
                  </a:lnTo>
                  <a:lnTo>
                    <a:pt x="4651789" y="1679282"/>
                  </a:lnTo>
                  <a:lnTo>
                    <a:pt x="4637804" y="1635268"/>
                  </a:lnTo>
                  <a:lnTo>
                    <a:pt x="4622992" y="1591629"/>
                  </a:lnTo>
                  <a:lnTo>
                    <a:pt x="4607363" y="1548374"/>
                  </a:lnTo>
                  <a:lnTo>
                    <a:pt x="4590927" y="1505512"/>
                  </a:lnTo>
                  <a:lnTo>
                    <a:pt x="4573692" y="1463053"/>
                  </a:lnTo>
                  <a:lnTo>
                    <a:pt x="4555667" y="1421006"/>
                  </a:lnTo>
                  <a:lnTo>
                    <a:pt x="4536862" y="1379379"/>
                  </a:lnTo>
                  <a:lnTo>
                    <a:pt x="4517286" y="1338183"/>
                  </a:lnTo>
                  <a:lnTo>
                    <a:pt x="4496949" y="1297426"/>
                  </a:lnTo>
                  <a:lnTo>
                    <a:pt x="4475859" y="1257117"/>
                  </a:lnTo>
                  <a:lnTo>
                    <a:pt x="4454025" y="1217266"/>
                  </a:lnTo>
                  <a:lnTo>
                    <a:pt x="4431458" y="1177882"/>
                  </a:lnTo>
                  <a:lnTo>
                    <a:pt x="4408165" y="1138974"/>
                  </a:lnTo>
                  <a:lnTo>
                    <a:pt x="4384157" y="1100552"/>
                  </a:lnTo>
                  <a:lnTo>
                    <a:pt x="4359442" y="1062624"/>
                  </a:lnTo>
                  <a:lnTo>
                    <a:pt x="4334030" y="1025200"/>
                  </a:lnTo>
                  <a:lnTo>
                    <a:pt x="4307930" y="988290"/>
                  </a:lnTo>
                  <a:lnTo>
                    <a:pt x="4281151" y="951901"/>
                  </a:lnTo>
                  <a:lnTo>
                    <a:pt x="4253703" y="916044"/>
                  </a:lnTo>
                  <a:lnTo>
                    <a:pt x="4225594" y="880727"/>
                  </a:lnTo>
                  <a:lnTo>
                    <a:pt x="4196834" y="845961"/>
                  </a:lnTo>
                  <a:lnTo>
                    <a:pt x="4167432" y="811753"/>
                  </a:lnTo>
                  <a:lnTo>
                    <a:pt x="4137397" y="778114"/>
                  </a:lnTo>
                  <a:lnTo>
                    <a:pt x="4106739" y="745052"/>
                  </a:lnTo>
                  <a:lnTo>
                    <a:pt x="4075466" y="712577"/>
                  </a:lnTo>
                  <a:lnTo>
                    <a:pt x="4043588" y="680698"/>
                  </a:lnTo>
                  <a:lnTo>
                    <a:pt x="4011114" y="649425"/>
                  </a:lnTo>
                  <a:lnTo>
                    <a:pt x="3978054" y="618765"/>
                  </a:lnTo>
                  <a:lnTo>
                    <a:pt x="3944416" y="588729"/>
                  </a:lnTo>
                  <a:lnTo>
                    <a:pt x="3910210" y="559326"/>
                  </a:lnTo>
                  <a:lnTo>
                    <a:pt x="3875445" y="530565"/>
                  </a:lnTo>
                  <a:lnTo>
                    <a:pt x="3840130" y="502456"/>
                  </a:lnTo>
                  <a:lnTo>
                    <a:pt x="3804275" y="475006"/>
                  </a:lnTo>
                  <a:lnTo>
                    <a:pt x="3767888" y="448227"/>
                  </a:lnTo>
                  <a:lnTo>
                    <a:pt x="3730978" y="422126"/>
                  </a:lnTo>
                  <a:lnTo>
                    <a:pt x="3693556" y="396713"/>
                  </a:lnTo>
                  <a:lnTo>
                    <a:pt x="3655631" y="371998"/>
                  </a:lnTo>
                  <a:lnTo>
                    <a:pt x="3617210" y="347989"/>
                  </a:lnTo>
                  <a:lnTo>
                    <a:pt x="3578304" y="324696"/>
                  </a:lnTo>
                  <a:lnTo>
                    <a:pt x="3538923" y="302128"/>
                  </a:lnTo>
                  <a:lnTo>
                    <a:pt x="3499074" y="280294"/>
                  </a:lnTo>
                  <a:lnTo>
                    <a:pt x="3458768" y="259204"/>
                  </a:lnTo>
                  <a:lnTo>
                    <a:pt x="3418013" y="238866"/>
                  </a:lnTo>
                  <a:lnTo>
                    <a:pt x="3376819" y="219289"/>
                  </a:lnTo>
                  <a:lnTo>
                    <a:pt x="3335195" y="200484"/>
                  </a:lnTo>
                  <a:lnTo>
                    <a:pt x="3293150" y="182459"/>
                  </a:lnTo>
                  <a:lnTo>
                    <a:pt x="3250693" y="165224"/>
                  </a:lnTo>
                  <a:lnTo>
                    <a:pt x="3207835" y="148787"/>
                  </a:lnTo>
                  <a:lnTo>
                    <a:pt x="3164583" y="133158"/>
                  </a:lnTo>
                  <a:lnTo>
                    <a:pt x="3120947" y="118346"/>
                  </a:lnTo>
                  <a:lnTo>
                    <a:pt x="3076936" y="104361"/>
                  </a:lnTo>
                  <a:lnTo>
                    <a:pt x="3032560" y="91211"/>
                  </a:lnTo>
                  <a:lnTo>
                    <a:pt x="2987827" y="78905"/>
                  </a:lnTo>
                  <a:lnTo>
                    <a:pt x="2942748" y="67454"/>
                  </a:lnTo>
                  <a:lnTo>
                    <a:pt x="2897330" y="56866"/>
                  </a:lnTo>
                  <a:lnTo>
                    <a:pt x="2851584" y="47150"/>
                  </a:lnTo>
                  <a:lnTo>
                    <a:pt x="2805519" y="38316"/>
                  </a:lnTo>
                  <a:lnTo>
                    <a:pt x="2759143" y="30372"/>
                  </a:lnTo>
                  <a:lnTo>
                    <a:pt x="2712466" y="23329"/>
                  </a:lnTo>
                  <a:lnTo>
                    <a:pt x="2665498" y="17195"/>
                  </a:lnTo>
                  <a:lnTo>
                    <a:pt x="2618246" y="11979"/>
                  </a:lnTo>
                  <a:lnTo>
                    <a:pt x="2570722" y="7691"/>
                  </a:lnTo>
                  <a:lnTo>
                    <a:pt x="2522933" y="4340"/>
                  </a:lnTo>
                  <a:lnTo>
                    <a:pt x="2474890" y="1935"/>
                  </a:lnTo>
                  <a:lnTo>
                    <a:pt x="2426600" y="485"/>
                  </a:lnTo>
                  <a:lnTo>
                    <a:pt x="2378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" name="Google Shape;5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20611" y="2351659"/>
              <a:ext cx="3737102" cy="21690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661193" y="1796925"/>
            <a:ext cx="87660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Estruturas condiciona</a:t>
            </a:r>
            <a:r>
              <a:rPr lang="en-US" sz="2800">
                <a:solidFill>
                  <a:srgbClr val="0D0D0D"/>
                </a:solidFill>
              </a:rPr>
              <a:t>is</a:t>
            </a:r>
            <a:r>
              <a:rPr lang="en-US" sz="28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Simples e Composta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56565" lvl="0" marL="469265" rtl="0" algn="l">
              <a:lnSpc>
                <a:spcPct val="100000"/>
              </a:lnSpc>
              <a:spcBef>
                <a:spcPts val="2675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Estrutura</a:t>
            </a:r>
            <a:r>
              <a:rPr lang="en-US" sz="2800">
                <a:solidFill>
                  <a:srgbClr val="0D0D0D"/>
                </a:solidFill>
              </a:rPr>
              <a:t>s de repetição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56565" lvl="0" marL="469265" rtl="0" algn="l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Switch case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56565" lvl="0" marL="469265" rtl="0" algn="l">
              <a:lnSpc>
                <a:spcPct val="100000"/>
              </a:lnSpc>
              <a:spcBef>
                <a:spcPts val="2675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Exercícios para Treino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Dart</a:t>
            </a: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661212" y="1757299"/>
            <a:ext cx="4248785" cy="4077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Podemos utilizar :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3007995" rtl="0" algn="l">
              <a:lnSpc>
                <a:spcPct val="206923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Dartdev Replit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9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No Visual Code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265" marR="1018540" rtl="0" algn="l">
              <a:lnSpc>
                <a:spcPct val="1586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200">
                <a:latin typeface="Trebuchet MS"/>
                <a:ea typeface="Trebuchet MS"/>
                <a:cs typeface="Trebuchet MS"/>
                <a:sym typeface="Trebuchet MS"/>
              </a:rPr>
              <a:t>Instalar plugin Flutter Instalar o plugin Dart</a:t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265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None/>
            </a:pPr>
            <a:r>
              <a:rPr lang="en-US" sz="2200">
                <a:latin typeface="Trebuchet MS"/>
                <a:ea typeface="Trebuchet MS"/>
                <a:cs typeface="Trebuchet MS"/>
                <a:sym typeface="Trebuchet MS"/>
              </a:rPr>
              <a:t>Instalar o plugin CodeRunner</a:t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Condicional</a:t>
            </a:r>
            <a:endParaRPr/>
          </a:p>
        </p:txBody>
      </p:sp>
      <p:sp>
        <p:nvSpPr>
          <p:cNvPr id="69" name="Google Shape;69;p10"/>
          <p:cNvSpPr txBox="1"/>
          <p:nvPr/>
        </p:nvSpPr>
        <p:spPr>
          <a:xfrm>
            <a:off x="680433" y="3110680"/>
            <a:ext cx="29007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F2F9F"/>
                </a:solidFill>
                <a:latin typeface="Trebuchet MS"/>
                <a:ea typeface="Trebuchet MS"/>
                <a:cs typeface="Trebuchet MS"/>
                <a:sym typeface="Trebuchet MS"/>
              </a:rPr>
              <a:t>if(condição){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F2F9F"/>
                </a:solidFill>
                <a:latin typeface="Trebuchet MS"/>
                <a:ea typeface="Trebuchet MS"/>
                <a:cs typeface="Trebuchet MS"/>
                <a:sym typeface="Trebuchet MS"/>
              </a:rPr>
              <a:t>//comando;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F2F9F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p10"/>
          <p:cNvSpPr txBox="1"/>
          <p:nvPr/>
        </p:nvSpPr>
        <p:spPr>
          <a:xfrm>
            <a:off x="3865942" y="3110670"/>
            <a:ext cx="2900700" cy="21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AF50"/>
                </a:solidFill>
                <a:latin typeface="Trebuchet MS"/>
                <a:ea typeface="Trebuchet MS"/>
                <a:cs typeface="Trebuchet MS"/>
                <a:sym typeface="Trebuchet MS"/>
              </a:rPr>
              <a:t>if(condição){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AF50"/>
                </a:solidFill>
                <a:latin typeface="Trebuchet MS"/>
                <a:ea typeface="Trebuchet MS"/>
                <a:cs typeface="Trebuchet MS"/>
                <a:sym typeface="Trebuchet MS"/>
              </a:rPr>
              <a:t>//comando;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AF50"/>
                </a:solidFill>
                <a:latin typeface="Trebuchet MS"/>
                <a:ea typeface="Trebuchet MS"/>
                <a:cs typeface="Trebuchet MS"/>
                <a:sym typeface="Trebuchet MS"/>
              </a:rPr>
              <a:t>}else{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AF50"/>
                </a:solidFill>
                <a:latin typeface="Trebuchet MS"/>
                <a:ea typeface="Trebuchet MS"/>
                <a:cs typeface="Trebuchet MS"/>
                <a:sym typeface="Trebuchet MS"/>
              </a:rPr>
              <a:t>//comando;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AF5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71;p10"/>
          <p:cNvSpPr txBox="1"/>
          <p:nvPr/>
        </p:nvSpPr>
        <p:spPr>
          <a:xfrm>
            <a:off x="462475" y="1244575"/>
            <a:ext cx="11229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914400" lvl="0" marL="127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O if e o else são comandos que verificam determinada condição na programação. O uso do if em um programa em Dart visa verificar se determinada ação é verdadeira e executar o bloco de código.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" name="Google Shape;72;p10"/>
          <p:cNvSpPr txBox="1"/>
          <p:nvPr/>
        </p:nvSpPr>
        <p:spPr>
          <a:xfrm>
            <a:off x="7290250" y="3110675"/>
            <a:ext cx="3636300" cy="30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if(condição){</a:t>
            </a:r>
            <a:endParaRPr sz="2800">
              <a:solidFill>
                <a:srgbClr val="A40A8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//comandos;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}else if(condição){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//comandos;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}else{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//comandos;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538378" y="1318005"/>
            <a:ext cx="605536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Verificar se o número é maior que 10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596000" y="1815125"/>
            <a:ext cx="5003700" cy="4436100"/>
          </a:xfrm>
          <a:prstGeom prst="rect">
            <a:avLst/>
          </a:prstGeom>
          <a:noFill/>
          <a:ln cap="flat" cmpd="sng" w="12700">
            <a:solidFill>
              <a:srgbClr val="EC7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import 'dart:io';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4099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int numero;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4099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print("Digite um número:");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4099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numero = int.parse(stdin.readLineSync()!);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4099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if (numero &gt; 10)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9118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print("Número maior que 10");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4099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80" name="Google Shape;80;p11"/>
          <p:cNvGrpSpPr/>
          <p:nvPr/>
        </p:nvGrpSpPr>
        <p:grpSpPr>
          <a:xfrm>
            <a:off x="5731002" y="1815109"/>
            <a:ext cx="6094095" cy="5043170"/>
            <a:chOff x="5731002" y="1815109"/>
            <a:chExt cx="6094095" cy="5043170"/>
          </a:xfrm>
        </p:grpSpPr>
        <p:sp>
          <p:nvSpPr>
            <p:cNvPr id="81" name="Google Shape;81;p11"/>
            <p:cNvSpPr/>
            <p:nvPr/>
          </p:nvSpPr>
          <p:spPr>
            <a:xfrm>
              <a:off x="5731002" y="1815109"/>
              <a:ext cx="6094095" cy="5043170"/>
            </a:xfrm>
            <a:custGeom>
              <a:rect b="b" l="l" r="r" t="t"/>
              <a:pathLst>
                <a:path extrusionOk="0" h="5043170" w="6094095">
                  <a:moveTo>
                    <a:pt x="6093713" y="0"/>
                  </a:moveTo>
                  <a:lnTo>
                    <a:pt x="0" y="0"/>
                  </a:lnTo>
                  <a:lnTo>
                    <a:pt x="0" y="5042890"/>
                  </a:lnTo>
                  <a:lnTo>
                    <a:pt x="6093713" y="5042890"/>
                  </a:lnTo>
                  <a:lnTo>
                    <a:pt x="60937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>
              <a:off x="5731002" y="1815109"/>
              <a:ext cx="6094095" cy="5043170"/>
            </a:xfrm>
            <a:custGeom>
              <a:rect b="b" l="l" r="r" t="t"/>
              <a:pathLst>
                <a:path extrusionOk="0" h="5043170" w="6094095">
                  <a:moveTo>
                    <a:pt x="6093713" y="5042890"/>
                  </a:moveTo>
                  <a:lnTo>
                    <a:pt x="6093713" y="0"/>
                  </a:lnTo>
                  <a:lnTo>
                    <a:pt x="0" y="0"/>
                  </a:lnTo>
                  <a:lnTo>
                    <a:pt x="0" y="5042890"/>
                  </a:lnTo>
                </a:path>
              </a:pathLst>
            </a:custGeom>
            <a:noFill/>
            <a:ln cap="flat" cmpd="sng" w="12675">
              <a:solidFill>
                <a:srgbClr val="5B9B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1"/>
          <p:cNvSpPr txBox="1"/>
          <p:nvPr/>
        </p:nvSpPr>
        <p:spPr>
          <a:xfrm>
            <a:off x="5810503" y="1929510"/>
            <a:ext cx="21551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import 'dart:io';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5810503" y="2268584"/>
            <a:ext cx="5541000" cy="4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475">
            <a:spAutoFit/>
          </a:bodyPr>
          <a:lstStyle/>
          <a:p>
            <a:pPr indent="0" lvl="0" marL="0" marR="389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void main() {</a:t>
            </a:r>
            <a:endParaRPr/>
          </a:p>
          <a:p>
            <a:pPr indent="0" lvl="0" marL="0" marR="3890645" rtl="0" algn="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int numero;</a:t>
            </a:r>
            <a:endParaRPr/>
          </a:p>
          <a:p>
            <a:pPr indent="0" lvl="0" marL="26225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print("Digite um número:");</a:t>
            </a:r>
            <a:endParaRPr/>
          </a:p>
          <a:p>
            <a:pPr indent="0" lvl="0" marL="26225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numero = int.parse(stdin.readLineSync()!);</a:t>
            </a:r>
            <a:endParaRPr/>
          </a:p>
          <a:p>
            <a:pPr indent="-250190" lvl="0" marL="512445" marR="1384300" rtl="0" algn="l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/>
              <a:t>if (numero &gt; 10) { print("Número maior que 10");</a:t>
            </a:r>
            <a:endParaRPr/>
          </a:p>
          <a:p>
            <a:pPr indent="0" lvl="0" marL="26225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} else {</a:t>
            </a:r>
            <a:endParaRPr/>
          </a:p>
          <a:p>
            <a:pPr indent="0" lvl="0" marL="51244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print(“Não é maior");</a:t>
            </a:r>
            <a:endParaRPr/>
          </a:p>
          <a:p>
            <a:pPr indent="0" lvl="0" marL="26225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ctrTitle"/>
          </p:nvPr>
        </p:nvSpPr>
        <p:spPr>
          <a:xfrm>
            <a:off x="680415" y="418541"/>
            <a:ext cx="238696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90" name="Google Shape;90;p12"/>
          <p:cNvSpPr txBox="1"/>
          <p:nvPr/>
        </p:nvSpPr>
        <p:spPr>
          <a:xfrm>
            <a:off x="661197" y="1796925"/>
            <a:ext cx="9405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Verificar se o usuário pode tirar a habilitação.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Condicional- if/else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16939" y="1308607"/>
            <a:ext cx="4545330" cy="5041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import 'dart:io';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14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void main() {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int idade;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print("Digite sua idade:");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14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idade = int.parse(stdin.readLineSync()!);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b="1" lang="en-US" sz="2000">
                <a:latin typeface="Trebuchet MS"/>
                <a:ea typeface="Trebuchet MS"/>
                <a:cs typeface="Trebuchet MS"/>
                <a:sym typeface="Trebuchet MS"/>
              </a:rPr>
              <a:t>if(idade &gt;= 18)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73050" rtl="0" algn="l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print("Pode tirar a habilitação");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14"/>
              </a:spcBef>
              <a:spcAft>
                <a:spcPts val="0"/>
              </a:spcAft>
              <a:buNone/>
            </a:pPr>
            <a:r>
              <a:rPr b="1" lang="en-US" sz="2000">
                <a:latin typeface="Trebuchet MS"/>
                <a:ea typeface="Trebuchet MS"/>
                <a:cs typeface="Trebuchet MS"/>
                <a:sym typeface="Trebuchet MS"/>
              </a:rPr>
              <a:t>}else{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7305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print("Espere mais um pouco");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14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}}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Ternário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52101" y="1141600"/>
            <a:ext cx="11433600" cy="56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rebuchet MS"/>
                <a:ea typeface="Trebuchet MS"/>
                <a:cs typeface="Trebuchet MS"/>
                <a:sym typeface="Trebuchet MS"/>
              </a:rPr>
              <a:t>condição ? valor_se_verdadeiro : valor_se_falso;</a:t>
            </a:r>
            <a:endParaRPr b="1"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75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Exemplo: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Solicite um número para o usuário e verifique se é par ou ímpar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66065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import 'dart:io';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6606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15620" marR="7762875" rtl="0" algn="l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int numero; </a:t>
            </a:r>
            <a:endParaRPr sz="1800">
              <a:solidFill>
                <a:srgbClr val="001F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15620" marR="7762875" rtl="0" algn="l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String resultado;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1562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print("Digite um número:");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15620" marR="38773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numero = int.parse(stdin.readLineSync()!); </a:t>
            </a:r>
            <a:endParaRPr sz="1800">
              <a:solidFill>
                <a:srgbClr val="001F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15620" marR="38773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resultado = (numero % 2 == 0) ? "par" : "ímpar"; </a:t>
            </a:r>
            <a:endParaRPr sz="1800">
              <a:solidFill>
                <a:srgbClr val="001F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15620" marR="38773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print("O número é :$resultado");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66065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680415" y="418541"/>
            <a:ext cx="96723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Treino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32612" y="1631721"/>
            <a:ext cx="10842600" cy="4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4659" lvl="0" marL="466725" marR="5715" rtl="0" algn="just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rebuchet MS"/>
              <a:buAutoNum type="arabicParenR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Verificar se um número é positivo, negativo ou zero.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5715" rtl="0" algn="just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4659" lvl="0" marL="466725" marR="5715" rtl="0" algn="just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rebuchet MS"/>
              <a:buAutoNum type="arabicParenR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Determinar se um ano é bissexto ou não (usando ternário).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1" marL="914400" marR="5715" rtl="0" algn="just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rebuchet MS"/>
              <a:buChar char="○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A regra para saber se um ano é bissexto é a seguinte: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2" marL="1371600" marR="5715" rtl="0" algn="just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rebuchet MS"/>
              <a:buChar char="■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O ano deve ser divisível por 4.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2" marL="1371600" marR="5715" rtl="0" algn="just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rebuchet MS"/>
              <a:buChar char="■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Exceto se for divisível por 100, nesse caso não é bissexto.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06400" lvl="2" marL="1371600" marR="5715" rtl="0" algn="just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rebuchet MS"/>
              <a:buChar char="■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Mas se for divisível por 400, então é bissexto mesmo assim.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2034" y="169093"/>
            <a:ext cx="1635767" cy="1092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Condicional- Switch/case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705104" y="1425600"/>
            <a:ext cx="10359390" cy="3866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914400" lvl="0" marL="127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Por sua vez, o switch/case na programação, da mesma forma  que  o  if  também  tem  a  função  de  verificar  se determinada ação é verdadeira e executar o bloco de código contido  em  seu  escopo,  controlando  assim  o  fluxo  do programa. O comando switch compara o valor de uma variável aos valores que serão especificados nos comandos case.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Condicional- Switch/case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580450" y="1123950"/>
            <a:ext cx="3982800" cy="58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É uma estrutura condicional alinhada.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35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switch ( variável ){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97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case valor1: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97865" marR="2374265" rtl="0" algn="l">
              <a:lnSpc>
                <a:spcPct val="199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&lt;comandos&gt; break;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97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case valor2: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97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&lt;comandos&gt;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97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break;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97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case valorN: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97865" marR="2374265" rtl="0" algn="l">
              <a:lnSpc>
                <a:spcPct val="239166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&lt;comandos&gt; break;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97865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default: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97865" marR="2374265" rtl="0" algn="l">
              <a:lnSpc>
                <a:spcPct val="19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&lt;comandos&gt; break;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2374265" rtl="0" algn="l">
              <a:lnSpc>
                <a:spcPct val="19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4944776" y="1263750"/>
            <a:ext cx="6670500" cy="55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50825" lvl="0" marL="262890" marR="389001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void main() { int numero;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6289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print("Digite um número:");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6289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numero = int.parse(stdin.readLineSync()!); </a:t>
            </a:r>
            <a:endParaRPr sz="1800">
              <a:solidFill>
                <a:srgbClr val="001F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6289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switch (numero)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12445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case (1):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3905" marR="882015" rtl="0" algn="l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print("Número digitado foi 1"); break;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12445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case (2):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3905" marR="8820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print("Número digitado foi 2"); break;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12445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default: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3905" rtl="0" algn="l">
              <a:lnSpc>
                <a:spcPct val="115000"/>
              </a:lnSpc>
              <a:spcBef>
                <a:spcPts val="10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print("Números diferentes");</a:t>
            </a:r>
            <a:endParaRPr sz="1800">
              <a:solidFill>
                <a:srgbClr val="001F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3905" rtl="0" algn="l">
              <a:lnSpc>
                <a:spcPct val="115000"/>
              </a:lnSpc>
              <a:spcBef>
                <a:spcPts val="10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break;	</a:t>
            </a:r>
            <a:endParaRPr sz="1800">
              <a:solidFill>
                <a:srgbClr val="001F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1800">
              <a:solidFill>
                <a:srgbClr val="001F5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1F5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Treino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661822" y="1496161"/>
            <a:ext cx="10615800" cy="4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5080" rtl="0" algn="l">
              <a:lnSpc>
                <a:spcPct val="15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3) 	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Faça um programa na Linguagem Dart que leia 3 (três) valores inteiros e apresente os 3 números em ordem crescente.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4) 	Desenvolva um programa para verificar se o consumidor tem direito ao desconto da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527685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EDP, para isso o usuário precisa atender os seguintes requisitos: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1" marL="469900" rtl="0" algn="l">
              <a:lnSpc>
                <a:spcPct val="100000"/>
              </a:lnSpc>
              <a:spcBef>
                <a:spcPts val="2210"/>
              </a:spcBef>
              <a:spcAft>
                <a:spcPts val="0"/>
              </a:spcAft>
              <a:buSzPts val="2000"/>
              <a:buFont typeface="Trebuchet MS"/>
              <a:buAutoNum type="alphaLcParenR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Estarem inscritas no Cadastro Único do Governo Federal – CADÚNICO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1" marL="469900" rtl="0" algn="l">
              <a:lnSpc>
                <a:spcPct val="100000"/>
              </a:lnSpc>
              <a:spcBef>
                <a:spcPts val="2195"/>
              </a:spcBef>
              <a:spcAft>
                <a:spcPts val="0"/>
              </a:spcAft>
              <a:buSzPts val="2000"/>
              <a:buFont typeface="Trebuchet MS"/>
              <a:buAutoNum type="alphaLcParenR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Ter renda familiar de até meio salário mínimo por pessoa; (Aqui fazer o cálculo)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834" lvl="1" marL="469900" marR="63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rebuchet MS"/>
              <a:buAutoNum type="alphaLcParenR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que tenha portador de doença ou patologia cujo tratamento ou procedimento médico requeira o uso continuado de aparelhos elétricos;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2034" y="169093"/>
            <a:ext cx="1635767" cy="1092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Treino</a:t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661212" y="1604899"/>
            <a:ext cx="10614600" cy="8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5) </a:t>
            </a: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Uma empresa concederá um aumento de salário aos seus funcionários, variável de acordo com o cargo, conforme a tabela abaixo.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61212" y="4379687"/>
            <a:ext cx="106146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4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Crie um programa que leia o salário e o cargo de um funcionário. Calcule e imprima o seu novo salário. Se o cargo do funcionário não estiver na tabela, informar que o cargo é inválido: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4030" y="2601467"/>
            <a:ext cx="6639433" cy="1654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2034" y="169093"/>
            <a:ext cx="1635767" cy="1092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1407413" y="2934970"/>
            <a:ext cx="160401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Laços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- While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61212" y="1582953"/>
            <a:ext cx="10614660" cy="3226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89535" lvl="0" marL="127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O while é uma estrutura de repetição que permite executar um determinado  bloco  de  código  enquanto  uma  condição  for verdadeira. É muito similar ao if, com a diferença que o bloco será executado enquanto a condição for verdadeira, e não se a condição for verdadeira.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- While</a:t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680423" y="1388400"/>
            <a:ext cx="8054700" cy="47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2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Trebuchet MS"/>
                <a:ea typeface="Trebuchet MS"/>
                <a:cs typeface="Trebuchet MS"/>
                <a:sym typeface="Trebuchet MS"/>
              </a:rPr>
              <a:t>var numero = 5;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8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Trebuchet MS"/>
                <a:ea typeface="Trebuchet MS"/>
                <a:cs typeface="Trebuchet MS"/>
                <a:sym typeface="Trebuchet MS"/>
              </a:rPr>
              <a:t>while (numero &lt;= 10) { 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5080" rtl="0" algn="l">
              <a:lnSpc>
                <a:spcPct val="158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Trebuchet MS"/>
                <a:ea typeface="Trebuchet MS"/>
                <a:cs typeface="Trebuchet MS"/>
                <a:sym typeface="Trebuchet MS"/>
              </a:rPr>
              <a:t>if (numero % 2 == 0) {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87960" lvl="0" marL="1301750" marR="5080" rtl="0" algn="l">
              <a:lnSpc>
                <a:spcPct val="158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Trebuchet MS"/>
                <a:ea typeface="Trebuchet MS"/>
                <a:cs typeface="Trebuchet MS"/>
                <a:sym typeface="Trebuchet MS"/>
              </a:rPr>
              <a:t>print(numero);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5080" rtl="0" algn="l">
              <a:lnSpc>
                <a:spcPct val="158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5080" rtl="0" algn="l">
              <a:lnSpc>
                <a:spcPct val="158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Trebuchet MS"/>
                <a:ea typeface="Trebuchet MS"/>
                <a:cs typeface="Trebuchet MS"/>
                <a:sym typeface="Trebuchet MS"/>
              </a:rPr>
              <a:t>numero++;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8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–do..while</a:t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661212" y="1582953"/>
            <a:ext cx="10613390" cy="258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89535" lvl="0" marL="127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O do/while é uma estrutura de repetição que terá quase o mesmo  funcionamento  que  a  estrutura  de  repetição  while, porém, a diferença entre eles é que no do/while o comando será executado ao menos uma única vez.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–do..while</a:t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680419" y="1290950"/>
            <a:ext cx="6607500" cy="4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var numero=14;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do {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if (numero % 2 == 0) {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print(numero);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numero++;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5885" rtl="0" algn="l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} while (numero &lt;= 10);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- For</a:t>
            </a:r>
            <a:endParaRPr/>
          </a:p>
        </p:txBody>
      </p:sp>
      <p:sp>
        <p:nvSpPr>
          <p:cNvPr id="173" name="Google Shape;173;p25"/>
          <p:cNvSpPr txBox="1"/>
          <p:nvPr/>
        </p:nvSpPr>
        <p:spPr>
          <a:xfrm>
            <a:off x="661212" y="1796923"/>
            <a:ext cx="4577715" cy="230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Três características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733425" rtl="0" algn="l">
              <a:lnSpc>
                <a:spcPct val="100000"/>
              </a:lnSpc>
              <a:spcBef>
                <a:spcPts val="2045"/>
              </a:spcBef>
              <a:spcAft>
                <a:spcPts val="0"/>
              </a:spcAft>
              <a:buSzPts val="2400"/>
              <a:buFont typeface="Trebuchet MS"/>
              <a:buAutoNum type="arabicPeriod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Valor Inicial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3370" lvl="0" marL="762635" rtl="0" algn="l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SzPts val="2400"/>
              <a:buFont typeface="Trebuchet MS"/>
              <a:buAutoNum type="arabicPeriod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Valor limite/teste lógico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767715" rtl="0" algn="l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SzPts val="2400"/>
              <a:buFont typeface="Trebuchet MS"/>
              <a:buAutoNum type="arabicPeriod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Incremento/Passo a Passo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6335085" y="2111582"/>
            <a:ext cx="40176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19125" lvl="0" marL="6311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for(int x=0;x&lt;10;x++){ print(x);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217804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- For</a:t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751124" y="1796925"/>
            <a:ext cx="98610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for (int numero = 1; numero &lt;= 10; numero++){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4450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if (numero % 2 == 0) { 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445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print(numero);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4450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4450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Break/Continue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691717" y="1245275"/>
            <a:ext cx="5725800" cy="53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int i=0; 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while(true){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44500" lvl="0" marL="1270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if(i==100){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44500" lvl="0" marL="46990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break;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} if(i==10){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2710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i++;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2710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continue;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  }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print(i);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i++;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680415" y="418541"/>
            <a:ext cx="96723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Treino</a:t>
            </a:r>
            <a:endParaRPr/>
          </a:p>
        </p:txBody>
      </p:sp>
      <p:sp>
        <p:nvSpPr>
          <p:cNvPr id="192" name="Google Shape;192;p28"/>
          <p:cNvSpPr txBox="1"/>
          <p:nvPr/>
        </p:nvSpPr>
        <p:spPr>
          <a:xfrm>
            <a:off x="890422" y="1519063"/>
            <a:ext cx="10386000" cy="3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508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6)	</a:t>
            </a: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Faça um programa na Linguagem Dart que receba 10 números e conte quantos números são pares e quantos são </a:t>
            </a: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ímpares</a:t>
            </a: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 e mostre a quantidade de cada um.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just">
              <a:lnSpc>
                <a:spcPct val="105000"/>
              </a:lnSpc>
              <a:spcBef>
                <a:spcPts val="1989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7) Faça um programa na Linguagem Dart que leia 8 valores e mostre a quantidade de números que está na faixa de 25 a 34 e quantidade de números que estão fora desta faixa.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3" name="Google Shape;1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2034" y="169093"/>
            <a:ext cx="1635767" cy="1092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