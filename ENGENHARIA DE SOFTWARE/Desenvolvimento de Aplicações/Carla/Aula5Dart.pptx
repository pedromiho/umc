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Raleway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491cc199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491cc199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6491cc199b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491cc199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491cc199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6491cc199b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491cc199b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491cc199b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491cc199b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491cc199b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491cc199b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6491cc199b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491cc199b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491cc199b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6491cc199b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491cc199b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491cc199b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6491cc199b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491cc199b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491cc199b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6491cc199b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indent="-228600" lvl="1" marL="9144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indent="-228600" lvl="2" marL="13716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indent="-228600" lvl="3" marL="18288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indent="-228600" lvl="4" marL="22860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File:Dart logo.png - Wikimedia Commons" id="24" name="Google Shape;24;p3"/>
          <p:cNvSpPr/>
          <p:nvPr/>
        </p:nvSpPr>
        <p:spPr>
          <a:xfrm>
            <a:off x="0" y="427078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lutter Logo PNG vector in SVG, PDF, AI, CDR format" id="25" name="Google Shape;25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cheiro:Dart programming language logo.svg – Wikipédia, a enciclopédia  livre" id="26" name="Google Shape;26;p3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03452" y="6254795"/>
            <a:ext cx="1827439" cy="56823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-1" y="0"/>
            <a:ext cx="161109" cy="6962503"/>
          </a:xfrm>
          <a:prstGeom prst="rect">
            <a:avLst/>
          </a:prstGeom>
          <a:solidFill>
            <a:srgbClr val="084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10138" y="-1"/>
            <a:ext cx="54339" cy="69625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E75B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rgbClr val="2E75B5">
                  <a:alpha val="44706"/>
                </a:srgbClr>
              </a:gs>
              <a:gs pos="100000">
                <a:srgbClr val="000000">
                  <a:alpha val="28627"/>
                </a:srgbClr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 flipH="1" rot="10800000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rgbClr val="5B9BD5">
                  <a:alpha val="0"/>
                </a:srgbClr>
              </a:gs>
              <a:gs pos="100000">
                <a:srgbClr val="000000">
                  <a:alpha val="40784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>
            <p:ph type="ctrTitle"/>
          </p:nvPr>
        </p:nvSpPr>
        <p:spPr>
          <a:xfrm>
            <a:off x="1127208" y="857251"/>
            <a:ext cx="4747280" cy="309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aleway"/>
              <a:buNone/>
            </a:pPr>
            <a:r>
              <a:rPr b="1" lang="pt-BR" sz="4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Desenvolvimento de Aplicações</a:t>
            </a:r>
            <a:endParaRPr b="1" sz="41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Google Shape;96;p13"/>
          <p:cNvSpPr/>
          <p:nvPr/>
        </p:nvSpPr>
        <p:spPr>
          <a:xfrm rot="-54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rgbClr val="5B9BD5">
                  <a:alpha val="23922"/>
                </a:srgbClr>
              </a:gs>
              <a:gs pos="78000">
                <a:srgbClr val="1E4E79">
                  <a:alpha val="0"/>
                </a:srgbClr>
              </a:gs>
              <a:gs pos="100000">
                <a:srgbClr val="1E4E79">
                  <a:alpha val="0"/>
                </a:srgbClr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>
            <p:ph idx="1" type="subTitle"/>
          </p:nvPr>
        </p:nvSpPr>
        <p:spPr>
          <a:xfrm>
            <a:off x="1127208" y="4756265"/>
            <a:ext cx="4393278" cy="1244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Prof. Leonardo Torres</a:t>
            </a:r>
            <a:endParaRPr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leonardotorres@umc.br</a:t>
            </a:r>
            <a:endParaRPr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t/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0559" y="2351633"/>
            <a:ext cx="3737164" cy="2169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title"/>
          </p:nvPr>
        </p:nvSpPr>
        <p:spPr>
          <a:xfrm>
            <a:off x="1265248" y="26233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Map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353830" y="1638300"/>
            <a:ext cx="10999970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pt-BR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É uma estrutura de dados utilizada para receber vários valores (dados associativos), ela é organizada com </a:t>
            </a:r>
            <a:r>
              <a:rPr i="0" lang="pt-B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chave: valor</a:t>
            </a:r>
            <a:r>
              <a:rPr b="0" i="0" lang="pt-BR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pt-BR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Declaração: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pt-BR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Podemos declarar de várias </a:t>
            </a:r>
            <a:r>
              <a:rPr lang="pt-BR">
                <a:solidFill>
                  <a:srgbClr val="222222"/>
                </a:solidFill>
              </a:rPr>
              <a:t>formas</a:t>
            </a:r>
            <a:r>
              <a:rPr b="0" i="0" lang="pt-BR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, com</a:t>
            </a:r>
            <a:r>
              <a:rPr i="0" lang="pt-B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{ } </a:t>
            </a:r>
            <a:r>
              <a:rPr b="0" i="0" lang="pt-BR">
                <a:solidFill>
                  <a:srgbClr val="222222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pt-BR">
                <a:solidFill>
                  <a:srgbClr val="222222"/>
                </a:solidFill>
              </a:rPr>
              <a:t>com </a:t>
            </a:r>
            <a:r>
              <a:rPr lang="pt-B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Map&lt;tipo,tipo&gt;</a:t>
            </a:r>
            <a:endParaRPr i="0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lang="pt-BR">
                <a:solidFill>
                  <a:srgbClr val="222222"/>
                </a:solidFill>
              </a:rPr>
              <a:t>Exemplo:</a:t>
            </a:r>
            <a:endParaRPr b="0" i="0">
              <a:solidFill>
                <a:srgbClr val="22222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1" i="0" lang="pt-B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var mapExemplo = {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1" lang="pt-B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pt-B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'chave1': 'valor1’, 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1" i="0" lang="pt-B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	 'chave2': 'valor2’,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1" i="0" lang="pt-B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63623" y="5070122"/>
            <a:ext cx="5013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Map&lt;int,String&gt; elementos={};</a:t>
            </a:r>
            <a:endParaRPr b="1" sz="2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2" name="Google Shape;112;p15"/>
          <p:cNvCxnSpPr/>
          <p:nvPr/>
        </p:nvCxnSpPr>
        <p:spPr>
          <a:xfrm>
            <a:off x="5166975" y="4462400"/>
            <a:ext cx="0" cy="19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353825" y="1638300"/>
            <a:ext cx="11000100" cy="4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void main() {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var cantina={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“paodequeijo”:4.00,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“salgado”:4.00,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“geladinho”:2.00};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print(cantina);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print(cantina[“salgado”]);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322582" y="1384419"/>
            <a:ext cx="11073600" cy="6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Exemplo: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Um programa que solicita a quantidade de produtos de estoque.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1º Criar o Map e a quantidade de produtos:</a:t>
            </a:r>
            <a:endParaRPr/>
          </a:p>
          <a:p>
            <a:pPr indent="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Map&lt;String, double&gt; produtos = {};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int quantidade;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double preco, total, media;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String nome;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7363669" y="4055057"/>
            <a:ext cx="3687000" cy="1664700"/>
          </a:xfrm>
          <a:prstGeom prst="wedgeEllipseCallout">
            <a:avLst>
              <a:gd fmla="val -46197" name="adj1"/>
              <a:gd fmla="val 76051" name="adj2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Declaração de Dados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589936" y="-25261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353961" y="899652"/>
            <a:ext cx="10987550" cy="606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u="sng"/>
              <a:t>Entrada de dados: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print('Quantos produtos deseja cadastrar?');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quantidade= int.parse(stdin.readLineSync()!);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for (int i = 1; i &lt;= quantidade; i++) {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print('\nDigite o nome do produto $i:');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nome = stdin.readLineSync()!;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print('Digite o preço do produto $nome:');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		preco = double.parse(stdin.readLineSync()!);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produtos[nome] = preco;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u="sng"/>
              <a:t>Saída dos dados:</a:t>
            </a:r>
            <a:r>
              <a:rPr b="1" lang="pt-BR" u="sng"/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print('\n Lista de produtos e preços:');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produtos.forEach((nome, preco){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85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print('$nome: R\$ ${preco.toStringAsFixed(2)}');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280088" y="1343332"/>
            <a:ext cx="11297400" cy="5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u="sng"/>
              <a:t>Verificar o produto mais barato e mais caro:</a:t>
            </a:r>
            <a:endParaRPr b="1" u="sng"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var maisCaro = produtos.entries.reduce((a, b) =&gt;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a.value &gt; b.value ? a : b);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var maisBarato = produtos.entries.reduce((a, b) =&gt;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a.value &lt; b.value ? a : b);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print(‘\nProduto mais caro: ${maisCaro.key} - R\$ ${maisCaro.value.toStringAsFixed(2)}’);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print(‘Produto mais barato: ${maisBarato.key} - R\$ ${maisBarato.value.toStringAsFixed(2)}’);}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7992795" y="-82252"/>
            <a:ext cx="3849300" cy="1946700"/>
          </a:xfrm>
          <a:prstGeom prst="wedgeEllipseCallout">
            <a:avLst>
              <a:gd fmla="val -64227" name="adj1"/>
              <a:gd fmla="val 44107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O método entries.reduce percorre o Map com suas chaves e valores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u="sng"/>
              <a:t>Total e média do estoque:</a:t>
            </a:r>
            <a:endParaRPr b="1"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400">
                <a:latin typeface="Consolas"/>
                <a:ea typeface="Consolas"/>
                <a:cs typeface="Consolas"/>
                <a:sym typeface="Consolas"/>
              </a:rPr>
              <a:t>total = produtos.values.reduce((a, b) =&gt; a + b);  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400">
                <a:latin typeface="Consolas"/>
                <a:ea typeface="Consolas"/>
                <a:cs typeface="Consolas"/>
                <a:sym typeface="Consolas"/>
              </a:rPr>
              <a:t>media = total / quantidade;   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400">
                <a:latin typeface="Consolas"/>
                <a:ea typeface="Consolas"/>
                <a:cs typeface="Consolas"/>
                <a:sym typeface="Consolas"/>
              </a:rPr>
              <a:t>print(‘\nTotal do estoque: R\$ ${total.toStringAsFixed(2)}’);  print(‘Média dos preços: R\$ ${media.toStringAsFixed(2)}’);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353830" y="1638300"/>
            <a:ext cx="11000100" cy="453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u="sng"/>
              <a:t>Em resumo</a:t>
            </a:r>
            <a:r>
              <a:rPr lang="pt-BR"/>
              <a:t>: Para adicionar valores temos dois métodos.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Método 1:</a:t>
            </a:r>
            <a:endParaRPr b="1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	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// Adiciona um novo cliente com 0 pedidos</a:t>
            </a:r>
            <a:br>
              <a:rPr lang="pt-BR">
                <a:latin typeface="Consolas"/>
                <a:ea typeface="Consolas"/>
                <a:cs typeface="Consolas"/>
                <a:sym typeface="Consolas"/>
              </a:rPr>
            </a:br>
            <a:r>
              <a:rPr lang="pt-BR"/>
              <a:t>	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clientes['Ana Silva'] =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/>
              <a:t>Método 2:</a:t>
            </a:r>
            <a:endParaRPr b="1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	// Só adiciona se a chave não existir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	clientes.putIfAbsent('Carlos Santos', () =&gt;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353830" y="1638300"/>
            <a:ext cx="11000100" cy="453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u="sng"/>
              <a:t>Incrementa</a:t>
            </a:r>
            <a:r>
              <a:rPr lang="pt-BR"/>
              <a:t>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valores </a:t>
            </a:r>
            <a:r>
              <a:rPr lang="pt-BR"/>
              <a:t>caso a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chave</a:t>
            </a:r>
            <a:r>
              <a:rPr lang="pt-BR"/>
              <a:t> exista: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600">
                <a:latin typeface="Consolas"/>
                <a:ea typeface="Consolas"/>
                <a:cs typeface="Consolas"/>
                <a:sym typeface="Consolas"/>
              </a:rPr>
              <a:t>	// Cliente já existe - incrementa pedidos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600">
                <a:latin typeface="Consolas"/>
                <a:ea typeface="Consolas"/>
                <a:cs typeface="Consolas"/>
                <a:sym typeface="Consolas"/>
              </a:rPr>
              <a:t>clientes['Ana Silva'] = (clientes['Ana Silva'] ?? 0) + 1;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353830" y="1638300"/>
            <a:ext cx="11000100" cy="453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u="sng"/>
              <a:t>Atualizar</a:t>
            </a:r>
            <a:r>
              <a:rPr lang="pt-BR"/>
              <a:t> valores com verificação: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if (clientes.containsKey('Ana Silva'))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  clientes['Ana Silva'] = clientes['Ana Silva']! + 1;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  print('Cliente não encontrado!');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353830" y="1638300"/>
            <a:ext cx="11000100" cy="453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remove()</a:t>
            </a:r>
            <a:r>
              <a:rPr lang="pt-BR"/>
              <a:t>:</a:t>
            </a:r>
            <a:endParaRPr/>
          </a:p>
          <a:p>
            <a:pPr indent="45720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// Remove o cliente pela chave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clientes.remove('Carlos Santos');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353830" y="1638300"/>
            <a:ext cx="11000100" cy="453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u="sng"/>
              <a:t>Remove</a:t>
            </a:r>
            <a:r>
              <a:rPr lang="pt-BR"/>
              <a:t> com verificação: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//remove utilizando a chave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String cliente = 'Ana Silva';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if (clientes.containsKey(cliente))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  clientes.remove(cliente);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  print('$cliente removido com sucesso!');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  print('Cliente não encontrado!');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353825" y="1638300"/>
            <a:ext cx="11000100" cy="496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u="sng"/>
              <a:t>Consulta</a:t>
            </a:r>
            <a:r>
              <a:rPr lang="pt-BR"/>
              <a:t> simples:</a:t>
            </a:r>
            <a:endParaRPr/>
          </a:p>
          <a:p>
            <a:pPr indent="45720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// Retorna null se não existir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int? pedidos = clientes['Ana Silva'];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print('Pedidos da Ana: $pedidos');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u="sng"/>
              <a:t>Consulta</a:t>
            </a:r>
            <a:r>
              <a:rPr lang="pt-BR"/>
              <a:t> com valor padrão:</a:t>
            </a:r>
            <a:endParaRPr/>
          </a:p>
          <a:p>
            <a:pPr indent="45720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// Evita null com operador ?? e 0 (zero) é o valor padrão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int pedidos = clientes['João'] ??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print('Pedidos do João: $pedidos');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353830" y="1638300"/>
            <a:ext cx="11000100" cy="453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u="sng"/>
              <a:t>Consulta</a:t>
            </a:r>
            <a:r>
              <a:rPr lang="pt-BR"/>
              <a:t> com verificação: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String cliente = 'Maria';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if (clientes.containsKey(cliente))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  print('$cliente tem ${clientes[cliente]} pedidos');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  print('Cliente não cadastrado!');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Exercício</a:t>
            </a:r>
            <a:endParaRPr/>
          </a:p>
        </p:txBody>
      </p:sp>
      <p:sp>
        <p:nvSpPr>
          <p:cNvPr id="205" name="Google Shape;205;p29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AutoNum type="arabicParenR"/>
            </a:pPr>
            <a:r>
              <a:rPr lang="pt-BR"/>
              <a:t>Faça um programa que receba os nomes dos alunos e suas notas, </a:t>
            </a:r>
            <a:r>
              <a:rPr lang="pt-BR"/>
              <a:t>apresente</a:t>
            </a:r>
            <a:r>
              <a:rPr lang="pt-BR"/>
              <a:t> a média da sala e o aluno que obteve a maior nota e menor nota.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/>
              <a:t>2) </a:t>
            </a:r>
            <a:r>
              <a:rPr lang="pt-BR"/>
              <a:t>Você está desenvolvendo um sistema de gestão de clientes para uma empresa. Cada cliente possui um nome, uma idade e o número de pedidos feitos. O sistema precisa ter as seguintes funcionalidades:</a:t>
            </a:r>
            <a:endParaRPr/>
          </a:p>
          <a:p>
            <a:pPr indent="-15113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aleway"/>
              <a:buAutoNum type="alphaUcPeriod"/>
            </a:pPr>
            <a:r>
              <a:rPr lang="pt-BR"/>
              <a:t> Adicionar um cliente ao sistema.</a:t>
            </a:r>
            <a:endParaRPr/>
          </a:p>
          <a:p>
            <a:pPr indent="-15113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aleway"/>
              <a:buAutoNum type="alphaUcPeriod"/>
            </a:pPr>
            <a:r>
              <a:rPr lang="pt-BR"/>
              <a:t> Atualizar o número de pedidos de um cliente.</a:t>
            </a:r>
            <a:endParaRPr/>
          </a:p>
          <a:p>
            <a:pPr indent="-15113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aleway"/>
              <a:buAutoNum type="alphaUcPeriod"/>
            </a:pPr>
            <a:r>
              <a:rPr lang="pt-BR"/>
              <a:t> Remover um cliente do sistema.</a:t>
            </a:r>
            <a:endParaRPr/>
          </a:p>
          <a:p>
            <a:pPr indent="-15113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aleway"/>
              <a:buAutoNum type="alphaUcPeriod"/>
            </a:pPr>
            <a:r>
              <a:rPr lang="pt-BR"/>
              <a:t> Consultar o número de pedidos de um cliente.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353830" y="1076632"/>
            <a:ext cx="11000100" cy="5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A estrutura map permite manipular vários tipos de dados até mesmo map dentro do map de uma forma dinâmica.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i="1" lang="pt-BR">
                <a:latin typeface="Consolas"/>
                <a:ea typeface="Consolas"/>
                <a:cs typeface="Consolas"/>
                <a:sym typeface="Consolas"/>
              </a:rPr>
              <a:t>Map&lt;String, Map&lt;String, dynamic&gt;&gt; clientes = {};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clientes['Maria'] = {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'idade': 25,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'pedidos': 3,  };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clientes['João'] = {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'idade': 30,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'pedidos': 5,  };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print('Número de pedidos de Maria: ${clientes['Maria']!['pedidos']}');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601571" y="1603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Map</a:t>
            </a:r>
            <a:endParaRPr/>
          </a:p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353830" y="1638300"/>
            <a:ext cx="11000100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print('Número de pedidos de Maria: ${clientes['Maria']!['pedidos']}');  clientes['Maria']!['pedidos'] = 4;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print('Número de pedidos de Maria após atualização: ${clientes['Maria']!['pedidos']}');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clientes.remove('João');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print('João foi removido do sistema.');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if (clientes.containsKey('João')) {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print('Número de pedidos de João: ${clientes['João']!['pedidos']}’);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} else {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print('João não está mais no sistema.');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