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Raleway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-regular.fntdata"/><Relationship Id="rId21" Type="http://schemas.openxmlformats.org/officeDocument/2006/relationships/slide" Target="slides/slide17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schemas.openxmlformats.org/officeDocument/2006/relationships/font" Target="fonts/Raleway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latin typeface="Raleway"/>
                <a:ea typeface="Raleway"/>
                <a:cs typeface="Raleway"/>
                <a:sym typeface="Raleway"/>
              </a:defRPr>
            </a:lvl1pPr>
            <a:lvl2pPr indent="-228600" lvl="1" marL="9144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indent="-228600" lvl="2" marL="13716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indent="-228600" lvl="3" marL="18288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indent="-228600" lvl="4" marL="2286000" algn="just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descr="File:Dart logo.png - Wikimedia Commons" id="24" name="Google Shape;24;p3"/>
          <p:cNvSpPr/>
          <p:nvPr/>
        </p:nvSpPr>
        <p:spPr>
          <a:xfrm>
            <a:off x="0" y="427078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lutter Logo PNG vector in SVG, PDF, AI, CDR format" id="25" name="Google Shape;25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Ficheiro:Dart programming language logo.svg – Wikipédia, a enciclopédia  livre" id="26" name="Google Shape;26;p3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03452" y="6254795"/>
            <a:ext cx="1827439" cy="56823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3"/>
          <p:cNvSpPr/>
          <p:nvPr/>
        </p:nvSpPr>
        <p:spPr>
          <a:xfrm>
            <a:off x="-1" y="0"/>
            <a:ext cx="161109" cy="6962503"/>
          </a:xfrm>
          <a:prstGeom prst="rect">
            <a:avLst/>
          </a:prstGeom>
          <a:solidFill>
            <a:srgbClr val="0840B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10138" y="-1"/>
            <a:ext cx="54339" cy="69625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about:blan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2E75B5"/>
              </a:gs>
            </a:gsLst>
            <a:lin ang="66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rgbClr val="2E75B5">
                  <a:alpha val="44706"/>
                </a:srgbClr>
              </a:gs>
              <a:gs pos="100000">
                <a:srgbClr val="000000">
                  <a:alpha val="28627"/>
                </a:srgbClr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 flipH="1" rot="10800000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100000">
                <a:srgbClr val="000000">
                  <a:alpha val="40784"/>
                </a:srgbClr>
              </a:gs>
            </a:gsLst>
            <a:lin ang="18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1127208" y="857251"/>
            <a:ext cx="4747280" cy="30980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Raleway"/>
              <a:buNone/>
            </a:pPr>
            <a:r>
              <a:rPr b="1" lang="pt-BR" sz="41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Desenvolvimento de Aplicações</a:t>
            </a:r>
            <a:endParaRPr b="1" sz="41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6" name="Google Shape;96;p13"/>
          <p:cNvSpPr/>
          <p:nvPr/>
        </p:nvSpPr>
        <p:spPr>
          <a:xfrm rot="-54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rgbClr val="5B9BD5">
                  <a:alpha val="23922"/>
                </a:srgbClr>
              </a:gs>
              <a:gs pos="78000">
                <a:srgbClr val="1E4E79">
                  <a:alpha val="0"/>
                </a:srgbClr>
              </a:gs>
              <a:gs pos="100000">
                <a:srgbClr val="1E4E79">
                  <a:alpha val="0"/>
                </a:srgbClr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>
            <p:ph idx="1" type="subTitle"/>
          </p:nvPr>
        </p:nvSpPr>
        <p:spPr>
          <a:xfrm>
            <a:off x="1127208" y="4756265"/>
            <a:ext cx="4393278" cy="1244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Prof. Leonardo Torres</a:t>
            </a:r>
            <a:endParaRPr b="1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395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rPr>
              <a:t>leonardotorres@umc.br</a:t>
            </a:r>
            <a:endParaRPr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20559" y="2351633"/>
            <a:ext cx="3737164" cy="2169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4"/>
          <p:cNvSpPr txBox="1"/>
          <p:nvPr>
            <p:ph type="title"/>
          </p:nvPr>
        </p:nvSpPr>
        <p:spPr>
          <a:xfrm>
            <a:off x="2044148" y="31878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Funções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>
            <p:ph type="title"/>
          </p:nvPr>
        </p:nvSpPr>
        <p:spPr>
          <a:xfrm>
            <a:off x="675860" y="-10636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</a:t>
            </a:r>
            <a:endParaRPr/>
          </a:p>
        </p:txBody>
      </p:sp>
      <p:sp>
        <p:nvSpPr>
          <p:cNvPr id="110" name="Google Shape;110;p15"/>
          <p:cNvSpPr txBox="1"/>
          <p:nvPr>
            <p:ph idx="1" type="body"/>
          </p:nvPr>
        </p:nvSpPr>
        <p:spPr>
          <a:xfrm>
            <a:off x="675860" y="1219200"/>
            <a:ext cx="10624930" cy="5294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Uma função é utilizada quando precisamos criar ações que serão repetidas.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Para declarar uma função precisamos do 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ct val="100000"/>
              <a:buNone/>
            </a:pPr>
            <a:r>
              <a:rPr b="1" lang="pt-BR">
                <a:solidFill>
                  <a:srgbClr val="385623"/>
                </a:solidFill>
                <a:latin typeface="Consolas"/>
                <a:ea typeface="Consolas"/>
                <a:cs typeface="Consolas"/>
                <a:sym typeface="Consolas"/>
              </a:rPr>
              <a:t>Tipo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b="1" lang="pt-BR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parâmetros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) {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//corpo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i="1"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</a:t>
            </a:r>
            <a:endParaRPr/>
          </a:p>
        </p:txBody>
      </p:sp>
      <p:sp>
        <p:nvSpPr>
          <p:cNvPr id="116" name="Google Shape;116;p16"/>
          <p:cNvSpPr txBox="1"/>
          <p:nvPr>
            <p:ph idx="1" type="body"/>
          </p:nvPr>
        </p:nvSpPr>
        <p:spPr>
          <a:xfrm>
            <a:off x="1115306" y="1485900"/>
            <a:ext cx="1000186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9003"/>
              <a:buNone/>
            </a:pPr>
            <a:r>
              <a:rPr lang="pt-BR" sz="4058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405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003"/>
              <a:buNone/>
            </a:pPr>
            <a:r>
              <a:rPr lang="pt-BR" sz="4058">
                <a:latin typeface="Consolas"/>
                <a:ea typeface="Consolas"/>
                <a:cs typeface="Consolas"/>
                <a:sym typeface="Consolas"/>
              </a:rPr>
              <a:t>exibirCurso(“Engenharia de Software");</a:t>
            </a:r>
            <a:endParaRPr sz="405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003"/>
              <a:buNone/>
            </a:pPr>
            <a:r>
              <a:rPr lang="pt-BR" sz="4058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405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ct val="69003"/>
              <a:buNone/>
            </a:pPr>
            <a:r>
              <a:rPr b="1" lang="pt-BR" sz="4058">
                <a:solidFill>
                  <a:srgbClr val="385623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b="1" lang="pt-BR" sz="4058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4058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exibirCurso</a:t>
            </a:r>
            <a:r>
              <a:rPr b="1" lang="pt-BR" sz="4058"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b="1" lang="pt-BR" sz="4058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String curso</a:t>
            </a:r>
            <a:r>
              <a:rPr b="1" lang="pt-BR" sz="4058">
                <a:latin typeface="Consolas"/>
                <a:ea typeface="Consolas"/>
                <a:cs typeface="Consolas"/>
                <a:sym typeface="Consolas"/>
              </a:rPr>
              <a:t>){</a:t>
            </a:r>
            <a:endParaRPr sz="405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003"/>
              <a:buNone/>
            </a:pPr>
            <a:r>
              <a:rPr b="1" lang="pt-BR" sz="4058">
                <a:latin typeface="Consolas"/>
                <a:ea typeface="Consolas"/>
                <a:cs typeface="Consolas"/>
                <a:sym typeface="Consolas"/>
              </a:rPr>
              <a:t>print('Curso:.......'+curso);</a:t>
            </a:r>
            <a:endParaRPr sz="405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003"/>
              <a:buNone/>
            </a:pPr>
            <a:r>
              <a:rPr b="1" lang="pt-BR" sz="4058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4058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None/>
            </a:pPr>
            <a:r>
              <a:rPr i="1" lang="pt-BR">
                <a:solidFill>
                  <a:srgbClr val="7030A0"/>
                </a:solidFill>
              </a:rPr>
              <a:t>Podemos ter mais de um parâmetro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-Exemplo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560450" y="1690700"/>
            <a:ext cx="9359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exibirCurso</a:t>
            </a:r>
            <a:r>
              <a:rPr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(“Engenharia de Software,4);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2800"/>
              <a:buFont typeface="Arial"/>
              <a:buNone/>
            </a:pPr>
            <a:r>
              <a:rPr b="1" lang="pt-BR" sz="2800">
                <a:solidFill>
                  <a:srgbClr val="385623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b="1" lang="pt-BR" sz="2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exibirCurso</a:t>
            </a:r>
            <a:r>
              <a:rPr b="1" lang="pt-BR" sz="2800">
                <a:solidFill>
                  <a:srgbClr val="385623"/>
                </a:solidFill>
                <a:latin typeface="Consolas"/>
                <a:ea typeface="Consolas"/>
                <a:cs typeface="Consolas"/>
                <a:sym typeface="Consolas"/>
              </a:rPr>
              <a:t>( </a:t>
            </a:r>
            <a:r>
              <a:rPr b="1" lang="pt-BR" sz="2800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String curso,int duracao</a:t>
            </a:r>
            <a:r>
              <a:rPr b="1" lang="pt-BR" sz="2800">
                <a:solidFill>
                  <a:srgbClr val="385623"/>
                </a:solidFill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print('Curso:.......'+curso);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print('Semestres:...'+duracao.toString());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2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com Retorno</a:t>
            </a:r>
            <a:endParaRPr/>
          </a:p>
        </p:txBody>
      </p:sp>
      <p:sp>
        <p:nvSpPr>
          <p:cNvPr id="128" name="Google Shape;128;p18"/>
          <p:cNvSpPr txBox="1"/>
          <p:nvPr>
            <p:ph idx="1" type="body"/>
          </p:nvPr>
        </p:nvSpPr>
        <p:spPr>
          <a:xfrm>
            <a:off x="609600" y="1563757"/>
            <a:ext cx="10840278" cy="4613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int valor=20;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 print("O dobro de $numero é : "+dobro(valor).toString());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}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ct val="100000"/>
              <a:buNone/>
            </a:pPr>
            <a:r>
              <a:rPr b="1" lang="pt-BR">
                <a:solidFill>
                  <a:srgbClr val="385623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>
                <a:solidFill>
                  <a:srgbClr val="1E4E79"/>
                </a:solidFill>
                <a:latin typeface="Consolas"/>
                <a:ea typeface="Consolas"/>
                <a:cs typeface="Consolas"/>
                <a:sym typeface="Consolas"/>
              </a:rPr>
              <a:t>dobro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int valor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pt-BR">
                <a:solidFill>
                  <a:srgbClr val="00B0F0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valor*2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7222435" y="1604349"/>
            <a:ext cx="4456044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Declaração de variável com o nome numero</a:t>
            </a:r>
            <a:endParaRPr/>
          </a:p>
        </p:txBody>
      </p:sp>
      <p:sp>
        <p:nvSpPr>
          <p:cNvPr id="130" name="Google Shape;130;p18"/>
          <p:cNvSpPr txBox="1"/>
          <p:nvPr/>
        </p:nvSpPr>
        <p:spPr>
          <a:xfrm>
            <a:off x="2789584" y="2889320"/>
            <a:ext cx="2935357" cy="36933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lgDash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Chamando o valor da variável</a:t>
            </a:r>
            <a:endParaRPr/>
          </a:p>
        </p:txBody>
      </p:sp>
      <p:sp>
        <p:nvSpPr>
          <p:cNvPr id="131" name="Google Shape;131;p18"/>
          <p:cNvSpPr txBox="1"/>
          <p:nvPr/>
        </p:nvSpPr>
        <p:spPr>
          <a:xfrm>
            <a:off x="7036904" y="3294865"/>
            <a:ext cx="2935357" cy="64633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Passando o numero como parâmetro </a:t>
            </a:r>
            <a:endParaRPr/>
          </a:p>
        </p:txBody>
      </p:sp>
      <p:cxnSp>
        <p:nvCxnSpPr>
          <p:cNvPr id="132" name="Google Shape;132;p18"/>
          <p:cNvCxnSpPr/>
          <p:nvPr/>
        </p:nvCxnSpPr>
        <p:spPr>
          <a:xfrm rot="10800000">
            <a:off x="2690191" y="1789015"/>
            <a:ext cx="4532244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18"/>
          <p:cNvCxnSpPr/>
          <p:nvPr/>
        </p:nvCxnSpPr>
        <p:spPr>
          <a:xfrm rot="10800000">
            <a:off x="3816626" y="2464904"/>
            <a:ext cx="0" cy="424416"/>
          </a:xfrm>
          <a:prstGeom prst="straightConnector1">
            <a:avLst/>
          </a:prstGeom>
          <a:noFill/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" name="Google Shape;134;p18"/>
          <p:cNvCxnSpPr/>
          <p:nvPr/>
        </p:nvCxnSpPr>
        <p:spPr>
          <a:xfrm rot="10800000">
            <a:off x="7010400" y="2464904"/>
            <a:ext cx="318052" cy="793748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– Parâmetro Opcional</a:t>
            </a:r>
            <a:endParaRPr/>
          </a:p>
        </p:txBody>
      </p:sp>
      <p:sp>
        <p:nvSpPr>
          <p:cNvPr id="140" name="Google Shape;140;p19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Void main( 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dadosAlunos("Roger",“0000-0000”);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void dadosAlunos(String nome, String telefone){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6858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print("Nome: $nome, Telefone: $telefone");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7845288" y="1690343"/>
            <a:ext cx="3652630" cy="2227816"/>
          </a:xfrm>
          <a:prstGeom prst="cloud">
            <a:avLst/>
          </a:prstGeom>
          <a:solidFill>
            <a:schemeClr val="lt1"/>
          </a:solidFill>
          <a:ln cap="flat" cmpd="sng" w="1270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o aluno não tiver telefone????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– Parâmetro Opcional</a:t>
            </a:r>
            <a:endParaRPr/>
          </a:p>
        </p:txBody>
      </p:sp>
      <p:sp>
        <p:nvSpPr>
          <p:cNvPr id="147" name="Google Shape;147;p20"/>
          <p:cNvSpPr txBox="1"/>
          <p:nvPr>
            <p:ph idx="1" type="body"/>
          </p:nvPr>
        </p:nvSpPr>
        <p:spPr>
          <a:xfrm>
            <a:off x="609600" y="1457740"/>
            <a:ext cx="10986052" cy="5261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Colocamos o parâmetro opcional entre chaves e na chamada escrevemos qual o parâmetro se refere: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Void main( 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	dadosAlunos("Roger",</a:t>
            </a:r>
            <a:r>
              <a:rPr b="1" lang="pt-BR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telefone:"9658-2205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");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void dadosAlunos(String nome, </a:t>
            </a:r>
            <a:r>
              <a:rPr b="1" lang="pt-BR">
                <a:solidFill>
                  <a:srgbClr val="FFC000"/>
                </a:solidFill>
                <a:latin typeface="Consolas"/>
                <a:ea typeface="Consolas"/>
                <a:cs typeface="Consolas"/>
                <a:sym typeface="Consolas"/>
              </a:rPr>
              <a:t>{String telefone=""}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print("Nome: $nome, Telefone: $telefone");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Resumida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368710" y="1592826"/>
            <a:ext cx="11598002" cy="4584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Podemos melhorar a declaração da nossa função. Exemplo.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&lt;tipo&gt; nomeFuncao(&lt;tipo&gt; parâmetro, ...) =&gt; comando;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void dadosAlunos(String nome, {String telefone=""}) =&gt; print("Nome: $nome, Telefone: $telefone");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Exercício </a:t>
            </a:r>
            <a:endParaRPr/>
          </a:p>
        </p:txBody>
      </p:sp>
      <p:sp>
        <p:nvSpPr>
          <p:cNvPr id="159" name="Google Shape;159;p22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Crie uma função  na Linguagem Dart que leia tenha 3 opções:</a:t>
            </a: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22860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    1 - Fatorial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    2 - Quadrado de um número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>
                <a:latin typeface="Arial"/>
                <a:ea typeface="Arial"/>
                <a:cs typeface="Arial"/>
                <a:sym typeface="Arial"/>
              </a:rPr>
              <a:t>    3 -  Sair do Programa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em variável</a:t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609600" y="1364974"/>
            <a:ext cx="10744200" cy="4811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Em Dart temos um objeto de Function 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ct val="100000"/>
              <a:buNone/>
            </a:pPr>
            <a:r>
              <a:rPr b="1" lang="pt-BR">
                <a:solidFill>
                  <a:srgbClr val="7030A0"/>
                </a:solidFill>
                <a:latin typeface="Consolas"/>
                <a:ea typeface="Consolas"/>
                <a:cs typeface="Consolas"/>
                <a:sym typeface="Consolas"/>
              </a:rPr>
              <a:t>Tipo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1" lang="pt-BR">
                <a:solidFill>
                  <a:srgbClr val="C55A11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pt-BR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parâmetros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)  </a:t>
            </a:r>
            <a:r>
              <a:rPr b="1" lang="pt-BR">
                <a:solidFill>
                  <a:srgbClr val="8296B0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lang="pt-BR">
                <a:latin typeface="Consolas"/>
                <a:ea typeface="Consolas"/>
                <a:cs typeface="Consolas"/>
                <a:sym typeface="Consolas"/>
              </a:rPr>
              <a:t>= </a:t>
            </a:r>
            <a:r>
              <a:rPr b="1" lang="pt-BR">
                <a:latin typeface="Consolas"/>
                <a:ea typeface="Consolas"/>
                <a:cs typeface="Consolas"/>
                <a:sym typeface="Consolas"/>
              </a:rPr>
              <a:t>valor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int somaFn(int a,int b){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return a+b;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int Function(int,int)soma1=somaFn;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print(soma1(3,7));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 de função com variável</a:t>
            </a:r>
            <a:endParaRPr/>
          </a:p>
        </p:txBody>
      </p:sp>
      <p:sp>
        <p:nvSpPr>
          <p:cNvPr id="171" name="Google Shape;171;p24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Desenvolva um função para verificar se o número é par ou ímpar.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5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 de função com variável</a:t>
            </a:r>
            <a:endParaRPr/>
          </a:p>
        </p:txBody>
      </p:sp>
      <p:sp>
        <p:nvSpPr>
          <p:cNvPr id="177" name="Google Shape;177;p25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String verificarParOuImpar(int numero)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if (numero % 2 == 0)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return "O número $numero é Par";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} else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  return "O número $numero é Ímpar";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Exemplo de função com variável</a:t>
            </a:r>
            <a:endParaRPr/>
          </a:p>
        </p:txBody>
      </p:sp>
      <p:sp>
        <p:nvSpPr>
          <p:cNvPr id="183" name="Google Shape;183;p26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String Function(int) operacao = verificarParOuImpar;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print(operacao(4));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>
                <a:latin typeface="Consolas"/>
                <a:ea typeface="Consolas"/>
                <a:cs typeface="Consolas"/>
                <a:sym typeface="Consolas"/>
              </a:rPr>
              <a:t>  print(operacao(7));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Filter</a:t>
            </a:r>
            <a:endParaRPr/>
          </a:p>
        </p:txBody>
      </p:sp>
      <p:sp>
        <p:nvSpPr>
          <p:cNvPr id="189" name="Google Shape;189;p27"/>
          <p:cNvSpPr txBox="1"/>
          <p:nvPr>
            <p:ph idx="1" type="body"/>
          </p:nvPr>
        </p:nvSpPr>
        <p:spPr>
          <a:xfrm>
            <a:off x="437322" y="1232452"/>
            <a:ext cx="10916478" cy="4944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Permite realizar um filtro dentro de uma estrutura. Exemplo: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var notas = [8.2, 7.1, 6.2, 4.4, 3.9, 8.8, 9.1, 5.1];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var notasBoas = [];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notas.sort();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for (var nota in notas)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  if (nota &gt;= 7)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    notasBoas.add(nota);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  print(notasBoas);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sz="3400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p27"/>
          <p:cNvSpPr txBox="1"/>
          <p:nvPr/>
        </p:nvSpPr>
        <p:spPr>
          <a:xfrm>
            <a:off x="7395799" y="2002423"/>
            <a:ext cx="3333477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Declaração de vetor com as notas</a:t>
            </a:r>
            <a:endParaRPr/>
          </a:p>
        </p:txBody>
      </p:sp>
      <p:sp>
        <p:nvSpPr>
          <p:cNvPr id="191" name="Google Shape;191;p27"/>
          <p:cNvSpPr txBox="1"/>
          <p:nvPr/>
        </p:nvSpPr>
        <p:spPr>
          <a:xfrm>
            <a:off x="6096000" y="2558015"/>
            <a:ext cx="5153270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Declaração de vetor vazio para receber as boas notas</a:t>
            </a:r>
            <a:endParaRPr/>
          </a:p>
        </p:txBody>
      </p:sp>
      <p:sp>
        <p:nvSpPr>
          <p:cNvPr id="192" name="Google Shape;192;p27"/>
          <p:cNvSpPr txBox="1"/>
          <p:nvPr/>
        </p:nvSpPr>
        <p:spPr>
          <a:xfrm>
            <a:off x="4406347" y="3174688"/>
            <a:ext cx="2618537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para percorrer o vetor</a:t>
            </a:r>
            <a:endParaRPr/>
          </a:p>
        </p:txBody>
      </p:sp>
      <p:sp>
        <p:nvSpPr>
          <p:cNvPr id="193" name="Google Shape;193;p27"/>
          <p:cNvSpPr txBox="1"/>
          <p:nvPr/>
        </p:nvSpPr>
        <p:spPr>
          <a:xfrm>
            <a:off x="4406347" y="3930654"/>
            <a:ext cx="6625019" cy="36933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a nota for maior ou igual a 7 será armazenado no vetor notasBoas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27"/>
          <p:cNvCxnSpPr/>
          <p:nvPr/>
        </p:nvCxnSpPr>
        <p:spPr>
          <a:xfrm rot="10800000">
            <a:off x="7024885" y="2185494"/>
            <a:ext cx="475845" cy="0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5" name="Google Shape;195;p27"/>
          <p:cNvCxnSpPr/>
          <p:nvPr/>
        </p:nvCxnSpPr>
        <p:spPr>
          <a:xfrm rot="10800000">
            <a:off x="3339548" y="2742681"/>
            <a:ext cx="2756452" cy="0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6" name="Google Shape;196;p27"/>
          <p:cNvCxnSpPr/>
          <p:nvPr/>
        </p:nvCxnSpPr>
        <p:spPr>
          <a:xfrm flipH="1">
            <a:off x="3869634" y="3320535"/>
            <a:ext cx="536713" cy="92333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7" name="Google Shape;197;p27"/>
          <p:cNvCxnSpPr/>
          <p:nvPr/>
        </p:nvCxnSpPr>
        <p:spPr>
          <a:xfrm rot="10800000">
            <a:off x="3869634" y="4122497"/>
            <a:ext cx="536713" cy="32266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Função com where</a:t>
            </a:r>
            <a:endParaRPr/>
          </a:p>
        </p:txBody>
      </p:sp>
      <p:sp>
        <p:nvSpPr>
          <p:cNvPr id="203" name="Google Shape;203;p28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5595"/>
              <a:buNone/>
            </a:pPr>
            <a:r>
              <a:rPr lang="pt-BR" sz="2929">
                <a:latin typeface="Consolas"/>
                <a:ea typeface="Consolas"/>
                <a:cs typeface="Consolas"/>
                <a:sym typeface="Consolas"/>
              </a:rPr>
              <a:t>void main() {</a:t>
            </a:r>
            <a:endParaRPr sz="2929">
              <a:latin typeface="Consolas"/>
              <a:ea typeface="Consolas"/>
              <a:cs typeface="Consolas"/>
              <a:sym typeface="Consolas"/>
            </a:endParaRPr>
          </a:p>
          <a:p>
            <a:pPr indent="22860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5595"/>
              <a:buNone/>
            </a:pPr>
            <a:r>
              <a:rPr lang="pt-BR" sz="2929">
                <a:latin typeface="Consolas"/>
                <a:ea typeface="Consolas"/>
                <a:cs typeface="Consolas"/>
                <a:sym typeface="Consolas"/>
              </a:rPr>
              <a:t>List&lt;double&gt;notas = [8.2, 7.1, 6.2, 4.4, 3.9, 8.8, 9.1, 5.1];</a:t>
            </a:r>
            <a:endParaRPr sz="2929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5595"/>
              <a:buNone/>
            </a:pPr>
            <a:r>
              <a:t/>
            </a:r>
            <a:endParaRPr sz="2929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5595"/>
              <a:buNone/>
            </a:pPr>
            <a:r>
              <a:rPr lang="pt-BR" sz="2929">
                <a:latin typeface="Consolas"/>
                <a:ea typeface="Consolas"/>
                <a:cs typeface="Consolas"/>
                <a:sym typeface="Consolas"/>
              </a:rPr>
              <a:t>  bool Function(double) notasBoasFn = (double nota) =&gt; nota &gt;= 7;</a:t>
            </a:r>
            <a:endParaRPr sz="2929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5595"/>
              <a:buNone/>
            </a:pPr>
            <a:r>
              <a:rPr lang="pt-BR" sz="2929">
                <a:latin typeface="Consolas"/>
                <a:ea typeface="Consolas"/>
                <a:cs typeface="Consolas"/>
                <a:sym typeface="Consolas"/>
              </a:rPr>
              <a:t>  var notasBoas = notas.where(notasBoasFn);</a:t>
            </a:r>
            <a:endParaRPr sz="2929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5595"/>
              <a:buNone/>
            </a:pPr>
            <a:r>
              <a:rPr lang="pt-BR" sz="2929">
                <a:latin typeface="Consolas"/>
                <a:ea typeface="Consolas"/>
                <a:cs typeface="Consolas"/>
                <a:sym typeface="Consolas"/>
              </a:rPr>
              <a:t>  print(notasBoas);</a:t>
            </a:r>
            <a:endParaRPr sz="2929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95595"/>
              <a:buNone/>
            </a:pPr>
            <a:r>
              <a:rPr lang="pt-BR" sz="2929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929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9"/>
          <p:cNvSpPr txBox="1"/>
          <p:nvPr>
            <p:ph type="title"/>
          </p:nvPr>
        </p:nvSpPr>
        <p:spPr>
          <a:xfrm>
            <a:off x="601571" y="1603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Raleway"/>
              <a:buNone/>
            </a:pPr>
            <a:r>
              <a:rPr lang="pt-BR"/>
              <a:t>Exercício </a:t>
            </a:r>
            <a:endParaRPr/>
          </a:p>
        </p:txBody>
      </p:sp>
      <p:sp>
        <p:nvSpPr>
          <p:cNvPr id="209" name="Google Shape;209;p29"/>
          <p:cNvSpPr txBox="1"/>
          <p:nvPr>
            <p:ph idx="1" type="body"/>
          </p:nvPr>
        </p:nvSpPr>
        <p:spPr>
          <a:xfrm>
            <a:off x="353830" y="1638300"/>
            <a:ext cx="10999970" cy="453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2286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/>
              <a:t>Você está desenvolvendo um sistema de gestão de clientes para uma empresa. Cada cliente possui um nome, uma idade e o número de pedidos feitos. O sistema precisa ter as seguintes funcionalidades:</a:t>
            </a:r>
            <a:endParaRPr/>
          </a:p>
          <a:p>
            <a:pPr indent="-164465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Adicionar um cliente ao sistema.</a:t>
            </a:r>
            <a:endParaRPr/>
          </a:p>
          <a:p>
            <a:pPr indent="-164465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Atualizar o número de pedidos de um cliente.</a:t>
            </a:r>
            <a:endParaRPr/>
          </a:p>
          <a:p>
            <a:pPr indent="-164465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Remover um cliente do sistema.</a:t>
            </a:r>
            <a:endParaRPr/>
          </a:p>
          <a:p>
            <a:pPr indent="-164465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pt-BR"/>
              <a:t>Consultar o número de pedidos de um cliente.</a:t>
            </a:r>
            <a:endParaRPr/>
          </a:p>
          <a:p>
            <a:pPr indent="0" lvl="0" marL="2286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