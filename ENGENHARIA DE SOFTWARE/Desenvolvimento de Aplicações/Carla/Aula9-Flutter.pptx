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33" Type="http://schemas.openxmlformats.org/officeDocument/2006/relationships/font" Target="fonts/Poppins-italic.fntdata"/><Relationship Id="rId10" Type="http://schemas.openxmlformats.org/officeDocument/2006/relationships/slide" Target="slides/slide6.xml"/><Relationship Id="rId32" Type="http://schemas.openxmlformats.org/officeDocument/2006/relationships/font" Target="fonts/Poppi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flutter run -d chrome</a:t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'package:flutter/material.dart'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'dart:io'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runApp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StatelessWidget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BuildContext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MaterialApp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'Aula 1'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debugShowCheckedModeBanner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theme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ThemeData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primarySwatch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Colors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pink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),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home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HomePage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);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HomePage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StatelessWidget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BuildContext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Container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'Engenharia de Software'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);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'package:flutter/material.dart'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'dart:io'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runApp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StatelessWidget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BuildContext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MaterialApp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'Aula 2'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debugShowCheckedModeBanner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theme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ThemeData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primarySwatch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Colors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pink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),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home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HomePage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);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HomePage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StatelessWidget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Widget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BuildContext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Scaffold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Container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child</a:t>
            </a:r>
            <a:r>
              <a:rPr b="0" lang="pt-BR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'Engenharia de Software'</a:t>
            </a: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));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Consolas"/>
              <a:buNone/>
            </a:pPr>
            <a: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lang="pt-BR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'package:flutter/material.dart';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void main() =&gt; runApp(MeuMaterialApp());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 MeuMaterialApp extends StatelessWidget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Widget build(BuildContext context)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return MaterialApp(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title: 'Aula 1',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debugShowCheckedModeBanner: false,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theme: ThemeData(primarySwatch: Colors.pink),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home: Pagina(),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 Pagina extends StatelessWidget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Widget build(BuildContext context)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return Scaffold(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appBar: AppBar(title: Text('Barrinha'),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backgroundColor: Colors.pink),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body: Center(child: Text('Boa noite')),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bottomNavigationBar: BottomNavigationBar(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items: &lt;BottomNavigationBarItem&gt;[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BottomNavigationBarItem(icon: Icon(Icons.home), label: 'Principal'),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BottomNavigationBarItem(icon: Icon(Icons.search), label: 'Buscar'),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'package:flutter/material.dart';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void main() =&gt; runApp(MaterialApp(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home: Pagina(), // Define a tela inicial como o widget Pagina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// Cria um StatefulWidget chamado Pagina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 Pagina extends StatefulWidget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_PaginaState createState() =&gt; _PaginaState();  // Cria o estado do widget Pagina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// Classe que gerencia o estado da Pagina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 _PaginaState extends State&lt;Pagina&gt;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String buttonText = 'Clique aqui';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Widget build(BuildContext context)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return Scaffold(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appBar: AppBar(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title: Text('Barrinha'), // Título da barra superior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backgroundColor: Colors.pink, // Cor de fundo da barra superior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body: Center(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child: ElevatedButton(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// Função chamada quando o botão é pressionado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onPressed: 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setState(()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buttonText = 'Clique aqui';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});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// Exibe um diálogo com a mensagem 'Oi'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showDialog(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context: context,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builder: (context) =&gt; AlertDialog(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content: Text('Oi'),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actions: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// Botão 'Fechar' dentro do diálogo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TextButton(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  onPressed: () =&gt; Navigator.of(context).pop(),  // Fecha o diálogo ao ser pressionado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  child: Text('Fechar'),  // Texto do botão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// O texto do botão é alterado dinamicamente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child: Text(buttonText),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import 'package:flutter/material.dart';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void main() =&gt; runApp(MaterialApp(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home: Pagina(),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 Pagina extends StatefulWidget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_PaginaState createState() =&gt; _PaginaState();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 _PaginaState extends State&lt;Pagina&gt;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TextEditingController textinho = TextEditingController();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// Função para exibir a mensagem de boas-vindas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void exibirMensagem()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String nome = textinho.text;  // Pega o texto digitado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if (nome.isNotEmpty) {  // Verifica se o campo não está vazio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showDialog(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context: context,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builder: (context)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return AlertDialog(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title: Text('Seja Bem-vindo!'),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content: Text('Olá, $nome!'),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actions: &lt;TextButton&gt;[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TextButton(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onPressed: 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  Navigator.of(context).pop();  // Fecha o diálogo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 child: Text('Fechar'),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// Método build que retorna a estrutura da página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Widget build(BuildContext context)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return Scaffold(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appBar: AppBar(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title: Text('Página de Usuário'),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backgroundColor: Colors.blue,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body: Column(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mainAxisAlignment: MainAxisAlignment.center,  // Centraliza os widgets verticalmente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crossAxisAlignment: CrossAxisAlignment.center, // Centraliza os widgets horizontalmente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children: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Icon(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Icons.account_circle,  // Ícone de usuário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size: 100,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color: Colors.blue,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Text(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'Digite seu nome:',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style: TextStyle(fontSize: 20, fontWeight: FontWeight.bold),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TextField(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controller: textinho,  // Controla o texto digitado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decoration: InputDecoration(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border: OutlineInputBorder(),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labelText: 'Nome',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ElevatedButton(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onPressed: exibirMensagem,  // Chama a função ExibirMensagem ao clicar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child: Text('Enviar'),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File:Dart logo.png - Wikimedia Commons" id="24" name="Google Shape;24;p3"/>
          <p:cNvSpPr/>
          <p:nvPr/>
        </p:nvSpPr>
        <p:spPr>
          <a:xfrm>
            <a:off x="0" y="427078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in SVG, PDF, AI, CDR format" id="25" name="Google Shape;25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cheiro:Dart programming language logo.svg – Wikipédia, a enciclopédia  livre" id="26" name="Google Shape;26;p3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-1" y="0"/>
            <a:ext cx="161109" cy="6962503"/>
          </a:xfrm>
          <a:prstGeom prst="rect">
            <a:avLst/>
          </a:prstGeom>
          <a:solidFill>
            <a:srgbClr val="084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10138" y="-1"/>
            <a:ext cx="54339" cy="6962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(SVG) Free Download" id="29" name="Google Shape;29;p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30910" l="-1" r="2687" t="31241"/>
          <a:stretch/>
        </p:blipFill>
        <p:spPr>
          <a:xfrm>
            <a:off x="10460087" y="6091671"/>
            <a:ext cx="1731913" cy="673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rgbClr val="2E75B5">
                  <a:alpha val="44706"/>
                </a:srgbClr>
              </a:gs>
              <a:gs pos="100000">
                <a:srgbClr val="000000">
                  <a:alpha val="28627"/>
                </a:srgbClr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 flipH="1" rot="10800000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100000">
                <a:srgbClr val="000000">
                  <a:alpha val="4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>
            <p:ph type="ctrTitle"/>
          </p:nvPr>
        </p:nvSpPr>
        <p:spPr>
          <a:xfrm>
            <a:off x="1127208" y="857251"/>
            <a:ext cx="4747280" cy="309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aleway"/>
              <a:buNone/>
            </a:pPr>
            <a:r>
              <a:rPr b="1" lang="pt-BR" sz="4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Desenvolvimento de Aplicações</a:t>
            </a:r>
            <a:endParaRPr b="1" sz="41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3"/>
          <p:cNvSpPr/>
          <p:nvPr/>
        </p:nvSpPr>
        <p:spPr>
          <a:xfrm rot="-54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rgbClr val="5B9BD5">
                  <a:alpha val="23922"/>
                </a:srgbClr>
              </a:gs>
              <a:gs pos="78000">
                <a:srgbClr val="1E4E79">
                  <a:alpha val="0"/>
                </a:srgbClr>
              </a:gs>
              <a:gs pos="100000">
                <a:srgbClr val="1E4E79">
                  <a:alpha val="0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1127208" y="4756265"/>
            <a:ext cx="4393278" cy="1244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0559" y="2351633"/>
            <a:ext cx="3737164" cy="216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838200" y="29185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Flutter</a:t>
            </a:r>
            <a:endParaRPr/>
          </a:p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Introdução Flutter</a:t>
            </a:r>
            <a:endParaRPr/>
          </a:p>
        </p:txBody>
      </p:sp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ct val="100000"/>
              <a:buFont typeface="Noto Sans Symbols"/>
              <a:buChar char="❑"/>
            </a:pPr>
            <a:r>
              <a:rPr b="0" i="0" lang="pt-BR"/>
              <a:t>Flutter  é um framework do Google para desenvolver aplicativos para celulares iOS e Android.</a:t>
            </a:r>
            <a:endParaRPr/>
          </a:p>
          <a:p>
            <a:pPr indent="-457200" lvl="0" marL="6858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840B0"/>
              </a:buClr>
              <a:buSzPct val="100000"/>
              <a:buFont typeface="Noto Sans Symbols"/>
              <a:buChar char="❑"/>
            </a:pPr>
            <a:r>
              <a:rPr b="0" i="0" lang="pt-BR"/>
              <a:t>Para o desenvolvimento podemos  utilizar VSCode, Android Studio, DartPad e o FlutLab uma ferramenta on-line que facilita o nosso ambiente de desenvolvimento.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pt-BR"/>
              <a:t>https://flutlab.io/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i="0" lang="pt-BR"/>
              <a:t>Ou continuar com o DartPad</a:t>
            </a:r>
            <a:endParaRPr b="0" i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Flutter no VsCode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353830" y="14859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1- Instalar o plugin do Flutter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2- Ctrl+Shift+P ou digitar Flutter:New project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3- Criar o projeto </a:t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107419"/>
            <a:ext cx="9307224" cy="1600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704" y="5206663"/>
            <a:ext cx="9334720" cy="1589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Introdução Flutter</a:t>
            </a:r>
            <a:endParaRPr/>
          </a:p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3273286" y="1690689"/>
            <a:ext cx="8080513" cy="4486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400"/>
              <a:t>Android 🡪 nessa pasta, temos o projeto Android nativo, criado normalmente em Java.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400"/>
              <a:t>iOS: nessa pasta, temo o projeto iOS nativo, criado em Swift.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400"/>
              <a:t>Lib 🡪 nessa pasta, temos por padrão o arquivo main.dart, o código que inicia a nossa aplicação</a:t>
            </a:r>
            <a:r>
              <a:rPr lang="pt-BR"/>
              <a:t>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test 🡪 nessa pasta, temos por padrão o arquivo widget_test.dart, o código para testar o funcionamento dos Widgets e interação com o usuário.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b="47406" l="0" r="0" t="0"/>
          <a:stretch/>
        </p:blipFill>
        <p:spPr>
          <a:xfrm>
            <a:off x="312035" y="1940927"/>
            <a:ext cx="2710998" cy="216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7"/>
          <p:cNvCxnSpPr/>
          <p:nvPr/>
        </p:nvCxnSpPr>
        <p:spPr>
          <a:xfrm flipH="1">
            <a:off x="1232452" y="2040835"/>
            <a:ext cx="2103783" cy="357808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" name="Google Shape;130;p17"/>
          <p:cNvCxnSpPr/>
          <p:nvPr/>
        </p:nvCxnSpPr>
        <p:spPr>
          <a:xfrm rot="10800000">
            <a:off x="838200" y="2822713"/>
            <a:ext cx="2435085" cy="92765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17"/>
          <p:cNvCxnSpPr/>
          <p:nvPr/>
        </p:nvCxnSpPr>
        <p:spPr>
          <a:xfrm rot="10800000">
            <a:off x="888433" y="3165716"/>
            <a:ext cx="2384852" cy="263284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17"/>
          <p:cNvCxnSpPr/>
          <p:nvPr/>
        </p:nvCxnSpPr>
        <p:spPr>
          <a:xfrm rot="10800000">
            <a:off x="1232452" y="3797265"/>
            <a:ext cx="2103783" cy="793735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Introdução Flutter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Tudo no Flutter é um Widget (telas, botões, textos, imagens, etc.). A interface é construída com uma árvore de widgets, permitindo reuso e modularidade.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Ele segue o conceito de "composição sobre herança", ou seja, interfaces são formadas combinando widgets menores.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Introdução Flutter</a:t>
            </a:r>
            <a:endParaRPr/>
          </a:p>
        </p:txBody>
      </p:sp>
      <p:grpSp>
        <p:nvGrpSpPr>
          <p:cNvPr id="144" name="Google Shape;144;p19"/>
          <p:cNvGrpSpPr/>
          <p:nvPr/>
        </p:nvGrpSpPr>
        <p:grpSpPr>
          <a:xfrm>
            <a:off x="490412" y="1276563"/>
            <a:ext cx="6308863" cy="5262136"/>
            <a:chOff x="257329" y="345574"/>
            <a:chExt cx="7621118" cy="6010256"/>
          </a:xfrm>
        </p:grpSpPr>
        <p:pic>
          <p:nvPicPr>
            <p:cNvPr id="145" name="Google Shape;14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1254" y="407382"/>
              <a:ext cx="4667901" cy="56872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9"/>
            <p:cNvSpPr/>
            <p:nvPr/>
          </p:nvSpPr>
          <p:spPr>
            <a:xfrm>
              <a:off x="324885" y="365125"/>
              <a:ext cx="4667902" cy="584616"/>
            </a:xfrm>
            <a:prstGeom prst="rect">
              <a:avLst/>
            </a:prstGeom>
            <a:noFill/>
            <a:ln cap="flat" cmpd="sng" w="571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7329" y="345574"/>
              <a:ext cx="4811843" cy="6010256"/>
            </a:xfrm>
            <a:prstGeom prst="rect">
              <a:avLst/>
            </a:prstGeom>
            <a:noFill/>
            <a:ln cap="flat" cmpd="sng" w="57150">
              <a:solidFill>
                <a:srgbClr val="7030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838200" y="3072984"/>
              <a:ext cx="4122203" cy="356016"/>
            </a:xfrm>
            <a:prstGeom prst="rect">
              <a:avLst/>
            </a:prstGeom>
            <a:noFill/>
            <a:ln cap="flat" cmpd="sng" w="5715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2143593" y="3429000"/>
              <a:ext cx="974362" cy="356016"/>
            </a:xfrm>
            <a:prstGeom prst="rect">
              <a:avLst/>
            </a:prstGeom>
            <a:noFill/>
            <a:ln cap="flat" cmpd="sng" w="57150">
              <a:solidFill>
                <a:srgbClr val="00206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3986041" y="5350239"/>
              <a:ext cx="974362" cy="682554"/>
            </a:xfrm>
            <a:prstGeom prst="rect">
              <a:avLst/>
            </a:prstGeom>
            <a:noFill/>
            <a:ln cap="flat" cmpd="sng" w="57150">
              <a:solidFill>
                <a:srgbClr val="98A8B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351019" y="540710"/>
              <a:ext cx="4122203" cy="356016"/>
            </a:xfrm>
            <a:prstGeom prst="rect">
              <a:avLst/>
            </a:prstGeom>
            <a:noFill/>
            <a:ln cap="flat" cmpd="sng" w="5715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9"/>
            <p:cNvSpPr txBox="1"/>
            <p:nvPr/>
          </p:nvSpPr>
          <p:spPr>
            <a:xfrm>
              <a:off x="5186583" y="718728"/>
              <a:ext cx="1599600" cy="4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AppBar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5373096" y="3040101"/>
              <a:ext cx="1333500" cy="4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Text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5240043" y="5691515"/>
              <a:ext cx="1599600" cy="4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Button</a:t>
              </a:r>
              <a:endParaRPr/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5197947" y="3601823"/>
              <a:ext cx="2680500" cy="4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Scaffold:body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5373859" y="296378"/>
            <a:ext cx="33832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Widget</a:t>
            </a:r>
            <a:endParaRPr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166569" y="1621941"/>
            <a:ext cx="11088757" cy="5236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O Flutter é baseado em widget, ele possui vários tipos de widgets para a construção de aplicativos, é como se fosse um lego. </a:t>
            </a:r>
            <a:r>
              <a:rPr b="0" i="0" lang="pt-BR"/>
              <a:t>Por exemplo, para uma tela utilizamos um Widget base chamado Scaffold, e dentro dele podemos posicionar Widgets de texto, ícones e imagens utilizando outros Widgets como </a:t>
            </a:r>
            <a:r>
              <a:rPr b="0" i="1" lang="pt-BR"/>
              <a:t>Column</a:t>
            </a:r>
            <a:r>
              <a:rPr b="0" i="0" lang="pt-BR"/>
              <a:t>, </a:t>
            </a:r>
            <a:r>
              <a:rPr b="0" i="1" lang="pt-BR"/>
              <a:t>Row</a:t>
            </a:r>
            <a:r>
              <a:rPr b="0" i="0" lang="pt-BR"/>
              <a:t>, e </a:t>
            </a:r>
            <a:r>
              <a:rPr b="0" i="1" lang="pt-BR"/>
              <a:t>Container</a:t>
            </a:r>
            <a:r>
              <a:rPr b="0" i="0" lang="pt-BR">
                <a:solidFill>
                  <a:srgbClr val="2F2F2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323" y="157667"/>
            <a:ext cx="2431349" cy="129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Widget</a:t>
            </a:r>
            <a:endParaRPr/>
          </a:p>
        </p:txBody>
      </p:sp>
      <p:grpSp>
        <p:nvGrpSpPr>
          <p:cNvPr id="168" name="Google Shape;168;p21"/>
          <p:cNvGrpSpPr/>
          <p:nvPr/>
        </p:nvGrpSpPr>
        <p:grpSpPr>
          <a:xfrm>
            <a:off x="2136915" y="2897615"/>
            <a:ext cx="6954041" cy="2936571"/>
            <a:chOff x="1" y="353888"/>
            <a:chExt cx="6954041" cy="2936571"/>
          </a:xfrm>
        </p:grpSpPr>
        <p:sp>
          <p:nvSpPr>
            <p:cNvPr id="169" name="Google Shape;169;p21"/>
            <p:cNvSpPr/>
            <p:nvPr/>
          </p:nvSpPr>
          <p:spPr>
            <a:xfrm>
              <a:off x="1" y="389390"/>
              <a:ext cx="3249536" cy="938211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1" y="389390"/>
              <a:ext cx="3249536" cy="938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650" lIns="184900" spcFirstLastPara="1" rIns="184900" wrap="square" tIns="105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1" lang="pt-BR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Layout-Posiciona outro widgets</a:t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33" y="1292099"/>
              <a:ext cx="3249536" cy="1998360"/>
            </a:xfrm>
            <a:prstGeom prst="rect">
              <a:avLst/>
            </a:prstGeom>
            <a:solidFill>
              <a:srgbClr val="CCD3EA">
                <a:alpha val="89804"/>
              </a:srgbClr>
            </a:solidFill>
            <a:ln cap="flat" cmpd="sng" w="12700">
              <a:solidFill>
                <a:srgbClr val="CCD3EA">
                  <a:alpha val="89804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 txBox="1"/>
            <p:nvPr/>
          </p:nvSpPr>
          <p:spPr>
            <a:xfrm>
              <a:off x="33" y="1292099"/>
              <a:ext cx="3249536" cy="1998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Scanffold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Column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Row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endParaRPr/>
            </a:p>
          </p:txBody>
        </p:sp>
        <p:sp>
          <p:nvSpPr>
            <p:cNvPr id="173" name="Google Shape;173;p21"/>
            <p:cNvSpPr/>
            <p:nvPr/>
          </p:nvSpPr>
          <p:spPr>
            <a:xfrm>
              <a:off x="3704506" y="353888"/>
              <a:ext cx="3249536" cy="938211"/>
            </a:xfrm>
            <a:prstGeom prst="rect">
              <a:avLst/>
            </a:prstGeom>
            <a:solidFill>
              <a:srgbClr val="6FAA47"/>
            </a:solidFill>
            <a:ln cap="flat" cmpd="sng" w="12700">
              <a:solidFill>
                <a:srgbClr val="6FAA4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3704506" y="353888"/>
              <a:ext cx="3249536" cy="938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650" lIns="184900" spcFirstLastPara="1" rIns="184900" wrap="square" tIns="105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1" lang="pt-BR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Interface- interagem com usuário</a:t>
              </a: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3704506" y="1292099"/>
              <a:ext cx="3249536" cy="1998360"/>
            </a:xfrm>
            <a:prstGeom prst="rect">
              <a:avLst/>
            </a:prstGeom>
            <a:solidFill>
              <a:srgbClr val="D2E2CB">
                <a:alpha val="89804"/>
              </a:srgbClr>
            </a:solidFill>
            <a:ln cap="flat" cmpd="sng" w="12700">
              <a:solidFill>
                <a:srgbClr val="D2E2CB">
                  <a:alpha val="89804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1"/>
            <p:cNvSpPr txBox="1"/>
            <p:nvPr/>
          </p:nvSpPr>
          <p:spPr>
            <a:xfrm>
              <a:off x="3704506" y="1292099"/>
              <a:ext cx="3249536" cy="1998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Text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Button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pt-BR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</a:t>
              </a:r>
              <a:endParaRPr/>
            </a:p>
          </p:txBody>
        </p:sp>
      </p:grpSp>
      <p:sp>
        <p:nvSpPr>
          <p:cNvPr id="177" name="Google Shape;177;p21"/>
          <p:cNvSpPr txBox="1"/>
          <p:nvPr/>
        </p:nvSpPr>
        <p:spPr>
          <a:xfrm>
            <a:off x="1033670" y="1690688"/>
            <a:ext cx="95548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Os dois tipos de widgets, com ele construímos nosso aplicativos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Widget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685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lang="pt-BR"/>
              <a:t>StatelessWidget-(stl+tab)- São os widgets estáticos, tais como:  textos, telas, menus, imagens.</a:t>
            </a:r>
            <a:endParaRPr/>
          </a:p>
          <a:p>
            <a:pPr indent="-2794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4572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840B0"/>
              </a:buClr>
              <a:buSzPts val="2800"/>
              <a:buFont typeface="Noto Sans Symbols"/>
              <a:buChar char="❑"/>
            </a:pPr>
            <a:r>
              <a:rPr lang="pt-BR"/>
              <a:t>StatefulWidget (stf+tab)- é o oposto, quando muda de estado. Ele é acompanhado pelo setState() comunica ao Flutter que ele precisa reconstruir a tela para que a alteração seja exibida corretamente.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b="1" lang="pt-BR"/>
              <a:t>Stateless x Stateful</a:t>
            </a:r>
            <a:br>
              <a:rPr b="1" i="0" lang="pt-BR">
                <a:solidFill>
                  <a:srgbClr val="1C1E2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838200" y="972457"/>
            <a:ext cx="10515600" cy="5204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2286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São os estados dos widgets. Basicamente, um estado é uma informação ou grupo de informações que são alteradas durante o tempo de execução do aplicativo. Imagine que você está em qualquer site e clica sobre o botão "Exibir". Neste momento, este botão realizará uma ação de mostrar as informações, esta alteração das informações em tempo de execução é chamada de mudança de estado, já que o valor atribuído a alguma variável de controle daquele elemento switch teve o seu valor alterado.</a:t>
            </a:r>
            <a:endParaRPr/>
          </a:p>
          <a:p>
            <a:pPr indent="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Temos dois tipos: </a:t>
            </a:r>
            <a:endParaRPr/>
          </a:p>
          <a:p>
            <a:pPr indent="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Stateless: </a:t>
            </a:r>
            <a:r>
              <a:rPr b="0" i="0" lang="pt-BR">
                <a:solidFill>
                  <a:srgbClr val="1C1E21"/>
                </a:solidFill>
              </a:rPr>
              <a:t>Um widget que </a:t>
            </a:r>
            <a:r>
              <a:rPr b="1" i="0" lang="pt-BR">
                <a:solidFill>
                  <a:srgbClr val="1C1E21"/>
                </a:solidFill>
              </a:rPr>
              <a:t>não</a:t>
            </a:r>
            <a:r>
              <a:rPr b="0" i="0" lang="pt-BR">
                <a:solidFill>
                  <a:srgbClr val="1C1E21"/>
                </a:solidFill>
              </a:rPr>
              <a:t> tem seu estado alterado.</a:t>
            </a:r>
            <a:endParaRPr/>
          </a:p>
          <a:p>
            <a:pPr indent="0" lvl="0" marL="22860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1C1E21"/>
              </a:buClr>
              <a:buSzPct val="100000"/>
              <a:buNone/>
            </a:pPr>
            <a:r>
              <a:rPr lang="pt-BR">
                <a:solidFill>
                  <a:srgbClr val="1C1E21"/>
                </a:solidFill>
              </a:rPr>
              <a:t>Stateful: é mutável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b="1" lang="pt-BR"/>
              <a:t>Stateless</a:t>
            </a:r>
            <a:endParaRPr/>
          </a:p>
        </p:txBody>
      </p:sp>
      <p:sp>
        <p:nvSpPr>
          <p:cNvPr id="195" name="Google Shape;195;p24"/>
          <p:cNvSpPr txBox="1"/>
          <p:nvPr>
            <p:ph idx="1" type="body"/>
          </p:nvPr>
        </p:nvSpPr>
        <p:spPr>
          <a:xfrm>
            <a:off x="827314" y="1485900"/>
            <a:ext cx="10728582" cy="5272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Imagine-os como tijolos em uma construção: são a base da construção, mas não fazem nada além disso. Já uma lâmpada, por exemplo, tem a função de ligar e desligar. No caso, uma lâmpada seria um Stateful widget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626A4"/>
              </a:buClr>
              <a:buSzPct val="100000"/>
              <a:buNone/>
            </a:pPr>
            <a:r>
              <a:rPr b="0" i="0" lang="pt-BR">
                <a:solidFill>
                  <a:srgbClr val="A626A4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>
                <a:solidFill>
                  <a:srgbClr val="C18401"/>
                </a:solidFill>
                <a:latin typeface="Courier New"/>
                <a:ea typeface="Courier New"/>
                <a:cs typeface="Courier New"/>
                <a:sym typeface="Courier New"/>
              </a:rPr>
              <a:t>MeuWidget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>
                <a:solidFill>
                  <a:srgbClr val="A626A4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>
                <a:solidFill>
                  <a:srgbClr val="C18401"/>
                </a:solidFill>
                <a:latin typeface="Courier New"/>
                <a:ea typeface="Courier New"/>
                <a:cs typeface="Courier New"/>
                <a:sym typeface="Courier New"/>
              </a:rPr>
              <a:t>StatelessWidget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078F2"/>
              </a:buClr>
              <a:buSzPct val="100000"/>
              <a:buNone/>
            </a:pPr>
            <a:r>
              <a:rPr b="0" i="0" lang="pt-BR">
                <a:solidFill>
                  <a:srgbClr val="4078F2"/>
                </a:solidFill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83A42"/>
              </a:buClr>
              <a:buSzPct val="100000"/>
              <a:buNone/>
            </a:pP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Wid</a:t>
            </a:r>
            <a:r>
              <a:rPr b="0" i="0" lang="pt-BR">
                <a:solidFill>
                  <a:srgbClr val="A626A4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pt-BR">
                <a:solidFill>
                  <a:srgbClr val="4078F2"/>
                </a:solidFill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(BuildContext context) {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626A4"/>
              </a:buClr>
              <a:buSzPct val="100000"/>
              <a:buNone/>
            </a:pPr>
            <a:r>
              <a:rPr b="0" i="0" lang="pt-BR">
                <a:solidFill>
                  <a:srgbClr val="A626A4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pt-BR">
                <a:solidFill>
                  <a:srgbClr val="383A42"/>
                </a:solidFill>
                <a:latin typeface="Courier New"/>
                <a:ea typeface="Courier New"/>
                <a:cs typeface="Courier New"/>
                <a:sym typeface="Courier New"/>
              </a:rPr>
              <a:t> Container(); } 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6390580" y="1638300"/>
            <a:ext cx="4963219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 nossa homePage está no container, por isso está grifada e com um fundo preto.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Para alterar precisamos trabalhar com o widget Scanffold</a:t>
            </a:r>
            <a:endParaRPr/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791" y="1485900"/>
            <a:ext cx="4963218" cy="457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Scanffold</a:t>
            </a:r>
            <a:endParaRPr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Vamos começar com uns dos  widgets bases, ele já apresenta uma pré definição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571" y="3127339"/>
            <a:ext cx="3759716" cy="331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9028" y="2873784"/>
            <a:ext cx="4867954" cy="382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172278" y="218661"/>
            <a:ext cx="11542644" cy="615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import 'package:flutter/material.dart';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void main() =&gt; runApp(MeuMaterialApp());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class MeuMaterialApp extends StatelessWidget {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Widget build(BuildContext context) {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  return MaterialApp(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    title: 'Aula 1',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    debugShowCheckedModeBanner: false,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    theme: ThemeData(primarySwatch: Colors.pink),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     home: Pagina(),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5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class Pagina extends StatelessWidget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Widget build(BuildContext context)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return Scaffold(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appBar: AppBar(title: Text('Barrinha')),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body: Center(child: Text('Boa noite')),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bottomNavigationBar: BottomNavigationBar(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  items: &lt;BottomNavigationBarItem&gt;[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    BottomNavigationBarItem(icon: Icon(Icons.home), label: 'Principal'),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    BottomNavigationBarItem(icon: Icon(Icons.search), label: 'Buscar'),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  ],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  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pt-BR" sz="6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b="0" lang="pt-BR">
                <a:latin typeface="Consolas"/>
                <a:ea typeface="Consolas"/>
                <a:cs typeface="Consolas"/>
                <a:sym typeface="Consolas"/>
              </a:rPr>
            </a:br>
            <a:endParaRPr b="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cxnSp>
        <p:nvCxnSpPr>
          <p:cNvPr id="219" name="Google Shape;219;p27"/>
          <p:cNvCxnSpPr/>
          <p:nvPr/>
        </p:nvCxnSpPr>
        <p:spPr>
          <a:xfrm>
            <a:off x="5817705" y="0"/>
            <a:ext cx="0" cy="6639339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Stateful Widget 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353830" y="1638300"/>
            <a:ext cx="10999970" cy="5367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É o oposto do stateless, eles contêm estado e são mutáveis. É por meio deles que construiremos boa parte das aplicações e componentes. São elementos-chaves para o desenvolvimento móvel da forma interativa que conhecemos.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TextField,CheckBox,Radio,Switch,Slider, listView, entre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Outros.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Um StatefulWidget precisa de uma classe de estado associada. A estrutura básica é: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StatefulWidget: Define o widget que terá um estado.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State: Define o estado associado ao widget, que pode ser alterado.</a:t>
            </a:r>
            <a:endParaRPr/>
          </a:p>
        </p:txBody>
      </p:sp>
      <p:pic>
        <p:nvPicPr>
          <p:cNvPr id="226" name="Google Shape;2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1402" y="160337"/>
            <a:ext cx="1124795" cy="1124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Quando o usuário clicar no botão irá aparecer uma mensagem.</a:t>
            </a:r>
            <a:endParaRPr/>
          </a:p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815" y="2829742"/>
            <a:ext cx="5125165" cy="370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40" y="2829742"/>
            <a:ext cx="5125165" cy="3829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pic>
        <p:nvPicPr>
          <p:cNvPr id="241" name="Google Shape;241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044" y="2656889"/>
            <a:ext cx="5953956" cy="4201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30" y="1256997"/>
            <a:ext cx="5792008" cy="217200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/>
        </p:nvSpPr>
        <p:spPr>
          <a:xfrm>
            <a:off x="259244" y="3489116"/>
            <a:ext cx="5600127" cy="253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StatefulWidget</a:t>
            </a:r>
            <a:r>
              <a:rPr lang="pt-B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permite a criação de widgets dinâmicos que mudam durante a execução.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setState() </a:t>
            </a:r>
            <a:r>
              <a:rPr lang="pt-BR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é usado para modificar o estado e atualizar a interface. Ideal para interações do usuário, como botões que alteram texto, cor ou comportamento.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Criar a seguinte tela:</a:t>
            </a:r>
            <a:endParaRPr/>
          </a:p>
        </p:txBody>
      </p:sp>
      <p:pic>
        <p:nvPicPr>
          <p:cNvPr id="250" name="Google Shape;2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830" y="2368981"/>
            <a:ext cx="4631125" cy="327530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9189" y="2368981"/>
            <a:ext cx="5020376" cy="362000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Controller- </a:t>
            </a:r>
            <a:r>
              <a:rPr i="0" lang="pt-BR"/>
              <a:t>TextEditingController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No flutter, os controladores são um meio de dar controle ao widget pai sobre o estado do seu filho.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Para retornar o valor informado em um TextField usando um TextEditingController temos que cumprir as seguintes etapas:</a:t>
            </a:r>
            <a:endParaRPr/>
          </a:p>
          <a:p>
            <a:pPr indent="-4572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/>
              <a:t>Criar um TextEditingController</a:t>
            </a:r>
            <a:endParaRPr/>
          </a:p>
          <a:p>
            <a:pPr indent="-4572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/>
              <a:t>Fornecer o TextEditingController para o TextField</a:t>
            </a:r>
            <a:endParaRPr/>
          </a:p>
          <a:p>
            <a:pPr indent="-4572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/>
              <a:t>Exibir o valor atual do TextField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63" name="Google Shape;263;p3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830" y="1285326"/>
            <a:ext cx="6230219" cy="3934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6053" y="3429000"/>
            <a:ext cx="3705742" cy="2276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2584" y="-34110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353960" y="634181"/>
            <a:ext cx="11735455" cy="6356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import 'package:flutter/material.dart';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void main() =&gt; runApp(MaterialApp(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home: Pagina(),));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class Pagina extends StatefulWidget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@override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_PaginaState createState() =&gt; _PaginaState();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class _PaginaState extends State&lt;Pagina&gt;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</a:t>
            </a:r>
            <a:r>
              <a:rPr b="1" lang="pt-BR">
                <a:solidFill>
                  <a:srgbClr val="A50B8F"/>
                </a:solidFill>
              </a:rPr>
              <a:t>TextEditingController textinho = TextEditingController();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// Função para exibir a mensagem de boas-vindas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void exibirMensagem()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String nome = textinho.text;  // Pega o texto digitado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if (nome.isNotEmpty) {  // Verifica se o campo não está vazio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showDialog(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context: context,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builder: (context)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return AlertDialog(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title: Text('Seja Bem-vindo!'),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content: Text('Olá, $nome!'),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actions: &lt;TextButton&gt;[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  TextButton(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    onPressed: () {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      Navigator.of(context).pop();  // Fecha o diálogo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    },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    child: Text('Fechar'),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             ),            ],          );        },      );    }  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