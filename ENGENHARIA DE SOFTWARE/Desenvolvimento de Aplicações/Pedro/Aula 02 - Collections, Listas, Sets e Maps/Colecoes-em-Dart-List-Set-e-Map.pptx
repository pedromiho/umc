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7"/>
  </p:notesMasterIdLst>
  <p:sldIdLst>
    <p:sldId id="256" r:id="rId2"/>
    <p:sldId id="257" r:id="rId3"/>
    <p:sldId id="268" r:id="rId4"/>
    <p:sldId id="258" r:id="rId5"/>
    <p:sldId id="259" r:id="rId6"/>
    <p:sldId id="266" r:id="rId7"/>
    <p:sldId id="260" r:id="rId8"/>
    <p:sldId id="261" r:id="rId9"/>
    <p:sldId id="267" r:id="rId10"/>
    <p:sldId id="262" r:id="rId11"/>
    <p:sldId id="263" r:id="rId12"/>
    <p:sldId id="264" r:id="rId13"/>
    <p:sldId id="265" r:id="rId14"/>
    <p:sldId id="270" r:id="rId15"/>
    <p:sldId id="269" r:id="rId16"/>
  </p:sldIdLst>
  <p:sldSz cx="12192000" cy="6858000"/>
  <p:notesSz cx="6858000" cy="12192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libri Light" panose="020F0302020204030204" pitchFamily="34" charset="0"/>
      <p:regular r:id="rId22"/>
      <p: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Inter" panose="020B0604020202020204" charset="0"/>
      <p:regular r:id="rId28"/>
    </p:embeddedFont>
    <p:embeddedFont>
      <p:font typeface="Inter Bold" panose="020B0604020202020204" charset="0"/>
      <p:regular r:id="rId2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3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6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2441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4472147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spcBef>
                <a:spcPts val="0"/>
              </a:spcBef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just">
              <a:lnSpc>
                <a:spcPct val="150000"/>
              </a:lnSpc>
              <a:spcBef>
                <a:spcPts val="0"/>
              </a:spcBef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914400" indent="0" algn="just">
              <a:lnSpc>
                <a:spcPct val="150000"/>
              </a:lnSpc>
              <a:spcBef>
                <a:spcPts val="0"/>
              </a:spcBef>
              <a:buNone/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0" algn="just">
              <a:lnSpc>
                <a:spcPct val="150000"/>
              </a:lnSpc>
              <a:spcBef>
                <a:spcPts val="0"/>
              </a:spcBef>
              <a:buNone/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828800" indent="0" algn="just">
              <a:lnSpc>
                <a:spcPct val="150000"/>
              </a:lnSpc>
              <a:spcBef>
                <a:spcPts val="0"/>
              </a:spcBef>
              <a:buNone/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3399089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965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218830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889698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56719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430731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6731188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3360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707383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740072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083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1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0415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Coleções em Dart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915642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100" b="1" kern="0" spc="-15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List, Set e Map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356682" y="4014291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Estrutura, organização e manipulação de dados em memória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177699" y="4529336"/>
            <a:ext cx="2652547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104" y="4597301"/>
            <a:ext cx="151206" cy="15120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17912" y="4585990"/>
            <a:ext cx="2808515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DA INFORMAÇÃO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924700" y="4529336"/>
            <a:ext cx="1089295" cy="287139"/>
          </a:xfrm>
          <a:prstGeom prst="roundRect">
            <a:avLst>
              <a:gd name="adj" fmla="val 22118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104" y="4597301"/>
            <a:ext cx="151206" cy="15120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264913" y="4585990"/>
            <a:ext cx="1245263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kern="0" spc="-3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HORAS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F54CE29-7580-4567-A135-827A3A46452E}"/>
              </a:ext>
            </a:extLst>
          </p:cNvPr>
          <p:cNvGrpSpPr/>
          <p:nvPr/>
        </p:nvGrpSpPr>
        <p:grpSpPr>
          <a:xfrm>
            <a:off x="877335" y="522553"/>
            <a:ext cx="1670901" cy="287139"/>
            <a:chOff x="661475" y="686197"/>
            <a:chExt cx="1670901" cy="287139"/>
          </a:xfrm>
        </p:grpSpPr>
        <p:sp>
          <p:nvSpPr>
            <p:cNvPr id="2" name="Shape 0"/>
            <p:cNvSpPr/>
            <p:nvPr/>
          </p:nvSpPr>
          <p:spPr>
            <a:xfrm>
              <a:off x="661475" y="686197"/>
              <a:ext cx="1174721" cy="287139"/>
            </a:xfrm>
            <a:prstGeom prst="roundRect">
              <a:avLst>
                <a:gd name="adj" fmla="val 22118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74879" y="742851"/>
              <a:ext cx="1557497" cy="17383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150" kern="0" spc="-3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VISÃO GERAL</a:t>
              </a:r>
              <a:endParaRPr lang="en-US" sz="11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56832" y="8811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Três Estruturas, Três Propósitos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192305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Dart, as coleções são a principal forma de agrupar dados em memória. Cada tipo foi projetado para um cenário diferente — e escolher a estrutura certa faz toda a diferença.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74052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6832" y="293588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800" y="3091755"/>
            <a:ext cx="255085" cy="2550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6832" y="36919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856832" y="410061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ordenada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permite duplicados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Acesso via índice numérico.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47359" y="274052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2716" y="293588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8684" y="3091755"/>
            <a:ext cx="255085" cy="2550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2716" y="36919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4542716" y="410061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Coleção de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 únicos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Duplicados são automaticamente ignorados.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033244" y="2740521"/>
            <a:ext cx="3496877" cy="2462709"/>
          </a:xfrm>
          <a:prstGeom prst="roundRect">
            <a:avLst>
              <a:gd name="adj" fmla="val 322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8600" y="2935883"/>
            <a:ext cx="567021" cy="56703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4568" y="3091755"/>
            <a:ext cx="255085" cy="2550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8600" y="3691930"/>
            <a:ext cx="310616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8228600" y="4100612"/>
            <a:ext cx="310616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Pares de </a:t>
            </a:r>
            <a:r>
              <a:rPr lang="en-US" sz="1450" b="1" kern="0" spc="-3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chave → valor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Cada chave é única e o acesso é feito por ela.</a:t>
            </a:r>
            <a:endParaRPr lang="en-US" sz="1450" dirty="0"/>
          </a:p>
        </p:txBody>
      </p:sp>
      <p:sp>
        <p:nvSpPr>
          <p:cNvPr id="21" name="Shape 16"/>
          <p:cNvSpPr/>
          <p:nvPr/>
        </p:nvSpPr>
        <p:spPr>
          <a:xfrm>
            <a:off x="661475" y="5415855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9D9D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482" y="5683548"/>
            <a:ext cx="236234" cy="1890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75723" y="5652095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estrutura escolher para cada situação? Essa resposta guiará todo o conteúdo de hoje.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B75FD26-A7BA-4E84-89B8-80EB5C498754}"/>
              </a:ext>
            </a:extLst>
          </p:cNvPr>
          <p:cNvSpPr/>
          <p:nvPr/>
        </p:nvSpPr>
        <p:spPr>
          <a:xfrm>
            <a:off x="856208" y="1883866"/>
            <a:ext cx="10580142" cy="420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88000"/>
              </a:lnSpc>
              <a:buNone/>
            </a:pP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000" b="1" kern="0" spc="-1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estrutura de coleção mais intuitiva em Dart. Ela representa uma </a:t>
            </a:r>
            <a:r>
              <a:rPr lang="en-US" sz="1000" b="1" kern="0" spc="-1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sequência ordenada de valores</a:t>
            </a: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onde cada elemento ocupa uma posição específica chamada de </a:t>
            </a:r>
            <a:r>
              <a:rPr lang="en-US" sz="1000" b="1" kern="0" spc="-10" dirty="0" err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índice</a:t>
            </a: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just">
              <a:lnSpc>
                <a:spcPct val="88000"/>
              </a:lnSpc>
              <a:buNone/>
            </a:pP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Os índices sempre começam em zero — convenção universal nas linguagens derivadas de C, Java e similares. A List permite elementos repetidos, o que a diferencia do Set.</a:t>
            </a:r>
            <a:endParaRPr lang="en-US" sz="1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57312D7-2D2B-4B65-B145-770F49F8A379}"/>
              </a:ext>
            </a:extLst>
          </p:cNvPr>
          <p:cNvSpPr/>
          <p:nvPr/>
        </p:nvSpPr>
        <p:spPr>
          <a:xfrm>
            <a:off x="868907" y="2270183"/>
            <a:ext cx="5910313" cy="191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1100" dirty="0"/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7D3467AE-8AAA-46B7-8149-3AE0B654793D}"/>
              </a:ext>
            </a:extLst>
          </p:cNvPr>
          <p:cNvGrpSpPr/>
          <p:nvPr/>
        </p:nvGrpSpPr>
        <p:grpSpPr>
          <a:xfrm>
            <a:off x="856208" y="2559868"/>
            <a:ext cx="5910313" cy="1772592"/>
            <a:chOff x="661475" y="1068586"/>
            <a:chExt cx="5910313" cy="1006872"/>
          </a:xfrm>
        </p:grpSpPr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0A19CB87-5567-4833-9CB4-514CA9F75DF8}"/>
                </a:ext>
              </a:extLst>
            </p:cNvPr>
            <p:cNvSpPr/>
            <p:nvPr/>
          </p:nvSpPr>
          <p:spPr>
            <a:xfrm>
              <a:off x="661475" y="1068586"/>
              <a:ext cx="5910313" cy="1006872"/>
            </a:xfrm>
            <a:prstGeom prst="roundRect">
              <a:avLst>
                <a:gd name="adj" fmla="val 2562"/>
              </a:avLst>
            </a:prstGeom>
            <a:solidFill>
              <a:srgbClr val="F2F2F2"/>
            </a:solidFill>
            <a:ln/>
          </p:spPr>
        </p:sp>
        <p:sp>
          <p:nvSpPr>
            <p:cNvPr id="9" name="Text 6">
              <a:extLst>
                <a:ext uri="{FF2B5EF4-FFF2-40B4-BE49-F238E27FC236}">
                  <a16:creationId xmlns:a16="http://schemas.microsoft.com/office/drawing/2014/main" id="{32FE2D6E-2C0F-4DDA-8F84-0FDA0E9EBA7B}"/>
                </a:ext>
              </a:extLst>
            </p:cNvPr>
            <p:cNvSpPr/>
            <p:nvPr/>
          </p:nvSpPr>
          <p:spPr>
            <a:xfrm>
              <a:off x="735093" y="1130002"/>
              <a:ext cx="5763076" cy="8840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var nomes = ['Ana', 'João', 'Maria', 'Ana'];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Acesso por índice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print(nomes[0]); // 'Ana'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print(nomes[2]); // 'Maria'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Índice reflete a ordem de inserção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'Ana' aparece em [0] e em [3]</a:t>
              </a:r>
              <a:endParaRPr lang="en-US" sz="8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800" kern="0" spc="-10" dirty="0">
                  <a:solidFill>
                    <a:srgbClr val="22863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Isso é válido — List permite duplicidade</a:t>
              </a:r>
              <a:endParaRPr lang="en-US" sz="800" dirty="0"/>
            </a:p>
          </p:txBody>
        </p:sp>
      </p:grpSp>
      <p:sp>
        <p:nvSpPr>
          <p:cNvPr id="10" name="Text 7">
            <a:extLst>
              <a:ext uri="{FF2B5EF4-FFF2-40B4-BE49-F238E27FC236}">
                <a16:creationId xmlns:a16="http://schemas.microsoft.com/office/drawing/2014/main" id="{D1AAFCF4-C321-4A29-88A0-2BC4B2E69C3C}"/>
              </a:ext>
            </a:extLst>
          </p:cNvPr>
          <p:cNvSpPr/>
          <p:nvPr/>
        </p:nvSpPr>
        <p:spPr>
          <a:xfrm>
            <a:off x="856208" y="4477294"/>
            <a:ext cx="5910313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1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fundamentais</a:t>
            </a:r>
            <a:endParaRPr lang="en-US" sz="900" dirty="0"/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50A1ABB-B154-498A-A079-F45D38114AFB}"/>
              </a:ext>
            </a:extLst>
          </p:cNvPr>
          <p:cNvGrpSpPr/>
          <p:nvPr/>
        </p:nvGrpSpPr>
        <p:grpSpPr>
          <a:xfrm>
            <a:off x="856208" y="4680436"/>
            <a:ext cx="5910313" cy="665482"/>
            <a:chOff x="661475" y="2216248"/>
            <a:chExt cx="5910313" cy="359456"/>
          </a:xfrm>
        </p:grpSpPr>
        <p:pic>
          <p:nvPicPr>
            <p:cNvPr id="12" name="Image 0" descr="preencoded.png">
              <a:extLst>
                <a:ext uri="{FF2B5EF4-FFF2-40B4-BE49-F238E27FC236}">
                  <a16:creationId xmlns:a16="http://schemas.microsoft.com/office/drawing/2014/main" id="{71EB173E-A78A-44DD-927C-AEBE4754F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2216248"/>
              <a:ext cx="5910313" cy="359456"/>
            </a:xfrm>
            <a:prstGeom prst="rect">
              <a:avLst/>
            </a:prstGeom>
          </p:spPr>
        </p:pic>
        <p:sp>
          <p:nvSpPr>
            <p:cNvPr id="13" name="Text 8">
              <a:extLst>
                <a:ext uri="{FF2B5EF4-FFF2-40B4-BE49-F238E27FC236}">
                  <a16:creationId xmlns:a16="http://schemas.microsoft.com/office/drawing/2014/main" id="{DA0A0A83-EBB3-4036-A346-49867D64EDB1}"/>
                </a:ext>
              </a:extLst>
            </p:cNvPr>
            <p:cNvSpPr/>
            <p:nvPr/>
          </p:nvSpPr>
          <p:spPr>
            <a:xfrm>
              <a:off x="754639" y="2284016"/>
              <a:ext cx="5749384" cy="959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b="1" kern="0" spc="-1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Ordenada</a:t>
              </a:r>
              <a:endParaRPr lang="en-US" sz="900" dirty="0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406CEFC-7944-4799-893C-F85B40EA275F}"/>
                </a:ext>
              </a:extLst>
            </p:cNvPr>
            <p:cNvSpPr/>
            <p:nvPr/>
          </p:nvSpPr>
          <p:spPr>
            <a:xfrm>
              <a:off x="754639" y="2399903"/>
              <a:ext cx="5749384" cy="650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8000"/>
                </a:lnSpc>
                <a:buNone/>
              </a:pP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 ordem dos elementos é determinada pela ordem de inserção e é preservada. </a:t>
              </a:r>
              <a:r>
                <a:rPr lang="en-US" sz="800" kern="0" spc="-10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nomes[0]</a:t>
              </a: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é sempre o primeiro </a:t>
              </a:r>
              <a:r>
                <a:rPr lang="en-US" sz="800" kern="0" spc="-1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elemento</a:t>
              </a: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</a:t>
              </a:r>
            </a:p>
            <a:p>
              <a:pPr marL="0" indent="0" algn="l">
                <a:lnSpc>
                  <a:spcPct val="88000"/>
                </a:lnSpc>
                <a:buNone/>
              </a:pPr>
              <a:r>
                <a:rPr lang="en-US" sz="800" kern="0" spc="-10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inserido</a:t>
              </a: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800" dirty="0"/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5841533A-35E1-4CE5-9442-F5466B269774}"/>
              </a:ext>
            </a:extLst>
          </p:cNvPr>
          <p:cNvGrpSpPr/>
          <p:nvPr/>
        </p:nvGrpSpPr>
        <p:grpSpPr>
          <a:xfrm>
            <a:off x="868906" y="5503059"/>
            <a:ext cx="5910313" cy="500690"/>
            <a:chOff x="661475" y="2552700"/>
            <a:chExt cx="5910313" cy="316508"/>
          </a:xfrm>
        </p:grpSpPr>
        <p:pic>
          <p:nvPicPr>
            <p:cNvPr id="16" name="Image 1" descr="preencoded.png">
              <a:extLst>
                <a:ext uri="{FF2B5EF4-FFF2-40B4-BE49-F238E27FC236}">
                  <a16:creationId xmlns:a16="http://schemas.microsoft.com/office/drawing/2014/main" id="{2EB0BF71-7D01-47CA-A70E-A513632E3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2552700"/>
              <a:ext cx="5910313" cy="316508"/>
            </a:xfrm>
            <a:prstGeom prst="rect">
              <a:avLst/>
            </a:prstGeom>
          </p:spPr>
        </p:pic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9D799D3B-2FA5-47F1-BC1B-B672F37C69AD}"/>
                </a:ext>
              </a:extLst>
            </p:cNvPr>
            <p:cNvSpPr/>
            <p:nvPr/>
          </p:nvSpPr>
          <p:spPr>
            <a:xfrm>
              <a:off x="754639" y="2620466"/>
              <a:ext cx="5749384" cy="959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b="1" kern="0" spc="-1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Indexada</a:t>
              </a:r>
              <a:endParaRPr lang="en-US" sz="900" dirty="0"/>
            </a:p>
          </p:txBody>
        </p:sp>
        <p:sp>
          <p:nvSpPr>
            <p:cNvPr id="18" name="Text 11">
              <a:extLst>
                <a:ext uri="{FF2B5EF4-FFF2-40B4-BE49-F238E27FC236}">
                  <a16:creationId xmlns:a16="http://schemas.microsoft.com/office/drawing/2014/main" id="{78B321C8-09BB-4997-A752-A33ED337BE9F}"/>
                </a:ext>
              </a:extLst>
            </p:cNvPr>
            <p:cNvSpPr/>
            <p:nvPr/>
          </p:nvSpPr>
          <p:spPr>
            <a:xfrm>
              <a:off x="754639" y="2736354"/>
              <a:ext cx="5749384" cy="650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8000"/>
                </a:lnSpc>
                <a:buNone/>
              </a:pP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Cada posição tem um índice numérico inteiro começando em </a:t>
              </a:r>
              <a:r>
                <a:rPr lang="en-US" sz="800" kern="0" spc="-10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0</a:t>
              </a: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 O último índice é sempre </a:t>
              </a:r>
              <a:r>
                <a:rPr lang="en-US" sz="800" kern="0" spc="-10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comprimento - 1</a:t>
              </a: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800" dirty="0"/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88B9BC99-EB65-4C39-8F69-15F4ECA2D700}"/>
              </a:ext>
            </a:extLst>
          </p:cNvPr>
          <p:cNvGrpSpPr/>
          <p:nvPr/>
        </p:nvGrpSpPr>
        <p:grpSpPr>
          <a:xfrm>
            <a:off x="868907" y="6160889"/>
            <a:ext cx="5910313" cy="500691"/>
            <a:chOff x="661475" y="2889151"/>
            <a:chExt cx="5910313" cy="316508"/>
          </a:xfrm>
        </p:grpSpPr>
        <p:pic>
          <p:nvPicPr>
            <p:cNvPr id="20" name="Image 2" descr="preencoded.png">
              <a:extLst>
                <a:ext uri="{FF2B5EF4-FFF2-40B4-BE49-F238E27FC236}">
                  <a16:creationId xmlns:a16="http://schemas.microsoft.com/office/drawing/2014/main" id="{34A7AC49-09A7-4686-AF2C-F871A638D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61475" y="2889151"/>
              <a:ext cx="5910313" cy="316508"/>
            </a:xfrm>
            <a:prstGeom prst="rect">
              <a:avLst/>
            </a:prstGeom>
          </p:spPr>
        </p:pic>
        <p:sp>
          <p:nvSpPr>
            <p:cNvPr id="21" name="Text 12">
              <a:extLst>
                <a:ext uri="{FF2B5EF4-FFF2-40B4-BE49-F238E27FC236}">
                  <a16:creationId xmlns:a16="http://schemas.microsoft.com/office/drawing/2014/main" id="{5A14C65C-0DE1-4B5F-AA52-1A6ADB6FF6A0}"/>
                </a:ext>
              </a:extLst>
            </p:cNvPr>
            <p:cNvSpPr/>
            <p:nvPr/>
          </p:nvSpPr>
          <p:spPr>
            <a:xfrm>
              <a:off x="754639" y="2956917"/>
              <a:ext cx="5749384" cy="9594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900" b="1" kern="0" spc="-18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Permite repetição</a:t>
              </a:r>
              <a:endParaRPr lang="en-US" sz="900" dirty="0"/>
            </a:p>
          </p:txBody>
        </p:sp>
        <p:sp>
          <p:nvSpPr>
            <p:cNvPr id="22" name="Text 13">
              <a:extLst>
                <a:ext uri="{FF2B5EF4-FFF2-40B4-BE49-F238E27FC236}">
                  <a16:creationId xmlns:a16="http://schemas.microsoft.com/office/drawing/2014/main" id="{DBBC153D-3CF0-4604-A84E-BBE8AD8F1A74}"/>
                </a:ext>
              </a:extLst>
            </p:cNvPr>
            <p:cNvSpPr/>
            <p:nvPr/>
          </p:nvSpPr>
          <p:spPr>
            <a:xfrm>
              <a:off x="754639" y="3072805"/>
              <a:ext cx="5749384" cy="650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88000"/>
                </a:lnSpc>
                <a:buNone/>
              </a:pPr>
              <a:r>
                <a:rPr lang="en-US" sz="800" kern="0" spc="-10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'Ana' aparece duas vezes na lista. Cada ocorrência é um elemento independente em sua própria posição.</a:t>
              </a:r>
              <a:endParaRPr lang="en-US" sz="800" dirty="0"/>
            </a:p>
          </p:txBody>
        </p:sp>
      </p:grpSp>
      <p:sp>
        <p:nvSpPr>
          <p:cNvPr id="23" name="Text 14">
            <a:extLst>
              <a:ext uri="{FF2B5EF4-FFF2-40B4-BE49-F238E27FC236}">
                <a16:creationId xmlns:a16="http://schemas.microsoft.com/office/drawing/2014/main" id="{627FF643-6DE7-4A49-913B-10C179FFFD26}"/>
              </a:ext>
            </a:extLst>
          </p:cNvPr>
          <p:cNvSpPr/>
          <p:nvPr/>
        </p:nvSpPr>
        <p:spPr>
          <a:xfrm>
            <a:off x="6935685" y="2310966"/>
            <a:ext cx="480851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spc="-1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Quando usar List?</a:t>
            </a:r>
            <a:endParaRPr lang="en-US" sz="1400" dirty="0"/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8B765DE9-23FB-4F97-95A6-76CC04017E2D}"/>
              </a:ext>
            </a:extLst>
          </p:cNvPr>
          <p:cNvSpPr/>
          <p:nvPr/>
        </p:nvSpPr>
        <p:spPr>
          <a:xfrm>
            <a:off x="7080838" y="2627395"/>
            <a:ext cx="465036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Sequência importa</a:t>
            </a:r>
            <a:endParaRPr lang="en-US" sz="1100" dirty="0"/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1607B2C1-AD81-4390-A41F-9093244D29D5}"/>
              </a:ext>
            </a:extLst>
          </p:cNvPr>
          <p:cNvSpPr/>
          <p:nvPr/>
        </p:nvSpPr>
        <p:spPr>
          <a:xfrm>
            <a:off x="7080838" y="2836271"/>
            <a:ext cx="4650366" cy="235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Itens de um pedido, etapas de um processo, histórico de ações — a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100" kern="0" spc="-1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ordem</a:t>
            </a: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faz parte do significado dos dados.</a:t>
            </a:r>
            <a:endParaRPr lang="en-US" sz="11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F8224EFC-C6BA-4AA3-A7A7-7AA7A39A793F}"/>
              </a:ext>
            </a:extLst>
          </p:cNvPr>
          <p:cNvSpPr/>
          <p:nvPr/>
        </p:nvSpPr>
        <p:spPr>
          <a:xfrm>
            <a:off x="7080838" y="3292626"/>
            <a:ext cx="4650366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 por posição</a:t>
            </a:r>
            <a:endParaRPr lang="en-US" sz="1100" dirty="0"/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28B63C06-6901-40F7-9DA9-107210F29C56}"/>
              </a:ext>
            </a:extLst>
          </p:cNvPr>
          <p:cNvSpPr/>
          <p:nvPr/>
        </p:nvSpPr>
        <p:spPr>
          <a:xfrm>
            <a:off x="7014760" y="3512567"/>
            <a:ext cx="4650366" cy="24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05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"Qual é o segundo </a:t>
            </a: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produto</a:t>
            </a:r>
            <a:r>
              <a:rPr lang="en-US" sz="105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carrinho?" — a pergunta usa </a:t>
            </a:r>
            <a:r>
              <a:rPr lang="en-US" sz="1050" kern="0" spc="-1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posição</a:t>
            </a:r>
            <a:r>
              <a:rPr lang="en-US" sz="105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kern="0" spc="-1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como</a:t>
            </a:r>
            <a:endParaRPr lang="en-US" sz="1050" kern="0" spc="-10" dirty="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ct val="88000"/>
              </a:lnSpc>
              <a:buNone/>
            </a:pPr>
            <a:r>
              <a:rPr lang="en-US" sz="105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critério de acesso.</a:t>
            </a:r>
            <a:endParaRPr lang="en-US" sz="1050" dirty="0"/>
          </a:p>
        </p:txBody>
      </p:sp>
      <p:sp>
        <p:nvSpPr>
          <p:cNvPr id="28" name="Text 19">
            <a:extLst>
              <a:ext uri="{FF2B5EF4-FFF2-40B4-BE49-F238E27FC236}">
                <a16:creationId xmlns:a16="http://schemas.microsoft.com/office/drawing/2014/main" id="{0B49BF3F-11E6-48E8-BD44-9C5A18E88E6E}"/>
              </a:ext>
            </a:extLst>
          </p:cNvPr>
          <p:cNvSpPr/>
          <p:nvPr/>
        </p:nvSpPr>
        <p:spPr>
          <a:xfrm>
            <a:off x="7080838" y="4055979"/>
            <a:ext cx="4650366" cy="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kern="0" spc="-1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Repetição é possível</a:t>
            </a:r>
            <a:endParaRPr lang="en-US" sz="1100" dirty="0"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2EACE4A9-F566-4742-B6B7-22C287555FF4}"/>
              </a:ext>
            </a:extLst>
          </p:cNvPr>
          <p:cNvSpPr/>
          <p:nvPr/>
        </p:nvSpPr>
        <p:spPr>
          <a:xfrm>
            <a:off x="7080838" y="4247157"/>
            <a:ext cx="4650366" cy="326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lista de compras pode ter "Leite" duas vezes. Um ranking </a:t>
            </a:r>
            <a:r>
              <a:rPr lang="en-US" sz="1100" kern="0" spc="-1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</a:t>
            </a: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100" kern="0" spc="-10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</a:t>
            </a:r>
            <a:r>
              <a:rPr lang="en-US" sz="11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dois concorrentes empatados.</a:t>
            </a:r>
            <a:endParaRPr lang="en-US" sz="1100" dirty="0"/>
          </a:p>
        </p:txBody>
      </p:sp>
      <p:sp>
        <p:nvSpPr>
          <p:cNvPr id="30" name="Text 21">
            <a:extLst>
              <a:ext uri="{FF2B5EF4-FFF2-40B4-BE49-F238E27FC236}">
                <a16:creationId xmlns:a16="http://schemas.microsoft.com/office/drawing/2014/main" id="{7B561E67-16A3-42B1-9B96-B5E4A5EE07E1}"/>
              </a:ext>
            </a:extLst>
          </p:cNvPr>
          <p:cNvSpPr/>
          <p:nvPr/>
        </p:nvSpPr>
        <p:spPr>
          <a:xfrm>
            <a:off x="7052650" y="4805899"/>
            <a:ext cx="4548590" cy="463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1000" kern="0" spc="-1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b="1" kern="0" spc="-1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Reflexão para a turma:</a:t>
            </a: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"Uma List pode ter valores repetidos?" — </a:t>
            </a:r>
          </a:p>
          <a:p>
            <a:pPr marL="0" indent="0" algn="l">
              <a:lnSpc>
                <a:spcPct val="88000"/>
              </a:lnSpc>
              <a:buNone/>
            </a:pPr>
            <a:r>
              <a:rPr lang="en-US" sz="10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Sim. E isso não é um erro. É uma característica deliberada da estrutura.</a:t>
            </a:r>
            <a:endParaRPr lang="en-US" sz="1000" dirty="0"/>
          </a:p>
        </p:txBody>
      </p: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60E9DB0A-C9B6-4EB8-AAC1-A8C967E27C6A}"/>
              </a:ext>
            </a:extLst>
          </p:cNvPr>
          <p:cNvGrpSpPr/>
          <p:nvPr/>
        </p:nvGrpSpPr>
        <p:grpSpPr>
          <a:xfrm>
            <a:off x="856208" y="697111"/>
            <a:ext cx="1006748" cy="272752"/>
            <a:chOff x="661475" y="743744"/>
            <a:chExt cx="1006748" cy="272752"/>
          </a:xfrm>
        </p:grpSpPr>
        <p:sp>
          <p:nvSpPr>
            <p:cNvPr id="33" name="Shape 0">
              <a:extLst>
                <a:ext uri="{FF2B5EF4-FFF2-40B4-BE49-F238E27FC236}">
                  <a16:creationId xmlns:a16="http://schemas.microsoft.com/office/drawing/2014/main" id="{3E2B6E7E-8D09-4C7F-B3FF-8AB7CCDC81E6}"/>
                </a:ext>
              </a:extLst>
            </p:cNvPr>
            <p:cNvSpPr/>
            <p:nvPr/>
          </p:nvSpPr>
          <p:spPr>
            <a:xfrm>
              <a:off x="661475" y="743744"/>
              <a:ext cx="504812" cy="272752"/>
            </a:xfrm>
            <a:prstGeom prst="roundRect">
              <a:avLst>
                <a:gd name="adj" fmla="val 22121"/>
              </a:avLst>
            </a:prstGeom>
            <a:solidFill>
              <a:srgbClr val="DADBF1"/>
            </a:solidFill>
            <a:ln/>
          </p:spPr>
        </p:sp>
        <p:sp>
          <p:nvSpPr>
            <p:cNvPr id="34" name="Text 1">
              <a:extLst>
                <a:ext uri="{FF2B5EF4-FFF2-40B4-BE49-F238E27FC236}">
                  <a16:creationId xmlns:a16="http://schemas.microsoft.com/office/drawing/2014/main" id="{9E1BDFFF-3A7A-4AC9-BD67-82B0D7E88F33}"/>
                </a:ext>
              </a:extLst>
            </p:cNvPr>
            <p:cNvSpPr/>
            <p:nvPr/>
          </p:nvSpPr>
          <p:spPr>
            <a:xfrm>
              <a:off x="769125" y="797520"/>
              <a:ext cx="899098" cy="1651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100" kern="0" spc="-2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</a:t>
              </a:r>
              <a:endParaRPr lang="en-US" sz="1100" dirty="0"/>
            </a:p>
          </p:txBody>
        </p:sp>
      </p:grpSp>
      <p:sp>
        <p:nvSpPr>
          <p:cNvPr id="35" name="Text 2">
            <a:extLst>
              <a:ext uri="{FF2B5EF4-FFF2-40B4-BE49-F238E27FC236}">
                <a16:creationId xmlns:a16="http://schemas.microsoft.com/office/drawing/2014/main" id="{0DCD9F96-5E8C-4019-9891-E1276A6D7775}"/>
              </a:ext>
            </a:extLst>
          </p:cNvPr>
          <p:cNvSpPr/>
          <p:nvPr/>
        </p:nvSpPr>
        <p:spPr>
          <a:xfrm>
            <a:off x="856208" y="109332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Lista: Sequência Ordenada com Duplicados</a:t>
            </a:r>
            <a:endParaRPr lang="en-US" sz="3500" dirty="0"/>
          </a:p>
        </p:txBody>
      </p:sp>
    </p:spTree>
    <p:extLst>
      <p:ext uri="{BB962C8B-B14F-4D97-AF65-F5344CB8AC3E}">
        <p14:creationId xmlns:p14="http://schemas.microsoft.com/office/powerpoint/2010/main" val="1557879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A207374A-9F85-4118-AF43-1A843E11CE97}"/>
              </a:ext>
            </a:extLst>
          </p:cNvPr>
          <p:cNvGrpSpPr/>
          <p:nvPr/>
        </p:nvGrpSpPr>
        <p:grpSpPr>
          <a:xfrm>
            <a:off x="856208" y="697111"/>
            <a:ext cx="1006748" cy="272752"/>
            <a:chOff x="661475" y="743744"/>
            <a:chExt cx="1006748" cy="272752"/>
          </a:xfrm>
        </p:grpSpPr>
        <p:sp>
          <p:nvSpPr>
            <p:cNvPr id="2" name="Shape 0"/>
            <p:cNvSpPr/>
            <p:nvPr/>
          </p:nvSpPr>
          <p:spPr>
            <a:xfrm>
              <a:off x="661475" y="743744"/>
              <a:ext cx="504812" cy="272752"/>
            </a:xfrm>
            <a:prstGeom prst="roundRect">
              <a:avLst>
                <a:gd name="adj" fmla="val 22121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69125" y="797520"/>
              <a:ext cx="899098" cy="1651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100" kern="0" spc="-2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</a:t>
              </a:r>
              <a:endParaRPr lang="en-US" sz="11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56208" y="1093324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Lista: Sequência Ordenada com Duplicados</a:t>
            </a:r>
            <a:endParaRPr lang="en-US" sz="3500" dirty="0"/>
          </a:p>
        </p:txBody>
      </p:sp>
      <p:sp>
        <p:nvSpPr>
          <p:cNvPr id="5" name="Text 3"/>
          <p:cNvSpPr/>
          <p:nvPr/>
        </p:nvSpPr>
        <p:spPr>
          <a:xfrm>
            <a:off x="661475" y="207228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Essenciais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1236036" y="2606377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Ordenação garantida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236036" y="3057426"/>
            <a:ext cx="46407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elementos mantêm a ordem em que foram inseridos.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6036" y="3740348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 por índice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36036" y="4191397"/>
            <a:ext cx="4640742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item possui uma posição numérica, iniciando em </a:t>
            </a:r>
            <a:r>
              <a:rPr lang="en-US" sz="140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6036" y="4880670"/>
            <a:ext cx="4640742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Duplicatas permitidas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36036" y="5331718"/>
            <a:ext cx="464074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mesmo valor pode aparecer várias vezes na lista.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21267" y="2072283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321267" y="2544663"/>
            <a:ext cx="5215303" cy="2657673"/>
          </a:xfrm>
          <a:prstGeom prst="roundRect">
            <a:avLst>
              <a:gd name="adj" fmla="val 2838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36665" y="2724150"/>
            <a:ext cx="4784506" cy="229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frutas =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['maçã', 'banana', 'maçã'];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'maçã' aparece duas vezes — permitido!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print(frutas[0]); // maçã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print(frutas[1]); // banana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kern="0" spc="-28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print(frutas[2]); // maçã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21267" y="5394226"/>
            <a:ext cx="5215303" cy="566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índice </a:t>
            </a:r>
            <a:r>
              <a:rPr lang="en-US" sz="140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aponta para o </a:t>
            </a: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primeiro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elemento. Índices são inteiros não negativos.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Agrupar 44">
            <a:extLst>
              <a:ext uri="{FF2B5EF4-FFF2-40B4-BE49-F238E27FC236}">
                <a16:creationId xmlns:a16="http://schemas.microsoft.com/office/drawing/2014/main" id="{A0FED92F-0BD5-48CC-AB02-E87FEC86D984}"/>
              </a:ext>
            </a:extLst>
          </p:cNvPr>
          <p:cNvGrpSpPr/>
          <p:nvPr/>
        </p:nvGrpSpPr>
        <p:grpSpPr>
          <a:xfrm>
            <a:off x="823943" y="666948"/>
            <a:ext cx="1777658" cy="243979"/>
            <a:chOff x="661475" y="644624"/>
            <a:chExt cx="1777658" cy="243979"/>
          </a:xfrm>
        </p:grpSpPr>
        <p:sp>
          <p:nvSpPr>
            <p:cNvPr id="2" name="Shape 0"/>
            <p:cNvSpPr/>
            <p:nvPr/>
          </p:nvSpPr>
          <p:spPr>
            <a:xfrm>
              <a:off x="661475" y="644624"/>
              <a:ext cx="1264412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57814" y="692745"/>
              <a:ext cx="1681319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 — MÉTODOS</a:t>
              </a:r>
              <a:endParaRPr lang="en-US" sz="10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23943" y="965497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Principais Operações sobre Listas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8653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Gerenciamento de Elementos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191147"/>
            <a:ext cx="5238421" cy="2949773"/>
          </a:xfrm>
          <a:prstGeom prst="roundRect">
            <a:avLst>
              <a:gd name="adj" fmla="val 2288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614811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35300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455789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876278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1475" y="4296767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61475" y="4717256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8456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1316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Finalidade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8456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add('uva')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41316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 ao final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456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insert(1, 'pera')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41316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Insere em posição específica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8456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remove('banana')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41316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 elemento pelo valor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28456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removeAt(0)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3441316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pelo índice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8456" y="4388148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contains('uva')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3441316" y="4388148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existência (true/false)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28456" y="4808637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441316" y="4808637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de elementos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98149" y="178653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Transformação e Filtragem</a:t>
            </a:r>
            <a:endParaRPr lang="en-US" sz="1550" dirty="0"/>
          </a:p>
        </p:txBody>
      </p:sp>
      <p:grpSp>
        <p:nvGrpSpPr>
          <p:cNvPr id="47" name="Agrupar 46">
            <a:extLst>
              <a:ext uri="{FF2B5EF4-FFF2-40B4-BE49-F238E27FC236}">
                <a16:creationId xmlns:a16="http://schemas.microsoft.com/office/drawing/2014/main" id="{D09DED5F-12B7-4059-95F4-70EB6E641001}"/>
              </a:ext>
            </a:extLst>
          </p:cNvPr>
          <p:cNvGrpSpPr/>
          <p:nvPr/>
        </p:nvGrpSpPr>
        <p:grpSpPr>
          <a:xfrm>
            <a:off x="6298149" y="2191147"/>
            <a:ext cx="5681025" cy="2108795"/>
            <a:chOff x="6298149" y="2191147"/>
            <a:chExt cx="5681025" cy="2108795"/>
          </a:xfrm>
        </p:grpSpPr>
        <p:sp>
          <p:nvSpPr>
            <p:cNvPr id="28" name="Shape 26"/>
            <p:cNvSpPr/>
            <p:nvPr/>
          </p:nvSpPr>
          <p:spPr>
            <a:xfrm>
              <a:off x="6298149" y="2191147"/>
              <a:ext cx="5238421" cy="2108795"/>
            </a:xfrm>
            <a:prstGeom prst="roundRect">
              <a:avLst>
                <a:gd name="adj" fmla="val 3200"/>
              </a:avLst>
            </a:prstGeom>
            <a:noFill/>
            <a:ln w="6350">
              <a:solidFill>
                <a:srgbClr val="000000">
                  <a:alpha val="8000"/>
                </a:srgbClr>
              </a:solidFill>
              <a:prstDash val="solid"/>
            </a:ln>
          </p:spPr>
        </p:sp>
        <p:sp>
          <p:nvSpPr>
            <p:cNvPr id="29" name="Shape 27"/>
            <p:cNvSpPr/>
            <p:nvPr/>
          </p:nvSpPr>
          <p:spPr>
            <a:xfrm>
              <a:off x="6298149" y="2614811"/>
              <a:ext cx="5238421" cy="10042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30" name="Shape 28"/>
            <p:cNvSpPr/>
            <p:nvPr/>
          </p:nvSpPr>
          <p:spPr>
            <a:xfrm>
              <a:off x="6298149" y="3035300"/>
              <a:ext cx="5238421" cy="10042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31" name="Shape 29"/>
            <p:cNvSpPr/>
            <p:nvPr/>
          </p:nvSpPr>
          <p:spPr>
            <a:xfrm>
              <a:off x="6298149" y="3455789"/>
              <a:ext cx="5238421" cy="10042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32" name="Shape 30"/>
            <p:cNvSpPr/>
            <p:nvPr/>
          </p:nvSpPr>
          <p:spPr>
            <a:xfrm>
              <a:off x="6298149" y="3876278"/>
              <a:ext cx="5238421" cy="10042"/>
            </a:xfrm>
            <a:prstGeom prst="rect">
              <a:avLst/>
            </a:prstGeom>
            <a:solidFill>
              <a:srgbClr val="000000">
                <a:alpha val="8000"/>
              </a:srgbClr>
            </a:solidFill>
            <a:ln/>
          </p:spPr>
        </p:sp>
        <p:sp>
          <p:nvSpPr>
            <p:cNvPr id="33" name="Text 31"/>
            <p:cNvSpPr/>
            <p:nvPr/>
          </p:nvSpPr>
          <p:spPr>
            <a:xfrm>
              <a:off x="6465130" y="2285702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b="1" kern="0" spc="-2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Método</a:t>
              </a:r>
              <a:endParaRPr lang="en-US" sz="1250" dirty="0"/>
            </a:p>
          </p:txBody>
        </p:sp>
        <p:sp>
          <p:nvSpPr>
            <p:cNvPr id="34" name="Text 32"/>
            <p:cNvSpPr/>
            <p:nvPr/>
          </p:nvSpPr>
          <p:spPr>
            <a:xfrm>
              <a:off x="9077991" y="2285702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b="1" kern="0" spc="-25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Finalidade</a:t>
              </a:r>
              <a:endParaRPr lang="en-US" sz="1250" dirty="0"/>
            </a:p>
          </p:txBody>
        </p:sp>
        <p:sp>
          <p:nvSpPr>
            <p:cNvPr id="35" name="Text 33"/>
            <p:cNvSpPr/>
            <p:nvPr/>
          </p:nvSpPr>
          <p:spPr>
            <a:xfrm>
              <a:off x="6465130" y="2706191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sort()</a:t>
              </a:r>
              <a:endParaRPr lang="en-US" sz="125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9077991" y="2706191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Ordena a lista in-place</a:t>
              </a:r>
              <a:endParaRPr lang="en-US" sz="1250" dirty="0"/>
            </a:p>
          </p:txBody>
        </p:sp>
        <p:sp>
          <p:nvSpPr>
            <p:cNvPr id="37" name="Text 35"/>
            <p:cNvSpPr/>
            <p:nvPr/>
          </p:nvSpPr>
          <p:spPr>
            <a:xfrm>
              <a:off x="6465130" y="3126680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reversed</a:t>
              </a:r>
              <a:endParaRPr lang="en-US" sz="1250" dirty="0"/>
            </a:p>
          </p:txBody>
        </p:sp>
        <p:sp>
          <p:nvSpPr>
            <p:cNvPr id="38" name="Text 36"/>
            <p:cNvSpPr/>
            <p:nvPr/>
          </p:nvSpPr>
          <p:spPr>
            <a:xfrm>
              <a:off x="9077991" y="3126680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Retorna a ordem invertida</a:t>
              </a:r>
              <a:endParaRPr lang="en-US" sz="1250" dirty="0"/>
            </a:p>
          </p:txBody>
        </p:sp>
        <p:sp>
          <p:nvSpPr>
            <p:cNvPr id="39" name="Text 37"/>
            <p:cNvSpPr/>
            <p:nvPr/>
          </p:nvSpPr>
          <p:spPr>
            <a:xfrm>
              <a:off x="6465130" y="3547170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map(...)</a:t>
              </a:r>
              <a:endParaRPr lang="en-US" sz="1250" dirty="0"/>
            </a:p>
          </p:txBody>
        </p:sp>
        <p:sp>
          <p:nvSpPr>
            <p:cNvPr id="40" name="Text 38"/>
            <p:cNvSpPr/>
            <p:nvPr/>
          </p:nvSpPr>
          <p:spPr>
            <a:xfrm>
              <a:off x="9077991" y="3547170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Transforma cada elemento</a:t>
              </a:r>
              <a:endParaRPr lang="en-US" sz="125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6465130" y="3967659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highlight>
                    <a:srgbClr val="F2F2F2"/>
                  </a:highlight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where(...)</a:t>
              </a:r>
              <a:endParaRPr lang="en-US" sz="125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9077991" y="3967659"/>
              <a:ext cx="290118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Filtra elementos por condição</a:t>
              </a:r>
              <a:endParaRPr lang="en-US" sz="1250" dirty="0"/>
            </a:p>
          </p:txBody>
        </p:sp>
      </p:grp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2A75509-DAF7-4D07-8550-3DF986BAB5A6}"/>
              </a:ext>
            </a:extLst>
          </p:cNvPr>
          <p:cNvGrpSpPr/>
          <p:nvPr/>
        </p:nvGrpSpPr>
        <p:grpSpPr>
          <a:xfrm>
            <a:off x="6258315" y="4748465"/>
            <a:ext cx="5238421" cy="1606153"/>
            <a:chOff x="6298149" y="4453533"/>
            <a:chExt cx="5238421" cy="1606153"/>
          </a:xfrm>
        </p:grpSpPr>
        <p:sp>
          <p:nvSpPr>
            <p:cNvPr id="43" name="Shape 41"/>
            <p:cNvSpPr/>
            <p:nvPr/>
          </p:nvSpPr>
          <p:spPr>
            <a:xfrm>
              <a:off x="6298149" y="4453533"/>
              <a:ext cx="5238421" cy="1606153"/>
            </a:xfrm>
            <a:prstGeom prst="roundRect">
              <a:avLst>
                <a:gd name="adj" fmla="val 4201"/>
              </a:avLst>
            </a:prstGeom>
            <a:solidFill>
              <a:srgbClr val="F2F2F2"/>
            </a:solidFill>
            <a:ln/>
          </p:spPr>
        </p:sp>
        <p:sp>
          <p:nvSpPr>
            <p:cNvPr id="44" name="Text 42"/>
            <p:cNvSpPr/>
            <p:nvPr/>
          </p:nvSpPr>
          <p:spPr>
            <a:xfrm>
              <a:off x="6490927" y="4614168"/>
              <a:ext cx="4852866" cy="128488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6A737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Transformar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6A737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frutas.map((f) =&gt; f.toUpperCase()).toList();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6A737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// Filtrar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6A737D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frutas.where((f) =&gt; f.length &gt; 4).toList();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3">
            <a:extLst>
              <a:ext uri="{FF2B5EF4-FFF2-40B4-BE49-F238E27FC236}">
                <a16:creationId xmlns:a16="http://schemas.microsoft.com/office/drawing/2014/main" id="{6A525C83-D1A2-488E-A794-DEF2E789498A}"/>
              </a:ext>
            </a:extLst>
          </p:cNvPr>
          <p:cNvSpPr/>
          <p:nvPr/>
        </p:nvSpPr>
        <p:spPr>
          <a:xfrm>
            <a:off x="813482" y="1559291"/>
            <a:ext cx="10868745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10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100" b="1" kern="0" spc="-1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</a:t>
            </a:r>
            <a:r>
              <a:rPr lang="en-US" sz="110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não é simplesmente uma "List sem índice". É uma estrutura conceitualmente distinta, cujo princípio organizador é a </a:t>
            </a:r>
            <a:r>
              <a:rPr lang="en-US" sz="1100" b="1" kern="0" spc="-1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unicidade</a:t>
            </a:r>
            <a:r>
              <a:rPr lang="en-US" sz="110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cada valor só pode aparecer uma vez. Quando um valor duplicado é inserido, o Set simplesmente o ignora — sem erro, sem exceção. Essa é a garantia central da estrutura.</a:t>
            </a:r>
            <a:endParaRPr lang="en-US" sz="1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5596E44-1B4E-46DE-AF2B-96F715CB7EBC}"/>
              </a:ext>
            </a:extLst>
          </p:cNvPr>
          <p:cNvSpPr/>
          <p:nvPr/>
        </p:nvSpPr>
        <p:spPr>
          <a:xfrm>
            <a:off x="807132" y="2101690"/>
            <a:ext cx="5868245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950" dirty="0"/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8E95451A-8AC8-4971-84F2-69DA7BD4E9A4}"/>
              </a:ext>
            </a:extLst>
          </p:cNvPr>
          <p:cNvSpPr/>
          <p:nvPr/>
        </p:nvSpPr>
        <p:spPr>
          <a:xfrm>
            <a:off x="807132" y="2316895"/>
            <a:ext cx="5868245" cy="1796058"/>
          </a:xfrm>
          <a:prstGeom prst="roundRect">
            <a:avLst>
              <a:gd name="adj" fmla="val 2334"/>
            </a:avLst>
          </a:prstGeom>
          <a:solidFill>
            <a:srgbClr val="F2F2F2"/>
          </a:solidFill>
          <a:ln/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3C26C657-1D0F-488E-8681-FABC5BD711B4}"/>
              </a:ext>
            </a:extLst>
          </p:cNvPr>
          <p:cNvSpPr/>
          <p:nvPr/>
        </p:nvSpPr>
        <p:spPr>
          <a:xfrm>
            <a:off x="926886" y="2416709"/>
            <a:ext cx="5628737" cy="1596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tecnologias = {'Dart', 'Flutter', 'Dart', 'Firebase'};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 Set resultante contém apenas: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{'Dart', 'Flutter', 'Firebase'}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segunda ocorrência de 'Dart' foi descartada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silenciosamente — não é um erro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Verificação de existência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print(tecnologias.contains('Flutter')); // true</a:t>
            </a:r>
            <a:endParaRPr lang="en-US" sz="7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50" kern="0" spc="-16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print(tecnologias.contains('React'));   // false</a:t>
            </a:r>
            <a:endParaRPr lang="en-US" sz="75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2137975-82D5-42F5-9F2D-5F7EB2F87927}"/>
              </a:ext>
            </a:extLst>
          </p:cNvPr>
          <p:cNvSpPr/>
          <p:nvPr/>
        </p:nvSpPr>
        <p:spPr>
          <a:xfrm>
            <a:off x="807132" y="4172187"/>
            <a:ext cx="5868245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fundamentais</a:t>
            </a:r>
            <a:endParaRPr lang="en-US" sz="950" dirty="0"/>
          </a:p>
        </p:txBody>
      </p:sp>
      <p:pic>
        <p:nvPicPr>
          <p:cNvPr id="12" name="Image 0" descr="preencoded.png">
            <a:extLst>
              <a:ext uri="{FF2B5EF4-FFF2-40B4-BE49-F238E27FC236}">
                <a16:creationId xmlns:a16="http://schemas.microsoft.com/office/drawing/2014/main" id="{DD7CE2FC-6BF4-445A-A482-F083D2EE67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32" y="4387392"/>
            <a:ext cx="5868245" cy="677565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B6724656-8CEF-4373-9827-B452836C2053}"/>
              </a:ext>
            </a:extLst>
          </p:cNvPr>
          <p:cNvSpPr/>
          <p:nvPr/>
        </p:nvSpPr>
        <p:spPr>
          <a:xfrm>
            <a:off x="970442" y="4499906"/>
            <a:ext cx="559242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Unicidade garantida</a:t>
            </a:r>
            <a:endParaRPr lang="en-US" sz="95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1AE2710B-BD25-4382-A078-4044303C7D05}"/>
              </a:ext>
            </a:extLst>
          </p:cNvPr>
          <p:cNvSpPr/>
          <p:nvPr/>
        </p:nvSpPr>
        <p:spPr>
          <a:xfrm>
            <a:off x="970442" y="4708563"/>
            <a:ext cx="5592424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Nenhum valor se repete. A estrutura é a responsável por essa garantia — o programador não precisa verificar manualmente antes de inserir.</a:t>
            </a:r>
            <a:endParaRPr lang="en-US" sz="750" dirty="0"/>
          </a:p>
        </p:txBody>
      </p:sp>
      <p:pic>
        <p:nvPicPr>
          <p:cNvPr id="15" name="Image 1" descr="preencoded.png">
            <a:extLst>
              <a:ext uri="{FF2B5EF4-FFF2-40B4-BE49-F238E27FC236}">
                <a16:creationId xmlns:a16="http://schemas.microsoft.com/office/drawing/2014/main" id="{B1940952-8292-4EF8-8835-2824C774A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7132" y="5117642"/>
            <a:ext cx="5868245" cy="555625"/>
          </a:xfrm>
          <a:prstGeom prst="rect">
            <a:avLst/>
          </a:prstGeom>
        </p:spPr>
      </p:pic>
      <p:sp>
        <p:nvSpPr>
          <p:cNvPr id="16" name="Text 10">
            <a:extLst>
              <a:ext uri="{FF2B5EF4-FFF2-40B4-BE49-F238E27FC236}">
                <a16:creationId xmlns:a16="http://schemas.microsoft.com/office/drawing/2014/main" id="{62C0A119-9AAC-4537-9266-D5FB1F65EEEB}"/>
              </a:ext>
            </a:extLst>
          </p:cNvPr>
          <p:cNvSpPr/>
          <p:nvPr/>
        </p:nvSpPr>
        <p:spPr>
          <a:xfrm>
            <a:off x="970442" y="5230156"/>
            <a:ext cx="559242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acesso por índice</a:t>
            </a:r>
            <a:endParaRPr lang="en-US" sz="95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6EB4227E-12E9-44E8-AF44-F0231E877EDD}"/>
              </a:ext>
            </a:extLst>
          </p:cNvPr>
          <p:cNvSpPr/>
          <p:nvPr/>
        </p:nvSpPr>
        <p:spPr>
          <a:xfrm>
            <a:off x="970442" y="5438813"/>
            <a:ext cx="5592424" cy="121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 </a:t>
            </a:r>
            <a:r>
              <a:rPr lang="en-US" sz="750" kern="0" spc="-1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tecnologias[0]</a:t>
            </a: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um Set. A pergunta "qual é o primeiro elemento?" não faz sentido semântico nesta estrutura.</a:t>
            </a:r>
            <a:endParaRPr lang="en-US" sz="750" dirty="0"/>
          </a:p>
        </p:txBody>
      </p:sp>
      <p:pic>
        <p:nvPicPr>
          <p:cNvPr id="18" name="Image 2" descr="preencoded.png">
            <a:extLst>
              <a:ext uri="{FF2B5EF4-FFF2-40B4-BE49-F238E27FC236}">
                <a16:creationId xmlns:a16="http://schemas.microsoft.com/office/drawing/2014/main" id="{884ACC76-3072-4E5B-B79D-37559F6E8B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7132" y="5725952"/>
            <a:ext cx="5868245" cy="677565"/>
          </a:xfrm>
          <a:prstGeom prst="rect">
            <a:avLst/>
          </a:prstGeom>
        </p:spPr>
      </p:pic>
      <p:sp>
        <p:nvSpPr>
          <p:cNvPr id="19" name="Text 12">
            <a:extLst>
              <a:ext uri="{FF2B5EF4-FFF2-40B4-BE49-F238E27FC236}">
                <a16:creationId xmlns:a16="http://schemas.microsoft.com/office/drawing/2014/main" id="{9F0B07F1-6E43-4CD3-A4A7-B91B43DAD664}"/>
              </a:ext>
            </a:extLst>
          </p:cNvPr>
          <p:cNvSpPr/>
          <p:nvPr/>
        </p:nvSpPr>
        <p:spPr>
          <a:xfrm>
            <a:off x="970442" y="5838466"/>
            <a:ext cx="5592424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Verificação eficiente</a:t>
            </a:r>
            <a:endParaRPr lang="en-US" sz="9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933FDDE4-E85E-4C40-A25A-A0B1E3EA3763}"/>
              </a:ext>
            </a:extLst>
          </p:cNvPr>
          <p:cNvSpPr/>
          <p:nvPr/>
        </p:nvSpPr>
        <p:spPr>
          <a:xfrm>
            <a:off x="970442" y="6047124"/>
            <a:ext cx="5592424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operação mais natural do Set é: "este valor existe aqui?" — respondida de forma extremamente eficiente pela estrutura interna.</a:t>
            </a:r>
            <a:endParaRPr lang="en-US" sz="750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8D3644DB-3B98-47CC-B950-70AF4D321F05}"/>
              </a:ext>
            </a:extLst>
          </p:cNvPr>
          <p:cNvSpPr/>
          <p:nvPr/>
        </p:nvSpPr>
        <p:spPr>
          <a:xfrm>
            <a:off x="6925204" y="2101690"/>
            <a:ext cx="4757023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Quando usar Set?</a:t>
            </a:r>
            <a:endParaRPr lang="en-US" sz="950" dirty="0"/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A76420A-968D-46C5-8CB1-852B81DA7B8A}"/>
              </a:ext>
            </a:extLst>
          </p:cNvPr>
          <p:cNvSpPr/>
          <p:nvPr/>
        </p:nvSpPr>
        <p:spPr>
          <a:xfrm>
            <a:off x="7202414" y="2351126"/>
            <a:ext cx="4479813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Eliminar duplicatas</a:t>
            </a:r>
            <a:endParaRPr lang="en-US" sz="950" dirty="0"/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CB45129B-C451-43B4-9EE7-81528E88EFBB}"/>
              </a:ext>
            </a:extLst>
          </p:cNvPr>
          <p:cNvSpPr/>
          <p:nvPr/>
        </p:nvSpPr>
        <p:spPr>
          <a:xfrm>
            <a:off x="7202414" y="2559783"/>
            <a:ext cx="4479813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0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usuário selecionou as mesmas permissões duas vezes? O Set garante que cada permissão só aparece uma vez, sem lógica extra.</a:t>
            </a:r>
            <a:endParaRPr lang="en-US" sz="900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B1B62817-1FE6-49AF-BA6F-1DFB9B0F7640}"/>
              </a:ext>
            </a:extLst>
          </p:cNvPr>
          <p:cNvSpPr/>
          <p:nvPr/>
        </p:nvSpPr>
        <p:spPr>
          <a:xfrm>
            <a:off x="7202414" y="2943263"/>
            <a:ext cx="4479813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Verificar pertencimento</a:t>
            </a:r>
            <a:endParaRPr lang="en-US" sz="950" dirty="0"/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9053B54C-72BD-4753-AF7E-3BF6B9238E6B}"/>
              </a:ext>
            </a:extLst>
          </p:cNvPr>
          <p:cNvSpPr/>
          <p:nvPr/>
        </p:nvSpPr>
        <p:spPr>
          <a:xfrm>
            <a:off x="7202414" y="3151920"/>
            <a:ext cx="4479813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"Este usuário tem permissão de administrador?" é a pergunta perfeita para um Set — rápida e semântica.</a:t>
            </a:r>
            <a:endParaRPr lang="en-US" sz="750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4D458044-8049-4F58-8220-4BF5B47FE2CD}"/>
              </a:ext>
            </a:extLst>
          </p:cNvPr>
          <p:cNvSpPr/>
          <p:nvPr/>
        </p:nvSpPr>
        <p:spPr>
          <a:xfrm>
            <a:off x="7202414" y="3535401"/>
            <a:ext cx="4479813" cy="1559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 de categorias</a:t>
            </a:r>
            <a:endParaRPr lang="en-US" sz="950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EBB94242-4950-4825-9764-0285CBEDBCA2}"/>
              </a:ext>
            </a:extLst>
          </p:cNvPr>
          <p:cNvSpPr/>
          <p:nvPr/>
        </p:nvSpPr>
        <p:spPr>
          <a:xfrm>
            <a:off x="7202414" y="3744058"/>
            <a:ext cx="4479813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 de um artigo, tecnologias de um currículo, habilidades de um perfil — valores distintos sem necessidade de ordenação.</a:t>
            </a:r>
            <a:endParaRPr lang="en-US" sz="750" dirty="0"/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3D0B1FFC-B47F-4771-8D81-91FD2B32C487}"/>
              </a:ext>
            </a:extLst>
          </p:cNvPr>
          <p:cNvSpPr/>
          <p:nvPr/>
        </p:nvSpPr>
        <p:spPr>
          <a:xfrm>
            <a:off x="7074921" y="4094598"/>
            <a:ext cx="4607306" cy="243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kern="0" spc="-16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50" b="1" kern="0" spc="-1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Reflexão:</a:t>
            </a:r>
            <a:r>
              <a:rPr lang="en-US" sz="750" kern="0" spc="-16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"Por que usar Set em vez de List?" — Quando a unicidade é uma regra do domínio, deixe a estrutura de dados impô-la automaticamente.</a:t>
            </a:r>
            <a:endParaRPr lang="en-US" sz="75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B7B056D7-7928-4736-8F60-683BAAB5823A}"/>
              </a:ext>
            </a:extLst>
          </p:cNvPr>
          <p:cNvSpPr/>
          <p:nvPr/>
        </p:nvSpPr>
        <p:spPr>
          <a:xfrm>
            <a:off x="6925204" y="4047171"/>
            <a:ext cx="12700" cy="338733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grpSp>
        <p:nvGrpSpPr>
          <p:cNvPr id="34" name="Agrupar 33">
            <a:extLst>
              <a:ext uri="{FF2B5EF4-FFF2-40B4-BE49-F238E27FC236}">
                <a16:creationId xmlns:a16="http://schemas.microsoft.com/office/drawing/2014/main" id="{27D229F4-8853-4972-8F6F-C83F0AC66215}"/>
              </a:ext>
            </a:extLst>
          </p:cNvPr>
          <p:cNvGrpSpPr/>
          <p:nvPr/>
        </p:nvGrpSpPr>
        <p:grpSpPr>
          <a:xfrm>
            <a:off x="917354" y="600952"/>
            <a:ext cx="938983" cy="243979"/>
            <a:chOff x="661475" y="727670"/>
            <a:chExt cx="938983" cy="243979"/>
          </a:xfrm>
        </p:grpSpPr>
        <p:sp>
          <p:nvSpPr>
            <p:cNvPr id="35" name="Shape 0">
              <a:extLst>
                <a:ext uri="{FF2B5EF4-FFF2-40B4-BE49-F238E27FC236}">
                  <a16:creationId xmlns:a16="http://schemas.microsoft.com/office/drawing/2014/main" id="{FEE83153-3D09-42AC-9AAF-BD9521E586A5}"/>
                </a:ext>
              </a:extLst>
            </p:cNvPr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6" name="Text 1">
              <a:extLst>
                <a:ext uri="{FF2B5EF4-FFF2-40B4-BE49-F238E27FC236}">
                  <a16:creationId xmlns:a16="http://schemas.microsoft.com/office/drawing/2014/main" id="{CEE9B51E-445B-46E0-A9D9-DE155B205166}"/>
                </a:ext>
              </a:extLst>
            </p:cNvPr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SET</a:t>
              </a:r>
              <a:endParaRPr lang="en-US" sz="1000" dirty="0"/>
            </a:p>
          </p:txBody>
        </p:sp>
      </p:grpSp>
      <p:sp>
        <p:nvSpPr>
          <p:cNvPr id="37" name="Text 2">
            <a:extLst>
              <a:ext uri="{FF2B5EF4-FFF2-40B4-BE49-F238E27FC236}">
                <a16:creationId xmlns:a16="http://schemas.microsoft.com/office/drawing/2014/main" id="{203442C3-711B-4A81-9210-E68CDFC728A1}"/>
              </a:ext>
            </a:extLst>
          </p:cNvPr>
          <p:cNvSpPr/>
          <p:nvPr/>
        </p:nvSpPr>
        <p:spPr>
          <a:xfrm>
            <a:off x="917354" y="933335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Set: Coleção de Valores Únicos</a:t>
            </a:r>
            <a:endParaRPr lang="en-US" sz="3150" dirty="0"/>
          </a:p>
        </p:txBody>
      </p:sp>
    </p:spTree>
    <p:extLst>
      <p:ext uri="{BB962C8B-B14F-4D97-AF65-F5344CB8AC3E}">
        <p14:creationId xmlns:p14="http://schemas.microsoft.com/office/powerpoint/2010/main" val="592535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Agrupar 20">
            <a:extLst>
              <a:ext uri="{FF2B5EF4-FFF2-40B4-BE49-F238E27FC236}">
                <a16:creationId xmlns:a16="http://schemas.microsoft.com/office/drawing/2014/main" id="{4F2555F0-58C8-40F1-8B5C-5E3C37F6EBEB}"/>
              </a:ext>
            </a:extLst>
          </p:cNvPr>
          <p:cNvGrpSpPr/>
          <p:nvPr/>
        </p:nvGrpSpPr>
        <p:grpSpPr>
          <a:xfrm>
            <a:off x="917354" y="727670"/>
            <a:ext cx="938983" cy="243979"/>
            <a:chOff x="661475" y="727670"/>
            <a:chExt cx="938983" cy="243979"/>
          </a:xfrm>
        </p:grpSpPr>
        <p:sp>
          <p:nvSpPr>
            <p:cNvPr id="2" name="Shape 0"/>
            <p:cNvSpPr/>
            <p:nvPr/>
          </p:nvSpPr>
          <p:spPr>
            <a:xfrm>
              <a:off x="661475" y="727670"/>
              <a:ext cx="425737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57814" y="775791"/>
              <a:ext cx="842644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SET</a:t>
              </a:r>
              <a:endParaRPr lang="en-US" sz="10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917354" y="1060053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Set: Coleção de Valores Únicos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869579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define um Set?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74193"/>
            <a:ext cx="5238421" cy="12223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7354" y="2453878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Unicidade automática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7354" y="2841427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duplicados são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ignorados silenciosamente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ao serem inseridos.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633093"/>
            <a:ext cx="5238421" cy="12223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7354" y="3812778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Sem ordem garantida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917354" y="4200327"/>
            <a:ext cx="480286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posição dos elementos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é previsível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não há índice numérico.</a:t>
            </a:r>
            <a:endParaRPr lang="en-US" sz="12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991993"/>
            <a:ext cx="5238421" cy="98464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17354" y="5171678"/>
            <a:ext cx="480286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Verificação eficiente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917354" y="5559227"/>
            <a:ext cx="4802861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Ideal para checar </a:t>
            </a: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rapidamente</a:t>
            </a: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se um valor já existe na coleção.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298149" y="1869579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1550" dirty="0"/>
          </a:p>
        </p:txBody>
      </p:sp>
      <p:sp>
        <p:nvSpPr>
          <p:cNvPr id="16" name="Shape 11"/>
          <p:cNvSpPr/>
          <p:nvPr/>
        </p:nvSpPr>
        <p:spPr>
          <a:xfrm>
            <a:off x="6298149" y="2274193"/>
            <a:ext cx="5238421" cy="2377083"/>
          </a:xfrm>
          <a:prstGeom prst="roundRect">
            <a:avLst>
              <a:gd name="adj" fmla="val 2839"/>
            </a:avLst>
          </a:prstGeom>
          <a:solidFill>
            <a:srgbClr val="F2F2F2"/>
          </a:solidFill>
          <a:ln/>
        </p:spPr>
      </p:sp>
      <p:sp>
        <p:nvSpPr>
          <p:cNvPr id="17" name="Text 12"/>
          <p:cNvSpPr/>
          <p:nvPr/>
        </p:nvSpPr>
        <p:spPr>
          <a:xfrm>
            <a:off x="6490927" y="2434828"/>
            <a:ext cx="4852866" cy="2055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Set&lt;String&gt; cores =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{'azul', 'vermelho', 'azul'};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'azul' foi inserido duas vezes,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mas o Set mantém apenas uma!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print(cores);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6F42C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Saída: {azul, vermelho}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98149" y="4804866"/>
            <a:ext cx="5238421" cy="801291"/>
          </a:xfrm>
          <a:prstGeom prst="roundRect">
            <a:avLst>
              <a:gd name="adj" fmla="val 8421"/>
            </a:avLst>
          </a:prstGeom>
          <a:solidFill>
            <a:srgbClr val="DADBF1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781" y="5018683"/>
            <a:ext cx="200814" cy="160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20225" y="4967784"/>
            <a:ext cx="455571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foco principal do Set é a </a:t>
            </a:r>
            <a:r>
              <a:rPr lang="en-US" sz="1250" b="1" kern="0" spc="-2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unicidade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nunca haverá dois elementos iguais na mesma coleção.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Agrupar 46">
            <a:extLst>
              <a:ext uri="{FF2B5EF4-FFF2-40B4-BE49-F238E27FC236}">
                <a16:creationId xmlns:a16="http://schemas.microsoft.com/office/drawing/2014/main" id="{67837B34-0A34-4893-B814-5D01C3C57DB8}"/>
              </a:ext>
            </a:extLst>
          </p:cNvPr>
          <p:cNvGrpSpPr/>
          <p:nvPr/>
        </p:nvGrpSpPr>
        <p:grpSpPr>
          <a:xfrm>
            <a:off x="790754" y="772022"/>
            <a:ext cx="2160831" cy="186630"/>
            <a:chOff x="661475" y="746621"/>
            <a:chExt cx="2160831" cy="186630"/>
          </a:xfrm>
        </p:grpSpPr>
        <p:sp>
          <p:nvSpPr>
            <p:cNvPr id="2" name="Shape 0"/>
            <p:cNvSpPr/>
            <p:nvPr/>
          </p:nvSpPr>
          <p:spPr>
            <a:xfrm>
              <a:off x="661475" y="746621"/>
              <a:ext cx="1624865" cy="186630"/>
            </a:xfrm>
            <a:prstGeom prst="roundRect">
              <a:avLst>
                <a:gd name="adj" fmla="val 22119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35093" y="783431"/>
              <a:ext cx="2087213" cy="11301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75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SET — MÉTODOS E OPERAÇÕES</a:t>
              </a:r>
              <a:endParaRPr lang="en-US" sz="7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790754" y="109282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Manipulação e Álgebra de Conjuntos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61475" y="195500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Métodos Básicos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1475" y="2236788"/>
            <a:ext cx="5284556" cy="1415852"/>
          </a:xfrm>
          <a:prstGeom prst="roundRect">
            <a:avLst>
              <a:gd name="adj" fmla="val 3645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516784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2799954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083124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366295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754" y="2297312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6632" y="2297312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Finalidade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90754" y="2574132"/>
            <a:ext cx="299980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add('verde')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26632" y="2574132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 (ignora se já existe)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0754" y="2857303"/>
            <a:ext cx="299980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remove('azul')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26632" y="2857303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 o valor informado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0754" y="3140473"/>
            <a:ext cx="299980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contains('verde')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426632" y="3140473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 existência (true/false)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0754" y="3423643"/>
            <a:ext cx="2999804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26632" y="3423643"/>
            <a:ext cx="2999804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Quantidade de elementos únicos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2014" y="1955007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Operações Matemáticas de Conjuntos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52014" y="2236788"/>
            <a:ext cx="5284556" cy="638572"/>
          </a:xfrm>
          <a:prstGeom prst="roundRect">
            <a:avLst>
              <a:gd name="adj" fmla="val 8081"/>
            </a:avLst>
          </a:prstGeom>
          <a:solidFill>
            <a:srgbClr val="F2F2F2"/>
          </a:solidFill>
          <a:ln/>
        </p:spPr>
      </p:sp>
      <p:sp>
        <p:nvSpPr>
          <p:cNvPr id="23" name="Text 21"/>
          <p:cNvSpPr/>
          <p:nvPr/>
        </p:nvSpPr>
        <p:spPr>
          <a:xfrm>
            <a:off x="6399350" y="2359621"/>
            <a:ext cx="4989884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a = {1, 2, 3};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Set&lt;int&gt; b = {2, 3, 4};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52014" y="2965153"/>
            <a:ext cx="5284556" cy="1132681"/>
          </a:xfrm>
          <a:prstGeom prst="roundRect">
            <a:avLst>
              <a:gd name="adj" fmla="val 4556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52014" y="3245149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52014" y="3528319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252014" y="3811489"/>
            <a:ext cx="5284556" cy="7679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381987" y="3025677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Operação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38810" y="3025677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Resultado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895632" y="3025677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81987" y="3302497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União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138810" y="3302497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{1, 2, 3, 4}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895632" y="3302497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a.union(b)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81987" y="3585667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Interseção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138810" y="3585667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{2, 3}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95632" y="3585667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a.intersection(b)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381987" y="3868838"/>
            <a:ext cx="2120748" cy="162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Diferença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138810" y="3868838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{1}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9895632" y="3868838"/>
            <a:ext cx="2120748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a.difference(b)</a:t>
            </a:r>
            <a:endParaRPr lang="en-US" sz="950" dirty="0"/>
          </a:p>
        </p:txBody>
      </p:sp>
      <p:grpSp>
        <p:nvGrpSpPr>
          <p:cNvPr id="48" name="Agrupar 47">
            <a:extLst>
              <a:ext uri="{FF2B5EF4-FFF2-40B4-BE49-F238E27FC236}">
                <a16:creationId xmlns:a16="http://schemas.microsoft.com/office/drawing/2014/main" id="{0FC68933-8B47-4CF4-88FF-1554F30635B7}"/>
              </a:ext>
            </a:extLst>
          </p:cNvPr>
          <p:cNvGrpSpPr/>
          <p:nvPr/>
        </p:nvGrpSpPr>
        <p:grpSpPr>
          <a:xfrm>
            <a:off x="1130163" y="4254412"/>
            <a:ext cx="1240818" cy="517490"/>
            <a:chOff x="3741184" y="5145172"/>
            <a:chExt cx="1240818" cy="517490"/>
          </a:xfrm>
        </p:grpSpPr>
        <p:sp>
          <p:nvSpPr>
            <p:cNvPr id="41" name="Text 38"/>
            <p:cNvSpPr/>
            <p:nvPr/>
          </p:nvSpPr>
          <p:spPr>
            <a:xfrm>
              <a:off x="3741184" y="5145172"/>
              <a:ext cx="1240818" cy="1986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50" b="1" kern="0" spc="-38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União</a:t>
              </a:r>
              <a:endParaRPr lang="en-US" sz="125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3741184" y="5400385"/>
              <a:ext cx="1240818" cy="262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86000"/>
                </a:lnSpc>
                <a:buNone/>
              </a:pPr>
              <a:r>
                <a:rPr lang="en-US" sz="100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Todos os elementos de A e B</a:t>
              </a:r>
              <a:endParaRPr lang="en-US" sz="1000" dirty="0"/>
            </a:p>
          </p:txBody>
        </p:sp>
      </p:grpSp>
      <p:grpSp>
        <p:nvGrpSpPr>
          <p:cNvPr id="49" name="Agrupar 48">
            <a:extLst>
              <a:ext uri="{FF2B5EF4-FFF2-40B4-BE49-F238E27FC236}">
                <a16:creationId xmlns:a16="http://schemas.microsoft.com/office/drawing/2014/main" id="{316D32F6-36FD-4958-9846-5F30B1A18FD3}"/>
              </a:ext>
            </a:extLst>
          </p:cNvPr>
          <p:cNvGrpSpPr/>
          <p:nvPr/>
        </p:nvGrpSpPr>
        <p:grpSpPr>
          <a:xfrm>
            <a:off x="5143363" y="4254413"/>
            <a:ext cx="1240819" cy="517489"/>
            <a:chOff x="5481376" y="5141640"/>
            <a:chExt cx="1240819" cy="517489"/>
          </a:xfrm>
        </p:grpSpPr>
        <p:sp>
          <p:nvSpPr>
            <p:cNvPr id="43" name="Text 40"/>
            <p:cNvSpPr/>
            <p:nvPr/>
          </p:nvSpPr>
          <p:spPr>
            <a:xfrm>
              <a:off x="5481376" y="5141640"/>
              <a:ext cx="1240819" cy="1986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50" b="1" kern="0" spc="-38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Interseção</a:t>
              </a:r>
              <a:endParaRPr lang="en-US" sz="1250" dirty="0"/>
            </a:p>
          </p:txBody>
        </p:sp>
        <p:sp>
          <p:nvSpPr>
            <p:cNvPr id="44" name="Text 41"/>
            <p:cNvSpPr/>
            <p:nvPr/>
          </p:nvSpPr>
          <p:spPr>
            <a:xfrm>
              <a:off x="5481376" y="5396852"/>
              <a:ext cx="1240819" cy="262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86000"/>
                </a:lnSpc>
                <a:buNone/>
              </a:pPr>
              <a:r>
                <a:rPr lang="en-US" sz="100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Apenas elementos em comum</a:t>
              </a:r>
              <a:endParaRPr lang="en-US" sz="1000" dirty="0"/>
            </a:p>
          </p:txBody>
        </p:sp>
      </p:grpSp>
      <p:grpSp>
        <p:nvGrpSpPr>
          <p:cNvPr id="50" name="Agrupar 49">
            <a:extLst>
              <a:ext uri="{FF2B5EF4-FFF2-40B4-BE49-F238E27FC236}">
                <a16:creationId xmlns:a16="http://schemas.microsoft.com/office/drawing/2014/main" id="{C4204979-D597-458E-9CCD-B656DC8D4510}"/>
              </a:ext>
            </a:extLst>
          </p:cNvPr>
          <p:cNvGrpSpPr/>
          <p:nvPr/>
        </p:nvGrpSpPr>
        <p:grpSpPr>
          <a:xfrm>
            <a:off x="9199184" y="4254413"/>
            <a:ext cx="1240819" cy="517489"/>
            <a:chOff x="7223997" y="5138108"/>
            <a:chExt cx="1240819" cy="517489"/>
          </a:xfrm>
        </p:grpSpPr>
        <p:sp>
          <p:nvSpPr>
            <p:cNvPr id="45" name="Text 42"/>
            <p:cNvSpPr/>
            <p:nvPr/>
          </p:nvSpPr>
          <p:spPr>
            <a:xfrm>
              <a:off x="7223997" y="5138108"/>
              <a:ext cx="1240819" cy="1986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250" b="1" kern="0" spc="-38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Diferença</a:t>
              </a:r>
              <a:endParaRPr lang="en-US" sz="1250" dirty="0"/>
            </a:p>
          </p:txBody>
        </p:sp>
        <p:sp>
          <p:nvSpPr>
            <p:cNvPr id="46" name="Text 43"/>
            <p:cNvSpPr/>
            <p:nvPr/>
          </p:nvSpPr>
          <p:spPr>
            <a:xfrm>
              <a:off x="7223997" y="5393320"/>
              <a:ext cx="1240819" cy="26227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86000"/>
                </a:lnSpc>
                <a:buNone/>
              </a:pPr>
              <a:r>
                <a:rPr lang="en-US" sz="100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Elementos de A que não estão em B</a:t>
              </a:r>
              <a:endParaRPr lang="en-US" sz="1000" dirty="0"/>
            </a:p>
          </p:txBody>
        </p:sp>
      </p:grpSp>
      <p:grpSp>
        <p:nvGrpSpPr>
          <p:cNvPr id="68" name="Agrupar 67">
            <a:extLst>
              <a:ext uri="{FF2B5EF4-FFF2-40B4-BE49-F238E27FC236}">
                <a16:creationId xmlns:a16="http://schemas.microsoft.com/office/drawing/2014/main" id="{392D046C-3C35-4BB8-AB62-167D52DF5399}"/>
              </a:ext>
            </a:extLst>
          </p:cNvPr>
          <p:cNvGrpSpPr/>
          <p:nvPr/>
        </p:nvGrpSpPr>
        <p:grpSpPr>
          <a:xfrm>
            <a:off x="864372" y="5187148"/>
            <a:ext cx="1772400" cy="1082939"/>
            <a:chOff x="864372" y="5166967"/>
            <a:chExt cx="1772400" cy="1082939"/>
          </a:xfrm>
        </p:grpSpPr>
        <p:sp>
          <p:nvSpPr>
            <p:cNvPr id="55" name="Forma Livre: Forma 54">
              <a:extLst>
                <a:ext uri="{FF2B5EF4-FFF2-40B4-BE49-F238E27FC236}">
                  <a16:creationId xmlns:a16="http://schemas.microsoft.com/office/drawing/2014/main" id="{C9ED5659-F13E-40C3-83EF-93E7CE8F59EC}"/>
                </a:ext>
              </a:extLst>
            </p:cNvPr>
            <p:cNvSpPr/>
            <p:nvPr/>
          </p:nvSpPr>
          <p:spPr>
            <a:xfrm>
              <a:off x="864372" y="5166967"/>
              <a:ext cx="1772400" cy="1082939"/>
            </a:xfrm>
            <a:custGeom>
              <a:avLst/>
              <a:gdLst>
                <a:gd name="connsiteX0" fmla="*/ 1232400 w 1772400"/>
                <a:gd name="connsiteY0" fmla="*/ 0 h 1082939"/>
                <a:gd name="connsiteX1" fmla="*/ 1772400 w 1772400"/>
                <a:gd name="connsiteY1" fmla="*/ 540000 h 1082939"/>
                <a:gd name="connsiteX2" fmla="*/ 1232400 w 1772400"/>
                <a:gd name="connsiteY2" fmla="*/ 1080000 h 1082939"/>
                <a:gd name="connsiteX3" fmla="*/ 930481 w 1772400"/>
                <a:gd name="connsiteY3" fmla="*/ 987777 h 1082939"/>
                <a:gd name="connsiteX4" fmla="*/ 887981 w 1772400"/>
                <a:gd name="connsiteY4" fmla="*/ 952711 h 1082939"/>
                <a:gd name="connsiteX5" fmla="*/ 841919 w 1772400"/>
                <a:gd name="connsiteY5" fmla="*/ 990716 h 1082939"/>
                <a:gd name="connsiteX6" fmla="*/ 540000 w 1772400"/>
                <a:gd name="connsiteY6" fmla="*/ 1082939 h 1082939"/>
                <a:gd name="connsiteX7" fmla="*/ 0 w 1772400"/>
                <a:gd name="connsiteY7" fmla="*/ 542939 h 1082939"/>
                <a:gd name="connsiteX8" fmla="*/ 540000 w 1772400"/>
                <a:gd name="connsiteY8" fmla="*/ 2939 h 1082939"/>
                <a:gd name="connsiteX9" fmla="*/ 841919 w 1772400"/>
                <a:gd name="connsiteY9" fmla="*/ 95163 h 1082939"/>
                <a:gd name="connsiteX10" fmla="*/ 884419 w 1772400"/>
                <a:gd name="connsiteY10" fmla="*/ 130228 h 1082939"/>
                <a:gd name="connsiteX11" fmla="*/ 930481 w 1772400"/>
                <a:gd name="connsiteY11" fmla="*/ 92224 h 1082939"/>
                <a:gd name="connsiteX12" fmla="*/ 1232400 w 1772400"/>
                <a:gd name="connsiteY12" fmla="*/ 0 h 108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2400" h="1082939">
                  <a:moveTo>
                    <a:pt x="1232400" y="0"/>
                  </a:moveTo>
                  <a:cubicBezTo>
                    <a:pt x="1530634" y="0"/>
                    <a:pt x="1772400" y="241766"/>
                    <a:pt x="1772400" y="540000"/>
                  </a:cubicBezTo>
                  <a:cubicBezTo>
                    <a:pt x="1772400" y="838234"/>
                    <a:pt x="1530634" y="1080000"/>
                    <a:pt x="1232400" y="1080000"/>
                  </a:cubicBezTo>
                  <a:cubicBezTo>
                    <a:pt x="1120562" y="1080000"/>
                    <a:pt x="1016665" y="1046002"/>
                    <a:pt x="930481" y="987777"/>
                  </a:cubicBezTo>
                  <a:lnTo>
                    <a:pt x="887981" y="952711"/>
                  </a:lnTo>
                  <a:lnTo>
                    <a:pt x="841919" y="990716"/>
                  </a:lnTo>
                  <a:cubicBezTo>
                    <a:pt x="755735" y="1048941"/>
                    <a:pt x="651838" y="1082939"/>
                    <a:pt x="540000" y="1082939"/>
                  </a:cubicBezTo>
                  <a:cubicBezTo>
                    <a:pt x="241766" y="1082939"/>
                    <a:pt x="0" y="841173"/>
                    <a:pt x="0" y="542939"/>
                  </a:cubicBezTo>
                  <a:cubicBezTo>
                    <a:pt x="0" y="244705"/>
                    <a:pt x="241766" y="2939"/>
                    <a:pt x="540000" y="2939"/>
                  </a:cubicBezTo>
                  <a:cubicBezTo>
                    <a:pt x="651838" y="2939"/>
                    <a:pt x="755735" y="36938"/>
                    <a:pt x="841919" y="95163"/>
                  </a:cubicBezTo>
                  <a:lnTo>
                    <a:pt x="884419" y="130228"/>
                  </a:lnTo>
                  <a:lnTo>
                    <a:pt x="930481" y="92224"/>
                  </a:lnTo>
                  <a:cubicBezTo>
                    <a:pt x="1016665" y="33999"/>
                    <a:pt x="1120562" y="0"/>
                    <a:pt x="1232400" y="0"/>
                  </a:cubicBezTo>
                  <a:close/>
                </a:path>
              </a:pathLst>
            </a:custGeom>
            <a:solidFill>
              <a:srgbClr val="043073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6" name="Forma Livre: Forma 55">
              <a:extLst>
                <a:ext uri="{FF2B5EF4-FFF2-40B4-BE49-F238E27FC236}">
                  <a16:creationId xmlns:a16="http://schemas.microsoft.com/office/drawing/2014/main" id="{14EF6193-E32E-4934-A4E2-9584FC16E757}"/>
                </a:ext>
              </a:extLst>
            </p:cNvPr>
            <p:cNvSpPr/>
            <p:nvPr/>
          </p:nvSpPr>
          <p:spPr>
            <a:xfrm>
              <a:off x="1556772" y="5297196"/>
              <a:ext cx="387600" cy="822483"/>
            </a:xfrm>
            <a:custGeom>
              <a:avLst/>
              <a:gdLst>
                <a:gd name="connsiteX0" fmla="*/ 192019 w 387600"/>
                <a:gd name="connsiteY0" fmla="*/ 0 h 822483"/>
                <a:gd name="connsiteX1" fmla="*/ 229438 w 387600"/>
                <a:gd name="connsiteY1" fmla="*/ 30874 h 822483"/>
                <a:gd name="connsiteX2" fmla="*/ 387600 w 387600"/>
                <a:gd name="connsiteY2" fmla="*/ 412711 h 822483"/>
                <a:gd name="connsiteX3" fmla="*/ 229438 w 387600"/>
                <a:gd name="connsiteY3" fmla="*/ 794549 h 822483"/>
                <a:gd name="connsiteX4" fmla="*/ 195581 w 387600"/>
                <a:gd name="connsiteY4" fmla="*/ 822483 h 822483"/>
                <a:gd name="connsiteX5" fmla="*/ 158162 w 387600"/>
                <a:gd name="connsiteY5" fmla="*/ 791610 h 822483"/>
                <a:gd name="connsiteX6" fmla="*/ 0 w 387600"/>
                <a:gd name="connsiteY6" fmla="*/ 409772 h 822483"/>
                <a:gd name="connsiteX7" fmla="*/ 158162 w 387600"/>
                <a:gd name="connsiteY7" fmla="*/ 27935 h 82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7600" h="822483">
                  <a:moveTo>
                    <a:pt x="192019" y="0"/>
                  </a:moveTo>
                  <a:lnTo>
                    <a:pt x="229438" y="30874"/>
                  </a:lnTo>
                  <a:cubicBezTo>
                    <a:pt x="327159" y="128594"/>
                    <a:pt x="387600" y="263594"/>
                    <a:pt x="387600" y="412711"/>
                  </a:cubicBezTo>
                  <a:cubicBezTo>
                    <a:pt x="387600" y="561828"/>
                    <a:pt x="327159" y="696828"/>
                    <a:pt x="229438" y="794549"/>
                  </a:cubicBezTo>
                  <a:lnTo>
                    <a:pt x="195581" y="822483"/>
                  </a:lnTo>
                  <a:lnTo>
                    <a:pt x="158162" y="791610"/>
                  </a:lnTo>
                  <a:cubicBezTo>
                    <a:pt x="60442" y="693889"/>
                    <a:pt x="0" y="558889"/>
                    <a:pt x="0" y="409772"/>
                  </a:cubicBezTo>
                  <a:cubicBezTo>
                    <a:pt x="0" y="260655"/>
                    <a:pt x="60442" y="125655"/>
                    <a:pt x="158162" y="27935"/>
                  </a:cubicBezTo>
                  <a:close/>
                </a:path>
              </a:pathLst>
            </a:custGeom>
            <a:solidFill>
              <a:srgbClr val="043073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E2A05715-7914-42BA-A163-04A5D568BD55}"/>
              </a:ext>
            </a:extLst>
          </p:cNvPr>
          <p:cNvGrpSpPr/>
          <p:nvPr/>
        </p:nvGrpSpPr>
        <p:grpSpPr>
          <a:xfrm>
            <a:off x="4877572" y="5187148"/>
            <a:ext cx="1772400" cy="1082939"/>
            <a:chOff x="4877572" y="5189140"/>
            <a:chExt cx="1772400" cy="1082939"/>
          </a:xfrm>
        </p:grpSpPr>
        <p:sp>
          <p:nvSpPr>
            <p:cNvPr id="57" name="Forma Livre: Forma 56">
              <a:extLst>
                <a:ext uri="{FF2B5EF4-FFF2-40B4-BE49-F238E27FC236}">
                  <a16:creationId xmlns:a16="http://schemas.microsoft.com/office/drawing/2014/main" id="{E046BBB7-7BEA-48A9-B05B-D6CC7441F9BF}"/>
                </a:ext>
              </a:extLst>
            </p:cNvPr>
            <p:cNvSpPr/>
            <p:nvPr/>
          </p:nvSpPr>
          <p:spPr>
            <a:xfrm>
              <a:off x="4877572" y="5189140"/>
              <a:ext cx="1772400" cy="1082939"/>
            </a:xfrm>
            <a:custGeom>
              <a:avLst/>
              <a:gdLst>
                <a:gd name="connsiteX0" fmla="*/ 1232400 w 1772400"/>
                <a:gd name="connsiteY0" fmla="*/ 0 h 1082939"/>
                <a:gd name="connsiteX1" fmla="*/ 1772400 w 1772400"/>
                <a:gd name="connsiteY1" fmla="*/ 540000 h 1082939"/>
                <a:gd name="connsiteX2" fmla="*/ 1232400 w 1772400"/>
                <a:gd name="connsiteY2" fmla="*/ 1080000 h 1082939"/>
                <a:gd name="connsiteX3" fmla="*/ 930481 w 1772400"/>
                <a:gd name="connsiteY3" fmla="*/ 987777 h 1082939"/>
                <a:gd name="connsiteX4" fmla="*/ 887981 w 1772400"/>
                <a:gd name="connsiteY4" fmla="*/ 952711 h 1082939"/>
                <a:gd name="connsiteX5" fmla="*/ 841919 w 1772400"/>
                <a:gd name="connsiteY5" fmla="*/ 990716 h 1082939"/>
                <a:gd name="connsiteX6" fmla="*/ 540000 w 1772400"/>
                <a:gd name="connsiteY6" fmla="*/ 1082939 h 1082939"/>
                <a:gd name="connsiteX7" fmla="*/ 0 w 1772400"/>
                <a:gd name="connsiteY7" fmla="*/ 542939 h 1082939"/>
                <a:gd name="connsiteX8" fmla="*/ 540000 w 1772400"/>
                <a:gd name="connsiteY8" fmla="*/ 2939 h 1082939"/>
                <a:gd name="connsiteX9" fmla="*/ 841919 w 1772400"/>
                <a:gd name="connsiteY9" fmla="*/ 95163 h 1082939"/>
                <a:gd name="connsiteX10" fmla="*/ 884419 w 1772400"/>
                <a:gd name="connsiteY10" fmla="*/ 130228 h 1082939"/>
                <a:gd name="connsiteX11" fmla="*/ 930481 w 1772400"/>
                <a:gd name="connsiteY11" fmla="*/ 92224 h 1082939"/>
                <a:gd name="connsiteX12" fmla="*/ 1232400 w 1772400"/>
                <a:gd name="connsiteY12" fmla="*/ 0 h 108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72400" h="1082939">
                  <a:moveTo>
                    <a:pt x="1232400" y="0"/>
                  </a:moveTo>
                  <a:cubicBezTo>
                    <a:pt x="1530634" y="0"/>
                    <a:pt x="1772400" y="241766"/>
                    <a:pt x="1772400" y="540000"/>
                  </a:cubicBezTo>
                  <a:cubicBezTo>
                    <a:pt x="1772400" y="838234"/>
                    <a:pt x="1530634" y="1080000"/>
                    <a:pt x="1232400" y="1080000"/>
                  </a:cubicBezTo>
                  <a:cubicBezTo>
                    <a:pt x="1120562" y="1080000"/>
                    <a:pt x="1016665" y="1046002"/>
                    <a:pt x="930481" y="987777"/>
                  </a:cubicBezTo>
                  <a:lnTo>
                    <a:pt x="887981" y="952711"/>
                  </a:lnTo>
                  <a:lnTo>
                    <a:pt x="841919" y="990716"/>
                  </a:lnTo>
                  <a:cubicBezTo>
                    <a:pt x="755735" y="1048941"/>
                    <a:pt x="651838" y="1082939"/>
                    <a:pt x="540000" y="1082939"/>
                  </a:cubicBezTo>
                  <a:cubicBezTo>
                    <a:pt x="241766" y="1082939"/>
                    <a:pt x="0" y="841173"/>
                    <a:pt x="0" y="542939"/>
                  </a:cubicBezTo>
                  <a:cubicBezTo>
                    <a:pt x="0" y="244705"/>
                    <a:pt x="241766" y="2939"/>
                    <a:pt x="540000" y="2939"/>
                  </a:cubicBezTo>
                  <a:cubicBezTo>
                    <a:pt x="651838" y="2939"/>
                    <a:pt x="755735" y="36938"/>
                    <a:pt x="841919" y="95163"/>
                  </a:cubicBezTo>
                  <a:lnTo>
                    <a:pt x="884419" y="130228"/>
                  </a:lnTo>
                  <a:lnTo>
                    <a:pt x="930481" y="92224"/>
                  </a:lnTo>
                  <a:cubicBezTo>
                    <a:pt x="1016665" y="33999"/>
                    <a:pt x="1120562" y="0"/>
                    <a:pt x="123240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58" name="Forma Livre: Forma 57">
              <a:extLst>
                <a:ext uri="{FF2B5EF4-FFF2-40B4-BE49-F238E27FC236}">
                  <a16:creationId xmlns:a16="http://schemas.microsoft.com/office/drawing/2014/main" id="{97A0A374-A486-4C0A-B88A-D11852CC263A}"/>
                </a:ext>
              </a:extLst>
            </p:cNvPr>
            <p:cNvSpPr/>
            <p:nvPr/>
          </p:nvSpPr>
          <p:spPr>
            <a:xfrm>
              <a:off x="5569972" y="5319369"/>
              <a:ext cx="387600" cy="822483"/>
            </a:xfrm>
            <a:custGeom>
              <a:avLst/>
              <a:gdLst>
                <a:gd name="connsiteX0" fmla="*/ 192019 w 387600"/>
                <a:gd name="connsiteY0" fmla="*/ 0 h 822483"/>
                <a:gd name="connsiteX1" fmla="*/ 229438 w 387600"/>
                <a:gd name="connsiteY1" fmla="*/ 30874 h 822483"/>
                <a:gd name="connsiteX2" fmla="*/ 387600 w 387600"/>
                <a:gd name="connsiteY2" fmla="*/ 412711 h 822483"/>
                <a:gd name="connsiteX3" fmla="*/ 229438 w 387600"/>
                <a:gd name="connsiteY3" fmla="*/ 794549 h 822483"/>
                <a:gd name="connsiteX4" fmla="*/ 195581 w 387600"/>
                <a:gd name="connsiteY4" fmla="*/ 822483 h 822483"/>
                <a:gd name="connsiteX5" fmla="*/ 158162 w 387600"/>
                <a:gd name="connsiteY5" fmla="*/ 791610 h 822483"/>
                <a:gd name="connsiteX6" fmla="*/ 0 w 387600"/>
                <a:gd name="connsiteY6" fmla="*/ 409772 h 822483"/>
                <a:gd name="connsiteX7" fmla="*/ 158162 w 387600"/>
                <a:gd name="connsiteY7" fmla="*/ 27935 h 82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7600" h="822483">
                  <a:moveTo>
                    <a:pt x="192019" y="0"/>
                  </a:moveTo>
                  <a:lnTo>
                    <a:pt x="229438" y="30874"/>
                  </a:lnTo>
                  <a:cubicBezTo>
                    <a:pt x="327159" y="128594"/>
                    <a:pt x="387600" y="263594"/>
                    <a:pt x="387600" y="412711"/>
                  </a:cubicBezTo>
                  <a:cubicBezTo>
                    <a:pt x="387600" y="561828"/>
                    <a:pt x="327159" y="696828"/>
                    <a:pt x="229438" y="794549"/>
                  </a:cubicBezTo>
                  <a:lnTo>
                    <a:pt x="195581" y="822483"/>
                  </a:lnTo>
                  <a:lnTo>
                    <a:pt x="158162" y="791610"/>
                  </a:lnTo>
                  <a:cubicBezTo>
                    <a:pt x="60442" y="693889"/>
                    <a:pt x="0" y="558889"/>
                    <a:pt x="0" y="409772"/>
                  </a:cubicBezTo>
                  <a:cubicBezTo>
                    <a:pt x="0" y="260655"/>
                    <a:pt x="60442" y="125655"/>
                    <a:pt x="158162" y="27935"/>
                  </a:cubicBezTo>
                  <a:close/>
                </a:path>
              </a:pathLst>
            </a:custGeom>
            <a:solidFill>
              <a:srgbClr val="043073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</p:grpSp>
      <p:grpSp>
        <p:nvGrpSpPr>
          <p:cNvPr id="66" name="Agrupar 65">
            <a:extLst>
              <a:ext uri="{FF2B5EF4-FFF2-40B4-BE49-F238E27FC236}">
                <a16:creationId xmlns:a16="http://schemas.microsoft.com/office/drawing/2014/main" id="{CFEC13A7-474C-42C4-B4EE-220790B45EF1}"/>
              </a:ext>
            </a:extLst>
          </p:cNvPr>
          <p:cNvGrpSpPr/>
          <p:nvPr/>
        </p:nvGrpSpPr>
        <p:grpSpPr>
          <a:xfrm>
            <a:off x="8933393" y="5187148"/>
            <a:ext cx="1772400" cy="1082939"/>
            <a:chOff x="8230372" y="5321738"/>
            <a:chExt cx="1772400" cy="1082939"/>
          </a:xfrm>
        </p:grpSpPr>
        <p:sp>
          <p:nvSpPr>
            <p:cNvPr id="62" name="Forma Livre: Forma 61">
              <a:extLst>
                <a:ext uri="{FF2B5EF4-FFF2-40B4-BE49-F238E27FC236}">
                  <a16:creationId xmlns:a16="http://schemas.microsoft.com/office/drawing/2014/main" id="{553F7067-6BE9-4B99-925B-92C3C8B0B70C}"/>
                </a:ext>
              </a:extLst>
            </p:cNvPr>
            <p:cNvSpPr/>
            <p:nvPr/>
          </p:nvSpPr>
          <p:spPr>
            <a:xfrm>
              <a:off x="8230372" y="5321738"/>
              <a:ext cx="1772400" cy="1082939"/>
            </a:xfrm>
            <a:custGeom>
              <a:avLst/>
              <a:gdLst>
                <a:gd name="connsiteX0" fmla="*/ 1232400 w 1772400"/>
                <a:gd name="connsiteY0" fmla="*/ 0 h 1082939"/>
                <a:gd name="connsiteX1" fmla="*/ 1772400 w 1772400"/>
                <a:gd name="connsiteY1" fmla="*/ 540000 h 1082939"/>
                <a:gd name="connsiteX2" fmla="*/ 1232400 w 1772400"/>
                <a:gd name="connsiteY2" fmla="*/ 1080000 h 1082939"/>
                <a:gd name="connsiteX3" fmla="*/ 930481 w 1772400"/>
                <a:gd name="connsiteY3" fmla="*/ 987777 h 1082939"/>
                <a:gd name="connsiteX4" fmla="*/ 887982 w 1772400"/>
                <a:gd name="connsiteY4" fmla="*/ 952712 h 1082939"/>
                <a:gd name="connsiteX5" fmla="*/ 921838 w 1772400"/>
                <a:gd name="connsiteY5" fmla="*/ 924778 h 1082939"/>
                <a:gd name="connsiteX6" fmla="*/ 1080000 w 1772400"/>
                <a:gd name="connsiteY6" fmla="*/ 542940 h 1082939"/>
                <a:gd name="connsiteX7" fmla="*/ 921838 w 1772400"/>
                <a:gd name="connsiteY7" fmla="*/ 161103 h 1082939"/>
                <a:gd name="connsiteX8" fmla="*/ 884419 w 1772400"/>
                <a:gd name="connsiteY8" fmla="*/ 130229 h 1082939"/>
                <a:gd name="connsiteX9" fmla="*/ 850562 w 1772400"/>
                <a:gd name="connsiteY9" fmla="*/ 158164 h 1082939"/>
                <a:gd name="connsiteX10" fmla="*/ 692400 w 1772400"/>
                <a:gd name="connsiteY10" fmla="*/ 540001 h 1082939"/>
                <a:gd name="connsiteX11" fmla="*/ 850562 w 1772400"/>
                <a:gd name="connsiteY11" fmla="*/ 921839 h 1082939"/>
                <a:gd name="connsiteX12" fmla="*/ 887980 w 1772400"/>
                <a:gd name="connsiteY12" fmla="*/ 952712 h 1082939"/>
                <a:gd name="connsiteX13" fmla="*/ 841919 w 1772400"/>
                <a:gd name="connsiteY13" fmla="*/ 990716 h 1082939"/>
                <a:gd name="connsiteX14" fmla="*/ 540000 w 1772400"/>
                <a:gd name="connsiteY14" fmla="*/ 1082939 h 1082939"/>
                <a:gd name="connsiteX15" fmla="*/ 0 w 1772400"/>
                <a:gd name="connsiteY15" fmla="*/ 542939 h 1082939"/>
                <a:gd name="connsiteX16" fmla="*/ 540000 w 1772400"/>
                <a:gd name="connsiteY16" fmla="*/ 2939 h 1082939"/>
                <a:gd name="connsiteX17" fmla="*/ 841919 w 1772400"/>
                <a:gd name="connsiteY17" fmla="*/ 95163 h 1082939"/>
                <a:gd name="connsiteX18" fmla="*/ 884419 w 1772400"/>
                <a:gd name="connsiteY18" fmla="*/ 130228 h 1082939"/>
                <a:gd name="connsiteX19" fmla="*/ 930481 w 1772400"/>
                <a:gd name="connsiteY19" fmla="*/ 92224 h 1082939"/>
                <a:gd name="connsiteX20" fmla="*/ 1232400 w 1772400"/>
                <a:gd name="connsiteY20" fmla="*/ 0 h 108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72400" h="1082939">
                  <a:moveTo>
                    <a:pt x="1232400" y="0"/>
                  </a:moveTo>
                  <a:cubicBezTo>
                    <a:pt x="1530634" y="0"/>
                    <a:pt x="1772400" y="241766"/>
                    <a:pt x="1772400" y="540000"/>
                  </a:cubicBezTo>
                  <a:cubicBezTo>
                    <a:pt x="1772400" y="838234"/>
                    <a:pt x="1530634" y="1080000"/>
                    <a:pt x="1232400" y="1080000"/>
                  </a:cubicBezTo>
                  <a:cubicBezTo>
                    <a:pt x="1120562" y="1080000"/>
                    <a:pt x="1016665" y="1046002"/>
                    <a:pt x="930481" y="987777"/>
                  </a:cubicBezTo>
                  <a:lnTo>
                    <a:pt x="887982" y="952712"/>
                  </a:lnTo>
                  <a:lnTo>
                    <a:pt x="921838" y="924778"/>
                  </a:lnTo>
                  <a:cubicBezTo>
                    <a:pt x="1019559" y="827057"/>
                    <a:pt x="1080000" y="692057"/>
                    <a:pt x="1080000" y="542940"/>
                  </a:cubicBezTo>
                  <a:cubicBezTo>
                    <a:pt x="1080000" y="393823"/>
                    <a:pt x="1019559" y="258823"/>
                    <a:pt x="921838" y="161103"/>
                  </a:cubicBezTo>
                  <a:lnTo>
                    <a:pt x="884419" y="130229"/>
                  </a:lnTo>
                  <a:lnTo>
                    <a:pt x="850562" y="158164"/>
                  </a:lnTo>
                  <a:cubicBezTo>
                    <a:pt x="752842" y="255884"/>
                    <a:pt x="692400" y="390884"/>
                    <a:pt x="692400" y="540001"/>
                  </a:cubicBezTo>
                  <a:cubicBezTo>
                    <a:pt x="692400" y="689118"/>
                    <a:pt x="752842" y="824118"/>
                    <a:pt x="850562" y="921839"/>
                  </a:cubicBezTo>
                  <a:lnTo>
                    <a:pt x="887980" y="952712"/>
                  </a:lnTo>
                  <a:lnTo>
                    <a:pt x="841919" y="990716"/>
                  </a:lnTo>
                  <a:cubicBezTo>
                    <a:pt x="755735" y="1048941"/>
                    <a:pt x="651838" y="1082939"/>
                    <a:pt x="540000" y="1082939"/>
                  </a:cubicBezTo>
                  <a:cubicBezTo>
                    <a:pt x="241766" y="1082939"/>
                    <a:pt x="0" y="841173"/>
                    <a:pt x="0" y="542939"/>
                  </a:cubicBezTo>
                  <a:cubicBezTo>
                    <a:pt x="0" y="244705"/>
                    <a:pt x="241766" y="2939"/>
                    <a:pt x="540000" y="2939"/>
                  </a:cubicBezTo>
                  <a:cubicBezTo>
                    <a:pt x="651838" y="2939"/>
                    <a:pt x="755735" y="36938"/>
                    <a:pt x="841919" y="95163"/>
                  </a:cubicBezTo>
                  <a:lnTo>
                    <a:pt x="884419" y="130228"/>
                  </a:lnTo>
                  <a:lnTo>
                    <a:pt x="930481" y="92224"/>
                  </a:lnTo>
                  <a:cubicBezTo>
                    <a:pt x="1016665" y="33999"/>
                    <a:pt x="1120562" y="0"/>
                    <a:pt x="1232400" y="0"/>
                  </a:cubicBez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7594C4E-474F-4FD5-8BE5-D328498A6CCB}"/>
                </a:ext>
              </a:extLst>
            </p:cNvPr>
            <p:cNvSpPr/>
            <p:nvPr/>
          </p:nvSpPr>
          <p:spPr>
            <a:xfrm>
              <a:off x="8230372" y="5321738"/>
              <a:ext cx="1080000" cy="1080000"/>
            </a:xfrm>
            <a:prstGeom prst="ellipse">
              <a:avLst/>
            </a:prstGeom>
            <a:solidFill>
              <a:srgbClr val="043073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63" name="Forma Livre: Forma 62">
              <a:extLst>
                <a:ext uri="{FF2B5EF4-FFF2-40B4-BE49-F238E27FC236}">
                  <a16:creationId xmlns:a16="http://schemas.microsoft.com/office/drawing/2014/main" id="{D1FC1E59-093D-498F-B0A9-75EE66ECC1D6}"/>
                </a:ext>
              </a:extLst>
            </p:cNvPr>
            <p:cNvSpPr/>
            <p:nvPr/>
          </p:nvSpPr>
          <p:spPr>
            <a:xfrm>
              <a:off x="8933393" y="5467784"/>
              <a:ext cx="387600" cy="822483"/>
            </a:xfrm>
            <a:custGeom>
              <a:avLst/>
              <a:gdLst>
                <a:gd name="connsiteX0" fmla="*/ 192019 w 387600"/>
                <a:gd name="connsiteY0" fmla="*/ 0 h 822483"/>
                <a:gd name="connsiteX1" fmla="*/ 229438 w 387600"/>
                <a:gd name="connsiteY1" fmla="*/ 30874 h 822483"/>
                <a:gd name="connsiteX2" fmla="*/ 387600 w 387600"/>
                <a:gd name="connsiteY2" fmla="*/ 412711 h 822483"/>
                <a:gd name="connsiteX3" fmla="*/ 229438 w 387600"/>
                <a:gd name="connsiteY3" fmla="*/ 794549 h 822483"/>
                <a:gd name="connsiteX4" fmla="*/ 195582 w 387600"/>
                <a:gd name="connsiteY4" fmla="*/ 822483 h 822483"/>
                <a:gd name="connsiteX5" fmla="*/ 195581 w 387600"/>
                <a:gd name="connsiteY5" fmla="*/ 822482 h 822483"/>
                <a:gd name="connsiteX6" fmla="*/ 195580 w 387600"/>
                <a:gd name="connsiteY6" fmla="*/ 822483 h 822483"/>
                <a:gd name="connsiteX7" fmla="*/ 158162 w 387600"/>
                <a:gd name="connsiteY7" fmla="*/ 791610 h 822483"/>
                <a:gd name="connsiteX8" fmla="*/ 0 w 387600"/>
                <a:gd name="connsiteY8" fmla="*/ 409772 h 822483"/>
                <a:gd name="connsiteX9" fmla="*/ 158162 w 387600"/>
                <a:gd name="connsiteY9" fmla="*/ 27935 h 822483"/>
                <a:gd name="connsiteX10" fmla="*/ 192019 w 387600"/>
                <a:gd name="connsiteY10" fmla="*/ 0 h 822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600" h="822483">
                  <a:moveTo>
                    <a:pt x="192019" y="0"/>
                  </a:moveTo>
                  <a:lnTo>
                    <a:pt x="229438" y="30874"/>
                  </a:lnTo>
                  <a:cubicBezTo>
                    <a:pt x="327159" y="128594"/>
                    <a:pt x="387600" y="263594"/>
                    <a:pt x="387600" y="412711"/>
                  </a:cubicBezTo>
                  <a:cubicBezTo>
                    <a:pt x="387600" y="561828"/>
                    <a:pt x="327159" y="696828"/>
                    <a:pt x="229438" y="794549"/>
                  </a:cubicBezTo>
                  <a:lnTo>
                    <a:pt x="195582" y="822483"/>
                  </a:lnTo>
                  <a:lnTo>
                    <a:pt x="195581" y="822482"/>
                  </a:lnTo>
                  <a:lnTo>
                    <a:pt x="195580" y="822483"/>
                  </a:lnTo>
                  <a:lnTo>
                    <a:pt x="158162" y="791610"/>
                  </a:lnTo>
                  <a:cubicBezTo>
                    <a:pt x="60442" y="693889"/>
                    <a:pt x="0" y="558889"/>
                    <a:pt x="0" y="409772"/>
                  </a:cubicBezTo>
                  <a:cubicBezTo>
                    <a:pt x="0" y="260655"/>
                    <a:pt x="60442" y="125655"/>
                    <a:pt x="158162" y="27935"/>
                  </a:cubicBezTo>
                  <a:lnTo>
                    <a:pt x="192019" y="0"/>
                  </a:lnTo>
                  <a:close/>
                </a:path>
              </a:pathLst>
            </a:custGeom>
            <a:solidFill>
              <a:schemeClr val="bg1"/>
            </a:solidFill>
            <a:ln w="285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ln w="19050">
                  <a:solidFill>
                    <a:schemeClr val="tx1"/>
                  </a:solidFill>
                </a:ln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AFB69A34-160E-4490-935B-CC64B32E2273}"/>
              </a:ext>
            </a:extLst>
          </p:cNvPr>
          <p:cNvSpPr/>
          <p:nvPr/>
        </p:nvSpPr>
        <p:spPr>
          <a:xfrm>
            <a:off x="653008" y="1543593"/>
            <a:ext cx="10868745" cy="21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10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105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</a:t>
            </a:r>
            <a:r>
              <a:rPr lang="en-US" sz="10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estrutura mais expressiva das três. Ele não armazena valores soltos — ele armazena </a:t>
            </a:r>
            <a:r>
              <a:rPr lang="en-US" sz="105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associações</a:t>
            </a:r>
            <a:r>
              <a:rPr lang="en-US" sz="10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cada valor está vinculado a uma chave única que o identifica. O acesso não é por posição numérica (como na List), mas sim pelo </a:t>
            </a:r>
            <a:r>
              <a:rPr lang="en-US" sz="105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 semântico da chave</a:t>
            </a:r>
            <a:r>
              <a:rPr lang="en-US" sz="10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Essa característica aproxima o Map de um dicionário ou de uma ficha de cadastro.</a:t>
            </a:r>
            <a:endParaRPr lang="en-US" sz="10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C8885C-9629-4851-8B37-20F03032C7C5}"/>
              </a:ext>
            </a:extLst>
          </p:cNvPr>
          <p:cNvSpPr/>
          <p:nvPr/>
        </p:nvSpPr>
        <p:spPr>
          <a:xfrm>
            <a:off x="653008" y="2061419"/>
            <a:ext cx="5876580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9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8394581E-373A-4660-9259-BF1472313AB8}"/>
              </a:ext>
            </a:extLst>
          </p:cNvPr>
          <p:cNvSpPr/>
          <p:nvPr/>
        </p:nvSpPr>
        <p:spPr>
          <a:xfrm>
            <a:off x="653008" y="2255888"/>
            <a:ext cx="5876580" cy="2248297"/>
          </a:xfrm>
          <a:prstGeom prst="roundRect">
            <a:avLst>
              <a:gd name="adj" fmla="val 1721"/>
            </a:avLst>
          </a:prstGeom>
          <a:solidFill>
            <a:srgbClr val="F2F2F2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C58383D2-954D-4C1E-943F-37746E6BBB23}"/>
              </a:ext>
            </a:extLst>
          </p:cNvPr>
          <p:cNvSpPr/>
          <p:nvPr/>
        </p:nvSpPr>
        <p:spPr>
          <a:xfrm>
            <a:off x="763535" y="2347963"/>
            <a:ext cx="5655526" cy="20641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pessoa = {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'nome':    'Ana',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'idade':   25,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'cidade':  'São Paulo',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Acesso por chave — não por posição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print(pessoa['nome']);    // 'Ana'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print(pessoa['idade']);   // 25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print(pessoa['cidade']);  // 'São Paulo'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Chaves são únicas: se você inserir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'nome' novamente, o valor anterior</a:t>
            </a:r>
            <a:endParaRPr lang="en-US" sz="7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700" kern="0" spc="-15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é sobrescrito — não duplicado</a:t>
            </a:r>
            <a:endParaRPr lang="en-US" sz="7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295855F-BACF-4C93-AE92-5AD326990039}"/>
              </a:ext>
            </a:extLst>
          </p:cNvPr>
          <p:cNvSpPr/>
          <p:nvPr/>
        </p:nvSpPr>
        <p:spPr>
          <a:xfrm>
            <a:off x="653008" y="4554687"/>
            <a:ext cx="5876580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Propriedades fundamentais</a:t>
            </a:r>
            <a:endParaRPr lang="en-US" sz="900" dirty="0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E790694-F6E9-4408-82F2-715D8A5E5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008" y="4749156"/>
            <a:ext cx="5876580" cy="508000"/>
          </a:xfrm>
          <a:prstGeom prst="rect">
            <a:avLst/>
          </a:prstGeom>
        </p:spPr>
      </p:pic>
      <p:sp>
        <p:nvSpPr>
          <p:cNvPr id="11" name="Text 8">
            <a:extLst>
              <a:ext uri="{FF2B5EF4-FFF2-40B4-BE49-F238E27FC236}">
                <a16:creationId xmlns:a16="http://schemas.microsoft.com/office/drawing/2014/main" id="{BAFFCF9A-1F35-4EE0-B749-47C5A78B21A4}"/>
              </a:ext>
            </a:extLst>
          </p:cNvPr>
          <p:cNvSpPr/>
          <p:nvPr/>
        </p:nvSpPr>
        <p:spPr>
          <a:xfrm>
            <a:off x="808579" y="4853931"/>
            <a:ext cx="5616236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Chaves únicas</a:t>
            </a:r>
            <a:endParaRPr lang="en-US" sz="9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38A5FE86-195B-4F30-9A7C-B25D50E02EB9}"/>
              </a:ext>
            </a:extLst>
          </p:cNvPr>
          <p:cNvSpPr/>
          <p:nvPr/>
        </p:nvSpPr>
        <p:spPr>
          <a:xfrm>
            <a:off x="808579" y="5042744"/>
            <a:ext cx="5616236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chave existe uma única vez no Map. Inserir a mesma chave duas vezes sobrescreve o valor anterior — não cria um segundo par.</a:t>
            </a:r>
            <a:endParaRPr lang="en-US" sz="700" dirty="0"/>
          </a:p>
        </p:txBody>
      </p:sp>
      <p:pic>
        <p:nvPicPr>
          <p:cNvPr id="13" name="Image 1" descr="preencoded.png">
            <a:extLst>
              <a:ext uri="{FF2B5EF4-FFF2-40B4-BE49-F238E27FC236}">
                <a16:creationId xmlns:a16="http://schemas.microsoft.com/office/drawing/2014/main" id="{9A739CDD-B9ED-441C-89A5-0843C0F98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008" y="5302003"/>
            <a:ext cx="5876580" cy="508000"/>
          </a:xfrm>
          <a:prstGeom prst="rect">
            <a:avLst/>
          </a:prstGeom>
        </p:spPr>
      </p:pic>
      <p:sp>
        <p:nvSpPr>
          <p:cNvPr id="14" name="Text 10">
            <a:extLst>
              <a:ext uri="{FF2B5EF4-FFF2-40B4-BE49-F238E27FC236}">
                <a16:creationId xmlns:a16="http://schemas.microsoft.com/office/drawing/2014/main" id="{B8E20E20-DF7F-49B7-863D-6809208E9C99}"/>
              </a:ext>
            </a:extLst>
          </p:cNvPr>
          <p:cNvSpPr/>
          <p:nvPr/>
        </p:nvSpPr>
        <p:spPr>
          <a:xfrm>
            <a:off x="808579" y="5406778"/>
            <a:ext cx="5616236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Valores heterogêneos</a:t>
            </a:r>
            <a:endParaRPr lang="en-US" sz="90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55566C5-6517-4628-A917-614C42B00EF9}"/>
              </a:ext>
            </a:extLst>
          </p:cNvPr>
          <p:cNvSpPr/>
          <p:nvPr/>
        </p:nvSpPr>
        <p:spPr>
          <a:xfrm>
            <a:off x="808579" y="5595591"/>
            <a:ext cx="5616236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exemplo acima,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'nome'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uma String e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'idade'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um int. Dart infere o tipo como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Object&gt;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quando os valores diferem.</a:t>
            </a:r>
            <a:endParaRPr lang="en-US" sz="70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B0B64197-E516-4EAD-92C7-BF80AE427E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008" y="5854849"/>
            <a:ext cx="5876580" cy="617637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DDBF4BE4-DD89-4E88-8205-FF9447D775F1}"/>
              </a:ext>
            </a:extLst>
          </p:cNvPr>
          <p:cNvSpPr/>
          <p:nvPr/>
        </p:nvSpPr>
        <p:spPr>
          <a:xfrm>
            <a:off x="808579" y="5959624"/>
            <a:ext cx="5616236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 semântico</a:t>
            </a:r>
            <a:endParaRPr lang="en-US" sz="900" dirty="0"/>
          </a:p>
        </p:txBody>
      </p:sp>
      <p:sp>
        <p:nvSpPr>
          <p:cNvPr id="18" name="Text 13">
            <a:extLst>
              <a:ext uri="{FF2B5EF4-FFF2-40B4-BE49-F238E27FC236}">
                <a16:creationId xmlns:a16="http://schemas.microsoft.com/office/drawing/2014/main" id="{29AD6310-F6B9-4FD7-BF15-3E82B8444648}"/>
              </a:ext>
            </a:extLst>
          </p:cNvPr>
          <p:cNvSpPr/>
          <p:nvPr/>
        </p:nvSpPr>
        <p:spPr>
          <a:xfrm>
            <a:off x="808579" y="6148438"/>
            <a:ext cx="5616236" cy="21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 vez de perguntar "qual é o elemento 0?", perguntamos "qual é o nome?" — muito mais próximo da linguagem do domínio do problema.</a:t>
            </a:r>
            <a:endParaRPr lang="en-US" sz="700" dirty="0"/>
          </a:p>
        </p:txBody>
      </p:sp>
      <p:sp>
        <p:nvSpPr>
          <p:cNvPr id="19" name="Text 14">
            <a:extLst>
              <a:ext uri="{FF2B5EF4-FFF2-40B4-BE49-F238E27FC236}">
                <a16:creationId xmlns:a16="http://schemas.microsoft.com/office/drawing/2014/main" id="{00DF4EEE-1B83-4001-AFB8-DE492E8B5949}"/>
              </a:ext>
            </a:extLst>
          </p:cNvPr>
          <p:cNvSpPr/>
          <p:nvPr/>
        </p:nvSpPr>
        <p:spPr>
          <a:xfrm>
            <a:off x="6760761" y="2120679"/>
            <a:ext cx="4767242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Quando usar Map?</a:t>
            </a:r>
            <a:endParaRPr lang="en-US" sz="900" dirty="0"/>
          </a:p>
        </p:txBody>
      </p:sp>
      <p:sp>
        <p:nvSpPr>
          <p:cNvPr id="20" name="Text 15">
            <a:extLst>
              <a:ext uri="{FF2B5EF4-FFF2-40B4-BE49-F238E27FC236}">
                <a16:creationId xmlns:a16="http://schemas.microsoft.com/office/drawing/2014/main" id="{E0E89AC9-533A-4F45-9D4D-713F14D58778}"/>
              </a:ext>
            </a:extLst>
          </p:cNvPr>
          <p:cNvSpPr/>
          <p:nvPr/>
        </p:nvSpPr>
        <p:spPr>
          <a:xfrm>
            <a:off x="7012870" y="2346798"/>
            <a:ext cx="451513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com rótulos</a:t>
            </a:r>
            <a:endParaRPr lang="en-US" sz="900" dirty="0"/>
          </a:p>
        </p:txBody>
      </p:sp>
      <p:sp>
        <p:nvSpPr>
          <p:cNvPr id="21" name="Text 16">
            <a:extLst>
              <a:ext uri="{FF2B5EF4-FFF2-40B4-BE49-F238E27FC236}">
                <a16:creationId xmlns:a16="http://schemas.microsoft.com/office/drawing/2014/main" id="{084C1266-765C-4E7B-9168-C113936C2EB0}"/>
              </a:ext>
            </a:extLst>
          </p:cNvPr>
          <p:cNvSpPr/>
          <p:nvPr/>
        </p:nvSpPr>
        <p:spPr>
          <a:xfrm>
            <a:off x="7012870" y="2535612"/>
            <a:ext cx="4515134" cy="21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Quando cada dado tem um nome que o identifica: nome, idade, cidade, SKU, preço — o Map é a representação natural.</a:t>
            </a:r>
            <a:endParaRPr lang="en-US" sz="700" dirty="0"/>
          </a:p>
        </p:txBody>
      </p:sp>
      <p:sp>
        <p:nvSpPr>
          <p:cNvPr id="22" name="Text 17">
            <a:extLst>
              <a:ext uri="{FF2B5EF4-FFF2-40B4-BE49-F238E27FC236}">
                <a16:creationId xmlns:a16="http://schemas.microsoft.com/office/drawing/2014/main" id="{68D46EA8-4B7B-4C3B-8978-5DEFCA563AC2}"/>
              </a:ext>
            </a:extLst>
          </p:cNvPr>
          <p:cNvSpPr/>
          <p:nvPr/>
        </p:nvSpPr>
        <p:spPr>
          <a:xfrm>
            <a:off x="7012870" y="2876329"/>
            <a:ext cx="451513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Associação código → informação</a:t>
            </a:r>
            <a:endParaRPr lang="en-US" sz="900" dirty="0"/>
          </a:p>
        </p:txBody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4832AEFE-D4B0-46B5-A084-BD137659C277}"/>
              </a:ext>
            </a:extLst>
          </p:cNvPr>
          <p:cNvSpPr/>
          <p:nvPr/>
        </p:nvSpPr>
        <p:spPr>
          <a:xfrm>
            <a:off x="7012870" y="3065142"/>
            <a:ext cx="4515134" cy="219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de produto associado a descrição, preço e estoque. Código do estado associado ao nome completo.</a:t>
            </a:r>
            <a:endParaRPr lang="en-US" sz="700" dirty="0"/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2C952CE-7F67-4523-BA29-601E54521504}"/>
              </a:ext>
            </a:extLst>
          </p:cNvPr>
          <p:cNvSpPr/>
          <p:nvPr/>
        </p:nvSpPr>
        <p:spPr>
          <a:xfrm>
            <a:off x="7012870" y="3405859"/>
            <a:ext cx="4515134" cy="143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Configurações e preferências</a:t>
            </a:r>
            <a:endParaRPr lang="en-US" sz="9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57636223-4C6B-4D9C-B324-C29CC7381F5A}"/>
              </a:ext>
            </a:extLst>
          </p:cNvPr>
          <p:cNvSpPr/>
          <p:nvPr/>
        </p:nvSpPr>
        <p:spPr>
          <a:xfrm>
            <a:off x="7012870" y="3594673"/>
            <a:ext cx="4515134" cy="109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'tema'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associada ao valor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'escuro'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Chave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'idioma'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associada a </a:t>
            </a:r>
            <a:r>
              <a:rPr lang="en-US" sz="700" kern="0" spc="-1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'pt-BR'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70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B0604231-430A-49C2-8DEC-A070158A1A61}"/>
              </a:ext>
            </a:extLst>
          </p:cNvPr>
          <p:cNvSpPr/>
          <p:nvPr/>
        </p:nvSpPr>
        <p:spPr>
          <a:xfrm>
            <a:off x="6898970" y="3795194"/>
            <a:ext cx="4629034" cy="225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9000"/>
              </a:lnSpc>
              <a:buNone/>
            </a:pPr>
            <a:r>
              <a:rPr lang="en-US" sz="700" kern="0" spc="-1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7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Reflexão:</a:t>
            </a:r>
            <a:r>
              <a:rPr lang="en-US" sz="7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"O que representa uma chave em um Map?" — É o identificador semântico que dá significado ao valor associado. Como o rótulo de uma gaveta num arquivo.</a:t>
            </a:r>
            <a:endParaRPr lang="en-US" sz="700" dirty="0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99DC46F-FD3A-4E86-9C55-D1021DAC5FF7}"/>
              </a:ext>
            </a:extLst>
          </p:cNvPr>
          <p:cNvSpPr/>
          <p:nvPr/>
        </p:nvSpPr>
        <p:spPr>
          <a:xfrm>
            <a:off x="6760761" y="3958015"/>
            <a:ext cx="12700" cy="306388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BD8F90E7-D645-4C5E-90DB-4F10F8C9C0B6}"/>
              </a:ext>
            </a:extLst>
          </p:cNvPr>
          <p:cNvGrpSpPr/>
          <p:nvPr/>
        </p:nvGrpSpPr>
        <p:grpSpPr>
          <a:xfrm>
            <a:off x="830808" y="650078"/>
            <a:ext cx="1005060" cy="258465"/>
            <a:chOff x="661475" y="709116"/>
            <a:chExt cx="1005060" cy="258465"/>
          </a:xfrm>
        </p:grpSpPr>
        <p:sp>
          <p:nvSpPr>
            <p:cNvPr id="32" name="Shape 0">
              <a:extLst>
                <a:ext uri="{FF2B5EF4-FFF2-40B4-BE49-F238E27FC236}">
                  <a16:creationId xmlns:a16="http://schemas.microsoft.com/office/drawing/2014/main" id="{8E15B2DF-7FA5-4991-AD8B-6BAF73A8554A}"/>
                </a:ext>
              </a:extLst>
            </p:cNvPr>
            <p:cNvSpPr/>
            <p:nvPr/>
          </p:nvSpPr>
          <p:spPr>
            <a:xfrm>
              <a:off x="661475" y="709116"/>
              <a:ext cx="497470" cy="258465"/>
            </a:xfrm>
            <a:prstGeom prst="roundRect">
              <a:avLst>
                <a:gd name="adj" fmla="val 22115"/>
              </a:avLst>
            </a:prstGeom>
            <a:solidFill>
              <a:srgbClr val="DADBF1"/>
            </a:solidFill>
            <a:ln/>
          </p:spPr>
        </p:sp>
        <p:sp>
          <p:nvSpPr>
            <p:cNvPr id="33" name="Text 1">
              <a:extLst>
                <a:ext uri="{FF2B5EF4-FFF2-40B4-BE49-F238E27FC236}">
                  <a16:creationId xmlns:a16="http://schemas.microsoft.com/office/drawing/2014/main" id="{44006055-CC3B-494B-84EA-2005D6CF0822}"/>
                </a:ext>
              </a:extLst>
            </p:cNvPr>
            <p:cNvSpPr/>
            <p:nvPr/>
          </p:nvSpPr>
          <p:spPr>
            <a:xfrm>
              <a:off x="763469" y="760115"/>
              <a:ext cx="903066" cy="156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50" kern="0" spc="-27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MAP</a:t>
              </a:r>
              <a:endParaRPr lang="en-US" sz="1050" dirty="0"/>
            </a:p>
          </p:txBody>
        </p:sp>
      </p:grpSp>
      <p:sp>
        <p:nvSpPr>
          <p:cNvPr id="34" name="Text 2">
            <a:extLst>
              <a:ext uri="{FF2B5EF4-FFF2-40B4-BE49-F238E27FC236}">
                <a16:creationId xmlns:a16="http://schemas.microsoft.com/office/drawing/2014/main" id="{BEF7E9C2-8EBA-48A8-A2E5-7ECA9944FE33}"/>
              </a:ext>
            </a:extLst>
          </p:cNvPr>
          <p:cNvSpPr/>
          <p:nvPr/>
        </p:nvSpPr>
        <p:spPr>
          <a:xfrm>
            <a:off x="830808" y="967479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Map: Dicionário de Chave → Valor</a:t>
            </a:r>
            <a:endParaRPr lang="en-US" sz="3300" dirty="0"/>
          </a:p>
        </p:txBody>
      </p:sp>
    </p:spTree>
    <p:extLst>
      <p:ext uri="{BB962C8B-B14F-4D97-AF65-F5344CB8AC3E}">
        <p14:creationId xmlns:p14="http://schemas.microsoft.com/office/powerpoint/2010/main" val="3622327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9DAE34B3-45A3-45D8-A12E-EF95A9A85669}"/>
              </a:ext>
            </a:extLst>
          </p:cNvPr>
          <p:cNvGrpSpPr/>
          <p:nvPr/>
        </p:nvGrpSpPr>
        <p:grpSpPr>
          <a:xfrm>
            <a:off x="830808" y="717252"/>
            <a:ext cx="1005060" cy="258465"/>
            <a:chOff x="661475" y="709116"/>
            <a:chExt cx="1005060" cy="258465"/>
          </a:xfrm>
        </p:grpSpPr>
        <p:sp>
          <p:nvSpPr>
            <p:cNvPr id="2" name="Shape 0"/>
            <p:cNvSpPr/>
            <p:nvPr/>
          </p:nvSpPr>
          <p:spPr>
            <a:xfrm>
              <a:off x="661475" y="709116"/>
              <a:ext cx="497470" cy="258465"/>
            </a:xfrm>
            <a:prstGeom prst="roundRect">
              <a:avLst>
                <a:gd name="adj" fmla="val 22115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63469" y="760115"/>
              <a:ext cx="903066" cy="15646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50" kern="0" spc="-27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MAP</a:t>
              </a:r>
              <a:endParaRPr lang="en-US" sz="10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30808" y="1034653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-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Map: Dicionário de Chave → Valor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661475" y="194310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Características do Map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97243" y="2439491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Pares chave-valor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97243" y="2858294"/>
            <a:ext cx="469114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entrada associa uma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chave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um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valor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correspondente.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97243" y="3740051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Chave única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197243" y="4158853"/>
            <a:ext cx="469114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existem duas entradas com a mesma chave. Uma nova atribuição </a:t>
            </a:r>
            <a:r>
              <a:rPr lang="en-US" sz="1300" b="1" kern="0" spc="-2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sobrescreve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anterior.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97243" y="5040610"/>
            <a:ext cx="469114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 pela chave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197243" y="5459413"/>
            <a:ext cx="469114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valor é recuperado informando sua chave — não um índice numérico.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659" y="1943100"/>
            <a:ext cx="522691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kern="0" spc="-5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Conceitual em Dart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6309659" y="2381052"/>
            <a:ext cx="5226911" cy="2518172"/>
          </a:xfrm>
          <a:prstGeom prst="roundRect">
            <a:avLst>
              <a:gd name="adj" fmla="val 2837"/>
            </a:avLst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6513746" y="2551113"/>
            <a:ext cx="4818736" cy="217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int&gt; idades =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'Ana': 25,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'Bruno': 30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Acesso pelo nome (chave)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print(idades['Ana']);   // 25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7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print(idades['Bruno']); // 30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659" y="5071467"/>
            <a:ext cx="522691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chave é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(nome) e o valor é </a:t>
            </a:r>
            <a:r>
              <a:rPr lang="en-US" sz="130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kern="0" spc="-27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(idade). Os tipos são definidos na declaração.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Agrupar 38">
            <a:extLst>
              <a:ext uri="{FF2B5EF4-FFF2-40B4-BE49-F238E27FC236}">
                <a16:creationId xmlns:a16="http://schemas.microsoft.com/office/drawing/2014/main" id="{7C0440ED-B697-4621-AE7B-FDE957632C86}"/>
              </a:ext>
            </a:extLst>
          </p:cNvPr>
          <p:cNvGrpSpPr/>
          <p:nvPr/>
        </p:nvGrpSpPr>
        <p:grpSpPr>
          <a:xfrm>
            <a:off x="828456" y="667592"/>
            <a:ext cx="1795814" cy="243979"/>
            <a:chOff x="661475" y="644624"/>
            <a:chExt cx="1795814" cy="243979"/>
          </a:xfrm>
        </p:grpSpPr>
        <p:sp>
          <p:nvSpPr>
            <p:cNvPr id="2" name="Shape 0"/>
            <p:cNvSpPr/>
            <p:nvPr/>
          </p:nvSpPr>
          <p:spPr>
            <a:xfrm>
              <a:off x="661475" y="644624"/>
              <a:ext cx="1282569" cy="243979"/>
            </a:xfrm>
            <a:prstGeom prst="roundRect">
              <a:avLst>
                <a:gd name="adj" fmla="val 22126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57814" y="692745"/>
              <a:ext cx="1699475" cy="14773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00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MAP — MÉTODOS</a:t>
              </a:r>
              <a:endParaRPr lang="en-US" sz="10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28456" y="1015138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Principais Operações sobre Maps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661475" y="178653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Inserção, Atualização e Remoção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61475" y="2191147"/>
            <a:ext cx="5238421" cy="2108795"/>
          </a:xfrm>
          <a:prstGeom prst="roundRect">
            <a:avLst>
              <a:gd name="adj" fmla="val 320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1475" y="2614811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035300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3455789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3876278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28456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Operação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41316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 / Sintaxe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8456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Adicionar ou atualizar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41316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idades['Carla'] = 22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8456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Remover pela chave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41316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idades.remove('Bruno')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8456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chave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441316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containsKey('Ana')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8456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Verificar valor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441316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containsValue(25)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98149" y="1786533"/>
            <a:ext cx="5238421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Iteração e Acesso Coletivo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298149" y="2191147"/>
            <a:ext cx="5238421" cy="2108795"/>
          </a:xfrm>
          <a:prstGeom prst="roundRect">
            <a:avLst>
              <a:gd name="adj" fmla="val 3200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98149" y="2614811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98149" y="3035300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6298149" y="3455789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298149" y="3876278"/>
            <a:ext cx="5238421" cy="10042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465130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Método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077991" y="2285702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kern="0" spc="-2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Finalidade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65130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keys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077991" y="2706191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todas as chaves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465130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077991" y="312668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Retorna todos os valores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65130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length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077991" y="3547170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Número de pares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465130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forEach((k,v) =&gt; ...)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9077991" y="3967659"/>
            <a:ext cx="290118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Percorre todos os pares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298149" y="4453533"/>
            <a:ext cx="5238421" cy="1606153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</p:sp>
      <p:sp>
        <p:nvSpPr>
          <p:cNvPr id="38" name="Text 36"/>
          <p:cNvSpPr/>
          <p:nvPr/>
        </p:nvSpPr>
        <p:spPr>
          <a:xfrm>
            <a:off x="6490927" y="4614168"/>
            <a:ext cx="4852866" cy="1284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idades.forEach(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(k, v) =&gt; print('$k: $v')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Ana: 25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kern="0" spc="-25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Carla: 22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Agrupar 48">
            <a:extLst>
              <a:ext uri="{FF2B5EF4-FFF2-40B4-BE49-F238E27FC236}">
                <a16:creationId xmlns:a16="http://schemas.microsoft.com/office/drawing/2014/main" id="{50E30205-547B-42E6-AB14-4BFBDA6640D6}"/>
              </a:ext>
            </a:extLst>
          </p:cNvPr>
          <p:cNvGrpSpPr/>
          <p:nvPr/>
        </p:nvGrpSpPr>
        <p:grpSpPr>
          <a:xfrm>
            <a:off x="847605" y="716012"/>
            <a:ext cx="1698384" cy="272752"/>
            <a:chOff x="661475" y="690959"/>
            <a:chExt cx="1698384" cy="272752"/>
          </a:xfrm>
        </p:grpSpPr>
        <p:sp>
          <p:nvSpPr>
            <p:cNvPr id="2" name="Shape 0"/>
            <p:cNvSpPr/>
            <p:nvPr/>
          </p:nvSpPr>
          <p:spPr>
            <a:xfrm>
              <a:off x="661475" y="690959"/>
              <a:ext cx="1196449" cy="272752"/>
            </a:xfrm>
            <a:prstGeom prst="roundRect">
              <a:avLst>
                <a:gd name="adj" fmla="val 22121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69125" y="744736"/>
              <a:ext cx="1590734" cy="16519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1100" kern="0" spc="-28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COMPARAÇÃO</a:t>
              </a:r>
              <a:endParaRPr lang="en-US" sz="110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47605" y="1075839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 × Set × Map: Quando Usar Cada Um?</a:t>
            </a:r>
            <a:endParaRPr lang="en-US" sz="3500" dirty="0"/>
          </a:p>
        </p:txBody>
      </p:sp>
      <p:sp>
        <p:nvSpPr>
          <p:cNvPr id="5" name="Shape 3"/>
          <p:cNvSpPr/>
          <p:nvPr/>
        </p:nvSpPr>
        <p:spPr>
          <a:xfrm>
            <a:off x="661475" y="1950543"/>
            <a:ext cx="10868745" cy="3091557"/>
          </a:xfrm>
          <a:prstGeom prst="roundRect">
            <a:avLst>
              <a:gd name="adj" fmla="val 2439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1475" y="2457452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1475" y="2961186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661475" y="3745014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61475" y="4255097"/>
            <a:ext cx="10868745" cy="11223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3056357" y="1950543"/>
            <a:ext cx="11223" cy="309155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878862" y="1950543"/>
            <a:ext cx="11223" cy="309155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8701366" y="1950543"/>
            <a:ext cx="11223" cy="3091557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68122" y="1956893"/>
            <a:ext cx="2388235" cy="500559"/>
          </a:xfrm>
          <a:custGeom>
            <a:avLst/>
            <a:gdLst/>
            <a:ahLst/>
            <a:cxnLst/>
            <a:rect l="l" t="t" r="r" b="b"/>
            <a:pathLst>
              <a:path w="2388235" h="500559">
                <a:moveTo>
                  <a:pt x="62849" y="0"/>
                </a:moveTo>
                <a:lnTo>
                  <a:pt x="2388235" y="0"/>
                </a:lnTo>
                <a:lnTo>
                  <a:pt x="2388235" y="500559"/>
                </a:lnTo>
                <a:lnTo>
                  <a:pt x="0" y="500559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4A6CF7"/>
          </a:solidFill>
          <a:ln/>
        </p:spPr>
      </p:sp>
      <p:sp>
        <p:nvSpPr>
          <p:cNvPr id="14" name="Text 12"/>
          <p:cNvSpPr/>
          <p:nvPr/>
        </p:nvSpPr>
        <p:spPr>
          <a:xfrm>
            <a:off x="847605" y="2065538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Critério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056357" y="1956893"/>
            <a:ext cx="2822504" cy="500559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6" name="Text 14"/>
          <p:cNvSpPr/>
          <p:nvPr/>
        </p:nvSpPr>
        <p:spPr>
          <a:xfrm>
            <a:off x="3239014" y="2065538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878862" y="1956893"/>
            <a:ext cx="2822504" cy="500559"/>
          </a:xfrm>
          <a:prstGeom prst="rect">
            <a:avLst/>
          </a:prstGeom>
          <a:solidFill>
            <a:srgbClr val="4A6CF7"/>
          </a:solidFill>
          <a:ln/>
        </p:spPr>
      </p:sp>
      <p:sp>
        <p:nvSpPr>
          <p:cNvPr id="18" name="Text 16"/>
          <p:cNvSpPr/>
          <p:nvPr/>
        </p:nvSpPr>
        <p:spPr>
          <a:xfrm>
            <a:off x="6061519" y="2065538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701366" y="1956893"/>
            <a:ext cx="2822504" cy="500559"/>
          </a:xfrm>
          <a:custGeom>
            <a:avLst/>
            <a:gdLst/>
            <a:ahLst/>
            <a:cxnLst/>
            <a:rect l="l" t="t" r="r" b="b"/>
            <a:pathLst>
              <a:path w="2822504" h="500559">
                <a:moveTo>
                  <a:pt x="0" y="0"/>
                </a:moveTo>
                <a:lnTo>
                  <a:pt x="2759656" y="0"/>
                </a:lnTo>
                <a:arcTo wR="62849" hR="62850" stAng="16200000" swAng="5400000"/>
                <a:lnTo>
                  <a:pt x="2822504" y="500559"/>
                </a:lnTo>
                <a:lnTo>
                  <a:pt x="0" y="500559"/>
                </a:lnTo>
                <a:lnTo>
                  <a:pt x="0" y="0"/>
                </a:lnTo>
                <a:close/>
              </a:path>
            </a:pathLst>
          </a:custGeom>
          <a:solidFill>
            <a:srgbClr val="4A6CF7"/>
          </a:solidFill>
          <a:ln/>
        </p:spPr>
      </p:sp>
      <p:sp>
        <p:nvSpPr>
          <p:cNvPr id="20" name="Text 18"/>
          <p:cNvSpPr/>
          <p:nvPr/>
        </p:nvSpPr>
        <p:spPr>
          <a:xfrm>
            <a:off x="8884023" y="2065538"/>
            <a:ext cx="306995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7605" y="2569272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39014" y="2569272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Ordenada (por inserção)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061519" y="2569272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 ordem garantida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84023" y="2569272"/>
            <a:ext cx="306995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chave (sem ordem)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7605" y="3073005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Duplicidade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39014" y="3073005"/>
            <a:ext cx="3066775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Permite duplicados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61519" y="3073005"/>
            <a:ext cx="3066775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❌</a:t>
            </a: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Rejeita duplicados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84023" y="3073005"/>
            <a:ext cx="246036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Chaves únicas; valores podem repetir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7605" y="3856833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 de acesso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39014" y="3856833"/>
            <a:ext cx="3066775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Índice numérico </a:t>
            </a:r>
            <a:r>
              <a:rPr lang="en-US" sz="140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061519" y="3856833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Não há acesso por posição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884023" y="3856833"/>
            <a:ext cx="3069950" cy="286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associada </a:t>
            </a:r>
            <a:r>
              <a:rPr lang="en-US" sz="1400" kern="0" spc="-28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['Ana']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7605" y="4366917"/>
            <a:ext cx="263568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b="1" kern="0" spc="-28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Situação típica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239014" y="4366917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Histórico, filas, ranking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61519" y="4366917"/>
            <a:ext cx="306677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Tags, permissões, IDs únicos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884023" y="4366917"/>
            <a:ext cx="2460365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Cadastros, dicionários, configurações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661475" y="5233990"/>
            <a:ext cx="10868745" cy="1034554"/>
          </a:xfrm>
          <a:prstGeom prst="roundRect">
            <a:avLst>
              <a:gd name="adj" fmla="val 7290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67825" y="5240340"/>
            <a:ext cx="3618616" cy="1021854"/>
          </a:xfrm>
          <a:custGeom>
            <a:avLst/>
            <a:gdLst/>
            <a:ahLst/>
            <a:cxnLst/>
            <a:rect l="l" t="t" r="r" b="b"/>
            <a:pathLst>
              <a:path w="3618616" h="1021854">
                <a:moveTo>
                  <a:pt x="62849" y="0"/>
                </a:moveTo>
                <a:lnTo>
                  <a:pt x="3618616" y="0"/>
                </a:lnTo>
                <a:lnTo>
                  <a:pt x="3618616" y="1021854"/>
                </a:lnTo>
                <a:lnTo>
                  <a:pt x="62849" y="1021854"/>
                </a:lnTo>
                <a:arcTo wR="62849" hR="62850" stAng="5400000" swAng="5400000"/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39" name="Text 37"/>
          <p:cNvSpPr/>
          <p:nvPr/>
        </p:nvSpPr>
        <p:spPr>
          <a:xfrm>
            <a:off x="847307" y="5419826"/>
            <a:ext cx="3259651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endParaRPr lang="en-US" sz="1750" dirty="0"/>
          </a:p>
        </p:txBody>
      </p:sp>
      <p:sp>
        <p:nvSpPr>
          <p:cNvPr id="40" name="Text 38"/>
          <p:cNvSpPr/>
          <p:nvPr/>
        </p:nvSpPr>
        <p:spPr>
          <a:xfrm>
            <a:off x="847307" y="5802612"/>
            <a:ext cx="3259651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Sequência ordenada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286440" y="5240340"/>
            <a:ext cx="3618715" cy="1021854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42" name="Shape 40"/>
          <p:cNvSpPr/>
          <p:nvPr/>
        </p:nvSpPr>
        <p:spPr>
          <a:xfrm>
            <a:off x="4286440" y="5240340"/>
            <a:ext cx="25399" cy="1021854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43" name="Text 41"/>
          <p:cNvSpPr/>
          <p:nvPr/>
        </p:nvSpPr>
        <p:spPr>
          <a:xfrm>
            <a:off x="4465923" y="5419826"/>
            <a:ext cx="325975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</a:t>
            </a:r>
            <a:endParaRPr lang="en-US" sz="1750" dirty="0"/>
          </a:p>
        </p:txBody>
      </p:sp>
      <p:sp>
        <p:nvSpPr>
          <p:cNvPr id="44" name="Text 42"/>
          <p:cNvSpPr/>
          <p:nvPr/>
        </p:nvSpPr>
        <p:spPr>
          <a:xfrm>
            <a:off x="4465923" y="5802612"/>
            <a:ext cx="325975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únicos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905155" y="5240340"/>
            <a:ext cx="3618715" cy="1021854"/>
          </a:xfrm>
          <a:custGeom>
            <a:avLst/>
            <a:gdLst/>
            <a:ahLst/>
            <a:cxnLst/>
            <a:rect l="l" t="t" r="r" b="b"/>
            <a:pathLst>
              <a:path w="3618715" h="1021854">
                <a:moveTo>
                  <a:pt x="0" y="0"/>
                </a:moveTo>
                <a:lnTo>
                  <a:pt x="3555866" y="0"/>
                </a:lnTo>
                <a:arcTo wR="62849" hR="62850" stAng="16200000" swAng="5400000"/>
                <a:lnTo>
                  <a:pt x="3618715" y="959004"/>
                </a:lnTo>
                <a:arcTo wR="62849" hR="62850" stAng="0" swAng="5400000"/>
                <a:lnTo>
                  <a:pt x="0" y="1021854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46" name="Shape 44"/>
          <p:cNvSpPr/>
          <p:nvPr/>
        </p:nvSpPr>
        <p:spPr>
          <a:xfrm>
            <a:off x="7905155" y="5240340"/>
            <a:ext cx="25399" cy="1021854"/>
          </a:xfrm>
          <a:prstGeom prst="roundRect">
            <a:avLst>
              <a:gd name="adj" fmla="val 50001"/>
            </a:avLst>
          </a:prstGeom>
          <a:solidFill>
            <a:srgbClr val="C0C1D7"/>
          </a:solidFill>
          <a:ln/>
        </p:spPr>
      </p:sp>
      <p:sp>
        <p:nvSpPr>
          <p:cNvPr id="47" name="Text 45"/>
          <p:cNvSpPr/>
          <p:nvPr/>
        </p:nvSpPr>
        <p:spPr>
          <a:xfrm>
            <a:off x="8084638" y="5419826"/>
            <a:ext cx="325975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kern="0" spc="-5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</a:t>
            </a:r>
            <a:endParaRPr lang="en-US" sz="1750" dirty="0"/>
          </a:p>
        </p:txBody>
      </p:sp>
      <p:sp>
        <p:nvSpPr>
          <p:cNvPr id="48" name="Text 46"/>
          <p:cNvSpPr/>
          <p:nvPr/>
        </p:nvSpPr>
        <p:spPr>
          <a:xfrm>
            <a:off x="8084638" y="5802612"/>
            <a:ext cx="3259750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Chave → Valor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Agrupar 29">
            <a:extLst>
              <a:ext uri="{FF2B5EF4-FFF2-40B4-BE49-F238E27FC236}">
                <a16:creationId xmlns:a16="http://schemas.microsoft.com/office/drawing/2014/main" id="{0F7C3092-A5CE-455B-8534-0020984AEDCD}"/>
              </a:ext>
            </a:extLst>
          </p:cNvPr>
          <p:cNvGrpSpPr/>
          <p:nvPr/>
        </p:nvGrpSpPr>
        <p:grpSpPr>
          <a:xfrm>
            <a:off x="822205" y="770235"/>
            <a:ext cx="1158548" cy="215305"/>
            <a:chOff x="661475" y="752971"/>
            <a:chExt cx="1158548" cy="215305"/>
          </a:xfrm>
        </p:grpSpPr>
        <p:sp>
          <p:nvSpPr>
            <p:cNvPr id="2" name="Shape 0"/>
            <p:cNvSpPr/>
            <p:nvPr/>
          </p:nvSpPr>
          <p:spPr>
            <a:xfrm>
              <a:off x="661475" y="752971"/>
              <a:ext cx="633992" cy="215305"/>
            </a:xfrm>
            <a:prstGeom prst="roundRect">
              <a:avLst>
                <a:gd name="adj" fmla="val 22123"/>
              </a:avLst>
            </a:prstGeom>
            <a:solidFill>
              <a:srgbClr val="DADBF1"/>
            </a:solidFill>
            <a:ln/>
          </p:spPr>
        </p:sp>
        <p:sp>
          <p:nvSpPr>
            <p:cNvPr id="3" name="Text 1"/>
            <p:cNvSpPr/>
            <p:nvPr/>
          </p:nvSpPr>
          <p:spPr>
            <a:xfrm>
              <a:off x="746503" y="795437"/>
              <a:ext cx="1073520" cy="130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96000"/>
                </a:lnSpc>
                <a:buNone/>
              </a:pPr>
              <a:r>
                <a:rPr lang="en-US" sz="85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REVISÃO</a:t>
              </a:r>
              <a:endParaRPr lang="en-US" sz="850" dirty="0"/>
            </a:p>
          </p:txBody>
        </p:sp>
      </p:grpSp>
      <p:sp>
        <p:nvSpPr>
          <p:cNvPr id="4" name="Text 2"/>
          <p:cNvSpPr/>
          <p:nvPr/>
        </p:nvSpPr>
        <p:spPr>
          <a:xfrm>
            <a:off x="822205" y="1051471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Consolidando o Conhecimento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719461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Resumo das Três Estruturas</a:t>
            </a:r>
            <a:endParaRPr lang="en-US" sz="13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60476"/>
            <a:ext cx="5261439" cy="1237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185834" y="215602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22205" y="2611041"/>
            <a:ext cx="49399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205" y="2938760"/>
            <a:ext cx="49399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Ordenada, indexada e aceita duplicados. Use quando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sequência importa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404195"/>
            <a:ext cx="5261439" cy="12374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85834" y="349974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822205" y="3954760"/>
            <a:ext cx="49399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822205" y="4282480"/>
            <a:ext cx="49399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Valores únicos, sem índice. Use quando a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unicidade é essencial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747915"/>
            <a:ext cx="5261439" cy="1237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185834" y="4843463"/>
            <a:ext cx="212620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b="1" kern="0" spc="-5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1"/>
          <p:cNvSpPr/>
          <p:nvPr/>
        </p:nvSpPr>
        <p:spPr>
          <a:xfrm>
            <a:off x="822205" y="5298480"/>
            <a:ext cx="493997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Map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822205" y="5626199"/>
            <a:ext cx="493997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Pares chave-valor, chaves únicas. Use quando o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acesso é por identificador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6275131" y="1719461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Perguntas para Reflexão</a:t>
            </a:r>
            <a:endParaRPr lang="en-US" sz="13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8212" y="2067520"/>
            <a:ext cx="212620" cy="21262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35693" y="2060476"/>
            <a:ext cx="21036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 permite elementos duplicados?</a:t>
            </a:r>
            <a:endParaRPr lang="en-US" sz="1100" dirty="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5307" y="2067520"/>
            <a:ext cx="212620" cy="212626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432788" y="2060476"/>
            <a:ext cx="2103782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usar Set em vez de List?</a:t>
            </a:r>
            <a:endParaRPr lang="en-US" sz="11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8212" y="2712442"/>
            <a:ext cx="212620" cy="21262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735693" y="2705398"/>
            <a:ext cx="2103683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que representa uma chave em um Map?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25307" y="2712442"/>
            <a:ext cx="212620" cy="21262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432788" y="2705398"/>
            <a:ext cx="2103782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 estrutura escolher para cada situação?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6275131" y="3257252"/>
            <a:ext cx="5261439" cy="659011"/>
          </a:xfrm>
          <a:prstGeom prst="roundRect">
            <a:avLst>
              <a:gd name="adj" fmla="val 9035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16812" y="3427313"/>
            <a:ext cx="177200" cy="14168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35693" y="3388320"/>
            <a:ext cx="4659196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escolha da coleção depende da forma como os dados precisam ser </a:t>
            </a:r>
            <a:r>
              <a:rPr lang="en-US" sz="1100" b="1" kern="0" spc="-2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organizados e acessados</a:t>
            </a: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06CECA-7C9E-47A6-AFC6-EDEB7AAFA403}"/>
              </a:ext>
            </a:extLst>
          </p:cNvPr>
          <p:cNvSpPr/>
          <p:nvPr/>
        </p:nvSpPr>
        <p:spPr>
          <a:xfrm>
            <a:off x="788670" y="829469"/>
            <a:ext cx="1175117" cy="183654"/>
          </a:xfrm>
          <a:prstGeom prst="roundRect">
            <a:avLst>
              <a:gd name="adj" fmla="val 22127"/>
            </a:avLst>
          </a:prstGeom>
          <a:solidFill>
            <a:srgbClr val="DADBF1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63A71A-59E3-49AF-A17D-3A0828B4DA1F}"/>
              </a:ext>
            </a:extLst>
          </p:cNvPr>
          <p:cNvSpPr/>
          <p:nvPr/>
        </p:nvSpPr>
        <p:spPr>
          <a:xfrm>
            <a:off x="861197" y="865683"/>
            <a:ext cx="1639648" cy="11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 AVANÇADO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AB6F0DE-3547-44B7-8111-73E99F687EC8}"/>
              </a:ext>
            </a:extLst>
          </p:cNvPr>
          <p:cNvSpPr/>
          <p:nvPr/>
        </p:nvSpPr>
        <p:spPr>
          <a:xfrm>
            <a:off x="788670" y="1043979"/>
            <a:ext cx="10868745" cy="377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0" spc="-7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Mutabilidade — O que Pode Mudar Depois de Criado?</a:t>
            </a:r>
            <a:endParaRPr lang="en-US" sz="23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E31409-2FB3-43BE-8316-CB53C0A53BDD}"/>
              </a:ext>
            </a:extLst>
          </p:cNvPr>
          <p:cNvSpPr/>
          <p:nvPr/>
        </p:nvSpPr>
        <p:spPr>
          <a:xfrm>
            <a:off x="788670" y="1537791"/>
            <a:ext cx="10868745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Mutabilidade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a capacidade de alterar o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conteúdo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uma coleção após sua criação — adicionar, remover ou modificar elementos. Esse conceito é frequentemente confundido com a imutabilidade da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variável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aponta para a coleção. A distinção entre os dois é uma das fontes mais comuns de confusão em Dart (e em muitas outras linguagens).</a:t>
            </a:r>
            <a:endParaRPr lang="en-US" sz="9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162F307-92D9-4670-9EB5-B76B5A375F1C}"/>
              </a:ext>
            </a:extLst>
          </p:cNvPr>
          <p:cNvSpPr/>
          <p:nvPr/>
        </p:nvSpPr>
        <p:spPr>
          <a:xfrm>
            <a:off x="788670" y="1971079"/>
            <a:ext cx="1086874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Retomando: var, final e const em coleções</a:t>
            </a:r>
            <a:endParaRPr lang="en-US" sz="11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C9E81D0-7F9E-41CF-8ABD-13F4E3D9F0A3}"/>
              </a:ext>
            </a:extLst>
          </p:cNvPr>
          <p:cNvSpPr/>
          <p:nvPr/>
        </p:nvSpPr>
        <p:spPr>
          <a:xfrm>
            <a:off x="788670" y="2276078"/>
            <a:ext cx="10868745" cy="1874838"/>
          </a:xfrm>
          <a:prstGeom prst="roundRect">
            <a:avLst>
              <a:gd name="adj" fmla="val 270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01D9D44-26C4-47FB-88C2-F2C8A4BBA831}"/>
              </a:ext>
            </a:extLst>
          </p:cNvPr>
          <p:cNvSpPr/>
          <p:nvPr/>
        </p:nvSpPr>
        <p:spPr>
          <a:xfrm>
            <a:off x="795020" y="2282428"/>
            <a:ext cx="3618616" cy="1862138"/>
          </a:xfrm>
          <a:custGeom>
            <a:avLst/>
            <a:gdLst/>
            <a:ahLst/>
            <a:cxnLst/>
            <a:rect l="l" t="t" r="r" b="b"/>
            <a:pathLst>
              <a:path w="3618616" h="1862138">
                <a:moveTo>
                  <a:pt x="42330" y="0"/>
                </a:moveTo>
                <a:lnTo>
                  <a:pt x="3618616" y="0"/>
                </a:lnTo>
                <a:lnTo>
                  <a:pt x="3618616" y="1862138"/>
                </a:lnTo>
                <a:lnTo>
                  <a:pt x="42330" y="1862138"/>
                </a:lnTo>
                <a:arcTo wR="42330" hR="42331" stAng="5400000" swAng="5400000"/>
                <a:lnTo>
                  <a:pt x="0" y="42331"/>
                </a:lnTo>
                <a:arcTo wR="42330" hR="42331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33FA23A-F386-4C9B-A106-6F19AE7B6052}"/>
              </a:ext>
            </a:extLst>
          </p:cNvPr>
          <p:cNvSpPr/>
          <p:nvPr/>
        </p:nvSpPr>
        <p:spPr>
          <a:xfrm>
            <a:off x="915865" y="2403276"/>
            <a:ext cx="337692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</a:t>
            </a:r>
            <a:endParaRPr lang="en-US" sz="11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2226D60-606E-4D77-9A0D-218FC6F1265D}"/>
              </a:ext>
            </a:extLst>
          </p:cNvPr>
          <p:cNvSpPr/>
          <p:nvPr/>
        </p:nvSpPr>
        <p:spPr>
          <a:xfrm>
            <a:off x="915865" y="2638623"/>
            <a:ext cx="3376925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variável pode ser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reatribuída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outra coleção. O conteúdo da coleção pode ser alterado livremente. Máxima flexibilidade.</a:t>
            </a:r>
            <a:endParaRPr lang="en-US" sz="9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796BFE0-25A6-4E2C-8902-35666BB72187}"/>
              </a:ext>
            </a:extLst>
          </p:cNvPr>
          <p:cNvSpPr/>
          <p:nvPr/>
        </p:nvSpPr>
        <p:spPr>
          <a:xfrm>
            <a:off x="915865" y="3201590"/>
            <a:ext cx="3376925" cy="822127"/>
          </a:xfrm>
          <a:prstGeom prst="roundRect">
            <a:avLst>
              <a:gd name="adj" fmla="val 6179"/>
            </a:avLst>
          </a:prstGeom>
          <a:solidFill>
            <a:srgbClr val="F2F2F2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0A4674C-4415-4E33-BABB-8A071AC228FE}"/>
              </a:ext>
            </a:extLst>
          </p:cNvPr>
          <p:cNvSpPr/>
          <p:nvPr/>
        </p:nvSpPr>
        <p:spPr>
          <a:xfrm>
            <a:off x="1060919" y="3322439"/>
            <a:ext cx="3086817" cy="580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nomes = ['Ana'];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nomes.add('João'); // OK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nomes = ['Carlos']; // OK</a:t>
            </a:r>
            <a:endParaRPr lang="en-US" sz="95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BA10ED-5743-4236-A740-4ED766DA5D04}"/>
              </a:ext>
            </a:extLst>
          </p:cNvPr>
          <p:cNvSpPr/>
          <p:nvPr/>
        </p:nvSpPr>
        <p:spPr>
          <a:xfrm>
            <a:off x="4413635" y="2282428"/>
            <a:ext cx="3618715" cy="1862138"/>
          </a:xfrm>
          <a:prstGeom prst="rect">
            <a:avLst/>
          </a:prstGeom>
          <a:solidFill>
            <a:srgbClr val="DADBF1"/>
          </a:solidFill>
          <a:ln/>
        </p:spPr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297A8BF9-7409-4CC0-8791-9238FC20327D}"/>
              </a:ext>
            </a:extLst>
          </p:cNvPr>
          <p:cNvSpPr/>
          <p:nvPr/>
        </p:nvSpPr>
        <p:spPr>
          <a:xfrm>
            <a:off x="4413635" y="2282428"/>
            <a:ext cx="12700" cy="1862138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DA8070F5-042E-4425-8801-2A41AF57A531}"/>
              </a:ext>
            </a:extLst>
          </p:cNvPr>
          <p:cNvSpPr/>
          <p:nvPr/>
        </p:nvSpPr>
        <p:spPr>
          <a:xfrm>
            <a:off x="4534481" y="2403276"/>
            <a:ext cx="337702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final</a:t>
            </a:r>
            <a:endParaRPr lang="en-US" sz="11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39F5FD3-33BE-490E-82CA-4967AC51A259}"/>
              </a:ext>
            </a:extLst>
          </p:cNvPr>
          <p:cNvSpPr/>
          <p:nvPr/>
        </p:nvSpPr>
        <p:spPr>
          <a:xfrm>
            <a:off x="4534481" y="2638623"/>
            <a:ext cx="3377024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variável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não pode ser reatribuída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ela sempre apontará para a mesma coleção. Mas o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conteúdo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coleção ainda pode ser alterado!</a:t>
            </a:r>
            <a:endParaRPr lang="en-US" sz="95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9F6C1951-B2B5-4CE7-ADFC-ABAF1898C2CA}"/>
              </a:ext>
            </a:extLst>
          </p:cNvPr>
          <p:cNvSpPr/>
          <p:nvPr/>
        </p:nvSpPr>
        <p:spPr>
          <a:xfrm>
            <a:off x="8032350" y="2282428"/>
            <a:ext cx="3618715" cy="1862138"/>
          </a:xfrm>
          <a:custGeom>
            <a:avLst/>
            <a:gdLst/>
            <a:ahLst/>
            <a:cxnLst/>
            <a:rect l="l" t="t" r="r" b="b"/>
            <a:pathLst>
              <a:path w="3618715" h="1862138">
                <a:moveTo>
                  <a:pt x="0" y="0"/>
                </a:moveTo>
                <a:lnTo>
                  <a:pt x="3576385" y="0"/>
                </a:lnTo>
                <a:arcTo wR="42330" hR="42331" stAng="16200000" swAng="5400000"/>
                <a:lnTo>
                  <a:pt x="3618715" y="1819807"/>
                </a:lnTo>
                <a:arcTo wR="42330" hR="42331" stAng="0" swAng="5400000"/>
                <a:lnTo>
                  <a:pt x="0" y="1862138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F6015B8-3CA6-47A3-8415-DCA0A3B1F2C0}"/>
              </a:ext>
            </a:extLst>
          </p:cNvPr>
          <p:cNvSpPr/>
          <p:nvPr/>
        </p:nvSpPr>
        <p:spPr>
          <a:xfrm>
            <a:off x="8032350" y="2282428"/>
            <a:ext cx="12700" cy="1862138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6357C876-A24F-45C7-ACBC-7B3B032C7F97}"/>
              </a:ext>
            </a:extLst>
          </p:cNvPr>
          <p:cNvSpPr/>
          <p:nvPr/>
        </p:nvSpPr>
        <p:spPr>
          <a:xfrm>
            <a:off x="8153196" y="2403276"/>
            <a:ext cx="3377024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const</a:t>
            </a:r>
            <a:endParaRPr lang="en-US" sz="11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ECD7F706-CFF9-437B-8A91-88622CB937BC}"/>
              </a:ext>
            </a:extLst>
          </p:cNvPr>
          <p:cNvSpPr/>
          <p:nvPr/>
        </p:nvSpPr>
        <p:spPr>
          <a:xfrm>
            <a:off x="8153196" y="2638623"/>
            <a:ext cx="3377024" cy="475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coleção é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completamente imutável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 tempo de compilação: nem a variável pode ser reatribuída, nem o conteúdo pode ser modificado em tempo de execução.</a:t>
            </a:r>
            <a:endParaRPr lang="en-US" sz="95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89BED1D1-20C3-450A-97EA-3CBCFC81D050}"/>
              </a:ext>
            </a:extLst>
          </p:cNvPr>
          <p:cNvSpPr/>
          <p:nvPr/>
        </p:nvSpPr>
        <p:spPr>
          <a:xfrm>
            <a:off x="788670" y="4315222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armadilha do final</a:t>
            </a:r>
            <a:endParaRPr lang="en-US" sz="115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5575C45-C375-442A-A8BA-DEF1BB713E2A}"/>
              </a:ext>
            </a:extLst>
          </p:cNvPr>
          <p:cNvSpPr/>
          <p:nvPr/>
        </p:nvSpPr>
        <p:spPr>
          <a:xfrm>
            <a:off x="788670" y="4581525"/>
            <a:ext cx="5286838" cy="33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confusão mais frequente: um estudante usa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esperando que os elementos da lista não possam mudar. Mas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restringe a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variável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não a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 em si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Considere esta analogia:</a:t>
            </a:r>
            <a:endParaRPr lang="en-US" sz="9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66B9F636-9C1B-4830-B7F3-66AAA873E303}"/>
              </a:ext>
            </a:extLst>
          </p:cNvPr>
          <p:cNvSpPr/>
          <p:nvPr/>
        </p:nvSpPr>
        <p:spPr>
          <a:xfrm>
            <a:off x="970037" y="5068094"/>
            <a:ext cx="5105471" cy="32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📦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como lacrar a </a:t>
            </a:r>
            <a:r>
              <a:rPr lang="en-US" sz="950" i="1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caixa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(você não pode trocar a caixa), mas os itens </a:t>
            </a:r>
            <a:r>
              <a:rPr lang="en-US" sz="950" i="1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dentro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 caixa continuam podendo ser trocados.</a:t>
            </a:r>
            <a:endParaRPr lang="en-US" sz="95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7E858B-8CD1-420E-9FED-A2697B699779}"/>
              </a:ext>
            </a:extLst>
          </p:cNvPr>
          <p:cNvSpPr/>
          <p:nvPr/>
        </p:nvSpPr>
        <p:spPr>
          <a:xfrm>
            <a:off x="788670" y="4998541"/>
            <a:ext cx="12700" cy="462756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9531BAB-563E-41C6-B942-46EAA22AD982}"/>
              </a:ext>
            </a:extLst>
          </p:cNvPr>
          <p:cNvSpPr/>
          <p:nvPr/>
        </p:nvSpPr>
        <p:spPr>
          <a:xfrm>
            <a:off x="788670" y="5548312"/>
            <a:ext cx="5286838" cy="32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tornar a coleção efetivamente imutável, use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envolva-a com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List.unmodifiable()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lança uma exceção em tempo de execução caso haja tentativa de modificação.</a:t>
            </a:r>
            <a:endParaRPr lang="en-US" sz="95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27604B4-FA6F-42ED-84EE-AAE6F2BDC591}"/>
              </a:ext>
            </a:extLst>
          </p:cNvPr>
          <p:cNvSpPr/>
          <p:nvPr/>
        </p:nvSpPr>
        <p:spPr>
          <a:xfrm>
            <a:off x="6376927" y="4315222"/>
            <a:ext cx="5286838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Mutabilidade como decisão de design</a:t>
            </a:r>
            <a:endParaRPr lang="en-US" sz="115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6EE1463C-81DC-4381-80FC-2727189BB2BD}"/>
              </a:ext>
            </a:extLst>
          </p:cNvPr>
          <p:cNvSpPr/>
          <p:nvPr/>
        </p:nvSpPr>
        <p:spPr>
          <a:xfrm>
            <a:off x="6376927" y="4581525"/>
            <a:ext cx="589642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escolha entre coleção mutável e imutável deve refletir a intenção do programa:</a:t>
            </a:r>
            <a:endParaRPr lang="en-US" sz="95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666A8BCE-8393-4D99-9FF9-092C07640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76927" y="4827190"/>
            <a:ext cx="2604725" cy="1180703"/>
          </a:xfrm>
          <a:prstGeom prst="rect">
            <a:avLst/>
          </a:prstGeom>
        </p:spPr>
      </p:pic>
      <p:sp>
        <p:nvSpPr>
          <p:cNvPr id="29" name="Text 26">
            <a:extLst>
              <a:ext uri="{FF2B5EF4-FFF2-40B4-BE49-F238E27FC236}">
                <a16:creationId xmlns:a16="http://schemas.microsoft.com/office/drawing/2014/main" id="{FDA47B6A-52B5-4354-80A4-E5FC4D0B5CEA}"/>
              </a:ext>
            </a:extLst>
          </p:cNvPr>
          <p:cNvSpPr/>
          <p:nvPr/>
        </p:nvSpPr>
        <p:spPr>
          <a:xfrm>
            <a:off x="6561271" y="4960739"/>
            <a:ext cx="2286836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 mutável</a:t>
            </a:r>
            <a:endParaRPr lang="en-US" sz="115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1FD057D9-0BFE-4D33-AECA-F75C56E9B01A}"/>
              </a:ext>
            </a:extLst>
          </p:cNvPr>
          <p:cNvSpPr/>
          <p:nvPr/>
        </p:nvSpPr>
        <p:spPr>
          <a:xfrm>
            <a:off x="6561271" y="5227042"/>
            <a:ext cx="2286836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Carrinho de compras, lista de tarefas, histórico de mensagens — cresce e muda durante a execução. Use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final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pic>
        <p:nvPicPr>
          <p:cNvPr id="31" name="Image 1" descr="preencoded.png">
            <a:extLst>
              <a:ext uri="{FF2B5EF4-FFF2-40B4-BE49-F238E27FC236}">
                <a16:creationId xmlns:a16="http://schemas.microsoft.com/office/drawing/2014/main" id="{B2C0C558-FFE0-4ECB-B785-532A1BD4B0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58941" y="4827190"/>
            <a:ext cx="2604824" cy="1180703"/>
          </a:xfrm>
          <a:prstGeom prst="rect">
            <a:avLst/>
          </a:prstGeom>
        </p:spPr>
      </p:pic>
      <p:sp>
        <p:nvSpPr>
          <p:cNvPr id="32" name="Text 28">
            <a:extLst>
              <a:ext uri="{FF2B5EF4-FFF2-40B4-BE49-F238E27FC236}">
                <a16:creationId xmlns:a16="http://schemas.microsoft.com/office/drawing/2014/main" id="{AEAF6F41-94C5-4C07-8F28-B621B5DFDE91}"/>
              </a:ext>
            </a:extLst>
          </p:cNvPr>
          <p:cNvSpPr/>
          <p:nvPr/>
        </p:nvSpPr>
        <p:spPr>
          <a:xfrm>
            <a:off x="9243285" y="4960739"/>
            <a:ext cx="2286935" cy="189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Coleção imutável</a:t>
            </a:r>
            <a:endParaRPr lang="en-US" sz="115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E759E341-04E4-4C3A-96C9-E9AC142298DB}"/>
              </a:ext>
            </a:extLst>
          </p:cNvPr>
          <p:cNvSpPr/>
          <p:nvPr/>
        </p:nvSpPr>
        <p:spPr>
          <a:xfrm>
            <a:off x="9243285" y="5227042"/>
            <a:ext cx="2286935" cy="647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de estados brasileiros, dias da semana, constantes de configuração — não muda após definida. Use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unmodifiable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95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05333D17-4BF1-43D0-B475-067F670734F0}"/>
              </a:ext>
            </a:extLst>
          </p:cNvPr>
          <p:cNvSpPr/>
          <p:nvPr/>
        </p:nvSpPr>
        <p:spPr>
          <a:xfrm>
            <a:off x="6558294" y="6164461"/>
            <a:ext cx="5105471" cy="317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Reflexão: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"final significa que os elementos da List não podem mudar?" — Não. final impede reatribuição da variável, não alteração do conteúdo.</a:t>
            </a:r>
            <a:endParaRPr lang="en-US" sz="950" dirty="0"/>
          </a:p>
        </p:txBody>
      </p:sp>
      <p:sp>
        <p:nvSpPr>
          <p:cNvPr id="35" name="Shape 31">
            <a:extLst>
              <a:ext uri="{FF2B5EF4-FFF2-40B4-BE49-F238E27FC236}">
                <a16:creationId xmlns:a16="http://schemas.microsoft.com/office/drawing/2014/main" id="{0CE0ACBE-1A9D-43D8-9482-8A4898617DC3}"/>
              </a:ext>
            </a:extLst>
          </p:cNvPr>
          <p:cNvSpPr/>
          <p:nvPr/>
        </p:nvSpPr>
        <p:spPr>
          <a:xfrm>
            <a:off x="6376927" y="6094908"/>
            <a:ext cx="12700" cy="456406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  <p:extLst>
      <p:ext uri="{BB962C8B-B14F-4D97-AF65-F5344CB8AC3E}">
        <p14:creationId xmlns:p14="http://schemas.microsoft.com/office/powerpoint/2010/main" val="191914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AEA9B7-B7E7-466D-9630-1F42C8AA41F3}"/>
              </a:ext>
            </a:extLst>
          </p:cNvPr>
          <p:cNvSpPr/>
          <p:nvPr/>
        </p:nvSpPr>
        <p:spPr>
          <a:xfrm>
            <a:off x="821511" y="771491"/>
            <a:ext cx="1635382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4950BC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A1D3D6-ECA2-4BB3-8A62-552628F948BB}"/>
              </a:ext>
            </a:extLst>
          </p:cNvPr>
          <p:cNvSpPr/>
          <p:nvPr/>
        </p:nvSpPr>
        <p:spPr>
          <a:xfrm>
            <a:off x="895129" y="808301"/>
            <a:ext cx="209773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96000"/>
              </a:lnSpc>
              <a:buNone/>
            </a:pPr>
            <a:r>
              <a:rPr lang="en-US" sz="750" kern="0" spc="-19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CONCEITOS COMPLEMENTARES</a:t>
            </a:r>
            <a:endParaRPr lang="en-US" sz="7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AB7F0CD-09EE-4632-BA31-5F0B609C3A81}"/>
              </a:ext>
            </a:extLst>
          </p:cNvPr>
          <p:cNvSpPr/>
          <p:nvPr/>
        </p:nvSpPr>
        <p:spPr>
          <a:xfrm>
            <a:off x="821511" y="989970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Dinâmicos e Custo das Operações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030B75-3510-4310-B488-8E020DE50EBD}"/>
              </a:ext>
            </a:extLst>
          </p:cNvPr>
          <p:cNvSpPr/>
          <p:nvPr/>
        </p:nvSpPr>
        <p:spPr>
          <a:xfrm>
            <a:off x="821511" y="1573476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em coleções — revisitando a Aula 2</a:t>
            </a:r>
            <a:endParaRPr lang="en-US" sz="1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242F6E4-6687-4864-AD42-A6CBB354227A}"/>
              </a:ext>
            </a:extLst>
          </p:cNvPr>
          <p:cNvSpPr/>
          <p:nvPr/>
        </p:nvSpPr>
        <p:spPr>
          <a:xfrm>
            <a:off x="821511" y="1845236"/>
            <a:ext cx="5284556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Aula 2 estudamos a diferença entre tipagem forte e dinâmica em Dart. Esse conceito se aplica diretamente às coleções. Uma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List&lt;dynamic&gt;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aceita qualquer tipo de valor:</a:t>
            </a:r>
            <a:endParaRPr lang="en-US" sz="9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9F3F844-1758-4E3F-AD9D-4F4E18946807}"/>
              </a:ext>
            </a:extLst>
          </p:cNvPr>
          <p:cNvSpPr/>
          <p:nvPr/>
        </p:nvSpPr>
        <p:spPr>
          <a:xfrm>
            <a:off x="821511" y="2265626"/>
            <a:ext cx="5284556" cy="1227931"/>
          </a:xfrm>
          <a:prstGeom prst="roundRect">
            <a:avLst>
              <a:gd name="adj" fmla="val 4202"/>
            </a:avLst>
          </a:prstGeom>
          <a:solidFill>
            <a:srgbClr val="F2F2F2"/>
          </a:solidFill>
          <a:ln/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C13703D-09C1-4C8B-872C-6E798770CB0D}"/>
              </a:ext>
            </a:extLst>
          </p:cNvPr>
          <p:cNvSpPr/>
          <p:nvPr/>
        </p:nvSpPr>
        <p:spPr>
          <a:xfrm>
            <a:off x="968847" y="2388459"/>
            <a:ext cx="4989884" cy="98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List&lt;dynamic&gt; misturada = ['Ana', 25, true, 3.14];</a:t>
            </a:r>
            <a:endParaRPr lang="en-US" sz="950" dirty="0"/>
          </a:p>
          <a:p>
            <a:pPr marL="0" indent="0" algn="just">
              <a:lnSpc>
                <a:spcPct val="133000"/>
              </a:lnSpc>
              <a:buNone/>
            </a:pPr>
            <a:endParaRPr lang="en-US" sz="950" dirty="0"/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String, int, bool e double</a:t>
            </a:r>
            <a:endParaRPr lang="en-US" sz="950" dirty="0"/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coexistem na mesma lista</a:t>
            </a:r>
            <a:endParaRPr lang="en-US" sz="950" dirty="0"/>
          </a:p>
          <a:p>
            <a:pPr marL="0" indent="0" algn="just">
              <a:lnSpc>
                <a:spcPct val="133000"/>
              </a:lnSpc>
              <a:buNone/>
            </a:pPr>
            <a:r>
              <a:rPr lang="en-US" sz="950" kern="0" spc="-19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Isso é tecnicamente válido em Dart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7F862A7-3F51-42D1-9233-C91C4E1C4F1B}"/>
              </a:ext>
            </a:extLst>
          </p:cNvPr>
          <p:cNvSpPr/>
          <p:nvPr/>
        </p:nvSpPr>
        <p:spPr>
          <a:xfrm>
            <a:off x="821511" y="3583350"/>
            <a:ext cx="5284556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efetivamente desativa a verificação de tipo pelo compilador. Essa flexibilidade tem custo: erros que poderiam ser capturados em tempo de compilação só aparecem em tempo de execução, tornando o código mais frágil e difícil de manter.</a:t>
            </a:r>
            <a:endParaRPr lang="en-US" sz="95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17ECBD9A-F97B-4547-B64F-CB967EED28A8}"/>
              </a:ext>
            </a:extLst>
          </p:cNvPr>
          <p:cNvSpPr/>
          <p:nvPr/>
        </p:nvSpPr>
        <p:spPr>
          <a:xfrm>
            <a:off x="821511" y="4155842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Flexibilidade vs. Segurança</a:t>
            </a:r>
            <a:endParaRPr lang="en-US" sz="12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1661EFE-14B5-4686-964E-8750FFBD0617}"/>
              </a:ext>
            </a:extLst>
          </p:cNvPr>
          <p:cNvSpPr/>
          <p:nvPr/>
        </p:nvSpPr>
        <p:spPr>
          <a:xfrm>
            <a:off x="821511" y="4437624"/>
            <a:ext cx="5284556" cy="1347093"/>
          </a:xfrm>
          <a:prstGeom prst="roundRect">
            <a:avLst>
              <a:gd name="adj" fmla="val 3831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A860A2EC-5E7F-420E-987F-0D5692D6FBE1}"/>
              </a:ext>
            </a:extLst>
          </p:cNvPr>
          <p:cNvSpPr/>
          <p:nvPr/>
        </p:nvSpPr>
        <p:spPr>
          <a:xfrm>
            <a:off x="827861" y="4443974"/>
            <a:ext cx="2635879" cy="1334393"/>
          </a:xfrm>
          <a:custGeom>
            <a:avLst/>
            <a:gdLst/>
            <a:ahLst/>
            <a:cxnLst/>
            <a:rect l="l" t="t" r="r" b="b"/>
            <a:pathLst>
              <a:path w="2635879" h="1334393">
                <a:moveTo>
                  <a:pt x="43002" y="0"/>
                </a:moveTo>
                <a:lnTo>
                  <a:pt x="2635879" y="0"/>
                </a:lnTo>
                <a:lnTo>
                  <a:pt x="2635879" y="1334393"/>
                </a:lnTo>
                <a:lnTo>
                  <a:pt x="43002" y="1334393"/>
                </a:lnTo>
                <a:arcTo wR="43002" hR="43003" stAng="5400000" swAng="5400000"/>
                <a:lnTo>
                  <a:pt x="0" y="43003"/>
                </a:lnTo>
                <a:arcTo wR="43002" hR="43003" stAng="10800000" swAng="5400000"/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7E46811-9716-434B-B47C-ED4467D13F8D}"/>
              </a:ext>
            </a:extLst>
          </p:cNvPr>
          <p:cNvSpPr/>
          <p:nvPr/>
        </p:nvSpPr>
        <p:spPr>
          <a:xfrm>
            <a:off x="950690" y="4566806"/>
            <a:ext cx="2390219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List&lt;dynamic&gt;</a:t>
            </a:r>
            <a:endParaRPr lang="en-US" sz="12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06102D79-9587-4FB9-B93A-F89A2A1A4434}"/>
              </a:ext>
            </a:extLst>
          </p:cNvPr>
          <p:cNvSpPr/>
          <p:nvPr/>
        </p:nvSpPr>
        <p:spPr>
          <a:xfrm>
            <a:off x="950690" y="4838567"/>
            <a:ext cx="2390219" cy="816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Aceita tudo. Útil em interfaces genéricas ou dados externos. Mas operações sobre os elementos exigem verificações manuais de tipo (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 String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 int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). Erros só aparecem em execução.</a:t>
            </a:r>
            <a:endParaRPr lang="en-US" sz="950" dirty="0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7E6089-60B8-4B19-883F-A811C2F7C66C}"/>
              </a:ext>
            </a:extLst>
          </p:cNvPr>
          <p:cNvSpPr/>
          <p:nvPr/>
        </p:nvSpPr>
        <p:spPr>
          <a:xfrm>
            <a:off x="3463739" y="4443974"/>
            <a:ext cx="2635978" cy="1334393"/>
          </a:xfrm>
          <a:custGeom>
            <a:avLst/>
            <a:gdLst/>
            <a:ahLst/>
            <a:cxnLst/>
            <a:rect l="l" t="t" r="r" b="b"/>
            <a:pathLst>
              <a:path w="2635978" h="1334393">
                <a:moveTo>
                  <a:pt x="0" y="0"/>
                </a:moveTo>
                <a:lnTo>
                  <a:pt x="2592976" y="0"/>
                </a:lnTo>
                <a:arcTo wR="43002" hR="43003" stAng="16200000" swAng="5400000"/>
                <a:lnTo>
                  <a:pt x="2635978" y="1291390"/>
                </a:lnTo>
                <a:arcTo wR="43002" hR="43003" stAng="0" swAng="5400000"/>
                <a:lnTo>
                  <a:pt x="0" y="1334393"/>
                </a:lnTo>
                <a:lnTo>
                  <a:pt x="0" y="0"/>
                </a:lnTo>
                <a:close/>
              </a:path>
            </a:pathLst>
          </a:custGeom>
          <a:solidFill>
            <a:srgbClr val="DADBF1"/>
          </a:solidFill>
          <a:ln/>
        </p:spPr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67EB9A4-6762-4E17-9220-61D1D75ACF21}"/>
              </a:ext>
            </a:extLst>
          </p:cNvPr>
          <p:cNvSpPr/>
          <p:nvPr/>
        </p:nvSpPr>
        <p:spPr>
          <a:xfrm>
            <a:off x="3463739" y="4443974"/>
            <a:ext cx="12700" cy="1334393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4D40AEA-8399-41A0-ADEB-534246EB9C97}"/>
              </a:ext>
            </a:extLst>
          </p:cNvPr>
          <p:cNvSpPr/>
          <p:nvPr/>
        </p:nvSpPr>
        <p:spPr>
          <a:xfrm>
            <a:off x="3586569" y="4566806"/>
            <a:ext cx="2390318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List&lt;String&gt;</a:t>
            </a:r>
            <a:endParaRPr lang="en-US" sz="12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7B3A1E7-453D-4CE7-A585-788B4CF10506}"/>
              </a:ext>
            </a:extLst>
          </p:cNvPr>
          <p:cNvSpPr/>
          <p:nvPr/>
        </p:nvSpPr>
        <p:spPr>
          <a:xfrm>
            <a:off x="3586569" y="4838567"/>
            <a:ext cx="2390318" cy="810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Só aceita Strings. O compilador detecta imediatamente se tentar inserir um número. Código mais seguro, legível e autoexplicativo.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Prefira tipos específicos sempre que possível.</a:t>
            </a:r>
            <a:endParaRPr lang="en-US" sz="9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727DFE7-DD40-4B41-A5E5-0778AD4AB397}"/>
              </a:ext>
            </a:extLst>
          </p:cNvPr>
          <p:cNvSpPr/>
          <p:nvPr/>
        </p:nvSpPr>
        <p:spPr>
          <a:xfrm>
            <a:off x="1005755" y="5946344"/>
            <a:ext cx="5100311" cy="33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💬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Reflexão: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"Flexibilidade e segurança são a mesma coisa?" — Não. São objetivos que frequentemente se opõem.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dynamic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maximiza flexibilidade ao custo de segurança de tipos.</a:t>
            </a:r>
            <a:endParaRPr lang="en-US" sz="95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FFAAE4A-608F-4511-8643-BB80ECE08CAB}"/>
              </a:ext>
            </a:extLst>
          </p:cNvPr>
          <p:cNvSpPr/>
          <p:nvPr/>
        </p:nvSpPr>
        <p:spPr>
          <a:xfrm>
            <a:off x="821511" y="5874509"/>
            <a:ext cx="12700" cy="474266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D1CC6850-38D6-4362-A672-9DF130AF2B66}"/>
              </a:ext>
            </a:extLst>
          </p:cNvPr>
          <p:cNvSpPr/>
          <p:nvPr/>
        </p:nvSpPr>
        <p:spPr>
          <a:xfrm>
            <a:off x="6412050" y="1573476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Complexidade — o custo conceptual das operações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5D22D7F-A0B2-4CBD-8172-C31B84550ABE}"/>
              </a:ext>
            </a:extLst>
          </p:cNvPr>
          <p:cNvSpPr/>
          <p:nvPr/>
        </p:nvSpPr>
        <p:spPr>
          <a:xfrm>
            <a:off x="6412050" y="1845236"/>
            <a:ext cx="5284556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Estruturas de dados diferentes têm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custos diferentes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as mesmas operações. Complexidade computacional é a medida formal desse custo. Para esta aula, dois conceitos são suficientes:</a:t>
            </a:r>
            <a:endParaRPr lang="en-US" sz="950" dirty="0"/>
          </a:p>
        </p:txBody>
      </p:sp>
      <p:sp>
        <p:nvSpPr>
          <p:cNvPr id="23" name="Shape 21">
            <a:extLst>
              <a:ext uri="{FF2B5EF4-FFF2-40B4-BE49-F238E27FC236}">
                <a16:creationId xmlns:a16="http://schemas.microsoft.com/office/drawing/2014/main" id="{B01863AB-3F59-4B10-9BBB-B0563D367120}"/>
              </a:ext>
            </a:extLst>
          </p:cNvPr>
          <p:cNvSpPr/>
          <p:nvPr/>
        </p:nvSpPr>
        <p:spPr>
          <a:xfrm>
            <a:off x="6412050" y="2421399"/>
            <a:ext cx="2602343" cy="152191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D943F85E-FC6B-4DC6-9659-7013A997D56C}"/>
              </a:ext>
            </a:extLst>
          </p:cNvPr>
          <p:cNvSpPr/>
          <p:nvPr/>
        </p:nvSpPr>
        <p:spPr>
          <a:xfrm>
            <a:off x="6547579" y="2556932"/>
            <a:ext cx="233128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O(1) — Custo constante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4E8D038A-F116-4C9F-AECF-79B3B98902F8}"/>
              </a:ext>
            </a:extLst>
          </p:cNvPr>
          <p:cNvSpPr/>
          <p:nvPr/>
        </p:nvSpPr>
        <p:spPr>
          <a:xfrm>
            <a:off x="6547579" y="2828692"/>
            <a:ext cx="2331285" cy="979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operação leva o mesmo tempo independente do tamanho da coleção.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acessar </a:t>
            </a:r>
            <a:r>
              <a:rPr lang="en-US" sz="950" kern="0" spc="-19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lista[5]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igualmente rápido em uma lista de 10 ou de 10.000 elementos. O índice é um endereço direto.</a:t>
            </a:r>
            <a:endParaRPr lang="en-US" sz="950" dirty="0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82199C34-62B2-43A3-86DD-3D216F3295CC}"/>
              </a:ext>
            </a:extLst>
          </p:cNvPr>
          <p:cNvSpPr/>
          <p:nvPr/>
        </p:nvSpPr>
        <p:spPr>
          <a:xfrm>
            <a:off x="9094163" y="2421399"/>
            <a:ext cx="2602443" cy="1521916"/>
          </a:xfrm>
          <a:prstGeom prst="roundRect">
            <a:avLst>
              <a:gd name="adj" fmla="val 3391"/>
            </a:avLst>
          </a:prstGeom>
          <a:solidFill>
            <a:srgbClr val="FFFFFF"/>
          </a:solidFill>
          <a:ln w="12700">
            <a:solidFill>
              <a:srgbClr val="C0C1D7"/>
            </a:solidFill>
            <a:prstDash val="solid"/>
          </a:ln>
        </p:spPr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83260E48-9BA0-402D-9B62-138380A80C8E}"/>
              </a:ext>
            </a:extLst>
          </p:cNvPr>
          <p:cNvSpPr/>
          <p:nvPr/>
        </p:nvSpPr>
        <p:spPr>
          <a:xfrm>
            <a:off x="9229693" y="2556932"/>
            <a:ext cx="2331384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O(n) — Custo linear</a:t>
            </a:r>
            <a:endParaRPr lang="en-US" sz="12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5C48919-FAD7-4CF4-A2DD-02846D418319}"/>
              </a:ext>
            </a:extLst>
          </p:cNvPr>
          <p:cNvSpPr/>
          <p:nvPr/>
        </p:nvSpPr>
        <p:spPr>
          <a:xfrm>
            <a:off x="9229693" y="2828692"/>
            <a:ext cx="2331384" cy="972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operação pode exigir percorrer todos os elementos. Quanto maior a coleção, mais tempo potencialmente gasto. </a:t>
            </a:r>
            <a:r>
              <a:rPr lang="en-US" sz="950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Exemplo:</a:t>
            </a: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buscar um valor em uma List sem índice exige verificar elemento por elemento.</a:t>
            </a:r>
            <a:endParaRPr lang="en-US" sz="95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0493FBC8-8C3B-4DEF-8E32-5DC9E929C292}"/>
              </a:ext>
            </a:extLst>
          </p:cNvPr>
          <p:cNvSpPr/>
          <p:nvPr/>
        </p:nvSpPr>
        <p:spPr>
          <a:xfrm>
            <a:off x="6412050" y="4033109"/>
            <a:ext cx="5284556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Analogia da biblioteca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CCABB84A-15C2-4008-8CE5-CAD729675B85}"/>
              </a:ext>
            </a:extLst>
          </p:cNvPr>
          <p:cNvSpPr/>
          <p:nvPr/>
        </p:nvSpPr>
        <p:spPr>
          <a:xfrm>
            <a:off x="6412050" y="4304869"/>
            <a:ext cx="5284556" cy="8106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Imagine uma biblioteca. Se os livros têm número de chamada (como índices de uma List), você vai diretamente à prateleira certa — custo O(1). Se os livros estão empilhados sem ordem, você precisa abrir cada um para encontrar o que busca — custo O(n). O Map e o Set usam internamente uma estrutura semelhante ao "número de chamada" para localizar valores por chave ou verificar existência de forma eficiente.</a:t>
            </a:r>
            <a:endParaRPr lang="en-US" sz="95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6D04B562-E833-4ACC-8B2D-E135DAAC2820}"/>
              </a:ext>
            </a:extLst>
          </p:cNvPr>
          <p:cNvSpPr/>
          <p:nvPr/>
        </p:nvSpPr>
        <p:spPr>
          <a:xfrm>
            <a:off x="6412050" y="5205279"/>
            <a:ext cx="5284556" cy="691356"/>
          </a:xfrm>
          <a:prstGeom prst="roundRect">
            <a:avLst>
              <a:gd name="adj" fmla="val 7464"/>
            </a:avLst>
          </a:prstGeom>
          <a:solidFill>
            <a:srgbClr val="B6D6FC"/>
          </a:solidFill>
          <a:ln/>
        </p:spPr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6CD98894-6938-4659-8936-0520127B7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880" y="5328806"/>
            <a:ext cx="153488" cy="122833"/>
          </a:xfrm>
          <a:prstGeom prst="rect">
            <a:avLst/>
          </a:prstGeom>
        </p:spPr>
      </p:pic>
      <p:sp>
        <p:nvSpPr>
          <p:cNvPr id="33" name="Text 30">
            <a:extLst>
              <a:ext uri="{FF2B5EF4-FFF2-40B4-BE49-F238E27FC236}">
                <a16:creationId xmlns:a16="http://schemas.microsoft.com/office/drawing/2014/main" id="{4A1422FC-8A21-4AED-AC55-4CF53394F872}"/>
              </a:ext>
            </a:extLst>
          </p:cNvPr>
          <p:cNvSpPr/>
          <p:nvPr/>
        </p:nvSpPr>
        <p:spPr>
          <a:xfrm>
            <a:off x="6811197" y="5307772"/>
            <a:ext cx="4762579" cy="486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O objetivo aqui não é memorizar complexidades, mas desenvolver a intuição de que </a:t>
            </a:r>
            <a:r>
              <a:rPr lang="en-US" sz="950" b="1" kern="0" spc="-1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escolher a estrutura certa tem impacto real no desempenho</a:t>
            </a:r>
            <a:r>
              <a:rPr lang="en-US" sz="950" kern="0" spc="-19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um programa em escala.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6099415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643C1F68-5ABD-4B85-A908-0DE091BFE6CA}" vid="{AFEB3850-30FD-4A5A-9670-B3CC3C91CA6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33</TotalTime>
  <Words>2897</Words>
  <Application>Microsoft Office PowerPoint</Application>
  <PresentationFormat>Widescreen</PresentationFormat>
  <Paragraphs>369</Paragraphs>
  <Slides>15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3" baseType="lpstr">
      <vt:lpstr>Calibri</vt:lpstr>
      <vt:lpstr>Arial</vt:lpstr>
      <vt:lpstr>Consolas</vt:lpstr>
      <vt:lpstr>Inter</vt:lpstr>
      <vt:lpstr>Times New Roman</vt:lpstr>
      <vt:lpstr>Inter Bold</vt:lpstr>
      <vt:lpstr>Calibri Light</vt:lpstr>
      <vt:lpstr>Tema1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lastModifiedBy>Pedro Miho</cp:lastModifiedBy>
  <cp:revision>6</cp:revision>
  <dcterms:created xsi:type="dcterms:W3CDTF">2026-08-18T01:18:23Z</dcterms:created>
  <dcterms:modified xsi:type="dcterms:W3CDTF">2026-08-18T01:54:50Z</dcterms:modified>
</cp:coreProperties>
</file>