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9"/>
  </p:notesMasterIdLst>
  <p:sldIdLst>
    <p:sldId id="256" r:id="rId2"/>
    <p:sldId id="269" r:id="rId3"/>
    <p:sldId id="270" r:id="rId4"/>
    <p:sldId id="271" r:id="rId5"/>
    <p:sldId id="272" r:id="rId6"/>
    <p:sldId id="273" r:id="rId7"/>
    <p:sldId id="275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44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47214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39908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965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1883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8969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5671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43073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3118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3360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07383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7400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08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15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Coleções em Dart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15642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List, Set e Map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356682" y="40142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Estrutura, organização e manipulação de dados em memória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177699" y="4529336"/>
            <a:ext cx="26525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104" y="4597301"/>
            <a:ext cx="151206" cy="1512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17912" y="4585990"/>
            <a:ext cx="28085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DA INFORMAÇÃO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24700" y="4529336"/>
            <a:ext cx="108929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04" y="4597301"/>
            <a:ext cx="151206" cy="1512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4913" y="4585990"/>
            <a:ext cx="12452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HORAS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A5596E44-1B4E-46DE-AF2B-96F715CB7EBC}"/>
              </a:ext>
            </a:extLst>
          </p:cNvPr>
          <p:cNvSpPr/>
          <p:nvPr/>
        </p:nvSpPr>
        <p:spPr>
          <a:xfrm>
            <a:off x="807132" y="193569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código</a:t>
            </a:r>
            <a:endParaRPr lang="en-US" sz="16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CC64E70-AC51-4B7D-A99C-632EA0E4D8A8}"/>
              </a:ext>
            </a:extLst>
          </p:cNvPr>
          <p:cNvGrpSpPr/>
          <p:nvPr/>
        </p:nvGrpSpPr>
        <p:grpSpPr>
          <a:xfrm>
            <a:off x="807132" y="2416707"/>
            <a:ext cx="4467601" cy="4134705"/>
            <a:chOff x="807132" y="2316894"/>
            <a:chExt cx="4467601" cy="4134705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E95451A-8AC8-4971-84F2-69DA7BD4E9A4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3C26C657-1D0F-488E-8681-FABC5BD711B4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main() {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List&lt;String&gt;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[‘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Maçã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’, ‘Banana’, ‘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Laranja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’,'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Maçã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'];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print('Lista de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Acesso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pelo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índice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Primeira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${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[0]}');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Adicionando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um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frutas.add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Uva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adicionar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Removendo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um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frutas.remove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('Banana');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de remover: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Quantidade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elementos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Quantidade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${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frutas.length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}');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9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7D229F4-8853-4972-8F6F-C83F0AC66215}"/>
              </a:ext>
            </a:extLst>
          </p:cNvPr>
          <p:cNvGrpSpPr/>
          <p:nvPr/>
        </p:nvGrpSpPr>
        <p:grpSpPr>
          <a:xfrm>
            <a:off x="917354" y="600952"/>
            <a:ext cx="938983" cy="243979"/>
            <a:chOff x="661475" y="727670"/>
            <a:chExt cx="938983" cy="243979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FEE83153-3D09-42AC-9AAF-BD9521E586A5}"/>
                </a:ext>
              </a:extLst>
            </p:cNvPr>
            <p:cNvSpPr/>
            <p:nvPr/>
          </p:nvSpPr>
          <p:spPr>
            <a:xfrm>
              <a:off x="661475" y="727670"/>
              <a:ext cx="425737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CEE9B51E-445B-46E0-A9D9-DE155B205166}"/>
                </a:ext>
              </a:extLst>
            </p:cNvPr>
            <p:cNvSpPr/>
            <p:nvPr/>
          </p:nvSpPr>
          <p:spPr>
            <a:xfrm>
              <a:off x="757814" y="775791"/>
              <a:ext cx="84264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</a:t>
              </a:r>
              <a:endParaRPr lang="en-US" sz="10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203442C3-711B-4A81-9210-E68CDFC728A1}"/>
              </a:ext>
            </a:extLst>
          </p:cNvPr>
          <p:cNvSpPr/>
          <p:nvPr/>
        </p:nvSpPr>
        <p:spPr>
          <a:xfrm>
            <a:off x="917354" y="93333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Lista: </a:t>
            </a:r>
            <a:r>
              <a:rPr lang="en-US" sz="3200" b="1" kern="0" spc="-106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Sequência</a:t>
            </a:r>
            <a:r>
              <a:rPr lang="en-US" sz="32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200" b="1" kern="0" spc="-106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Ordenada</a:t>
            </a:r>
            <a:r>
              <a:rPr lang="en-US" sz="32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com </a:t>
            </a:r>
            <a:r>
              <a:rPr lang="en-US" sz="3200" b="1" kern="0" spc="-106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Duplicados</a:t>
            </a:r>
            <a:endParaRPr lang="en-US" sz="32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B27B49E-9005-47EA-ABC4-6E5E77AD9E2F}"/>
              </a:ext>
            </a:extLst>
          </p:cNvPr>
          <p:cNvGrpSpPr/>
          <p:nvPr/>
        </p:nvGrpSpPr>
        <p:grpSpPr>
          <a:xfrm>
            <a:off x="6351726" y="2416708"/>
            <a:ext cx="4467601" cy="4134705"/>
            <a:chOff x="807132" y="2316894"/>
            <a:chExt cx="4467601" cy="4134705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4FCAC86A-1D34-4963-9D24-FA35229C4572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D8CAB8E-7F6F-48F1-838C-D3BEA778A295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Lista de frutas: [Maçã, Banana, Laranja, Maçã]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Primeira fruta: Maçã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adicionar: [Maçã, Banana, Laranja, Maçã, Uva]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remover: [Maçã, Laranja, Maçã, Uva]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Quantidade: 4</a:t>
              </a:r>
            </a:p>
            <a:p>
              <a:pPr>
                <a:lnSpc>
                  <a:spcPct val="133000"/>
                </a:lnSpc>
              </a:pPr>
              <a:endParaRPr lang="en-US" sz="900" dirty="0"/>
            </a:p>
          </p:txBody>
        </p:sp>
      </p:grpSp>
      <p:sp>
        <p:nvSpPr>
          <p:cNvPr id="14" name="Text 4">
            <a:extLst>
              <a:ext uri="{FF2B5EF4-FFF2-40B4-BE49-F238E27FC236}">
                <a16:creationId xmlns:a16="http://schemas.microsoft.com/office/drawing/2014/main" id="{08FF625B-092D-402E-8A7D-27DFEE1A5692}"/>
              </a:ext>
            </a:extLst>
          </p:cNvPr>
          <p:cNvSpPr/>
          <p:nvPr/>
        </p:nvSpPr>
        <p:spPr>
          <a:xfrm>
            <a:off x="6471480" y="194486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saída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31785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A5596E44-1B4E-46DE-AF2B-96F715CB7EBC}"/>
              </a:ext>
            </a:extLst>
          </p:cNvPr>
          <p:cNvSpPr/>
          <p:nvPr/>
        </p:nvSpPr>
        <p:spPr>
          <a:xfrm>
            <a:off x="807132" y="193569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código</a:t>
            </a:r>
            <a:endParaRPr lang="en-US" sz="16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CC64E70-AC51-4B7D-A99C-632EA0E4D8A8}"/>
              </a:ext>
            </a:extLst>
          </p:cNvPr>
          <p:cNvGrpSpPr/>
          <p:nvPr/>
        </p:nvGrpSpPr>
        <p:grpSpPr>
          <a:xfrm>
            <a:off x="807132" y="2416707"/>
            <a:ext cx="4467601" cy="4134705"/>
            <a:chOff x="807132" y="2316894"/>
            <a:chExt cx="4467601" cy="4134705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E95451A-8AC8-4971-84F2-69DA7BD4E9A4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3C26C657-1D0F-488E-8681-FABC5BD711B4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main() {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Set&lt;String&gt;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{'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Maçã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', 'Banana', 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Laranja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', 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Maçã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'};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print('Conjunto de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Adicionando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um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frutas.add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Uva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adicionar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Tentando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adicionar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um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que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já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existe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frutas.add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('Banana');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adicionar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Banana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novamente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Verificando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se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existe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Possui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Maçã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? ${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frutas.contains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Maçã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')}');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Removendo</a:t>
              </a: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frutas.remove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Laranja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de remover: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Quantidade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${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frutas.length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}');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9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7D229F4-8853-4972-8F6F-C83F0AC66215}"/>
              </a:ext>
            </a:extLst>
          </p:cNvPr>
          <p:cNvGrpSpPr/>
          <p:nvPr/>
        </p:nvGrpSpPr>
        <p:grpSpPr>
          <a:xfrm>
            <a:off x="917354" y="600952"/>
            <a:ext cx="938983" cy="243979"/>
            <a:chOff x="661475" y="727670"/>
            <a:chExt cx="938983" cy="243979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FEE83153-3D09-42AC-9AAF-BD9521E586A5}"/>
                </a:ext>
              </a:extLst>
            </p:cNvPr>
            <p:cNvSpPr/>
            <p:nvPr/>
          </p:nvSpPr>
          <p:spPr>
            <a:xfrm>
              <a:off x="661475" y="727670"/>
              <a:ext cx="425737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CEE9B51E-445B-46E0-A9D9-DE155B205166}"/>
                </a:ext>
              </a:extLst>
            </p:cNvPr>
            <p:cNvSpPr/>
            <p:nvPr/>
          </p:nvSpPr>
          <p:spPr>
            <a:xfrm>
              <a:off x="757814" y="775791"/>
              <a:ext cx="84264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SET</a:t>
              </a:r>
              <a:endParaRPr lang="en-US" sz="10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203442C3-711B-4A81-9210-E68CDFC728A1}"/>
              </a:ext>
            </a:extLst>
          </p:cNvPr>
          <p:cNvSpPr/>
          <p:nvPr/>
        </p:nvSpPr>
        <p:spPr>
          <a:xfrm>
            <a:off x="917354" y="93333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Set: </a:t>
            </a:r>
            <a:r>
              <a:rPr lang="en-US" sz="3200" b="1" kern="0" spc="-9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Coleção</a:t>
            </a:r>
            <a:r>
              <a:rPr lang="en-US" sz="320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</a:t>
            </a:r>
            <a:r>
              <a:rPr lang="en-US" sz="3200" b="1" kern="0" spc="-9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</a:t>
            </a:r>
            <a:r>
              <a:rPr lang="en-US" sz="320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200" b="1" kern="0" spc="-9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Únicos</a:t>
            </a:r>
            <a:endParaRPr lang="en-US" sz="32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B27B49E-9005-47EA-ABC4-6E5E77AD9E2F}"/>
              </a:ext>
            </a:extLst>
          </p:cNvPr>
          <p:cNvGrpSpPr/>
          <p:nvPr/>
        </p:nvGrpSpPr>
        <p:grpSpPr>
          <a:xfrm>
            <a:off x="6351726" y="2416708"/>
            <a:ext cx="4467601" cy="4134705"/>
            <a:chOff x="807132" y="2316894"/>
            <a:chExt cx="4467601" cy="4134705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4FCAC86A-1D34-4963-9D24-FA35229C4572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D8CAB8E-7F6F-48F1-838C-D3BEA778A295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Conjunto de frutas: {Maçã, Banana, Laranja}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adicionar: {Maçã, Banana, Laranja, Uva}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adicionar Banana novamente: {Maçã, Banana, Laranja, Uva}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Possui Maçã? </a:t>
              </a:r>
              <a:r>
                <a:rPr lang="pt-BR" sz="1100" kern="0" spc="-16" dirty="0" err="1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true</a:t>
              </a: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remover: {Maçã, Banana, Uva}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Quantidade: 3</a:t>
              </a:r>
            </a:p>
            <a:p>
              <a:pPr>
                <a:lnSpc>
                  <a:spcPct val="133000"/>
                </a:lnSpc>
              </a:pPr>
              <a:endParaRPr lang="en-US" sz="900" dirty="0"/>
            </a:p>
          </p:txBody>
        </p:sp>
      </p:grpSp>
      <p:sp>
        <p:nvSpPr>
          <p:cNvPr id="14" name="Text 4">
            <a:extLst>
              <a:ext uri="{FF2B5EF4-FFF2-40B4-BE49-F238E27FC236}">
                <a16:creationId xmlns:a16="http://schemas.microsoft.com/office/drawing/2014/main" id="{08FF625B-092D-402E-8A7D-27DFEE1A5692}"/>
              </a:ext>
            </a:extLst>
          </p:cNvPr>
          <p:cNvSpPr/>
          <p:nvPr/>
        </p:nvSpPr>
        <p:spPr>
          <a:xfrm>
            <a:off x="6471480" y="194486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saída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7195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A5596E44-1B4E-46DE-AF2B-96F715CB7EBC}"/>
              </a:ext>
            </a:extLst>
          </p:cNvPr>
          <p:cNvSpPr/>
          <p:nvPr/>
        </p:nvSpPr>
        <p:spPr>
          <a:xfrm>
            <a:off x="807132" y="193569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código</a:t>
            </a:r>
            <a:endParaRPr lang="en-US" sz="16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CC64E70-AC51-4B7D-A99C-632EA0E4D8A8}"/>
              </a:ext>
            </a:extLst>
          </p:cNvPr>
          <p:cNvGrpSpPr/>
          <p:nvPr/>
        </p:nvGrpSpPr>
        <p:grpSpPr>
          <a:xfrm>
            <a:off x="807132" y="2416707"/>
            <a:ext cx="4467601" cy="4134705"/>
            <a:chOff x="807132" y="2316894"/>
            <a:chExt cx="4467601" cy="4134705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E95451A-8AC8-4971-84F2-69DA7BD4E9A4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3C26C657-1D0F-488E-8681-FABC5BD711B4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main() {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Set&lt;int&gt;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{1, 2, 3, 4};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Set&lt;int&gt;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turmaB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{3, 4, 5, 6};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B: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turmaB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União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todos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dos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dois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conjuntos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Set&lt;int&gt;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uniao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turmaA.union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turmaB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União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uniao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Interseção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que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existem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dois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conjuntos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Set&lt;int&gt;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intersecao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turmaA.intersection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turmaB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Interseção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intersecao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Diferença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elementos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que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existem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em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A, mas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não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em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B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Set&lt;int&gt;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diferenca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turmaA.difference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turmaB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Diferença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 - B: $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diferenca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9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7D229F4-8853-4972-8F6F-C83F0AC66215}"/>
              </a:ext>
            </a:extLst>
          </p:cNvPr>
          <p:cNvGrpSpPr/>
          <p:nvPr/>
        </p:nvGrpSpPr>
        <p:grpSpPr>
          <a:xfrm>
            <a:off x="917354" y="600952"/>
            <a:ext cx="938983" cy="243979"/>
            <a:chOff x="661475" y="727670"/>
            <a:chExt cx="938983" cy="243979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FEE83153-3D09-42AC-9AAF-BD9521E586A5}"/>
                </a:ext>
              </a:extLst>
            </p:cNvPr>
            <p:cNvSpPr/>
            <p:nvPr/>
          </p:nvSpPr>
          <p:spPr>
            <a:xfrm>
              <a:off x="661475" y="727670"/>
              <a:ext cx="425737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CEE9B51E-445B-46E0-A9D9-DE155B205166}"/>
                </a:ext>
              </a:extLst>
            </p:cNvPr>
            <p:cNvSpPr/>
            <p:nvPr/>
          </p:nvSpPr>
          <p:spPr>
            <a:xfrm>
              <a:off x="757814" y="775791"/>
              <a:ext cx="84264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SET</a:t>
              </a:r>
              <a:endParaRPr lang="en-US" sz="10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203442C3-711B-4A81-9210-E68CDFC728A1}"/>
              </a:ext>
            </a:extLst>
          </p:cNvPr>
          <p:cNvSpPr/>
          <p:nvPr/>
        </p:nvSpPr>
        <p:spPr>
          <a:xfrm>
            <a:off x="917354" y="93333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Set: </a:t>
            </a:r>
            <a:r>
              <a:rPr lang="en-US" sz="3200" b="1" kern="0" spc="-9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Coleção</a:t>
            </a:r>
            <a:r>
              <a:rPr lang="en-US" sz="320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</a:t>
            </a:r>
            <a:r>
              <a:rPr lang="en-US" sz="3200" b="1" kern="0" spc="-9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</a:t>
            </a:r>
            <a:r>
              <a:rPr lang="en-US" sz="320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3200" b="1" kern="0" spc="-95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Únicos</a:t>
            </a:r>
            <a:endParaRPr lang="en-US" sz="32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B27B49E-9005-47EA-ABC4-6E5E77AD9E2F}"/>
              </a:ext>
            </a:extLst>
          </p:cNvPr>
          <p:cNvGrpSpPr/>
          <p:nvPr/>
        </p:nvGrpSpPr>
        <p:grpSpPr>
          <a:xfrm>
            <a:off x="6351726" y="2416708"/>
            <a:ext cx="4467601" cy="4134705"/>
            <a:chOff x="807132" y="2316894"/>
            <a:chExt cx="4467601" cy="4134705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4FCAC86A-1D34-4963-9D24-FA35229C4572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D8CAB8E-7F6F-48F1-838C-D3BEA778A295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 A: {1, 2, 3, 4}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Turma B: {3, 4, 5, 6}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União: {1, 2, 3, 4, 5, 6}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Interseção: {3, 4}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Diferença A - B: {1, 2}</a:t>
              </a:r>
            </a:p>
            <a:p>
              <a:pPr>
                <a:lnSpc>
                  <a:spcPct val="133000"/>
                </a:lnSpc>
              </a:pPr>
              <a:endParaRPr lang="en-US" sz="900" dirty="0"/>
            </a:p>
          </p:txBody>
        </p:sp>
      </p:grpSp>
      <p:sp>
        <p:nvSpPr>
          <p:cNvPr id="14" name="Text 4">
            <a:extLst>
              <a:ext uri="{FF2B5EF4-FFF2-40B4-BE49-F238E27FC236}">
                <a16:creationId xmlns:a16="http://schemas.microsoft.com/office/drawing/2014/main" id="{08FF625B-092D-402E-8A7D-27DFEE1A5692}"/>
              </a:ext>
            </a:extLst>
          </p:cNvPr>
          <p:cNvSpPr/>
          <p:nvPr/>
        </p:nvSpPr>
        <p:spPr>
          <a:xfrm>
            <a:off x="6471480" y="194486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saída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18780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A5596E44-1B4E-46DE-AF2B-96F715CB7EBC}"/>
              </a:ext>
            </a:extLst>
          </p:cNvPr>
          <p:cNvSpPr/>
          <p:nvPr/>
        </p:nvSpPr>
        <p:spPr>
          <a:xfrm>
            <a:off x="807132" y="193569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código</a:t>
            </a:r>
            <a:endParaRPr lang="en-US" sz="16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CC64E70-AC51-4B7D-A99C-632EA0E4D8A8}"/>
              </a:ext>
            </a:extLst>
          </p:cNvPr>
          <p:cNvGrpSpPr/>
          <p:nvPr/>
        </p:nvGrpSpPr>
        <p:grpSpPr>
          <a:xfrm>
            <a:off x="807132" y="2416707"/>
            <a:ext cx="4467601" cy="4134705"/>
            <a:chOff x="807132" y="2316894"/>
            <a:chExt cx="4467601" cy="4134705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E95451A-8AC8-4971-84F2-69DA7BD4E9A4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3C26C657-1D0F-488E-8681-FABC5BD711B4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>
                <a:lnSpc>
                  <a:spcPct val="133000"/>
                </a:lnSpc>
              </a:pPr>
              <a:r>
                <a:rPr lang="pt-BR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</a:t>
              </a: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pt-BR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main</a:t>
              </a: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() {</a:t>
              </a: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Map&lt;</a:t>
              </a:r>
              <a:r>
                <a:rPr lang="pt-BR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String</a:t>
              </a: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</a:t>
              </a:r>
              <a:r>
                <a:rPr lang="pt-BR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int</a:t>
              </a: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&gt; idades = {'Ana': 25,'Bruno': 30,'Carlos': 22};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print('Dados: $idades');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Acesso através da chave</a:t>
              </a: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print('Idade da Ana: ${idades['Ana']}');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Adicionando um novo elemento</a:t>
              </a: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idades['Daniel'] = 28;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print('Depois de adicionar Daniel: $idades');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Atualizando um valor</a:t>
              </a: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idades['Ana'] = 26;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print('Depois de atualizar Ana: $idades');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Verificando se uma chave existe</a:t>
              </a: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print('Bruno está cadastrado? ${</a:t>
              </a:r>
              <a:r>
                <a:rPr lang="pt-BR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idades.containsKey</a:t>
              </a: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('Bruno')}');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Removendo através da chave</a:t>
              </a: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pt-BR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idades.remove</a:t>
              </a: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('Carlos');</a:t>
              </a:r>
            </a:p>
            <a:p>
              <a:pPr>
                <a:lnSpc>
                  <a:spcPct val="133000"/>
                </a:lnSpc>
              </a:pPr>
              <a:endParaRPr lang="pt-BR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print('Depois de remover Carlos: $idades');</a:t>
              </a:r>
            </a:p>
            <a:p>
              <a:pPr>
                <a:lnSpc>
                  <a:spcPct val="133000"/>
                </a:lnSpc>
              </a:pPr>
              <a:r>
                <a:rPr lang="pt-BR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9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7D229F4-8853-4972-8F6F-C83F0AC66215}"/>
              </a:ext>
            </a:extLst>
          </p:cNvPr>
          <p:cNvGrpSpPr/>
          <p:nvPr/>
        </p:nvGrpSpPr>
        <p:grpSpPr>
          <a:xfrm>
            <a:off x="917354" y="600952"/>
            <a:ext cx="938983" cy="243979"/>
            <a:chOff x="661475" y="727670"/>
            <a:chExt cx="938983" cy="243979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FEE83153-3D09-42AC-9AAF-BD9521E586A5}"/>
                </a:ext>
              </a:extLst>
            </p:cNvPr>
            <p:cNvSpPr/>
            <p:nvPr/>
          </p:nvSpPr>
          <p:spPr>
            <a:xfrm>
              <a:off x="661475" y="727670"/>
              <a:ext cx="425737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CEE9B51E-445B-46E0-A9D9-DE155B205166}"/>
                </a:ext>
              </a:extLst>
            </p:cNvPr>
            <p:cNvSpPr/>
            <p:nvPr/>
          </p:nvSpPr>
          <p:spPr>
            <a:xfrm>
              <a:off x="757814" y="775791"/>
              <a:ext cx="84264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MAP</a:t>
              </a:r>
              <a:endParaRPr lang="en-US" sz="10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203442C3-711B-4A81-9210-E68CDFC728A1}"/>
              </a:ext>
            </a:extLst>
          </p:cNvPr>
          <p:cNvSpPr/>
          <p:nvPr/>
        </p:nvSpPr>
        <p:spPr>
          <a:xfrm>
            <a:off x="917354" y="93333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Map: </a:t>
            </a:r>
            <a:r>
              <a:rPr lang="en-US" sz="3200" b="1" kern="0" spc="-10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Dicionário</a:t>
            </a:r>
            <a:r>
              <a:rPr lang="en-US" sz="32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</a:t>
            </a:r>
            <a:r>
              <a:rPr lang="en-US" sz="3200" b="1" kern="0" spc="-100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Chave</a:t>
            </a:r>
            <a:r>
              <a:rPr lang="en-US" sz="32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→ Valor</a:t>
            </a:r>
            <a:endParaRPr lang="en-US" sz="32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B27B49E-9005-47EA-ABC4-6E5E77AD9E2F}"/>
              </a:ext>
            </a:extLst>
          </p:cNvPr>
          <p:cNvGrpSpPr/>
          <p:nvPr/>
        </p:nvGrpSpPr>
        <p:grpSpPr>
          <a:xfrm>
            <a:off x="6351726" y="2416708"/>
            <a:ext cx="4467601" cy="4134705"/>
            <a:chOff x="807132" y="2316894"/>
            <a:chExt cx="4467601" cy="4134705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4FCAC86A-1D34-4963-9D24-FA35229C4572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D8CAB8E-7F6F-48F1-838C-D3BEA778A295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Dados: {Ana: 25, Bruno: 30, Carlos: 22}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Idade da Ana: 25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adicionar Daniel: {Ana: 25, Bruno: 30, Carlos: 22, Daniel: 28}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atualizar Ana: {Ana: 26, Bruno: 30, Carlos: 22, Daniel: 28}</a:t>
              </a: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Bruno está cadastrado? </a:t>
              </a:r>
              <a:r>
                <a:rPr lang="pt-BR" sz="1100" kern="0" spc="-16" dirty="0" err="1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True</a:t>
              </a: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Depois de remover Carlos: {Ana: 26, Bruno: 30, Daniel: 28}</a:t>
              </a:r>
              <a:endParaRPr lang="en-US" sz="900" dirty="0"/>
            </a:p>
          </p:txBody>
        </p:sp>
      </p:grpSp>
      <p:sp>
        <p:nvSpPr>
          <p:cNvPr id="14" name="Text 4">
            <a:extLst>
              <a:ext uri="{FF2B5EF4-FFF2-40B4-BE49-F238E27FC236}">
                <a16:creationId xmlns:a16="http://schemas.microsoft.com/office/drawing/2014/main" id="{08FF625B-092D-402E-8A7D-27DFEE1A5692}"/>
              </a:ext>
            </a:extLst>
          </p:cNvPr>
          <p:cNvSpPr/>
          <p:nvPr/>
        </p:nvSpPr>
        <p:spPr>
          <a:xfrm>
            <a:off x="6471480" y="194486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saída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5373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A5596E44-1B4E-46DE-AF2B-96F715CB7EBC}"/>
              </a:ext>
            </a:extLst>
          </p:cNvPr>
          <p:cNvSpPr/>
          <p:nvPr/>
        </p:nvSpPr>
        <p:spPr>
          <a:xfrm>
            <a:off x="807132" y="193569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código</a:t>
            </a:r>
            <a:endParaRPr lang="en-US" sz="16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CC64E70-AC51-4B7D-A99C-632EA0E4D8A8}"/>
              </a:ext>
            </a:extLst>
          </p:cNvPr>
          <p:cNvGrpSpPr/>
          <p:nvPr/>
        </p:nvGrpSpPr>
        <p:grpSpPr>
          <a:xfrm>
            <a:off x="807132" y="2416707"/>
            <a:ext cx="4467601" cy="4134705"/>
            <a:chOff x="807132" y="2316894"/>
            <a:chExt cx="4467601" cy="4134705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E95451A-8AC8-4971-84F2-69DA7BD4E9A4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3C26C657-1D0F-488E-8681-FABC5BD711B4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main() {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VAR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var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['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Maçã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'];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frutas.add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('Banana'); // OK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['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Laranja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']; // OK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FINAL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final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nomes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['Ana'];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nomes.add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('João'); // OK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nomes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['Carlos']; // ERRO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nomes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CONST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const cores = ['Azul', 'Verde'];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cores.add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Vermelho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'); // ERRO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cores = ['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Amarelo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'];   // ERRO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print(cores);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9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7D229F4-8853-4972-8F6F-C83F0AC66215}"/>
              </a:ext>
            </a:extLst>
          </p:cNvPr>
          <p:cNvGrpSpPr/>
          <p:nvPr/>
        </p:nvGrpSpPr>
        <p:grpSpPr>
          <a:xfrm>
            <a:off x="917354" y="600952"/>
            <a:ext cx="1453313" cy="243979"/>
            <a:chOff x="661475" y="727670"/>
            <a:chExt cx="1453313" cy="243979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FEE83153-3D09-42AC-9AAF-BD9521E586A5}"/>
                </a:ext>
              </a:extLst>
            </p:cNvPr>
            <p:cNvSpPr/>
            <p:nvPr/>
          </p:nvSpPr>
          <p:spPr>
            <a:xfrm>
              <a:off x="661475" y="727670"/>
              <a:ext cx="1453313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CEE9B51E-445B-46E0-A9D9-DE155B205166}"/>
                </a:ext>
              </a:extLst>
            </p:cNvPr>
            <p:cNvSpPr/>
            <p:nvPr/>
          </p:nvSpPr>
          <p:spPr>
            <a:xfrm>
              <a:off x="757814" y="775791"/>
              <a:ext cx="84264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96000"/>
                </a:lnSpc>
              </a:pPr>
              <a:r>
                <a:rPr lang="en-US" sz="80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CONCEITO AVANÇADO</a:t>
              </a:r>
              <a:endParaRPr lang="en-US" sz="800" dirty="0"/>
            </a:p>
            <a:p>
              <a:pPr marL="0" indent="0" algn="l">
                <a:lnSpc>
                  <a:spcPct val="96000"/>
                </a:lnSpc>
                <a:buNone/>
              </a:pPr>
              <a:endParaRPr lang="en-US" sz="10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203442C3-711B-4A81-9210-E68CDFC728A1}"/>
              </a:ext>
            </a:extLst>
          </p:cNvPr>
          <p:cNvSpPr/>
          <p:nvPr/>
        </p:nvSpPr>
        <p:spPr>
          <a:xfrm>
            <a:off x="917353" y="93333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400" b="1" kern="0" spc="-7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Mutabilidade</a:t>
            </a:r>
            <a:r>
              <a:rPr lang="en-US" sz="240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— O que </a:t>
            </a:r>
            <a:r>
              <a:rPr lang="en-US" sz="2400" b="1" kern="0" spc="-7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Pode</a:t>
            </a:r>
            <a:r>
              <a:rPr lang="en-US" sz="240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400" b="1" kern="0" spc="-7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Mudar</a:t>
            </a:r>
            <a:r>
              <a:rPr lang="en-US" sz="240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400" b="1" kern="0" spc="-7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Depois</a:t>
            </a:r>
            <a:r>
              <a:rPr lang="en-US" sz="240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</a:t>
            </a:r>
            <a:r>
              <a:rPr lang="en-US" sz="2400" b="1" kern="0" spc="-7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Criado</a:t>
            </a:r>
            <a:r>
              <a:rPr lang="en-US" sz="240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?</a:t>
            </a:r>
            <a:endParaRPr lang="en-US" sz="24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B27B49E-9005-47EA-ABC4-6E5E77AD9E2F}"/>
              </a:ext>
            </a:extLst>
          </p:cNvPr>
          <p:cNvGrpSpPr/>
          <p:nvPr/>
        </p:nvGrpSpPr>
        <p:grpSpPr>
          <a:xfrm>
            <a:off x="6351726" y="2416708"/>
            <a:ext cx="4467601" cy="4134705"/>
            <a:chOff x="807132" y="2316894"/>
            <a:chExt cx="4467601" cy="4134705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4FCAC86A-1D34-4963-9D24-FA35229C4572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D8CAB8E-7F6F-48F1-838C-D3BEA778A295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[Laranja]</a:t>
              </a: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[Ana, João]</a:t>
              </a: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[Azul, Verde]</a:t>
              </a:r>
            </a:p>
          </p:txBody>
        </p:sp>
      </p:grpSp>
      <p:sp>
        <p:nvSpPr>
          <p:cNvPr id="14" name="Text 4">
            <a:extLst>
              <a:ext uri="{FF2B5EF4-FFF2-40B4-BE49-F238E27FC236}">
                <a16:creationId xmlns:a16="http://schemas.microsoft.com/office/drawing/2014/main" id="{08FF625B-092D-402E-8A7D-27DFEE1A5692}"/>
              </a:ext>
            </a:extLst>
          </p:cNvPr>
          <p:cNvSpPr/>
          <p:nvPr/>
        </p:nvSpPr>
        <p:spPr>
          <a:xfrm>
            <a:off x="6471480" y="194486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saída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4645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4">
            <a:extLst>
              <a:ext uri="{FF2B5EF4-FFF2-40B4-BE49-F238E27FC236}">
                <a16:creationId xmlns:a16="http://schemas.microsoft.com/office/drawing/2014/main" id="{A5596E44-1B4E-46DE-AF2B-96F715CB7EBC}"/>
              </a:ext>
            </a:extLst>
          </p:cNvPr>
          <p:cNvSpPr/>
          <p:nvPr/>
        </p:nvSpPr>
        <p:spPr>
          <a:xfrm>
            <a:off x="807132" y="193569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código</a:t>
            </a:r>
            <a:endParaRPr lang="en-US" sz="1600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ECC64E70-AC51-4B7D-A99C-632EA0E4D8A8}"/>
              </a:ext>
            </a:extLst>
          </p:cNvPr>
          <p:cNvGrpSpPr/>
          <p:nvPr/>
        </p:nvGrpSpPr>
        <p:grpSpPr>
          <a:xfrm>
            <a:off x="807132" y="2416707"/>
            <a:ext cx="4467601" cy="4134705"/>
            <a:chOff x="807132" y="2316894"/>
            <a:chExt cx="4467601" cy="4134705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8E95451A-8AC8-4971-84F2-69DA7BD4E9A4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3C26C657-1D0F-488E-8681-FABC5BD711B4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main() {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List&lt;dynamic&gt; 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misturada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[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'Ana',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25,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true,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3.14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];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misturada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</a:t>
              </a:r>
            </a:p>
            <a:p>
              <a:pPr>
                <a:lnSpc>
                  <a:spcPct val="133000"/>
                </a:lnSpc>
              </a:pPr>
              <a:endParaRPr lang="en-US" sz="90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misturada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[0]); // String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misturada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[1]); // int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misturada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[2]); // bool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print(</a:t>
              </a:r>
              <a:r>
                <a:rPr lang="en-US" sz="900" kern="0" spc="-16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misturada</a:t>
              </a: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[3]); // double</a:t>
              </a:r>
            </a:p>
            <a:p>
              <a:pPr>
                <a:lnSpc>
                  <a:spcPct val="133000"/>
                </a:lnSpc>
              </a:pPr>
              <a:r>
                <a:rPr lang="en-US" sz="900" kern="0" spc="-16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900" dirty="0"/>
            </a:p>
          </p:txBody>
        </p:sp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7D229F4-8853-4972-8F6F-C83F0AC66215}"/>
              </a:ext>
            </a:extLst>
          </p:cNvPr>
          <p:cNvGrpSpPr/>
          <p:nvPr/>
        </p:nvGrpSpPr>
        <p:grpSpPr>
          <a:xfrm>
            <a:off x="917354" y="600952"/>
            <a:ext cx="2181446" cy="243979"/>
            <a:chOff x="661475" y="727670"/>
            <a:chExt cx="1707313" cy="243979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FEE83153-3D09-42AC-9AAF-BD9521E586A5}"/>
                </a:ext>
              </a:extLst>
            </p:cNvPr>
            <p:cNvSpPr/>
            <p:nvPr/>
          </p:nvSpPr>
          <p:spPr>
            <a:xfrm>
              <a:off x="661475" y="727670"/>
              <a:ext cx="1453313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CEE9B51E-445B-46E0-A9D9-DE155B205166}"/>
                </a:ext>
              </a:extLst>
            </p:cNvPr>
            <p:cNvSpPr/>
            <p:nvPr/>
          </p:nvSpPr>
          <p:spPr>
            <a:xfrm>
              <a:off x="757814" y="775791"/>
              <a:ext cx="161097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just">
                <a:lnSpc>
                  <a:spcPct val="96000"/>
                </a:lnSpc>
              </a:pPr>
              <a:r>
                <a:rPr lang="en-US" sz="800" kern="0" spc="-19" dirty="0">
                  <a:solidFill>
                    <a:srgbClr val="4950BC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CONCEITOS COMPLEMENTARES</a:t>
              </a:r>
              <a:endParaRPr lang="en-US" sz="800" dirty="0"/>
            </a:p>
            <a:p>
              <a:pPr>
                <a:lnSpc>
                  <a:spcPct val="96000"/>
                </a:lnSpc>
              </a:pPr>
              <a:endParaRPr lang="en-US" sz="800" dirty="0"/>
            </a:p>
            <a:p>
              <a:pPr marL="0" indent="0" algn="l">
                <a:lnSpc>
                  <a:spcPct val="96000"/>
                </a:lnSpc>
                <a:buNone/>
              </a:pPr>
              <a:endParaRPr lang="en-US" sz="10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203442C3-711B-4A81-9210-E68CDFC728A1}"/>
              </a:ext>
            </a:extLst>
          </p:cNvPr>
          <p:cNvSpPr/>
          <p:nvPr/>
        </p:nvSpPr>
        <p:spPr>
          <a:xfrm>
            <a:off x="917353" y="93333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ct val="104000"/>
              </a:lnSpc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 </a:t>
            </a:r>
            <a:r>
              <a:rPr lang="en-US" sz="2400" b="1" kern="0" spc="-73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Dinâmicos</a:t>
            </a: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 </a:t>
            </a:r>
            <a:r>
              <a:rPr lang="en-US" sz="2400" b="1" kern="0" spc="-73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</a:t>
            </a: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das </a:t>
            </a:r>
            <a:r>
              <a:rPr lang="en-US" sz="2400" b="1" kern="0" spc="-73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Operações</a:t>
            </a:r>
            <a:endParaRPr lang="en-US" sz="24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FB27B49E-9005-47EA-ABC4-6E5E77AD9E2F}"/>
              </a:ext>
            </a:extLst>
          </p:cNvPr>
          <p:cNvGrpSpPr/>
          <p:nvPr/>
        </p:nvGrpSpPr>
        <p:grpSpPr>
          <a:xfrm>
            <a:off x="6351726" y="2416708"/>
            <a:ext cx="4467601" cy="4134705"/>
            <a:chOff x="807132" y="2316894"/>
            <a:chExt cx="4467601" cy="4134705"/>
          </a:xfrm>
        </p:grpSpPr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4FCAC86A-1D34-4963-9D24-FA35229C4572}"/>
                </a:ext>
              </a:extLst>
            </p:cNvPr>
            <p:cNvSpPr/>
            <p:nvPr/>
          </p:nvSpPr>
          <p:spPr>
            <a:xfrm>
              <a:off x="807132" y="2316894"/>
              <a:ext cx="4347847" cy="4134705"/>
            </a:xfrm>
            <a:prstGeom prst="roundRect">
              <a:avLst>
                <a:gd name="adj" fmla="val 2334"/>
              </a:avLst>
            </a:prstGeom>
            <a:solidFill>
              <a:srgbClr val="F2F2F2"/>
            </a:solidFill>
            <a:ln/>
          </p:spPr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BD8CAB8E-7F6F-48F1-838C-D3BEA778A295}"/>
                </a:ext>
              </a:extLst>
            </p:cNvPr>
            <p:cNvSpPr/>
            <p:nvPr/>
          </p:nvSpPr>
          <p:spPr>
            <a:xfrm>
              <a:off x="926886" y="2416708"/>
              <a:ext cx="4347847" cy="384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[Ana, 25, </a:t>
              </a:r>
              <a:r>
                <a:rPr lang="pt-BR" sz="1100" kern="0" spc="-16" dirty="0" err="1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true</a:t>
              </a: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3.14]</a:t>
              </a: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Ana</a:t>
              </a: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25</a:t>
              </a:r>
            </a:p>
            <a:p>
              <a:pPr>
                <a:lnSpc>
                  <a:spcPct val="133000"/>
                </a:lnSpc>
              </a:pPr>
              <a:r>
                <a:rPr lang="pt-BR" sz="1100" kern="0" spc="-16" dirty="0" err="1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true</a:t>
              </a:r>
              <a:endParaRPr lang="pt-BR" sz="1100" kern="0" spc="-16" dirty="0"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>
                <a:lnSpc>
                  <a:spcPct val="133000"/>
                </a:lnSpc>
              </a:pPr>
              <a:r>
                <a:rPr lang="pt-BR" sz="1100" kern="0" spc="-16" dirty="0"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3.14</a:t>
              </a:r>
              <a:endParaRPr lang="en-US" sz="900" dirty="0"/>
            </a:p>
          </p:txBody>
        </p:sp>
      </p:grpSp>
      <p:sp>
        <p:nvSpPr>
          <p:cNvPr id="14" name="Text 4">
            <a:extLst>
              <a:ext uri="{FF2B5EF4-FFF2-40B4-BE49-F238E27FC236}">
                <a16:creationId xmlns:a16="http://schemas.microsoft.com/office/drawing/2014/main" id="{08FF625B-092D-402E-8A7D-27DFEE1A5692}"/>
              </a:ext>
            </a:extLst>
          </p:cNvPr>
          <p:cNvSpPr/>
          <p:nvPr/>
        </p:nvSpPr>
        <p:spPr>
          <a:xfrm>
            <a:off x="6471480" y="1944866"/>
            <a:ext cx="3976535" cy="28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Exemplo</a:t>
            </a:r>
            <a:r>
              <a:rPr lang="en-US" sz="160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1600" b="1" kern="0" spc="-29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saída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60702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643C1F68-5ABD-4B85-A908-0DE091BFE6CA}" vid="{AFEB3850-30FD-4A5A-9670-B3CC3C91CA6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56</TotalTime>
  <Words>1094</Words>
  <Application>Microsoft Office PowerPoint</Application>
  <PresentationFormat>Widescreen</PresentationFormat>
  <Paragraphs>214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5" baseType="lpstr">
      <vt:lpstr>Inter Bold</vt:lpstr>
      <vt:lpstr>Calibri Light</vt:lpstr>
      <vt:lpstr>Calibri</vt:lpstr>
      <vt:lpstr>Arial</vt:lpstr>
      <vt:lpstr>Consolas</vt:lpstr>
      <vt:lpstr>Inter</vt:lpstr>
      <vt:lpstr>Times New Roman</vt:lpstr>
      <vt:lpstr>Tema1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Pedro Miho</cp:lastModifiedBy>
  <cp:revision>12</cp:revision>
  <dcterms:created xsi:type="dcterms:W3CDTF">2026-08-18T01:18:23Z</dcterms:created>
  <dcterms:modified xsi:type="dcterms:W3CDTF">2026-08-18T03:11:44Z</dcterms:modified>
</cp:coreProperties>
</file>