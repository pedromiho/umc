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Inter" panose="020B0604020202020204" charset="0"/>
      <p:bold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1">
  <p:cSld name="Slide master 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body"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02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175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048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921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6" name="Google Shape;56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body" idx="1"/>
          </p:nvPr>
        </p:nvSpPr>
        <p:spPr>
          <a:xfrm rot="5400000">
            <a:off x="3786847" y="-1355935"/>
            <a:ext cx="4618307" cy="10981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e Conteúdo">
  <p:cSld name="1_Título e Conteúdo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body" idx="1"/>
          </p:nvPr>
        </p:nvSpPr>
        <p:spPr>
          <a:xfrm>
            <a:off x="833519" y="1825625"/>
            <a:ext cx="1076006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429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429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833520" y="817526"/>
            <a:ext cx="8360355" cy="525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Times New Roman"/>
              <a:buNone/>
              <a:defRPr sz="26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292A8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7" name="Google Shape;7;p1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  <a:ln>
            <a:noFill/>
          </a:ln>
        </p:spPr>
      </p:pic>
      <p:pic>
        <p:nvPicPr>
          <p:cNvPr id="8" name="Google Shape;8;p1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0283716" y="719713"/>
            <a:ext cx="1273846" cy="720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9809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/>
          <p:nvPr/>
        </p:nvSpPr>
        <p:spPr>
          <a:xfrm>
            <a:off x="661475" y="2144316"/>
            <a:ext cx="6296860" cy="1181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Inter"/>
              <a:buNone/>
            </a:pPr>
            <a:r>
              <a:rPr lang="en-US" sz="37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Métodos e Encapsulamento em Dart</a:t>
            </a:r>
            <a:endParaRPr sz="3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661475" y="3609082"/>
            <a:ext cx="6296860" cy="60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lang="en-US" sz="14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Programação Orientada a Objetos — Aula 2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lang="en-US" sz="14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4º Semestre · Engenharia de Software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661475" y="4426545"/>
            <a:ext cx="1359461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774879" y="4483199"/>
            <a:ext cx="1742238" cy="173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lang="en-US" sz="11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POO COM DART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2115390" y="4426545"/>
            <a:ext cx="1307670" cy="287139"/>
          </a:xfrm>
          <a:prstGeom prst="roundRect">
            <a:avLst>
              <a:gd name="adj" fmla="val 22118"/>
            </a:avLst>
          </a:prstGeom>
          <a:noFill/>
          <a:ln w="9525" cap="flat" cmpd="sng">
            <a:solidFill>
              <a:srgbClr val="4950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2228794" y="4483199"/>
            <a:ext cx="1690447" cy="173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4950BC"/>
              </a:buClr>
              <a:buSzPts val="1150"/>
              <a:buFont typeface="Inter"/>
              <a:buNone/>
            </a:pPr>
            <a:r>
              <a:rPr lang="en-US" sz="1150">
                <a:solidFill>
                  <a:srgbClr val="4950BC"/>
                </a:solidFill>
                <a:latin typeface="Inter"/>
                <a:ea typeface="Inter"/>
                <a:cs typeface="Inter"/>
                <a:sym typeface="Inter"/>
              </a:rPr>
              <a:t>CONTINUAÇÃO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/>
          <p:nvPr/>
        </p:nvSpPr>
        <p:spPr>
          <a:xfrm>
            <a:off x="966159" y="825847"/>
            <a:ext cx="8876582" cy="484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nter"/>
              <a:buNone/>
            </a:pPr>
            <a:r>
              <a:rPr lang="en-US" sz="2400" b="1" dirty="0" err="1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Retomada</a:t>
            </a:r>
            <a:r>
              <a:rPr lang="en-US" sz="2400" b="1" dirty="0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: Classe, </a:t>
            </a:r>
            <a:r>
              <a:rPr lang="en-US" sz="2400" b="1" dirty="0" err="1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Objeto</a:t>
            </a:r>
            <a:r>
              <a:rPr lang="en-US" sz="2400" b="1" dirty="0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, Estado e </a:t>
            </a:r>
            <a:r>
              <a:rPr lang="en-US" sz="2400" b="1" dirty="0" err="1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Comportamento</a:t>
            </a:r>
            <a:endParaRPr sz="2400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821221" y="1925637"/>
            <a:ext cx="4572958" cy="42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nter"/>
              <a:buNone/>
            </a:pPr>
            <a:r>
              <a:rPr lang="en-US" sz="2000" b="1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O que já sabemos</a:t>
            </a:r>
            <a:endParaRPr sz="200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821221" y="2601190"/>
            <a:ext cx="6514547" cy="141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Inter"/>
              <a:buNone/>
            </a:pPr>
            <a:r>
              <a:rPr lang="en-US" sz="20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Uma </a:t>
            </a:r>
            <a:r>
              <a:rPr lang="en-US" sz="2000" b="1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classe</a:t>
            </a:r>
            <a:r>
              <a:rPr lang="en-US" sz="20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é um </a:t>
            </a:r>
            <a:r>
              <a:rPr lang="en-US" sz="20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molde</a:t>
            </a:r>
            <a:r>
              <a:rPr lang="en-US" sz="20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que</a:t>
            </a:r>
            <a:r>
              <a:rPr lang="en-US" sz="20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define a </a:t>
            </a:r>
            <a:r>
              <a:rPr lang="en-US" sz="20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estrutura</a:t>
            </a:r>
            <a:r>
              <a:rPr lang="en-US" sz="20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de um </a:t>
            </a:r>
            <a:r>
              <a:rPr lang="en-US" sz="20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objeto</a:t>
            </a:r>
            <a:r>
              <a:rPr lang="en-US" sz="20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. Um </a:t>
            </a:r>
            <a:r>
              <a:rPr lang="en-US" sz="2000" b="1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objeto</a:t>
            </a:r>
            <a:r>
              <a:rPr lang="en-US" sz="20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é </a:t>
            </a:r>
            <a:r>
              <a:rPr lang="en-US" sz="20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uma</a:t>
            </a:r>
            <a:r>
              <a:rPr lang="en-US" sz="20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instância</a:t>
            </a:r>
            <a:r>
              <a:rPr lang="en-US" sz="20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concreta</a:t>
            </a:r>
            <a:r>
              <a:rPr lang="en-US" sz="20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criada</a:t>
            </a:r>
            <a:r>
              <a:rPr lang="en-US" sz="20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a </a:t>
            </a:r>
            <a:r>
              <a:rPr lang="en-US" sz="20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partir</a:t>
            </a:r>
            <a:r>
              <a:rPr lang="en-US" sz="20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desse</a:t>
            </a:r>
            <a:r>
              <a:rPr lang="en-US" sz="20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molde</a:t>
            </a:r>
            <a:r>
              <a:rPr lang="en-US" sz="20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, com </a:t>
            </a:r>
            <a:r>
              <a:rPr lang="en-US" sz="20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valores</a:t>
            </a:r>
            <a:r>
              <a:rPr lang="en-US" sz="20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próprios</a:t>
            </a:r>
            <a:r>
              <a:rPr lang="en-US" sz="20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e </a:t>
            </a:r>
            <a:r>
              <a:rPr lang="en-US" sz="20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comportamentos</a:t>
            </a:r>
            <a:r>
              <a:rPr lang="en-US" sz="20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definidos</a:t>
            </a:r>
            <a:r>
              <a:rPr lang="en-US" sz="20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.</a:t>
            </a:r>
            <a:endParaRPr sz="2000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821220" y="4266005"/>
            <a:ext cx="6514547" cy="1864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0" marR="0" lvl="0" indent="-254000" algn="just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Char char="•"/>
            </a:pPr>
            <a:r>
              <a:rPr lang="en-US" sz="160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Estado</a:t>
            </a:r>
            <a:r>
              <a:rPr lang="en-US" sz="160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: o conjunto de valores armazenados nos atributos em um dado momento.</a:t>
            </a:r>
            <a:endParaRPr>
              <a:latin typeface="+mj-lt"/>
            </a:endParaRPr>
          </a:p>
          <a:p>
            <a:pPr marL="0" marR="0" lvl="0" indent="0" algn="just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254000" marR="0" lvl="0" indent="-254000" algn="just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Char char="•"/>
            </a:pPr>
            <a:r>
              <a:rPr lang="en-US" sz="160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Comportamento</a:t>
            </a:r>
            <a:r>
              <a:rPr lang="en-US" sz="160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: o conjunto de ações que o objeto é capaz de executar.</a:t>
            </a:r>
            <a:endParaRPr sz="160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grpSp>
        <p:nvGrpSpPr>
          <p:cNvPr id="94" name="Google Shape;94;p16"/>
          <p:cNvGrpSpPr/>
          <p:nvPr/>
        </p:nvGrpSpPr>
        <p:grpSpPr>
          <a:xfrm>
            <a:off x="7755147" y="1925637"/>
            <a:ext cx="3781423" cy="950416"/>
            <a:chOff x="8582703" y="1925637"/>
            <a:chExt cx="2953867" cy="950416"/>
          </a:xfrm>
        </p:grpSpPr>
        <p:sp>
          <p:nvSpPr>
            <p:cNvPr id="95" name="Google Shape;95;p16"/>
            <p:cNvSpPr/>
            <p:nvPr/>
          </p:nvSpPr>
          <p:spPr>
            <a:xfrm>
              <a:off x="8582703" y="1925637"/>
              <a:ext cx="2953867" cy="950416"/>
            </a:xfrm>
            <a:prstGeom prst="roundRect">
              <a:avLst>
                <a:gd name="adj" fmla="val 7048"/>
              </a:avLst>
            </a:prstGeom>
            <a:solidFill>
              <a:srgbClr val="DADBF1"/>
            </a:solidFill>
            <a:ln w="9525" cap="flat" cmpd="sng">
              <a:solidFill>
                <a:srgbClr val="C0C1D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6"/>
            <p:cNvSpPr/>
            <p:nvPr/>
          </p:nvSpPr>
          <p:spPr>
            <a:xfrm>
              <a:off x="8748494" y="2091432"/>
              <a:ext cx="2622286" cy="2491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0"/>
                <a:buFont typeface="Arial"/>
                <a:buNone/>
              </a:pPr>
              <a:r>
                <a:rPr lang="en-US" sz="1550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🧱</a:t>
              </a:r>
              <a:r>
                <a:rPr lang="en-US" sz="1550" b="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Classe</a:t>
              </a:r>
              <a:endParaRPr sz="1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6"/>
            <p:cNvSpPr/>
            <p:nvPr/>
          </p:nvSpPr>
          <p:spPr>
            <a:xfrm>
              <a:off x="8748494" y="2475111"/>
              <a:ext cx="2622286" cy="2351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250"/>
                <a:buFont typeface="Inter"/>
                <a:buNone/>
              </a:pPr>
              <a:r>
                <a:rPr lang="en-US" sz="125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Molde / Definição</a:t>
              </a:r>
              <a:endParaRPr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16"/>
          <p:cNvGrpSpPr/>
          <p:nvPr/>
        </p:nvGrpSpPr>
        <p:grpSpPr>
          <a:xfrm>
            <a:off x="7755147" y="3010595"/>
            <a:ext cx="3781423" cy="950416"/>
            <a:chOff x="8582703" y="3010595"/>
            <a:chExt cx="2953867" cy="950416"/>
          </a:xfrm>
        </p:grpSpPr>
        <p:sp>
          <p:nvSpPr>
            <p:cNvPr id="99" name="Google Shape;99;p16"/>
            <p:cNvSpPr/>
            <p:nvPr/>
          </p:nvSpPr>
          <p:spPr>
            <a:xfrm>
              <a:off x="8582703" y="3010595"/>
              <a:ext cx="2953867" cy="950416"/>
            </a:xfrm>
            <a:prstGeom prst="roundRect">
              <a:avLst>
                <a:gd name="adj" fmla="val 7048"/>
              </a:avLst>
            </a:prstGeom>
            <a:solidFill>
              <a:srgbClr val="DADBF1"/>
            </a:solidFill>
            <a:ln w="9525" cap="flat" cmpd="sng">
              <a:solidFill>
                <a:srgbClr val="C0C1D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8748494" y="3176389"/>
              <a:ext cx="2622286" cy="2491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0"/>
                <a:buFont typeface="Arial"/>
                <a:buNone/>
              </a:pPr>
              <a:r>
                <a:rPr lang="en-US" sz="1550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📦</a:t>
              </a:r>
              <a:r>
                <a:rPr lang="en-US" sz="1550" b="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Objeto</a:t>
              </a:r>
              <a:endParaRPr sz="1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8748494" y="3560068"/>
              <a:ext cx="2622286" cy="2351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250"/>
                <a:buFont typeface="Inter"/>
                <a:buNone/>
              </a:pPr>
              <a:r>
                <a:rPr lang="en-US" sz="125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Instância concreta</a:t>
              </a:r>
              <a:endParaRPr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16"/>
          <p:cNvGrpSpPr/>
          <p:nvPr/>
        </p:nvGrpSpPr>
        <p:grpSpPr>
          <a:xfrm>
            <a:off x="7755147" y="4095552"/>
            <a:ext cx="3781423" cy="950416"/>
            <a:chOff x="8582703" y="4095552"/>
            <a:chExt cx="2953867" cy="950416"/>
          </a:xfrm>
        </p:grpSpPr>
        <p:sp>
          <p:nvSpPr>
            <p:cNvPr id="103" name="Google Shape;103;p16"/>
            <p:cNvSpPr/>
            <p:nvPr/>
          </p:nvSpPr>
          <p:spPr>
            <a:xfrm>
              <a:off x="8582703" y="4095552"/>
              <a:ext cx="2953867" cy="950416"/>
            </a:xfrm>
            <a:prstGeom prst="roundRect">
              <a:avLst>
                <a:gd name="adj" fmla="val 7048"/>
              </a:avLst>
            </a:prstGeom>
            <a:solidFill>
              <a:srgbClr val="DADBF1"/>
            </a:solidFill>
            <a:ln w="9525" cap="flat" cmpd="sng">
              <a:solidFill>
                <a:srgbClr val="C0C1D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6"/>
            <p:cNvSpPr/>
            <p:nvPr/>
          </p:nvSpPr>
          <p:spPr>
            <a:xfrm>
              <a:off x="8748494" y="4261346"/>
              <a:ext cx="2622286" cy="2491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0"/>
                <a:buFont typeface="Arial"/>
                <a:buNone/>
              </a:pPr>
              <a:r>
                <a:rPr lang="en-US" sz="1550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📋</a:t>
              </a:r>
              <a:r>
                <a:rPr lang="en-US" sz="1550" b="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Estado</a:t>
              </a:r>
              <a:endParaRPr sz="1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8748494" y="4645025"/>
              <a:ext cx="2622286" cy="2351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250"/>
                <a:buFont typeface="Inter"/>
                <a:buNone/>
              </a:pPr>
              <a:r>
                <a:rPr lang="en-US" sz="125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Atributos (dados)</a:t>
              </a:r>
              <a:endParaRPr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6"/>
          <p:cNvGrpSpPr/>
          <p:nvPr/>
        </p:nvGrpSpPr>
        <p:grpSpPr>
          <a:xfrm>
            <a:off x="7755147" y="5180509"/>
            <a:ext cx="3781423" cy="950416"/>
            <a:chOff x="8582703" y="5180509"/>
            <a:chExt cx="2953867" cy="950416"/>
          </a:xfrm>
        </p:grpSpPr>
        <p:sp>
          <p:nvSpPr>
            <p:cNvPr id="107" name="Google Shape;107;p16"/>
            <p:cNvSpPr/>
            <p:nvPr/>
          </p:nvSpPr>
          <p:spPr>
            <a:xfrm>
              <a:off x="8582703" y="5180509"/>
              <a:ext cx="2953867" cy="950416"/>
            </a:xfrm>
            <a:prstGeom prst="roundRect">
              <a:avLst>
                <a:gd name="adj" fmla="val 7048"/>
              </a:avLst>
            </a:prstGeom>
            <a:solidFill>
              <a:srgbClr val="DADBF1"/>
            </a:solidFill>
            <a:ln w="9525" cap="flat" cmpd="sng">
              <a:solidFill>
                <a:srgbClr val="C0C1D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6"/>
            <p:cNvSpPr/>
            <p:nvPr/>
          </p:nvSpPr>
          <p:spPr>
            <a:xfrm>
              <a:off x="8748494" y="5346303"/>
              <a:ext cx="2622286" cy="2491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0"/>
                <a:buFont typeface="Arial"/>
                <a:buNone/>
              </a:pPr>
              <a:r>
                <a:rPr lang="en-US" sz="1550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⚙️</a:t>
              </a:r>
              <a:r>
                <a:rPr lang="en-US" sz="1550" b="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Comportamento</a:t>
              </a:r>
              <a:endParaRPr sz="1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6"/>
            <p:cNvSpPr/>
            <p:nvPr/>
          </p:nvSpPr>
          <p:spPr>
            <a:xfrm>
              <a:off x="8748494" y="5729982"/>
              <a:ext cx="2622286" cy="2351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250"/>
                <a:buFont typeface="Inter"/>
                <a:buNone/>
              </a:pPr>
              <a:r>
                <a:rPr lang="en-US" sz="125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Métodos (ações)</a:t>
              </a:r>
              <a:endParaRPr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/>
          <p:nvPr/>
        </p:nvSpPr>
        <p:spPr>
          <a:xfrm>
            <a:off x="856832" y="763588"/>
            <a:ext cx="8249612" cy="495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nter"/>
              <a:buNone/>
            </a:pPr>
            <a:r>
              <a:rPr lang="en-US" sz="2400" b="1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Atributos</a:t>
            </a:r>
            <a:r>
              <a:rPr lang="en-US" sz="28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= Estado · </a:t>
            </a:r>
            <a:r>
              <a:rPr lang="en-US" sz="2800" b="1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Métodos</a:t>
            </a:r>
            <a:r>
              <a:rPr lang="en-US" sz="28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= </a:t>
            </a:r>
            <a:r>
              <a:rPr lang="en-US" sz="2800" b="1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Comportamento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667825" y="1732260"/>
            <a:ext cx="10856046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Todo objeto possui </a:t>
            </a:r>
            <a:r>
              <a:rPr lang="en-US" sz="145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duas dimensões complementares</a:t>
            </a:r>
            <a:r>
              <a:rPr lang="en-US" sz="14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: o que ele </a:t>
            </a:r>
            <a:r>
              <a:rPr lang="en-US" sz="1450" i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sabe</a:t>
            </a:r>
            <a:r>
              <a:rPr lang="en-US" sz="14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(estado) e o que ele </a:t>
            </a:r>
            <a:r>
              <a:rPr lang="en-US" sz="1450" i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faz</a:t>
            </a:r>
            <a:r>
              <a:rPr lang="en-US" sz="14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(comportamento).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661475" y="2247305"/>
            <a:ext cx="10868745" cy="2959642"/>
          </a:xfrm>
          <a:prstGeom prst="roundRect">
            <a:avLst>
              <a:gd name="adj" fmla="val 3082"/>
            </a:avLst>
          </a:prstGeom>
          <a:solidFill>
            <a:srgbClr val="DADBF1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856832" y="2442666"/>
            <a:ext cx="5050009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lang="en-US" sz="185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</a:t>
            </a:r>
            <a:r>
              <a:rPr lang="en-US" sz="185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ESTADO — Atributos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856833" y="2959883"/>
            <a:ext cx="4672700" cy="60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Armazenam os </a:t>
            </a:r>
            <a:r>
              <a:rPr lang="en-US" sz="145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dados</a:t>
            </a:r>
            <a:r>
              <a:rPr lang="en-US" sz="14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do objeto. Representam sua condição atual.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844133" y="3786662"/>
            <a:ext cx="5050009" cy="1058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94640" marR="0" lvl="0" indent="-29464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Consolas"/>
              <a:buChar char="•"/>
            </a:pPr>
            <a:r>
              <a:rPr lang="en-US" sz="145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String titular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4640" marR="0" lvl="0" indent="-29464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Consolas"/>
              <a:buChar char="•"/>
            </a:pPr>
            <a:r>
              <a:rPr lang="en-US" sz="145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double saldo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4640" marR="0" lvl="0" indent="-29464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Consolas"/>
              <a:buChar char="•"/>
            </a:pPr>
            <a:r>
              <a:rPr lang="en-US" sz="145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int numeroConta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6072988" y="2253655"/>
            <a:ext cx="45719" cy="2959642"/>
          </a:xfrm>
          <a:prstGeom prst="roundRect">
            <a:avLst>
              <a:gd name="adj" fmla="val 50001"/>
            </a:avLst>
          </a:prstGeom>
          <a:solidFill>
            <a:srgbClr val="C0C1D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6284854" y="2442666"/>
            <a:ext cx="5050009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lang="en-US" sz="185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⚙️</a:t>
            </a:r>
            <a:r>
              <a:rPr lang="en-US" sz="185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COMPORTAMENTO — Métodos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6284854" y="2959883"/>
            <a:ext cx="5050009" cy="60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Definem as </a:t>
            </a:r>
            <a:r>
              <a:rPr lang="en-US" sz="145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ações</a:t>
            </a:r>
            <a:r>
              <a:rPr lang="en-US" sz="14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que o objeto pode executar. Operam sobre o estado.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6297553" y="3786662"/>
            <a:ext cx="5050009" cy="1058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94640" marR="0" lvl="0" indent="-29464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Consolas"/>
              <a:buChar char="•"/>
            </a:pPr>
            <a:r>
              <a:rPr lang="en-US" sz="145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depositar()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4640" marR="0" lvl="0" indent="-29464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Consolas"/>
              <a:buChar char="•"/>
            </a:pPr>
            <a:r>
              <a:rPr lang="en-US" sz="145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sacar()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4640" marR="0" lvl="0" indent="-29464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Consolas"/>
              <a:buChar char="•"/>
            </a:pPr>
            <a:r>
              <a:rPr lang="en-US" sz="145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consultarSaldo()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5" name="Google Shape;125;p17"/>
          <p:cNvGrpSpPr/>
          <p:nvPr/>
        </p:nvGrpSpPr>
        <p:grpSpPr>
          <a:xfrm>
            <a:off x="655126" y="5424235"/>
            <a:ext cx="10868745" cy="1058366"/>
            <a:chOff x="661475" y="5036046"/>
            <a:chExt cx="10868745" cy="1058366"/>
          </a:xfrm>
        </p:grpSpPr>
        <p:sp>
          <p:nvSpPr>
            <p:cNvPr id="126" name="Google Shape;126;p17"/>
            <p:cNvSpPr/>
            <p:nvPr/>
          </p:nvSpPr>
          <p:spPr>
            <a:xfrm>
              <a:off x="661475" y="5036046"/>
              <a:ext cx="10868745" cy="1058366"/>
            </a:xfrm>
            <a:prstGeom prst="roundRect">
              <a:avLst>
                <a:gd name="adj" fmla="val 7501"/>
              </a:avLst>
            </a:prstGeom>
            <a:solidFill>
              <a:srgbClr val="DADBF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7" name="Google Shape;127;p17" descr="preencoded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50482" y="5341713"/>
              <a:ext cx="236234" cy="1890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" name="Google Shape;128;p17"/>
            <p:cNvSpPr/>
            <p:nvPr/>
          </p:nvSpPr>
          <p:spPr>
            <a:xfrm>
              <a:off x="1275723" y="5272286"/>
              <a:ext cx="10065490" cy="6048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50"/>
                <a:buFont typeface="Inter"/>
                <a:buNone/>
              </a:pPr>
              <a:r>
                <a:rPr lang="en-US" sz="145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Atributos e métodos juntos formam a </a:t>
              </a:r>
              <a:r>
                <a:rPr lang="en-US" sz="1450" b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interface</a:t>
              </a:r>
              <a:r>
                <a:rPr lang="en-US" sz="145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e a </a:t>
              </a:r>
              <a:r>
                <a:rPr lang="en-US" sz="1450" b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lógica</a:t>
              </a:r>
              <a:r>
                <a:rPr lang="en-US" sz="145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de um objeto. Separá-los conceitualmente é o primeiro passo para entender a POO.</a:t>
              </a:r>
              <a:endParaRPr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/>
          <p:nvPr/>
        </p:nvSpPr>
        <p:spPr>
          <a:xfrm>
            <a:off x="845389" y="775791"/>
            <a:ext cx="10684831" cy="590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Inter"/>
              <a:buNone/>
            </a:pPr>
            <a:r>
              <a:rPr lang="en-US" sz="3700" b="1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O que é um Método?</a:t>
            </a:r>
            <a:endParaRPr sz="370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661475" y="2389313"/>
            <a:ext cx="5203794" cy="1990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Um </a:t>
            </a:r>
            <a:r>
              <a:rPr lang="en-US" sz="145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método</a:t>
            </a: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é uma função definida dentro de uma classe. Ele encapsula um comportamento específico do objeto e pode ler ou modificar o estado interno (atributos).</a:t>
            </a:r>
            <a:endParaRPr sz="14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130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Diferente de uma função solta no código, o método </a:t>
            </a:r>
            <a:r>
              <a:rPr lang="en-US" sz="145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pertence a um objeto</a:t>
            </a: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e tem acesso direto aos seus atributos via </a:t>
            </a:r>
            <a:r>
              <a:rPr lang="en-US" sz="1450">
                <a:solidFill>
                  <a:srgbClr val="272525"/>
                </a:solidFill>
                <a:highlight>
                  <a:srgbClr val="F2F2F2"/>
                </a:highlight>
                <a:latin typeface="+mj-lt"/>
                <a:ea typeface="Consolas"/>
                <a:cs typeface="Consolas"/>
                <a:sym typeface="Consolas"/>
              </a:rPr>
              <a:t>this</a:t>
            </a: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(implícito em Dart).</a:t>
            </a:r>
            <a:endParaRPr sz="14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661475" y="4550297"/>
            <a:ext cx="5203794" cy="1407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94640" marR="0" lvl="0" indent="-29464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Representa </a:t>
            </a:r>
            <a:r>
              <a:rPr lang="en-US" sz="145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uma ação</a:t>
            </a: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que o objeto realiza</a:t>
            </a:r>
            <a:endParaRPr sz="14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294640" marR="0" lvl="0" indent="-29464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Pode receber </a:t>
            </a:r>
            <a:r>
              <a:rPr lang="en-US" sz="145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parâmetros</a:t>
            </a: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de entrada</a:t>
            </a:r>
            <a:endParaRPr sz="14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294640" marR="0" lvl="0" indent="-29464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Pode </a:t>
            </a:r>
            <a:r>
              <a:rPr lang="en-US" sz="145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retornar</a:t>
            </a: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um valor ao chamador</a:t>
            </a:r>
            <a:endParaRPr sz="14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294640" marR="0" lvl="0" indent="-29464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Mantém o comportamento </a:t>
            </a:r>
            <a:r>
              <a:rPr lang="en-US" sz="145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coeso</a:t>
            </a: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e organizado</a:t>
            </a:r>
            <a:endParaRPr sz="14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grpSp>
        <p:nvGrpSpPr>
          <p:cNvPr id="137" name="Google Shape;137;p18"/>
          <p:cNvGrpSpPr/>
          <p:nvPr/>
        </p:nvGrpSpPr>
        <p:grpSpPr>
          <a:xfrm>
            <a:off x="6326426" y="2126148"/>
            <a:ext cx="5203794" cy="4007048"/>
            <a:chOff x="6332776" y="1862534"/>
            <a:chExt cx="5203794" cy="4007048"/>
          </a:xfrm>
        </p:grpSpPr>
        <p:sp>
          <p:nvSpPr>
            <p:cNvPr id="138" name="Google Shape;138;p18"/>
            <p:cNvSpPr/>
            <p:nvPr/>
          </p:nvSpPr>
          <p:spPr>
            <a:xfrm>
              <a:off x="6332776" y="1862534"/>
              <a:ext cx="5203794" cy="4007048"/>
            </a:xfrm>
            <a:prstGeom prst="roundRect">
              <a:avLst>
                <a:gd name="adj" fmla="val 1981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8"/>
            <p:cNvSpPr/>
            <p:nvPr/>
          </p:nvSpPr>
          <p:spPr>
            <a:xfrm>
              <a:off x="6559584" y="2051546"/>
              <a:ext cx="4750177" cy="3629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450"/>
                <a:buFont typeface="Consolas"/>
                <a:buNone/>
              </a:pPr>
              <a:r>
                <a:rPr lang="en-US" sz="145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class Conta {</a:t>
              </a:r>
              <a:endParaRPr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450"/>
                <a:buFont typeface="Consolas"/>
                <a:buNone/>
              </a:pPr>
              <a:r>
                <a:rPr lang="en-US" sz="145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String titular;</a:t>
              </a:r>
              <a:endParaRPr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450"/>
                <a:buFont typeface="Consolas"/>
                <a:buNone/>
              </a:pPr>
              <a:r>
                <a:rPr lang="en-US" sz="145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double saldo;</a:t>
              </a:r>
              <a:endParaRPr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50"/>
                <a:buFont typeface="Calibri"/>
                <a:buNone/>
              </a:pPr>
              <a:endParaRPr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450"/>
                <a:buFont typeface="Consolas"/>
                <a:buNone/>
              </a:pPr>
              <a:r>
                <a:rPr lang="en-US" sz="145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void depositar(double valor) {</a:t>
              </a:r>
              <a:endParaRPr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450"/>
                <a:buFont typeface="Consolas"/>
                <a:buNone/>
              </a:pPr>
              <a:r>
                <a:rPr lang="en-US" sz="145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  saldo += valor;</a:t>
              </a:r>
              <a:endParaRPr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450"/>
                <a:buFont typeface="Consolas"/>
                <a:buNone/>
              </a:pPr>
              <a:r>
                <a:rPr lang="en-US" sz="145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}</a:t>
              </a:r>
              <a:endParaRPr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50"/>
                <a:buFont typeface="Calibri"/>
                <a:buNone/>
              </a:pPr>
              <a:endParaRPr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450"/>
                <a:buFont typeface="Consolas"/>
                <a:buNone/>
              </a:pPr>
              <a:r>
                <a:rPr lang="en-US" sz="145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void sacar(double valor) {</a:t>
              </a:r>
              <a:endParaRPr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450"/>
                <a:buFont typeface="Consolas"/>
                <a:buNone/>
              </a:pPr>
              <a:r>
                <a:rPr lang="en-US" sz="145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  saldo -= valor;</a:t>
              </a:r>
              <a:endParaRPr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450"/>
                <a:buFont typeface="Consolas"/>
                <a:buNone/>
              </a:pPr>
              <a:r>
                <a:rPr lang="en-US" sz="145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}</a:t>
              </a:r>
              <a:endParaRPr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450"/>
                <a:buFont typeface="Consolas"/>
                <a:buNone/>
              </a:pPr>
              <a:r>
                <a:rPr lang="en-US" sz="145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/>
          <p:nvPr/>
        </p:nvSpPr>
        <p:spPr>
          <a:xfrm>
            <a:off x="957905" y="881053"/>
            <a:ext cx="5917027" cy="433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Inter"/>
              <a:buNone/>
            </a:pPr>
            <a:r>
              <a:rPr lang="en-US" sz="2700" b="1" dirty="0" err="1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Anatomia</a:t>
            </a:r>
            <a:r>
              <a:rPr lang="en-US" sz="2700" b="1" dirty="0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 de um </a:t>
            </a:r>
            <a:r>
              <a:rPr lang="en-US" sz="2700" b="1" dirty="0" err="1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Método</a:t>
            </a:r>
            <a:r>
              <a:rPr lang="en-US" sz="2700" b="1" dirty="0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2700" b="1" dirty="0" err="1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em</a:t>
            </a:r>
            <a:r>
              <a:rPr lang="en-US" sz="2700" b="1" dirty="0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 Dart</a:t>
            </a:r>
            <a:endParaRPr sz="2700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712372" y="1497995"/>
            <a:ext cx="10868745" cy="313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Cada parte da declaração de um método tem um papel específico. Veja o detalhamento:</a:t>
            </a:r>
            <a:endParaRPr sz="140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661476" y="1909398"/>
            <a:ext cx="10868744" cy="2054027"/>
          </a:xfrm>
          <a:prstGeom prst="roundRect">
            <a:avLst>
              <a:gd name="adj" fmla="val 2838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827960" y="2048205"/>
            <a:ext cx="6219821" cy="1776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double  calcularMedia  (double nota1, double nota2)  {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//  ↑           ↑                   ↑                  ↑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// retorno     nome            parâmetros            corpo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return (nota1 + nota2) / 2;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//    ↑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//  valor devolvido ao chamador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9" name="Google Shape;149;p19"/>
          <p:cNvGrpSpPr/>
          <p:nvPr/>
        </p:nvGrpSpPr>
        <p:grpSpPr>
          <a:xfrm>
            <a:off x="661475" y="4078022"/>
            <a:ext cx="5383375" cy="1165820"/>
            <a:chOff x="661475" y="4078022"/>
            <a:chExt cx="5383375" cy="1165820"/>
          </a:xfrm>
        </p:grpSpPr>
        <p:sp>
          <p:nvSpPr>
            <p:cNvPr id="150" name="Google Shape;150;p19" descr="preencoded.png"/>
            <p:cNvSpPr/>
            <p:nvPr/>
          </p:nvSpPr>
          <p:spPr>
            <a:xfrm>
              <a:off x="661475" y="4078022"/>
              <a:ext cx="5383375" cy="116582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/>
            <a:p>
              <a:endParaRPr lang="pt-BR">
                <a:latin typeface="+mj-lt"/>
              </a:endParaRPr>
            </a:p>
          </p:txBody>
        </p:sp>
        <p:sp>
          <p:nvSpPr>
            <p:cNvPr id="151" name="Google Shape;151;p19"/>
            <p:cNvSpPr/>
            <p:nvPr/>
          </p:nvSpPr>
          <p:spPr>
            <a:xfrm>
              <a:off x="3249035" y="4171982"/>
              <a:ext cx="208156" cy="260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600"/>
                <a:buFont typeface="Inter"/>
                <a:buNone/>
              </a:pPr>
              <a:r>
                <a:rPr lang="en-US" sz="1600" b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1</a:t>
              </a:r>
              <a:endParaRPr sz="160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9"/>
            <p:cNvSpPr/>
            <p:nvPr/>
          </p:nvSpPr>
          <p:spPr>
            <a:xfrm>
              <a:off x="819328" y="4615391"/>
              <a:ext cx="5067669" cy="2168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350"/>
                <a:buFont typeface="Inter"/>
                <a:buNone/>
              </a:pPr>
              <a:r>
                <a:rPr lang="en-US" sz="1350" b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Tipo de Retorno</a:t>
              </a:r>
              <a:endParaRPr sz="135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9"/>
            <p:cNvSpPr/>
            <p:nvPr/>
          </p:nvSpPr>
          <p:spPr>
            <a:xfrm>
              <a:off x="819328" y="4893402"/>
              <a:ext cx="5067669" cy="1925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050"/>
                <a:buFont typeface="Consolas"/>
                <a:buNone/>
              </a:pPr>
              <a:r>
                <a:rPr lang="en-US" sz="1050" dirty="0">
                  <a:solidFill>
                    <a:srgbClr val="272525"/>
                  </a:solidFill>
                  <a:highlight>
                    <a:srgbClr val="F2F2F2"/>
                  </a:highlight>
                  <a:latin typeface="+mj-lt"/>
                  <a:ea typeface="Consolas"/>
                  <a:cs typeface="Consolas"/>
                  <a:sym typeface="Consolas"/>
                </a:rPr>
                <a:t>double</a:t>
              </a:r>
              <a:r>
                <a:rPr lang="en-US" sz="1050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 — indica o </a:t>
              </a:r>
              <a:r>
                <a:rPr lang="en-US" sz="1050" dirty="0" err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tipo</a:t>
              </a:r>
              <a:r>
                <a:rPr lang="en-US" sz="1050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 do valor </a:t>
              </a:r>
              <a:r>
                <a:rPr lang="en-US" sz="1050" dirty="0" err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devolvido</a:t>
              </a:r>
              <a:r>
                <a:rPr lang="en-US" sz="1050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. Use </a:t>
              </a:r>
              <a:r>
                <a:rPr lang="en-US" sz="1050" dirty="0">
                  <a:solidFill>
                    <a:srgbClr val="272525"/>
                  </a:solidFill>
                  <a:highlight>
                    <a:srgbClr val="F2F2F2"/>
                  </a:highlight>
                  <a:latin typeface="+mj-lt"/>
                  <a:ea typeface="Consolas"/>
                  <a:cs typeface="Consolas"/>
                  <a:sym typeface="Consolas"/>
                </a:rPr>
                <a:t>void</a:t>
              </a:r>
              <a:r>
                <a:rPr lang="en-US" sz="1050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 </a:t>
              </a:r>
              <a:r>
                <a:rPr lang="en-US" sz="1050" dirty="0" err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quando</a:t>
              </a:r>
              <a:r>
                <a:rPr lang="en-US" sz="1050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 nada é </a:t>
              </a:r>
              <a:r>
                <a:rPr lang="en-US" sz="1050" dirty="0" err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retornado</a:t>
              </a:r>
              <a:r>
                <a:rPr lang="en-US" sz="1050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.</a:t>
              </a:r>
              <a:endParaRPr sz="105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4" name="Google Shape;154;p19" descr="preencoded.png"/>
          <p:cNvSpPr/>
          <p:nvPr/>
        </p:nvSpPr>
        <p:spPr>
          <a:xfrm>
            <a:off x="6146745" y="4078022"/>
            <a:ext cx="5383475" cy="11658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>
              <a:latin typeface="+mj-lt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8734405" y="4171982"/>
            <a:ext cx="208156" cy="260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lang="en-US" sz="160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2</a:t>
            </a:r>
            <a:endParaRPr sz="160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6304599" y="4615391"/>
            <a:ext cx="5067769" cy="216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lang="en-US" sz="1350" b="1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Nome do </a:t>
            </a:r>
            <a:r>
              <a:rPr lang="en-US" sz="1350" b="1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Método</a:t>
            </a:r>
            <a:endParaRPr sz="1350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6304599" y="4893402"/>
            <a:ext cx="5067769" cy="192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272525"/>
                </a:solidFill>
                <a:highlight>
                  <a:srgbClr val="F2F2F2"/>
                </a:highlight>
                <a:latin typeface="+mj-lt"/>
                <a:ea typeface="Consolas"/>
                <a:cs typeface="Consolas"/>
                <a:sym typeface="Consolas"/>
              </a:rPr>
              <a:t>calcularMedia</a:t>
            </a:r>
            <a:r>
              <a:rPr lang="en-US" sz="10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— deve ser um verbo ou expressão verbal que descreva a ação.</a:t>
            </a:r>
            <a:endParaRPr sz="10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 descr="preencoded.png"/>
          <p:cNvSpPr/>
          <p:nvPr/>
        </p:nvSpPr>
        <p:spPr>
          <a:xfrm>
            <a:off x="661475" y="5345740"/>
            <a:ext cx="5383375" cy="135840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>
              <a:latin typeface="+mj-lt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3249035" y="5439700"/>
            <a:ext cx="208156" cy="260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lang="en-US" sz="160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3</a:t>
            </a:r>
            <a:endParaRPr sz="160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819328" y="5883109"/>
            <a:ext cx="5067669" cy="216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lang="en-US" sz="135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Parâmetros</a:t>
            </a:r>
            <a:endParaRPr sz="13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819328" y="6161120"/>
            <a:ext cx="5067669" cy="385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272525"/>
                </a:solidFill>
                <a:highlight>
                  <a:srgbClr val="F2F2F2"/>
                </a:highlight>
                <a:latin typeface="+mj-lt"/>
                <a:ea typeface="Consolas"/>
                <a:cs typeface="Consolas"/>
                <a:sym typeface="Consolas"/>
              </a:rPr>
              <a:t>(double nota1, double nota2)</a:t>
            </a:r>
            <a:r>
              <a:rPr lang="en-US" sz="10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— dados de entrada, tipados, separados por vírgula.</a:t>
            </a:r>
            <a:endParaRPr sz="10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 descr="preencoded.png"/>
          <p:cNvSpPr/>
          <p:nvPr/>
        </p:nvSpPr>
        <p:spPr>
          <a:xfrm>
            <a:off x="6146745" y="5345740"/>
            <a:ext cx="5383475" cy="135840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>
              <a:latin typeface="+mj-lt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8734405" y="5439700"/>
            <a:ext cx="208156" cy="260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lang="en-US" sz="160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4</a:t>
            </a:r>
            <a:endParaRPr sz="160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6304599" y="5883109"/>
            <a:ext cx="5067769" cy="216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lang="en-US" sz="135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Corpo e Return</a:t>
            </a:r>
            <a:endParaRPr sz="13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6304599" y="6161120"/>
            <a:ext cx="5067769" cy="192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lang="en-US" sz="10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Bloco </a:t>
            </a:r>
            <a:r>
              <a:rPr lang="en-US" sz="1050">
                <a:solidFill>
                  <a:srgbClr val="272525"/>
                </a:solidFill>
                <a:highlight>
                  <a:srgbClr val="F2F2F2"/>
                </a:highlight>
                <a:latin typeface="+mj-lt"/>
                <a:ea typeface="Consolas"/>
                <a:cs typeface="Consolas"/>
                <a:sym typeface="Consolas"/>
              </a:rPr>
              <a:t>{}</a:t>
            </a:r>
            <a:r>
              <a:rPr lang="en-US" sz="10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com a lógica. O </a:t>
            </a:r>
            <a:r>
              <a:rPr lang="en-US" sz="1050">
                <a:solidFill>
                  <a:srgbClr val="272525"/>
                </a:solidFill>
                <a:highlight>
                  <a:srgbClr val="F2F2F2"/>
                </a:highlight>
                <a:latin typeface="+mj-lt"/>
                <a:ea typeface="Consolas"/>
                <a:cs typeface="Consolas"/>
                <a:sym typeface="Consolas"/>
              </a:rPr>
              <a:t>return</a:t>
            </a:r>
            <a:r>
              <a:rPr lang="en-US" sz="10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devolve o resultado ao chamador.</a:t>
            </a:r>
            <a:endParaRPr sz="10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/>
          <p:nvPr/>
        </p:nvSpPr>
        <p:spPr>
          <a:xfrm>
            <a:off x="816751" y="867272"/>
            <a:ext cx="5377015" cy="498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Inter"/>
              <a:buNone/>
            </a:pPr>
            <a:r>
              <a:rPr lang="en-US" sz="31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void, Retorno e Parâmetros</a:t>
            </a: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747739" y="1798340"/>
            <a:ext cx="5239810" cy="261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Inter"/>
              <a:buNone/>
            </a:pPr>
            <a:r>
              <a:rPr lang="en-US" sz="1550" b="1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Quando usar </a:t>
            </a:r>
            <a:r>
              <a:rPr lang="en-US" sz="1550" b="1">
                <a:solidFill>
                  <a:srgbClr val="272525"/>
                </a:solidFill>
                <a:highlight>
                  <a:srgbClr val="F2F2F2"/>
                </a:highlight>
                <a:latin typeface="+mj-lt"/>
                <a:ea typeface="Consolas"/>
                <a:cs typeface="Consolas"/>
                <a:sym typeface="Consolas"/>
              </a:rPr>
              <a:t>void</a:t>
            </a:r>
            <a:r>
              <a:rPr lang="en-US" sz="1550" b="1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?</a:t>
            </a:r>
            <a:endParaRPr sz="15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747739" y="2194719"/>
            <a:ext cx="5239810" cy="476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lang="en-US" sz="12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Use </a:t>
            </a:r>
            <a:r>
              <a:rPr lang="en-US" sz="1250">
                <a:solidFill>
                  <a:srgbClr val="272525"/>
                </a:solidFill>
                <a:highlight>
                  <a:srgbClr val="F2F2F2"/>
                </a:highlight>
                <a:latin typeface="+mj-lt"/>
                <a:ea typeface="Consolas"/>
                <a:cs typeface="Consolas"/>
                <a:sym typeface="Consolas"/>
              </a:rPr>
              <a:t>void</a:t>
            </a:r>
            <a:r>
              <a:rPr lang="en-US" sz="12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quando o método realiza uma ação mas </a:t>
            </a:r>
            <a:r>
              <a:rPr lang="en-US" sz="125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não precisa devolver</a:t>
            </a:r>
            <a:r>
              <a:rPr lang="en-US" sz="12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nenhum valor ao chamador. Ex.: imprimir, registrar, atualizar estado.</a:t>
            </a:r>
            <a:endParaRPr sz="12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747739" y="2822674"/>
            <a:ext cx="5239810" cy="1339255"/>
          </a:xfrm>
          <a:prstGeom prst="roundRect">
            <a:avLst>
              <a:gd name="adj" fmla="val 5002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939028" y="2982119"/>
            <a:ext cx="4857232" cy="1020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void depositar(double valor) {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saldo += valor;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// sem return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747739" y="4313237"/>
            <a:ext cx="5239810" cy="249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Inter"/>
              <a:buNone/>
            </a:pPr>
            <a:r>
              <a:rPr lang="en-US" sz="1550" b="1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Quando retornar um valor?</a:t>
            </a:r>
            <a:endParaRPr sz="15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747739" y="4696916"/>
            <a:ext cx="5239810" cy="470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lang="en-US" sz="12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Quando o chamador precisa </a:t>
            </a:r>
            <a:r>
              <a:rPr lang="en-US" sz="125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usar o resultado</a:t>
            </a:r>
            <a:r>
              <a:rPr lang="en-US" sz="12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da operação. O tipo declarado deve casar com o valor retornado.</a:t>
            </a:r>
            <a:endParaRPr sz="12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747739" y="5318522"/>
            <a:ext cx="5239810" cy="1084163"/>
          </a:xfrm>
          <a:prstGeom prst="roundRect">
            <a:avLst>
              <a:gd name="adj" fmla="val 6178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939028" y="5477966"/>
            <a:ext cx="4857232" cy="765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double consultarSaldo() {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  return _saldo;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6383024" y="1798340"/>
            <a:ext cx="5239810" cy="249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Inter"/>
              <a:buNone/>
            </a:pPr>
            <a:r>
              <a:rPr lang="en-US" sz="1550" b="1" dirty="0" err="1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Parâmetros</a:t>
            </a:r>
            <a:r>
              <a:rPr lang="en-US" sz="1550" b="1" dirty="0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: entrada de dados</a:t>
            </a:r>
            <a:endParaRPr sz="1550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6383024" y="2182019"/>
            <a:ext cx="5239810" cy="470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lang="en-US" sz="12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Parâmetros permitem que o método receba informações externas para operar. São declarados com tipo e nome.</a:t>
            </a:r>
            <a:endParaRPr sz="12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6383024" y="2803624"/>
            <a:ext cx="5239810" cy="1084163"/>
          </a:xfrm>
          <a:prstGeom prst="roundRect">
            <a:avLst>
              <a:gd name="adj" fmla="val 6178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6574313" y="2963069"/>
            <a:ext cx="4857232" cy="765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void sacar(double valor) {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saldo -= valor;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6383024" y="4039096"/>
            <a:ext cx="5239810" cy="798314"/>
          </a:xfrm>
          <a:prstGeom prst="roundRect">
            <a:avLst>
              <a:gd name="adj" fmla="val 8391"/>
            </a:avLst>
          </a:prstGeom>
          <a:solidFill>
            <a:srgbClr val="B6D6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42465" y="4245273"/>
            <a:ext cx="199325" cy="15944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/>
          <p:nvPr/>
        </p:nvSpPr>
        <p:spPr>
          <a:xfrm>
            <a:off x="6901231" y="4199930"/>
            <a:ext cx="4562162" cy="476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lang="en-US" sz="1250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Em Dart, parâmetros podem ser </a:t>
            </a:r>
            <a:r>
              <a:rPr lang="en-US" sz="1250" b="1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posicionais</a:t>
            </a:r>
            <a:r>
              <a:rPr lang="en-US" sz="1250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 (padrão) ou </a:t>
            </a:r>
            <a:r>
              <a:rPr lang="en-US" sz="1250" b="1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nomeados</a:t>
            </a:r>
            <a:r>
              <a:rPr lang="en-US" sz="1250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 (entre </a:t>
            </a:r>
            <a:r>
              <a:rPr lang="en-US" sz="1250">
                <a:solidFill>
                  <a:srgbClr val="000000"/>
                </a:solidFill>
                <a:highlight>
                  <a:srgbClr val="F2F2F2"/>
                </a:highlight>
                <a:latin typeface="+mj-lt"/>
                <a:ea typeface="Consolas"/>
                <a:cs typeface="Consolas"/>
                <a:sym typeface="Consolas"/>
              </a:rPr>
              <a:t>{}</a:t>
            </a:r>
            <a:r>
              <a:rPr lang="en-US" sz="1250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). Nesta aula focamos nos posicionais.</a:t>
            </a:r>
            <a:endParaRPr sz="12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/>
          <p:nvPr/>
        </p:nvSpPr>
        <p:spPr>
          <a:xfrm>
            <a:off x="851256" y="810902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Inter"/>
              <a:buNone/>
            </a:pPr>
            <a:r>
              <a:rPr lang="en-US" sz="37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Função × Método · Métodos de Instância</a:t>
            </a:r>
            <a:endParaRPr sz="3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 descr="preencoded.png"/>
          <p:cNvSpPr/>
          <p:nvPr/>
        </p:nvSpPr>
        <p:spPr>
          <a:xfrm>
            <a:off x="661475" y="1891506"/>
            <a:ext cx="5339820" cy="354508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4" name="Google Shape;194;p21"/>
          <p:cNvSpPr/>
          <p:nvPr/>
        </p:nvSpPr>
        <p:spPr>
          <a:xfrm>
            <a:off x="977479" y="2105917"/>
            <a:ext cx="4809409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Inter"/>
              <a:buNone/>
            </a:pPr>
            <a:r>
              <a:rPr lang="en-US" sz="185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Função (top-level)</a:t>
            </a:r>
            <a:endParaRPr sz="18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977479" y="2514599"/>
            <a:ext cx="4809409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Declarada fora de qualquer classe. Não pertence a nenhum objeto. Pode ser chamada diretamente pelo nome.</a:t>
            </a:r>
            <a:endParaRPr sz="14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977479" y="3634482"/>
            <a:ext cx="4809409" cy="1587698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1204287" y="3823493"/>
            <a:ext cx="4355793" cy="120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450"/>
              <a:buFont typeface="Consolas"/>
              <a:buNone/>
            </a:pPr>
            <a:r>
              <a:rPr lang="en-US" sz="145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double calcularMedia(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450"/>
              <a:buFont typeface="Consolas"/>
              <a:buNone/>
            </a:pPr>
            <a:r>
              <a:rPr lang="en-US" sz="145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double n1, double n2) {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450"/>
              <a:buFont typeface="Consolas"/>
              <a:buNone/>
            </a:pPr>
            <a:r>
              <a:rPr lang="en-US" sz="145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return (n1 + n2) / 2;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450"/>
              <a:buFont typeface="Consolas"/>
              <a:buNone/>
            </a:pPr>
            <a:r>
              <a:rPr lang="en-US" sz="145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 descr="preencoded.png"/>
          <p:cNvSpPr/>
          <p:nvPr/>
        </p:nvSpPr>
        <p:spPr>
          <a:xfrm>
            <a:off x="6190301" y="1891506"/>
            <a:ext cx="5339919" cy="354508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9" name="Google Shape;199;p21"/>
          <p:cNvSpPr/>
          <p:nvPr/>
        </p:nvSpPr>
        <p:spPr>
          <a:xfrm>
            <a:off x="6506305" y="2105917"/>
            <a:ext cx="4809509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Inter"/>
              <a:buNone/>
            </a:pPr>
            <a:r>
              <a:rPr lang="en-US" sz="185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Método de Instância</a:t>
            </a:r>
            <a:endParaRPr sz="18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6506305" y="2514599"/>
            <a:ext cx="4809509" cy="913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Declarado dentro de uma classe. É chamado </a:t>
            </a:r>
            <a:r>
              <a:rPr lang="en-US" sz="145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sobre um objeto</a:t>
            </a: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. Tem acesso implícito a todos os atributos daquele objeto via </a:t>
            </a:r>
            <a:r>
              <a:rPr lang="en-US" sz="1450">
                <a:solidFill>
                  <a:srgbClr val="272525"/>
                </a:solidFill>
                <a:highlight>
                  <a:srgbClr val="F2F2F2"/>
                </a:highlight>
                <a:latin typeface="+mj-lt"/>
                <a:ea typeface="Consolas"/>
                <a:cs typeface="Consolas"/>
                <a:sym typeface="Consolas"/>
              </a:rPr>
              <a:t>this</a:t>
            </a: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.</a:t>
            </a:r>
            <a:endParaRPr sz="14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6506305" y="3640832"/>
            <a:ext cx="4809509" cy="982861"/>
          </a:xfrm>
          <a:prstGeom prst="roundRect">
            <a:avLst>
              <a:gd name="adj" fmla="val 807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6733114" y="3829843"/>
            <a:ext cx="4355892" cy="60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1450"/>
              <a:buFont typeface="Consolas"/>
              <a:buNone/>
            </a:pPr>
            <a:r>
              <a:rPr lang="en-US" sz="1450">
                <a:solidFill>
                  <a:srgbClr val="22863A"/>
                </a:solidFill>
                <a:latin typeface="Consolas"/>
                <a:ea typeface="Consolas"/>
                <a:cs typeface="Consolas"/>
                <a:sym typeface="Consolas"/>
              </a:rPr>
              <a:t>var c = Conta();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1450"/>
              <a:buFont typeface="Consolas"/>
              <a:buNone/>
            </a:pPr>
            <a:r>
              <a:rPr lang="en-US" sz="1450">
                <a:solidFill>
                  <a:srgbClr val="22863A"/>
                </a:solidFill>
                <a:latin typeface="Consolas"/>
                <a:ea typeface="Consolas"/>
                <a:cs typeface="Consolas"/>
                <a:sym typeface="Consolas"/>
              </a:rPr>
              <a:t>c.depositar(500); // método de instância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661475" y="5649217"/>
            <a:ext cx="10868745" cy="60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Métodos de instância são o coração do comportamento dos objetos. Cada objeto tem seu próprio estado, mas </a:t>
            </a:r>
            <a:r>
              <a:rPr lang="en-US" sz="145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compartilha a definição do método</a:t>
            </a: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com todos os objetos da mesma classe.</a:t>
            </a:r>
            <a:endParaRPr sz="14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/>
          <p:nvPr/>
        </p:nvSpPr>
        <p:spPr>
          <a:xfrm>
            <a:off x="782130" y="776188"/>
            <a:ext cx="7117270" cy="526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Inter"/>
              <a:buNone/>
            </a:pPr>
            <a:r>
              <a:rPr lang="en-US" sz="3300" b="1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Exemplo</a:t>
            </a:r>
            <a:r>
              <a:rPr lang="en-US" sz="33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Classe Conta </a:t>
            </a:r>
            <a:r>
              <a:rPr lang="en-US" sz="3300" b="1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Bancária</a:t>
            </a:r>
            <a:endParaRPr sz="3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0" name="Google Shape;210;p22"/>
          <p:cNvGrpSpPr/>
          <p:nvPr/>
        </p:nvGrpSpPr>
        <p:grpSpPr>
          <a:xfrm>
            <a:off x="782129" y="1756568"/>
            <a:ext cx="5066579" cy="4646613"/>
            <a:chOff x="5233360" y="1481137"/>
            <a:chExt cx="2943052" cy="4646613"/>
          </a:xfrm>
        </p:grpSpPr>
        <p:sp>
          <p:nvSpPr>
            <p:cNvPr id="211" name="Google Shape;211;p22"/>
            <p:cNvSpPr/>
            <p:nvPr/>
          </p:nvSpPr>
          <p:spPr>
            <a:xfrm>
              <a:off x="5233360" y="1481137"/>
              <a:ext cx="2943052" cy="4646613"/>
            </a:xfrm>
            <a:prstGeom prst="roundRect">
              <a:avLst>
                <a:gd name="adj" fmla="val 2402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22"/>
            <p:cNvSpPr/>
            <p:nvPr/>
          </p:nvSpPr>
          <p:spPr>
            <a:xfrm>
              <a:off x="5435365" y="1649413"/>
              <a:ext cx="2539044" cy="43100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300"/>
                <a:buFont typeface="Consolas"/>
                <a:buNone/>
              </a:pPr>
              <a:r>
                <a:rPr lang="en-US" sz="130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class Conta {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300"/>
                <a:buFont typeface="Consolas"/>
                <a:buNone/>
              </a:pPr>
              <a:r>
                <a:rPr lang="en-US" sz="130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String titular;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300"/>
                <a:buFont typeface="Consolas"/>
                <a:buNone/>
              </a:pPr>
              <a:r>
                <a:rPr lang="en-US" sz="130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double saldo;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300"/>
                <a:buFont typeface="Consolas"/>
                <a:buNone/>
              </a:pPr>
              <a:r>
                <a:rPr lang="en-US" sz="130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void depositar(double valor) {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300"/>
                <a:buFont typeface="Consolas"/>
                <a:buNone/>
              </a:pPr>
              <a:r>
                <a:rPr lang="en-US" sz="130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  saldo += valor;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300"/>
                <a:buFont typeface="Consolas"/>
                <a:buNone/>
              </a:pPr>
              <a:r>
                <a:rPr lang="en-US" sz="130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}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300"/>
                <a:buFont typeface="Consolas"/>
                <a:buNone/>
              </a:pPr>
              <a:r>
                <a:rPr lang="en-US" sz="130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void sacar(double valor) {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300"/>
                <a:buFont typeface="Consolas"/>
                <a:buNone/>
              </a:pPr>
              <a:r>
                <a:rPr lang="en-US" sz="130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  saldo -= valor;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300"/>
                <a:buFont typeface="Consolas"/>
                <a:buNone/>
              </a:pPr>
              <a:r>
                <a:rPr lang="en-US" sz="130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}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300"/>
                <a:buFont typeface="Consolas"/>
                <a:buNone/>
              </a:pPr>
              <a:r>
                <a:rPr lang="en-US" sz="130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double consultarSaldo() {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300"/>
                <a:buFont typeface="Consolas"/>
                <a:buNone/>
              </a:pPr>
              <a:r>
                <a:rPr lang="en-US" sz="130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  return saldo;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300"/>
                <a:buFont typeface="Consolas"/>
                <a:buNone/>
              </a:pPr>
              <a:r>
                <a:rPr lang="en-US" sz="130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}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300"/>
                <a:buFont typeface="Consolas"/>
                <a:buNone/>
              </a:pPr>
              <a:r>
                <a:rPr lang="en-US" sz="130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3" name="Google Shape;213;p22"/>
          <p:cNvSpPr/>
          <p:nvPr/>
        </p:nvSpPr>
        <p:spPr>
          <a:xfrm>
            <a:off x="6343294" y="1717277"/>
            <a:ext cx="2943052" cy="263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lang="en-US" sz="165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Lendo o </a:t>
            </a:r>
            <a:r>
              <a:rPr lang="en-US" sz="1650" b="1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código</a:t>
            </a:r>
            <a:endParaRPr sz="16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6343294" y="2130226"/>
            <a:ext cx="4924075" cy="163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64160" marR="0" lvl="0" indent="-26416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02"/>
              <a:buFont typeface="Consolas"/>
              <a:buChar char="•"/>
            </a:pPr>
            <a:r>
              <a:rPr lang="en-US" sz="1203" dirty="0" err="1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depositar</a:t>
            </a:r>
            <a:r>
              <a:rPr lang="en-US" sz="1203" dirty="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en-US" sz="1203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1203" dirty="0" err="1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sacar</a:t>
            </a:r>
            <a:r>
              <a:rPr lang="en-US" sz="1203" dirty="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en-US" sz="1203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3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retornam</a:t>
            </a:r>
            <a:r>
              <a:rPr lang="en-US" sz="1203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3" dirty="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1203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1203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Apenas</a:t>
            </a:r>
            <a:r>
              <a:rPr lang="en-US" sz="1203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3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modificam</a:t>
            </a:r>
            <a:r>
              <a:rPr lang="en-US" sz="1203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o </a:t>
            </a:r>
            <a:r>
              <a:rPr lang="en-US" sz="1203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estado</a:t>
            </a:r>
            <a:endParaRPr sz="1203" dirty="0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64160" marR="0" lvl="0" indent="-18783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2"/>
              <a:buFont typeface="Calibri"/>
              <a:buNone/>
            </a:pPr>
            <a:endParaRPr sz="120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4160" marR="0" lvl="0" indent="-26416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02"/>
              <a:buFont typeface="Consolas"/>
              <a:buChar char="•"/>
            </a:pPr>
            <a:r>
              <a:rPr lang="en-US" sz="1203" dirty="0" err="1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consultarSaldo</a:t>
            </a:r>
            <a:r>
              <a:rPr lang="en-US" sz="1203" dirty="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en-US" sz="1203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3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retorna</a:t>
            </a:r>
            <a:r>
              <a:rPr lang="en-US" sz="1203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3" dirty="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-US" sz="1203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: Informa o valor </a:t>
            </a:r>
            <a:r>
              <a:rPr lang="en-US" sz="1203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atual</a:t>
            </a:r>
            <a:r>
              <a:rPr lang="en-US" sz="1203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do </a:t>
            </a:r>
            <a:r>
              <a:rPr lang="en-US" sz="1203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saldo</a:t>
            </a:r>
            <a:endParaRPr sz="1203" dirty="0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4160" marR="0" lvl="0" indent="-26416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02"/>
              <a:buFont typeface="Inter"/>
              <a:buChar char="•"/>
            </a:pPr>
            <a:r>
              <a:rPr lang="en-US" sz="1203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Todos </a:t>
            </a:r>
            <a:r>
              <a:rPr lang="en-US" sz="1203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os</a:t>
            </a:r>
            <a:r>
              <a:rPr lang="en-US" sz="1203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3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métodos</a:t>
            </a:r>
            <a:r>
              <a:rPr lang="en-US" sz="1203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3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acessam</a:t>
            </a:r>
            <a:r>
              <a:rPr lang="en-US" sz="1203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3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diretamente</a:t>
            </a:r>
            <a:r>
              <a:rPr lang="en-US" sz="1203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o </a:t>
            </a:r>
            <a:r>
              <a:rPr lang="en-US" sz="1203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atributo</a:t>
            </a:r>
            <a:r>
              <a:rPr lang="en-US" sz="1203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3" dirty="0" err="1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saldo</a:t>
            </a:r>
            <a:endParaRPr sz="120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6264385" y="4267001"/>
            <a:ext cx="4924075" cy="1391927"/>
          </a:xfrm>
          <a:prstGeom prst="roundRect">
            <a:avLst>
              <a:gd name="adj" fmla="val 3310"/>
            </a:avLst>
          </a:prstGeom>
          <a:solidFill>
            <a:srgbClr val="FCF2B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43294" y="4436775"/>
            <a:ext cx="210338" cy="16827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/>
          <p:nvPr/>
        </p:nvSpPr>
        <p:spPr>
          <a:xfrm>
            <a:off x="6634093" y="4398636"/>
            <a:ext cx="4184658" cy="1128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Atenção: nesta versão, </a:t>
            </a:r>
            <a:r>
              <a:rPr lang="en-US" sz="1300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saldo</a:t>
            </a: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é público. Qualquer código externo pode fazer </a:t>
            </a:r>
            <a:r>
              <a:rPr lang="en-US" sz="1300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conta.saldo = -9999</a:t>
            </a: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Isso é um problema! Veremos a solução com encapsulamento.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"/>
          <p:cNvSpPr/>
          <p:nvPr/>
        </p:nvSpPr>
        <p:spPr>
          <a:xfrm>
            <a:off x="808124" y="813773"/>
            <a:ext cx="10868745" cy="59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-US" sz="37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r>
              <a:rPr lang="en-US" sz="37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Checkpoint Conceitual</a:t>
            </a:r>
            <a:endParaRPr sz="3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808124" y="1737856"/>
            <a:ext cx="11478330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Antes de avançar, verifique se você consegue responder com segurança:</a:t>
            </a:r>
            <a:endParaRPr sz="14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grpSp>
        <p:nvGrpSpPr>
          <p:cNvPr id="225" name="Google Shape;225;p23"/>
          <p:cNvGrpSpPr/>
          <p:nvPr/>
        </p:nvGrpSpPr>
        <p:grpSpPr>
          <a:xfrm>
            <a:off x="661475" y="3037086"/>
            <a:ext cx="3465426" cy="1978521"/>
            <a:chOff x="661475" y="3037086"/>
            <a:chExt cx="3465426" cy="1978521"/>
          </a:xfrm>
        </p:grpSpPr>
        <p:sp>
          <p:nvSpPr>
            <p:cNvPr id="226" name="Google Shape;226;p23"/>
            <p:cNvSpPr/>
            <p:nvPr/>
          </p:nvSpPr>
          <p:spPr>
            <a:xfrm>
              <a:off x="661475" y="3037086"/>
              <a:ext cx="425241" cy="425252"/>
            </a:xfrm>
            <a:prstGeom prst="roundRect">
              <a:avLst>
                <a:gd name="adj" fmla="val 18669"/>
              </a:avLst>
            </a:prstGeom>
            <a:solidFill>
              <a:srgbClr val="DADBF1"/>
            </a:solidFill>
            <a:ln w="9525" cap="flat" cmpd="sng">
              <a:solidFill>
                <a:srgbClr val="C0C1D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23"/>
            <p:cNvSpPr/>
            <p:nvPr/>
          </p:nvSpPr>
          <p:spPr>
            <a:xfrm>
              <a:off x="732365" y="3072507"/>
              <a:ext cx="283461" cy="3544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2200"/>
                <a:buFont typeface="Inter"/>
                <a:buNone/>
              </a:pPr>
              <a:r>
                <a:rPr lang="en-US" sz="2200" b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1</a:t>
              </a:r>
              <a:endParaRPr sz="220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23"/>
            <p:cNvSpPr/>
            <p:nvPr/>
          </p:nvSpPr>
          <p:spPr>
            <a:xfrm>
              <a:off x="1275723" y="3101975"/>
              <a:ext cx="2851178" cy="590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850"/>
                <a:buFont typeface="Inter"/>
                <a:buNone/>
              </a:pPr>
              <a:r>
                <a:rPr lang="en-US" sz="1850" b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Qual é a diferença entre atributo e método?</a:t>
              </a:r>
              <a:endParaRPr sz="185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23"/>
            <p:cNvSpPr/>
            <p:nvPr/>
          </p:nvSpPr>
          <p:spPr>
            <a:xfrm>
              <a:off x="1275723" y="3805932"/>
              <a:ext cx="2851178" cy="12096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450"/>
                <a:buFont typeface="Inter"/>
                <a:buNone/>
              </a:pPr>
              <a:r>
                <a:rPr lang="en-US" sz="145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Atributo armazena </a:t>
              </a:r>
              <a:r>
                <a:rPr lang="en-US" sz="1450" b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estado</a:t>
              </a:r>
              <a:r>
                <a:rPr lang="en-US" sz="145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; método define </a:t>
              </a:r>
              <a:r>
                <a:rPr lang="en-US" sz="1450" b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comportamento</a:t>
              </a:r>
              <a:r>
                <a:rPr lang="en-US" sz="145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. Um guarda dados, o outro executa ações.</a:t>
              </a:r>
              <a:endParaRPr sz="145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0" name="Google Shape;230;p23"/>
          <p:cNvGrpSpPr/>
          <p:nvPr/>
        </p:nvGrpSpPr>
        <p:grpSpPr>
          <a:xfrm>
            <a:off x="4363135" y="3037086"/>
            <a:ext cx="3465426" cy="1984871"/>
            <a:chOff x="4363135" y="3037086"/>
            <a:chExt cx="3465426" cy="1984871"/>
          </a:xfrm>
        </p:grpSpPr>
        <p:sp>
          <p:nvSpPr>
            <p:cNvPr id="231" name="Google Shape;231;p23"/>
            <p:cNvSpPr/>
            <p:nvPr/>
          </p:nvSpPr>
          <p:spPr>
            <a:xfrm>
              <a:off x="4363135" y="3037086"/>
              <a:ext cx="425241" cy="425252"/>
            </a:xfrm>
            <a:prstGeom prst="roundRect">
              <a:avLst>
                <a:gd name="adj" fmla="val 18669"/>
              </a:avLst>
            </a:prstGeom>
            <a:solidFill>
              <a:srgbClr val="DADBF1"/>
            </a:solidFill>
            <a:ln w="9525" cap="flat" cmpd="sng">
              <a:solidFill>
                <a:srgbClr val="C0C1D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23"/>
            <p:cNvSpPr/>
            <p:nvPr/>
          </p:nvSpPr>
          <p:spPr>
            <a:xfrm>
              <a:off x="4434025" y="3072507"/>
              <a:ext cx="283461" cy="3544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2200"/>
                <a:buFont typeface="Inter"/>
                <a:buNone/>
              </a:pPr>
              <a:r>
                <a:rPr lang="en-US" sz="2200" b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2</a:t>
              </a:r>
              <a:endParaRPr sz="220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23"/>
            <p:cNvSpPr/>
            <p:nvPr/>
          </p:nvSpPr>
          <p:spPr>
            <a:xfrm>
              <a:off x="4977383" y="3101975"/>
              <a:ext cx="2851178" cy="59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850"/>
                <a:buFont typeface="Inter"/>
                <a:buNone/>
              </a:pPr>
              <a:r>
                <a:rPr lang="en-US" sz="1850" b="1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Quando </a:t>
              </a:r>
              <a:r>
                <a:rPr lang="en-US" sz="1850" b="1" dirty="0" err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declarar</a:t>
              </a:r>
              <a:r>
                <a:rPr lang="en-US" sz="1850" b="1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 </a:t>
              </a:r>
              <a:r>
                <a:rPr lang="en-US" sz="1850" b="1" dirty="0">
                  <a:solidFill>
                    <a:srgbClr val="272525"/>
                  </a:solidFill>
                  <a:highlight>
                    <a:srgbClr val="F2F2F2"/>
                  </a:highlight>
                  <a:latin typeface="+mj-lt"/>
                  <a:ea typeface="Consolas"/>
                  <a:cs typeface="Consolas"/>
                  <a:sym typeface="Consolas"/>
                </a:rPr>
                <a:t>void</a:t>
              </a:r>
              <a:r>
                <a:rPr lang="en-US" sz="1850" b="1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 </a:t>
              </a:r>
              <a:r>
                <a:rPr lang="en-US" sz="1850" b="1" dirty="0" err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como</a:t>
              </a:r>
              <a:r>
                <a:rPr lang="en-US" sz="1850" b="1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 </a:t>
              </a:r>
              <a:r>
                <a:rPr lang="en-US" sz="1850" b="1" dirty="0" err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tipo</a:t>
              </a:r>
              <a:r>
                <a:rPr lang="en-US" sz="1850" b="1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 de </a:t>
              </a:r>
              <a:r>
                <a:rPr lang="en-US" sz="1850" b="1" dirty="0" err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retorno</a:t>
              </a:r>
              <a:r>
                <a:rPr lang="en-US" sz="1850" b="1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?</a:t>
              </a:r>
              <a:endParaRPr sz="185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23"/>
            <p:cNvSpPr/>
            <p:nvPr/>
          </p:nvSpPr>
          <p:spPr>
            <a:xfrm>
              <a:off x="4977383" y="3812282"/>
              <a:ext cx="2851178" cy="12096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450"/>
                <a:buFont typeface="Inter"/>
                <a:buNone/>
              </a:pPr>
              <a:r>
                <a:rPr lang="en-US" sz="145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Quando o método realiza uma ação mas </a:t>
              </a:r>
              <a:r>
                <a:rPr lang="en-US" sz="1450" b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não precisa devolver</a:t>
              </a:r>
              <a:r>
                <a:rPr lang="en-US" sz="145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 nenhum valor ao código chamador.</a:t>
              </a:r>
              <a:endParaRPr sz="145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5" name="Google Shape;235;p23"/>
          <p:cNvGrpSpPr/>
          <p:nvPr/>
        </p:nvGrpSpPr>
        <p:grpSpPr>
          <a:xfrm>
            <a:off x="8064794" y="3037086"/>
            <a:ext cx="3465426" cy="2273796"/>
            <a:chOff x="8064794" y="3037086"/>
            <a:chExt cx="3465426" cy="2273796"/>
          </a:xfrm>
        </p:grpSpPr>
        <p:sp>
          <p:nvSpPr>
            <p:cNvPr id="236" name="Google Shape;236;p23"/>
            <p:cNvSpPr/>
            <p:nvPr/>
          </p:nvSpPr>
          <p:spPr>
            <a:xfrm>
              <a:off x="8064794" y="3037086"/>
              <a:ext cx="425241" cy="425252"/>
            </a:xfrm>
            <a:prstGeom prst="roundRect">
              <a:avLst>
                <a:gd name="adj" fmla="val 18669"/>
              </a:avLst>
            </a:prstGeom>
            <a:solidFill>
              <a:srgbClr val="DADBF1"/>
            </a:solidFill>
            <a:ln w="9525" cap="flat" cmpd="sng">
              <a:solidFill>
                <a:srgbClr val="C0C1D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23"/>
            <p:cNvSpPr/>
            <p:nvPr/>
          </p:nvSpPr>
          <p:spPr>
            <a:xfrm>
              <a:off x="8135684" y="3072507"/>
              <a:ext cx="283461" cy="3544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2200"/>
                <a:buFont typeface="Inter"/>
                <a:buNone/>
              </a:pPr>
              <a:r>
                <a:rPr lang="en-US" sz="2200" b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3</a:t>
              </a:r>
              <a:endParaRPr sz="220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23"/>
            <p:cNvSpPr/>
            <p:nvPr/>
          </p:nvSpPr>
          <p:spPr>
            <a:xfrm>
              <a:off x="8679042" y="3101975"/>
              <a:ext cx="2851178" cy="885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850"/>
                <a:buFont typeface="Inter"/>
                <a:buNone/>
              </a:pPr>
              <a:r>
                <a:rPr lang="en-US" sz="1850" b="1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O </a:t>
              </a:r>
              <a:r>
                <a:rPr lang="en-US" sz="1850" b="1" dirty="0" err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que</a:t>
              </a:r>
              <a:r>
                <a:rPr lang="en-US" sz="1850" b="1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 </a:t>
              </a:r>
              <a:r>
                <a:rPr lang="en-US" sz="1850" b="1" dirty="0" err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diferencia</a:t>
              </a:r>
              <a:r>
                <a:rPr lang="en-US" sz="1850" b="1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 um </a:t>
              </a:r>
              <a:r>
                <a:rPr lang="en-US" sz="1850" b="1" dirty="0" err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método</a:t>
              </a:r>
              <a:r>
                <a:rPr lang="en-US" sz="1850" b="1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 de </a:t>
              </a:r>
              <a:r>
                <a:rPr lang="en-US" sz="1850" b="1" dirty="0" err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instância</a:t>
              </a:r>
              <a:r>
                <a:rPr lang="en-US" sz="1850" b="1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 de </a:t>
              </a:r>
              <a:r>
                <a:rPr lang="en-US" sz="1850" b="1" dirty="0" err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uma</a:t>
              </a:r>
              <a:r>
                <a:rPr lang="en-US" sz="1850" b="1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 </a:t>
              </a:r>
              <a:r>
                <a:rPr lang="en-US" sz="1850" b="1" dirty="0" err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função</a:t>
              </a:r>
              <a:r>
                <a:rPr lang="en-US" sz="1850" b="1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 top-level?</a:t>
              </a:r>
              <a:endParaRPr sz="185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23"/>
            <p:cNvSpPr/>
            <p:nvPr/>
          </p:nvSpPr>
          <p:spPr>
            <a:xfrm>
              <a:off x="8679042" y="4101207"/>
              <a:ext cx="2851178" cy="12096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450"/>
                <a:buFont typeface="Inter"/>
                <a:buNone/>
              </a:pPr>
              <a:r>
                <a:rPr lang="en-US" sz="145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O método pertence a um </a:t>
              </a:r>
              <a:r>
                <a:rPr lang="en-US" sz="1450" b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objeto específico</a:t>
              </a:r>
              <a:r>
                <a:rPr lang="en-US" sz="145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 e acessa seus atributos; a função existe de forma independente.</a:t>
              </a:r>
              <a:endParaRPr sz="145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/>
          <p:cNvSpPr/>
          <p:nvPr/>
        </p:nvSpPr>
        <p:spPr>
          <a:xfrm>
            <a:off x="773618" y="819893"/>
            <a:ext cx="10868745" cy="58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0"/>
              <a:buFont typeface="Inter"/>
              <a:buNone/>
            </a:pPr>
            <a:r>
              <a:rPr lang="en-US" sz="365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 Problema do Acesso Direto aos Atributos</a:t>
            </a:r>
            <a:endParaRPr sz="3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661475" y="2030908"/>
            <a:ext cx="5207465" cy="290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None/>
            </a:pPr>
            <a:r>
              <a:rPr lang="en-US" sz="1800" b="1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O que acontece sem proteção?</a:t>
            </a:r>
            <a:endParaRPr sz="180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661475" y="2504777"/>
            <a:ext cx="5207465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Quando os atributos são públicos, </a:t>
            </a:r>
            <a:r>
              <a:rPr lang="en-US" sz="145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qualquer código externo</a:t>
            </a: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pode modificar o estado do objeto diretamente, sem passar pelos métodos da classe — ignorando completamente as regras de negócio.</a:t>
            </a:r>
            <a:endParaRPr sz="14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6329105" y="2030908"/>
            <a:ext cx="5207465" cy="290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None/>
            </a:pPr>
            <a:r>
              <a:rPr lang="en-US" sz="1800" b="1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Por que isso é perigoso?</a:t>
            </a:r>
            <a:endParaRPr sz="180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 descr="preencoded.png"/>
          <p:cNvSpPr/>
          <p:nvPr/>
        </p:nvSpPr>
        <p:spPr>
          <a:xfrm>
            <a:off x="6398854" y="2536775"/>
            <a:ext cx="279095" cy="27910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>
              <a:latin typeface="+mj-lt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6933729" y="2527597"/>
            <a:ext cx="4602841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lang="en-US" sz="145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Viola regras de negócio</a:t>
            </a: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: saldo negativo sem que a lógica do saque seja consultada</a:t>
            </a:r>
            <a:endParaRPr sz="14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 descr="preencoded.png"/>
          <p:cNvSpPr/>
          <p:nvPr/>
        </p:nvSpPr>
        <p:spPr>
          <a:xfrm>
            <a:off x="6398854" y="3493641"/>
            <a:ext cx="279095" cy="27910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>
              <a:latin typeface="+mj-lt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6933729" y="3484463"/>
            <a:ext cx="4602841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lang="en-US" sz="145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Estado inconsistente</a:t>
            </a: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: o objeto fica em um estado que a própria classe jamais permitiria</a:t>
            </a:r>
            <a:endParaRPr sz="14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 descr="preencoded.png"/>
          <p:cNvSpPr/>
          <p:nvPr/>
        </p:nvSpPr>
        <p:spPr>
          <a:xfrm>
            <a:off x="6398854" y="4450506"/>
            <a:ext cx="279095" cy="27910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>
              <a:latin typeface="+mj-lt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6933729" y="4441328"/>
            <a:ext cx="4602841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lang="en-US" sz="145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Manutenção difícil</a:t>
            </a: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: qualquer mudança na estrutura interna quebra código externo</a:t>
            </a:r>
            <a:endParaRPr sz="14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6329105" y="5237857"/>
            <a:ext cx="5207465" cy="1308298"/>
          </a:xfrm>
          <a:prstGeom prst="roundRect">
            <a:avLst>
              <a:gd name="adj" fmla="val 5973"/>
            </a:avLst>
          </a:prstGeom>
          <a:solidFill>
            <a:srgbClr val="FFB3B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p2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15135" y="5514181"/>
            <a:ext cx="232563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4"/>
          <p:cNvSpPr/>
          <p:nvPr/>
        </p:nvSpPr>
        <p:spPr>
          <a:xfrm>
            <a:off x="6933729" y="5449093"/>
            <a:ext cx="4416811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A solução é </a:t>
            </a:r>
            <a:r>
              <a:rPr lang="en-US" sz="1450" b="1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encapsular</a:t>
            </a:r>
            <a:r>
              <a:rPr lang="en-US" sz="1450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: esconder o estado interno e expor apenas o que é necessário através de métodos controlados.</a:t>
            </a:r>
            <a:endParaRPr sz="14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1096</Words>
  <Application>Microsoft Office PowerPoint</Application>
  <PresentationFormat>Widescreen</PresentationFormat>
  <Paragraphs>156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Times New Roman</vt:lpstr>
      <vt:lpstr>Consolas</vt:lpstr>
      <vt:lpstr>Calibri</vt:lpstr>
      <vt:lpstr>Arial</vt:lpstr>
      <vt:lpstr>Inter</vt:lpstr>
      <vt:lpstr>Tema1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Pedro Miho</cp:lastModifiedBy>
  <cp:revision>3</cp:revision>
  <dcterms:modified xsi:type="dcterms:W3CDTF">2026-09-06T16:58:16Z</dcterms:modified>
</cp:coreProperties>
</file>