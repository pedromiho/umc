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78" r:id="rId3"/>
    <p:sldId id="279" r:id="rId4"/>
    <p:sldId id="280" r:id="rId5"/>
    <p:sldId id="289" r:id="rId6"/>
    <p:sldId id="281" r:id="rId7"/>
    <p:sldId id="284" r:id="rId8"/>
    <p:sldId id="285" r:id="rId9"/>
    <p:sldId id="283" r:id="rId10"/>
    <p:sldId id="286" r:id="rId11"/>
    <p:sldId id="287" r:id="rId12"/>
    <p:sldId id="288" r:id="rId13"/>
    <p:sldId id="291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9A3B9811-863C-4514-A203-A948633EA0E6}">
          <p14:sldIdLst>
            <p14:sldId id="256"/>
            <p14:sldId id="278"/>
            <p14:sldId id="279"/>
            <p14:sldId id="280"/>
            <p14:sldId id="289"/>
            <p14:sldId id="281"/>
            <p14:sldId id="284"/>
            <p14:sldId id="285"/>
            <p14:sldId id="283"/>
            <p14:sldId id="286"/>
            <p14:sldId id="287"/>
            <p14:sldId id="288"/>
            <p14:sldId id="29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073"/>
    <a:srgbClr val="48916E"/>
    <a:srgbClr val="3184F4"/>
    <a:srgbClr val="7E67A8"/>
    <a:srgbClr val="C08D5F"/>
    <a:srgbClr val="9C9B99"/>
    <a:srgbClr val="9BAD56"/>
    <a:srgbClr val="1F2024"/>
    <a:srgbClr val="EADD32"/>
    <a:srgbClr val="58B0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1950" y="9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F73EA-414C-4929-B3E7-AD122EFFB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7FCEED-3F66-43BC-8B20-36021361A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39507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DFB8E-AD99-4A2B-8BE2-ED878F912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BA61F7-989E-45C9-916D-42CE0B17B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907272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40976-951F-48E1-9F65-E2E7237C0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F09C38-83BA-4379-9DE9-B52DAEE2D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01F2F7-E203-4170-8B06-E39E4EF61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2FDAB5-81C4-491B-B1DB-3E7A63996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87684E-F6A9-4B10-B6C6-98901C57A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2691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1A5A9C-1616-4A2F-9897-2AA0D6A7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9E4B8E-0EE6-4C64-9500-F64ED0B84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E3A651-93A6-476E-86D8-9380EB07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D3856C12-D3CA-9CE2-7861-13FBF02F4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07102269-6BD9-547A-4740-3B8E3F48BF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25625"/>
            <a:ext cx="5181600" cy="437038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CB7389AF-7009-AFBD-694C-4FEB5C402AF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0" y="1844675"/>
            <a:ext cx="5181600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11802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207A11-9E53-4968-BFBB-FBA312D2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141C8A-81E9-4FD8-AF20-F5BD9DA31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1C8E84-38D3-49F5-9A51-7C0AF548D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95D1BB-221B-469A-A06C-FD406B207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EAA33C3-5B87-4019-8743-8F9C2F9830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0BDA0B8-E9EF-4477-9209-5DEC09732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BCF0E10-CAD6-4E43-98B3-1AFB88B6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9AF65EF7-14AA-3189-A9E5-924E752AE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4505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20D39C8-444E-4546-80F5-D0180A75AF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1C134A4-BE1B-4962-9516-659CD4519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CE7749A-36AE-46D1-BE46-BE0E2F45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F8FEF21-0B4E-C030-F1F6-1E8EDC3D8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457533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43BC826-C9FB-472E-956F-F80F0568AE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E154652-AECB-47CC-A9CD-8426C4D1A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7E24980-9E3E-413B-9621-9DCBCC5F4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3773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F34EE3-79AE-487D-B73B-1A408180A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844675"/>
            <a:ext cx="5256212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5AF76A-9469-4EBF-8DAC-F6889FD7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4ED122-B6B8-4D0E-98A8-D1205798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136D5D-BD69-4CD2-A354-F8289DAAC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9566D364-0170-A389-F159-C7C9D62E4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76796487-CD7B-89D5-C833-332E8D160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9345" y="1844675"/>
            <a:ext cx="5060308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281492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0F7117-B346-47D7-9DBC-5BBD02B232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773382"/>
            <a:ext cx="6172200" cy="40876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DB8822-F4D3-4DE6-B130-D7308F116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73382"/>
            <a:ext cx="3932237" cy="40956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70F3C1-6276-4A5F-B650-8B2E8FB063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42CF32-D9DD-42DF-9B63-B3207D85D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A81DD0-CB02-442E-A173-AFA500CC7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E29F35F0-D02B-295C-BF50-6E6DC9981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695394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776478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56E30110-E419-43DB-AEFA-3636065754B3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bg1"/>
          </a:solidFill>
          <a:ln>
            <a:solidFill>
              <a:srgbClr val="292A86"/>
            </a:solidFill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AAA702B-ED3B-45E1-8C71-1ACC187886AA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9B168A8-B937-4519-802D-8D1D90A0A0EA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283716" y="719713"/>
            <a:ext cx="127384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495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B5C3A-A09A-4259-AF3D-EF5302F61C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66334"/>
            <a:ext cx="9144000" cy="2004930"/>
          </a:xfrm>
        </p:spPr>
        <p:txBody>
          <a:bodyPr/>
          <a:lstStyle/>
          <a:p>
            <a:r>
              <a:rPr lang="pt-BR" dirty="0"/>
              <a:t>Tratamento de Erros em APIs REST</a:t>
            </a:r>
            <a:endParaRPr lang="pt-BR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FF2C9F-673D-46AD-83CF-B874F96C3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Esp. Pedro Miho</a:t>
            </a:r>
          </a:p>
        </p:txBody>
      </p:sp>
    </p:spTree>
    <p:extLst>
      <p:ext uri="{BB962C8B-B14F-4D97-AF65-F5344CB8AC3E}">
        <p14:creationId xmlns:p14="http://schemas.microsoft.com/office/powerpoint/2010/main" val="4046982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FBF93-6A28-4A3A-BD49-BD5195EDB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 da aula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F56A5B-102D-41DD-8DEE-5A219D789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1800" dirty="0"/>
              <a:t>Uma API não deve apenas funcionar quando tudo ocorre corretamente. Ela também precisa tratar situações de erro e fornecer respostas claras ao cliente, evitando expor informações internas e utilizando os códigos HTTP adequados.</a:t>
            </a:r>
          </a:p>
          <a:p>
            <a:endParaRPr lang="pt-BR" sz="1800" dirty="0"/>
          </a:p>
          <a:p>
            <a:r>
              <a:rPr lang="pt-BR" sz="1800" dirty="0"/>
              <a:t>Durante a aula, vamos trabalhar com três situações comuns:</a:t>
            </a:r>
          </a:p>
          <a:p>
            <a:endParaRPr lang="pt-BR" sz="1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Remover informações sensíveis do erro, como o </a:t>
            </a:r>
            <a:r>
              <a:rPr lang="pt-BR" dirty="0" err="1"/>
              <a:t>stack</a:t>
            </a:r>
            <a:r>
              <a:rPr lang="pt-BR" dirty="0"/>
              <a:t> trace;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Corrigir o 500 </a:t>
            </a:r>
            <a:r>
              <a:rPr lang="pt-BR" dirty="0" err="1"/>
              <a:t>Internal</a:t>
            </a:r>
            <a:r>
              <a:rPr lang="pt-BR" dirty="0"/>
              <a:t> Server </a:t>
            </a:r>
            <a:r>
              <a:rPr lang="pt-BR" dirty="0" err="1"/>
              <a:t>Error</a:t>
            </a:r>
            <a:r>
              <a:rPr lang="pt-BR" dirty="0"/>
              <a:t> para 404 </a:t>
            </a:r>
            <a:r>
              <a:rPr lang="pt-BR" dirty="0" err="1"/>
              <a:t>Not</a:t>
            </a:r>
            <a:r>
              <a:rPr lang="pt-BR" dirty="0"/>
              <a:t> </a:t>
            </a:r>
            <a:r>
              <a:rPr lang="pt-BR" dirty="0" err="1"/>
              <a:t>Found</a:t>
            </a:r>
            <a:r>
              <a:rPr lang="pt-BR" dirty="0"/>
              <a:t> quando um recurso não existe;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Personalizar os erros 400 </a:t>
            </a:r>
            <a:r>
              <a:rPr lang="pt-BR" dirty="0" err="1"/>
              <a:t>Bad</a:t>
            </a:r>
            <a:r>
              <a:rPr lang="pt-BR" dirty="0"/>
              <a:t> </a:t>
            </a:r>
            <a:r>
              <a:rPr lang="pt-BR" dirty="0" err="1"/>
              <a:t>Request</a:t>
            </a:r>
            <a:r>
              <a:rPr lang="pt-BR" dirty="0"/>
              <a:t>, retornando somente as informações relevantes para o cliente.</a:t>
            </a:r>
          </a:p>
        </p:txBody>
      </p:sp>
    </p:spTree>
    <p:extLst>
      <p:ext uri="{BB962C8B-B14F-4D97-AF65-F5344CB8AC3E}">
        <p14:creationId xmlns:p14="http://schemas.microsoft.com/office/powerpoint/2010/main" val="3891646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4755C-0B27-447E-B0FA-9283CE9A5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Removendo o </a:t>
            </a:r>
            <a:r>
              <a:rPr lang="pt-BR" dirty="0" err="1"/>
              <a:t>Stack</a:t>
            </a:r>
            <a:r>
              <a:rPr lang="pt-BR" dirty="0"/>
              <a:t> Trace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C93A17-F999-4095-A45A-337253DA9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194858"/>
          </a:xfrm>
        </p:spPr>
        <p:txBody>
          <a:bodyPr/>
          <a:lstStyle/>
          <a:p>
            <a:r>
              <a:rPr lang="pt-BR" sz="1600" dirty="0"/>
              <a:t>Quando ocorre um erro na API, o Spring pode retornar informações detalhadas sobre a exceção, incluindo o </a:t>
            </a:r>
            <a:r>
              <a:rPr lang="pt-BR" sz="1600" b="1" dirty="0" err="1"/>
              <a:t>stack</a:t>
            </a:r>
            <a:r>
              <a:rPr lang="pt-BR" sz="1600" b="1" dirty="0"/>
              <a:t> trace</a:t>
            </a:r>
            <a:r>
              <a:rPr lang="pt-BR" sz="1600" dirty="0"/>
              <a:t>.</a:t>
            </a:r>
          </a:p>
          <a:p>
            <a:r>
              <a:rPr lang="pt-BR" sz="1600" dirty="0"/>
              <a:t>Essas informações são úteis para o desenvolvedor durante a investigação do problema, mas </a:t>
            </a:r>
            <a:r>
              <a:rPr lang="pt-BR" sz="1600" b="1" dirty="0"/>
              <a:t>não devem ser expostas ao cliente</a:t>
            </a:r>
            <a:r>
              <a:rPr lang="pt-BR" sz="1600" dirty="0"/>
              <a:t>, pois podem revelar detalhes internos da aplicação.</a:t>
            </a:r>
          </a:p>
          <a:p>
            <a:endParaRPr lang="pt-BR" dirty="0"/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1EBA7A4A-B0CE-4ED2-BBB5-C7969202AA37}"/>
              </a:ext>
            </a:extLst>
          </p:cNvPr>
          <p:cNvSpPr txBox="1">
            <a:spLocks/>
          </p:cNvSpPr>
          <p:nvPr/>
        </p:nvSpPr>
        <p:spPr>
          <a:xfrm>
            <a:off x="592347" y="3191933"/>
            <a:ext cx="5385120" cy="3149600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b="1" dirty="0"/>
              <a:t>Por que devemos remover?</a:t>
            </a:r>
          </a:p>
          <a:p>
            <a:r>
              <a:rPr lang="pt-BR" sz="1400" dirty="0"/>
              <a:t>O cliente precisa saber </a:t>
            </a:r>
            <a:r>
              <a:rPr lang="pt-BR" sz="1400" b="1" dirty="0"/>
              <a:t>que ocorreu um erro</a:t>
            </a:r>
            <a:r>
              <a:rPr lang="pt-BR" sz="1400" dirty="0"/>
              <a:t>, mas não necessariamente precisa conhecer a estrutura interna da aplicação.</a:t>
            </a:r>
          </a:p>
          <a:p>
            <a:r>
              <a:rPr lang="pt-BR" sz="1400" dirty="0"/>
              <a:t>Expor o </a:t>
            </a:r>
            <a:r>
              <a:rPr lang="pt-BR" sz="1400" dirty="0" err="1"/>
              <a:t>stack</a:t>
            </a:r>
            <a:r>
              <a:rPr lang="pt-BR" sz="1400" dirty="0"/>
              <a:t> trace pode revelar: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/>
              <a:t>Classes utilizadas;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/>
              <a:t>Pacotes da aplicação;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/>
              <a:t>Estrutura interna do projeto;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/>
              <a:t>Informações utilizadas pelo servidor.</a:t>
            </a:r>
          </a:p>
          <a:p>
            <a:endParaRPr lang="pt-BR" dirty="0"/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CF389512-0A60-41F8-BBD6-EAAF81268E36}"/>
              </a:ext>
            </a:extLst>
          </p:cNvPr>
          <p:cNvGrpSpPr/>
          <p:nvPr/>
        </p:nvGrpSpPr>
        <p:grpSpPr>
          <a:xfrm>
            <a:off x="6679413" y="3191933"/>
            <a:ext cx="4519757" cy="3070433"/>
            <a:chOff x="6620147" y="3191933"/>
            <a:chExt cx="4519757" cy="3070433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8E62D50F-48B3-4F2C-861C-18FEF05E9A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20147" y="3191933"/>
              <a:ext cx="2700522" cy="2328334"/>
            </a:xfrm>
            <a:prstGeom prst="rect">
              <a:avLst/>
            </a:prstGeom>
          </p:spPr>
        </p:pic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94283CC7-66B1-4AA5-9DF6-FBC60B58AB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53400" y="4766733"/>
              <a:ext cx="2986504" cy="14956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43675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36AB94-246A-415D-A9E2-3FB17EB44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Solução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D3C311-E60F-40B4-A4A0-8295C7684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110192"/>
          </a:xfrm>
        </p:spPr>
        <p:txBody>
          <a:bodyPr/>
          <a:lstStyle/>
          <a:p>
            <a:r>
              <a:rPr lang="pt-BR" dirty="0"/>
              <a:t>Podemos configurar o Spring Boot para não retornar o </a:t>
            </a:r>
            <a:r>
              <a:rPr lang="pt-BR" dirty="0" err="1"/>
              <a:t>stack</a:t>
            </a:r>
            <a:r>
              <a:rPr lang="pt-BR" dirty="0"/>
              <a:t> trace, para isso devemos ir no </a:t>
            </a:r>
            <a:r>
              <a:rPr lang="pt-BR" b="1" dirty="0" err="1"/>
              <a:t>application.properties</a:t>
            </a:r>
            <a:r>
              <a:rPr lang="pt-BR" b="1" dirty="0"/>
              <a:t> </a:t>
            </a:r>
            <a:r>
              <a:rPr lang="pt-BR" dirty="0"/>
              <a:t>e configurar da seguinte forma:</a:t>
            </a:r>
          </a:p>
          <a:p>
            <a:endParaRPr lang="pt-BR" b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3B76710-7126-4671-A359-68BAA92B1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347" y="3029064"/>
            <a:ext cx="6546957" cy="174814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EAB13091-59AE-47BA-A1EF-B934205542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037" y="4241800"/>
            <a:ext cx="4706315" cy="2294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258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36AB94-246A-415D-A9E2-3FB17EB44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retorno está correto 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D3C311-E60F-40B4-A4A0-8295C7684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110192"/>
          </a:xfrm>
        </p:spPr>
        <p:txBody>
          <a:bodyPr/>
          <a:lstStyle/>
          <a:p>
            <a:r>
              <a:rPr lang="pt-BR" dirty="0"/>
              <a:t>O código HTTP deve representar o motivo real da falha, ele retorna o erro 500, indicando erro inesperado dentro do servidor, esta correto ?</a:t>
            </a:r>
            <a:endParaRPr lang="pt-BR" b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3B76710-7126-4671-A359-68BAA92B1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347" y="3029064"/>
            <a:ext cx="6546957" cy="174814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EAB13091-59AE-47BA-A1EF-B934205542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037" y="4241800"/>
            <a:ext cx="4706315" cy="2294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037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A63FB7-F56C-4139-9738-F3CC63829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Corrigindo o 500 para 404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463429-C38B-40BC-8A37-23ACA67C1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915458"/>
          </a:xfrm>
        </p:spPr>
        <p:txBody>
          <a:bodyPr/>
          <a:lstStyle/>
          <a:p>
            <a:r>
              <a:rPr lang="pt-BR" sz="1800" b="1" dirty="0"/>
              <a:t>O problema</a:t>
            </a:r>
          </a:p>
          <a:p>
            <a:r>
              <a:rPr lang="pt-BR" sz="1800" dirty="0"/>
              <a:t>Imagine o seguinte </a:t>
            </a:r>
            <a:r>
              <a:rPr lang="pt-BR" sz="1800" dirty="0" err="1"/>
              <a:t>endpoint</a:t>
            </a:r>
            <a:r>
              <a:rPr lang="pt-BR" sz="1800" dirty="0"/>
              <a:t>:</a:t>
            </a:r>
          </a:p>
          <a:p>
            <a:endParaRPr lang="pt-BR" dirty="0"/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A812CDD2-0520-4824-A917-D168F02E597F}"/>
              </a:ext>
            </a:extLst>
          </p:cNvPr>
          <p:cNvGrpSpPr/>
          <p:nvPr/>
        </p:nvGrpSpPr>
        <p:grpSpPr>
          <a:xfrm>
            <a:off x="592347" y="2961851"/>
            <a:ext cx="11205749" cy="1680434"/>
            <a:chOff x="664518" y="2883099"/>
            <a:chExt cx="11205749" cy="3449968"/>
          </a:xfrm>
        </p:grpSpPr>
        <p:sp>
          <p:nvSpPr>
            <p:cNvPr id="6" name="Shape 20">
              <a:extLst>
                <a:ext uri="{FF2B5EF4-FFF2-40B4-BE49-F238E27FC236}">
                  <a16:creationId xmlns:a16="http://schemas.microsoft.com/office/drawing/2014/main" id="{D75B3664-1711-449B-A727-882FC030877E}"/>
                </a:ext>
              </a:extLst>
            </p:cNvPr>
            <p:cNvSpPr/>
            <p:nvPr/>
          </p:nvSpPr>
          <p:spPr>
            <a:xfrm>
              <a:off x="664518" y="2883099"/>
              <a:ext cx="11205749" cy="3449968"/>
            </a:xfrm>
            <a:prstGeom prst="roundRect">
              <a:avLst>
                <a:gd name="adj" fmla="val 8081"/>
              </a:avLst>
            </a:prstGeom>
            <a:solidFill>
              <a:srgbClr val="1F2024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 21">
              <a:extLst>
                <a:ext uri="{FF2B5EF4-FFF2-40B4-BE49-F238E27FC236}">
                  <a16:creationId xmlns:a16="http://schemas.microsoft.com/office/drawing/2014/main" id="{CD54AD4E-F858-4D7A-A53A-D3332D1E78EF}"/>
                </a:ext>
              </a:extLst>
            </p:cNvPr>
            <p:cNvSpPr/>
            <p:nvPr/>
          </p:nvSpPr>
          <p:spPr>
            <a:xfrm>
              <a:off x="845137" y="3089836"/>
              <a:ext cx="10844511" cy="30364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kern="0" spc="-19" dirty="0">
                  <a:solidFill>
                    <a:srgbClr val="9BAD56"/>
                  </a:solidFill>
                  <a:latin typeface="Consolas" pitchFamily="34" charset="0"/>
                </a:rPr>
                <a:t>@</a:t>
              </a:r>
              <a:r>
                <a:rPr lang="en-US" kern="0" spc="-19" dirty="0" err="1">
                  <a:solidFill>
                    <a:srgbClr val="9BAD56"/>
                  </a:solidFill>
                  <a:latin typeface="Consolas" pitchFamily="34" charset="0"/>
                </a:rPr>
                <a:t>GetMapping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(</a:t>
              </a:r>
              <a:r>
                <a:rPr lang="en-US" kern="0" spc="-19" dirty="0">
                  <a:solidFill>
                    <a:srgbClr val="48916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"/{id}"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)</a:t>
              </a:r>
            </a:p>
            <a:p>
              <a:r>
                <a:rPr lang="en-US" kern="0" spc="-19" dirty="0">
                  <a:solidFill>
                    <a:srgbClr val="C08D5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public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ResponseEntity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kern="0" spc="-19" dirty="0" err="1">
                  <a:solidFill>
                    <a:srgbClr val="3184F4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detalharDentista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(</a:t>
              </a:r>
              <a:r>
                <a:rPr lang="en-US" kern="0" spc="-19" dirty="0">
                  <a:solidFill>
                    <a:srgbClr val="9BAD56"/>
                  </a:solidFill>
                  <a:latin typeface="Consolas" pitchFamily="34" charset="0"/>
                </a:rPr>
                <a:t>@</a:t>
              </a:r>
              <a:r>
                <a:rPr lang="en-US" kern="0" spc="-19" dirty="0" err="1">
                  <a:solidFill>
                    <a:srgbClr val="9BAD56"/>
                  </a:solidFill>
                  <a:latin typeface="Consolas" pitchFamily="34" charset="0"/>
                </a:rPr>
                <a:t>PathVariable</a:t>
              </a:r>
              <a:r>
                <a:rPr lang="en-US" kern="0" spc="-19" dirty="0">
                  <a:solidFill>
                    <a:srgbClr val="9BAD56"/>
                  </a:solidFill>
                  <a:latin typeface="Consolas" pitchFamily="34" charset="0"/>
                </a:rPr>
                <a:t> 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Long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id) {    </a:t>
              </a:r>
            </a:p>
            <a:p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	</a:t>
              </a:r>
              <a:r>
                <a:rPr lang="en-US" kern="0" spc="-19" dirty="0">
                  <a:solidFill>
                    <a:srgbClr val="C08D5F"/>
                  </a:solidFill>
                  <a:latin typeface="Consolas" pitchFamily="34" charset="0"/>
                </a:rPr>
                <a:t>var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dentista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= </a:t>
              </a:r>
              <a:r>
                <a:rPr lang="en-US" kern="0" spc="-19" dirty="0" err="1">
                  <a:solidFill>
                    <a:srgbClr val="7E67A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repository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.getReferenceById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(id);    </a:t>
              </a:r>
            </a:p>
            <a:p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	</a:t>
              </a:r>
              <a:r>
                <a:rPr lang="en-US" kern="0" spc="-19" dirty="0">
                  <a:solidFill>
                    <a:srgbClr val="C08D5F"/>
                  </a:solidFill>
                  <a:latin typeface="Consolas" pitchFamily="34" charset="0"/>
                </a:rPr>
                <a:t>return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ResponseEntity.ok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(</a:t>
              </a:r>
              <a:r>
                <a:rPr lang="en-US" kern="0" spc="-19" dirty="0">
                  <a:solidFill>
                    <a:srgbClr val="C08D5F"/>
                  </a:solidFill>
                  <a:latin typeface="Consolas" pitchFamily="34" charset="0"/>
                </a:rPr>
                <a:t>new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 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DadosDetalhamentoDentista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(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dentista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));</a:t>
              </a:r>
            </a:p>
            <a:p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}</a:t>
              </a:r>
            </a:p>
          </p:txBody>
        </p:sp>
      </p:grp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82C30C71-697C-4D4C-B1CF-BEBA0CD9E652}"/>
              </a:ext>
            </a:extLst>
          </p:cNvPr>
          <p:cNvSpPr txBox="1">
            <a:spLocks/>
          </p:cNvSpPr>
          <p:nvPr/>
        </p:nvSpPr>
        <p:spPr>
          <a:xfrm>
            <a:off x="592347" y="4844003"/>
            <a:ext cx="11007306" cy="638572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dirty="0"/>
              <a:t>Se o cliente solicitar:</a:t>
            </a:r>
          </a:p>
          <a:p>
            <a:endParaRPr lang="pt-BR" dirty="0"/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54DB0819-4F25-4999-BA2A-8763954ED5C3}"/>
              </a:ext>
            </a:extLst>
          </p:cNvPr>
          <p:cNvGrpSpPr/>
          <p:nvPr/>
        </p:nvGrpSpPr>
        <p:grpSpPr>
          <a:xfrm>
            <a:off x="592347" y="5684293"/>
            <a:ext cx="3744126" cy="638572"/>
            <a:chOff x="749185" y="2527734"/>
            <a:chExt cx="5284556" cy="638572"/>
          </a:xfrm>
        </p:grpSpPr>
        <p:sp>
          <p:nvSpPr>
            <p:cNvPr id="13" name="Shape 20">
              <a:extLst>
                <a:ext uri="{FF2B5EF4-FFF2-40B4-BE49-F238E27FC236}">
                  <a16:creationId xmlns:a16="http://schemas.microsoft.com/office/drawing/2014/main" id="{99534478-D2C0-4FE3-9FE8-4ABB6B2E353E}"/>
                </a:ext>
              </a:extLst>
            </p:cNvPr>
            <p:cNvSpPr/>
            <p:nvPr/>
          </p:nvSpPr>
          <p:spPr>
            <a:xfrm>
              <a:off x="749185" y="2527734"/>
              <a:ext cx="5284556" cy="638572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 21">
              <a:extLst>
                <a:ext uri="{FF2B5EF4-FFF2-40B4-BE49-F238E27FC236}">
                  <a16:creationId xmlns:a16="http://schemas.microsoft.com/office/drawing/2014/main" id="{049973B3-A61F-4BEC-8F15-39B05C500383}"/>
                </a:ext>
              </a:extLst>
            </p:cNvPr>
            <p:cNvSpPr/>
            <p:nvPr/>
          </p:nvSpPr>
          <p:spPr>
            <a:xfrm>
              <a:off x="896521" y="2712610"/>
              <a:ext cx="4989884" cy="2688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GET /</a:t>
              </a:r>
              <a:r>
                <a:rPr lang="en-US" sz="1600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dentista</a:t>
              </a:r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/999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2779225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31E47C-D013-434D-B1AD-035CF9C51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é gerado o erro 500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0EA75192-8B95-4F51-A134-622F8D58702C}"/>
              </a:ext>
            </a:extLst>
          </p:cNvPr>
          <p:cNvSpPr txBox="1">
            <a:spLocks/>
          </p:cNvSpPr>
          <p:nvPr/>
        </p:nvSpPr>
        <p:spPr>
          <a:xfrm>
            <a:off x="592347" y="1884903"/>
            <a:ext cx="11007306" cy="638572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dirty="0"/>
              <a:t>Se o ID não existir, o </a:t>
            </a:r>
            <a:r>
              <a:rPr lang="pt-BR" sz="1800" dirty="0" err="1"/>
              <a:t>getReferenceById</a:t>
            </a:r>
            <a:r>
              <a:rPr lang="pt-BR" sz="1800" dirty="0"/>
              <a:t>() gerar uma:</a:t>
            </a:r>
            <a:endParaRPr lang="pt-BR" dirty="0"/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388BD55-2695-4A07-957A-EDE12B112B59}"/>
              </a:ext>
            </a:extLst>
          </p:cNvPr>
          <p:cNvGrpSpPr/>
          <p:nvPr/>
        </p:nvGrpSpPr>
        <p:grpSpPr>
          <a:xfrm>
            <a:off x="592347" y="2833866"/>
            <a:ext cx="3744126" cy="638572"/>
            <a:chOff x="749185" y="2527734"/>
            <a:chExt cx="5284556" cy="638572"/>
          </a:xfrm>
        </p:grpSpPr>
        <p:sp>
          <p:nvSpPr>
            <p:cNvPr id="6" name="Shape 20">
              <a:extLst>
                <a:ext uri="{FF2B5EF4-FFF2-40B4-BE49-F238E27FC236}">
                  <a16:creationId xmlns:a16="http://schemas.microsoft.com/office/drawing/2014/main" id="{C9580E07-E3FB-4BE2-9C15-E40A299EA029}"/>
                </a:ext>
              </a:extLst>
            </p:cNvPr>
            <p:cNvSpPr/>
            <p:nvPr/>
          </p:nvSpPr>
          <p:spPr>
            <a:xfrm>
              <a:off x="749185" y="2527734"/>
              <a:ext cx="5284556" cy="638572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 21">
              <a:extLst>
                <a:ext uri="{FF2B5EF4-FFF2-40B4-BE49-F238E27FC236}">
                  <a16:creationId xmlns:a16="http://schemas.microsoft.com/office/drawing/2014/main" id="{3FA5D00E-2C4E-42EA-9D6A-EAD028DAFD51}"/>
                </a:ext>
              </a:extLst>
            </p:cNvPr>
            <p:cNvSpPr/>
            <p:nvPr/>
          </p:nvSpPr>
          <p:spPr>
            <a:xfrm>
              <a:off x="896521" y="2712610"/>
              <a:ext cx="4989884" cy="2688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600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EntityNotFoundException</a:t>
              </a:r>
              <a:endParaRPr lang="en-US" sz="1600" dirty="0"/>
            </a:p>
          </p:txBody>
        </p:sp>
      </p:grpSp>
      <p:sp>
        <p:nvSpPr>
          <p:cNvPr id="15" name="Espaço Reservado para Conteúdo 2">
            <a:extLst>
              <a:ext uri="{FF2B5EF4-FFF2-40B4-BE49-F238E27FC236}">
                <a16:creationId xmlns:a16="http://schemas.microsoft.com/office/drawing/2014/main" id="{D2B4D204-CAFE-4DB4-8111-F6AA502A6EC8}"/>
              </a:ext>
            </a:extLst>
          </p:cNvPr>
          <p:cNvSpPr txBox="1">
            <a:spLocks/>
          </p:cNvSpPr>
          <p:nvPr/>
        </p:nvSpPr>
        <p:spPr>
          <a:xfrm>
            <a:off x="592347" y="3782829"/>
            <a:ext cx="11007306" cy="638572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dirty="0"/>
              <a:t>Se essa exceção não for tratada, a aplicação pode retornar:</a:t>
            </a:r>
            <a:endParaRPr lang="pt-BR" dirty="0"/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7428B816-CCE7-4170-8B4D-822945D0B009}"/>
              </a:ext>
            </a:extLst>
          </p:cNvPr>
          <p:cNvGrpSpPr/>
          <p:nvPr/>
        </p:nvGrpSpPr>
        <p:grpSpPr>
          <a:xfrm>
            <a:off x="592347" y="4731793"/>
            <a:ext cx="3744126" cy="638572"/>
            <a:chOff x="749185" y="2527734"/>
            <a:chExt cx="5284556" cy="638572"/>
          </a:xfrm>
        </p:grpSpPr>
        <p:sp>
          <p:nvSpPr>
            <p:cNvPr id="17" name="Shape 20">
              <a:extLst>
                <a:ext uri="{FF2B5EF4-FFF2-40B4-BE49-F238E27FC236}">
                  <a16:creationId xmlns:a16="http://schemas.microsoft.com/office/drawing/2014/main" id="{82F01C78-7981-4334-884C-A006809528E3}"/>
                </a:ext>
              </a:extLst>
            </p:cNvPr>
            <p:cNvSpPr/>
            <p:nvPr/>
          </p:nvSpPr>
          <p:spPr>
            <a:xfrm>
              <a:off x="749185" y="2527734"/>
              <a:ext cx="5284556" cy="638572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Text 21">
              <a:extLst>
                <a:ext uri="{FF2B5EF4-FFF2-40B4-BE49-F238E27FC236}">
                  <a16:creationId xmlns:a16="http://schemas.microsoft.com/office/drawing/2014/main" id="{3E73BF3B-CCCB-4150-AC4C-D6D26DC37727}"/>
                </a:ext>
              </a:extLst>
            </p:cNvPr>
            <p:cNvSpPr/>
            <p:nvPr/>
          </p:nvSpPr>
          <p:spPr>
            <a:xfrm>
              <a:off x="896521" y="2712610"/>
              <a:ext cx="4989884" cy="2688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500 Internal Server Error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24344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51F24E-3E68-4CF9-8905-4B09CB1C4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Mas o problema é realmente um erro interno?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3472A29F-C970-4B73-80F4-D452BFBBB29E}"/>
              </a:ext>
            </a:extLst>
          </p:cNvPr>
          <p:cNvSpPr txBox="1">
            <a:spLocks/>
          </p:cNvSpPr>
          <p:nvPr/>
        </p:nvSpPr>
        <p:spPr>
          <a:xfrm>
            <a:off x="592347" y="1884902"/>
            <a:ext cx="11007306" cy="1544097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b="1" dirty="0"/>
              <a:t>Não.</a:t>
            </a:r>
            <a:endParaRPr lang="pt-BR" sz="1800" dirty="0"/>
          </a:p>
          <a:p>
            <a:r>
              <a:rPr lang="pt-BR" sz="1800" dirty="0"/>
              <a:t>O servidor está funcionando. O problema é que o </a:t>
            </a:r>
            <a:r>
              <a:rPr lang="pt-BR" sz="1800" b="1" dirty="0"/>
              <a:t>recurso solicitado não existe</a:t>
            </a:r>
            <a:r>
              <a:rPr lang="pt-BR" sz="1800" dirty="0"/>
              <a:t>.</a:t>
            </a:r>
          </a:p>
          <a:p>
            <a:r>
              <a:rPr lang="pt-BR" sz="1800" dirty="0"/>
              <a:t>Portanto, o código mais adequado é: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7E2B8E48-D890-4DB4-9C9F-A6AA72E6D6FA}"/>
              </a:ext>
            </a:extLst>
          </p:cNvPr>
          <p:cNvGrpSpPr/>
          <p:nvPr/>
        </p:nvGrpSpPr>
        <p:grpSpPr>
          <a:xfrm>
            <a:off x="681247" y="3494266"/>
            <a:ext cx="3744126" cy="638572"/>
            <a:chOff x="749185" y="2527734"/>
            <a:chExt cx="5284556" cy="638572"/>
          </a:xfrm>
        </p:grpSpPr>
        <p:sp>
          <p:nvSpPr>
            <p:cNvPr id="6" name="Shape 20">
              <a:extLst>
                <a:ext uri="{FF2B5EF4-FFF2-40B4-BE49-F238E27FC236}">
                  <a16:creationId xmlns:a16="http://schemas.microsoft.com/office/drawing/2014/main" id="{120E830E-9A34-4C6E-B7B7-4D516E88C614}"/>
                </a:ext>
              </a:extLst>
            </p:cNvPr>
            <p:cNvSpPr/>
            <p:nvPr/>
          </p:nvSpPr>
          <p:spPr>
            <a:xfrm>
              <a:off x="749185" y="2527734"/>
              <a:ext cx="5284556" cy="638572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 21">
              <a:extLst>
                <a:ext uri="{FF2B5EF4-FFF2-40B4-BE49-F238E27FC236}">
                  <a16:creationId xmlns:a16="http://schemas.microsoft.com/office/drawing/2014/main" id="{0199BCCE-3C4A-490A-AE5E-787E0F8F71CF}"/>
                </a:ext>
              </a:extLst>
            </p:cNvPr>
            <p:cNvSpPr/>
            <p:nvPr/>
          </p:nvSpPr>
          <p:spPr>
            <a:xfrm>
              <a:off x="896521" y="2712610"/>
              <a:ext cx="4989884" cy="2688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404 Not Found</a:t>
              </a:r>
              <a:endParaRPr lang="en-US" sz="1600" dirty="0"/>
            </a:p>
          </p:txBody>
        </p:sp>
      </p:grp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ED3897F1-9CE5-4272-9F40-F5CC091286E2}"/>
              </a:ext>
            </a:extLst>
          </p:cNvPr>
          <p:cNvSpPr txBox="1">
            <a:spLocks/>
          </p:cNvSpPr>
          <p:nvPr/>
        </p:nvSpPr>
        <p:spPr>
          <a:xfrm>
            <a:off x="592347" y="4317715"/>
            <a:ext cx="11007306" cy="1003586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b="1" dirty="0"/>
              <a:t>Como resolver?</a:t>
            </a:r>
          </a:p>
          <a:p>
            <a:r>
              <a:rPr lang="pt-BR" sz="1800" dirty="0"/>
              <a:t>Podemos criar um tratamento global utilizando:</a:t>
            </a: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FA02373F-582D-4EF1-B3A2-CC65AD214F18}"/>
              </a:ext>
            </a:extLst>
          </p:cNvPr>
          <p:cNvGrpSpPr/>
          <p:nvPr/>
        </p:nvGrpSpPr>
        <p:grpSpPr>
          <a:xfrm>
            <a:off x="681246" y="5346703"/>
            <a:ext cx="9656553" cy="1003586"/>
            <a:chOff x="749185" y="2616988"/>
            <a:chExt cx="5284556" cy="638572"/>
          </a:xfrm>
        </p:grpSpPr>
        <p:sp>
          <p:nvSpPr>
            <p:cNvPr id="11" name="Shape 20">
              <a:extLst>
                <a:ext uri="{FF2B5EF4-FFF2-40B4-BE49-F238E27FC236}">
                  <a16:creationId xmlns:a16="http://schemas.microsoft.com/office/drawing/2014/main" id="{426C7CB2-1193-4844-AAE5-B5852328CB08}"/>
                </a:ext>
              </a:extLst>
            </p:cNvPr>
            <p:cNvSpPr/>
            <p:nvPr/>
          </p:nvSpPr>
          <p:spPr>
            <a:xfrm>
              <a:off x="749185" y="2616988"/>
              <a:ext cx="5284556" cy="638572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Text 21">
              <a:extLst>
                <a:ext uri="{FF2B5EF4-FFF2-40B4-BE49-F238E27FC236}">
                  <a16:creationId xmlns:a16="http://schemas.microsoft.com/office/drawing/2014/main" id="{BDF15D3D-27A9-4C31-BE93-AD1448275737}"/>
                </a:ext>
              </a:extLst>
            </p:cNvPr>
            <p:cNvSpPr/>
            <p:nvPr/>
          </p:nvSpPr>
          <p:spPr>
            <a:xfrm>
              <a:off x="896521" y="2709426"/>
              <a:ext cx="4989884" cy="4536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@</a:t>
              </a:r>
              <a:r>
                <a:rPr lang="en-US" sz="1600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RestControllerAdvice</a:t>
              </a:r>
              <a:endParaRPr lang="en-US" sz="1600" kern="0" spc="-19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50000"/>
                </a:lnSpc>
              </a:pPr>
              <a:r>
                <a:rPr lang="pt-BR" sz="1600" kern="0" spc="-19" dirty="0">
                  <a:solidFill>
                    <a:srgbClr val="D73A49"/>
                  </a:solidFill>
                  <a:latin typeface="Consolas" pitchFamily="34" charset="0"/>
                </a:rPr>
                <a:t>@</a:t>
              </a:r>
              <a:r>
                <a:rPr lang="pt-BR" sz="1600" kern="0" spc="-19" dirty="0" err="1">
                  <a:solidFill>
                    <a:srgbClr val="D73A49"/>
                  </a:solidFill>
                  <a:latin typeface="Consolas" pitchFamily="34" charset="0"/>
                </a:rPr>
                <a:t>ExceptionHandler</a:t>
              </a:r>
              <a:r>
                <a:rPr lang="pt-BR" sz="1600" kern="0" spc="-19" dirty="0">
                  <a:solidFill>
                    <a:srgbClr val="D73A49"/>
                  </a:solidFill>
                  <a:latin typeface="Consolas" pitchFamily="34" charset="0"/>
                </a:rPr>
                <a:t>(</a:t>
              </a:r>
              <a:r>
                <a:rPr lang="pt-BR" sz="1600" kern="0" spc="-19" dirty="0" err="1">
                  <a:solidFill>
                    <a:srgbClr val="D73A49"/>
                  </a:solidFill>
                  <a:latin typeface="Consolas" pitchFamily="34" charset="0"/>
                </a:rPr>
                <a:t>EntityNotFoundException.class</a:t>
              </a:r>
              <a:r>
                <a:rPr lang="pt-BR" sz="1600" kern="0" spc="-19" dirty="0">
                  <a:solidFill>
                    <a:srgbClr val="D73A49"/>
                  </a:solidFill>
                  <a:latin typeface="Consolas" pitchFamily="34" charset="0"/>
                </a:rPr>
                <a:t>)</a:t>
              </a:r>
              <a:endParaRPr lang="en-US" sz="1600" kern="0" spc="-19" dirty="0">
                <a:solidFill>
                  <a:srgbClr val="D73A49"/>
                </a:solidFill>
                <a:latin typeface="Consolas" pitchFamily="34" charset="0"/>
              </a:endParaRPr>
            </a:p>
            <a:p>
              <a:endParaRPr lang="en-US" sz="1600" kern="0" spc="-19" dirty="0">
                <a:solidFill>
                  <a:srgbClr val="D73A49"/>
                </a:solidFill>
                <a:latin typeface="Consolas" pitchFamily="34" charset="0"/>
              </a:endParaRPr>
            </a:p>
            <a:p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67587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FBBC0-28E0-4EF0-91AF-1C7B25DAC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Solução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D451D9-63AD-46BB-AD6E-A5CD6A848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495425"/>
          </a:xfrm>
        </p:spPr>
        <p:txBody>
          <a:bodyPr/>
          <a:lstStyle/>
          <a:p>
            <a:r>
              <a:rPr lang="pt-BR" dirty="0"/>
              <a:t>Para resolver essa situação, devemos criar uma </a:t>
            </a:r>
            <a:r>
              <a:rPr lang="pt-BR" b="1" dirty="0"/>
              <a:t>classe responsável pelo tratamento global de erros</a:t>
            </a:r>
            <a:r>
              <a:rPr lang="pt-BR" dirty="0"/>
              <a:t>, centralizando o tratamento de exceções do mesmo tipo em um único local e evitando a repetição de código nos diferentes </a:t>
            </a:r>
            <a:r>
              <a:rPr lang="pt-BR" dirty="0" err="1"/>
              <a:t>endpoints</a:t>
            </a:r>
            <a:r>
              <a:rPr lang="pt-BR" dirty="0"/>
              <a:t> da API.</a:t>
            </a: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7173B88C-0490-447A-97A2-C12C907D6ABF}"/>
              </a:ext>
            </a:extLst>
          </p:cNvPr>
          <p:cNvGrpSpPr/>
          <p:nvPr/>
        </p:nvGrpSpPr>
        <p:grpSpPr>
          <a:xfrm>
            <a:off x="592347" y="3517901"/>
            <a:ext cx="7535653" cy="2571405"/>
            <a:chOff x="592347" y="2961851"/>
            <a:chExt cx="11205749" cy="1680434"/>
          </a:xfrm>
        </p:grpSpPr>
        <p:sp>
          <p:nvSpPr>
            <p:cNvPr id="5" name="Text 21">
              <a:extLst>
                <a:ext uri="{FF2B5EF4-FFF2-40B4-BE49-F238E27FC236}">
                  <a16:creationId xmlns:a16="http://schemas.microsoft.com/office/drawing/2014/main" id="{D93ABA03-0C81-4984-99CF-D7E294C16E78}"/>
                </a:ext>
              </a:extLst>
            </p:cNvPr>
            <p:cNvSpPr/>
            <p:nvPr/>
          </p:nvSpPr>
          <p:spPr>
            <a:xfrm>
              <a:off x="772966" y="3062550"/>
              <a:ext cx="10844511" cy="14790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kern="0" spc="-19" dirty="0">
                  <a:solidFill>
                    <a:srgbClr val="9BAD56"/>
                  </a:solidFill>
                  <a:latin typeface="Consolas" pitchFamily="34" charset="0"/>
                </a:rPr>
                <a:t>@</a:t>
              </a:r>
              <a:r>
                <a:rPr lang="en-US" kern="0" spc="-19" dirty="0" err="1">
                  <a:solidFill>
                    <a:srgbClr val="9BAD56"/>
                  </a:solidFill>
                  <a:latin typeface="Consolas" pitchFamily="34" charset="0"/>
                </a:rPr>
                <a:t>GetMapping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(</a:t>
              </a:r>
              <a:r>
                <a:rPr lang="en-US" kern="0" spc="-19" dirty="0">
                  <a:solidFill>
                    <a:srgbClr val="48916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"/{id}"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)</a:t>
              </a:r>
            </a:p>
            <a:p>
              <a:r>
                <a:rPr lang="en-US" kern="0" spc="-19" dirty="0">
                  <a:solidFill>
                    <a:srgbClr val="C08D5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public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ResponseEntity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kern="0" spc="-19" dirty="0" err="1">
                  <a:solidFill>
                    <a:srgbClr val="3184F4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detalharDentista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(</a:t>
              </a:r>
              <a:r>
                <a:rPr lang="en-US" kern="0" spc="-19" dirty="0">
                  <a:solidFill>
                    <a:srgbClr val="9BAD56"/>
                  </a:solidFill>
                  <a:latin typeface="Consolas" pitchFamily="34" charset="0"/>
                </a:rPr>
                <a:t>@</a:t>
              </a:r>
              <a:r>
                <a:rPr lang="en-US" kern="0" spc="-19" dirty="0" err="1">
                  <a:solidFill>
                    <a:srgbClr val="9BAD56"/>
                  </a:solidFill>
                  <a:latin typeface="Consolas" pitchFamily="34" charset="0"/>
                </a:rPr>
                <a:t>PathVariable</a:t>
              </a:r>
              <a:r>
                <a:rPr lang="en-US" kern="0" spc="-19" dirty="0">
                  <a:solidFill>
                    <a:srgbClr val="9BAD56"/>
                  </a:solidFill>
                  <a:latin typeface="Consolas" pitchFamily="34" charset="0"/>
                </a:rPr>
                <a:t> 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Long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id) {    </a:t>
              </a:r>
            </a:p>
            <a:p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	</a:t>
              </a:r>
              <a:r>
                <a:rPr lang="en-US" kern="0" spc="-19" dirty="0">
                  <a:solidFill>
                    <a:srgbClr val="C08D5F"/>
                  </a:solidFill>
                  <a:latin typeface="Consolas" pitchFamily="34" charset="0"/>
                </a:rPr>
                <a:t>var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dentista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= </a:t>
              </a:r>
              <a:r>
                <a:rPr lang="en-US" kern="0" spc="-19" dirty="0" err="1">
                  <a:solidFill>
                    <a:srgbClr val="7E67A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repository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.getReferenceById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(id);    </a:t>
              </a:r>
            </a:p>
            <a:p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	</a:t>
              </a:r>
              <a:r>
                <a:rPr lang="en-US" kern="0" spc="-19" dirty="0">
                  <a:solidFill>
                    <a:srgbClr val="C08D5F"/>
                  </a:solidFill>
                  <a:latin typeface="Consolas" pitchFamily="34" charset="0"/>
                </a:rPr>
                <a:t>return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ResponseEntity.ok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(</a:t>
              </a:r>
              <a:r>
                <a:rPr lang="en-US" kern="0" spc="-19" dirty="0">
                  <a:solidFill>
                    <a:srgbClr val="C08D5F"/>
                  </a:solidFill>
                  <a:latin typeface="Consolas" pitchFamily="34" charset="0"/>
                </a:rPr>
                <a:t>new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 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DadosDetalhamentoDentista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(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dentista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));</a:t>
              </a:r>
            </a:p>
            <a:p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}</a:t>
              </a:r>
            </a:p>
          </p:txBody>
        </p:sp>
        <p:grpSp>
          <p:nvGrpSpPr>
            <p:cNvPr id="6" name="Agrupar 5">
              <a:extLst>
                <a:ext uri="{FF2B5EF4-FFF2-40B4-BE49-F238E27FC236}">
                  <a16:creationId xmlns:a16="http://schemas.microsoft.com/office/drawing/2014/main" id="{A524D03F-A5D9-404F-BFC3-16F41D9CA7EF}"/>
                </a:ext>
              </a:extLst>
            </p:cNvPr>
            <p:cNvGrpSpPr/>
            <p:nvPr/>
          </p:nvGrpSpPr>
          <p:grpSpPr>
            <a:xfrm>
              <a:off x="592347" y="2961851"/>
              <a:ext cx="11205749" cy="1680434"/>
              <a:chOff x="664518" y="2883099"/>
              <a:chExt cx="11205749" cy="3449968"/>
            </a:xfrm>
          </p:grpSpPr>
          <p:sp>
            <p:nvSpPr>
              <p:cNvPr id="7" name="Shape 20">
                <a:extLst>
                  <a:ext uri="{FF2B5EF4-FFF2-40B4-BE49-F238E27FC236}">
                    <a16:creationId xmlns:a16="http://schemas.microsoft.com/office/drawing/2014/main" id="{FAC8947B-0CB8-4137-BB0C-D9B05840B1D0}"/>
                  </a:ext>
                </a:extLst>
              </p:cNvPr>
              <p:cNvSpPr/>
              <p:nvPr/>
            </p:nvSpPr>
            <p:spPr>
              <a:xfrm>
                <a:off x="664518" y="2883099"/>
                <a:ext cx="11205749" cy="3449968"/>
              </a:xfrm>
              <a:prstGeom prst="roundRect">
                <a:avLst>
                  <a:gd name="adj" fmla="val 8081"/>
                </a:avLst>
              </a:prstGeom>
              <a:solidFill>
                <a:srgbClr val="1F2024"/>
              </a:solidFill>
              <a:ln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" name="Text 21">
                <a:extLst>
                  <a:ext uri="{FF2B5EF4-FFF2-40B4-BE49-F238E27FC236}">
                    <a16:creationId xmlns:a16="http://schemas.microsoft.com/office/drawing/2014/main" id="{529D2447-6D16-4537-9F70-14E50D05BFED}"/>
                  </a:ext>
                </a:extLst>
              </p:cNvPr>
              <p:cNvSpPr/>
              <p:nvPr/>
            </p:nvSpPr>
            <p:spPr>
              <a:xfrm>
                <a:off x="845138" y="3089836"/>
                <a:ext cx="10844511" cy="303649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Autofit/>
              </a:bodyPr>
              <a:lstStyle/>
              <a:p>
                <a:pPr>
                  <a:spcBef>
                    <a:spcPts val="150"/>
                  </a:spcBef>
                  <a:spcAft>
                    <a:spcPts val="150"/>
                  </a:spcAft>
                </a:pPr>
                <a:r>
                  <a:rPr lang="en-US" kern="0" spc="-19" dirty="0">
                    <a:solidFill>
                      <a:srgbClr val="9BAD56"/>
                    </a:solidFill>
                    <a:latin typeface="Consolas" pitchFamily="34" charset="0"/>
                  </a:rPr>
                  <a:t>@</a:t>
                </a:r>
                <a:r>
                  <a:rPr lang="en-US" kern="0" spc="-19" dirty="0" err="1">
                    <a:solidFill>
                      <a:srgbClr val="9BAD56"/>
                    </a:solidFill>
                    <a:latin typeface="Consolas" pitchFamily="34" charset="0"/>
                  </a:rPr>
                  <a:t>RestControllerAdvice</a:t>
                </a:r>
                <a:endParaRPr lang="en-US" kern="0" spc="-19" dirty="0">
                  <a:solidFill>
                    <a:srgbClr val="9C9B9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endParaRPr>
              </a:p>
              <a:p>
                <a:pPr>
                  <a:spcBef>
                    <a:spcPts val="150"/>
                  </a:spcBef>
                  <a:spcAft>
                    <a:spcPts val="150"/>
                  </a:spcAft>
                </a:pPr>
                <a:r>
                  <a:rPr lang="en-US" kern="0" spc="-19" dirty="0">
                    <a:solidFill>
                      <a:srgbClr val="C08D5F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public class</a:t>
                </a:r>
                <a:r>
                  <a:rPr lang="en-US" kern="0" spc="-19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</a:t>
                </a:r>
                <a:r>
                  <a:rPr lang="en-US" kern="0" spc="-19" dirty="0" err="1">
                    <a:solidFill>
                      <a:srgbClr val="9C9B99"/>
                    </a:solidFill>
                    <a:latin typeface="Consolas" pitchFamily="34" charset="0"/>
                  </a:rPr>
                  <a:t>TratadorErros</a:t>
                </a:r>
                <a:r>
                  <a:rPr lang="en-US" kern="0" spc="-19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</a:t>
                </a:r>
                <a:r>
                  <a:rPr lang="en-US" kern="0" spc="-19" dirty="0">
                    <a:solidFill>
                      <a:srgbClr val="9C9B99"/>
                    </a:solidFill>
                    <a:latin typeface="Consolas" pitchFamily="34" charset="0"/>
                  </a:rPr>
                  <a:t>{</a:t>
                </a:r>
              </a:p>
              <a:p>
                <a:pPr>
                  <a:spcBef>
                    <a:spcPts val="150"/>
                  </a:spcBef>
                  <a:spcAft>
                    <a:spcPts val="150"/>
                  </a:spcAft>
                </a:pPr>
                <a:r>
                  <a:rPr lang="en-US" kern="0" spc="-19" dirty="0">
                    <a:solidFill>
                      <a:srgbClr val="9BAD56"/>
                    </a:solidFill>
                    <a:latin typeface="Consolas" pitchFamily="34" charset="0"/>
                  </a:rPr>
                  <a:t>	@</a:t>
                </a:r>
                <a:r>
                  <a:rPr lang="en-US" kern="0" spc="-19" dirty="0" err="1">
                    <a:solidFill>
                      <a:srgbClr val="9BAD56"/>
                    </a:solidFill>
                    <a:latin typeface="Consolas" pitchFamily="34" charset="0"/>
                  </a:rPr>
                  <a:t>ExceptionHandler</a:t>
                </a:r>
                <a:r>
                  <a:rPr lang="en-US" kern="0" spc="-19" dirty="0">
                    <a:solidFill>
                      <a:srgbClr val="9BAD56"/>
                    </a:solidFill>
                    <a:latin typeface="Consolas" pitchFamily="34" charset="0"/>
                  </a:rPr>
                  <a:t> </a:t>
                </a:r>
                <a:r>
                  <a:rPr lang="en-US" kern="0" spc="-19" dirty="0">
                    <a:solidFill>
                      <a:srgbClr val="9C9B99"/>
                    </a:solidFill>
                    <a:latin typeface="Consolas" pitchFamily="34" charset="0"/>
                  </a:rPr>
                  <a:t>(</a:t>
                </a:r>
                <a:r>
                  <a:rPr lang="en-US" kern="0" spc="-19" dirty="0" err="1">
                    <a:solidFill>
                      <a:srgbClr val="9C9B99"/>
                    </a:solidFill>
                    <a:latin typeface="Consolas" pitchFamily="34" charset="0"/>
                  </a:rPr>
                  <a:t>EntityNotFoundException.</a:t>
                </a:r>
                <a:r>
                  <a:rPr lang="en-US" kern="0" spc="-19" dirty="0" err="1">
                    <a:solidFill>
                      <a:srgbClr val="C08D5F"/>
                    </a:solidFill>
                    <a:latin typeface="Consolas" pitchFamily="34" charset="0"/>
                  </a:rPr>
                  <a:t>class</a:t>
                </a:r>
                <a:r>
                  <a:rPr lang="en-US" kern="0" spc="-19" dirty="0">
                    <a:solidFill>
                      <a:srgbClr val="9C9B9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)</a:t>
                </a:r>
              </a:p>
              <a:p>
                <a:pPr>
                  <a:spcBef>
                    <a:spcPts val="150"/>
                  </a:spcBef>
                  <a:spcAft>
                    <a:spcPts val="150"/>
                  </a:spcAft>
                </a:pPr>
                <a:r>
                  <a:rPr lang="en-US" kern="0" spc="-19" dirty="0">
                    <a:solidFill>
                      <a:srgbClr val="C08D5F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	public</a:t>
                </a:r>
                <a:r>
                  <a:rPr lang="en-US" kern="0" spc="-19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</a:t>
                </a:r>
                <a:r>
                  <a:rPr lang="en-US" kern="0" spc="-19" dirty="0" err="1">
                    <a:solidFill>
                      <a:srgbClr val="9C9B99"/>
                    </a:solidFill>
                    <a:latin typeface="Consolas" pitchFamily="34" charset="0"/>
                  </a:rPr>
                  <a:t>ResponseEntity</a:t>
                </a:r>
                <a:r>
                  <a:rPr lang="en-US" kern="0" spc="-19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</a:t>
                </a:r>
                <a:r>
                  <a:rPr lang="en-US" kern="0" spc="-19" dirty="0">
                    <a:solidFill>
                      <a:srgbClr val="3184F4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tratarErro404</a:t>
                </a:r>
                <a:r>
                  <a:rPr lang="en-US" kern="0" spc="-19" dirty="0">
                    <a:solidFill>
                      <a:srgbClr val="9C9B99"/>
                    </a:solidFill>
                    <a:latin typeface="Consolas" pitchFamily="34" charset="0"/>
                  </a:rPr>
                  <a:t>() {    </a:t>
                </a:r>
              </a:p>
              <a:p>
                <a:pPr>
                  <a:spcBef>
                    <a:spcPts val="150"/>
                  </a:spcBef>
                  <a:spcAft>
                    <a:spcPts val="150"/>
                  </a:spcAft>
                </a:pPr>
                <a:r>
                  <a:rPr lang="en-US" kern="0" spc="-19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		</a:t>
                </a:r>
                <a:r>
                  <a:rPr lang="en-US" kern="0" spc="-19" dirty="0">
                    <a:solidFill>
                      <a:srgbClr val="C08D5F"/>
                    </a:solidFill>
                    <a:latin typeface="Consolas" pitchFamily="34" charset="0"/>
                  </a:rPr>
                  <a:t>return</a:t>
                </a:r>
                <a:r>
                  <a:rPr lang="en-US" kern="0" spc="-19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</a:t>
                </a:r>
                <a:r>
                  <a:rPr lang="en-US" kern="0" spc="-19" dirty="0" err="1">
                    <a:solidFill>
                      <a:srgbClr val="9C9B99"/>
                    </a:solidFill>
                    <a:latin typeface="Consolas" pitchFamily="34" charset="0"/>
                  </a:rPr>
                  <a:t>ResponseEntity.notFound</a:t>
                </a:r>
                <a:r>
                  <a:rPr lang="en-US" kern="0" spc="-19" dirty="0">
                    <a:solidFill>
                      <a:srgbClr val="9C9B99"/>
                    </a:solidFill>
                    <a:latin typeface="Consolas" pitchFamily="34" charset="0"/>
                  </a:rPr>
                  <a:t>().build();</a:t>
                </a:r>
              </a:p>
              <a:p>
                <a:pPr>
                  <a:spcBef>
                    <a:spcPts val="150"/>
                  </a:spcBef>
                  <a:spcAft>
                    <a:spcPts val="150"/>
                  </a:spcAft>
                </a:pPr>
                <a:r>
                  <a:rPr lang="en-US" kern="0" spc="-19" dirty="0">
                    <a:solidFill>
                      <a:srgbClr val="9C9B99"/>
                    </a:solidFill>
                    <a:latin typeface="Consolas" pitchFamily="34" charset="0"/>
                  </a:rPr>
                  <a:t>	}</a:t>
                </a:r>
              </a:p>
              <a:p>
                <a:pPr>
                  <a:spcBef>
                    <a:spcPts val="150"/>
                  </a:spcBef>
                  <a:spcAft>
                    <a:spcPts val="150"/>
                  </a:spcAft>
                </a:pPr>
                <a:r>
                  <a:rPr lang="en-US" kern="0" spc="-19" dirty="0">
                    <a:solidFill>
                      <a:srgbClr val="9C9B99"/>
                    </a:solidFill>
                    <a:latin typeface="Consolas" pitchFamily="34" charset="0"/>
                  </a:rPr>
                  <a:t>}</a:t>
                </a:r>
              </a:p>
            </p:txBody>
          </p:sp>
        </p:grpSp>
      </p:grpSp>
      <p:pic>
        <p:nvPicPr>
          <p:cNvPr id="13" name="Imagem 12">
            <a:extLst>
              <a:ext uri="{FF2B5EF4-FFF2-40B4-BE49-F238E27FC236}">
                <a16:creationId xmlns:a16="http://schemas.microsoft.com/office/drawing/2014/main" id="{92A62685-B245-4CEB-8216-0224296EC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7830" y="5510095"/>
            <a:ext cx="5191823" cy="1038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939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804685-C3B1-44D9-A6A1-80F34AED7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Retornando informações importantes no erro 400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B6E9B46-EA33-4681-9296-2683E72FE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5692" y="2701925"/>
            <a:ext cx="5302665" cy="3162300"/>
          </a:xfrm>
        </p:spPr>
        <p:txBody>
          <a:bodyPr/>
          <a:lstStyle/>
          <a:p>
            <a:r>
              <a:rPr lang="pt-BR" sz="1800" dirty="0"/>
              <a:t>Quando utilizamos o método </a:t>
            </a:r>
            <a:r>
              <a:rPr lang="pt-BR" sz="1800" b="1" dirty="0"/>
              <a:t>POST</a:t>
            </a:r>
            <a:r>
              <a:rPr lang="pt-BR" sz="1800" dirty="0"/>
              <a:t>, é comum ocorrer o erro </a:t>
            </a:r>
            <a:r>
              <a:rPr lang="pt-BR" sz="1800" b="1" dirty="0"/>
              <a:t>400 </a:t>
            </a:r>
            <a:r>
              <a:rPr lang="pt-BR" sz="1800" b="1" dirty="0" err="1"/>
              <a:t>Bad</a:t>
            </a:r>
            <a:r>
              <a:rPr lang="pt-BR" sz="1800" b="1" dirty="0"/>
              <a:t> </a:t>
            </a:r>
            <a:r>
              <a:rPr lang="pt-BR" sz="1800" b="1" dirty="0" err="1"/>
              <a:t>Request</a:t>
            </a:r>
            <a:r>
              <a:rPr lang="pt-BR" sz="1800" dirty="0"/>
              <a:t> quando os dados enviados são inválidos ou não atendem às validações. Porém, o Spring pode retornar uma </a:t>
            </a:r>
            <a:r>
              <a:rPr lang="pt-BR" sz="1800" b="1" dirty="0"/>
              <a:t>resposta extensa</a:t>
            </a:r>
            <a:r>
              <a:rPr lang="pt-BR" sz="1800" dirty="0"/>
              <a:t>, com informações desnecessárias para o cliente. Por isso, podemos personalizar essa resposta, retornando apenas os dados relevantes sobre o erro.</a:t>
            </a: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BC4D5E5B-864A-4FF3-A215-001C694437AC}"/>
              </a:ext>
            </a:extLst>
          </p:cNvPr>
          <p:cNvGrpSpPr/>
          <p:nvPr/>
        </p:nvGrpSpPr>
        <p:grpSpPr>
          <a:xfrm>
            <a:off x="7194049" y="2320925"/>
            <a:ext cx="4052258" cy="3924300"/>
            <a:chOff x="6526842" y="2552700"/>
            <a:chExt cx="4966658" cy="4305300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D6A8A920-042F-44C5-B30B-0330719442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26843" y="2552700"/>
              <a:ext cx="4966657" cy="365601"/>
            </a:xfrm>
            <a:prstGeom prst="rect">
              <a:avLst/>
            </a:prstGeom>
          </p:spPr>
        </p:pic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FB46FE13-4302-4F2E-8405-A3254B3ED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26842" y="2909788"/>
              <a:ext cx="4966657" cy="39482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28963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D86792-8289-4CDA-AE1B-CE77D2EE5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Retornando informações válidas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B37A34-67F7-4EC5-91D2-529EDCFBC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38225"/>
          </a:xfrm>
        </p:spPr>
        <p:txBody>
          <a:bodyPr/>
          <a:lstStyle/>
          <a:p>
            <a:r>
              <a:rPr lang="pt-BR" dirty="0"/>
              <a:t>A exceção </a:t>
            </a:r>
            <a:r>
              <a:rPr lang="pt-BR" b="1" dirty="0" err="1">
                <a:solidFill>
                  <a:srgbClr val="043073"/>
                </a:solidFill>
              </a:rPr>
              <a:t>MethodArgumentNotValidException</a:t>
            </a:r>
            <a:r>
              <a:rPr lang="pt-BR" dirty="0"/>
              <a:t> ocorre quando os dados enviados pelo cliente não atendem às validações definidas no método </a:t>
            </a:r>
            <a:r>
              <a:rPr lang="pt-BR" b="1" dirty="0">
                <a:solidFill>
                  <a:srgbClr val="043073"/>
                </a:solidFill>
              </a:rPr>
              <a:t>POST</a:t>
            </a:r>
            <a:r>
              <a:rPr lang="pt-BR" dirty="0"/>
              <a:t>.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69604121-44E2-48D2-9745-651B5C31B621}"/>
              </a:ext>
            </a:extLst>
          </p:cNvPr>
          <p:cNvGrpSpPr/>
          <p:nvPr/>
        </p:nvGrpSpPr>
        <p:grpSpPr>
          <a:xfrm>
            <a:off x="592347" y="2971515"/>
            <a:ext cx="11007305" cy="1003586"/>
            <a:chOff x="749185" y="2616988"/>
            <a:chExt cx="5284556" cy="638572"/>
          </a:xfrm>
        </p:grpSpPr>
        <p:sp>
          <p:nvSpPr>
            <p:cNvPr id="8" name="Shape 20">
              <a:extLst>
                <a:ext uri="{FF2B5EF4-FFF2-40B4-BE49-F238E27FC236}">
                  <a16:creationId xmlns:a16="http://schemas.microsoft.com/office/drawing/2014/main" id="{E6BB086F-E171-4474-A12A-7F5EFD9729D9}"/>
                </a:ext>
              </a:extLst>
            </p:cNvPr>
            <p:cNvSpPr/>
            <p:nvPr/>
          </p:nvSpPr>
          <p:spPr>
            <a:xfrm>
              <a:off x="749185" y="2616988"/>
              <a:ext cx="5284556" cy="638572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Text 21">
              <a:extLst>
                <a:ext uri="{FF2B5EF4-FFF2-40B4-BE49-F238E27FC236}">
                  <a16:creationId xmlns:a16="http://schemas.microsoft.com/office/drawing/2014/main" id="{82D23D0C-7797-4BB7-8E64-964CF7B7A939}"/>
                </a:ext>
              </a:extLst>
            </p:cNvPr>
            <p:cNvSpPr/>
            <p:nvPr/>
          </p:nvSpPr>
          <p:spPr>
            <a:xfrm>
              <a:off x="896521" y="2709426"/>
              <a:ext cx="4989884" cy="4536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@</a:t>
              </a:r>
              <a:r>
                <a:rPr lang="en-US" sz="1600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RestControllerAdvice</a:t>
              </a:r>
              <a:endParaRPr lang="en-US" sz="1600" kern="0" spc="-19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50000"/>
                </a:lnSpc>
              </a:pPr>
              <a:r>
                <a:rPr lang="pt-BR" sz="1600" kern="0" spc="-19" dirty="0">
                  <a:solidFill>
                    <a:srgbClr val="D73A49"/>
                  </a:solidFill>
                  <a:latin typeface="Consolas" pitchFamily="34" charset="0"/>
                </a:rPr>
                <a:t>@</a:t>
              </a:r>
              <a:r>
                <a:rPr lang="pt-BR" sz="1600" kern="0" spc="-19" dirty="0" err="1">
                  <a:solidFill>
                    <a:srgbClr val="D73A49"/>
                  </a:solidFill>
                  <a:latin typeface="Consolas" pitchFamily="34" charset="0"/>
                </a:rPr>
                <a:t>ExceptionHandler</a:t>
              </a:r>
              <a:r>
                <a:rPr lang="pt-BR" sz="1600" kern="0" spc="-19" dirty="0">
                  <a:solidFill>
                    <a:srgbClr val="D73A49"/>
                  </a:solidFill>
                  <a:latin typeface="Consolas" pitchFamily="34" charset="0"/>
                </a:rPr>
                <a:t>(</a:t>
              </a:r>
              <a:r>
                <a:rPr lang="pt-BR" sz="1600" kern="0" spc="-19" dirty="0" err="1">
                  <a:solidFill>
                    <a:srgbClr val="D73A49"/>
                  </a:solidFill>
                  <a:latin typeface="Consolas" pitchFamily="34" charset="0"/>
                </a:rPr>
                <a:t>MethodArgumentNotValidException.class</a:t>
              </a:r>
              <a:r>
                <a:rPr lang="pt-BR" sz="1600" kern="0" spc="-19" dirty="0">
                  <a:solidFill>
                    <a:srgbClr val="D73A49"/>
                  </a:solidFill>
                  <a:latin typeface="Consolas" pitchFamily="34" charset="0"/>
                </a:rPr>
                <a:t>)</a:t>
              </a:r>
              <a:endParaRPr lang="en-US" sz="1600" kern="0" spc="-19" dirty="0">
                <a:solidFill>
                  <a:srgbClr val="D73A49"/>
                </a:solidFill>
                <a:latin typeface="Consolas" pitchFamily="34" charset="0"/>
              </a:endParaRPr>
            </a:p>
            <a:p>
              <a:endParaRPr lang="en-US" sz="1600" dirty="0"/>
            </a:p>
          </p:txBody>
        </p:sp>
      </p:grp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E2F1C557-DBAB-4F4A-9BDD-1013E2A2CCCB}"/>
              </a:ext>
            </a:extLst>
          </p:cNvPr>
          <p:cNvGrpSpPr/>
          <p:nvPr/>
        </p:nvGrpSpPr>
        <p:grpSpPr>
          <a:xfrm>
            <a:off x="592346" y="5028624"/>
            <a:ext cx="11007305" cy="1562678"/>
            <a:chOff x="592347" y="4947571"/>
            <a:chExt cx="11007305" cy="1923421"/>
          </a:xfrm>
        </p:grpSpPr>
        <p:sp>
          <p:nvSpPr>
            <p:cNvPr id="13" name="Shape 20">
              <a:extLst>
                <a:ext uri="{FF2B5EF4-FFF2-40B4-BE49-F238E27FC236}">
                  <a16:creationId xmlns:a16="http://schemas.microsoft.com/office/drawing/2014/main" id="{8A1A3A64-30D4-426C-B027-49949D102A54}"/>
                </a:ext>
              </a:extLst>
            </p:cNvPr>
            <p:cNvSpPr/>
            <p:nvPr/>
          </p:nvSpPr>
          <p:spPr>
            <a:xfrm>
              <a:off x="592347" y="4947571"/>
              <a:ext cx="11007305" cy="1923421"/>
            </a:xfrm>
            <a:prstGeom prst="roundRect">
              <a:avLst>
                <a:gd name="adj" fmla="val 8081"/>
              </a:avLst>
            </a:prstGeom>
            <a:solidFill>
              <a:srgbClr val="1F2024"/>
            </a:solidFill>
            <a:ln/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AB15D0E8-4CC3-44C0-B1A3-02BC8C526779}"/>
                </a:ext>
              </a:extLst>
            </p:cNvPr>
            <p:cNvSpPr/>
            <p:nvPr/>
          </p:nvSpPr>
          <p:spPr>
            <a:xfrm>
              <a:off x="899236" y="5075863"/>
              <a:ext cx="10225965" cy="16668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Bef>
                  <a:spcPts val="150"/>
                </a:spcBef>
                <a:spcAft>
                  <a:spcPts val="150"/>
                </a:spcAft>
              </a:pPr>
              <a:r>
                <a:rPr lang="en-US" kern="0" spc="-19" dirty="0">
                  <a:solidFill>
                    <a:srgbClr val="9BAD56"/>
                  </a:solidFill>
                  <a:latin typeface="Consolas" pitchFamily="34" charset="0"/>
                </a:rPr>
                <a:t>@</a:t>
              </a:r>
              <a:r>
                <a:rPr lang="en-US" kern="0" spc="-19" dirty="0" err="1">
                  <a:solidFill>
                    <a:srgbClr val="9BAD56"/>
                  </a:solidFill>
                  <a:latin typeface="Consolas" pitchFamily="34" charset="0"/>
                </a:rPr>
                <a:t>ExceptionHandler</a:t>
              </a:r>
              <a:r>
                <a:rPr lang="en-US" kern="0" spc="-19" dirty="0">
                  <a:solidFill>
                    <a:srgbClr val="9BAD56"/>
                  </a:solidFill>
                  <a:latin typeface="Consolas" pitchFamily="34" charset="0"/>
                </a:rPr>
                <a:t> 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(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MethodArgumentNotValifException.</a:t>
              </a:r>
              <a:r>
                <a:rPr lang="en-US" kern="0" spc="-19" dirty="0" err="1">
                  <a:solidFill>
                    <a:srgbClr val="C08D5F"/>
                  </a:solidFill>
                  <a:latin typeface="Consolas" pitchFamily="34" charset="0"/>
                </a:rPr>
                <a:t>class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)</a:t>
              </a:r>
            </a:p>
            <a:p>
              <a:pPr>
                <a:spcBef>
                  <a:spcPts val="150"/>
                </a:spcBef>
                <a:spcAft>
                  <a:spcPts val="150"/>
                </a:spcAft>
              </a:pPr>
              <a:r>
                <a:rPr lang="en-US" kern="0" spc="-19" dirty="0">
                  <a:solidFill>
                    <a:srgbClr val="C08D5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public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ResponseEntity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kern="0" spc="-19" dirty="0">
                  <a:solidFill>
                    <a:srgbClr val="3184F4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tratarErro404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() {    </a:t>
              </a:r>
            </a:p>
            <a:p>
              <a:pPr>
                <a:spcBef>
                  <a:spcPts val="150"/>
                </a:spcBef>
                <a:spcAft>
                  <a:spcPts val="150"/>
                </a:spcAft>
              </a:pP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	</a:t>
              </a:r>
              <a:r>
                <a:rPr lang="en-US" kern="0" spc="-19" dirty="0">
                  <a:solidFill>
                    <a:srgbClr val="C08D5F"/>
                  </a:solidFill>
                  <a:latin typeface="Consolas" pitchFamily="34" charset="0"/>
                </a:rPr>
                <a:t>return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ResponseEntity.badRequest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().build();</a:t>
              </a:r>
            </a:p>
            <a:p>
              <a:pPr>
                <a:spcBef>
                  <a:spcPts val="150"/>
                </a:spcBef>
                <a:spcAft>
                  <a:spcPts val="150"/>
                </a:spcAft>
              </a:pP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}</a:t>
              </a:r>
            </a:p>
          </p:txBody>
        </p:sp>
      </p:grpSp>
      <p:sp>
        <p:nvSpPr>
          <p:cNvPr id="15" name="Espaço Reservado para Conteúdo 2">
            <a:extLst>
              <a:ext uri="{FF2B5EF4-FFF2-40B4-BE49-F238E27FC236}">
                <a16:creationId xmlns:a16="http://schemas.microsoft.com/office/drawing/2014/main" id="{49FCD5C8-7527-4DA3-9D5D-831B57276D99}"/>
              </a:ext>
            </a:extLst>
          </p:cNvPr>
          <p:cNvSpPr txBox="1">
            <a:spLocks/>
          </p:cNvSpPr>
          <p:nvPr/>
        </p:nvSpPr>
        <p:spPr>
          <a:xfrm>
            <a:off x="592345" y="4244775"/>
            <a:ext cx="11007306" cy="638572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dirty="0"/>
              <a:t>Como corrigir: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28869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65EB29-8CEA-411C-84CE-010E4F0A3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Resolvemos 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854398A-5A3B-466F-A5EA-962373F9F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0939253" cy="1089025"/>
          </a:xfrm>
        </p:spPr>
        <p:txBody>
          <a:bodyPr/>
          <a:lstStyle/>
          <a:p>
            <a:r>
              <a:rPr lang="pt-BR" dirty="0"/>
              <a:t>Esse problema foi </a:t>
            </a:r>
            <a:r>
              <a:rPr lang="pt-BR" b="1" dirty="0"/>
              <a:t>parcialmente corrigido</a:t>
            </a:r>
            <a:r>
              <a:rPr lang="pt-BR" dirty="0"/>
              <a:t>, porém ainda temos uma limitação: a API não informa </a:t>
            </a:r>
            <a:r>
              <a:rPr lang="pt-BR" b="1" dirty="0"/>
              <a:t>qual erro ocorreu</a:t>
            </a:r>
            <a:r>
              <a:rPr lang="pt-BR" dirty="0"/>
              <a:t>, dificultando a identificação e o tratamento do problema pelo cliente.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2B9289F-6376-4E40-82B2-8E03852126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775" y="3060700"/>
            <a:ext cx="8612450" cy="361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3423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D86792-8289-4CDA-AE1B-CE77D2EE5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Retornando informações válidas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B37A34-67F7-4EC5-91D2-529EDCFBC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38225"/>
          </a:xfrm>
        </p:spPr>
        <p:txBody>
          <a:bodyPr/>
          <a:lstStyle/>
          <a:p>
            <a:r>
              <a:rPr lang="pt-BR" dirty="0"/>
              <a:t>A exceção </a:t>
            </a:r>
            <a:r>
              <a:rPr lang="pt-BR" b="1" dirty="0" err="1">
                <a:solidFill>
                  <a:srgbClr val="043073"/>
                </a:solidFill>
              </a:rPr>
              <a:t>MethodArgumentNotValidException</a:t>
            </a:r>
            <a:r>
              <a:rPr lang="pt-BR" dirty="0"/>
              <a:t> ocorre quando os dados enviados pelo cliente não atendem às validações definidas no método </a:t>
            </a:r>
            <a:r>
              <a:rPr lang="pt-BR" b="1" dirty="0">
                <a:solidFill>
                  <a:srgbClr val="043073"/>
                </a:solidFill>
              </a:rPr>
              <a:t>POST</a:t>
            </a:r>
            <a:r>
              <a:rPr lang="pt-BR" dirty="0"/>
              <a:t>.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69604121-44E2-48D2-9745-651B5C31B621}"/>
              </a:ext>
            </a:extLst>
          </p:cNvPr>
          <p:cNvGrpSpPr/>
          <p:nvPr/>
        </p:nvGrpSpPr>
        <p:grpSpPr>
          <a:xfrm>
            <a:off x="592347" y="2971515"/>
            <a:ext cx="11007305" cy="1003586"/>
            <a:chOff x="749185" y="2616988"/>
            <a:chExt cx="5284556" cy="638572"/>
          </a:xfrm>
        </p:grpSpPr>
        <p:sp>
          <p:nvSpPr>
            <p:cNvPr id="8" name="Shape 20">
              <a:extLst>
                <a:ext uri="{FF2B5EF4-FFF2-40B4-BE49-F238E27FC236}">
                  <a16:creationId xmlns:a16="http://schemas.microsoft.com/office/drawing/2014/main" id="{E6BB086F-E171-4474-A12A-7F5EFD9729D9}"/>
                </a:ext>
              </a:extLst>
            </p:cNvPr>
            <p:cNvSpPr/>
            <p:nvPr/>
          </p:nvSpPr>
          <p:spPr>
            <a:xfrm>
              <a:off x="749185" y="2616988"/>
              <a:ext cx="5284556" cy="638572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Text 21">
              <a:extLst>
                <a:ext uri="{FF2B5EF4-FFF2-40B4-BE49-F238E27FC236}">
                  <a16:creationId xmlns:a16="http://schemas.microsoft.com/office/drawing/2014/main" id="{82D23D0C-7797-4BB7-8E64-964CF7B7A939}"/>
                </a:ext>
              </a:extLst>
            </p:cNvPr>
            <p:cNvSpPr/>
            <p:nvPr/>
          </p:nvSpPr>
          <p:spPr>
            <a:xfrm>
              <a:off x="896521" y="2709426"/>
              <a:ext cx="4989884" cy="4536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@</a:t>
              </a:r>
              <a:r>
                <a:rPr lang="en-US" sz="1600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RestControllerAdvice</a:t>
              </a:r>
              <a:endParaRPr lang="en-US" sz="1600" kern="0" spc="-19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50000"/>
                </a:lnSpc>
              </a:pPr>
              <a:r>
                <a:rPr lang="pt-BR" sz="1600" kern="0" spc="-19" dirty="0">
                  <a:solidFill>
                    <a:srgbClr val="D73A49"/>
                  </a:solidFill>
                  <a:latin typeface="Consolas" pitchFamily="34" charset="0"/>
                </a:rPr>
                <a:t>@</a:t>
              </a:r>
              <a:r>
                <a:rPr lang="pt-BR" sz="1600" kern="0" spc="-19" dirty="0" err="1">
                  <a:solidFill>
                    <a:srgbClr val="D73A49"/>
                  </a:solidFill>
                  <a:latin typeface="Consolas" pitchFamily="34" charset="0"/>
                </a:rPr>
                <a:t>ExceptionHandler</a:t>
              </a:r>
              <a:r>
                <a:rPr lang="pt-BR" sz="1600" kern="0" spc="-19" dirty="0">
                  <a:solidFill>
                    <a:srgbClr val="D73A49"/>
                  </a:solidFill>
                  <a:latin typeface="Consolas" pitchFamily="34" charset="0"/>
                </a:rPr>
                <a:t>(</a:t>
              </a:r>
              <a:r>
                <a:rPr lang="pt-BR" sz="1600" kern="0" spc="-19" dirty="0" err="1">
                  <a:solidFill>
                    <a:srgbClr val="D73A49"/>
                  </a:solidFill>
                  <a:latin typeface="Consolas" pitchFamily="34" charset="0"/>
                </a:rPr>
                <a:t>MethodArgumentNotValidException.class</a:t>
              </a:r>
              <a:r>
                <a:rPr lang="pt-BR" sz="1600" kern="0" spc="-19" dirty="0">
                  <a:solidFill>
                    <a:srgbClr val="D73A49"/>
                  </a:solidFill>
                  <a:latin typeface="Consolas" pitchFamily="34" charset="0"/>
                </a:rPr>
                <a:t>)</a:t>
              </a:r>
              <a:endParaRPr lang="en-US" sz="1600" kern="0" spc="-19" dirty="0">
                <a:solidFill>
                  <a:srgbClr val="D73A49"/>
                </a:solidFill>
                <a:latin typeface="Consolas" pitchFamily="34" charset="0"/>
              </a:endParaRPr>
            </a:p>
            <a:p>
              <a:endParaRPr lang="en-US" sz="1600" dirty="0"/>
            </a:p>
          </p:txBody>
        </p:sp>
      </p:grp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E2F1C557-DBAB-4F4A-9BDD-1013E2A2CCCB}"/>
              </a:ext>
            </a:extLst>
          </p:cNvPr>
          <p:cNvGrpSpPr/>
          <p:nvPr/>
        </p:nvGrpSpPr>
        <p:grpSpPr>
          <a:xfrm>
            <a:off x="592346" y="5028624"/>
            <a:ext cx="11007305" cy="1562678"/>
            <a:chOff x="592347" y="4947571"/>
            <a:chExt cx="11007305" cy="1923421"/>
          </a:xfrm>
        </p:grpSpPr>
        <p:sp>
          <p:nvSpPr>
            <p:cNvPr id="13" name="Shape 20">
              <a:extLst>
                <a:ext uri="{FF2B5EF4-FFF2-40B4-BE49-F238E27FC236}">
                  <a16:creationId xmlns:a16="http://schemas.microsoft.com/office/drawing/2014/main" id="{8A1A3A64-30D4-426C-B027-49949D102A54}"/>
                </a:ext>
              </a:extLst>
            </p:cNvPr>
            <p:cNvSpPr/>
            <p:nvPr/>
          </p:nvSpPr>
          <p:spPr>
            <a:xfrm>
              <a:off x="592347" y="4947571"/>
              <a:ext cx="11007305" cy="1923421"/>
            </a:xfrm>
            <a:prstGeom prst="roundRect">
              <a:avLst>
                <a:gd name="adj" fmla="val 8081"/>
              </a:avLst>
            </a:prstGeom>
            <a:solidFill>
              <a:srgbClr val="1F2024"/>
            </a:solidFill>
            <a:ln/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AB15D0E8-4CC3-44C0-B1A3-02BC8C526779}"/>
                </a:ext>
              </a:extLst>
            </p:cNvPr>
            <p:cNvSpPr/>
            <p:nvPr/>
          </p:nvSpPr>
          <p:spPr>
            <a:xfrm>
              <a:off x="899236" y="5075863"/>
              <a:ext cx="10225965" cy="16668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Bef>
                  <a:spcPts val="150"/>
                </a:spcBef>
                <a:spcAft>
                  <a:spcPts val="150"/>
                </a:spcAft>
              </a:pPr>
              <a:r>
                <a:rPr lang="en-US" kern="0" spc="-19" dirty="0">
                  <a:solidFill>
                    <a:srgbClr val="9BAD56"/>
                  </a:solidFill>
                  <a:latin typeface="Consolas" pitchFamily="34" charset="0"/>
                </a:rPr>
                <a:t>@</a:t>
              </a:r>
              <a:r>
                <a:rPr lang="en-US" kern="0" spc="-19" dirty="0" err="1">
                  <a:solidFill>
                    <a:srgbClr val="9BAD56"/>
                  </a:solidFill>
                  <a:latin typeface="Consolas" pitchFamily="34" charset="0"/>
                </a:rPr>
                <a:t>ExceptionHandler</a:t>
              </a:r>
              <a:r>
                <a:rPr lang="en-US" kern="0" spc="-19" dirty="0">
                  <a:solidFill>
                    <a:srgbClr val="9BAD56"/>
                  </a:solidFill>
                  <a:latin typeface="Consolas" pitchFamily="34" charset="0"/>
                </a:rPr>
                <a:t> 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(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MethodArgumentNotValifException.</a:t>
              </a:r>
              <a:r>
                <a:rPr lang="en-US" kern="0" spc="-19" dirty="0" err="1">
                  <a:solidFill>
                    <a:srgbClr val="C08D5F"/>
                  </a:solidFill>
                  <a:latin typeface="Consolas" pitchFamily="34" charset="0"/>
                </a:rPr>
                <a:t>class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)</a:t>
              </a:r>
            </a:p>
            <a:p>
              <a:pPr>
                <a:spcBef>
                  <a:spcPts val="150"/>
                </a:spcBef>
                <a:spcAft>
                  <a:spcPts val="150"/>
                </a:spcAft>
              </a:pPr>
              <a:r>
                <a:rPr lang="en-US" kern="0" spc="-19" dirty="0">
                  <a:solidFill>
                    <a:srgbClr val="C08D5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public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ResponseEntity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kern="0" spc="-19" dirty="0">
                  <a:solidFill>
                    <a:srgbClr val="3184F4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tratarErro404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() {    </a:t>
              </a:r>
            </a:p>
            <a:p>
              <a:pPr>
                <a:spcBef>
                  <a:spcPts val="150"/>
                </a:spcBef>
                <a:spcAft>
                  <a:spcPts val="150"/>
                </a:spcAft>
              </a:pP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	</a:t>
              </a:r>
              <a:r>
                <a:rPr lang="en-US" kern="0" spc="-19" dirty="0">
                  <a:solidFill>
                    <a:srgbClr val="C08D5F"/>
                  </a:solidFill>
                  <a:latin typeface="Consolas" pitchFamily="34" charset="0"/>
                </a:rPr>
                <a:t>return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kern="0" spc="-19" dirty="0" err="1">
                  <a:solidFill>
                    <a:srgbClr val="9C9B99"/>
                  </a:solidFill>
                  <a:latin typeface="Consolas" pitchFamily="34" charset="0"/>
                </a:rPr>
                <a:t>ResponseEntity.badRequest</a:t>
              </a: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().build();</a:t>
              </a:r>
            </a:p>
            <a:p>
              <a:pPr>
                <a:spcBef>
                  <a:spcPts val="150"/>
                </a:spcBef>
                <a:spcAft>
                  <a:spcPts val="150"/>
                </a:spcAft>
              </a:pPr>
              <a:r>
                <a:rPr lang="en-US" kern="0" spc="-19" dirty="0">
                  <a:solidFill>
                    <a:srgbClr val="9C9B99"/>
                  </a:solidFill>
                  <a:latin typeface="Consolas" pitchFamily="34" charset="0"/>
                </a:rPr>
                <a:t>}</a:t>
              </a:r>
            </a:p>
          </p:txBody>
        </p:sp>
      </p:grpSp>
      <p:sp>
        <p:nvSpPr>
          <p:cNvPr id="15" name="Espaço Reservado para Conteúdo 2">
            <a:extLst>
              <a:ext uri="{FF2B5EF4-FFF2-40B4-BE49-F238E27FC236}">
                <a16:creationId xmlns:a16="http://schemas.microsoft.com/office/drawing/2014/main" id="{49FCD5C8-7527-4DA3-9D5D-831B57276D99}"/>
              </a:ext>
            </a:extLst>
          </p:cNvPr>
          <p:cNvSpPr txBox="1">
            <a:spLocks/>
          </p:cNvSpPr>
          <p:nvPr/>
        </p:nvSpPr>
        <p:spPr>
          <a:xfrm>
            <a:off x="592345" y="4244775"/>
            <a:ext cx="11007306" cy="638572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dirty="0"/>
              <a:t>Como corrigir: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0242907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258</TotalTime>
  <Words>735</Words>
  <Application>Microsoft Office PowerPoint</Application>
  <PresentationFormat>Widescreen</PresentationFormat>
  <Paragraphs>84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Consolas</vt:lpstr>
      <vt:lpstr>Times New Roman</vt:lpstr>
      <vt:lpstr>Tema do Office</vt:lpstr>
      <vt:lpstr>Tratamento de Erros em APIs REST</vt:lpstr>
      <vt:lpstr>Objetivo da aula</vt:lpstr>
      <vt:lpstr>Removendo o Stack Trace</vt:lpstr>
      <vt:lpstr>Solução </vt:lpstr>
      <vt:lpstr>O retorno está correto ?</vt:lpstr>
      <vt:lpstr>Corrigindo o 500 para 404</vt:lpstr>
      <vt:lpstr>Como é gerado o erro 500</vt:lpstr>
      <vt:lpstr>Mas o problema é realmente um erro interno?</vt:lpstr>
      <vt:lpstr>Solução</vt:lpstr>
      <vt:lpstr>Retornando informações importantes no erro 400</vt:lpstr>
      <vt:lpstr>Retornando informações válidas</vt:lpstr>
      <vt:lpstr>Resolvemos ?</vt:lpstr>
      <vt:lpstr>Retornando informações válidas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Lucas Tadeu Monteiro Guedes Fernandes Salomao</dc:creator>
  <cp:lastModifiedBy>Pedro Henrique Miho de Souza</cp:lastModifiedBy>
  <cp:revision>38</cp:revision>
  <dcterms:created xsi:type="dcterms:W3CDTF">2024-03-08T12:14:33Z</dcterms:created>
  <dcterms:modified xsi:type="dcterms:W3CDTF">2026-08-31T22:25:46Z</dcterms:modified>
</cp:coreProperties>
</file>