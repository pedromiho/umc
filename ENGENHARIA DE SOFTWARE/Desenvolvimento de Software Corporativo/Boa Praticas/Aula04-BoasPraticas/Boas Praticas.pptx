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1" r:id="rId3"/>
    <p:sldId id="262" r:id="rId4"/>
    <p:sldId id="263" r:id="rId5"/>
    <p:sldId id="269" r:id="rId6"/>
    <p:sldId id="264" r:id="rId7"/>
    <p:sldId id="265" r:id="rId8"/>
    <p:sldId id="267" r:id="rId9"/>
    <p:sldId id="268" r:id="rId10"/>
    <p:sldId id="270" r:id="rId11"/>
    <p:sldId id="271" r:id="rId12"/>
    <p:sldId id="272" r:id="rId13"/>
    <p:sldId id="274" r:id="rId14"/>
    <p:sldId id="275" r:id="rId15"/>
    <p:sldId id="277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9A3B9811-863C-4514-A203-A948633EA0E6}">
          <p14:sldIdLst>
            <p14:sldId id="256"/>
            <p14:sldId id="261"/>
            <p14:sldId id="262"/>
            <p14:sldId id="263"/>
            <p14:sldId id="269"/>
            <p14:sldId id="264"/>
            <p14:sldId id="265"/>
            <p14:sldId id="267"/>
            <p14:sldId id="268"/>
            <p14:sldId id="270"/>
            <p14:sldId id="271"/>
            <p14:sldId id="272"/>
            <p14:sldId id="274"/>
            <p14:sldId id="275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  <a:srgbClr val="EADD32"/>
    <a:srgbClr val="58B02B"/>
    <a:srgbClr val="2C2C2C"/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990" y="3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3856C12-D3CA-9CE2-7861-13FBF02F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07102269-6BD9-547A-4740-3B8E3F48B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25625"/>
            <a:ext cx="5181600" cy="437038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CB7389AF-7009-AFBD-694C-4FEB5C402A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844675"/>
            <a:ext cx="5181600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AF65EF7-14AA-3189-A9E5-924E752AE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F8FEF21-0B4E-C030-F1F6-1E8EDC3D8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44675"/>
            <a:ext cx="5256212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566D364-0170-A389-F159-C7C9D62E4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76796487-CD7B-89D5-C833-332E8D160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345" y="1844675"/>
            <a:ext cx="5060308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73382"/>
            <a:ext cx="6172200" cy="4087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73382"/>
            <a:ext cx="3932237" cy="40956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29F35F0-D02B-295C-BF50-6E6DC9981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695394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84768"/>
            <a:ext cx="9144000" cy="1186495"/>
          </a:xfrm>
        </p:spPr>
        <p:txBody>
          <a:bodyPr/>
          <a:lstStyle/>
          <a:p>
            <a:r>
              <a:rPr lang="pt-BR" dirty="0"/>
              <a:t>Boas práticas em APIs REST</a:t>
            </a:r>
            <a:endParaRPr lang="pt-BR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>
            <a:normAutofit/>
          </a:bodyPr>
          <a:lstStyle/>
          <a:p>
            <a:r>
              <a:rPr lang="pt-BR" sz="2600"/>
              <a:t>Por que uma API precisa retornar informações?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C449FD-0CCF-46E0-B734-7980847A4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25625"/>
            <a:ext cx="5181600" cy="4370388"/>
          </a:xfrm>
        </p:spPr>
        <p:txBody>
          <a:bodyPr>
            <a:normAutofit/>
          </a:bodyPr>
          <a:lstStyle/>
          <a:p>
            <a:r>
              <a:rPr lang="pt-BR" sz="1600" dirty="0"/>
              <a:t>Quando uma aplicação realiza uma requisição, ela precisa saber </a:t>
            </a:r>
            <a:r>
              <a:rPr lang="pt-BR" sz="1600" b="1" dirty="0"/>
              <a:t>qual foi o resultado da operação</a:t>
            </a:r>
            <a:r>
              <a:rPr lang="pt-BR" sz="1600" dirty="0"/>
              <a:t>.</a:t>
            </a:r>
          </a:p>
          <a:p>
            <a:endParaRPr lang="pt-BR" sz="1600" dirty="0"/>
          </a:p>
          <a:p>
            <a:r>
              <a:rPr lang="pt-BR" sz="1600" dirty="0"/>
              <a:t>Uma resposta adequada permite identificar: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✅ Se a operação foi realizada com sucesso</a:t>
            </a:r>
          </a:p>
          <a:p>
            <a:pPr lvl="1"/>
            <a:r>
              <a:rPr lang="pt-BR" dirty="0"/>
              <a:t>❌ Se houve algum erro</a:t>
            </a:r>
          </a:p>
          <a:p>
            <a:pPr lvl="1"/>
            <a:r>
              <a:rPr lang="pt-BR" dirty="0"/>
              <a:t>🔎 Se o recurso foi encontrado</a:t>
            </a:r>
          </a:p>
          <a:p>
            <a:pPr lvl="1"/>
            <a:r>
              <a:rPr lang="pt-BR" dirty="0"/>
              <a:t>🆕 Se um novo recurso foi criado</a:t>
            </a:r>
          </a:p>
          <a:p>
            <a:pPr lvl="1"/>
            <a:r>
              <a:rPr lang="pt-BR" dirty="0"/>
              <a:t>📭 Se não há conteúdo para retorna</a:t>
            </a:r>
          </a:p>
          <a:p>
            <a:endParaRPr lang="pt-BR" sz="1600" dirty="0"/>
          </a:p>
        </p:txBody>
      </p:sp>
      <p:pic>
        <p:nvPicPr>
          <p:cNvPr id="6" name="Gráfico 5" descr="Monitor com preenchimento sólido">
            <a:extLst>
              <a:ext uri="{FF2B5EF4-FFF2-40B4-BE49-F238E27FC236}">
                <a16:creationId xmlns:a16="http://schemas.microsoft.com/office/drawing/2014/main" id="{B26DEF2A-BEBF-4541-6E07-02927D879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4113" y="1825625"/>
            <a:ext cx="1153102" cy="1153102"/>
          </a:xfrm>
          <a:prstGeom prst="rect">
            <a:avLst/>
          </a:prstGeom>
        </p:spPr>
      </p:pic>
      <p:pic>
        <p:nvPicPr>
          <p:cNvPr id="7" name="Gráfico 6" descr="Monitor com preenchimento sólido">
            <a:extLst>
              <a:ext uri="{FF2B5EF4-FFF2-40B4-BE49-F238E27FC236}">
                <a16:creationId xmlns:a16="http://schemas.microsoft.com/office/drawing/2014/main" id="{ADEE0CCC-935E-2912-DD49-F7599893F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4113" y="5247698"/>
            <a:ext cx="1153102" cy="1153102"/>
          </a:xfrm>
          <a:prstGeom prst="rect">
            <a:avLst/>
          </a:prstGeom>
        </p:spPr>
      </p:pic>
      <p:pic>
        <p:nvPicPr>
          <p:cNvPr id="10" name="Gráfico 9" descr="Chefe feminina com preenchimento sólido">
            <a:extLst>
              <a:ext uri="{FF2B5EF4-FFF2-40B4-BE49-F238E27FC236}">
                <a16:creationId xmlns:a16="http://schemas.microsoft.com/office/drawing/2014/main" id="{2F00A95B-DB73-7177-A58E-7B433DCA16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13464" y="3656012"/>
            <a:ext cx="914400" cy="914400"/>
          </a:xfrm>
          <a:prstGeom prst="rect">
            <a:avLst/>
          </a:prstGeom>
        </p:spPr>
      </p:pic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F6FA832B-B5EB-0CA5-A064-02CA52BED239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9470664" y="2978727"/>
            <a:ext cx="0" cy="677285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428E6CF2-2DBC-AABF-9CCE-77D187A28992}"/>
              </a:ext>
            </a:extLst>
          </p:cNvPr>
          <p:cNvCxnSpPr>
            <a:endCxn id="7" idx="0"/>
          </p:cNvCxnSpPr>
          <p:nvPr/>
        </p:nvCxnSpPr>
        <p:spPr>
          <a:xfrm>
            <a:off x="9470664" y="4570412"/>
            <a:ext cx="0" cy="67728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DD823C0-96D7-318E-999D-ED50B2765369}"/>
              </a:ext>
            </a:extLst>
          </p:cNvPr>
          <p:cNvSpPr txBox="1"/>
          <p:nvPr/>
        </p:nvSpPr>
        <p:spPr>
          <a:xfrm>
            <a:off x="7044530" y="3148092"/>
            <a:ext cx="19689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/dentista/1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5C479D0-7A90-99F0-65D3-3FAA83D20330}"/>
              </a:ext>
            </a:extLst>
          </p:cNvPr>
          <p:cNvSpPr txBox="1"/>
          <p:nvPr/>
        </p:nvSpPr>
        <p:spPr>
          <a:xfrm>
            <a:off x="7044530" y="4739778"/>
            <a:ext cx="1739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204 No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CF21398-A554-377B-19F1-A11CA0A06C09}"/>
              </a:ext>
            </a:extLst>
          </p:cNvPr>
          <p:cNvSpPr txBox="1"/>
          <p:nvPr/>
        </p:nvSpPr>
        <p:spPr>
          <a:xfrm>
            <a:off x="10157547" y="4739778"/>
            <a:ext cx="11531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 ok</a:t>
            </a:r>
          </a:p>
        </p:txBody>
      </p:sp>
    </p:spTree>
    <p:extLst>
      <p:ext uri="{BB962C8B-B14F-4D97-AF65-F5344CB8AC3E}">
        <p14:creationId xmlns:p14="http://schemas.microsoft.com/office/powerpoint/2010/main" val="39754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C794F55-4CFD-3395-272F-56DD2DB1D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 que não retornar sempre 200?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B398AE6-87A0-5B75-09C1-38A6451BA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3854962" cy="934299"/>
          </a:xfrm>
        </p:spPr>
        <p:txBody>
          <a:bodyPr/>
          <a:lstStyle/>
          <a:p>
            <a:r>
              <a:rPr lang="pl-PL" dirty="0"/>
              <a:t>O problema do 200 OK</a:t>
            </a:r>
            <a:endParaRPr lang="pt-BR" dirty="0"/>
          </a:p>
          <a:p>
            <a:r>
              <a:rPr lang="pt-BR" dirty="0"/>
              <a:t>Imagine que a API sempre retorne: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D68E81AC-D157-BA7D-9D04-357F11166B7F}"/>
              </a:ext>
            </a:extLst>
          </p:cNvPr>
          <p:cNvGrpSpPr/>
          <p:nvPr/>
        </p:nvGrpSpPr>
        <p:grpSpPr>
          <a:xfrm>
            <a:off x="749185" y="2929003"/>
            <a:ext cx="3744126" cy="638572"/>
            <a:chOff x="749185" y="2527734"/>
            <a:chExt cx="5284556" cy="638572"/>
          </a:xfrm>
        </p:grpSpPr>
        <p:sp>
          <p:nvSpPr>
            <p:cNvPr id="7" name="Shape 20">
              <a:extLst>
                <a:ext uri="{FF2B5EF4-FFF2-40B4-BE49-F238E27FC236}">
                  <a16:creationId xmlns:a16="http://schemas.microsoft.com/office/drawing/2014/main" id="{099A7046-6B53-424C-9D65-D39D7084A6C8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 21">
              <a:extLst>
                <a:ext uri="{FF2B5EF4-FFF2-40B4-BE49-F238E27FC236}">
                  <a16:creationId xmlns:a16="http://schemas.microsoft.com/office/drawing/2014/main" id="{5F947C80-BA30-A56B-4289-9B84B915316C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200 ok</a:t>
              </a:r>
              <a:endParaRPr lang="en-US" sz="1600" dirty="0"/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58A7394-E2A5-22A7-2C5E-BCC8E1135833}"/>
              </a:ext>
            </a:extLst>
          </p:cNvPr>
          <p:cNvSpPr txBox="1"/>
          <p:nvPr/>
        </p:nvSpPr>
        <p:spPr>
          <a:xfrm>
            <a:off x="592347" y="3894361"/>
            <a:ext cx="6109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qualquer situação.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F54C0C7B-B09F-93CD-3DB5-29033A1F1068}"/>
              </a:ext>
            </a:extLst>
          </p:cNvPr>
          <p:cNvGrpSpPr/>
          <p:nvPr/>
        </p:nvGrpSpPr>
        <p:grpSpPr>
          <a:xfrm>
            <a:off x="749185" y="4520405"/>
            <a:ext cx="4418560" cy="1638537"/>
            <a:chOff x="749185" y="2527734"/>
            <a:chExt cx="5284556" cy="638572"/>
          </a:xfrm>
        </p:grpSpPr>
        <p:sp>
          <p:nvSpPr>
            <p:cNvPr id="13" name="Shape 20">
              <a:extLst>
                <a:ext uri="{FF2B5EF4-FFF2-40B4-BE49-F238E27FC236}">
                  <a16:creationId xmlns:a16="http://schemas.microsoft.com/office/drawing/2014/main" id="{47F4AB36-CAFD-8FB7-7A48-BB1581BF6DD0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 21">
              <a:extLst>
                <a:ext uri="{FF2B5EF4-FFF2-40B4-BE49-F238E27FC236}">
                  <a16:creationId xmlns:a16="http://schemas.microsoft.com/office/drawing/2014/main" id="{3152C665-A472-A659-55B7-500A11DD6A77}"/>
                </a:ext>
              </a:extLst>
            </p:cNvPr>
            <p:cNvSpPr/>
            <p:nvPr/>
          </p:nvSpPr>
          <p:spPr>
            <a:xfrm>
              <a:off x="896521" y="2583345"/>
              <a:ext cx="4989884" cy="527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DELETE /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dentistas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/10</a:t>
              </a:r>
            </a:p>
            <a:p>
              <a:pPr marL="0" indent="0" algn="l">
                <a:buNone/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→ 200 OK</a:t>
              </a:r>
            </a:p>
            <a:p>
              <a:pPr marL="0" indent="0" algn="l">
                <a:buNone/>
              </a:pPr>
              <a:endParaRPr lang="en-US" sz="1600" kern="0" spc="-19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 marL="0" indent="0" algn="l">
                <a:buNone/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POST /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dentistas</a:t>
              </a:r>
              <a:endParaRPr lang="en-US" sz="1600" kern="0" spc="-19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 marL="0" indent="0" algn="l">
                <a:buNone/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→ 200 OK</a:t>
              </a:r>
              <a:endParaRPr lang="en-US" sz="1600" dirty="0"/>
            </a:p>
          </p:txBody>
        </p:sp>
      </p:grpSp>
      <p:sp>
        <p:nvSpPr>
          <p:cNvPr id="16" name="Shape 4">
            <a:extLst>
              <a:ext uri="{FF2B5EF4-FFF2-40B4-BE49-F238E27FC236}">
                <a16:creationId xmlns:a16="http://schemas.microsoft.com/office/drawing/2014/main" id="{349BA34A-7609-7A9C-1F95-D40F3620CE79}"/>
              </a:ext>
            </a:extLst>
          </p:cNvPr>
          <p:cNvSpPr/>
          <p:nvPr/>
        </p:nvSpPr>
        <p:spPr>
          <a:xfrm>
            <a:off x="6096000" y="1844675"/>
            <a:ext cx="5503653" cy="4314267"/>
          </a:xfrm>
          <a:prstGeom prst="roundRect">
            <a:avLst>
              <a:gd name="adj" fmla="val 32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94C0EA91-E1E8-C87F-27C7-88A376B9674E}"/>
              </a:ext>
            </a:extLst>
          </p:cNvPr>
          <p:cNvSpPr/>
          <p:nvPr/>
        </p:nvSpPr>
        <p:spPr>
          <a:xfrm>
            <a:off x="6291357" y="2040037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0215E048-C979-F2A0-56E4-CA227D5EF056}"/>
              </a:ext>
            </a:extLst>
          </p:cNvPr>
          <p:cNvSpPr/>
          <p:nvPr/>
        </p:nvSpPr>
        <p:spPr>
          <a:xfrm>
            <a:off x="6291357" y="2833005"/>
            <a:ext cx="5151458" cy="3170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cliente não consegue saber claramente o que aconteceu.</a:t>
            </a:r>
          </a:p>
          <a:p>
            <a:pPr algn="just"/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 isso, utilizamos diferentes códigos HTTP para representar diferentes resultados.</a:t>
            </a:r>
          </a:p>
          <a:p>
            <a:pPr algn="just"/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código HTTP faz parte do contrato da API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1" name="Gráfico 20" descr="Ponto de interrogação com preenchimento sólido">
            <a:extLst>
              <a:ext uri="{FF2B5EF4-FFF2-40B4-BE49-F238E27FC236}">
                <a16:creationId xmlns:a16="http://schemas.microsoft.com/office/drawing/2014/main" id="{3129B824-0F4C-7D8D-915E-E7C2D83B7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5554" y="2164241"/>
            <a:ext cx="318625" cy="318625"/>
          </a:xfrm>
          <a:prstGeom prst="rect">
            <a:avLst/>
          </a:prstGeom>
        </p:spPr>
      </p:pic>
      <p:sp>
        <p:nvSpPr>
          <p:cNvPr id="22" name="Título 4">
            <a:extLst>
              <a:ext uri="{FF2B5EF4-FFF2-40B4-BE49-F238E27FC236}">
                <a16:creationId xmlns:a16="http://schemas.microsoft.com/office/drawing/2014/main" id="{505775BE-BC99-D44A-DEDD-FB4F58227DE5}"/>
              </a:ext>
            </a:extLst>
          </p:cNvPr>
          <p:cNvSpPr txBox="1">
            <a:spLocks/>
          </p:cNvSpPr>
          <p:nvPr/>
        </p:nvSpPr>
        <p:spPr>
          <a:xfrm>
            <a:off x="7090020" y="2087537"/>
            <a:ext cx="4352796" cy="5195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Será que deu certo ?</a:t>
            </a:r>
          </a:p>
        </p:txBody>
      </p:sp>
    </p:spTree>
    <p:extLst>
      <p:ext uri="{BB962C8B-B14F-4D97-AF65-F5344CB8AC3E}">
        <p14:creationId xmlns:p14="http://schemas.microsoft.com/office/powerpoint/2010/main" val="1686215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B4CEBC-29AA-0B64-6D86-B49A19BD5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>
            <a:normAutofit/>
          </a:bodyPr>
          <a:lstStyle/>
          <a:p>
            <a:r>
              <a:rPr lang="pt-BR" sz="2600" b="1" dirty="0"/>
              <a:t>Os principais métodos HTTP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5FD78D7-7ED8-1593-FC54-8D4E2A2EC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613956"/>
              </p:ext>
            </p:extLst>
          </p:nvPr>
        </p:nvGraphicFramePr>
        <p:xfrm>
          <a:off x="1795568" y="2176304"/>
          <a:ext cx="8600865" cy="3688080"/>
        </p:xfrm>
        <a:graphic>
          <a:graphicData uri="http://schemas.openxmlformats.org/drawingml/2006/table">
            <a:tbl>
              <a:tblPr/>
              <a:tblGrid>
                <a:gridCol w="2230544">
                  <a:extLst>
                    <a:ext uri="{9D8B030D-6E8A-4147-A177-3AD203B41FA5}">
                      <a16:colId xmlns:a16="http://schemas.microsoft.com/office/drawing/2014/main" val="4025802244"/>
                    </a:ext>
                  </a:extLst>
                </a:gridCol>
                <a:gridCol w="2370244">
                  <a:extLst>
                    <a:ext uri="{9D8B030D-6E8A-4147-A177-3AD203B41FA5}">
                      <a16:colId xmlns:a16="http://schemas.microsoft.com/office/drawing/2014/main" val="263985013"/>
                    </a:ext>
                  </a:extLst>
                </a:gridCol>
                <a:gridCol w="4000077">
                  <a:extLst>
                    <a:ext uri="{9D8B030D-6E8A-4147-A177-3AD203B41FA5}">
                      <a16:colId xmlns:a16="http://schemas.microsoft.com/office/drawing/2014/main" val="1048547562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33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Método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33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Objetivo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33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Exemplo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81333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Consultar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Buscar dentistas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003081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Criar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Cadastrar dentista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96890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PUT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Atualizar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Alterar dentista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29347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Excluir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Remover dentista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206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1400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C33C00-6915-4D83-9337-2C34D1F7F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Response </a:t>
            </a:r>
            <a:r>
              <a:rPr lang="pt-BR" dirty="0" err="1"/>
              <a:t>Entity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CF36E3-5266-4560-B934-9E8861CB1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746125"/>
          </a:xfrm>
        </p:spPr>
        <p:txBody>
          <a:bodyPr/>
          <a:lstStyle/>
          <a:p>
            <a:r>
              <a:rPr lang="pt-BR" dirty="0" err="1"/>
              <a:t>ResponseEntity</a:t>
            </a:r>
            <a:r>
              <a:rPr lang="pt-BR" dirty="0"/>
              <a:t> é uma classe do Spring Boot que permite controlar o que a API vai devolver ao cliente.</a:t>
            </a:r>
          </a:p>
          <a:p>
            <a:endParaRPr lang="pt-BR" dirty="0"/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2FDA1C70-CB69-44A4-B7F4-AF0535FFAF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414153"/>
              </p:ext>
            </p:extLst>
          </p:nvPr>
        </p:nvGraphicFramePr>
        <p:xfrm>
          <a:off x="1056000" y="2749937"/>
          <a:ext cx="10080000" cy="3813676"/>
        </p:xfrm>
        <a:graphic>
          <a:graphicData uri="http://schemas.openxmlformats.org/drawingml/2006/table">
            <a:tbl>
              <a:tblPr/>
              <a:tblGrid>
                <a:gridCol w="2493550">
                  <a:extLst>
                    <a:ext uri="{9D8B030D-6E8A-4147-A177-3AD203B41FA5}">
                      <a16:colId xmlns:a16="http://schemas.microsoft.com/office/drawing/2014/main" val="2380922615"/>
                    </a:ext>
                  </a:extLst>
                </a:gridCol>
                <a:gridCol w="4851400">
                  <a:extLst>
                    <a:ext uri="{9D8B030D-6E8A-4147-A177-3AD203B41FA5}">
                      <a16:colId xmlns:a16="http://schemas.microsoft.com/office/drawing/2014/main" val="3143587472"/>
                    </a:ext>
                  </a:extLst>
                </a:gridCol>
                <a:gridCol w="2735050">
                  <a:extLst>
                    <a:ext uri="{9D8B030D-6E8A-4147-A177-3AD203B41FA5}">
                      <a16:colId xmlns:a16="http://schemas.microsoft.com/office/drawing/2014/main" val="1068009876"/>
                    </a:ext>
                  </a:extLst>
                </a:gridCol>
              </a:tblGrid>
              <a:tr h="445992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Código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Método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Quando utilizar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769313"/>
                  </a:ext>
                </a:extLst>
              </a:tr>
              <a:tr h="488615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 OK</a:t>
                      </a:r>
                      <a:endParaRPr lang="pt-BR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ResponseEntity.ok</a:t>
                      </a:r>
                      <a:r>
                        <a:rPr lang="pt-B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Requisição realizada com sucesso e há dados para retornar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4281668"/>
                  </a:ext>
                </a:extLst>
              </a:tr>
              <a:tr h="353306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 Created</a:t>
                      </a:r>
                      <a:endParaRPr lang="pt-BR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ResponseEntity.status</a:t>
                      </a:r>
                      <a:r>
                        <a:rPr lang="pt-B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HttpStatus.CREATED</a:t>
                      </a:r>
                      <a:r>
                        <a:rPr lang="pt-B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Um novo recurso foi criado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7614389"/>
                  </a:ext>
                </a:extLst>
              </a:tr>
              <a:tr h="488615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204 No Content</a:t>
                      </a:r>
                      <a:endParaRPr lang="pt-BR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ResponseEntity.noContent</a:t>
                      </a:r>
                      <a:r>
                        <a:rPr lang="pt-B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Operação realizada com sucesso, mas sem conteúdo para retornar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5120479"/>
                  </a:ext>
                </a:extLst>
              </a:tr>
              <a:tr h="353306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 Bad Request</a:t>
                      </a:r>
                      <a:endParaRPr lang="pt-BR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ResponseEntity.badRequest</a:t>
                      </a:r>
                      <a:r>
                        <a:rPr lang="pt-B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Dados enviados pelo cliente são inválidos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1030694"/>
                  </a:ext>
                </a:extLst>
              </a:tr>
              <a:tr h="488615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401 Unauthorized</a:t>
                      </a:r>
                      <a:endParaRPr lang="pt-BR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ResponseEntity.status</a:t>
                      </a:r>
                      <a:r>
                        <a:rPr lang="pt-B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HttpStatus.UNAUTHORIZED</a:t>
                      </a:r>
                      <a:r>
                        <a:rPr lang="pt-B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Cliente não está autenticado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8535432"/>
                  </a:ext>
                </a:extLst>
              </a:tr>
              <a:tr h="353306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404 Not Found</a:t>
                      </a:r>
                      <a:endParaRPr lang="pt-BR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ResponseEntity.notFound()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Recurso solicitado não foi encontrado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6966427"/>
                  </a:ext>
                </a:extLst>
              </a:tr>
              <a:tr h="353306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409 Conflict</a:t>
                      </a:r>
                      <a:endParaRPr lang="pt-BR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ResponseEntity.status(HttpStatus.CONFLICT)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Conflito com o estado atual do recurso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012835"/>
                  </a:ext>
                </a:extLst>
              </a:tr>
              <a:tr h="488615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 </a:t>
                      </a:r>
                      <a:r>
                        <a:rPr lang="pt-BR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Internal</a:t>
                      </a:r>
                      <a:r>
                        <a:rPr lang="pt-B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Server </a:t>
                      </a:r>
                      <a:r>
                        <a:rPr lang="pt-BR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</a:t>
                      </a:r>
                      <a:endParaRPr lang="pt-BR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ResponseEntity.status</a:t>
                      </a:r>
                      <a:r>
                        <a:rPr lang="pt-B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HttpStatus.INTERNAL_SERVER_ERROR</a:t>
                      </a:r>
                      <a:r>
                        <a:rPr lang="pt-B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 inesperado no servidor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723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4463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169926-66C9-E8D9-E88F-DF83CCC30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DELETE → 204 No </a:t>
            </a:r>
            <a:r>
              <a:rPr lang="pt-BR" dirty="0" err="1"/>
              <a:t>Content</a:t>
            </a:r>
            <a:endParaRPr lang="pt-BR" dirty="0"/>
          </a:p>
        </p:txBody>
      </p:sp>
      <p:sp>
        <p:nvSpPr>
          <p:cNvPr id="4" name="Espaço Reservado para Conteúdo 5">
            <a:extLst>
              <a:ext uri="{FF2B5EF4-FFF2-40B4-BE49-F238E27FC236}">
                <a16:creationId xmlns:a16="http://schemas.microsoft.com/office/drawing/2014/main" id="{B985A1DE-1C57-DBCF-90DE-766022BEF0FB}"/>
              </a:ext>
            </a:extLst>
          </p:cNvPr>
          <p:cNvSpPr txBox="1">
            <a:spLocks/>
          </p:cNvSpPr>
          <p:nvPr/>
        </p:nvSpPr>
        <p:spPr>
          <a:xfrm>
            <a:off x="592347" y="1844675"/>
            <a:ext cx="3854962" cy="934299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Excluindo um recurso</a:t>
            </a:r>
          </a:p>
          <a:p>
            <a:r>
              <a:rPr lang="pt-BR" dirty="0"/>
              <a:t>O DELETE remove um recurso: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CFE8BC8B-B77C-EA18-385E-A8ADEC830A8A}"/>
              </a:ext>
            </a:extLst>
          </p:cNvPr>
          <p:cNvGrpSpPr/>
          <p:nvPr/>
        </p:nvGrpSpPr>
        <p:grpSpPr>
          <a:xfrm>
            <a:off x="749184" y="3094765"/>
            <a:ext cx="8907433" cy="638572"/>
            <a:chOff x="749185" y="2527734"/>
            <a:chExt cx="5284556" cy="638572"/>
          </a:xfrm>
        </p:grpSpPr>
        <p:sp>
          <p:nvSpPr>
            <p:cNvPr id="6" name="Shape 20">
              <a:extLst>
                <a:ext uri="{FF2B5EF4-FFF2-40B4-BE49-F238E27FC236}">
                  <a16:creationId xmlns:a16="http://schemas.microsoft.com/office/drawing/2014/main" id="{0792856E-ADEE-0B2B-C0D2-088D46F750EF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21">
              <a:extLst>
                <a:ext uri="{FF2B5EF4-FFF2-40B4-BE49-F238E27FC236}">
                  <a16:creationId xmlns:a16="http://schemas.microsoft.com/office/drawing/2014/main" id="{34FCB611-6168-027F-8F72-D032DAAE9404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DELETE /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dentistas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/10</a:t>
              </a:r>
              <a:endParaRPr lang="en-US" dirty="0"/>
            </a:p>
          </p:txBody>
        </p:sp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E228A5B1-C484-25ED-07D5-96C8C9E0663A}"/>
              </a:ext>
            </a:extLst>
          </p:cNvPr>
          <p:cNvSpPr txBox="1"/>
          <p:nvPr/>
        </p:nvSpPr>
        <p:spPr>
          <a:xfrm>
            <a:off x="592347" y="4049128"/>
            <a:ext cx="39009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a exclusão ocorrer com sucesso: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BC709487-7ECE-3733-C273-F44D2FF513FA}"/>
              </a:ext>
            </a:extLst>
          </p:cNvPr>
          <p:cNvGrpSpPr/>
          <p:nvPr/>
        </p:nvGrpSpPr>
        <p:grpSpPr>
          <a:xfrm>
            <a:off x="749185" y="4765029"/>
            <a:ext cx="8907432" cy="522650"/>
            <a:chOff x="749185" y="2527734"/>
            <a:chExt cx="4477939" cy="638572"/>
          </a:xfrm>
        </p:grpSpPr>
        <p:sp>
          <p:nvSpPr>
            <p:cNvPr id="10" name="Shape 20">
              <a:extLst>
                <a:ext uri="{FF2B5EF4-FFF2-40B4-BE49-F238E27FC236}">
                  <a16:creationId xmlns:a16="http://schemas.microsoft.com/office/drawing/2014/main" id="{AFB8129F-1E14-8F35-7574-175C494FB5A4}"/>
                </a:ext>
              </a:extLst>
            </p:cNvPr>
            <p:cNvSpPr/>
            <p:nvPr/>
          </p:nvSpPr>
          <p:spPr>
            <a:xfrm>
              <a:off x="749185" y="2527734"/>
              <a:ext cx="4477939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 21">
              <a:extLst>
                <a:ext uri="{FF2B5EF4-FFF2-40B4-BE49-F238E27FC236}">
                  <a16:creationId xmlns:a16="http://schemas.microsoft.com/office/drawing/2014/main" id="{54A36054-122B-868F-925A-DD6F2AF26F47}"/>
                </a:ext>
              </a:extLst>
            </p:cNvPr>
            <p:cNvSpPr/>
            <p:nvPr/>
          </p:nvSpPr>
          <p:spPr>
            <a:xfrm>
              <a:off x="896523" y="2670506"/>
              <a:ext cx="4228246" cy="3530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pt-BR" kern="0" spc="-19" dirty="0">
                  <a:solidFill>
                    <a:srgbClr val="D73A49"/>
                  </a:solidFill>
                  <a:latin typeface="Consolas" pitchFamily="34" charset="0"/>
                </a:rPr>
                <a:t>204 No </a:t>
              </a:r>
              <a:r>
                <a:rPr lang="pt-BR" kern="0" spc="-19" dirty="0" err="1">
                  <a:solidFill>
                    <a:srgbClr val="D73A49"/>
                  </a:solidFill>
                  <a:latin typeface="Consolas" pitchFamily="34" charset="0"/>
                </a:rPr>
                <a:t>Content</a:t>
              </a:r>
              <a:endParaRPr lang="pt-BR" kern="0" spc="-19" dirty="0">
                <a:solidFill>
                  <a:srgbClr val="D73A49"/>
                </a:solidFill>
                <a:latin typeface="Consolas" pitchFamily="34" charset="0"/>
              </a:endParaRPr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276BF1F-FE60-7935-32B4-0812C890ED2B}"/>
              </a:ext>
            </a:extLst>
          </p:cNvPr>
          <p:cNvSpPr txBox="1"/>
          <p:nvPr/>
        </p:nvSpPr>
        <p:spPr>
          <a:xfrm>
            <a:off x="592347" y="5603470"/>
            <a:ext cx="108376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Como não existe necessariamente informação para devolver, o corpo da resposta pode ficar vazio.</a:t>
            </a:r>
          </a:p>
        </p:txBody>
      </p:sp>
    </p:spTree>
    <p:extLst>
      <p:ext uri="{BB962C8B-B14F-4D97-AF65-F5344CB8AC3E}">
        <p14:creationId xmlns:p14="http://schemas.microsoft.com/office/powerpoint/2010/main" val="1843293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A52F6-A789-393D-0223-A390957C8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Colocando </a:t>
            </a:r>
            <a:r>
              <a:rPr lang="pt-BR"/>
              <a:t>em prática</a:t>
            </a:r>
          </a:p>
        </p:txBody>
      </p:sp>
      <p:pic>
        <p:nvPicPr>
          <p:cNvPr id="5" name="Imagem 4" descr="Tela de celular&#10;&#10;O conteúdo gerado por IA pode estar incorreto.">
            <a:extLst>
              <a:ext uri="{FF2B5EF4-FFF2-40B4-BE49-F238E27FC236}">
                <a16:creationId xmlns:a16="http://schemas.microsoft.com/office/drawing/2014/main" id="{F5DDB60E-DFAD-AB23-8357-1FFC1BD44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600" y="2207910"/>
            <a:ext cx="7344800" cy="1638529"/>
          </a:xfrm>
          <a:prstGeom prst="rect">
            <a:avLst/>
          </a:prstGeom>
        </p:spPr>
      </p:pic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73591627-856C-55F0-D6AE-196821AA1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448" y="4751356"/>
            <a:ext cx="5373105" cy="153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86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93DCA-E4E4-845E-D23E-82890D1A4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E5BB9-3715-B5EC-AC01-0CA2A2F57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Colocando em prática</a:t>
            </a:r>
          </a:p>
        </p:txBody>
      </p:sp>
      <p:pic>
        <p:nvPicPr>
          <p:cNvPr id="4" name="Imagem 3" descr="Tela de celular&#10;&#10;O conteúdo gerado por IA pode estar incorreto.">
            <a:extLst>
              <a:ext uri="{FF2B5EF4-FFF2-40B4-BE49-F238E27FC236}">
                <a16:creationId xmlns:a16="http://schemas.microsoft.com/office/drawing/2014/main" id="{5866078B-6D83-5864-0345-F6E1F5BBE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889" y="1849700"/>
            <a:ext cx="7678222" cy="1676634"/>
          </a:xfrm>
          <a:prstGeom prst="rect">
            <a:avLst/>
          </a:prstGeom>
        </p:spPr>
      </p:pic>
      <p:pic>
        <p:nvPicPr>
          <p:cNvPr id="8" name="Imagem 7" descr="Texto&#10;&#10;O conteúdo gerado por IA pode estar incorreto.">
            <a:extLst>
              <a:ext uri="{FF2B5EF4-FFF2-40B4-BE49-F238E27FC236}">
                <a16:creationId xmlns:a16="http://schemas.microsoft.com/office/drawing/2014/main" id="{6E381689-411A-EF00-0497-0440A52E8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165" y="4169983"/>
            <a:ext cx="7023670" cy="196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522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13988-3FAB-3D91-E08A-F445845AD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PUT – 200 OK – Com conteúdo  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E4BA637B-89A0-47DA-91A8-0F4265909F0D}"/>
              </a:ext>
            </a:extLst>
          </p:cNvPr>
          <p:cNvGrpSpPr/>
          <p:nvPr/>
        </p:nvGrpSpPr>
        <p:grpSpPr>
          <a:xfrm>
            <a:off x="725427" y="3961475"/>
            <a:ext cx="4728747" cy="541682"/>
            <a:chOff x="749185" y="2527733"/>
            <a:chExt cx="12103098" cy="3005667"/>
          </a:xfrm>
        </p:grpSpPr>
        <p:sp>
          <p:nvSpPr>
            <p:cNvPr id="5" name="Shape 20">
              <a:extLst>
                <a:ext uri="{FF2B5EF4-FFF2-40B4-BE49-F238E27FC236}">
                  <a16:creationId xmlns:a16="http://schemas.microsoft.com/office/drawing/2014/main" id="{C1545440-DE66-4C8A-A09E-0FBDA59CA565}"/>
                </a:ext>
              </a:extLst>
            </p:cNvPr>
            <p:cNvSpPr/>
            <p:nvPr/>
          </p:nvSpPr>
          <p:spPr>
            <a:xfrm>
              <a:off x="749185" y="2527733"/>
              <a:ext cx="12103098" cy="3005667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 21">
              <a:extLst>
                <a:ext uri="{FF2B5EF4-FFF2-40B4-BE49-F238E27FC236}">
                  <a16:creationId xmlns:a16="http://schemas.microsoft.com/office/drawing/2014/main" id="{7B78ECCD-11A1-43FE-89B2-1FE6B362CCD4}"/>
                </a:ext>
              </a:extLst>
            </p:cNvPr>
            <p:cNvSpPr/>
            <p:nvPr/>
          </p:nvSpPr>
          <p:spPr>
            <a:xfrm>
              <a:off x="1354442" y="3396365"/>
              <a:ext cx="7666970" cy="12684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PUT /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dentistas</a:t>
              </a:r>
              <a:endParaRPr lang="en-US" dirty="0"/>
            </a:p>
          </p:txBody>
        </p:sp>
      </p:grpSp>
      <p:sp>
        <p:nvSpPr>
          <p:cNvPr id="12" name="Espaço Reservado para Conteúdo 5">
            <a:extLst>
              <a:ext uri="{FF2B5EF4-FFF2-40B4-BE49-F238E27FC236}">
                <a16:creationId xmlns:a16="http://schemas.microsoft.com/office/drawing/2014/main" id="{4E4F2E96-CA28-465D-9ABF-5BC2780239E5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235586" cy="1207814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/>
              <a:t>Atualizando um recurso</a:t>
            </a:r>
          </a:p>
          <a:p>
            <a:r>
              <a:rPr lang="pt-BR" sz="1600" dirty="0"/>
              <a:t>O método </a:t>
            </a:r>
            <a:r>
              <a:rPr lang="pt-BR" sz="1600" b="1" dirty="0"/>
              <a:t>PUT</a:t>
            </a:r>
            <a:r>
              <a:rPr lang="pt-BR" sz="1600" dirty="0"/>
              <a:t> é utilizado para atualizar um recurso. Após a alteração, a API deve </a:t>
            </a:r>
            <a:r>
              <a:rPr lang="pt-BR" sz="1600" b="1" dirty="0"/>
              <a:t>informar o resultado da operação</a:t>
            </a:r>
            <a:r>
              <a:rPr lang="pt-BR" sz="1600" dirty="0"/>
              <a:t> por meio de um retorno adequado.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938E03BF-70D3-4FBA-958E-E14CD3D849D5}"/>
              </a:ext>
            </a:extLst>
          </p:cNvPr>
          <p:cNvGrpSpPr/>
          <p:nvPr/>
        </p:nvGrpSpPr>
        <p:grpSpPr>
          <a:xfrm>
            <a:off x="725428" y="4628054"/>
            <a:ext cx="4728747" cy="1853905"/>
            <a:chOff x="764058" y="4149674"/>
            <a:chExt cx="4713875" cy="1853905"/>
          </a:xfrm>
        </p:grpSpPr>
        <p:sp>
          <p:nvSpPr>
            <p:cNvPr id="14" name="Shape 20">
              <a:extLst>
                <a:ext uri="{FF2B5EF4-FFF2-40B4-BE49-F238E27FC236}">
                  <a16:creationId xmlns:a16="http://schemas.microsoft.com/office/drawing/2014/main" id="{D23BF97A-AC9D-4A03-9834-1DD5D8BA1EED}"/>
                </a:ext>
              </a:extLst>
            </p:cNvPr>
            <p:cNvSpPr/>
            <p:nvPr/>
          </p:nvSpPr>
          <p:spPr>
            <a:xfrm>
              <a:off x="764058" y="4149674"/>
              <a:ext cx="4713875" cy="1853905"/>
            </a:xfrm>
            <a:prstGeom prst="roundRect">
              <a:avLst>
                <a:gd name="adj" fmla="val 8081"/>
              </a:avLst>
            </a:prstGeom>
            <a:solidFill>
              <a:srgbClr val="2C2C2C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21">
              <a:extLst>
                <a:ext uri="{FF2B5EF4-FFF2-40B4-BE49-F238E27FC236}">
                  <a16:creationId xmlns:a16="http://schemas.microsoft.com/office/drawing/2014/main" id="{2018165E-603F-44C8-9E21-B937B7318EBD}"/>
                </a:ext>
              </a:extLst>
            </p:cNvPr>
            <p:cNvSpPr/>
            <p:nvPr/>
          </p:nvSpPr>
          <p:spPr>
            <a:xfrm>
              <a:off x="929773" y="4545412"/>
              <a:ext cx="4382444" cy="10624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pt-BR" kern="0" spc="-19" dirty="0">
                  <a:solidFill>
                    <a:schemeClr val="bg1"/>
                  </a:solidFill>
                  <a:latin typeface="Consolas" pitchFamily="34" charset="0"/>
                </a:rPr>
                <a:t>{</a:t>
              </a:r>
              <a:r>
                <a:rPr lang="pt-BR" kern="0" spc="-19" dirty="0">
                  <a:solidFill>
                    <a:srgbClr val="D73A49"/>
                  </a:solidFill>
                  <a:latin typeface="Consolas" pitchFamily="34" charset="0"/>
                </a:rPr>
                <a:t> </a:t>
              </a:r>
            </a:p>
            <a:p>
              <a:r>
                <a:rPr lang="pt-BR" kern="0" spc="-19" dirty="0">
                  <a:solidFill>
                    <a:srgbClr val="D73A49"/>
                  </a:solidFill>
                  <a:latin typeface="Consolas" pitchFamily="34" charset="0"/>
                </a:rPr>
                <a:t>  </a:t>
              </a:r>
              <a:r>
                <a:rPr lang="pt-BR" kern="0" spc="-19" dirty="0">
                  <a:solidFill>
                    <a:srgbClr val="58B02B"/>
                  </a:solidFill>
                  <a:latin typeface="Consolas" pitchFamily="34" charset="0"/>
                </a:rPr>
                <a:t>"nome" </a:t>
              </a:r>
              <a:r>
                <a:rPr lang="pt-BR" kern="0" spc="-19" dirty="0">
                  <a:solidFill>
                    <a:schemeClr val="bg1"/>
                  </a:solidFill>
                  <a:latin typeface="Consolas" pitchFamily="34" charset="0"/>
                </a:rPr>
                <a:t>:</a:t>
              </a:r>
              <a:r>
                <a:rPr lang="pt-BR" kern="0" spc="-19" dirty="0">
                  <a:solidFill>
                    <a:srgbClr val="D73A49"/>
                  </a:solidFill>
                  <a:latin typeface="Consolas" pitchFamily="34" charset="0"/>
                </a:rPr>
                <a:t> </a:t>
              </a:r>
              <a:r>
                <a:rPr lang="pt-BR" kern="0" spc="-19" dirty="0">
                  <a:solidFill>
                    <a:srgbClr val="EADD32"/>
                  </a:solidFill>
                  <a:latin typeface="Consolas" pitchFamily="34" charset="0"/>
                </a:rPr>
                <a:t>"João Kleber",</a:t>
              </a:r>
              <a:r>
                <a:rPr lang="pt-BR" kern="0" spc="-19" dirty="0">
                  <a:solidFill>
                    <a:srgbClr val="D73A49"/>
                  </a:solidFill>
                  <a:latin typeface="Consolas" pitchFamily="34" charset="0"/>
                </a:rPr>
                <a:t>	</a:t>
              </a:r>
            </a:p>
            <a:p>
              <a:r>
                <a:rPr lang="pt-BR" kern="0" spc="-19" dirty="0">
                  <a:solidFill>
                    <a:srgbClr val="D73A49"/>
                  </a:solidFill>
                  <a:latin typeface="Consolas" pitchFamily="34" charset="0"/>
                </a:rPr>
                <a:t>  </a:t>
              </a:r>
              <a:r>
                <a:rPr lang="pt-BR" kern="0" spc="-19" dirty="0">
                  <a:solidFill>
                    <a:srgbClr val="58B02B"/>
                  </a:solidFill>
                  <a:latin typeface="Consolas" pitchFamily="34" charset="0"/>
                </a:rPr>
                <a:t>"especialidade" </a:t>
              </a:r>
              <a:r>
                <a:rPr lang="pt-BR" kern="0" spc="-19" dirty="0">
                  <a:solidFill>
                    <a:schemeClr val="bg1"/>
                  </a:solidFill>
                  <a:latin typeface="Consolas" pitchFamily="34" charset="0"/>
                </a:rPr>
                <a:t>: </a:t>
              </a:r>
              <a:r>
                <a:rPr lang="pt-BR" kern="0" spc="-19" dirty="0">
                  <a:solidFill>
                    <a:srgbClr val="EADD32"/>
                  </a:solidFill>
                  <a:latin typeface="Consolas" pitchFamily="34" charset="0"/>
                </a:rPr>
                <a:t>"CLINICO_GERAL"</a:t>
              </a:r>
            </a:p>
            <a:p>
              <a:r>
                <a:rPr lang="pt-BR" kern="0" spc="-19" dirty="0">
                  <a:solidFill>
                    <a:schemeClr val="bg1"/>
                  </a:solidFill>
                  <a:latin typeface="Consolas" pitchFamily="34" charset="0"/>
                </a:rPr>
                <a:t>}</a:t>
              </a:r>
            </a:p>
          </p:txBody>
        </p:sp>
      </p:grpSp>
      <p:sp>
        <p:nvSpPr>
          <p:cNvPr id="16" name="Espaço Reservado para Conteúdo 5">
            <a:extLst>
              <a:ext uri="{FF2B5EF4-FFF2-40B4-BE49-F238E27FC236}">
                <a16:creationId xmlns:a16="http://schemas.microsoft.com/office/drawing/2014/main" id="{42F070CB-A933-4260-8320-78E89F9BBE4D}"/>
              </a:ext>
            </a:extLst>
          </p:cNvPr>
          <p:cNvSpPr txBox="1">
            <a:spLocks/>
          </p:cNvSpPr>
          <p:nvPr/>
        </p:nvSpPr>
        <p:spPr>
          <a:xfrm>
            <a:off x="592347" y="3312820"/>
            <a:ext cx="3018482" cy="38832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sz="2400" b="1" dirty="0"/>
              <a:t>REQUEST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D13264CF-A14C-45A2-AD2A-A7AFA573771B}"/>
              </a:ext>
            </a:extLst>
          </p:cNvPr>
          <p:cNvGrpSpPr/>
          <p:nvPr/>
        </p:nvGrpSpPr>
        <p:grpSpPr>
          <a:xfrm>
            <a:off x="6571587" y="3961475"/>
            <a:ext cx="4728747" cy="541682"/>
            <a:chOff x="749185" y="2527733"/>
            <a:chExt cx="12103098" cy="3005667"/>
          </a:xfrm>
        </p:grpSpPr>
        <p:sp>
          <p:nvSpPr>
            <p:cNvPr id="18" name="Shape 20">
              <a:extLst>
                <a:ext uri="{FF2B5EF4-FFF2-40B4-BE49-F238E27FC236}">
                  <a16:creationId xmlns:a16="http://schemas.microsoft.com/office/drawing/2014/main" id="{BDFBFE23-B9C1-4977-9E7C-C80E2F1A4FA8}"/>
                </a:ext>
              </a:extLst>
            </p:cNvPr>
            <p:cNvSpPr/>
            <p:nvPr/>
          </p:nvSpPr>
          <p:spPr>
            <a:xfrm>
              <a:off x="749185" y="2527733"/>
              <a:ext cx="12103098" cy="3005667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 21">
              <a:extLst>
                <a:ext uri="{FF2B5EF4-FFF2-40B4-BE49-F238E27FC236}">
                  <a16:creationId xmlns:a16="http://schemas.microsoft.com/office/drawing/2014/main" id="{7219D96C-C734-40B5-A51D-8E5B7290DDB8}"/>
                </a:ext>
              </a:extLst>
            </p:cNvPr>
            <p:cNvSpPr/>
            <p:nvPr/>
          </p:nvSpPr>
          <p:spPr>
            <a:xfrm>
              <a:off x="1354442" y="3396365"/>
              <a:ext cx="7666970" cy="12684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PUT /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dentistas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– 200 ok</a:t>
              </a:r>
              <a:endParaRPr lang="en-US" dirty="0"/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84821217-5CB9-4DB4-87A9-1E78885E341F}"/>
              </a:ext>
            </a:extLst>
          </p:cNvPr>
          <p:cNvGrpSpPr/>
          <p:nvPr/>
        </p:nvGrpSpPr>
        <p:grpSpPr>
          <a:xfrm>
            <a:off x="6571588" y="4628054"/>
            <a:ext cx="4728747" cy="1853905"/>
            <a:chOff x="764058" y="4149674"/>
            <a:chExt cx="4713875" cy="1853905"/>
          </a:xfrm>
        </p:grpSpPr>
        <p:sp>
          <p:nvSpPr>
            <p:cNvPr id="21" name="Shape 20">
              <a:extLst>
                <a:ext uri="{FF2B5EF4-FFF2-40B4-BE49-F238E27FC236}">
                  <a16:creationId xmlns:a16="http://schemas.microsoft.com/office/drawing/2014/main" id="{9238B981-2828-4066-8C9E-83E876543C1E}"/>
                </a:ext>
              </a:extLst>
            </p:cNvPr>
            <p:cNvSpPr/>
            <p:nvPr/>
          </p:nvSpPr>
          <p:spPr>
            <a:xfrm>
              <a:off x="764058" y="4149674"/>
              <a:ext cx="4713875" cy="1853905"/>
            </a:xfrm>
            <a:prstGeom prst="roundRect">
              <a:avLst>
                <a:gd name="adj" fmla="val 8081"/>
              </a:avLst>
            </a:prstGeom>
            <a:solidFill>
              <a:srgbClr val="2C2C2C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 21">
              <a:extLst>
                <a:ext uri="{FF2B5EF4-FFF2-40B4-BE49-F238E27FC236}">
                  <a16:creationId xmlns:a16="http://schemas.microsoft.com/office/drawing/2014/main" id="{F765C7AD-7C91-4C1A-990B-C9A2E1AACFBF}"/>
                </a:ext>
              </a:extLst>
            </p:cNvPr>
            <p:cNvSpPr/>
            <p:nvPr/>
          </p:nvSpPr>
          <p:spPr>
            <a:xfrm>
              <a:off x="929773" y="4545412"/>
              <a:ext cx="4382444" cy="10624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pt-BR" kern="0" spc="-19" dirty="0">
                  <a:solidFill>
                    <a:schemeClr val="bg1"/>
                  </a:solidFill>
                  <a:latin typeface="Consolas" pitchFamily="34" charset="0"/>
                </a:rPr>
                <a:t>{</a:t>
              </a:r>
              <a:r>
                <a:rPr lang="pt-BR" kern="0" spc="-19" dirty="0">
                  <a:solidFill>
                    <a:srgbClr val="D73A49"/>
                  </a:solidFill>
                  <a:latin typeface="Consolas" pitchFamily="34" charset="0"/>
                </a:rPr>
                <a:t> </a:t>
              </a:r>
            </a:p>
            <a:p>
              <a:r>
                <a:rPr lang="pt-BR" kern="0" spc="-19" dirty="0">
                  <a:solidFill>
                    <a:srgbClr val="D73A49"/>
                  </a:solidFill>
                  <a:latin typeface="Consolas" pitchFamily="34" charset="0"/>
                </a:rPr>
                <a:t>  </a:t>
              </a:r>
              <a:r>
                <a:rPr lang="pt-BR" kern="0" spc="-19" dirty="0">
                  <a:solidFill>
                    <a:srgbClr val="58B02B"/>
                  </a:solidFill>
                  <a:latin typeface="Consolas" pitchFamily="34" charset="0"/>
                </a:rPr>
                <a:t>"nome" </a:t>
              </a:r>
              <a:r>
                <a:rPr lang="pt-BR" kern="0" spc="-19" dirty="0">
                  <a:solidFill>
                    <a:schemeClr val="bg1"/>
                  </a:solidFill>
                  <a:latin typeface="Consolas" pitchFamily="34" charset="0"/>
                </a:rPr>
                <a:t>:</a:t>
              </a:r>
              <a:r>
                <a:rPr lang="pt-BR" kern="0" spc="-19" dirty="0">
                  <a:solidFill>
                    <a:srgbClr val="D73A49"/>
                  </a:solidFill>
                  <a:latin typeface="Consolas" pitchFamily="34" charset="0"/>
                </a:rPr>
                <a:t> </a:t>
              </a:r>
              <a:r>
                <a:rPr lang="pt-BR" kern="0" spc="-19" dirty="0">
                  <a:solidFill>
                    <a:srgbClr val="EADD32"/>
                  </a:solidFill>
                  <a:latin typeface="Consolas" pitchFamily="34" charset="0"/>
                </a:rPr>
                <a:t>"João Kleber",</a:t>
              </a:r>
              <a:r>
                <a:rPr lang="pt-BR" kern="0" spc="-19" dirty="0">
                  <a:solidFill>
                    <a:srgbClr val="D73A49"/>
                  </a:solidFill>
                  <a:latin typeface="Consolas" pitchFamily="34" charset="0"/>
                </a:rPr>
                <a:t>	</a:t>
              </a:r>
            </a:p>
            <a:p>
              <a:r>
                <a:rPr lang="pt-BR" kern="0" spc="-19" dirty="0">
                  <a:solidFill>
                    <a:srgbClr val="D73A49"/>
                  </a:solidFill>
                  <a:latin typeface="Consolas" pitchFamily="34" charset="0"/>
                </a:rPr>
                <a:t>  </a:t>
              </a:r>
              <a:r>
                <a:rPr lang="pt-BR" kern="0" spc="-19" dirty="0">
                  <a:solidFill>
                    <a:srgbClr val="58B02B"/>
                  </a:solidFill>
                  <a:latin typeface="Consolas" pitchFamily="34" charset="0"/>
                </a:rPr>
                <a:t>"especialidade" </a:t>
              </a:r>
              <a:r>
                <a:rPr lang="pt-BR" kern="0" spc="-19" dirty="0">
                  <a:solidFill>
                    <a:schemeClr val="bg1"/>
                  </a:solidFill>
                  <a:latin typeface="Consolas" pitchFamily="34" charset="0"/>
                </a:rPr>
                <a:t>: </a:t>
              </a:r>
              <a:r>
                <a:rPr lang="pt-BR" kern="0" spc="-19" dirty="0">
                  <a:solidFill>
                    <a:srgbClr val="EADD32"/>
                  </a:solidFill>
                  <a:latin typeface="Consolas" pitchFamily="34" charset="0"/>
                </a:rPr>
                <a:t>"CLINICO_GERAL"</a:t>
              </a:r>
            </a:p>
            <a:p>
              <a:r>
                <a:rPr lang="pt-BR" kern="0" spc="-19" dirty="0">
                  <a:solidFill>
                    <a:schemeClr val="bg1"/>
                  </a:solidFill>
                  <a:latin typeface="Consolas" pitchFamily="34" charset="0"/>
                </a:rPr>
                <a:t>}</a:t>
              </a:r>
            </a:p>
          </p:txBody>
        </p:sp>
      </p:grpSp>
      <p:sp>
        <p:nvSpPr>
          <p:cNvPr id="23" name="Espaço Reservado para Conteúdo 5">
            <a:extLst>
              <a:ext uri="{FF2B5EF4-FFF2-40B4-BE49-F238E27FC236}">
                <a16:creationId xmlns:a16="http://schemas.microsoft.com/office/drawing/2014/main" id="{0AA788FB-67AC-4411-B0DF-59C3FDD1D56F}"/>
              </a:ext>
            </a:extLst>
          </p:cNvPr>
          <p:cNvSpPr txBox="1">
            <a:spLocks/>
          </p:cNvSpPr>
          <p:nvPr/>
        </p:nvSpPr>
        <p:spPr>
          <a:xfrm>
            <a:off x="6438507" y="3312820"/>
            <a:ext cx="3018482" cy="38832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sz="2400" b="1" dirty="0"/>
              <a:t>RESPONSE </a:t>
            </a:r>
          </a:p>
        </p:txBody>
      </p:sp>
    </p:spTree>
    <p:extLst>
      <p:ext uri="{BB962C8B-B14F-4D97-AF65-F5344CB8AC3E}">
        <p14:creationId xmlns:p14="http://schemas.microsoft.com/office/powerpoint/2010/main" val="2029540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84020B-373B-4E23-B1EA-7212A5395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Colocando em prática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1535DB5-4BB6-4E6B-82FE-73B4B2E83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85" y="2053586"/>
            <a:ext cx="6324600" cy="151099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C900786-78CC-42FD-A8CE-658CED617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85" y="4793952"/>
            <a:ext cx="7040148" cy="17110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546E603-A571-4C4F-8F5D-4B75CDE45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33" y="2686966"/>
            <a:ext cx="4160008" cy="175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722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13988-3FAB-3D91-E08A-F445845AD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GET – 200 0K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E4BA637B-89A0-47DA-91A8-0F4265909F0D}"/>
              </a:ext>
            </a:extLst>
          </p:cNvPr>
          <p:cNvGrpSpPr/>
          <p:nvPr/>
        </p:nvGrpSpPr>
        <p:grpSpPr>
          <a:xfrm>
            <a:off x="725427" y="3961475"/>
            <a:ext cx="4728747" cy="541682"/>
            <a:chOff x="749185" y="2527733"/>
            <a:chExt cx="12103098" cy="3005667"/>
          </a:xfrm>
        </p:grpSpPr>
        <p:sp>
          <p:nvSpPr>
            <p:cNvPr id="5" name="Shape 20">
              <a:extLst>
                <a:ext uri="{FF2B5EF4-FFF2-40B4-BE49-F238E27FC236}">
                  <a16:creationId xmlns:a16="http://schemas.microsoft.com/office/drawing/2014/main" id="{C1545440-DE66-4C8A-A09E-0FBDA59CA565}"/>
                </a:ext>
              </a:extLst>
            </p:cNvPr>
            <p:cNvSpPr/>
            <p:nvPr/>
          </p:nvSpPr>
          <p:spPr>
            <a:xfrm>
              <a:off x="749185" y="2527733"/>
              <a:ext cx="12103098" cy="3005667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 21">
              <a:extLst>
                <a:ext uri="{FF2B5EF4-FFF2-40B4-BE49-F238E27FC236}">
                  <a16:creationId xmlns:a16="http://schemas.microsoft.com/office/drawing/2014/main" id="{7B78ECCD-11A1-43FE-89B2-1FE6B362CCD4}"/>
                </a:ext>
              </a:extLst>
            </p:cNvPr>
            <p:cNvSpPr/>
            <p:nvPr/>
          </p:nvSpPr>
          <p:spPr>
            <a:xfrm>
              <a:off x="1354442" y="3396365"/>
              <a:ext cx="7666970" cy="12684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GET /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dentistas</a:t>
              </a:r>
              <a:endParaRPr lang="en-US" dirty="0"/>
            </a:p>
          </p:txBody>
        </p:sp>
      </p:grpSp>
      <p:sp>
        <p:nvSpPr>
          <p:cNvPr id="12" name="Espaço Reservado para Conteúdo 5">
            <a:extLst>
              <a:ext uri="{FF2B5EF4-FFF2-40B4-BE49-F238E27FC236}">
                <a16:creationId xmlns:a16="http://schemas.microsoft.com/office/drawing/2014/main" id="{4E4F2E96-CA28-465D-9ABF-5BC2780239E5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235586" cy="1207814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/>
              <a:t>Atualizando um recurso</a:t>
            </a:r>
          </a:p>
          <a:p>
            <a:r>
              <a:rPr lang="pt-BR" sz="1600" dirty="0"/>
              <a:t>O método </a:t>
            </a:r>
            <a:r>
              <a:rPr lang="pt-BR" sz="1600" b="1" dirty="0"/>
              <a:t>GET </a:t>
            </a:r>
            <a:r>
              <a:rPr lang="pt-BR" sz="1600" dirty="0"/>
              <a:t>é utilizado quando desejamos buscar um valor no nosso banco de dados, sempre que retornarmos um valor devemos retornar a entidade.</a:t>
            </a:r>
          </a:p>
        </p:txBody>
      </p:sp>
      <p:sp>
        <p:nvSpPr>
          <p:cNvPr id="16" name="Espaço Reservado para Conteúdo 5">
            <a:extLst>
              <a:ext uri="{FF2B5EF4-FFF2-40B4-BE49-F238E27FC236}">
                <a16:creationId xmlns:a16="http://schemas.microsoft.com/office/drawing/2014/main" id="{42F070CB-A933-4260-8320-78E89F9BBE4D}"/>
              </a:ext>
            </a:extLst>
          </p:cNvPr>
          <p:cNvSpPr txBox="1">
            <a:spLocks/>
          </p:cNvSpPr>
          <p:nvPr/>
        </p:nvSpPr>
        <p:spPr>
          <a:xfrm>
            <a:off x="592347" y="3312820"/>
            <a:ext cx="3018482" cy="38832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sz="2400" b="1" dirty="0"/>
              <a:t>REQUEST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CD68EF2-1025-43E8-85D9-E49F87930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699" y="3312820"/>
            <a:ext cx="4640759" cy="325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014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8A888-EBC5-4B3A-863D-3E69666A3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Colocando em prática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10A3C54-5E4B-4C6E-AD48-B720CB42E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915" y="3429000"/>
            <a:ext cx="8564170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417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C794F55-4CFD-3395-272F-56DD2DB1D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POST → 201 </a:t>
            </a:r>
            <a:r>
              <a:rPr lang="pt-BR" dirty="0" err="1"/>
              <a:t>Created</a:t>
            </a:r>
            <a:endParaRPr lang="pt-BR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6CBF9225-7990-4E89-BAB8-21E04F58EC8D}"/>
              </a:ext>
            </a:extLst>
          </p:cNvPr>
          <p:cNvGrpSpPr/>
          <p:nvPr/>
        </p:nvGrpSpPr>
        <p:grpSpPr>
          <a:xfrm>
            <a:off x="6353175" y="2167692"/>
            <a:ext cx="5503653" cy="4314267"/>
            <a:chOff x="6096000" y="1844675"/>
            <a:chExt cx="5503653" cy="4314267"/>
          </a:xfrm>
        </p:grpSpPr>
        <p:sp>
          <p:nvSpPr>
            <p:cNvPr id="16" name="Shape 4">
              <a:extLst>
                <a:ext uri="{FF2B5EF4-FFF2-40B4-BE49-F238E27FC236}">
                  <a16:creationId xmlns:a16="http://schemas.microsoft.com/office/drawing/2014/main" id="{349BA34A-7609-7A9C-1F95-D40F3620CE79}"/>
                </a:ext>
              </a:extLst>
            </p:cNvPr>
            <p:cNvSpPr/>
            <p:nvPr/>
          </p:nvSpPr>
          <p:spPr>
            <a:xfrm>
              <a:off x="6096000" y="1844675"/>
              <a:ext cx="5503653" cy="4314267"/>
            </a:xfrm>
            <a:prstGeom prst="roundRect">
              <a:avLst>
                <a:gd name="adj" fmla="val 3224"/>
              </a:avLst>
            </a:prstGeom>
            <a:solidFill>
              <a:srgbClr val="DADBF1"/>
            </a:solidFill>
            <a:ln w="6350">
              <a:solidFill>
                <a:srgbClr val="C0C1D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Shape 5">
              <a:extLst>
                <a:ext uri="{FF2B5EF4-FFF2-40B4-BE49-F238E27FC236}">
                  <a16:creationId xmlns:a16="http://schemas.microsoft.com/office/drawing/2014/main" id="{94C0EA91-E1E8-C87F-27C7-88A376B9674E}"/>
                </a:ext>
              </a:extLst>
            </p:cNvPr>
            <p:cNvSpPr/>
            <p:nvPr/>
          </p:nvSpPr>
          <p:spPr>
            <a:xfrm>
              <a:off x="6291357" y="2040037"/>
              <a:ext cx="567021" cy="567035"/>
            </a:xfrm>
            <a:prstGeom prst="ellipse">
              <a:avLst/>
            </a:prstGeom>
            <a:solidFill>
              <a:srgbClr val="4950BC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 7">
              <a:extLst>
                <a:ext uri="{FF2B5EF4-FFF2-40B4-BE49-F238E27FC236}">
                  <a16:creationId xmlns:a16="http://schemas.microsoft.com/office/drawing/2014/main" id="{0215E048-C979-F2A0-56E4-CA227D5EF056}"/>
                </a:ext>
              </a:extLst>
            </p:cNvPr>
            <p:cNvSpPr/>
            <p:nvPr/>
          </p:nvSpPr>
          <p:spPr>
            <a:xfrm>
              <a:off x="6291357" y="2833005"/>
              <a:ext cx="5151458" cy="31705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 método POST, deve sempre retornar as seguintes informações: </a:t>
              </a:r>
            </a:p>
            <a:p>
              <a:pPr marL="800100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201 </a:t>
              </a:r>
              <a:r>
                <a:rPr lang="pt-BR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Created</a:t>
              </a: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Indica que o recurso foi criado com sucesso.</a:t>
              </a:r>
            </a:p>
            <a:p>
              <a:pPr marL="800100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Location</a:t>
              </a: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Informa a URI onde o novo recurso pode ser encontrado.</a:t>
              </a:r>
            </a:p>
            <a:p>
              <a:pPr marL="800100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Body</a:t>
              </a: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Retorna os dados do recurso que acabou de ser criado.</a:t>
              </a:r>
            </a:p>
          </p:txBody>
        </p:sp>
        <p:pic>
          <p:nvPicPr>
            <p:cNvPr id="21" name="Gráfico 20" descr="Ponto de interrogação com preenchimento sólido">
              <a:extLst>
                <a:ext uri="{FF2B5EF4-FFF2-40B4-BE49-F238E27FC236}">
                  <a16:creationId xmlns:a16="http://schemas.microsoft.com/office/drawing/2014/main" id="{3129B824-0F4C-7D8D-915E-E7C2D83B7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15554" y="2164241"/>
              <a:ext cx="318625" cy="318625"/>
            </a:xfrm>
            <a:prstGeom prst="rect">
              <a:avLst/>
            </a:prstGeom>
          </p:spPr>
        </p:pic>
        <p:sp>
          <p:nvSpPr>
            <p:cNvPr id="22" name="Título 4">
              <a:extLst>
                <a:ext uri="{FF2B5EF4-FFF2-40B4-BE49-F238E27FC236}">
                  <a16:creationId xmlns:a16="http://schemas.microsoft.com/office/drawing/2014/main" id="{505775BE-BC99-D44A-DEDD-FB4F58227DE5}"/>
                </a:ext>
              </a:extLst>
            </p:cNvPr>
            <p:cNvSpPr txBox="1">
              <a:spLocks/>
            </p:cNvSpPr>
            <p:nvPr/>
          </p:nvSpPr>
          <p:spPr>
            <a:xfrm>
              <a:off x="7090020" y="2087537"/>
              <a:ext cx="4352796" cy="519535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defRPr>
              </a:lvl1pPr>
            </a:lstStyle>
            <a:p>
              <a:r>
                <a:rPr lang="pt-BR" sz="2000" dirty="0"/>
                <a:t>O que o método POST, deve retornar</a:t>
              </a: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30C0BA47-AFFB-4DBF-9608-1395E7A9FEAB}"/>
              </a:ext>
            </a:extLst>
          </p:cNvPr>
          <p:cNvGrpSpPr/>
          <p:nvPr/>
        </p:nvGrpSpPr>
        <p:grpSpPr>
          <a:xfrm>
            <a:off x="725427" y="3780015"/>
            <a:ext cx="4728747" cy="541682"/>
            <a:chOff x="749185" y="2527733"/>
            <a:chExt cx="12103098" cy="3005667"/>
          </a:xfrm>
        </p:grpSpPr>
        <p:sp>
          <p:nvSpPr>
            <p:cNvPr id="20" name="Shape 20">
              <a:extLst>
                <a:ext uri="{FF2B5EF4-FFF2-40B4-BE49-F238E27FC236}">
                  <a16:creationId xmlns:a16="http://schemas.microsoft.com/office/drawing/2014/main" id="{3BA1DA77-C3EF-4C65-A1A7-B5F8D194271F}"/>
                </a:ext>
              </a:extLst>
            </p:cNvPr>
            <p:cNvSpPr/>
            <p:nvPr/>
          </p:nvSpPr>
          <p:spPr>
            <a:xfrm>
              <a:off x="749185" y="2527733"/>
              <a:ext cx="12103098" cy="3005667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2B6579C8-0A40-4019-A033-6CC629A86966}"/>
                </a:ext>
              </a:extLst>
            </p:cNvPr>
            <p:cNvSpPr/>
            <p:nvPr/>
          </p:nvSpPr>
          <p:spPr>
            <a:xfrm>
              <a:off x="1354442" y="3396365"/>
              <a:ext cx="7666970" cy="12684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POST /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dentistas</a:t>
              </a:r>
              <a:endParaRPr lang="en-US" dirty="0"/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91B35A1B-240E-40D9-94F3-7EFDF3D0EB9A}"/>
              </a:ext>
            </a:extLst>
          </p:cNvPr>
          <p:cNvGrpSpPr/>
          <p:nvPr/>
        </p:nvGrpSpPr>
        <p:grpSpPr>
          <a:xfrm>
            <a:off x="725428" y="4628054"/>
            <a:ext cx="4728747" cy="1853905"/>
            <a:chOff x="764058" y="4149674"/>
            <a:chExt cx="4713875" cy="1853905"/>
          </a:xfrm>
        </p:grpSpPr>
        <p:sp>
          <p:nvSpPr>
            <p:cNvPr id="25" name="Shape 20">
              <a:extLst>
                <a:ext uri="{FF2B5EF4-FFF2-40B4-BE49-F238E27FC236}">
                  <a16:creationId xmlns:a16="http://schemas.microsoft.com/office/drawing/2014/main" id="{60308137-8E88-4268-978B-68A9896DCF90}"/>
                </a:ext>
              </a:extLst>
            </p:cNvPr>
            <p:cNvSpPr/>
            <p:nvPr/>
          </p:nvSpPr>
          <p:spPr>
            <a:xfrm>
              <a:off x="764058" y="4149674"/>
              <a:ext cx="4713875" cy="1853905"/>
            </a:xfrm>
            <a:prstGeom prst="roundRect">
              <a:avLst>
                <a:gd name="adj" fmla="val 8081"/>
              </a:avLst>
            </a:prstGeom>
            <a:solidFill>
              <a:srgbClr val="2C2C2C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Text 21">
              <a:extLst>
                <a:ext uri="{FF2B5EF4-FFF2-40B4-BE49-F238E27FC236}">
                  <a16:creationId xmlns:a16="http://schemas.microsoft.com/office/drawing/2014/main" id="{0FA8B426-6CF0-4689-8848-9CB76C9E878E}"/>
                </a:ext>
              </a:extLst>
            </p:cNvPr>
            <p:cNvSpPr/>
            <p:nvPr/>
          </p:nvSpPr>
          <p:spPr>
            <a:xfrm>
              <a:off x="929773" y="4545412"/>
              <a:ext cx="4382444" cy="10624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pt-BR" kern="0" spc="-19" dirty="0">
                  <a:solidFill>
                    <a:schemeClr val="bg1"/>
                  </a:solidFill>
                  <a:latin typeface="Consolas" pitchFamily="34" charset="0"/>
                </a:rPr>
                <a:t>{</a:t>
              </a:r>
              <a:r>
                <a:rPr lang="pt-BR" kern="0" spc="-19" dirty="0">
                  <a:solidFill>
                    <a:srgbClr val="D73A49"/>
                  </a:solidFill>
                  <a:latin typeface="Consolas" pitchFamily="34" charset="0"/>
                </a:rPr>
                <a:t> </a:t>
              </a:r>
            </a:p>
            <a:p>
              <a:r>
                <a:rPr lang="pt-BR" kern="0" spc="-19" dirty="0">
                  <a:solidFill>
                    <a:srgbClr val="D73A49"/>
                  </a:solidFill>
                  <a:latin typeface="Consolas" pitchFamily="34" charset="0"/>
                </a:rPr>
                <a:t>  </a:t>
              </a:r>
              <a:r>
                <a:rPr lang="pt-BR" kern="0" spc="-19" dirty="0">
                  <a:solidFill>
                    <a:srgbClr val="58B02B"/>
                  </a:solidFill>
                  <a:latin typeface="Consolas" pitchFamily="34" charset="0"/>
                </a:rPr>
                <a:t>"nome" </a:t>
              </a:r>
              <a:r>
                <a:rPr lang="pt-BR" kern="0" spc="-19" dirty="0">
                  <a:solidFill>
                    <a:schemeClr val="bg1"/>
                  </a:solidFill>
                  <a:latin typeface="Consolas" pitchFamily="34" charset="0"/>
                </a:rPr>
                <a:t>:</a:t>
              </a:r>
              <a:r>
                <a:rPr lang="pt-BR" kern="0" spc="-19" dirty="0">
                  <a:solidFill>
                    <a:srgbClr val="D73A49"/>
                  </a:solidFill>
                  <a:latin typeface="Consolas" pitchFamily="34" charset="0"/>
                </a:rPr>
                <a:t> </a:t>
              </a:r>
              <a:r>
                <a:rPr lang="pt-BR" kern="0" spc="-19" dirty="0">
                  <a:solidFill>
                    <a:srgbClr val="EADD32"/>
                  </a:solidFill>
                  <a:latin typeface="Consolas" pitchFamily="34" charset="0"/>
                </a:rPr>
                <a:t>"João Kleber",</a:t>
              </a:r>
              <a:r>
                <a:rPr lang="pt-BR" kern="0" spc="-19" dirty="0">
                  <a:solidFill>
                    <a:srgbClr val="D73A49"/>
                  </a:solidFill>
                  <a:latin typeface="Consolas" pitchFamily="34" charset="0"/>
                </a:rPr>
                <a:t>	</a:t>
              </a:r>
            </a:p>
            <a:p>
              <a:r>
                <a:rPr lang="pt-BR" kern="0" spc="-19" dirty="0">
                  <a:solidFill>
                    <a:srgbClr val="D73A49"/>
                  </a:solidFill>
                  <a:latin typeface="Consolas" pitchFamily="34" charset="0"/>
                </a:rPr>
                <a:t>  </a:t>
              </a:r>
              <a:r>
                <a:rPr lang="pt-BR" kern="0" spc="-19" dirty="0">
                  <a:solidFill>
                    <a:srgbClr val="58B02B"/>
                  </a:solidFill>
                  <a:latin typeface="Consolas" pitchFamily="34" charset="0"/>
                </a:rPr>
                <a:t>"especialidade" </a:t>
              </a:r>
              <a:r>
                <a:rPr lang="pt-BR" kern="0" spc="-19" dirty="0">
                  <a:solidFill>
                    <a:schemeClr val="bg1"/>
                  </a:solidFill>
                  <a:latin typeface="Consolas" pitchFamily="34" charset="0"/>
                </a:rPr>
                <a:t>: </a:t>
              </a:r>
              <a:r>
                <a:rPr lang="pt-BR" kern="0" spc="-19" dirty="0">
                  <a:solidFill>
                    <a:srgbClr val="EADD32"/>
                  </a:solidFill>
                  <a:latin typeface="Consolas" pitchFamily="34" charset="0"/>
                </a:rPr>
                <a:t>"CLINICO_GERAL"</a:t>
              </a:r>
            </a:p>
            <a:p>
              <a:r>
                <a:rPr lang="pt-BR" kern="0" spc="-19" dirty="0">
                  <a:solidFill>
                    <a:schemeClr val="bg1"/>
                  </a:solidFill>
                  <a:latin typeface="Consolas" pitchFamily="34" charset="0"/>
                </a:rPr>
                <a:t>}</a:t>
              </a:r>
            </a:p>
          </p:txBody>
        </p:sp>
      </p:grpSp>
      <p:sp>
        <p:nvSpPr>
          <p:cNvPr id="27" name="Espaço Reservado para Conteúdo 5">
            <a:extLst>
              <a:ext uri="{FF2B5EF4-FFF2-40B4-BE49-F238E27FC236}">
                <a16:creationId xmlns:a16="http://schemas.microsoft.com/office/drawing/2014/main" id="{F2176786-0E05-4130-8695-82F305988C95}"/>
              </a:ext>
            </a:extLst>
          </p:cNvPr>
          <p:cNvSpPr txBox="1">
            <a:spLocks/>
          </p:cNvSpPr>
          <p:nvPr/>
        </p:nvSpPr>
        <p:spPr>
          <a:xfrm>
            <a:off x="592347" y="3085332"/>
            <a:ext cx="3018482" cy="38832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sz="2400" b="1" dirty="0"/>
              <a:t>REQUEST</a:t>
            </a:r>
          </a:p>
        </p:txBody>
      </p:sp>
      <p:sp>
        <p:nvSpPr>
          <p:cNvPr id="28" name="Espaço Reservado para Conteúdo 5">
            <a:extLst>
              <a:ext uri="{FF2B5EF4-FFF2-40B4-BE49-F238E27FC236}">
                <a16:creationId xmlns:a16="http://schemas.microsoft.com/office/drawing/2014/main" id="{D8D567F3-695E-4DA6-95BF-20AF001B0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6" y="1844675"/>
            <a:ext cx="4861827" cy="934299"/>
          </a:xfrm>
        </p:spPr>
        <p:txBody>
          <a:bodyPr/>
          <a:lstStyle/>
          <a:p>
            <a:r>
              <a:rPr lang="pt-BR" dirty="0"/>
              <a:t>Utilizamos o método </a:t>
            </a:r>
            <a:r>
              <a:rPr lang="pt-BR" b="1" dirty="0"/>
              <a:t>POST</a:t>
            </a:r>
            <a:r>
              <a:rPr lang="pt-BR" dirty="0"/>
              <a:t>, sempre que quisermos retornar um valor:</a:t>
            </a:r>
          </a:p>
        </p:txBody>
      </p:sp>
    </p:spTree>
    <p:extLst>
      <p:ext uri="{BB962C8B-B14F-4D97-AF65-F5344CB8AC3E}">
        <p14:creationId xmlns:p14="http://schemas.microsoft.com/office/powerpoint/2010/main" val="2337075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3875EC-271F-4B53-B819-6E33E3743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Colocando em prática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51F18A7-32A9-47B3-8893-B77F0D90A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85" y="2005891"/>
            <a:ext cx="7219950" cy="149341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68035C2-E4DF-4CA2-981B-96D1D17BF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85" y="4262115"/>
            <a:ext cx="5346815" cy="235333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436E409-5B81-418F-82C1-32394885F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9252" y="3781018"/>
            <a:ext cx="4447928" cy="235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000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C794F55-4CFD-3395-272F-56DD2DB1D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POST → 201 </a:t>
            </a:r>
            <a:r>
              <a:rPr lang="pt-BR" dirty="0" err="1"/>
              <a:t>Created</a:t>
            </a:r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30C0BA47-AFFB-4DBF-9608-1395E7A9FEAB}"/>
              </a:ext>
            </a:extLst>
          </p:cNvPr>
          <p:cNvGrpSpPr/>
          <p:nvPr/>
        </p:nvGrpSpPr>
        <p:grpSpPr>
          <a:xfrm>
            <a:off x="634176" y="2583090"/>
            <a:ext cx="10923647" cy="845910"/>
            <a:chOff x="749185" y="2527733"/>
            <a:chExt cx="12103098" cy="3005667"/>
          </a:xfrm>
        </p:grpSpPr>
        <p:sp>
          <p:nvSpPr>
            <p:cNvPr id="20" name="Shape 20">
              <a:extLst>
                <a:ext uri="{FF2B5EF4-FFF2-40B4-BE49-F238E27FC236}">
                  <a16:creationId xmlns:a16="http://schemas.microsoft.com/office/drawing/2014/main" id="{3BA1DA77-C3EF-4C65-A1A7-B5F8D194271F}"/>
                </a:ext>
              </a:extLst>
            </p:cNvPr>
            <p:cNvSpPr/>
            <p:nvPr/>
          </p:nvSpPr>
          <p:spPr>
            <a:xfrm>
              <a:off x="749185" y="2527733"/>
              <a:ext cx="12103098" cy="3005667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2B6579C8-0A40-4019-A033-6CC629A86966}"/>
                </a:ext>
              </a:extLst>
            </p:cNvPr>
            <p:cNvSpPr/>
            <p:nvPr/>
          </p:nvSpPr>
          <p:spPr>
            <a:xfrm>
              <a:off x="978769" y="3396364"/>
              <a:ext cx="11643930" cy="12684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var 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uri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 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uriBuilder.path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("/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dentista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/{id}").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buildAndExpand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dentista.getId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()).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toUri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();</a:t>
              </a:r>
              <a:endParaRPr lang="en-US" dirty="0"/>
            </a:p>
          </p:txBody>
        </p:sp>
      </p:grpSp>
      <p:sp>
        <p:nvSpPr>
          <p:cNvPr id="28" name="Espaço Reservado para Conteúdo 5">
            <a:extLst>
              <a:ext uri="{FF2B5EF4-FFF2-40B4-BE49-F238E27FC236}">
                <a16:creationId xmlns:a16="http://schemas.microsoft.com/office/drawing/2014/main" id="{D8D567F3-695E-4DA6-95BF-20AF001B0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6" y="1844675"/>
            <a:ext cx="10965477" cy="631825"/>
          </a:xfrm>
        </p:spPr>
        <p:txBody>
          <a:bodyPr/>
          <a:lstStyle/>
          <a:p>
            <a:r>
              <a:rPr lang="pt-BR" dirty="0"/>
              <a:t>O que cada método faz nesse comando abaixo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0D2E1387-0A40-4131-B530-C976A8A588CB}"/>
              </a:ext>
            </a:extLst>
          </p:cNvPr>
          <p:cNvGrpSpPr/>
          <p:nvPr/>
        </p:nvGrpSpPr>
        <p:grpSpPr>
          <a:xfrm>
            <a:off x="634177" y="3673466"/>
            <a:ext cx="10923646" cy="2808493"/>
            <a:chOff x="6096000" y="1844675"/>
            <a:chExt cx="5503653" cy="4314267"/>
          </a:xfrm>
        </p:grpSpPr>
        <p:sp>
          <p:nvSpPr>
            <p:cNvPr id="30" name="Shape 4">
              <a:extLst>
                <a:ext uri="{FF2B5EF4-FFF2-40B4-BE49-F238E27FC236}">
                  <a16:creationId xmlns:a16="http://schemas.microsoft.com/office/drawing/2014/main" id="{09BD44C6-77ED-4B9A-B2E5-5E6CEFE4E81F}"/>
                </a:ext>
              </a:extLst>
            </p:cNvPr>
            <p:cNvSpPr/>
            <p:nvPr/>
          </p:nvSpPr>
          <p:spPr>
            <a:xfrm>
              <a:off x="6096000" y="1844675"/>
              <a:ext cx="5503653" cy="4314267"/>
            </a:xfrm>
            <a:prstGeom prst="roundRect">
              <a:avLst>
                <a:gd name="adj" fmla="val 3224"/>
              </a:avLst>
            </a:prstGeom>
            <a:solidFill>
              <a:srgbClr val="DADBF1"/>
            </a:solidFill>
            <a:ln w="6350">
              <a:solidFill>
                <a:srgbClr val="C0C1D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Text 7">
              <a:extLst>
                <a:ext uri="{FF2B5EF4-FFF2-40B4-BE49-F238E27FC236}">
                  <a16:creationId xmlns:a16="http://schemas.microsoft.com/office/drawing/2014/main" id="{1B95BD68-B719-4368-85F7-F6C7F7CF0AD2}"/>
                </a:ext>
              </a:extLst>
            </p:cNvPr>
            <p:cNvSpPr/>
            <p:nvPr/>
          </p:nvSpPr>
          <p:spPr>
            <a:xfrm>
              <a:off x="6291357" y="2833005"/>
              <a:ext cx="5151458" cy="31705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lvl="1" algn="just">
                <a:lnSpc>
                  <a:spcPct val="150000"/>
                </a:lnSpc>
              </a:pP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 retorno 201 </a:t>
              </a:r>
              <a:r>
                <a:rPr lang="pt-BR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Created</a:t>
              </a: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é uma boa prática informar o cabeçalho </a:t>
              </a:r>
              <a:r>
                <a:rPr lang="pt-BR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Location</a:t>
              </a: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indicando onde o recurso criado pode ser </a:t>
              </a:r>
              <a:r>
                <a:rPr lang="pt-BR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encontrado.Para</a:t>
              </a: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construir essa URI, utilizamos o </a:t>
              </a:r>
              <a:r>
                <a:rPr lang="pt-BR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UriComponentsBuilder</a:t>
              </a: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que facilita sua criação.</a:t>
              </a:r>
            </a:p>
            <a:p>
              <a:pPr marL="742950" lvl="2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path() - Define o caminho da URI, incluindo o parâmetro {id}.</a:t>
              </a:r>
            </a:p>
            <a:p>
              <a:pPr marL="742950" lvl="1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buildAndExpand</a:t>
              </a: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() - Substitui o {id} pelo ID real do dentista.</a:t>
              </a:r>
            </a:p>
            <a:p>
              <a:pPr marL="742950" lvl="1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toUri</a:t>
              </a: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() - Converte o resultado final em um objeto URI</a:t>
              </a:r>
            </a:p>
          </p:txBody>
        </p:sp>
        <p:sp>
          <p:nvSpPr>
            <p:cNvPr id="34" name="Título 4">
              <a:extLst>
                <a:ext uri="{FF2B5EF4-FFF2-40B4-BE49-F238E27FC236}">
                  <a16:creationId xmlns:a16="http://schemas.microsoft.com/office/drawing/2014/main" id="{B18650A0-FFD4-4761-8584-859151D4020D}"/>
                </a:ext>
              </a:extLst>
            </p:cNvPr>
            <p:cNvSpPr txBox="1">
              <a:spLocks/>
            </p:cNvSpPr>
            <p:nvPr/>
          </p:nvSpPr>
          <p:spPr>
            <a:xfrm>
              <a:off x="6419546" y="2087537"/>
              <a:ext cx="5023270" cy="519535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defRPr>
              </a:lvl1pPr>
            </a:lstStyle>
            <a:p>
              <a:r>
                <a:rPr lang="pt-BR" sz="2000" dirty="0"/>
                <a:t>Função de cada método</a:t>
              </a: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9F4709DF-26AB-4F89-83D3-FD83B3B7ABAA}"/>
              </a:ext>
            </a:extLst>
          </p:cNvPr>
          <p:cNvGrpSpPr/>
          <p:nvPr/>
        </p:nvGrpSpPr>
        <p:grpSpPr>
          <a:xfrm>
            <a:off x="737306" y="3857846"/>
            <a:ext cx="360000" cy="360000"/>
            <a:chOff x="1053622" y="3749812"/>
            <a:chExt cx="567021" cy="567035"/>
          </a:xfrm>
        </p:grpSpPr>
        <p:sp>
          <p:nvSpPr>
            <p:cNvPr id="35" name="Shape 5">
              <a:extLst>
                <a:ext uri="{FF2B5EF4-FFF2-40B4-BE49-F238E27FC236}">
                  <a16:creationId xmlns:a16="http://schemas.microsoft.com/office/drawing/2014/main" id="{80B5DF14-F9BE-4F39-8E97-8ED8E8FC76B7}"/>
                </a:ext>
              </a:extLst>
            </p:cNvPr>
            <p:cNvSpPr/>
            <p:nvPr/>
          </p:nvSpPr>
          <p:spPr>
            <a:xfrm>
              <a:off x="1053622" y="3749812"/>
              <a:ext cx="567021" cy="567035"/>
            </a:xfrm>
            <a:prstGeom prst="ellipse">
              <a:avLst/>
            </a:prstGeom>
            <a:solidFill>
              <a:srgbClr val="4950BC"/>
            </a:solidFill>
            <a:ln/>
          </p:spPr>
          <p:txBody>
            <a:bodyPr/>
            <a:lstStyle/>
            <a:p>
              <a:endParaRPr lang="pt-BR"/>
            </a:p>
          </p:txBody>
        </p:sp>
        <p:pic>
          <p:nvPicPr>
            <p:cNvPr id="36" name="Gráfico 35" descr="Ponto de interrogação com preenchimento sólido">
              <a:extLst>
                <a:ext uri="{FF2B5EF4-FFF2-40B4-BE49-F238E27FC236}">
                  <a16:creationId xmlns:a16="http://schemas.microsoft.com/office/drawing/2014/main" id="{94E2917B-0A8E-4E69-8EDC-E76F50E214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7819" y="3874016"/>
              <a:ext cx="318625" cy="3186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6340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</TotalTime>
  <Words>734</Words>
  <Application>Microsoft Office PowerPoint</Application>
  <PresentationFormat>Widescreen</PresentationFormat>
  <Paragraphs>129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Times New Roman</vt:lpstr>
      <vt:lpstr>Tema do Office</vt:lpstr>
      <vt:lpstr>Boas práticas em APIs REST</vt:lpstr>
      <vt:lpstr>Por que uma API precisa retornar informações?</vt:lpstr>
      <vt:lpstr>Por que não retornar sempre 200?</vt:lpstr>
      <vt:lpstr>Os principais métodos HTTP</vt:lpstr>
      <vt:lpstr>Response Entity</vt:lpstr>
      <vt:lpstr>DELETE → 204 No Content</vt:lpstr>
      <vt:lpstr>Colocando em prática</vt:lpstr>
      <vt:lpstr>Colocando em prática</vt:lpstr>
      <vt:lpstr>PUT – 200 OK – Com conteúdo  </vt:lpstr>
      <vt:lpstr>Colocando em prática</vt:lpstr>
      <vt:lpstr>GET – 200 0K</vt:lpstr>
      <vt:lpstr>Colocando em prática</vt:lpstr>
      <vt:lpstr>POST → 201 Created</vt:lpstr>
      <vt:lpstr>Colocando em prática</vt:lpstr>
      <vt:lpstr>POST → 201 Created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Henrique Miho de Souza</cp:lastModifiedBy>
  <cp:revision>26</cp:revision>
  <dcterms:created xsi:type="dcterms:W3CDTF">2024-03-08T12:14:33Z</dcterms:created>
  <dcterms:modified xsi:type="dcterms:W3CDTF">2026-08-31T17:39:03Z</dcterms:modified>
</cp:coreProperties>
</file>