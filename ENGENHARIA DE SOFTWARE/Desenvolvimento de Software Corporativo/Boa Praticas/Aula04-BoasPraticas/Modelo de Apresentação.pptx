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7" r:id="rId8"/>
    <p:sldId id="266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3856C12-D3CA-9CE2-7861-13FBF02F4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7102269-6BD9-547A-4740-3B8E3F48B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CB7389AF-7009-AFBD-694C-4FEB5C402A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844675"/>
            <a:ext cx="5181600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AF65EF7-14AA-3189-A9E5-924E752AE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F8FEF21-0B4E-C030-F1F6-1E8EDC3D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844675"/>
            <a:ext cx="5256212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566D364-0170-A389-F159-C7C9D62E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76796487-CD7B-89D5-C833-332E8D160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345" y="1844675"/>
            <a:ext cx="5060308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773382"/>
            <a:ext cx="6172200" cy="4087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73382"/>
            <a:ext cx="3932237" cy="40956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29F35F0-D02B-295C-BF50-6E6DC998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95394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84768"/>
            <a:ext cx="9144000" cy="1186495"/>
          </a:xfrm>
        </p:spPr>
        <p:txBody>
          <a:bodyPr/>
          <a:lstStyle/>
          <a:p>
            <a:r>
              <a:rPr lang="pt-BR" dirty="0"/>
              <a:t>Boas práticas em APIs REST</a:t>
            </a:r>
            <a:endParaRPr lang="pt-BR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/>
              <a:t>Por que uma API precisa retornar informações?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25625"/>
            <a:ext cx="5181600" cy="4370388"/>
          </a:xfrm>
        </p:spPr>
        <p:txBody>
          <a:bodyPr>
            <a:normAutofit/>
          </a:bodyPr>
          <a:lstStyle/>
          <a:p>
            <a:r>
              <a:rPr lang="pt-BR" sz="1600" dirty="0"/>
              <a:t>Quando uma aplicação realiza uma requisição, ela precisa saber </a:t>
            </a:r>
            <a:r>
              <a:rPr lang="pt-BR" sz="1600" b="1" dirty="0"/>
              <a:t>qual foi o resultado da operação</a:t>
            </a:r>
            <a:r>
              <a:rPr lang="pt-BR" sz="1600" dirty="0"/>
              <a:t>.</a:t>
            </a:r>
          </a:p>
          <a:p>
            <a:endParaRPr lang="pt-BR" sz="1600" dirty="0"/>
          </a:p>
          <a:p>
            <a:r>
              <a:rPr lang="pt-BR" sz="1600" dirty="0"/>
              <a:t>Uma resposta adequada permite identificar: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✅ Se a operação foi realizada com sucesso</a:t>
            </a:r>
          </a:p>
          <a:p>
            <a:pPr lvl="1"/>
            <a:r>
              <a:rPr lang="pt-BR" dirty="0"/>
              <a:t>❌ Se houve algum erro</a:t>
            </a:r>
          </a:p>
          <a:p>
            <a:pPr lvl="1"/>
            <a:r>
              <a:rPr lang="pt-BR" dirty="0"/>
              <a:t>🔎 Se o recurso foi encontrado</a:t>
            </a:r>
          </a:p>
          <a:p>
            <a:pPr lvl="1"/>
            <a:r>
              <a:rPr lang="pt-BR" dirty="0"/>
              <a:t>🆕 Se um novo recurso foi criado</a:t>
            </a:r>
          </a:p>
          <a:p>
            <a:pPr lvl="1"/>
            <a:r>
              <a:rPr lang="pt-BR" dirty="0"/>
              <a:t>📭 Se não há conteúdo para retorna</a:t>
            </a:r>
          </a:p>
          <a:p>
            <a:endParaRPr lang="pt-BR" sz="1600" dirty="0"/>
          </a:p>
        </p:txBody>
      </p:sp>
      <p:pic>
        <p:nvPicPr>
          <p:cNvPr id="6" name="Gráfico 5" descr="Monitor com preenchimento sólido">
            <a:extLst>
              <a:ext uri="{FF2B5EF4-FFF2-40B4-BE49-F238E27FC236}">
                <a16:creationId xmlns:a16="http://schemas.microsoft.com/office/drawing/2014/main" id="{B26DEF2A-BEBF-4541-6E07-02927D879B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4113" y="1825625"/>
            <a:ext cx="1153102" cy="1153102"/>
          </a:xfrm>
          <a:prstGeom prst="rect">
            <a:avLst/>
          </a:prstGeom>
        </p:spPr>
      </p:pic>
      <p:pic>
        <p:nvPicPr>
          <p:cNvPr id="7" name="Gráfico 6" descr="Monitor com preenchimento sólido">
            <a:extLst>
              <a:ext uri="{FF2B5EF4-FFF2-40B4-BE49-F238E27FC236}">
                <a16:creationId xmlns:a16="http://schemas.microsoft.com/office/drawing/2014/main" id="{ADEE0CCC-935E-2912-DD49-F7599893F8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4113" y="5247698"/>
            <a:ext cx="1153102" cy="1153102"/>
          </a:xfrm>
          <a:prstGeom prst="rect">
            <a:avLst/>
          </a:prstGeom>
        </p:spPr>
      </p:pic>
      <p:pic>
        <p:nvPicPr>
          <p:cNvPr id="10" name="Gráfico 9" descr="Chefe feminina com preenchimento sólido">
            <a:extLst>
              <a:ext uri="{FF2B5EF4-FFF2-40B4-BE49-F238E27FC236}">
                <a16:creationId xmlns:a16="http://schemas.microsoft.com/office/drawing/2014/main" id="{2F00A95B-DB73-7177-A58E-7B433DCA1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3464" y="3656012"/>
            <a:ext cx="914400" cy="914400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6FA832B-B5EB-0CA5-A064-02CA52BED239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470664" y="2978727"/>
            <a:ext cx="0" cy="67728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428E6CF2-2DBC-AABF-9CCE-77D187A28992}"/>
              </a:ext>
            </a:extLst>
          </p:cNvPr>
          <p:cNvCxnSpPr>
            <a:endCxn id="7" idx="0"/>
          </p:cNvCxnSpPr>
          <p:nvPr/>
        </p:nvCxnSpPr>
        <p:spPr>
          <a:xfrm>
            <a:off x="9470664" y="4570412"/>
            <a:ext cx="0" cy="67728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D823C0-96D7-318E-999D-ED50B2765369}"/>
              </a:ext>
            </a:extLst>
          </p:cNvPr>
          <p:cNvSpPr txBox="1"/>
          <p:nvPr/>
        </p:nvSpPr>
        <p:spPr>
          <a:xfrm>
            <a:off x="7044530" y="3148092"/>
            <a:ext cx="1968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/dentista/1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5C479D0-7A90-99F0-65D3-3FAA83D20330}"/>
              </a:ext>
            </a:extLst>
          </p:cNvPr>
          <p:cNvSpPr txBox="1"/>
          <p:nvPr/>
        </p:nvSpPr>
        <p:spPr>
          <a:xfrm>
            <a:off x="7044530" y="4739778"/>
            <a:ext cx="17392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204 No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CF21398-A554-377B-19F1-A11CA0A06C09}"/>
              </a:ext>
            </a:extLst>
          </p:cNvPr>
          <p:cNvSpPr txBox="1"/>
          <p:nvPr/>
        </p:nvSpPr>
        <p:spPr>
          <a:xfrm>
            <a:off x="10157547" y="4739778"/>
            <a:ext cx="11531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ok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C794F55-4CFD-3395-272F-56DD2DB1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não retornar sempre 200?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398AE6-87A0-5B75-09C1-38A6451BA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3854962" cy="934299"/>
          </a:xfrm>
        </p:spPr>
        <p:txBody>
          <a:bodyPr/>
          <a:lstStyle/>
          <a:p>
            <a:r>
              <a:rPr lang="pl-PL" dirty="0"/>
              <a:t>O problema do 200 OK</a:t>
            </a:r>
            <a:endParaRPr lang="pt-BR" dirty="0"/>
          </a:p>
          <a:p>
            <a:r>
              <a:rPr lang="pt-BR" dirty="0"/>
              <a:t>Imagine que a API sempre retorne: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D68E81AC-D157-BA7D-9D04-357F11166B7F}"/>
              </a:ext>
            </a:extLst>
          </p:cNvPr>
          <p:cNvGrpSpPr/>
          <p:nvPr/>
        </p:nvGrpSpPr>
        <p:grpSpPr>
          <a:xfrm>
            <a:off x="749185" y="2929003"/>
            <a:ext cx="3744126" cy="638572"/>
            <a:chOff x="749185" y="2527734"/>
            <a:chExt cx="5284556" cy="638572"/>
          </a:xfrm>
        </p:grpSpPr>
        <p:sp>
          <p:nvSpPr>
            <p:cNvPr id="7" name="Shape 20">
              <a:extLst>
                <a:ext uri="{FF2B5EF4-FFF2-40B4-BE49-F238E27FC236}">
                  <a16:creationId xmlns:a16="http://schemas.microsoft.com/office/drawing/2014/main" id="{099A7046-6B53-424C-9D65-D39D7084A6C8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21">
              <a:extLst>
                <a:ext uri="{FF2B5EF4-FFF2-40B4-BE49-F238E27FC236}">
                  <a16:creationId xmlns:a16="http://schemas.microsoft.com/office/drawing/2014/main" id="{5F947C80-BA30-A56B-4289-9B84B915316C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200 ok</a:t>
              </a:r>
              <a:endParaRPr lang="en-US" sz="1600" dirty="0"/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58A7394-E2A5-22A7-2C5E-BCC8E1135833}"/>
              </a:ext>
            </a:extLst>
          </p:cNvPr>
          <p:cNvSpPr txBox="1"/>
          <p:nvPr/>
        </p:nvSpPr>
        <p:spPr>
          <a:xfrm>
            <a:off x="592347" y="3894361"/>
            <a:ext cx="6109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qualquer situação.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54C0C7B-B09F-93CD-3DB5-29033A1F1068}"/>
              </a:ext>
            </a:extLst>
          </p:cNvPr>
          <p:cNvGrpSpPr/>
          <p:nvPr/>
        </p:nvGrpSpPr>
        <p:grpSpPr>
          <a:xfrm>
            <a:off x="749185" y="4520405"/>
            <a:ext cx="4418560" cy="1638537"/>
            <a:chOff x="749185" y="2527734"/>
            <a:chExt cx="5284556" cy="638572"/>
          </a:xfrm>
        </p:grpSpPr>
        <p:sp>
          <p:nvSpPr>
            <p:cNvPr id="13" name="Shape 20">
              <a:extLst>
                <a:ext uri="{FF2B5EF4-FFF2-40B4-BE49-F238E27FC236}">
                  <a16:creationId xmlns:a16="http://schemas.microsoft.com/office/drawing/2014/main" id="{47F4AB36-CAFD-8FB7-7A48-BB1581BF6DD0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21">
              <a:extLst>
                <a:ext uri="{FF2B5EF4-FFF2-40B4-BE49-F238E27FC236}">
                  <a16:creationId xmlns:a16="http://schemas.microsoft.com/office/drawing/2014/main" id="{3152C665-A472-A659-55B7-500A11DD6A77}"/>
                </a:ext>
              </a:extLst>
            </p:cNvPr>
            <p:cNvSpPr/>
            <p:nvPr/>
          </p:nvSpPr>
          <p:spPr>
            <a:xfrm>
              <a:off x="896521" y="2583345"/>
              <a:ext cx="4989884" cy="527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DELETE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/10</a:t>
              </a: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</a:p>
            <a:p>
              <a:pPr marL="0" indent="0" algn="l">
                <a:buNone/>
              </a:pP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POST /</a:t>
              </a:r>
              <a:r>
                <a:rPr lang="en-US" sz="1600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endParaRPr lang="en-US" sz="160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endParaRPr>
            </a:p>
            <a:p>
              <a:pPr marL="0" indent="0" algn="l">
                <a:buNone/>
              </a:pPr>
              <a:r>
                <a:rPr lang="en-US" sz="1600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→ 200 OK</a:t>
              </a:r>
              <a:endParaRPr lang="en-US" sz="1600" dirty="0"/>
            </a:p>
          </p:txBody>
        </p:sp>
      </p:grpSp>
      <p:sp>
        <p:nvSpPr>
          <p:cNvPr id="16" name="Shape 4">
            <a:extLst>
              <a:ext uri="{FF2B5EF4-FFF2-40B4-BE49-F238E27FC236}">
                <a16:creationId xmlns:a16="http://schemas.microsoft.com/office/drawing/2014/main" id="{349BA34A-7609-7A9C-1F95-D40F3620CE79}"/>
              </a:ext>
            </a:extLst>
          </p:cNvPr>
          <p:cNvSpPr/>
          <p:nvPr/>
        </p:nvSpPr>
        <p:spPr>
          <a:xfrm>
            <a:off x="6096000" y="1844675"/>
            <a:ext cx="5503653" cy="4314267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94C0EA91-E1E8-C87F-27C7-88A376B9674E}"/>
              </a:ext>
            </a:extLst>
          </p:cNvPr>
          <p:cNvSpPr/>
          <p:nvPr/>
        </p:nvSpPr>
        <p:spPr>
          <a:xfrm>
            <a:off x="6291357" y="2040037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215E048-C979-F2A0-56E4-CA227D5EF056}"/>
              </a:ext>
            </a:extLst>
          </p:cNvPr>
          <p:cNvSpPr/>
          <p:nvPr/>
        </p:nvSpPr>
        <p:spPr>
          <a:xfrm>
            <a:off x="6291357" y="2833005"/>
            <a:ext cx="5151458" cy="3170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cliente não consegue saber claramente o que aconteceu.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 isso, utilizamos diferentes códigos HTTP para representar diferentes resultados.</a:t>
            </a:r>
          </a:p>
          <a:p>
            <a:pPr algn="just"/>
            <a:endParaRPr lang="pt-B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código HTTP faz parte do contrato da API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Gráfico 20" descr="Ponto de interrogação com preenchimento sólido">
            <a:extLst>
              <a:ext uri="{FF2B5EF4-FFF2-40B4-BE49-F238E27FC236}">
                <a16:creationId xmlns:a16="http://schemas.microsoft.com/office/drawing/2014/main" id="{3129B824-0F4C-7D8D-915E-E7C2D83B70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5554" y="2164241"/>
            <a:ext cx="318625" cy="318625"/>
          </a:xfrm>
          <a:prstGeom prst="rect">
            <a:avLst/>
          </a:prstGeom>
        </p:spPr>
      </p:pic>
      <p:sp>
        <p:nvSpPr>
          <p:cNvPr id="22" name="Título 4">
            <a:extLst>
              <a:ext uri="{FF2B5EF4-FFF2-40B4-BE49-F238E27FC236}">
                <a16:creationId xmlns:a16="http://schemas.microsoft.com/office/drawing/2014/main" id="{505775BE-BC99-D44A-DEDD-FB4F58227DE5}"/>
              </a:ext>
            </a:extLst>
          </p:cNvPr>
          <p:cNvSpPr txBox="1">
            <a:spLocks/>
          </p:cNvSpPr>
          <p:nvPr/>
        </p:nvSpPr>
        <p:spPr>
          <a:xfrm>
            <a:off x="7090020" y="2087537"/>
            <a:ext cx="4352796" cy="5195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Será que deu certo ?</a:t>
            </a:r>
          </a:p>
        </p:txBody>
      </p:sp>
    </p:spTree>
    <p:extLst>
      <p:ext uri="{BB962C8B-B14F-4D97-AF65-F5344CB8AC3E}">
        <p14:creationId xmlns:p14="http://schemas.microsoft.com/office/powerpoint/2010/main" val="168621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B4CEBC-29AA-0B64-6D86-B49A19BD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>
            <a:normAutofit/>
          </a:bodyPr>
          <a:lstStyle/>
          <a:p>
            <a:r>
              <a:rPr lang="pt-BR" sz="2600" b="1" dirty="0"/>
              <a:t>Os principais métodos HTTP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5FD78D7-7ED8-1593-FC54-8D4E2A2EC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613956"/>
              </p:ext>
            </p:extLst>
          </p:nvPr>
        </p:nvGraphicFramePr>
        <p:xfrm>
          <a:off x="1795568" y="2176304"/>
          <a:ext cx="8600865" cy="3688080"/>
        </p:xfrm>
        <a:graphic>
          <a:graphicData uri="http://schemas.openxmlformats.org/drawingml/2006/table">
            <a:tbl>
              <a:tblPr/>
              <a:tblGrid>
                <a:gridCol w="2230544">
                  <a:extLst>
                    <a:ext uri="{9D8B030D-6E8A-4147-A177-3AD203B41FA5}">
                      <a16:colId xmlns:a16="http://schemas.microsoft.com/office/drawing/2014/main" val="4025802244"/>
                    </a:ext>
                  </a:extLst>
                </a:gridCol>
                <a:gridCol w="2370244">
                  <a:extLst>
                    <a:ext uri="{9D8B030D-6E8A-4147-A177-3AD203B41FA5}">
                      <a16:colId xmlns:a16="http://schemas.microsoft.com/office/drawing/2014/main" val="263985013"/>
                    </a:ext>
                  </a:extLst>
                </a:gridCol>
                <a:gridCol w="4000077">
                  <a:extLst>
                    <a:ext uri="{9D8B030D-6E8A-4147-A177-3AD203B41FA5}">
                      <a16:colId xmlns:a16="http://schemas.microsoft.com/office/drawing/2014/main" val="1048547562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Método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3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Exemplo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2A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81333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Consultar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Buscar dentistas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00308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Cadastrar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9689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Atualizar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Alterar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29347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Excluir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Remover dentista</a:t>
                      </a:r>
                    </a:p>
                  </a:txBody>
                  <a:tcPr marL="167640" marR="167640" marT="83820" marB="83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206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40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69926-66C9-E8D9-E88F-DF83CCC3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DELETE → 204 No </a:t>
            </a:r>
            <a:r>
              <a:rPr lang="pt-BR" dirty="0" err="1"/>
              <a:t>Content</a:t>
            </a:r>
            <a:endParaRPr lang="pt-BR" dirty="0"/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B985A1DE-1C57-DBCF-90DE-766022BEF0FB}"/>
              </a:ext>
            </a:extLst>
          </p:cNvPr>
          <p:cNvSpPr txBox="1">
            <a:spLocks/>
          </p:cNvSpPr>
          <p:nvPr/>
        </p:nvSpPr>
        <p:spPr>
          <a:xfrm>
            <a:off x="592347" y="1844675"/>
            <a:ext cx="3854962" cy="934299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just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Excluindo um recurso</a:t>
            </a:r>
          </a:p>
          <a:p>
            <a:r>
              <a:rPr lang="pt-BR" dirty="0"/>
              <a:t>O DELETE remove um recurso: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FE8BC8B-B77C-EA18-385E-A8ADEC830A8A}"/>
              </a:ext>
            </a:extLst>
          </p:cNvPr>
          <p:cNvGrpSpPr/>
          <p:nvPr/>
        </p:nvGrpSpPr>
        <p:grpSpPr>
          <a:xfrm>
            <a:off x="749184" y="3094765"/>
            <a:ext cx="8907433" cy="638572"/>
            <a:chOff x="749185" y="2527734"/>
            <a:chExt cx="5284556" cy="638572"/>
          </a:xfrm>
        </p:grpSpPr>
        <p:sp>
          <p:nvSpPr>
            <p:cNvPr id="6" name="Shape 20">
              <a:extLst>
                <a:ext uri="{FF2B5EF4-FFF2-40B4-BE49-F238E27FC236}">
                  <a16:creationId xmlns:a16="http://schemas.microsoft.com/office/drawing/2014/main" id="{0792856E-ADEE-0B2B-C0D2-088D46F750EF}"/>
                </a:ext>
              </a:extLst>
            </p:cNvPr>
            <p:cNvSpPr/>
            <p:nvPr/>
          </p:nvSpPr>
          <p:spPr>
            <a:xfrm>
              <a:off x="749185" y="2527734"/>
              <a:ext cx="5284556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 21">
              <a:extLst>
                <a:ext uri="{FF2B5EF4-FFF2-40B4-BE49-F238E27FC236}">
                  <a16:creationId xmlns:a16="http://schemas.microsoft.com/office/drawing/2014/main" id="{34FCB611-6168-027F-8F72-D032DAAE9404}"/>
                </a:ext>
              </a:extLst>
            </p:cNvPr>
            <p:cNvSpPr/>
            <p:nvPr/>
          </p:nvSpPr>
          <p:spPr>
            <a:xfrm>
              <a:off x="896521" y="2712610"/>
              <a:ext cx="4989884" cy="2688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DELETE /</a:t>
              </a:r>
              <a:r>
                <a:rPr lang="en-US" kern="0" spc="-19" dirty="0" err="1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dentistas</a:t>
              </a:r>
              <a:r>
                <a:rPr lang="en-US" kern="0" spc="-19" dirty="0">
                  <a:solidFill>
                    <a:srgbClr val="D73A4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/10</a:t>
              </a:r>
              <a:endParaRPr lang="en-US" dirty="0"/>
            </a:p>
          </p:txBody>
        </p:sp>
      </p:grpSp>
      <p:sp>
        <p:nvSpPr>
          <p:cNvPr id="8" name="CaixaDeTexto 7">
            <a:extLst>
              <a:ext uri="{FF2B5EF4-FFF2-40B4-BE49-F238E27FC236}">
                <a16:creationId xmlns:a16="http://schemas.microsoft.com/office/drawing/2014/main" id="{E228A5B1-C484-25ED-07D5-96C8C9E0663A}"/>
              </a:ext>
            </a:extLst>
          </p:cNvPr>
          <p:cNvSpPr txBox="1"/>
          <p:nvPr/>
        </p:nvSpPr>
        <p:spPr>
          <a:xfrm>
            <a:off x="592347" y="4049128"/>
            <a:ext cx="3900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a exclusão ocorrer com sucesso: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C709487-7ECE-3733-C273-F44D2FF513FA}"/>
              </a:ext>
            </a:extLst>
          </p:cNvPr>
          <p:cNvGrpSpPr/>
          <p:nvPr/>
        </p:nvGrpSpPr>
        <p:grpSpPr>
          <a:xfrm>
            <a:off x="749185" y="4765029"/>
            <a:ext cx="8907432" cy="522650"/>
            <a:chOff x="749185" y="2527734"/>
            <a:chExt cx="4477939" cy="638572"/>
          </a:xfrm>
        </p:grpSpPr>
        <p:sp>
          <p:nvSpPr>
            <p:cNvPr id="10" name="Shape 20">
              <a:extLst>
                <a:ext uri="{FF2B5EF4-FFF2-40B4-BE49-F238E27FC236}">
                  <a16:creationId xmlns:a16="http://schemas.microsoft.com/office/drawing/2014/main" id="{AFB8129F-1E14-8F35-7574-175C494FB5A4}"/>
                </a:ext>
              </a:extLst>
            </p:cNvPr>
            <p:cNvSpPr/>
            <p:nvPr/>
          </p:nvSpPr>
          <p:spPr>
            <a:xfrm>
              <a:off x="749185" y="2527734"/>
              <a:ext cx="4477939" cy="638572"/>
            </a:xfrm>
            <a:prstGeom prst="roundRect">
              <a:avLst>
                <a:gd name="adj" fmla="val 808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21">
              <a:extLst>
                <a:ext uri="{FF2B5EF4-FFF2-40B4-BE49-F238E27FC236}">
                  <a16:creationId xmlns:a16="http://schemas.microsoft.com/office/drawing/2014/main" id="{54A36054-122B-868F-925A-DD6F2AF26F47}"/>
                </a:ext>
              </a:extLst>
            </p:cNvPr>
            <p:cNvSpPr/>
            <p:nvPr/>
          </p:nvSpPr>
          <p:spPr>
            <a:xfrm>
              <a:off x="896523" y="2670506"/>
              <a:ext cx="4228246" cy="3530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pt-BR" kern="0" spc="-19" dirty="0">
                  <a:solidFill>
                    <a:srgbClr val="D73A49"/>
                  </a:solidFill>
                  <a:latin typeface="Consolas" pitchFamily="34" charset="0"/>
                </a:rPr>
                <a:t>204 No </a:t>
              </a:r>
              <a:r>
                <a:rPr lang="pt-BR" kern="0" spc="-19" dirty="0" err="1">
                  <a:solidFill>
                    <a:srgbClr val="D73A49"/>
                  </a:solidFill>
                  <a:latin typeface="Consolas" pitchFamily="34" charset="0"/>
                </a:rPr>
                <a:t>Content</a:t>
              </a:r>
              <a:endParaRPr lang="pt-BR" kern="0" spc="-19" dirty="0">
                <a:solidFill>
                  <a:srgbClr val="D73A49"/>
                </a:solidFill>
                <a:latin typeface="Consolas" pitchFamily="34" charset="0"/>
              </a:endParaRP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276BF1F-FE60-7935-32B4-0812C890ED2B}"/>
              </a:ext>
            </a:extLst>
          </p:cNvPr>
          <p:cNvSpPr txBox="1"/>
          <p:nvPr/>
        </p:nvSpPr>
        <p:spPr>
          <a:xfrm>
            <a:off x="592347" y="5603470"/>
            <a:ext cx="108376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não existe necessariamente informação para devolver, o corpo da resposta pode ficar vazio.</a:t>
            </a:r>
          </a:p>
        </p:txBody>
      </p:sp>
    </p:spTree>
    <p:extLst>
      <p:ext uri="{BB962C8B-B14F-4D97-AF65-F5344CB8AC3E}">
        <p14:creationId xmlns:p14="http://schemas.microsoft.com/office/powerpoint/2010/main" val="1843293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A52F6-A789-393D-0223-A390957C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</a:t>
            </a:r>
            <a:r>
              <a:rPr lang="pt-BR"/>
              <a:t>em prática</a:t>
            </a:r>
          </a:p>
        </p:txBody>
      </p:sp>
      <p:pic>
        <p:nvPicPr>
          <p:cNvPr id="5" name="Imagem 4" descr="Tela de celular&#10;&#10;O conteúdo gerado por IA pode estar incorreto.">
            <a:extLst>
              <a:ext uri="{FF2B5EF4-FFF2-40B4-BE49-F238E27FC236}">
                <a16:creationId xmlns:a16="http://schemas.microsoft.com/office/drawing/2014/main" id="{F5DDB60E-DFAD-AB23-8357-1FFC1BD44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207910"/>
            <a:ext cx="7344800" cy="1638529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73591627-856C-55F0-D6AE-196821AA1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448" y="4751356"/>
            <a:ext cx="5373105" cy="153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86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DCA-E4E4-845E-D23E-82890D1A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E5BB9-3715-B5EC-AC01-0CA2A2F57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Colocando </a:t>
            </a:r>
            <a:r>
              <a:rPr lang="pt-BR"/>
              <a:t>em prática</a:t>
            </a:r>
          </a:p>
        </p:txBody>
      </p:sp>
      <p:pic>
        <p:nvPicPr>
          <p:cNvPr id="4" name="Imagem 3" descr="Tela de celular&#10;&#10;O conteúdo gerado por IA pode estar incorreto.">
            <a:extLst>
              <a:ext uri="{FF2B5EF4-FFF2-40B4-BE49-F238E27FC236}">
                <a16:creationId xmlns:a16="http://schemas.microsoft.com/office/drawing/2014/main" id="{5866078B-6D83-5864-0345-F6E1F5BBE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1849700"/>
            <a:ext cx="7678222" cy="1676634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6E381689-411A-EF00-0497-0440A52E8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65" y="4169983"/>
            <a:ext cx="7023670" cy="196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22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13988-3FAB-3D91-E08A-F445845AD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F25C0-AA25-02FF-5D54-55E6DFA4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8322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235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Consolas</vt:lpstr>
      <vt:lpstr>Times New Roman</vt:lpstr>
      <vt:lpstr>Tema do Office</vt:lpstr>
      <vt:lpstr>Boas práticas em APIs REST</vt:lpstr>
      <vt:lpstr>Por que uma API precisa retornar informações?</vt:lpstr>
      <vt:lpstr>Por que não retornar sempre 200?</vt:lpstr>
      <vt:lpstr>Os principais métodos HTTP</vt:lpstr>
      <vt:lpstr>DELETE → 204 No Content</vt:lpstr>
      <vt:lpstr>Colocando em prática</vt:lpstr>
      <vt:lpstr>Colocando em prática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Professor</cp:lastModifiedBy>
  <cp:revision>14</cp:revision>
  <dcterms:created xsi:type="dcterms:W3CDTF">2024-03-08T12:14:33Z</dcterms:created>
  <dcterms:modified xsi:type="dcterms:W3CDTF">2026-08-28T23:15:42Z</dcterms:modified>
</cp:coreProperties>
</file>