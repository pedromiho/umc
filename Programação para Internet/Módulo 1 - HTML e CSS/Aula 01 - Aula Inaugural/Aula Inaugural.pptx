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handoutMasterIdLst>
    <p:handoutMasterId r:id="rId41"/>
  </p:handoutMasterIdLst>
  <p:sldIdLst>
    <p:sldId id="256" r:id="rId2"/>
    <p:sldId id="261" r:id="rId3"/>
    <p:sldId id="284" r:id="rId4"/>
    <p:sldId id="263" r:id="rId5"/>
    <p:sldId id="307" r:id="rId6"/>
    <p:sldId id="264" r:id="rId7"/>
    <p:sldId id="265" r:id="rId8"/>
    <p:sldId id="266" r:id="rId9"/>
    <p:sldId id="267" r:id="rId10"/>
    <p:sldId id="269" r:id="rId11"/>
    <p:sldId id="268" r:id="rId12"/>
    <p:sldId id="271" r:id="rId13"/>
    <p:sldId id="270" r:id="rId14"/>
    <p:sldId id="272" r:id="rId15"/>
    <p:sldId id="273" r:id="rId16"/>
    <p:sldId id="274" r:id="rId17"/>
    <p:sldId id="285" r:id="rId18"/>
    <p:sldId id="286" r:id="rId19"/>
    <p:sldId id="278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  <a:srgbClr val="E44D26"/>
    <a:srgbClr val="004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7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2.png"/><Relationship Id="rId5" Type="http://schemas.openxmlformats.org/officeDocument/2006/relationships/image" Target="../media/image6.png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nodejs.org/pt%20-%20Node.j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1776069"/>
          </a:xfrm>
        </p:spPr>
        <p:txBody>
          <a:bodyPr/>
          <a:lstStyle/>
          <a:p>
            <a:r>
              <a:rPr lang="pt-BR" sz="5400" dirty="0"/>
              <a:t>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Formação Acadêmica e Experiência Profissional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Formação Acadêmica </a:t>
            </a:r>
          </a:p>
          <a:p>
            <a:pPr marL="1028700" lvl="1" indent="-342900"/>
            <a:r>
              <a:rPr lang="pt-BR" dirty="0"/>
              <a:t>Graduado em Tecnologia em Automação Industrial </a:t>
            </a:r>
          </a:p>
          <a:p>
            <a:pPr marL="1028700" lvl="1" indent="-342900"/>
            <a:r>
              <a:rPr lang="pt-BR" dirty="0"/>
              <a:t>Pós-graduado em Cloud </a:t>
            </a:r>
            <a:r>
              <a:rPr lang="pt-BR" dirty="0" err="1"/>
              <a:t>Computing</a:t>
            </a:r>
            <a:endParaRPr lang="pt-BR" dirty="0"/>
          </a:p>
          <a:p>
            <a:pPr marL="1028700" lvl="1" indent="-342900"/>
            <a:r>
              <a:rPr lang="pt-BR" dirty="0"/>
              <a:t>Pós-graduado em Desenvolvimento de Aplicações para Dispositivos Móveis (APP’S)</a:t>
            </a:r>
          </a:p>
          <a:p>
            <a:pPr marL="1028700" lvl="1" indent="-342900"/>
            <a:r>
              <a:rPr lang="pt-BR" dirty="0"/>
              <a:t>Pós-graduado em Desenvolvimento de Aplicações Web</a:t>
            </a:r>
          </a:p>
          <a:p>
            <a:pPr marL="342900" indent="-342900"/>
            <a:r>
              <a:rPr lang="pt-BR" dirty="0"/>
              <a:t>Experiência Profissional</a:t>
            </a:r>
          </a:p>
          <a:p>
            <a:pPr marL="1028700" lvl="1" indent="-342900"/>
            <a:r>
              <a:rPr lang="pt-BR" dirty="0"/>
              <a:t>Instrutor de Formação Profissional – SENAI</a:t>
            </a:r>
          </a:p>
          <a:p>
            <a:pPr marL="1028700" lvl="1" indent="-342900"/>
            <a:r>
              <a:rPr lang="pt-BR" dirty="0"/>
              <a:t>Professor de TI – UMC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E6D2A-3F01-4F97-8804-3C8CF489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da Média</a:t>
            </a: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D712E5CD-98C3-4C72-90EA-EDEEFA47A392}"/>
              </a:ext>
            </a:extLst>
          </p:cNvPr>
          <p:cNvGrpSpPr/>
          <p:nvPr/>
        </p:nvGrpSpPr>
        <p:grpSpPr>
          <a:xfrm>
            <a:off x="956312" y="2340212"/>
            <a:ext cx="4661533" cy="1600937"/>
            <a:chOff x="1010919" y="2055075"/>
            <a:chExt cx="4435510" cy="1600937"/>
          </a:xfrm>
        </p:grpSpPr>
        <p:sp>
          <p:nvSpPr>
            <p:cNvPr id="9" name="Espaço Reservado para Conteúdo 2">
              <a:extLst>
                <a:ext uri="{FF2B5EF4-FFF2-40B4-BE49-F238E27FC236}">
                  <a16:creationId xmlns:a16="http://schemas.microsoft.com/office/drawing/2014/main" id="{55ED92E2-2C15-427E-B49C-FF1F36226A45}"/>
                </a:ext>
              </a:extLst>
            </p:cNvPr>
            <p:cNvSpPr txBox="1">
              <a:spLocks/>
            </p:cNvSpPr>
            <p:nvPr/>
          </p:nvSpPr>
          <p:spPr>
            <a:xfrm>
              <a:off x="2414304" y="2055075"/>
              <a:ext cx="1854762" cy="44857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6858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pt-BR" dirty="0"/>
                <a:t>Média M1 e M2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AD3A8DF7-C415-4220-A760-7BF24F26B3E2}"/>
                    </a:ext>
                  </a:extLst>
                </p:cNvPr>
                <p:cNvSpPr txBox="1"/>
                <p:nvPr/>
              </p:nvSpPr>
              <p:spPr>
                <a:xfrm>
                  <a:off x="1010919" y="2819068"/>
                  <a:ext cx="44355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Nota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Projeto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 ∗0,3+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Nota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Prova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∗0,7</m:t>
                        </m:r>
                      </m:oMath>
                    </m:oMathPara>
                  </a14:m>
                  <a:endPara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AD3A8DF7-C415-4220-A760-7BF24F26B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919" y="2819068"/>
                  <a:ext cx="4435510" cy="276999"/>
                </a:xfrm>
                <a:prstGeom prst="rect">
                  <a:avLst/>
                </a:prstGeom>
                <a:blipFill>
                  <a:blip r:embed="rId2"/>
                  <a:stretch>
                    <a:fillRect b="-347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32F2B3E8-13C6-469C-A455-4BF8BD609C99}"/>
                    </a:ext>
                  </a:extLst>
                </p:cNvPr>
                <p:cNvSpPr txBox="1"/>
                <p:nvPr/>
              </p:nvSpPr>
              <p:spPr>
                <a:xfrm>
                  <a:off x="1010919" y="3379013"/>
                  <a:ext cx="44355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2=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Nota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Projeto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 ∗0,3+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Nota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Prova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∗0,7</m:t>
                        </m:r>
                      </m:oMath>
                    </m:oMathPara>
                  </a14:m>
                  <a:endPara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32F2B3E8-13C6-469C-A455-4BF8BD609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919" y="3379013"/>
                  <a:ext cx="4435510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3478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7B5081C-D128-44B3-B4DB-AFF753143D8E}"/>
              </a:ext>
            </a:extLst>
          </p:cNvPr>
          <p:cNvGrpSpPr/>
          <p:nvPr/>
        </p:nvGrpSpPr>
        <p:grpSpPr>
          <a:xfrm>
            <a:off x="6574154" y="2340212"/>
            <a:ext cx="4661533" cy="2163073"/>
            <a:chOff x="6847972" y="2055075"/>
            <a:chExt cx="4661533" cy="2163073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7D52940-8738-466C-B17B-0907168DA59D}"/>
                </a:ext>
              </a:extLst>
            </p:cNvPr>
            <p:cNvSpPr txBox="1"/>
            <p:nvPr/>
          </p:nvSpPr>
          <p:spPr>
            <a:xfrm>
              <a:off x="6847972" y="2055075"/>
              <a:ext cx="4661533" cy="1704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Média Final + Exame</a:t>
              </a:r>
            </a:p>
            <a:p>
              <a:pPr algn="just">
                <a:lnSpc>
                  <a:spcPct val="150000"/>
                </a:lnSpc>
              </a:pP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 sua Média Final ficar entre 3 e 4,9, você será convocado para o exame. A seguinte fórmula será utilizada para atribuição da sua nota.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3921ECC3-05AB-4F3D-B298-838F756E973C}"/>
                    </a:ext>
                  </a:extLst>
                </p:cNvPr>
                <p:cNvSpPr txBox="1"/>
                <p:nvPr/>
              </p:nvSpPr>
              <p:spPr>
                <a:xfrm>
                  <a:off x="7789319" y="3941149"/>
                  <a:ext cx="27788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pt-BR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Media Final </a:t>
                  </a:r>
                  <a14:m>
                    <m:oMath xmlns:m="http://schemas.openxmlformats.org/officeDocument/2006/math"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MF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NE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/2 </m:t>
                      </m:r>
                    </m:oMath>
                  </a14:m>
                  <a:endPara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3921ECC3-05AB-4F3D-B298-838F756E9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9319" y="3941149"/>
                  <a:ext cx="2778838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263" t="-28889" r="-219" b="-5111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CFAFAB4-B967-426A-974C-A2DD3C786633}"/>
              </a:ext>
            </a:extLst>
          </p:cNvPr>
          <p:cNvSpPr txBox="1"/>
          <p:nvPr/>
        </p:nvSpPr>
        <p:spPr>
          <a:xfrm>
            <a:off x="956313" y="4613561"/>
            <a:ext cx="4661533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Ponto Extra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todas as atividades forem entregues dentro de cada período, você receberá 1 ponto adicional na média.</a:t>
            </a:r>
          </a:p>
        </p:txBody>
      </p:sp>
    </p:spTree>
    <p:extLst>
      <p:ext uri="{BB962C8B-B14F-4D97-AF65-F5344CB8AC3E}">
        <p14:creationId xmlns:p14="http://schemas.microsoft.com/office/powerpoint/2010/main" val="1617557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E31E-22FC-4E3A-89BB-C8A2DD72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445EB-44C6-4619-A350-BB0002D4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Front-</a:t>
            </a:r>
            <a:r>
              <a:rPr lang="pt-BR" dirty="0" err="1"/>
              <a:t>end</a:t>
            </a:r>
            <a:endParaRPr lang="pt-BR" dirty="0"/>
          </a:p>
          <a:p>
            <a:pPr marL="1028700" lvl="1" indent="-342900"/>
            <a:r>
              <a:rPr lang="pt-BR" dirty="0"/>
              <a:t>HTML </a:t>
            </a:r>
          </a:p>
          <a:p>
            <a:pPr marL="1028700" lvl="1" indent="-342900"/>
            <a:r>
              <a:rPr lang="pt-BR" dirty="0"/>
              <a:t>CSS </a:t>
            </a:r>
          </a:p>
          <a:p>
            <a:pPr marL="1028700" lvl="1" indent="-342900"/>
            <a:r>
              <a:rPr lang="pt-BR" dirty="0" err="1"/>
              <a:t>JavaScript</a:t>
            </a:r>
            <a:r>
              <a:rPr lang="pt-BR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Back-</a:t>
            </a:r>
            <a:r>
              <a:rPr lang="pt-BR" dirty="0" err="1"/>
              <a:t>End</a:t>
            </a:r>
            <a:endParaRPr lang="pt-BR" dirty="0"/>
          </a:p>
          <a:p>
            <a:pPr marL="1028700" lvl="1" indent="-342900"/>
            <a:r>
              <a:rPr lang="pt-BR" dirty="0"/>
              <a:t>PHP</a:t>
            </a:r>
          </a:p>
          <a:p>
            <a:pPr marL="1028700" lvl="1" indent="-342900"/>
            <a:r>
              <a:rPr lang="pt-BR" dirty="0"/>
              <a:t>Banco de Dados</a:t>
            </a:r>
          </a:p>
        </p:txBody>
      </p:sp>
    </p:spTree>
    <p:extLst>
      <p:ext uri="{BB962C8B-B14F-4D97-AF65-F5344CB8AC3E}">
        <p14:creationId xmlns:p14="http://schemas.microsoft.com/office/powerpoint/2010/main" val="199105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2B979-22C2-4F4A-8872-0D4C5647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das aulas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C5CE0D1-08CF-4DD5-A9EF-BA7B6E37F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591939"/>
              </p:ext>
            </p:extLst>
          </p:nvPr>
        </p:nvGraphicFramePr>
        <p:xfrm>
          <a:off x="838200" y="1782458"/>
          <a:ext cx="10566048" cy="4437673"/>
        </p:xfrm>
        <a:graphic>
          <a:graphicData uri="http://schemas.openxmlformats.org/drawingml/2006/table">
            <a:tbl>
              <a:tblPr/>
              <a:tblGrid>
                <a:gridCol w="157833">
                  <a:extLst>
                    <a:ext uri="{9D8B030D-6E8A-4147-A177-3AD203B41FA5}">
                      <a16:colId xmlns:a16="http://schemas.microsoft.com/office/drawing/2014/main" val="2674964956"/>
                    </a:ext>
                  </a:extLst>
                </a:gridCol>
                <a:gridCol w="170163">
                  <a:extLst>
                    <a:ext uri="{9D8B030D-6E8A-4147-A177-3AD203B41FA5}">
                      <a16:colId xmlns:a16="http://schemas.microsoft.com/office/drawing/2014/main" val="2906836174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807868694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235118879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768606771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329752770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3818026281"/>
                    </a:ext>
                  </a:extLst>
                </a:gridCol>
                <a:gridCol w="554880">
                  <a:extLst>
                    <a:ext uri="{9D8B030D-6E8A-4147-A177-3AD203B41FA5}">
                      <a16:colId xmlns:a16="http://schemas.microsoft.com/office/drawing/2014/main" val="3976308778"/>
                    </a:ext>
                  </a:extLst>
                </a:gridCol>
                <a:gridCol w="660924">
                  <a:extLst>
                    <a:ext uri="{9D8B030D-6E8A-4147-A177-3AD203B41FA5}">
                      <a16:colId xmlns:a16="http://schemas.microsoft.com/office/drawing/2014/main" val="3154482142"/>
                    </a:ext>
                  </a:extLst>
                </a:gridCol>
                <a:gridCol w="2643696">
                  <a:extLst>
                    <a:ext uri="{9D8B030D-6E8A-4147-A177-3AD203B41FA5}">
                      <a16:colId xmlns:a16="http://schemas.microsoft.com/office/drawing/2014/main" val="2557656084"/>
                    </a:ext>
                  </a:extLst>
                </a:gridCol>
                <a:gridCol w="554880">
                  <a:extLst>
                    <a:ext uri="{9D8B030D-6E8A-4147-A177-3AD203B41FA5}">
                      <a16:colId xmlns:a16="http://schemas.microsoft.com/office/drawing/2014/main" val="3441239689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1913949262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4226542924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942463245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3170396994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2758143966"/>
                    </a:ext>
                  </a:extLst>
                </a:gridCol>
                <a:gridCol w="157833">
                  <a:extLst>
                    <a:ext uri="{9D8B030D-6E8A-4147-A177-3AD203B41FA5}">
                      <a16:colId xmlns:a16="http://schemas.microsoft.com/office/drawing/2014/main" val="298409493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16711119"/>
                    </a:ext>
                  </a:extLst>
                </a:gridCol>
                <a:gridCol w="554880">
                  <a:extLst>
                    <a:ext uri="{9D8B030D-6E8A-4147-A177-3AD203B41FA5}">
                      <a16:colId xmlns:a16="http://schemas.microsoft.com/office/drawing/2014/main" val="3785838442"/>
                    </a:ext>
                  </a:extLst>
                </a:gridCol>
                <a:gridCol w="660924">
                  <a:extLst>
                    <a:ext uri="{9D8B030D-6E8A-4147-A177-3AD203B41FA5}">
                      <a16:colId xmlns:a16="http://schemas.microsoft.com/office/drawing/2014/main" val="1673528910"/>
                    </a:ext>
                  </a:extLst>
                </a:gridCol>
                <a:gridCol w="2663425">
                  <a:extLst>
                    <a:ext uri="{9D8B030D-6E8A-4147-A177-3AD203B41FA5}">
                      <a16:colId xmlns:a16="http://schemas.microsoft.com/office/drawing/2014/main" val="1447654639"/>
                    </a:ext>
                  </a:extLst>
                </a:gridCol>
              </a:tblGrid>
              <a:tr h="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JULHO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OUTUBRO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416333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 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 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415293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01 - Aula Inaugural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Dispensado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745057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02 - Introdução ao HTML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Dispensado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8151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03 - Semantica em HTML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21 - Introdução ao PHP  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12783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04 - Introdução ao CSS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22 - Estruturas Condicionais - Cadastrar Alunos - INSERT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66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05 - Introdução a Seletores no CSS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23 - Estruturas Condicionais - Verificar Cadastro - SELECT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653845"/>
                  </a:ext>
                </a:extLst>
              </a:tr>
              <a:tr h="173775"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06 - Introdução ao Box Model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24 - Estruturas Condicionais - Excluir Cadastro - DELETE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764244"/>
                  </a:ext>
                </a:extLst>
              </a:tr>
              <a:tr h="173775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AGOSTO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07 - Desenvolvendo uma Página - HTML e CSS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NOVEMBRO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25 - Laços de Repetição - Atualizar Nota - UPDATE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61221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29/08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08 - Atividade - Melhorando Portifolio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07/11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26 - Laços de Repetição - Processa Nota - UPDATE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903131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09 - Criando Tabelas em HTML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27 - Laços de Repetição - Verificar Nota - SELECT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756832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10 - Criando Formularios em HTML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28 - Desafio Atualizar Cadastro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9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157189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11 - Introdução ao FlexBox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Dispensado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250019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12 - Introdução ao JS e Variaveis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87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Dispensado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618425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13 - Manipulando o DOM 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87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29 - Aula voltada para desenvolvimento do Projeto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426661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14 - Estruturas Condicionais em JS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87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28/11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30 - Aula voltada para desenvolvimento do Projeto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897624"/>
                  </a:ext>
                </a:extLst>
              </a:tr>
              <a:tr h="173775"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15 - Estruturas de Repetição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87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04/12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31 - Apresentação do Projeto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871965"/>
                  </a:ext>
                </a:extLst>
              </a:tr>
              <a:tr h="173775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SETEMBRO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26/09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16 - Arrays e Objetos em JS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87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DEZEMBRO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05/12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32 - Apresentação do Projeto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888517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02/10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17 - Integrando com o DOM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87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11/12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33 - Vista da Prova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354635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18 - Consumindo API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87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12/12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34 - Vista da Prova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122006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09/10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19 - Prova M1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18/12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35 - Prova de Recuperação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471677"/>
                  </a:ext>
                </a:extLst>
              </a:tr>
              <a:tr h="17377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10/10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20 - Revisão M1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19/12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Aula 36 - Vista da Recuperação</a:t>
                      </a:r>
                    </a:p>
                  </a:txBody>
                  <a:tcPr marL="7426" marR="7426" marT="7426" marB="356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47012"/>
                  </a:ext>
                </a:extLst>
              </a:tr>
              <a:tr h="18565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964720"/>
                  </a:ext>
                </a:extLst>
              </a:tr>
              <a:tr h="8599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5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426" marR="7426" marT="7426" marB="35646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26" marR="7426" marT="7426" marB="3564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406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98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A0F25-1817-4BFB-9320-0D70D414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3944938" algn="l"/>
              </a:tabLst>
            </a:pPr>
            <a:r>
              <a:rPr lang="pt-BR" dirty="0"/>
              <a:t>Desenvolvimento Front-</a:t>
            </a:r>
            <a:r>
              <a:rPr lang="pt-BR" dirty="0" err="1"/>
              <a:t>End</a:t>
            </a:r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0BCA89-9778-4297-AAD4-17EC5915F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3850732"/>
          </a:xfrm>
        </p:spPr>
        <p:txBody>
          <a:bodyPr/>
          <a:lstStyle/>
          <a:p>
            <a:pPr algn="just"/>
            <a:r>
              <a:rPr lang="pt-BR" dirty="0"/>
              <a:t>O desenvolvimento front-</a:t>
            </a:r>
            <a:r>
              <a:rPr lang="pt-BR" dirty="0" err="1"/>
              <a:t>end</a:t>
            </a:r>
            <a:r>
              <a:rPr lang="pt-BR" dirty="0"/>
              <a:t> é responsável por criar a interface visual de sites e aplicações web, garantindo que os usuários possam interagir com eles de forma intuitiva e responsiva. Ele transforma designs em código funcional, cuidando da estrutura, estilo e interatividade, tendo como principais tecnologias:</a:t>
            </a:r>
          </a:p>
          <a:p>
            <a:pPr marL="1028700" lvl="1" indent="-342900" algn="just"/>
            <a:r>
              <a:rPr lang="pt-BR" dirty="0"/>
              <a:t>HTML</a:t>
            </a:r>
          </a:p>
          <a:p>
            <a:pPr marL="1028700" lvl="1" indent="-342900" algn="just"/>
            <a:r>
              <a:rPr lang="pt-BR" dirty="0"/>
              <a:t>CSS</a:t>
            </a:r>
          </a:p>
          <a:p>
            <a:pPr marL="1028700" lvl="1" indent="-342900" algn="just"/>
            <a:r>
              <a:rPr lang="pt-BR" dirty="0" err="1"/>
              <a:t>JavaScript</a:t>
            </a:r>
            <a:endParaRPr lang="pt-BR" dirty="0"/>
          </a:p>
          <a:p>
            <a:pPr marL="1028700" lvl="1" indent="-342900" algn="just"/>
            <a:r>
              <a:rPr lang="pt-BR" dirty="0"/>
              <a:t>Frameworks e Bibliotecas</a:t>
            </a:r>
          </a:p>
        </p:txBody>
      </p:sp>
    </p:spTree>
    <p:extLst>
      <p:ext uri="{BB962C8B-B14F-4D97-AF65-F5344CB8AC3E}">
        <p14:creationId xmlns:p14="http://schemas.microsoft.com/office/powerpoint/2010/main" val="105726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B69FD-6FF4-424F-91AB-163DA94A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HTML 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BDBBB4-0238-471F-9369-4D7C7D78B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pPr algn="just"/>
            <a:r>
              <a:rPr lang="pt-BR" sz="1800" b="1" dirty="0"/>
              <a:t>HTML (</a:t>
            </a:r>
            <a:r>
              <a:rPr lang="pt-BR" sz="1800" b="1" dirty="0" err="1">
                <a:solidFill>
                  <a:srgbClr val="E44D26"/>
                </a:solidFill>
              </a:rPr>
              <a:t>H</a:t>
            </a:r>
            <a:r>
              <a:rPr lang="pt-BR" sz="1800" b="1" dirty="0" err="1"/>
              <a:t>yper</a:t>
            </a:r>
            <a:r>
              <a:rPr lang="pt-BR" sz="1800" b="1" dirty="0" err="1">
                <a:solidFill>
                  <a:srgbClr val="E44D26"/>
                </a:solidFill>
              </a:rPr>
              <a:t>T</a:t>
            </a:r>
            <a:r>
              <a:rPr lang="pt-BR" sz="1800" b="1" dirty="0" err="1"/>
              <a:t>ext</a:t>
            </a:r>
            <a:r>
              <a:rPr lang="pt-BR" sz="1800" b="1" dirty="0"/>
              <a:t> </a:t>
            </a:r>
            <a:r>
              <a:rPr lang="pt-BR" sz="1800" b="1" dirty="0">
                <a:solidFill>
                  <a:srgbClr val="E44D26"/>
                </a:solidFill>
              </a:rPr>
              <a:t>M</a:t>
            </a:r>
            <a:r>
              <a:rPr lang="pt-BR" sz="1800" b="1" dirty="0"/>
              <a:t>arkup </a:t>
            </a:r>
            <a:r>
              <a:rPr lang="pt-BR" sz="1800" b="1" dirty="0" err="1">
                <a:solidFill>
                  <a:srgbClr val="E44D26"/>
                </a:solidFill>
              </a:rPr>
              <a:t>L</a:t>
            </a:r>
            <a:r>
              <a:rPr lang="pt-BR" sz="1800" b="1" dirty="0" err="1"/>
              <a:t>anguage</a:t>
            </a:r>
            <a:r>
              <a:rPr lang="pt-BR" sz="1800" b="1" dirty="0"/>
              <a:t>)</a:t>
            </a:r>
            <a:r>
              <a:rPr lang="pt-BR" sz="1800" dirty="0"/>
              <a:t> é a linguagem de marcação usada para estruturar o conteúdo de páginas web. Ele organiza elementos como textos, imagens, links e tabelas, permitindo que os navegadores exibam as informações corretamente, tendo como principais características: </a:t>
            </a:r>
          </a:p>
          <a:p>
            <a:pPr marL="971550" lvl="1" indent="-285750" algn="just"/>
            <a:endParaRPr lang="pt-BR" sz="1400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BEDC0F1-2041-4219-B28E-9005097C222E}"/>
              </a:ext>
            </a:extLst>
          </p:cNvPr>
          <p:cNvGrpSpPr/>
          <p:nvPr/>
        </p:nvGrpSpPr>
        <p:grpSpPr>
          <a:xfrm>
            <a:off x="1517489" y="3576208"/>
            <a:ext cx="9157022" cy="1622810"/>
            <a:chOff x="1628421" y="3933259"/>
            <a:chExt cx="9971232" cy="1622810"/>
          </a:xfrm>
        </p:grpSpPr>
        <p:pic>
          <p:nvPicPr>
            <p:cNvPr id="7" name="Espaço Reservado para Conteúdo 4">
              <a:extLst>
                <a:ext uri="{FF2B5EF4-FFF2-40B4-BE49-F238E27FC236}">
                  <a16:creationId xmlns:a16="http://schemas.microsoft.com/office/drawing/2014/main" id="{A853A942-CC3D-41F1-8DAE-F0DA1EF43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6843" y="3933259"/>
              <a:ext cx="1622810" cy="162281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ADD400B-049C-4FAE-A09B-D57C69C3480D}"/>
                </a:ext>
              </a:extLst>
            </p:cNvPr>
            <p:cNvSpPr txBox="1"/>
            <p:nvPr/>
          </p:nvSpPr>
          <p:spPr>
            <a:xfrm>
              <a:off x="1628421" y="4100129"/>
              <a:ext cx="7707167" cy="1196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Estruturação de conteúdo com </a:t>
              </a: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tags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Integração com CSS e </a:t>
              </a:r>
              <a:r>
                <a:rPr lang="pt-B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JavaScript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Compatível com todos os navegadores modernos.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0850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B69FD-6FF4-424F-91AB-163DA94A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CSS 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BDBBB4-0238-471F-9369-4D7C7D78B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pPr algn="just"/>
            <a:r>
              <a:rPr lang="pt-BR" sz="1800" b="1" dirty="0"/>
              <a:t>CSS (</a:t>
            </a:r>
            <a:r>
              <a:rPr lang="pt-BR" sz="1800" b="1" dirty="0" err="1">
                <a:solidFill>
                  <a:srgbClr val="004CE8"/>
                </a:solidFill>
              </a:rPr>
              <a:t>C</a:t>
            </a:r>
            <a:r>
              <a:rPr lang="pt-BR" sz="1800" b="1" dirty="0" err="1"/>
              <a:t>ascading</a:t>
            </a:r>
            <a:r>
              <a:rPr lang="pt-BR" sz="1800" b="1" dirty="0"/>
              <a:t> </a:t>
            </a:r>
            <a:r>
              <a:rPr lang="pt-BR" sz="1800" b="1" dirty="0" err="1">
                <a:solidFill>
                  <a:srgbClr val="004CE8"/>
                </a:solidFill>
              </a:rPr>
              <a:t>S</a:t>
            </a:r>
            <a:r>
              <a:rPr lang="pt-BR" sz="1800" b="1" dirty="0" err="1"/>
              <a:t>tyle</a:t>
            </a:r>
            <a:r>
              <a:rPr lang="pt-BR" sz="1800" b="1" dirty="0"/>
              <a:t> </a:t>
            </a:r>
            <a:r>
              <a:rPr lang="pt-BR" sz="1800" b="1" dirty="0" err="1">
                <a:solidFill>
                  <a:srgbClr val="004CE8"/>
                </a:solidFill>
              </a:rPr>
              <a:t>S</a:t>
            </a:r>
            <a:r>
              <a:rPr lang="pt-BR" sz="1800" b="1" dirty="0" err="1"/>
              <a:t>heets</a:t>
            </a:r>
            <a:r>
              <a:rPr lang="pt-BR" sz="1800" b="1" dirty="0"/>
              <a:t>)</a:t>
            </a:r>
            <a:r>
              <a:rPr lang="pt-BR" sz="1800" dirty="0"/>
              <a:t> é a linguagem usada para estilizar e definir a aparência visual de páginas web. Ele trabalha em conjunto com o HTML para melhorar a experiência do usuário, personalizando cores, fontes, layouts e outros elementos visuais.</a:t>
            </a:r>
            <a:endParaRPr lang="pt-BR" sz="1400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B4B4E37-08C9-4466-A779-30388BB6696F}"/>
              </a:ext>
            </a:extLst>
          </p:cNvPr>
          <p:cNvGrpSpPr/>
          <p:nvPr/>
        </p:nvGrpSpPr>
        <p:grpSpPr>
          <a:xfrm>
            <a:off x="1240683" y="3743078"/>
            <a:ext cx="9710634" cy="1623600"/>
            <a:chOff x="1110384" y="3743078"/>
            <a:chExt cx="9710634" cy="1623600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ADD400B-049C-4FAE-A09B-D57C69C3480D}"/>
                </a:ext>
              </a:extLst>
            </p:cNvPr>
            <p:cNvSpPr txBox="1"/>
            <p:nvPr/>
          </p:nvSpPr>
          <p:spPr>
            <a:xfrm>
              <a:off x="1110384" y="3956509"/>
              <a:ext cx="7707167" cy="1196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Define o estilo visual de elementos HTML.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Permite criar designs responsivos, adaptando o site a diferentes dispositivos.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Organiza o design com separação entre conteúdo (HTML) e estilo (CSS).</a:t>
              </a:r>
            </a:p>
          </p:txBody>
        </p: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4A06173D-926C-408E-A788-1DAA57EA8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7418" y="3743078"/>
              <a:ext cx="1623600" cy="1623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1526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B69FD-6FF4-424F-91AB-163DA94A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</a:t>
            </a:r>
            <a:r>
              <a:rPr lang="pt-BR" dirty="0" err="1"/>
              <a:t>JavaScript</a:t>
            </a:r>
            <a:r>
              <a:rPr lang="pt-BR" dirty="0"/>
              <a:t> 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BDBBB4-0238-471F-9369-4D7C7D78B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pPr algn="just"/>
            <a:r>
              <a:rPr lang="pt-BR" sz="1800" b="1" dirty="0" err="1"/>
              <a:t>JavaScript</a:t>
            </a:r>
            <a:r>
              <a:rPr lang="pt-BR" sz="1800" dirty="0"/>
              <a:t> é uma linguagem de programação usada no desenvolvimento web para adicionar interatividade e dinamismo às páginas. Ele permite criar funcionalidades como validações de formulários, animações e atualizações em tempo real, sem recarregar a página, complementando o HTML (estrutura) e o CSS (estilo).</a:t>
            </a:r>
            <a:endParaRPr lang="pt-BR" sz="1400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3C39B94-AE0D-481D-A5C6-590B83F02382}"/>
              </a:ext>
            </a:extLst>
          </p:cNvPr>
          <p:cNvGrpSpPr/>
          <p:nvPr/>
        </p:nvGrpSpPr>
        <p:grpSpPr>
          <a:xfrm>
            <a:off x="2157312" y="4028306"/>
            <a:ext cx="7877376" cy="1623600"/>
            <a:chOff x="2658502" y="4028306"/>
            <a:chExt cx="7877376" cy="1623600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ADD400B-049C-4FAE-A09B-D57C69C3480D}"/>
                </a:ext>
              </a:extLst>
            </p:cNvPr>
            <p:cNvSpPr txBox="1"/>
            <p:nvPr/>
          </p:nvSpPr>
          <p:spPr>
            <a:xfrm>
              <a:off x="2658502" y="4077397"/>
              <a:ext cx="4299647" cy="1525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Interatividade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Versatilidade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Execução no Navegador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Ampla Comunidade e Suporte</a:t>
              </a:r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1BD1480A-22D0-4E40-B2A1-EC7EC1BC6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4548" y="4028306"/>
              <a:ext cx="1511330" cy="1623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268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D730E-511A-424F-A602-C469C9FD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X CSS X </a:t>
            </a:r>
            <a:r>
              <a:rPr lang="pt-BR" dirty="0" err="1"/>
              <a:t>JavaScript</a:t>
            </a:r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D72D657-5252-4C77-953A-6759EB46A415}"/>
              </a:ext>
            </a:extLst>
          </p:cNvPr>
          <p:cNvGrpSpPr/>
          <p:nvPr/>
        </p:nvGrpSpPr>
        <p:grpSpPr>
          <a:xfrm>
            <a:off x="1056958" y="2345979"/>
            <a:ext cx="10078085" cy="3657601"/>
            <a:chOff x="844059" y="2766422"/>
            <a:chExt cx="10078085" cy="3657601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5679A83-44AF-4ED9-9CDB-CE9BA8D40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59" y="3428999"/>
              <a:ext cx="5472863" cy="2332446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F3B0358B-260D-45E6-9890-29C886D83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7136" y="2766422"/>
              <a:ext cx="3695008" cy="36576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074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C8EBE044-8988-440A-8F4A-14852C46C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352" y="2125179"/>
            <a:ext cx="7325296" cy="35676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D86ABB-BC50-402B-B1B9-AD54AEE5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uma Página Web </a:t>
            </a:r>
          </a:p>
        </p:txBody>
      </p:sp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0DC41A99-F1A9-43F4-86EB-44C65876CF4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47477" y="4190999"/>
            <a:ext cx="1453667" cy="673509"/>
          </a:xfrm>
          <a:prstGeom prst="curvedConnector3">
            <a:avLst>
              <a:gd name="adj1" fmla="val 50000"/>
            </a:avLst>
          </a:prstGeom>
          <a:ln w="38100">
            <a:solidFill>
              <a:srgbClr val="292A8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146A50-834B-45AE-8381-8289806874D3}"/>
              </a:ext>
            </a:extLst>
          </p:cNvPr>
          <p:cNvSpPr txBox="1"/>
          <p:nvPr/>
        </p:nvSpPr>
        <p:spPr>
          <a:xfrm>
            <a:off x="586854" y="4712110"/>
            <a:ext cx="15844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Imagens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Vídeos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Tabelas</a:t>
            </a:r>
          </a:p>
        </p:txBody>
      </p:sp>
      <p:cxnSp>
        <p:nvCxnSpPr>
          <p:cNvPr id="6" name="Conector: Curvo 5">
            <a:extLst>
              <a:ext uri="{FF2B5EF4-FFF2-40B4-BE49-F238E27FC236}">
                <a16:creationId xmlns:a16="http://schemas.microsoft.com/office/drawing/2014/main" id="{04194176-10B2-43EA-A9E4-FCB3863613B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60121" y="3308518"/>
            <a:ext cx="2047036" cy="1219805"/>
          </a:xfrm>
          <a:prstGeom prst="curvedConnector3">
            <a:avLst>
              <a:gd name="adj1" fmla="val 50000"/>
            </a:avLst>
          </a:prstGeom>
          <a:ln w="38100">
            <a:solidFill>
              <a:srgbClr val="292A8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DAB4E8-11D5-4D71-BDAE-989C48AFCEAE}"/>
              </a:ext>
            </a:extLst>
          </p:cNvPr>
          <p:cNvSpPr txBox="1"/>
          <p:nvPr/>
        </p:nvSpPr>
        <p:spPr>
          <a:xfrm>
            <a:off x="10259001" y="4388346"/>
            <a:ext cx="132279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Cores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Sombras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Tamanhos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posicionamento</a:t>
            </a:r>
          </a:p>
        </p:txBody>
      </p:sp>
      <p:cxnSp>
        <p:nvCxnSpPr>
          <p:cNvPr id="8" name="Conector: Curvo 7">
            <a:extLst>
              <a:ext uri="{FF2B5EF4-FFF2-40B4-BE49-F238E27FC236}">
                <a16:creationId xmlns:a16="http://schemas.microsoft.com/office/drawing/2014/main" id="{B812E00E-7D1B-48F9-9EA8-CF526C304463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2326375" y="2429693"/>
            <a:ext cx="1705701" cy="357488"/>
          </a:xfrm>
          <a:prstGeom prst="curvedConnector3">
            <a:avLst>
              <a:gd name="adj1" fmla="val 50000"/>
            </a:avLst>
          </a:prstGeom>
          <a:ln w="38100">
            <a:solidFill>
              <a:srgbClr val="292A8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448365-671F-423C-9596-954424B1F572}"/>
              </a:ext>
            </a:extLst>
          </p:cNvPr>
          <p:cNvSpPr txBox="1"/>
          <p:nvPr/>
        </p:nvSpPr>
        <p:spPr>
          <a:xfrm>
            <a:off x="741953" y="1986962"/>
            <a:ext cx="15844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Interações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Menus</a:t>
            </a: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Interações	</a:t>
            </a:r>
          </a:p>
          <a:p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Popups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Validações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29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A0908-F7A9-4F09-80EA-3AAABCA7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Todas são Linguagens de Programação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A8F04B2F-A057-46B2-B589-24117BC59E4F}"/>
              </a:ext>
            </a:extLst>
          </p:cNvPr>
          <p:cNvGrpSpPr/>
          <p:nvPr/>
        </p:nvGrpSpPr>
        <p:grpSpPr>
          <a:xfrm>
            <a:off x="1933941" y="2819400"/>
            <a:ext cx="8334634" cy="1623600"/>
            <a:chOff x="1933941" y="2819400"/>
            <a:chExt cx="8334634" cy="1623600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E71EEC34-A595-40F2-B532-ABC5CB3A9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57245" y="2819400"/>
              <a:ext cx="1511330" cy="1623600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A3F42622-4160-4961-88D8-16A746795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8942" y="2819400"/>
              <a:ext cx="1623600" cy="1623600"/>
            </a:xfrm>
            <a:prstGeom prst="rect">
              <a:avLst/>
            </a:prstGeom>
          </p:spPr>
        </p:pic>
        <p:pic>
          <p:nvPicPr>
            <p:cNvPr id="6" name="Espaço Reservado para Conteúdo 4">
              <a:extLst>
                <a:ext uri="{FF2B5EF4-FFF2-40B4-BE49-F238E27FC236}">
                  <a16:creationId xmlns:a16="http://schemas.microsoft.com/office/drawing/2014/main" id="{5459303C-DC1F-41C4-9591-2F5208F48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3941" y="2819795"/>
              <a:ext cx="1490298" cy="1622810"/>
            </a:xfrm>
            <a:prstGeom prst="rect">
              <a:avLst/>
            </a:prstGeom>
          </p:spPr>
        </p:pic>
      </p:grpSp>
      <p:pic>
        <p:nvPicPr>
          <p:cNvPr id="11" name="Gráfico 10" descr="Fechar">
            <a:extLst>
              <a:ext uri="{FF2B5EF4-FFF2-40B4-BE49-F238E27FC236}">
                <a16:creationId xmlns:a16="http://schemas.microsoft.com/office/drawing/2014/main" id="{0FBFB600-F6FA-4D8A-B85D-08D366AB2C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8284" y="4898680"/>
            <a:ext cx="914400" cy="914400"/>
          </a:xfrm>
          <a:prstGeom prst="rect">
            <a:avLst/>
          </a:prstGeom>
        </p:spPr>
      </p:pic>
      <p:pic>
        <p:nvPicPr>
          <p:cNvPr id="13" name="Gráfico 12" descr="Marca de seleção">
            <a:extLst>
              <a:ext uri="{FF2B5EF4-FFF2-40B4-BE49-F238E27FC236}">
                <a16:creationId xmlns:a16="http://schemas.microsoft.com/office/drawing/2014/main" id="{B2208DDA-AD16-4CDE-B084-1A02F386D9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0452" y="4898680"/>
            <a:ext cx="914400" cy="914400"/>
          </a:xfrm>
          <a:prstGeom prst="rect">
            <a:avLst/>
          </a:prstGeom>
        </p:spPr>
      </p:pic>
      <p:pic>
        <p:nvPicPr>
          <p:cNvPr id="14" name="Gráfico 13" descr="Fechar">
            <a:extLst>
              <a:ext uri="{FF2B5EF4-FFF2-40B4-BE49-F238E27FC236}">
                <a16:creationId xmlns:a16="http://schemas.microsoft.com/office/drawing/2014/main" id="{CDA9C136-7719-4CB2-AD7F-6A5FFC7FD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6632" y="4898680"/>
            <a:ext cx="914400" cy="914400"/>
          </a:xfrm>
          <a:prstGeom prst="rect">
            <a:avLst/>
          </a:prstGeom>
        </p:spPr>
      </p:pic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B33AE866-C134-455A-B514-BA711E60F271}"/>
              </a:ext>
            </a:extLst>
          </p:cNvPr>
          <p:cNvCxnSpPr/>
          <p:nvPr/>
        </p:nvCxnSpPr>
        <p:spPr>
          <a:xfrm>
            <a:off x="3424239" y="3631200"/>
            <a:ext cx="18547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AB99C6A8-9D65-4C95-8B70-9643FCF4FFDF}"/>
              </a:ext>
            </a:extLst>
          </p:cNvPr>
          <p:cNvCxnSpPr>
            <a:cxnSpLocks/>
          </p:cNvCxnSpPr>
          <p:nvPr/>
        </p:nvCxnSpPr>
        <p:spPr>
          <a:xfrm flipV="1">
            <a:off x="4351590" y="2682540"/>
            <a:ext cx="0" cy="948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0B25FE4-C665-4C80-80C0-DC784A7F3E83}"/>
              </a:ext>
            </a:extLst>
          </p:cNvPr>
          <p:cNvSpPr txBox="1"/>
          <p:nvPr/>
        </p:nvSpPr>
        <p:spPr>
          <a:xfrm>
            <a:off x="3606441" y="2282430"/>
            <a:ext cx="1490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77BE8EE-2B4D-4B3E-BC09-F21005FB9773}"/>
              </a:ext>
            </a:extLst>
          </p:cNvPr>
          <p:cNvSpPr txBox="1"/>
          <p:nvPr/>
        </p:nvSpPr>
        <p:spPr>
          <a:xfrm>
            <a:off x="7051419" y="4816080"/>
            <a:ext cx="1490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643D2207-5421-43F9-A820-9B596AC14FD9}"/>
              </a:ext>
            </a:extLst>
          </p:cNvPr>
          <p:cNvCxnSpPr>
            <a:stCxn id="4" idx="1"/>
            <a:endCxn id="35" idx="0"/>
          </p:cNvCxnSpPr>
          <p:nvPr/>
        </p:nvCxnSpPr>
        <p:spPr>
          <a:xfrm rot="10800000" flipV="1">
            <a:off x="7796569" y="3631200"/>
            <a:ext cx="960677" cy="118488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166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CAFBE-A206-45A9-BB40-74AA4081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Front-</a:t>
            </a:r>
            <a:r>
              <a:rPr lang="pt-BR" dirty="0" err="1"/>
              <a:t>end</a:t>
            </a:r>
            <a:r>
              <a:rPr lang="pt-BR" dirty="0"/>
              <a:t> x Back-</a:t>
            </a:r>
            <a:r>
              <a:rPr lang="pt-BR" dirty="0" err="1"/>
              <a:t>end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95CBC6D-38CA-4335-9345-B3E14F5FA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168" y="2733614"/>
            <a:ext cx="1800000" cy="1800000"/>
          </a:xfr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DE0E2E5-5DEA-489B-9C1F-13A86A4EC652}"/>
              </a:ext>
            </a:extLst>
          </p:cNvPr>
          <p:cNvSpPr txBox="1"/>
          <p:nvPr/>
        </p:nvSpPr>
        <p:spPr>
          <a:xfrm>
            <a:off x="2901838" y="4783675"/>
            <a:ext cx="112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1D63192-9946-4499-837C-9CC36D88C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784" y="2786901"/>
            <a:ext cx="1800000" cy="1800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DF402C7-C139-43FB-9B0A-AD29CE92DB79}"/>
              </a:ext>
            </a:extLst>
          </p:cNvPr>
          <p:cNvSpPr txBox="1"/>
          <p:nvPr/>
        </p:nvSpPr>
        <p:spPr>
          <a:xfrm>
            <a:off x="7595297" y="4783675"/>
            <a:ext cx="112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8B6C6C2-39FA-417A-A8F2-D3BF038B1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107" y="2313431"/>
            <a:ext cx="540000" cy="580114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39DCA7E-DA3D-449A-8DB1-13B2548FE4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352" y="3344493"/>
            <a:ext cx="540000" cy="540000"/>
          </a:xfrm>
          <a:prstGeom prst="rect">
            <a:avLst/>
          </a:prstGeom>
        </p:spPr>
      </p:pic>
      <p:pic>
        <p:nvPicPr>
          <p:cNvPr id="19" name="Espaço Reservado para Conteúdo 4">
            <a:extLst>
              <a:ext uri="{FF2B5EF4-FFF2-40B4-BE49-F238E27FC236}">
                <a16:creationId xmlns:a16="http://schemas.microsoft.com/office/drawing/2014/main" id="{31E86774-789B-4D63-87A0-BEC98EF257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107" y="4335442"/>
            <a:ext cx="540000" cy="58801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1A57A11F-4AFE-4919-B628-86FA7215A1E7}"/>
              </a:ext>
            </a:extLst>
          </p:cNvPr>
          <p:cNvSpPr/>
          <p:nvPr/>
        </p:nvSpPr>
        <p:spPr>
          <a:xfrm>
            <a:off x="2085177" y="5349781"/>
            <a:ext cx="27495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Responsável pela interface e experiência do usuário.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67FCEB1-7E39-4E3F-A6A6-DA03C00C5F99}"/>
              </a:ext>
            </a:extLst>
          </p:cNvPr>
          <p:cNvSpPr/>
          <p:nvPr/>
        </p:nvSpPr>
        <p:spPr>
          <a:xfrm>
            <a:off x="6562967" y="5349781"/>
            <a:ext cx="31916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Responsável pela lógica de servidor, banco de dados e processamento de dados.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7C39AD66-D674-4926-BC37-23F82B5270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2063" y="4531394"/>
            <a:ext cx="495738" cy="648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6AA54066-F322-4198-8399-95F72B732B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986" y="3082846"/>
            <a:ext cx="1200000" cy="648000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E2ECFEA6-C6D2-40D1-8E02-25575F11E0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910" y="3938901"/>
            <a:ext cx="577211" cy="648000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E14AF8A4-F4F1-4DCD-9C99-3AB122D901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3473" y="2311967"/>
            <a:ext cx="691200" cy="648000"/>
          </a:xfrm>
          <a:prstGeom prst="rect">
            <a:avLst/>
          </a:prstGeom>
        </p:spPr>
      </p:pic>
      <p:pic>
        <p:nvPicPr>
          <p:cNvPr id="43" name="Gráfico 42" descr="Fechar">
            <a:extLst>
              <a:ext uri="{FF2B5EF4-FFF2-40B4-BE49-F238E27FC236}">
                <a16:creationId xmlns:a16="http://schemas.microsoft.com/office/drawing/2014/main" id="{703BA2FE-10A6-43C1-9C7C-A1231B2B55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809272">
            <a:off x="5468475" y="3254492"/>
            <a:ext cx="720000" cy="720000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4ADE8147-AC51-40BE-8121-5771422343B2}"/>
              </a:ext>
            </a:extLst>
          </p:cNvPr>
          <p:cNvSpPr txBox="1"/>
          <p:nvPr/>
        </p:nvSpPr>
        <p:spPr>
          <a:xfrm>
            <a:off x="5293714" y="2364282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FullStack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2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C7567-92EE-46B2-A947-17423347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4" name="Picture 4" descr="Ícone computador desktop 569520 Vetor no Vecteezy">
            <a:extLst>
              <a:ext uri="{FF2B5EF4-FFF2-40B4-BE49-F238E27FC236}">
                <a16:creationId xmlns:a16="http://schemas.microsoft.com/office/drawing/2014/main" id="{7FF60202-5014-40EE-942F-3DFF9F968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926" y="162900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39F16F4-A7F7-4539-A60F-72126DBD3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504" y="5044279"/>
            <a:ext cx="1080000" cy="108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ED7681E-5C63-48C0-BE13-5F67E74345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348" y="5044279"/>
            <a:ext cx="1080000" cy="1080000"/>
          </a:xfrm>
          <a:prstGeom prst="rect">
            <a:avLst/>
          </a:prstGeom>
        </p:spPr>
      </p:pic>
      <p:cxnSp>
        <p:nvCxnSpPr>
          <p:cNvPr id="7" name="Conector de seta reta 11">
            <a:extLst>
              <a:ext uri="{FF2B5EF4-FFF2-40B4-BE49-F238E27FC236}">
                <a16:creationId xmlns:a16="http://schemas.microsoft.com/office/drawing/2014/main" id="{452CDD29-75BF-4DDA-B98F-CA8FECAF6CF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886926" y="3429000"/>
            <a:ext cx="2880422" cy="1615279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13">
            <a:extLst>
              <a:ext uri="{FF2B5EF4-FFF2-40B4-BE49-F238E27FC236}">
                <a16:creationId xmlns:a16="http://schemas.microsoft.com/office/drawing/2014/main" id="{129EA31E-443A-4975-821F-7CC4B3F0E2C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006504" y="3429000"/>
            <a:ext cx="2880422" cy="1615279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m 14">
            <a:extLst>
              <a:ext uri="{FF2B5EF4-FFF2-40B4-BE49-F238E27FC236}">
                <a16:creationId xmlns:a16="http://schemas.microsoft.com/office/drawing/2014/main" id="{143DDB0D-FDFF-479C-9A3A-19E7040A7D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926" y="5044279"/>
            <a:ext cx="1080000" cy="1080000"/>
          </a:xfrm>
          <a:prstGeom prst="rect">
            <a:avLst/>
          </a:prstGeom>
        </p:spPr>
      </p:pic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C792CF8C-5331-4A22-9397-94D84353F543}"/>
              </a:ext>
            </a:extLst>
          </p:cNvPr>
          <p:cNvCxnSpPr>
            <a:stCxn id="4" idx="2"/>
            <a:endCxn id="15" idx="0"/>
          </p:cNvCxnSpPr>
          <p:nvPr/>
        </p:nvCxnSpPr>
        <p:spPr>
          <a:xfrm>
            <a:off x="5886926" y="3429000"/>
            <a:ext cx="0" cy="1615279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156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C7377-40E2-4D4C-83E5-D41F34E5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para instalação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6952D-C9CE-4DBB-9567-D63A0A4B9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Node.js</a:t>
            </a:r>
          </a:p>
          <a:p>
            <a:pPr marL="1028700" lvl="1" indent="-342900"/>
            <a:r>
              <a:rPr lang="pt-BR" dirty="0">
                <a:hlinkClick r:id="rId2"/>
              </a:rPr>
              <a:t>https://nodejs.org/pt - Node.js</a:t>
            </a:r>
            <a:endParaRPr lang="pt-BR" dirty="0"/>
          </a:p>
          <a:p>
            <a:r>
              <a:rPr lang="pt-BR" dirty="0"/>
              <a:t>Visual Studio </a:t>
            </a:r>
            <a:r>
              <a:rPr lang="pt-BR" dirty="0" err="1"/>
              <a:t>Code</a:t>
            </a:r>
            <a:endParaRPr lang="pt-BR" dirty="0"/>
          </a:p>
          <a:p>
            <a:pPr marL="1028700" lvl="1" indent="-342900"/>
            <a:r>
              <a:rPr lang="pt-BR" dirty="0">
                <a:hlinkClick r:id="rId3"/>
              </a:rPr>
              <a:t>https://code.visualstudio.com/</a:t>
            </a:r>
            <a:r>
              <a:rPr lang="pt-BR" dirty="0"/>
              <a:t>	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2889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413E0-4202-4854-A1DD-16862DAB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5" dirty="0"/>
              <a:t>Estrutura da </a:t>
            </a:r>
            <a:r>
              <a:rPr lang="pt-BR" spc="-5" dirty="0" err="1"/>
              <a:t>tag</a:t>
            </a:r>
            <a:r>
              <a:rPr lang="pt-BR" spc="-5" dirty="0"/>
              <a:t> HTML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0AB2A8-4425-40DC-B498-3EEF20DB7DF1}"/>
              </a:ext>
            </a:extLst>
          </p:cNvPr>
          <p:cNvSpPr txBox="1"/>
          <p:nvPr/>
        </p:nvSpPr>
        <p:spPr>
          <a:xfrm>
            <a:off x="2895600" y="3136612"/>
            <a:ext cx="5700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&lt;h1&gt; 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Exemplo de Titulo </a:t>
            </a:r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&lt;/h1&gt;</a:t>
            </a:r>
          </a:p>
        </p:txBody>
      </p:sp>
      <p:cxnSp>
        <p:nvCxnSpPr>
          <p:cNvPr id="5" name="Conector: Curvo 4">
            <a:extLst>
              <a:ext uri="{FF2B5EF4-FFF2-40B4-BE49-F238E27FC236}">
                <a16:creationId xmlns:a16="http://schemas.microsoft.com/office/drawing/2014/main" id="{78486788-7C9B-4342-B86E-B0026AEBBAAD}"/>
              </a:ext>
            </a:extLst>
          </p:cNvPr>
          <p:cNvCxnSpPr>
            <a:cxnSpLocks/>
            <a:stCxn id="4" idx="1"/>
            <a:endCxn id="6" idx="2"/>
          </p:cNvCxnSpPr>
          <p:nvPr/>
        </p:nvCxnSpPr>
        <p:spPr>
          <a:xfrm rot="10800000">
            <a:off x="1524000" y="2951948"/>
            <a:ext cx="1371600" cy="477052"/>
          </a:xfrm>
          <a:prstGeom prst="curved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3F99EE-B714-4BF6-8A38-9FC65C81340A}"/>
              </a:ext>
            </a:extLst>
          </p:cNvPr>
          <p:cNvSpPr txBox="1"/>
          <p:nvPr/>
        </p:nvSpPr>
        <p:spPr>
          <a:xfrm>
            <a:off x="533400" y="2551838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Abertura de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: Curvo 6">
            <a:extLst>
              <a:ext uri="{FF2B5EF4-FFF2-40B4-BE49-F238E27FC236}">
                <a16:creationId xmlns:a16="http://schemas.microsoft.com/office/drawing/2014/main" id="{90C841BA-D121-4EA0-85D9-6B3869AB8B67}"/>
              </a:ext>
            </a:extLst>
          </p:cNvPr>
          <p:cNvCxnSpPr>
            <a:cxnSpLocks/>
            <a:stCxn id="4" idx="0"/>
            <a:endCxn id="8" idx="2"/>
          </p:cNvCxnSpPr>
          <p:nvPr/>
        </p:nvCxnSpPr>
        <p:spPr>
          <a:xfrm rot="5400000" flipH="1" flipV="1">
            <a:off x="5574861" y="2721751"/>
            <a:ext cx="585772" cy="24395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CB0E6792-6940-40C0-A4ED-C520919B4606}"/>
              </a:ext>
            </a:extLst>
          </p:cNvPr>
          <p:cNvSpPr txBox="1"/>
          <p:nvPr/>
        </p:nvSpPr>
        <p:spPr>
          <a:xfrm>
            <a:off x="5343511" y="2150730"/>
            <a:ext cx="1292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Conteúdo</a:t>
            </a:r>
          </a:p>
        </p:txBody>
      </p:sp>
      <p:cxnSp>
        <p:nvCxnSpPr>
          <p:cNvPr id="9" name="Conector: Curvo 8">
            <a:extLst>
              <a:ext uri="{FF2B5EF4-FFF2-40B4-BE49-F238E27FC236}">
                <a16:creationId xmlns:a16="http://schemas.microsoft.com/office/drawing/2014/main" id="{6BA9749A-B54D-4826-9DC1-0A411741833F}"/>
              </a:ext>
            </a:extLst>
          </p:cNvPr>
          <p:cNvCxnSpPr>
            <a:cxnSpLocks/>
            <a:stCxn id="4" idx="3"/>
            <a:endCxn id="10" idx="2"/>
          </p:cNvCxnSpPr>
          <p:nvPr/>
        </p:nvCxnSpPr>
        <p:spPr>
          <a:xfrm flipV="1">
            <a:off x="8595943" y="2951948"/>
            <a:ext cx="1073842" cy="477052"/>
          </a:xfrm>
          <a:prstGeom prst="curved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8ED6F8-7C73-485B-B173-28C6A1F61016}"/>
              </a:ext>
            </a:extLst>
          </p:cNvPr>
          <p:cNvSpPr txBox="1"/>
          <p:nvPr/>
        </p:nvSpPr>
        <p:spPr>
          <a:xfrm>
            <a:off x="8423347" y="2551838"/>
            <a:ext cx="2492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Fechamento da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DB436B6-F0E6-432D-9CE4-BD84AC4C793B}"/>
              </a:ext>
            </a:extLst>
          </p:cNvPr>
          <p:cNvSpPr/>
          <p:nvPr/>
        </p:nvSpPr>
        <p:spPr>
          <a:xfrm>
            <a:off x="2097793" y="4793671"/>
            <a:ext cx="85715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pt-BR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=“</a:t>
            </a:r>
            <a:r>
              <a:rPr lang="pt-B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foto.png</a:t>
            </a:r>
            <a:r>
              <a:rPr lang="pt-BR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pt-B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3200" b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</a:t>
            </a:r>
            <a:r>
              <a:rPr lang="pt-BR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=“</a:t>
            </a:r>
            <a:r>
              <a:rPr lang="pt-B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foto</a:t>
            </a:r>
            <a:r>
              <a:rPr lang="pt-BR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  <p:cxnSp>
        <p:nvCxnSpPr>
          <p:cNvPr id="12" name="Conector: Curvo 11">
            <a:extLst>
              <a:ext uri="{FF2B5EF4-FFF2-40B4-BE49-F238E27FC236}">
                <a16:creationId xmlns:a16="http://schemas.microsoft.com/office/drawing/2014/main" id="{BD0A3EC8-409F-4A6D-8578-1F03A267718E}"/>
              </a:ext>
            </a:extLst>
          </p:cNvPr>
          <p:cNvCxnSpPr>
            <a:cxnSpLocks/>
            <a:stCxn id="11" idx="1"/>
            <a:endCxn id="13" idx="2"/>
          </p:cNvCxnSpPr>
          <p:nvPr/>
        </p:nvCxnSpPr>
        <p:spPr>
          <a:xfrm rot="10800000">
            <a:off x="1514067" y="4600903"/>
            <a:ext cx="583726" cy="485156"/>
          </a:xfrm>
          <a:prstGeom prst="curved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0F42309-691F-41FC-AFC5-174CE02D15BC}"/>
              </a:ext>
            </a:extLst>
          </p:cNvPr>
          <p:cNvSpPr txBox="1"/>
          <p:nvPr/>
        </p:nvSpPr>
        <p:spPr>
          <a:xfrm>
            <a:off x="523467" y="4200793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Abertura de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E70CEAA5-E2A2-4DAD-A472-8E55DF747841}"/>
              </a:ext>
            </a:extLst>
          </p:cNvPr>
          <p:cNvCxnSpPr>
            <a:cxnSpLocks/>
            <a:stCxn id="11" idx="3"/>
            <a:endCxn id="15" idx="2"/>
          </p:cNvCxnSpPr>
          <p:nvPr/>
        </p:nvCxnSpPr>
        <p:spPr>
          <a:xfrm flipV="1">
            <a:off x="10669370" y="4400848"/>
            <a:ext cx="156609" cy="685211"/>
          </a:xfrm>
          <a:prstGeom prst="curved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007D4E9-E02C-4B7E-B787-94F74EC0E379}"/>
              </a:ext>
            </a:extLst>
          </p:cNvPr>
          <p:cNvSpPr txBox="1"/>
          <p:nvPr/>
        </p:nvSpPr>
        <p:spPr>
          <a:xfrm>
            <a:off x="9579541" y="4000738"/>
            <a:ext cx="2492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Fechamento da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ector: Curvo 15">
            <a:extLst>
              <a:ext uri="{FF2B5EF4-FFF2-40B4-BE49-F238E27FC236}">
                <a16:creationId xmlns:a16="http://schemas.microsoft.com/office/drawing/2014/main" id="{8E95CAAD-F83C-4483-AB64-F01AD96D5F17}"/>
              </a:ext>
            </a:extLst>
          </p:cNvPr>
          <p:cNvCxnSpPr>
            <a:cxnSpLocks/>
          </p:cNvCxnSpPr>
          <p:nvPr/>
        </p:nvCxnSpPr>
        <p:spPr>
          <a:xfrm rot="5400000">
            <a:off x="3188882" y="5651069"/>
            <a:ext cx="785036" cy="1524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1260699-1CF7-492F-A05A-76994928537B}"/>
              </a:ext>
            </a:extLst>
          </p:cNvPr>
          <p:cNvSpPr txBox="1"/>
          <p:nvPr/>
        </p:nvSpPr>
        <p:spPr>
          <a:xfrm>
            <a:off x="2738113" y="6119787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Parâmetro</a:t>
            </a:r>
          </a:p>
        </p:txBody>
      </p:sp>
      <p:cxnSp>
        <p:nvCxnSpPr>
          <p:cNvPr id="18" name="Conector: Curvo 17">
            <a:extLst>
              <a:ext uri="{FF2B5EF4-FFF2-40B4-BE49-F238E27FC236}">
                <a16:creationId xmlns:a16="http://schemas.microsoft.com/office/drawing/2014/main" id="{5D11399C-2FB7-42F3-85F0-4CE4130C7E71}"/>
              </a:ext>
            </a:extLst>
          </p:cNvPr>
          <p:cNvCxnSpPr>
            <a:cxnSpLocks/>
          </p:cNvCxnSpPr>
          <p:nvPr/>
        </p:nvCxnSpPr>
        <p:spPr>
          <a:xfrm rot="5400000">
            <a:off x="7446804" y="5738462"/>
            <a:ext cx="785036" cy="15240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CF8B403-8803-482E-A49C-63EB12D08FE2}"/>
              </a:ext>
            </a:extLst>
          </p:cNvPr>
          <p:cNvSpPr txBox="1"/>
          <p:nvPr/>
        </p:nvSpPr>
        <p:spPr>
          <a:xfrm>
            <a:off x="7344022" y="6250669"/>
            <a:ext cx="83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195543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3" grpId="0"/>
      <p:bldP spid="15" grpId="0"/>
      <p:bldP spid="17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5990613" cy="525090"/>
          </a:xfrm>
        </p:spPr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EM GRUPO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</TotalTime>
  <Words>1613</Words>
  <Application>Microsoft Office PowerPoint</Application>
  <PresentationFormat>Widescreen</PresentationFormat>
  <Paragraphs>489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Times New Roman</vt:lpstr>
      <vt:lpstr>Tema do Office</vt:lpstr>
      <vt:lpstr>LÓGICA DE PROGRAMAÇÃO</vt:lpstr>
      <vt:lpstr>Formação Acadêmica e Experiência Profissional</vt:lpstr>
      <vt:lpstr>Cálculo da Média</vt:lpstr>
      <vt:lpstr>Programação do Curso</vt:lpstr>
      <vt:lpstr>Planejamento das aulas</vt:lpstr>
      <vt:lpstr>Desenvolvimento Front-End</vt:lpstr>
      <vt:lpstr>O que é HTML ?</vt:lpstr>
      <vt:lpstr>O que é CSS ?</vt:lpstr>
      <vt:lpstr>O que é JavaScript ?</vt:lpstr>
      <vt:lpstr>HTML X CSS X JavaScript</vt:lpstr>
      <vt:lpstr>Exemplo de uma Página Web </vt:lpstr>
      <vt:lpstr>Todas são Linguagens de Programação</vt:lpstr>
      <vt:lpstr>Front-end x Back-end</vt:lpstr>
      <vt:lpstr>Requisitos de Software</vt:lpstr>
      <vt:lpstr>Link para instalação</vt:lpstr>
      <vt:lpstr>Estrutura da tag HTML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65</cp:revision>
  <dcterms:created xsi:type="dcterms:W3CDTF">2024-03-08T12:14:33Z</dcterms:created>
  <dcterms:modified xsi:type="dcterms:W3CDTF">2025-08-04T20:46:11Z</dcterms:modified>
</cp:coreProperties>
</file>