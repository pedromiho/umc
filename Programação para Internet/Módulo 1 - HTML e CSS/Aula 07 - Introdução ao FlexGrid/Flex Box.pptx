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9"/>
  </p:notesMasterIdLst>
  <p:handoutMasterIdLst>
    <p:handoutMasterId r:id="rId10"/>
  </p:handout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</p:sldIdLst>
  <p:sldSz cx="12192000" cy="6858000"/>
  <p:notesSz cx="6888163" cy="100203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FFE7E7"/>
    <a:srgbClr val="292A86"/>
    <a:srgbClr val="E44D26"/>
    <a:srgbClr val="004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82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0F28648D-752F-4D9E-8EC2-61293C3E9BC7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67E822F-2664-47C4-8404-83B1D4D0E6EE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5F894BD-720E-4718-AD70-168A1A7602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2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sz="5400" dirty="0" err="1"/>
              <a:t>FlexBox</a:t>
            </a:r>
            <a:r>
              <a:rPr lang="pt-BR" sz="5400" dirty="0"/>
              <a:t> em HTML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C1CC9-6478-8F18-7A36-AC2F3FA4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020"/>
            <a:ext cx="10515600" cy="68672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que é o Flex Grid </a:t>
            </a:r>
          </a:p>
        </p:txBody>
      </p:sp>
      <p:sp>
        <p:nvSpPr>
          <p:cNvPr id="1031" name="Content Placeholder 2">
            <a:extLst>
              <a:ext uri="{FF2B5EF4-FFF2-40B4-BE49-F238E27FC236}">
                <a16:creationId xmlns:a16="http://schemas.microsoft.com/office/drawing/2014/main" id="{A6F8219F-8EA3-1917-B7A3-94D32051F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CSS Grid Layout</a:t>
            </a:r>
            <a:r>
              <a:rPr lang="pt-BR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é um recurso do CSS usado para criar e organizar layouts de páginas web em </a:t>
            </a:r>
            <a:r>
              <a:rPr lang="pt-BR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linhas e colunas</a:t>
            </a:r>
            <a:r>
              <a:rPr lang="pt-BR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Ele permite trabalhar com duas dimensões ao mesmo tempo, facilitando a criação de estruturas como páginas, dashboards, galerias e sistemas responsivos.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rid Design Examples Images at Paul Bennette blog">
            <a:extLst>
              <a:ext uri="{FF2B5EF4-FFF2-40B4-BE49-F238E27FC236}">
                <a16:creationId xmlns:a16="http://schemas.microsoft.com/office/drawing/2014/main" id="{38E9D407-D677-93B3-A6AC-E10361C93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941608"/>
            <a:ext cx="5181600" cy="411937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53732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E379DF3-D42C-1441-0040-0100B01F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CSS Grid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01CD5E-0304-89AB-AEC6-4FC5E058C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44842"/>
          </a:xfrm>
        </p:spPr>
        <p:txBody>
          <a:bodyPr/>
          <a:lstStyle/>
          <a:p>
            <a:r>
              <a:rPr lang="pt-BR" b="1" dirty="0"/>
              <a:t>CSS Grid</a:t>
            </a:r>
            <a:r>
              <a:rPr lang="pt-BR" dirty="0"/>
              <a:t> é um sistema de layout do CSS que permite organizar elementos em: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C30CF45-CDEF-B457-895C-3E90D769B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81485"/>
              </p:ext>
            </p:extLst>
          </p:nvPr>
        </p:nvGraphicFramePr>
        <p:xfrm>
          <a:off x="1320685" y="3228596"/>
          <a:ext cx="36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6887896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206750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169241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23835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74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661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35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68428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155E58C0-3D1D-6A92-799C-661907E04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06432"/>
              </p:ext>
            </p:extLst>
          </p:nvPr>
        </p:nvGraphicFramePr>
        <p:xfrm>
          <a:off x="5569138" y="3228596"/>
          <a:ext cx="36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6887896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206750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169241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23835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74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661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35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430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68428"/>
                  </a:ext>
                </a:extLst>
              </a:tr>
            </a:tbl>
          </a:graphicData>
        </a:graphic>
      </p:graphicFrame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B717B55-502C-70D9-A655-861820FBE5E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9169138" y="4668596"/>
            <a:ext cx="441592" cy="0"/>
          </a:xfrm>
          <a:prstGeom prst="straightConnector1">
            <a:avLst/>
          </a:prstGeom>
          <a:ln w="38100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E28FE6A-230E-4222-D786-FD46C6162F06}"/>
              </a:ext>
            </a:extLst>
          </p:cNvPr>
          <p:cNvSpPr txBox="1"/>
          <p:nvPr/>
        </p:nvSpPr>
        <p:spPr>
          <a:xfrm>
            <a:off x="9610732" y="4483930"/>
            <a:ext cx="154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B9DBC30-27BB-D44D-B0BE-72C4ECA624C5}"/>
              </a:ext>
            </a:extLst>
          </p:cNvPr>
          <p:cNvCxnSpPr>
            <a:cxnSpLocks/>
          </p:cNvCxnSpPr>
          <p:nvPr/>
        </p:nvCxnSpPr>
        <p:spPr>
          <a:xfrm flipV="1">
            <a:off x="6934200" y="2981325"/>
            <a:ext cx="0" cy="981075"/>
          </a:xfrm>
          <a:prstGeom prst="straightConnector1">
            <a:avLst/>
          </a:prstGeom>
          <a:ln w="38100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02DE18-A33B-B0C6-4C31-6AB53105AB3B}"/>
              </a:ext>
            </a:extLst>
          </p:cNvPr>
          <p:cNvSpPr txBox="1"/>
          <p:nvPr/>
        </p:nvSpPr>
        <p:spPr>
          <a:xfrm>
            <a:off x="6391276" y="2611993"/>
            <a:ext cx="108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4909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C587-E054-95A3-74F6-2750ABBF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B1DBCA4-1119-3D50-51FB-485953D8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CSS Grid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AA6CF3-CFD9-3BC4-A570-BC0B1A37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44842"/>
          </a:xfrm>
        </p:spPr>
        <p:txBody>
          <a:bodyPr/>
          <a:lstStyle/>
          <a:p>
            <a:r>
              <a:rPr lang="pt-BR" b="1" dirty="0"/>
              <a:t>CSS Grid</a:t>
            </a:r>
            <a:r>
              <a:rPr lang="pt-BR" dirty="0"/>
              <a:t> é um sistema de layout do CSS que permite organizar elementos em: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6FA12C5-B868-06BE-0190-FE5C53418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98962"/>
              </p:ext>
            </p:extLst>
          </p:nvPr>
        </p:nvGraphicFramePr>
        <p:xfrm>
          <a:off x="4296000" y="3228596"/>
          <a:ext cx="36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6887896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206750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169241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23835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74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661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35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68428"/>
                  </a:ext>
                </a:extLst>
              </a:tr>
            </a:tbl>
          </a:graphicData>
        </a:graphic>
      </p:graphicFrame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0816C6EE-3BE5-B509-1BAD-A90C45710C43}"/>
              </a:ext>
            </a:extLst>
          </p:cNvPr>
          <p:cNvCxnSpPr>
            <a:cxnSpLocks/>
          </p:cNvCxnSpPr>
          <p:nvPr/>
        </p:nvCxnSpPr>
        <p:spPr>
          <a:xfrm>
            <a:off x="7896000" y="4283818"/>
            <a:ext cx="441592" cy="0"/>
          </a:xfrm>
          <a:prstGeom prst="straightConnector1">
            <a:avLst/>
          </a:prstGeom>
          <a:ln w="38100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14D71B-7774-2003-13E6-B52317950B4B}"/>
              </a:ext>
            </a:extLst>
          </p:cNvPr>
          <p:cNvSpPr txBox="1"/>
          <p:nvPr/>
        </p:nvSpPr>
        <p:spPr>
          <a:xfrm>
            <a:off x="8337594" y="4099152"/>
            <a:ext cx="1543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colums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5F7D73F-E4C5-D70E-C628-75C4ED677A5E}"/>
              </a:ext>
            </a:extLst>
          </p:cNvPr>
          <p:cNvSpPr txBox="1"/>
          <p:nvPr/>
        </p:nvSpPr>
        <p:spPr>
          <a:xfrm>
            <a:off x="6531798" y="2674599"/>
            <a:ext cx="2612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6AF6DCBF-8310-3793-E2E6-03D357E62068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624423" y="2859265"/>
            <a:ext cx="907375" cy="369331"/>
          </a:xfrm>
          <a:prstGeom prst="bentConnector3">
            <a:avLst>
              <a:gd name="adj1" fmla="val 50000"/>
            </a:avLst>
          </a:prstGeom>
          <a:ln w="38100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51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EA256-878F-3BA8-8476-565BF3A7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EE298A4-CA5B-523A-3E22-2517F74B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CSS Grid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099FFC-C062-DD82-7801-C328D24D7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44842"/>
          </a:xfrm>
        </p:spPr>
        <p:txBody>
          <a:bodyPr/>
          <a:lstStyle/>
          <a:p>
            <a:r>
              <a:rPr lang="pt-BR" b="1" dirty="0"/>
              <a:t>CSS Grid</a:t>
            </a:r>
            <a:r>
              <a:rPr lang="pt-BR" dirty="0"/>
              <a:t> é um sistema de layout do CSS que permite organizar elementos em: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EF31426-4C87-C0E6-97DA-2266F4F05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43016"/>
              </p:ext>
            </p:extLst>
          </p:nvPr>
        </p:nvGraphicFramePr>
        <p:xfrm>
          <a:off x="4296000" y="3228596"/>
          <a:ext cx="36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6887896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206750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169241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23835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74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661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35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68428"/>
                  </a:ext>
                </a:extLst>
              </a:tr>
            </a:tbl>
          </a:graphicData>
        </a:graphic>
      </p:graphicFrame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027B8BE-CDA0-7B96-D3DE-252411EA567A}"/>
              </a:ext>
            </a:extLst>
          </p:cNvPr>
          <p:cNvCxnSpPr>
            <a:cxnSpLocks/>
          </p:cNvCxnSpPr>
          <p:nvPr/>
        </p:nvCxnSpPr>
        <p:spPr>
          <a:xfrm>
            <a:off x="7896000" y="4283818"/>
            <a:ext cx="441592" cy="0"/>
          </a:xfrm>
          <a:prstGeom prst="straightConnector1">
            <a:avLst/>
          </a:prstGeom>
          <a:ln w="38100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DCB7F8-2081-E20E-AF52-7FD9419FAB54}"/>
              </a:ext>
            </a:extLst>
          </p:cNvPr>
          <p:cNvSpPr txBox="1"/>
          <p:nvPr/>
        </p:nvSpPr>
        <p:spPr>
          <a:xfrm>
            <a:off x="8337594" y="4099152"/>
            <a:ext cx="154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pt-BR" b="1" dirty="0" err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endParaRPr lang="pt-BR" b="1" dirty="0">
              <a:solidFill>
                <a:srgbClr val="0430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A40FB01E-8DF7-D565-EE2B-8C8E4F64B54D}"/>
              </a:ext>
            </a:extLst>
          </p:cNvPr>
          <p:cNvSpPr/>
          <p:nvPr/>
        </p:nvSpPr>
        <p:spPr>
          <a:xfrm>
            <a:off x="4031681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A41657A8-5D9F-9437-5E96-C8F7891537D3}"/>
              </a:ext>
            </a:extLst>
          </p:cNvPr>
          <p:cNvSpPr/>
          <p:nvPr/>
        </p:nvSpPr>
        <p:spPr>
          <a:xfrm>
            <a:off x="4925537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DBAD14DD-A0BA-F9BD-98B4-5565EAFEA576}"/>
              </a:ext>
            </a:extLst>
          </p:cNvPr>
          <p:cNvSpPr/>
          <p:nvPr/>
        </p:nvSpPr>
        <p:spPr>
          <a:xfrm>
            <a:off x="5819393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2C1D758A-DD2E-6C08-5BDB-291A29504200}"/>
              </a:ext>
            </a:extLst>
          </p:cNvPr>
          <p:cNvSpPr/>
          <p:nvPr/>
        </p:nvSpPr>
        <p:spPr>
          <a:xfrm>
            <a:off x="6715855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8E09EE6F-21AD-7CB3-F3F1-A64DEF8E7A5C}"/>
              </a:ext>
            </a:extLst>
          </p:cNvPr>
          <p:cNvSpPr/>
          <p:nvPr/>
        </p:nvSpPr>
        <p:spPr>
          <a:xfrm>
            <a:off x="7631681" y="2652452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7971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D9EA-E545-9D81-3542-12026D73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92CB136-8914-CBDD-25E8-CC96AB08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CSS Grid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C1A5F9E-5CDC-735D-7890-34B6A9AD2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44842"/>
          </a:xfrm>
        </p:spPr>
        <p:txBody>
          <a:bodyPr/>
          <a:lstStyle/>
          <a:p>
            <a:r>
              <a:rPr lang="pt-BR" b="1" dirty="0"/>
              <a:t>CSS Grid</a:t>
            </a:r>
            <a:r>
              <a:rPr lang="pt-BR" dirty="0"/>
              <a:t> é um sistema de layout do CSS que permite organizar elementos em: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BB836209-437F-499F-92C2-B06D6A850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347577"/>
              </p:ext>
            </p:extLst>
          </p:nvPr>
        </p:nvGraphicFramePr>
        <p:xfrm>
          <a:off x="4296000" y="3228596"/>
          <a:ext cx="36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6887896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206750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169241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23835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74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661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35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68428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A6387877-063C-DC68-8D5C-5FFF3BCB4210}"/>
              </a:ext>
            </a:extLst>
          </p:cNvPr>
          <p:cNvSpPr txBox="1"/>
          <p:nvPr/>
        </p:nvSpPr>
        <p:spPr>
          <a:xfrm>
            <a:off x="8337594" y="4099152"/>
            <a:ext cx="154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pt-BR" b="1" dirty="0" err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endParaRPr lang="pt-BR" b="1" dirty="0">
              <a:solidFill>
                <a:srgbClr val="0430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D3715584-0BBC-FB0F-57FE-5F1729E1018E}"/>
              </a:ext>
            </a:extLst>
          </p:cNvPr>
          <p:cNvSpPr/>
          <p:nvPr/>
        </p:nvSpPr>
        <p:spPr>
          <a:xfrm>
            <a:off x="4031681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DD14E1F1-D846-E3C8-1CC9-827D4FAA0FCC}"/>
              </a:ext>
            </a:extLst>
          </p:cNvPr>
          <p:cNvSpPr/>
          <p:nvPr/>
        </p:nvSpPr>
        <p:spPr>
          <a:xfrm>
            <a:off x="4925537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C167F3C6-86BD-25F3-D866-B50A30687270}"/>
              </a:ext>
            </a:extLst>
          </p:cNvPr>
          <p:cNvSpPr/>
          <p:nvPr/>
        </p:nvSpPr>
        <p:spPr>
          <a:xfrm>
            <a:off x="5819393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D105CC38-A3F5-6CAF-95DF-7440F43200F6}"/>
              </a:ext>
            </a:extLst>
          </p:cNvPr>
          <p:cNvSpPr/>
          <p:nvPr/>
        </p:nvSpPr>
        <p:spPr>
          <a:xfrm>
            <a:off x="6715855" y="2658778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C9F03985-E653-2161-D42B-FBAAE69E49C0}"/>
              </a:ext>
            </a:extLst>
          </p:cNvPr>
          <p:cNvSpPr/>
          <p:nvPr/>
        </p:nvSpPr>
        <p:spPr>
          <a:xfrm>
            <a:off x="7631681" y="2652452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6C111744-32BD-16D9-DA76-BC7A11B1FA90}"/>
              </a:ext>
            </a:extLst>
          </p:cNvPr>
          <p:cNvSpPr/>
          <p:nvPr/>
        </p:nvSpPr>
        <p:spPr>
          <a:xfrm rot="5400000" flipV="1">
            <a:off x="3746972" y="2956175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16C72FF7-6053-D6E5-0845-A259E1477A88}"/>
              </a:ext>
            </a:extLst>
          </p:cNvPr>
          <p:cNvSpPr/>
          <p:nvPr/>
        </p:nvSpPr>
        <p:spPr>
          <a:xfrm rot="5400000" flipV="1">
            <a:off x="3746972" y="3665065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FA6F048A-DCA4-ED07-B217-C8A32259D9B0}"/>
              </a:ext>
            </a:extLst>
          </p:cNvPr>
          <p:cNvSpPr/>
          <p:nvPr/>
        </p:nvSpPr>
        <p:spPr>
          <a:xfrm rot="5400000" flipV="1">
            <a:off x="3746972" y="4399785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F8F90393-7386-C754-00B3-6FCE93B554B3}"/>
              </a:ext>
            </a:extLst>
          </p:cNvPr>
          <p:cNvSpPr/>
          <p:nvPr/>
        </p:nvSpPr>
        <p:spPr>
          <a:xfrm rot="5400000" flipV="1">
            <a:off x="3746972" y="5114024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23CB12BD-3103-FA40-AC4E-FD972E86D0C0}"/>
              </a:ext>
            </a:extLst>
          </p:cNvPr>
          <p:cNvSpPr/>
          <p:nvPr/>
        </p:nvSpPr>
        <p:spPr>
          <a:xfrm rot="5400000" flipV="1">
            <a:off x="3746972" y="5836175"/>
            <a:ext cx="528638" cy="544842"/>
          </a:xfrm>
          <a:prstGeom prst="downArrow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8B18470E-37C9-D2BD-931C-FFC3B191C8AF}"/>
              </a:ext>
            </a:extLst>
          </p:cNvPr>
          <p:cNvCxnSpPr>
            <a:endCxn id="4" idx="1"/>
          </p:cNvCxnSpPr>
          <p:nvPr/>
        </p:nvCxnSpPr>
        <p:spPr>
          <a:xfrm>
            <a:off x="7366000" y="3937485"/>
            <a:ext cx="971594" cy="346333"/>
          </a:xfrm>
          <a:prstGeom prst="bentConnector3">
            <a:avLst>
              <a:gd name="adj1" fmla="val 329"/>
            </a:avLst>
          </a:prstGeom>
          <a:ln w="38100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18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C85E-DCE6-B9DC-4B2D-330E9611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4DF844E-DFAB-F39D-EC1E-6F1578566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CSS Grid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59BEBE-02D6-1DED-72DC-A3FE0F9B1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44842"/>
          </a:xfrm>
        </p:spPr>
        <p:txBody>
          <a:bodyPr/>
          <a:lstStyle/>
          <a:p>
            <a:r>
              <a:rPr lang="pt-BR" b="1" dirty="0"/>
              <a:t>CSS Grid</a:t>
            </a:r>
            <a:r>
              <a:rPr lang="pt-BR" dirty="0"/>
              <a:t> é um sistema de layout do CSS que permite organizar elementos em: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F6AE955-1D79-1668-9157-0074D827A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7546"/>
              </p:ext>
            </p:extLst>
          </p:nvPr>
        </p:nvGraphicFramePr>
        <p:xfrm>
          <a:off x="4296000" y="3429000"/>
          <a:ext cx="36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6887896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206750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169241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23835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74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6615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35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68428"/>
                  </a:ext>
                </a:extLst>
              </a:tr>
            </a:tbl>
          </a:graphicData>
        </a:graphic>
      </p:graphicFrame>
      <p:grpSp>
        <p:nvGrpSpPr>
          <p:cNvPr id="38" name="Agrupar 37">
            <a:extLst>
              <a:ext uri="{FF2B5EF4-FFF2-40B4-BE49-F238E27FC236}">
                <a16:creationId xmlns:a16="http://schemas.microsoft.com/office/drawing/2014/main" id="{28A3D01C-1E5C-5CCF-16C2-FBE5C00F2A77}"/>
              </a:ext>
            </a:extLst>
          </p:cNvPr>
          <p:cNvGrpSpPr/>
          <p:nvPr/>
        </p:nvGrpSpPr>
        <p:grpSpPr>
          <a:xfrm>
            <a:off x="4116000" y="2629525"/>
            <a:ext cx="3946440" cy="769333"/>
            <a:chOff x="4116000" y="2629525"/>
            <a:chExt cx="3946440" cy="769333"/>
          </a:xfrm>
        </p:grpSpPr>
        <p:sp>
          <p:nvSpPr>
            <p:cNvPr id="27" name="Seta: Pentágono 26">
              <a:extLst>
                <a:ext uri="{FF2B5EF4-FFF2-40B4-BE49-F238E27FC236}">
                  <a16:creationId xmlns:a16="http://schemas.microsoft.com/office/drawing/2014/main" id="{906B1D18-2D92-DE72-777D-C67C572E6717}"/>
                </a:ext>
              </a:extLst>
            </p:cNvPr>
            <p:cNvSpPr/>
            <p:nvPr/>
          </p:nvSpPr>
          <p:spPr>
            <a:xfrm rot="5400000">
              <a:off x="4116000" y="3038858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" name="Seta: Pentágono 27">
              <a:extLst>
                <a:ext uri="{FF2B5EF4-FFF2-40B4-BE49-F238E27FC236}">
                  <a16:creationId xmlns:a16="http://schemas.microsoft.com/office/drawing/2014/main" id="{D6288601-D5F0-961B-0C7F-673583265A68}"/>
                </a:ext>
              </a:extLst>
            </p:cNvPr>
            <p:cNvSpPr/>
            <p:nvPr/>
          </p:nvSpPr>
          <p:spPr>
            <a:xfrm rot="5400000">
              <a:off x="5022780" y="3038858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" name="Seta: Pentágono 28">
              <a:extLst>
                <a:ext uri="{FF2B5EF4-FFF2-40B4-BE49-F238E27FC236}">
                  <a16:creationId xmlns:a16="http://schemas.microsoft.com/office/drawing/2014/main" id="{E561C803-3B77-7FF0-8975-044861415054}"/>
                </a:ext>
              </a:extLst>
            </p:cNvPr>
            <p:cNvSpPr/>
            <p:nvPr/>
          </p:nvSpPr>
          <p:spPr>
            <a:xfrm rot="5400000">
              <a:off x="5916000" y="3038858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0" name="Seta: Pentágono 29">
              <a:extLst>
                <a:ext uri="{FF2B5EF4-FFF2-40B4-BE49-F238E27FC236}">
                  <a16:creationId xmlns:a16="http://schemas.microsoft.com/office/drawing/2014/main" id="{D820F880-0275-0A54-6CC5-D7EA1D503AE2}"/>
                </a:ext>
              </a:extLst>
            </p:cNvPr>
            <p:cNvSpPr/>
            <p:nvPr/>
          </p:nvSpPr>
          <p:spPr>
            <a:xfrm rot="5400000">
              <a:off x="6809220" y="3038858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1" name="Seta: Pentágono 30">
              <a:extLst>
                <a:ext uri="{FF2B5EF4-FFF2-40B4-BE49-F238E27FC236}">
                  <a16:creationId xmlns:a16="http://schemas.microsoft.com/office/drawing/2014/main" id="{C5441937-8AFF-5BB0-F727-4CDFE828BFCD}"/>
                </a:ext>
              </a:extLst>
            </p:cNvPr>
            <p:cNvSpPr/>
            <p:nvPr/>
          </p:nvSpPr>
          <p:spPr>
            <a:xfrm rot="5400000">
              <a:off x="7702440" y="3036912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" name="Seta: Pentágono 31">
              <a:extLst>
                <a:ext uri="{FF2B5EF4-FFF2-40B4-BE49-F238E27FC236}">
                  <a16:creationId xmlns:a16="http://schemas.microsoft.com/office/drawing/2014/main" id="{B85144B4-3713-F420-0930-19C0935A41AB}"/>
                </a:ext>
              </a:extLst>
            </p:cNvPr>
            <p:cNvSpPr/>
            <p:nvPr/>
          </p:nvSpPr>
          <p:spPr>
            <a:xfrm rot="5400000">
              <a:off x="4116000" y="2631471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</a:p>
          </p:txBody>
        </p:sp>
        <p:sp>
          <p:nvSpPr>
            <p:cNvPr id="33" name="Seta: Pentágono 32">
              <a:extLst>
                <a:ext uri="{FF2B5EF4-FFF2-40B4-BE49-F238E27FC236}">
                  <a16:creationId xmlns:a16="http://schemas.microsoft.com/office/drawing/2014/main" id="{5F223376-5898-0E5E-B246-D7DB434116A6}"/>
                </a:ext>
              </a:extLst>
            </p:cNvPr>
            <p:cNvSpPr/>
            <p:nvPr/>
          </p:nvSpPr>
          <p:spPr>
            <a:xfrm rot="5400000">
              <a:off x="5022780" y="2631471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</a:p>
          </p:txBody>
        </p:sp>
        <p:sp>
          <p:nvSpPr>
            <p:cNvPr id="34" name="Seta: Pentágono 33">
              <a:extLst>
                <a:ext uri="{FF2B5EF4-FFF2-40B4-BE49-F238E27FC236}">
                  <a16:creationId xmlns:a16="http://schemas.microsoft.com/office/drawing/2014/main" id="{3907E65D-1E21-BEFC-53D6-57CBCD1E82AC}"/>
                </a:ext>
              </a:extLst>
            </p:cNvPr>
            <p:cNvSpPr/>
            <p:nvPr/>
          </p:nvSpPr>
          <p:spPr>
            <a:xfrm rot="5400000">
              <a:off x="5916000" y="2631471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</a:p>
          </p:txBody>
        </p:sp>
        <p:sp>
          <p:nvSpPr>
            <p:cNvPr id="35" name="Seta: Pentágono 34">
              <a:extLst>
                <a:ext uri="{FF2B5EF4-FFF2-40B4-BE49-F238E27FC236}">
                  <a16:creationId xmlns:a16="http://schemas.microsoft.com/office/drawing/2014/main" id="{5B57F3C6-A2AF-994C-EC0C-9CDB293E8B0B}"/>
                </a:ext>
              </a:extLst>
            </p:cNvPr>
            <p:cNvSpPr/>
            <p:nvPr/>
          </p:nvSpPr>
          <p:spPr>
            <a:xfrm rot="5400000">
              <a:off x="6809220" y="2631471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36" name="Seta: Pentágono 35">
              <a:extLst>
                <a:ext uri="{FF2B5EF4-FFF2-40B4-BE49-F238E27FC236}">
                  <a16:creationId xmlns:a16="http://schemas.microsoft.com/office/drawing/2014/main" id="{349361AF-6936-AAA2-A969-67C7A1DB72A1}"/>
                </a:ext>
              </a:extLst>
            </p:cNvPr>
            <p:cNvSpPr/>
            <p:nvPr/>
          </p:nvSpPr>
          <p:spPr>
            <a:xfrm rot="5400000">
              <a:off x="7702440" y="2629525"/>
              <a:ext cx="360000" cy="360000"/>
            </a:xfrm>
            <a:prstGeom prst="homePlate">
              <a:avLst>
                <a:gd name="adj" fmla="val 37012"/>
              </a:avLst>
            </a:prstGeom>
            <a:solidFill>
              <a:srgbClr val="04307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</p:grpSp>
      <p:sp>
        <p:nvSpPr>
          <p:cNvPr id="40" name="Seta: Pentágono 39">
            <a:extLst>
              <a:ext uri="{FF2B5EF4-FFF2-40B4-BE49-F238E27FC236}">
                <a16:creationId xmlns:a16="http://schemas.microsoft.com/office/drawing/2014/main" id="{F98AD506-7C15-7CB7-49DF-C7B251D17260}"/>
              </a:ext>
            </a:extLst>
          </p:cNvPr>
          <p:cNvSpPr/>
          <p:nvPr/>
        </p:nvSpPr>
        <p:spPr>
          <a:xfrm flipV="1">
            <a:off x="3867276" y="3268988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Seta: Pentágono 40">
            <a:extLst>
              <a:ext uri="{FF2B5EF4-FFF2-40B4-BE49-F238E27FC236}">
                <a16:creationId xmlns:a16="http://schemas.microsoft.com/office/drawing/2014/main" id="{EC77270A-7C44-2AF5-BB70-824C665B36A1}"/>
              </a:ext>
            </a:extLst>
          </p:cNvPr>
          <p:cNvSpPr/>
          <p:nvPr/>
        </p:nvSpPr>
        <p:spPr>
          <a:xfrm flipV="1">
            <a:off x="3906521" y="3967922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2" name="Seta: Pentágono 41">
            <a:extLst>
              <a:ext uri="{FF2B5EF4-FFF2-40B4-BE49-F238E27FC236}">
                <a16:creationId xmlns:a16="http://schemas.microsoft.com/office/drawing/2014/main" id="{1A8808EE-8CA6-B045-7518-B868205D95F7}"/>
              </a:ext>
            </a:extLst>
          </p:cNvPr>
          <p:cNvSpPr/>
          <p:nvPr/>
        </p:nvSpPr>
        <p:spPr>
          <a:xfrm flipV="1">
            <a:off x="3900617" y="4683218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3" name="Seta: Pentágono 42">
            <a:extLst>
              <a:ext uri="{FF2B5EF4-FFF2-40B4-BE49-F238E27FC236}">
                <a16:creationId xmlns:a16="http://schemas.microsoft.com/office/drawing/2014/main" id="{A2731053-4230-16CA-4887-45EDA56F4D62}"/>
              </a:ext>
            </a:extLst>
          </p:cNvPr>
          <p:cNvSpPr/>
          <p:nvPr/>
        </p:nvSpPr>
        <p:spPr>
          <a:xfrm flipV="1">
            <a:off x="3900617" y="5409740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4" name="Seta: Pentágono 43">
            <a:extLst>
              <a:ext uri="{FF2B5EF4-FFF2-40B4-BE49-F238E27FC236}">
                <a16:creationId xmlns:a16="http://schemas.microsoft.com/office/drawing/2014/main" id="{E105F631-48C5-CC83-8774-3A3F5BEDC172}"/>
              </a:ext>
            </a:extLst>
          </p:cNvPr>
          <p:cNvSpPr/>
          <p:nvPr/>
        </p:nvSpPr>
        <p:spPr>
          <a:xfrm flipV="1">
            <a:off x="3908197" y="6131504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5" name="Seta: Pentágono 44">
            <a:extLst>
              <a:ext uri="{FF2B5EF4-FFF2-40B4-BE49-F238E27FC236}">
                <a16:creationId xmlns:a16="http://schemas.microsoft.com/office/drawing/2014/main" id="{3AF24198-00E3-F358-012B-3793E8A22580}"/>
              </a:ext>
            </a:extLst>
          </p:cNvPr>
          <p:cNvSpPr/>
          <p:nvPr/>
        </p:nvSpPr>
        <p:spPr>
          <a:xfrm flipV="1">
            <a:off x="3459889" y="3268988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</p:txBody>
      </p:sp>
      <p:sp>
        <p:nvSpPr>
          <p:cNvPr id="46" name="Seta: Pentágono 45">
            <a:extLst>
              <a:ext uri="{FF2B5EF4-FFF2-40B4-BE49-F238E27FC236}">
                <a16:creationId xmlns:a16="http://schemas.microsoft.com/office/drawing/2014/main" id="{89279D47-640B-81BB-F088-E5F3F005DF57}"/>
              </a:ext>
            </a:extLst>
          </p:cNvPr>
          <p:cNvSpPr/>
          <p:nvPr/>
        </p:nvSpPr>
        <p:spPr>
          <a:xfrm flipV="1">
            <a:off x="3499134" y="3967922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</a:p>
        </p:txBody>
      </p:sp>
      <p:sp>
        <p:nvSpPr>
          <p:cNvPr id="47" name="Seta: Pentágono 46">
            <a:extLst>
              <a:ext uri="{FF2B5EF4-FFF2-40B4-BE49-F238E27FC236}">
                <a16:creationId xmlns:a16="http://schemas.microsoft.com/office/drawing/2014/main" id="{4F35112D-2B8C-542E-8C4D-E2B57AAA8C21}"/>
              </a:ext>
            </a:extLst>
          </p:cNvPr>
          <p:cNvSpPr/>
          <p:nvPr/>
        </p:nvSpPr>
        <p:spPr>
          <a:xfrm flipV="1">
            <a:off x="3493230" y="4683218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</a:p>
        </p:txBody>
      </p:sp>
      <p:sp>
        <p:nvSpPr>
          <p:cNvPr id="48" name="Seta: Pentágono 47">
            <a:extLst>
              <a:ext uri="{FF2B5EF4-FFF2-40B4-BE49-F238E27FC236}">
                <a16:creationId xmlns:a16="http://schemas.microsoft.com/office/drawing/2014/main" id="{3F2D8C25-2AC2-98D5-7533-0431F379C832}"/>
              </a:ext>
            </a:extLst>
          </p:cNvPr>
          <p:cNvSpPr/>
          <p:nvPr/>
        </p:nvSpPr>
        <p:spPr>
          <a:xfrm flipV="1">
            <a:off x="3493230" y="5409740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49" name="Seta: Pentágono 48">
            <a:extLst>
              <a:ext uri="{FF2B5EF4-FFF2-40B4-BE49-F238E27FC236}">
                <a16:creationId xmlns:a16="http://schemas.microsoft.com/office/drawing/2014/main" id="{F5162DD9-E234-B81D-A869-DE382EBCF713}"/>
              </a:ext>
            </a:extLst>
          </p:cNvPr>
          <p:cNvSpPr/>
          <p:nvPr/>
        </p:nvSpPr>
        <p:spPr>
          <a:xfrm flipV="1">
            <a:off x="3500810" y="6131504"/>
            <a:ext cx="360000" cy="360000"/>
          </a:xfrm>
          <a:prstGeom prst="homePlate">
            <a:avLst>
              <a:gd name="adj" fmla="val 37012"/>
            </a:avLst>
          </a:prstGeom>
          <a:solidFill>
            <a:srgbClr val="0430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3375183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221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Tema do Office</vt:lpstr>
      <vt:lpstr>FlexBox em HTML</vt:lpstr>
      <vt:lpstr>O que é o Flex Grid </vt:lpstr>
      <vt:lpstr>Estrutura do CSS Grid</vt:lpstr>
      <vt:lpstr>Estrutura do CSS Grid</vt:lpstr>
      <vt:lpstr>Estrutura do CSS Grid</vt:lpstr>
      <vt:lpstr>Estrutura do CSS Grid</vt:lpstr>
      <vt:lpstr>Estrutura do CSS Grid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242</cp:revision>
  <dcterms:created xsi:type="dcterms:W3CDTF">2024-03-08T12:14:33Z</dcterms:created>
  <dcterms:modified xsi:type="dcterms:W3CDTF">2026-08-20T00:03:49Z</dcterms:modified>
</cp:coreProperties>
</file>