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88" r:id="rId3"/>
    <p:sldId id="287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59" r:id="rId15"/>
    <p:sldId id="286" r:id="rId16"/>
    <p:sldId id="260" r:id="rId17"/>
    <p:sldId id="261" r:id="rId18"/>
    <p:sldId id="262" r:id="rId19"/>
    <p:sldId id="263" r:id="rId20"/>
    <p:sldId id="264" r:id="rId21"/>
    <p:sldId id="271" r:id="rId22"/>
    <p:sldId id="265" r:id="rId23"/>
    <p:sldId id="266" r:id="rId24"/>
    <p:sldId id="267" r:id="rId25"/>
    <p:sldId id="268" r:id="rId26"/>
    <p:sldId id="269" r:id="rId27"/>
    <p:sldId id="270" r:id="rId28"/>
    <p:sldId id="272" r:id="rId29"/>
    <p:sldId id="273" r:id="rId30"/>
    <p:sldId id="274" r:id="rId31"/>
    <p:sldId id="275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5396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786847" y="-1355935"/>
            <a:ext cx="4618307" cy="1098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4800"/>
            </a:pPr>
            <a:r>
              <a:rPr lang="pt-BR" sz="4800" dirty="0"/>
              <a:t>Fundamentos da Segurança da Informação</a:t>
            </a:r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Prof. Esp. Pedro Miho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C6FF8-0CB5-3B18-A84E-E1D2B08F7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 sobre ISSO 27001 E ISSO 27002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A17831-3A9C-4422-AED7-FE9E7EDF2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063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7154C-483D-648C-EF74-B2A54B6D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da Aula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3BF340-AE18-6A13-5320-BA3201628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Ao final da aula, o aluno será capaz de: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Compreender o conceito de Segurança da Informação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Diferenciar dado, informação e ativo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Entender a importância estratégica da segurança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Identificar os pilares da Tríade CIA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45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47569-DDC4-4CD4-827E-26718CAAC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Criação e Utilização de dados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D0D700-2D2E-46E9-9973-617FA6A53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Os dados sempre desempenharam um papel essencial na história da humanidade, desde os primeiros registros em tábuas de argila até a era da inteligência artificial. Eles permitem a organização do conhecimento, a tomada de decisões e o avanço da sociedade em diversas áreas.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125B829-220D-4229-95C6-67CC1387F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936" y="3799789"/>
            <a:ext cx="3935697" cy="220448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6498F15-7678-4D4A-94CF-8AA35C3CD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569" y="3431239"/>
            <a:ext cx="3762496" cy="294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2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33CB9-E157-4C6E-AFAE-074B6424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Dispositivos de armazenamento</a:t>
            </a:r>
            <a:endParaRPr lang="pt-BR" dirty="0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9BBB0B4E-5844-43EC-AB3E-51759B3194D1}"/>
              </a:ext>
            </a:extLst>
          </p:cNvPr>
          <p:cNvGrpSpPr/>
          <p:nvPr/>
        </p:nvGrpSpPr>
        <p:grpSpPr>
          <a:xfrm>
            <a:off x="1596000" y="3980873"/>
            <a:ext cx="9000000" cy="230909"/>
            <a:chOff x="1596000" y="3916218"/>
            <a:chExt cx="9000000" cy="230909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871E9AAD-C60D-466F-B0D9-211EDEE4AB6D}"/>
                </a:ext>
              </a:extLst>
            </p:cNvPr>
            <p:cNvCxnSpPr/>
            <p:nvPr/>
          </p:nvCxnSpPr>
          <p:spPr>
            <a:xfrm>
              <a:off x="1596000" y="4031672"/>
              <a:ext cx="9000000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8DD556D4-DD15-47B4-B611-6FC02AD8B885}"/>
                </a:ext>
              </a:extLst>
            </p:cNvPr>
            <p:cNvGrpSpPr/>
            <p:nvPr/>
          </p:nvGrpSpPr>
          <p:grpSpPr>
            <a:xfrm>
              <a:off x="1596000" y="3916218"/>
              <a:ext cx="9000000" cy="230909"/>
              <a:chOff x="1596000" y="3916218"/>
              <a:chExt cx="9000000" cy="230909"/>
            </a:xfrm>
          </p:grpSpPr>
          <p:cxnSp>
            <p:nvCxnSpPr>
              <p:cNvPr id="7" name="Conector reto 6">
                <a:extLst>
                  <a:ext uri="{FF2B5EF4-FFF2-40B4-BE49-F238E27FC236}">
                    <a16:creationId xmlns:a16="http://schemas.microsoft.com/office/drawing/2014/main" id="{F897B3B8-64E7-44DB-91D4-44BDC2F79A79}"/>
                  </a:ext>
                </a:extLst>
              </p:cNvPr>
              <p:cNvCxnSpPr/>
              <p:nvPr/>
            </p:nvCxnSpPr>
            <p:spPr>
              <a:xfrm>
                <a:off x="15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ector reto 7">
                <a:extLst>
                  <a:ext uri="{FF2B5EF4-FFF2-40B4-BE49-F238E27FC236}">
                    <a16:creationId xmlns:a16="http://schemas.microsoft.com/office/drawing/2014/main" id="{78D21C69-9E4C-47CB-B9A8-7D51EBE75134}"/>
                  </a:ext>
                </a:extLst>
              </p:cNvPr>
              <p:cNvCxnSpPr/>
              <p:nvPr/>
            </p:nvCxnSpPr>
            <p:spPr>
              <a:xfrm>
                <a:off x="30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ector reto 8">
                <a:extLst>
                  <a:ext uri="{FF2B5EF4-FFF2-40B4-BE49-F238E27FC236}">
                    <a16:creationId xmlns:a16="http://schemas.microsoft.com/office/drawing/2014/main" id="{1424522C-9B9A-42D8-B2A2-AE94857176CE}"/>
                  </a:ext>
                </a:extLst>
              </p:cNvPr>
              <p:cNvCxnSpPr/>
              <p:nvPr/>
            </p:nvCxnSpPr>
            <p:spPr>
              <a:xfrm>
                <a:off x="45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reto 9">
                <a:extLst>
                  <a:ext uri="{FF2B5EF4-FFF2-40B4-BE49-F238E27FC236}">
                    <a16:creationId xmlns:a16="http://schemas.microsoft.com/office/drawing/2014/main" id="{E6183B78-D103-48CD-9266-E2F8E3FADEC9}"/>
                  </a:ext>
                </a:extLst>
              </p:cNvPr>
              <p:cNvCxnSpPr/>
              <p:nvPr/>
            </p:nvCxnSpPr>
            <p:spPr>
              <a:xfrm>
                <a:off x="60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to 10">
                <a:extLst>
                  <a:ext uri="{FF2B5EF4-FFF2-40B4-BE49-F238E27FC236}">
                    <a16:creationId xmlns:a16="http://schemas.microsoft.com/office/drawing/2014/main" id="{2FF6575B-04ED-4199-8F48-7CEBA44A7075}"/>
                  </a:ext>
                </a:extLst>
              </p:cNvPr>
              <p:cNvCxnSpPr/>
              <p:nvPr/>
            </p:nvCxnSpPr>
            <p:spPr>
              <a:xfrm>
                <a:off x="75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to 11">
                <a:extLst>
                  <a:ext uri="{FF2B5EF4-FFF2-40B4-BE49-F238E27FC236}">
                    <a16:creationId xmlns:a16="http://schemas.microsoft.com/office/drawing/2014/main" id="{5C5258E8-5D62-44E1-A630-95CD42F7A580}"/>
                  </a:ext>
                </a:extLst>
              </p:cNvPr>
              <p:cNvCxnSpPr/>
              <p:nvPr/>
            </p:nvCxnSpPr>
            <p:spPr>
              <a:xfrm>
                <a:off x="105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to 12">
                <a:extLst>
                  <a:ext uri="{FF2B5EF4-FFF2-40B4-BE49-F238E27FC236}">
                    <a16:creationId xmlns:a16="http://schemas.microsoft.com/office/drawing/2014/main" id="{C71EAF9D-6726-47D9-97B8-18346C43E76D}"/>
                  </a:ext>
                </a:extLst>
              </p:cNvPr>
              <p:cNvCxnSpPr/>
              <p:nvPr/>
            </p:nvCxnSpPr>
            <p:spPr>
              <a:xfrm>
                <a:off x="90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7D7BE7B9-8C2A-4F1A-967F-0E5C5DB34B6D}"/>
              </a:ext>
            </a:extLst>
          </p:cNvPr>
          <p:cNvGrpSpPr/>
          <p:nvPr/>
        </p:nvGrpSpPr>
        <p:grpSpPr>
          <a:xfrm>
            <a:off x="1233738" y="3120971"/>
            <a:ext cx="9724523" cy="720000"/>
            <a:chOff x="1236000" y="3037572"/>
            <a:chExt cx="9724523" cy="720000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4F8A1411-C081-4318-BDB2-0A1DB8F1C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40523" y="3037572"/>
              <a:ext cx="720000" cy="720000"/>
            </a:xfrm>
            <a:prstGeom prst="rect">
              <a:avLst/>
            </a:prstGeom>
          </p:spPr>
        </p:pic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065B95CE-E57F-40B8-AB07-2FB108B55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0523" y="3037572"/>
              <a:ext cx="720000" cy="720000"/>
            </a:xfrm>
            <a:prstGeom prst="rect">
              <a:avLst/>
            </a:prstGeom>
          </p:spPr>
        </p:pic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F88C43C7-B271-4AE8-B305-FC2DDBD70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6000" y="3037572"/>
              <a:ext cx="720000" cy="720000"/>
            </a:xfrm>
            <a:prstGeom prst="rect">
              <a:avLst/>
            </a:prstGeom>
          </p:spPr>
        </p:pic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347394C5-786F-44EB-BE24-9B40A1449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36000" y="3037572"/>
              <a:ext cx="720000" cy="720000"/>
            </a:xfrm>
            <a:prstGeom prst="rect">
              <a:avLst/>
            </a:prstGeom>
          </p:spPr>
        </p:pic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7EBE578-A788-4564-A10C-FB12FDEACB73}"/>
              </a:ext>
            </a:extLst>
          </p:cNvPr>
          <p:cNvSpPr txBox="1"/>
          <p:nvPr/>
        </p:nvSpPr>
        <p:spPr>
          <a:xfrm flipH="1">
            <a:off x="2724579" y="320397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1971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Disquete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7CBC948-8FF8-4A43-8552-22FFA2F2AE30}"/>
              </a:ext>
            </a:extLst>
          </p:cNvPr>
          <p:cNvSpPr txBox="1"/>
          <p:nvPr/>
        </p:nvSpPr>
        <p:spPr>
          <a:xfrm flipH="1">
            <a:off x="5713159" y="320397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1983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CD-ROM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A23B27E-ACB7-4C83-B108-F45AE9038F77}"/>
              </a:ext>
            </a:extLst>
          </p:cNvPr>
          <p:cNvSpPr txBox="1"/>
          <p:nvPr/>
        </p:nvSpPr>
        <p:spPr>
          <a:xfrm flipH="1">
            <a:off x="8713159" y="320397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 Drive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52C67F5-77C9-4421-9AEF-DE18D3F0DE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6001" y="4290291"/>
            <a:ext cx="720000" cy="72000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8FAFBAA9-AFE0-45E4-B88A-72A64E6112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6001" y="4290291"/>
            <a:ext cx="720000" cy="7200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DC115EE6-2188-4D16-976B-EC353FDF1F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6001" y="4290291"/>
            <a:ext cx="720000" cy="720000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A4A861C7-D03C-464E-BD32-6102452F683F}"/>
              </a:ext>
            </a:extLst>
          </p:cNvPr>
          <p:cNvSpPr txBox="1"/>
          <p:nvPr/>
        </p:nvSpPr>
        <p:spPr>
          <a:xfrm flipH="1">
            <a:off x="1233738" y="4373292"/>
            <a:ext cx="742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1951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Fita Magnética</a:t>
            </a:r>
          </a:p>
          <a:p>
            <a:pPr algn="ctr"/>
            <a:endParaRPr lang="pt-B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1606B55-C0DD-4B67-8177-4C9007F02B22}"/>
              </a:ext>
            </a:extLst>
          </p:cNvPr>
          <p:cNvSpPr txBox="1"/>
          <p:nvPr/>
        </p:nvSpPr>
        <p:spPr>
          <a:xfrm flipH="1">
            <a:off x="4224580" y="437329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HDD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6613562-68AE-455D-A392-0FC8D5B866B4}"/>
              </a:ext>
            </a:extLst>
          </p:cNvPr>
          <p:cNvSpPr txBox="1"/>
          <p:nvPr/>
        </p:nvSpPr>
        <p:spPr>
          <a:xfrm flipH="1">
            <a:off x="7224580" y="437329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1999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endParaRPr lang="pt-B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5781A2B-B116-4FE8-B45D-7BF5C60BF002}"/>
              </a:ext>
            </a:extLst>
          </p:cNvPr>
          <p:cNvSpPr txBox="1"/>
          <p:nvPr/>
        </p:nvSpPr>
        <p:spPr>
          <a:xfrm flipH="1">
            <a:off x="10247421" y="437329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2006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2017507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1551D-8E4B-42BE-9C4D-0601FE1B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Pesquisas de informações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6F6B31-109B-4B88-AFEE-6D9C50EA1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047" y="3497319"/>
            <a:ext cx="7261905" cy="2852891"/>
          </a:xfrm>
          <a:prstGeom prst="rect">
            <a:avLst/>
          </a:prstGeom>
        </p:spPr>
      </p:pic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9899EA-746D-4E00-9962-0DAF8F4D3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516006"/>
          </a:xfrm>
        </p:spPr>
        <p:txBody>
          <a:bodyPr/>
          <a:lstStyle/>
          <a:p>
            <a:r>
              <a:rPr lang="pt-BR" dirty="0"/>
              <a:t>Quantidade real e prevista de dados criados em todo o mundo de 2010 a 2035 em </a:t>
            </a:r>
            <a:r>
              <a:rPr lang="pt-BR" dirty="0" err="1"/>
              <a:t>zettabytes</a:t>
            </a:r>
            <a:r>
              <a:rPr lang="pt-BR" dirty="0"/>
              <a:t>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1 </a:t>
            </a:r>
            <a:r>
              <a:rPr lang="pt-BR" dirty="0" err="1"/>
              <a:t>zettabyte</a:t>
            </a:r>
            <a:r>
              <a:rPr lang="pt-BR" dirty="0"/>
              <a:t> é aproximadamente a 1 bilhão de </a:t>
            </a:r>
            <a:r>
              <a:rPr lang="pt-BR" dirty="0" err="1"/>
              <a:t>terabytes</a:t>
            </a:r>
            <a:r>
              <a:rPr lang="pt-BR" dirty="0"/>
              <a:t>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1 </a:t>
            </a:r>
            <a:r>
              <a:rPr lang="pt-BR" dirty="0" err="1"/>
              <a:t>zettabyte</a:t>
            </a:r>
            <a:r>
              <a:rPr lang="pt-BR" dirty="0"/>
              <a:t> é aproximadamente a 1 milhão de </a:t>
            </a:r>
            <a:r>
              <a:rPr lang="pt-BR" dirty="0" err="1"/>
              <a:t>petabytes</a:t>
            </a:r>
            <a:r>
              <a:rPr lang="pt-BR" dirty="0"/>
              <a:t>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8438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BB970-C517-4F92-BC7E-EBFF2927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de um </a:t>
            </a:r>
            <a:r>
              <a:rPr lang="pt-BR" dirty="0" err="1"/>
              <a:t>petabyte</a:t>
            </a:r>
            <a:r>
              <a:rPr lang="pt-BR" dirty="0"/>
              <a:t> de dados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FBA575-117E-44BA-8D28-06A93E983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85" y="2295405"/>
            <a:ext cx="10162286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02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BB970-C517-4F92-BC7E-EBFF2927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de um </a:t>
            </a:r>
            <a:r>
              <a:rPr lang="pt-BR" dirty="0" err="1"/>
              <a:t>petabyte</a:t>
            </a:r>
            <a:r>
              <a:rPr lang="pt-BR" dirty="0"/>
              <a:t> de dados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D6E1E96-5A26-4FFB-BCB4-A4F93EC37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2393101"/>
            <a:ext cx="7468642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64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2B988-B39D-499F-A314-BC28C840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Clive </a:t>
            </a:r>
            <a:r>
              <a:rPr lang="pt-BR" dirty="0" err="1"/>
              <a:t>Humby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061B4E-0619-4CBB-962F-B612ED6F6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018598"/>
          </a:xfrm>
        </p:spPr>
        <p:txBody>
          <a:bodyPr/>
          <a:lstStyle/>
          <a:p>
            <a:r>
              <a:rPr lang="pt-BR" sz="1800" dirty="0"/>
              <a:t>Clive </a:t>
            </a:r>
            <a:r>
              <a:rPr lang="pt-BR" sz="1800" dirty="0" err="1"/>
              <a:t>Humby</a:t>
            </a:r>
            <a:r>
              <a:rPr lang="pt-BR" sz="1800" dirty="0"/>
              <a:t> é um matemático e cientista de dados britânico conhecido por ser um dos pioneiros no uso de análise de dados para estratégias de negócios. Ele cunhou a famosa frase: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5FBD99-0579-454B-860B-D3D54C257203}"/>
              </a:ext>
            </a:extLst>
          </p:cNvPr>
          <p:cNvSpPr txBox="1"/>
          <p:nvPr/>
        </p:nvSpPr>
        <p:spPr>
          <a:xfrm>
            <a:off x="1761829" y="4442155"/>
            <a:ext cx="4230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“Data </a:t>
            </a:r>
            <a:r>
              <a:rPr lang="pt-BR" sz="36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is</a:t>
            </a:r>
            <a:r>
              <a:rPr lang="pt-BR" sz="3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pt-BR" sz="36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the</a:t>
            </a:r>
            <a:r>
              <a:rPr lang="pt-BR" sz="3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new </a:t>
            </a:r>
            <a:r>
              <a:rPr lang="pt-BR" sz="36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oil</a:t>
            </a:r>
            <a:r>
              <a:rPr lang="pt-BR" sz="3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”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ED80B7F-DA58-4768-9910-D0F1A478D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913" y="3429000"/>
            <a:ext cx="2676258" cy="267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90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7A0F-B970-4129-9959-736CF09F1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Compartilhamento de Informação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D16FD3-9D53-45D5-B860-C07C8A35C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157143"/>
          </a:xfrm>
        </p:spPr>
        <p:txBody>
          <a:bodyPr/>
          <a:lstStyle/>
          <a:p>
            <a:r>
              <a:rPr lang="pt-BR" dirty="0"/>
              <a:t>O compartilhamento de informação é um processo essencial na era digital, permitindo a troca de dados entre indivíduos, empresas e governos para facilitar a comunicação, a tomada de decisões e a inovação.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16F070-6F32-461A-A3AA-63546CB8D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545" y="3543500"/>
            <a:ext cx="4294909" cy="281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82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50EF1-840D-46F3-8108-DC3F463FA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 Informação: Proteção e Confidencialidade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97950C-B256-459A-B0C6-5E3067827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forma como tratamos, armazenamos e protegemos a informação é essencial para garantirmos sua integridade e evitar danos. A classificação da informação ajuda a manter sua segurança e sigilo conforme sua importância e impacto.</a:t>
            </a:r>
          </a:p>
          <a:p>
            <a:endParaRPr lang="pt-BR" dirty="0"/>
          </a:p>
          <a:p>
            <a:r>
              <a:rPr lang="pt-BR" dirty="0"/>
              <a:t>Classificar a informação consiste em definir um grau de confidencialidade com base no impacto que seu acesso por pessoas não autorizadas pode causar.</a:t>
            </a:r>
          </a:p>
        </p:txBody>
      </p:sp>
    </p:spTree>
    <p:extLst>
      <p:ext uri="{BB962C8B-B14F-4D97-AF65-F5344CB8AC3E}">
        <p14:creationId xmlns:p14="http://schemas.microsoft.com/office/powerpoint/2010/main" val="130822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9EEE3-9250-4E7D-9978-0B088558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Níveis de classificação da informação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E99296-5F21-48D8-94C5-24606EDFA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800" b="1" dirty="0"/>
              <a:t>Pública: </a:t>
            </a:r>
            <a:r>
              <a:rPr lang="pt-BR" sz="1800" dirty="0"/>
              <a:t>São informações disponíveis para qualquer pessoa, sem restrições de acesso. Normalmente, não apresentam riscos à segurança da organização ou dos indivíduos.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400" b="1" dirty="0"/>
              <a:t>Exemplos</a:t>
            </a:r>
            <a:r>
              <a:rPr lang="pt-BR" sz="1400" dirty="0"/>
              <a:t>: Previsão do tempo, comunicados oficiais, estatísticas populacionais, conteúdo de sites governamentais, horários de transporte público, perfis em redes sociais abertos, nome completo, publicações em blogs ou fóruns abertos.</a:t>
            </a:r>
          </a:p>
          <a:p>
            <a:pPr lvl="1" indent="0">
              <a:buNone/>
            </a:pPr>
            <a:endParaRPr lang="pt-BR" sz="1400" dirty="0"/>
          </a:p>
          <a:p>
            <a:r>
              <a:rPr lang="pt-BR" sz="1800" b="1" dirty="0"/>
              <a:t>Interna: </a:t>
            </a:r>
            <a:r>
              <a:rPr lang="pt-BR" sz="1800" dirty="0"/>
              <a:t>Destinadas ao uso exclusivo dentro da organização, sendo acessíveis apenas por funcionários ou equipes autorizadas. Embora não sejam altamente sigilosas, seu acesso externo pode causar impactos operacionais.</a:t>
            </a:r>
          </a:p>
          <a:p>
            <a:pPr marL="1200150" lvl="1" indent="-285750">
              <a:buFont typeface="Arial" panose="020B0604020202020204" pitchFamily="34" charset="0"/>
              <a:buChar char="•"/>
            </a:pPr>
            <a:r>
              <a:rPr lang="pt-BR" sz="1400" b="1" dirty="0"/>
              <a:t>Exemplos:</a:t>
            </a:r>
            <a:r>
              <a:rPr lang="pt-BR" sz="1400" dirty="0"/>
              <a:t> Manuais internos, procedimentos administrativos, listas de fornecedores, organogramas empresariais, relatórios de desempenho internos, endereço residencial, telefone pessoal, agenda de compromissos, boletins escolares.</a:t>
            </a:r>
          </a:p>
        </p:txBody>
      </p:sp>
    </p:spTree>
    <p:extLst>
      <p:ext uri="{BB962C8B-B14F-4D97-AF65-F5344CB8AC3E}">
        <p14:creationId xmlns:p14="http://schemas.microsoft.com/office/powerpoint/2010/main" val="1209167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5DB51-D21B-4362-91B0-A4B17B5F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Níveis de classificação da informação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32EF87-5695-4468-8694-3DDCAFB95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800" b="1" dirty="0"/>
              <a:t>Confidencial:</a:t>
            </a:r>
            <a:r>
              <a:rPr lang="pt-BR" sz="1800" dirty="0"/>
              <a:t> Exige um alto nível de proteção, pois a divulgação não autorizada pode gerar prejuízos financeiros, estratégicos ou legais para a organização. O acesso é restrito a indivíduos previamente autorizados.</a:t>
            </a:r>
          </a:p>
          <a:p>
            <a:pPr lvl="1"/>
            <a:r>
              <a:rPr lang="pt-BR" sz="1400" b="1" dirty="0"/>
              <a:t>Exemplos:</a:t>
            </a:r>
            <a:r>
              <a:rPr lang="pt-BR" sz="1400" dirty="0"/>
              <a:t> Dados financeiros da empresa, contratos estratégicos, informações de clientes, códigos-fonte de software proprietário, credenciais de acesso a sistemas internos, CPF, RG, dados bancários, histórico médico, senhas de contas online.</a:t>
            </a:r>
          </a:p>
          <a:p>
            <a:pPr marL="584200" lvl="1" indent="0">
              <a:buNone/>
            </a:pPr>
            <a:endParaRPr lang="pt-BR" sz="1400" dirty="0"/>
          </a:p>
          <a:p>
            <a:r>
              <a:rPr lang="pt-BR" sz="1800" b="1" dirty="0"/>
              <a:t>Secreta: </a:t>
            </a:r>
            <a:r>
              <a:rPr lang="pt-BR" sz="1800" dirty="0"/>
              <a:t>Informações de extrema sensibilidade, cujo acesso é altamente restrito e monitorado. A divulgação não autorizada pode comprometer a segurança da organização ou até mesmo da sociedade.</a:t>
            </a:r>
          </a:p>
          <a:p>
            <a:pPr lvl="1" indent="-331200">
              <a:buFont typeface="Arial" panose="020B0604020202020204" pitchFamily="34" charset="0"/>
              <a:buChar char="•"/>
            </a:pPr>
            <a:r>
              <a:rPr lang="pt-BR" sz="1400" b="1" dirty="0"/>
              <a:t>Exemplos</a:t>
            </a:r>
            <a:r>
              <a:rPr lang="pt-BR" sz="1400" dirty="0"/>
              <a:t>: Planos de segurança nacional, segredos industriais, tecnologias militares, investigações sigilosas, projetos estratégicos de inovação, dados biométricos, documentos de herança ou testamento, histórico de senhas e acessos.</a:t>
            </a:r>
          </a:p>
        </p:txBody>
      </p:sp>
    </p:spTree>
    <p:extLst>
      <p:ext uri="{BB962C8B-B14F-4D97-AF65-F5344CB8AC3E}">
        <p14:creationId xmlns:p14="http://schemas.microsoft.com/office/powerpoint/2010/main" val="4166680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Fundamentos da segurança da informação</a:t>
            </a:r>
            <a:endParaRPr dirty="0"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dirty="0"/>
              <a:t> A Segurança da Informação protege dados e sistemas contra acessos não autorizados, alterações indevidas e indisponibilidade. Para isso, adota práticas como criptografia, autenticação forte, auditorias e backups, além de seguir normas como ISO 27001, NIST e LGPD.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Confidencialidade 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Integridade 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Disponibilidade 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Autenticidade (opcional) 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Irretratabilidade (opcional)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D8C83-5E4E-4688-8551-31EB3DFE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da classificação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2D9479-FDE3-4839-8E0D-8EEE52470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classificação da informação oferece vários benefícios para a segurança da organização e das pessoas, como:</a:t>
            </a:r>
          </a:p>
          <a:p>
            <a:pPr lvl="1"/>
            <a:r>
              <a:rPr lang="pt-BR" dirty="0"/>
              <a:t>Proteção contra vazamentos: Impede o acesso não autorizado a dados sensíveis, evitando perdas financeiras, danos à reputação e questões legais.</a:t>
            </a:r>
          </a:p>
          <a:p>
            <a:pPr lvl="1"/>
            <a:r>
              <a:rPr lang="pt-BR" dirty="0"/>
              <a:t>Prevenção de ataques: Define medidas de segurança para cada nível de confidencialidade, dificultando o acesso indevido.</a:t>
            </a:r>
          </a:p>
          <a:p>
            <a:pPr lvl="1"/>
            <a:r>
              <a:rPr lang="pt-BR" dirty="0" err="1"/>
              <a:t>Compliance</a:t>
            </a:r>
            <a:r>
              <a:rPr lang="pt-BR" dirty="0"/>
              <a:t> legal: Atende a regulamentações, como a LGPD, garantindo a proteção e o sigilo das informações.</a:t>
            </a:r>
          </a:p>
          <a:p>
            <a:pPr lvl="1"/>
            <a:r>
              <a:rPr lang="pt-BR" dirty="0"/>
              <a:t>Gerenciamento de riscos: Identifica e gerencia riscos, implementando ações preventivas para minimizar danos.</a:t>
            </a:r>
          </a:p>
        </p:txBody>
      </p:sp>
    </p:spTree>
    <p:extLst>
      <p:ext uri="{BB962C8B-B14F-4D97-AF65-F5344CB8AC3E}">
        <p14:creationId xmlns:p14="http://schemas.microsoft.com/office/powerpoint/2010/main" val="2066245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Pilar da Confiabilidade</a:t>
            </a:r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273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dirty="0"/>
              <a:t>A confidencialidade garante que apenas pessoas autorizadas tenham acesso às informações. Isso impede que dados sensíveis sejam divulgados indevidamente, seja por ataques cibernéticos, vazamentos internos ou falhas humanas.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Criptografia para proteger informações sigilosas.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Autenticação </a:t>
            </a:r>
            <a:r>
              <a:rPr lang="pt-BR" dirty="0" err="1"/>
              <a:t>multifator</a:t>
            </a:r>
            <a:r>
              <a:rPr lang="pt-BR" dirty="0"/>
              <a:t> (MFA)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Controle de permissões em bancos de dados e sistemas corporativos.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Pilar da Confiabilidade</a:t>
            </a:r>
            <a:endParaRPr/>
          </a:p>
        </p:txBody>
      </p:sp>
      <p:grpSp>
        <p:nvGrpSpPr>
          <p:cNvPr id="114" name="Google Shape;114;p18"/>
          <p:cNvGrpSpPr/>
          <p:nvPr/>
        </p:nvGrpSpPr>
        <p:grpSpPr>
          <a:xfrm>
            <a:off x="2220734" y="3275775"/>
            <a:ext cx="1455686" cy="1852850"/>
            <a:chOff x="2858175" y="2251100"/>
            <a:chExt cx="1455686" cy="1852850"/>
          </a:xfrm>
        </p:grpSpPr>
        <p:pic>
          <p:nvPicPr>
            <p:cNvPr id="115" name="Google Shape;115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58175" y="2251100"/>
              <a:ext cx="675214" cy="67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638647" y="2645691"/>
              <a:ext cx="675214" cy="67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58175" y="2983298"/>
              <a:ext cx="675214" cy="67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638647" y="3428736"/>
              <a:ext cx="675214" cy="67521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9" name="Google Shape;11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8577" y="222554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248" y="3842200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5906" y="3842200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88577" y="5458852"/>
            <a:ext cx="720000" cy="72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8"/>
          <p:cNvCxnSpPr>
            <a:endCxn id="120" idx="3"/>
          </p:cNvCxnSpPr>
          <p:nvPr/>
        </p:nvCxnSpPr>
        <p:spPr>
          <a:xfrm rot="10800000">
            <a:off x="1731248" y="4202200"/>
            <a:ext cx="393000" cy="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4" name="Google Shape;124;p18"/>
          <p:cNvCxnSpPr>
            <a:endCxn id="119" idx="2"/>
          </p:cNvCxnSpPr>
          <p:nvPr/>
        </p:nvCxnSpPr>
        <p:spPr>
          <a:xfrm rot="10800000">
            <a:off x="2948577" y="2945548"/>
            <a:ext cx="0" cy="23190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5" name="Google Shape;125;p18"/>
          <p:cNvCxnSpPr>
            <a:endCxn id="121" idx="1"/>
          </p:cNvCxnSpPr>
          <p:nvPr/>
        </p:nvCxnSpPr>
        <p:spPr>
          <a:xfrm>
            <a:off x="3772906" y="4202200"/>
            <a:ext cx="393000" cy="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6" name="Google Shape;126;p18"/>
          <p:cNvCxnSpPr>
            <a:endCxn id="122" idx="0"/>
          </p:cNvCxnSpPr>
          <p:nvPr/>
        </p:nvCxnSpPr>
        <p:spPr>
          <a:xfrm>
            <a:off x="2948577" y="5226952"/>
            <a:ext cx="0" cy="23190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7" name="Google Shape;127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05480" y="3486427"/>
            <a:ext cx="1440000" cy="14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18"/>
          <p:cNvCxnSpPr>
            <a:stCxn id="129" idx="3"/>
            <a:endCxn id="127" idx="1"/>
          </p:cNvCxnSpPr>
          <p:nvPr/>
        </p:nvCxnSpPr>
        <p:spPr>
          <a:xfrm>
            <a:off x="7306096" y="4206427"/>
            <a:ext cx="1899300" cy="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29" name="Google Shape;12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96305" y="3477663"/>
            <a:ext cx="1009791" cy="145752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6568604" y="4973640"/>
            <a:ext cx="4651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9726547" y="4973640"/>
            <a:ext cx="3978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7750892" y="4314911"/>
            <a:ext cx="10097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Criptografia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65480" y="2009516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5787" y="3770989"/>
            <a:ext cx="360000" cy="36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18"/>
          <p:cNvCxnSpPr>
            <a:endCxn id="134" idx="0"/>
          </p:cNvCxnSpPr>
          <p:nvPr/>
        </p:nvCxnSpPr>
        <p:spPr>
          <a:xfrm flipH="1">
            <a:off x="8255787" y="2807989"/>
            <a:ext cx="1669800" cy="963000"/>
          </a:xfrm>
          <a:prstGeom prst="straightConnector1">
            <a:avLst/>
          </a:prstGeom>
          <a:noFill/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6" name="Google Shape;136;p18"/>
          <p:cNvSpPr txBox="1"/>
          <p:nvPr/>
        </p:nvSpPr>
        <p:spPr>
          <a:xfrm>
            <a:off x="10345167" y="2046351"/>
            <a:ext cx="79558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7A3F8BC6D2E1A4FAS1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Pilar da Integridade</a:t>
            </a:r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A integridade assegura que as informações não sejam alteradas ou corrompidas sem autorização. Isso garante que os dados permaneçam precisos e confiáveis, evitando modificações acidentais ou maliciosas.</a:t>
            </a:r>
            <a:endParaRPr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/>
              <a:t>Uso de assinaturas digitais para validar a autenticidade de documentos.</a:t>
            </a:r>
            <a:endParaRPr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/>
              <a:t>Aplicação de checksums e hashes (MD5, SHA-256) para detectar mudanças nos arquivos.</a:t>
            </a:r>
            <a:endParaRPr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/>
              <a:t>Controle de versões em sistemas de gerenciamento de dados.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Pilar da Integridade</a:t>
            </a:r>
            <a:endParaRPr/>
          </a:p>
        </p:txBody>
      </p:sp>
      <p:grpSp>
        <p:nvGrpSpPr>
          <p:cNvPr id="148" name="Google Shape;148;p20"/>
          <p:cNvGrpSpPr/>
          <p:nvPr/>
        </p:nvGrpSpPr>
        <p:grpSpPr>
          <a:xfrm>
            <a:off x="1202044" y="2488278"/>
            <a:ext cx="8422409" cy="1440000"/>
            <a:chOff x="1884795" y="2406998"/>
            <a:chExt cx="8422409" cy="1440000"/>
          </a:xfrm>
        </p:grpSpPr>
        <p:cxnSp>
          <p:nvCxnSpPr>
            <p:cNvPr id="149" name="Google Shape;149;p20"/>
            <p:cNvCxnSpPr>
              <a:stCxn id="150" idx="3"/>
              <a:endCxn id="151" idx="1"/>
            </p:cNvCxnSpPr>
            <p:nvPr/>
          </p:nvCxnSpPr>
          <p:spPr>
            <a:xfrm>
              <a:off x="3324795" y="3126998"/>
              <a:ext cx="5542500" cy="0"/>
            </a:xfrm>
            <a:prstGeom prst="straightConnector1">
              <a:avLst/>
            </a:prstGeom>
            <a:noFill/>
            <a:ln w="28575" cap="flat" cmpd="sng">
              <a:solidFill>
                <a:srgbClr val="0C0C0C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152" name="Google Shape;152;p20"/>
            <p:cNvSpPr txBox="1"/>
            <p:nvPr/>
          </p:nvSpPr>
          <p:spPr>
            <a:xfrm>
              <a:off x="5591104" y="3241891"/>
              <a:ext cx="100979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pt-BR" sz="12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Criptografia</a:t>
              </a:r>
              <a:endPara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50" name="Google Shape;150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84795" y="2406998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67204" y="2406998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20"/>
          <p:cNvSpPr txBox="1"/>
          <p:nvPr/>
        </p:nvSpPr>
        <p:spPr>
          <a:xfrm>
            <a:off x="1693444" y="2150932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Olá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7924737" y="2150932"/>
            <a:ext cx="19594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Preciso de R$ 1.000.000</a:t>
            </a:r>
            <a:endParaRPr/>
          </a:p>
        </p:txBody>
      </p:sp>
      <p:cxnSp>
        <p:nvCxnSpPr>
          <p:cNvPr id="155" name="Google Shape;155;p20"/>
          <p:cNvCxnSpPr>
            <a:stCxn id="156" idx="3"/>
            <a:endCxn id="157" idx="1"/>
          </p:cNvCxnSpPr>
          <p:nvPr/>
        </p:nvCxnSpPr>
        <p:spPr>
          <a:xfrm>
            <a:off x="2642044" y="5590695"/>
            <a:ext cx="5542500" cy="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grpSp>
        <p:nvGrpSpPr>
          <p:cNvPr id="158" name="Google Shape;158;p20"/>
          <p:cNvGrpSpPr/>
          <p:nvPr/>
        </p:nvGrpSpPr>
        <p:grpSpPr>
          <a:xfrm>
            <a:off x="1202044" y="4870695"/>
            <a:ext cx="8422409" cy="1440000"/>
            <a:chOff x="1811674" y="2183064"/>
            <a:chExt cx="8422409" cy="1440000"/>
          </a:xfrm>
        </p:grpSpPr>
        <p:sp>
          <p:nvSpPr>
            <p:cNvPr id="159" name="Google Shape;159;p20"/>
            <p:cNvSpPr txBox="1"/>
            <p:nvPr/>
          </p:nvSpPr>
          <p:spPr>
            <a:xfrm>
              <a:off x="5517983" y="3017957"/>
              <a:ext cx="100979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pt-BR" sz="12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Criptografia</a:t>
              </a:r>
              <a:endPara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56" name="Google Shape;156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11674" y="2183064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794083" y="2183064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0" name="Google Shape;16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3248" y="2208904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1114945" y="4533348"/>
            <a:ext cx="16141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Código Hash – 04A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8097354" y="4533348"/>
            <a:ext cx="16141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Código Hash – 04A</a:t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2224" y="5164015"/>
            <a:ext cx="539639" cy="539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34633" y="5164014"/>
            <a:ext cx="539639" cy="539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descr="Fecha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81476" y="275107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Marca de seleçã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81476" y="513349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 </a:t>
            </a:r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562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pt-BR"/>
              <a:t>Gere o código hash do arquivo usando o comando abaixo:</a:t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2656115" y="2711703"/>
            <a:ext cx="6879771" cy="417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Get-FileHash</a:t>
            </a:r>
            <a:r>
              <a:rPr lang="pt-BR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C:\Users\Professor\Downloads\Relatorio.docx </a:t>
            </a:r>
            <a:r>
              <a:rPr lang="pt-BR" sz="1600" b="0" i="0" u="none" strike="noStrike" cap="none">
                <a:solidFill>
                  <a:srgbClr val="3A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-Algorithm</a:t>
            </a:r>
            <a:r>
              <a:rPr lang="pt-BR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SHA256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592346" y="3433530"/>
            <a:ext cx="11007306" cy="562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2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Envie o arquivo utilizando protocolos como SCP, FTP ou SFTP para o destinatário.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592346" y="4300558"/>
            <a:ext cx="11007306" cy="100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3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Após o recebimento, gere o hash do arquivo e compare com o original. Se os hashes forem iguais, o arquivo não foi alterado.</a:t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2656115" y="5613697"/>
            <a:ext cx="6879771" cy="417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Get-FileHash</a:t>
            </a:r>
            <a:r>
              <a:rPr lang="pt-BR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C:\Users\Professor\Downloads\Relatorio.docx </a:t>
            </a:r>
            <a:r>
              <a:rPr lang="pt-BR" sz="1600" b="0" i="0" u="none" strike="noStrike" cap="none">
                <a:solidFill>
                  <a:srgbClr val="3A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-Algorithm</a:t>
            </a:r>
            <a:r>
              <a:rPr lang="pt-BR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SHA256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DD2FF-C942-4686-948E-9CD6E0D2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Pilar da Disponibilidade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D64044-C16D-448E-AE5E-1D2C028B7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4279034"/>
          </a:xfrm>
        </p:spPr>
        <p:txBody>
          <a:bodyPr/>
          <a:lstStyle/>
          <a:p>
            <a:r>
              <a:rPr lang="pt-BR" dirty="0"/>
              <a:t>A disponibilidade garante que os sistemas e informações estejam acessíveis quando necessário. Para isso, é essencial ter estratégias para evitar falhas, ataques </a:t>
            </a:r>
            <a:r>
              <a:rPr lang="pt-BR" dirty="0" err="1"/>
              <a:t>DDoS</a:t>
            </a:r>
            <a:r>
              <a:rPr lang="pt-BR" dirty="0"/>
              <a:t> e problemas de infraestrutura.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Backups regulares para recuperação em caso de falha.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Uso de servidores redundantes e balanceamento de carga.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Proteção contra ataques de negação de serviço (</a:t>
            </a:r>
            <a:r>
              <a:rPr lang="pt-BR" dirty="0" err="1"/>
              <a:t>DDoS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60877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Pilar da Disponibilidade</a:t>
            </a:r>
            <a:endParaRPr/>
          </a:p>
        </p:txBody>
      </p:sp>
      <p:pic>
        <p:nvPicPr>
          <p:cNvPr id="182" name="Google Shape;18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0066" y="3429000"/>
            <a:ext cx="144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4974" y="23490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974" y="36090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4974" y="4869000"/>
            <a:ext cx="1080000" cy="108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22"/>
          <p:cNvCxnSpPr>
            <a:stCxn id="183" idx="3"/>
            <a:endCxn id="182" idx="1"/>
          </p:cNvCxnSpPr>
          <p:nvPr/>
        </p:nvCxnSpPr>
        <p:spPr>
          <a:xfrm>
            <a:off x="3684974" y="2889000"/>
            <a:ext cx="5195100" cy="126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22"/>
          <p:cNvCxnSpPr>
            <a:stCxn id="184" idx="3"/>
            <a:endCxn id="182" idx="1"/>
          </p:cNvCxnSpPr>
          <p:nvPr/>
        </p:nvCxnSpPr>
        <p:spPr>
          <a:xfrm>
            <a:off x="2604974" y="4149000"/>
            <a:ext cx="6275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22"/>
          <p:cNvCxnSpPr>
            <a:stCxn id="185" idx="3"/>
            <a:endCxn id="182" idx="1"/>
          </p:cNvCxnSpPr>
          <p:nvPr/>
        </p:nvCxnSpPr>
        <p:spPr>
          <a:xfrm rot="10800000" flipH="1">
            <a:off x="3684974" y="4149000"/>
            <a:ext cx="5195100" cy="126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9" name="Google Shape;189;p22"/>
          <p:cNvSpPr txBox="1"/>
          <p:nvPr/>
        </p:nvSpPr>
        <p:spPr>
          <a:xfrm>
            <a:off x="2809694" y="2041223"/>
            <a:ext cx="6705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*1000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1729694" y="3311983"/>
            <a:ext cx="6705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*1000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2809694" y="4607104"/>
            <a:ext cx="6705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*1000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9051843" y="4988561"/>
            <a:ext cx="10964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Servidor</a:t>
            </a:r>
            <a:endParaRPr/>
          </a:p>
        </p:txBody>
      </p:sp>
      <p:pic>
        <p:nvPicPr>
          <p:cNvPr id="193" name="Google Shape;193;p22" descr="Fecha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35492" y="3263767"/>
            <a:ext cx="1770463" cy="177046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8545737" y="3024134"/>
            <a:ext cx="214997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2.000 Acessos Simultâneos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Exemplo Pilar da Disponibilidade</a:t>
            </a:r>
            <a:endParaRPr dirty="0"/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7384" y="3829644"/>
            <a:ext cx="144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7384" y="3108589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27384" y="3108589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47384" y="3108589"/>
            <a:ext cx="540000" cy="54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23"/>
          <p:cNvGrpSpPr/>
          <p:nvPr/>
        </p:nvGrpSpPr>
        <p:grpSpPr>
          <a:xfrm>
            <a:off x="8439616" y="2995659"/>
            <a:ext cx="990000" cy="1080000"/>
            <a:chOff x="1528546" y="3602025"/>
            <a:chExt cx="1980000" cy="2161055"/>
          </a:xfrm>
        </p:grpSpPr>
        <p:pic>
          <p:nvPicPr>
            <p:cNvPr id="205" name="Google Shape;205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98546" y="432308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4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6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9" name="Google Shape;209;p23"/>
          <p:cNvGrpSpPr/>
          <p:nvPr/>
        </p:nvGrpSpPr>
        <p:grpSpPr>
          <a:xfrm>
            <a:off x="8439616" y="4660900"/>
            <a:ext cx="990000" cy="1080000"/>
            <a:chOff x="1528546" y="3602025"/>
            <a:chExt cx="1980000" cy="2161055"/>
          </a:xfrm>
        </p:grpSpPr>
        <p:pic>
          <p:nvPicPr>
            <p:cNvPr id="210" name="Google Shape;210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98546" y="432308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4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6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p23"/>
          <p:cNvGrpSpPr/>
          <p:nvPr/>
        </p:nvGrpSpPr>
        <p:grpSpPr>
          <a:xfrm>
            <a:off x="9664166" y="3648589"/>
            <a:ext cx="990000" cy="1080000"/>
            <a:chOff x="1528546" y="3602025"/>
            <a:chExt cx="1980000" cy="2161055"/>
          </a:xfrm>
        </p:grpSpPr>
        <p:pic>
          <p:nvPicPr>
            <p:cNvPr id="215" name="Google Shape;215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98546" y="432308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4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6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9" name="Google Shape;219;p23"/>
          <p:cNvCxnSpPr>
            <a:stCxn id="205" idx="2"/>
            <a:endCxn id="212" idx="0"/>
          </p:cNvCxnSpPr>
          <p:nvPr/>
        </p:nvCxnSpPr>
        <p:spPr>
          <a:xfrm>
            <a:off x="8934616" y="4075659"/>
            <a:ext cx="0" cy="585300"/>
          </a:xfrm>
          <a:prstGeom prst="straightConnector1">
            <a:avLst/>
          </a:prstGeom>
          <a:noFill/>
          <a:ln w="19050" cap="flat" cmpd="sng">
            <a:solidFill>
              <a:srgbClr val="0C0C0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0" name="Google Shape;220;p23"/>
          <p:cNvCxnSpPr>
            <a:stCxn id="212" idx="0"/>
            <a:endCxn id="215" idx="1"/>
          </p:cNvCxnSpPr>
          <p:nvPr/>
        </p:nvCxnSpPr>
        <p:spPr>
          <a:xfrm flipV="1">
            <a:off x="8934616" y="4368765"/>
            <a:ext cx="864550" cy="292135"/>
          </a:xfrm>
          <a:prstGeom prst="straightConnector1">
            <a:avLst/>
          </a:prstGeom>
          <a:noFill/>
          <a:ln w="19050" cap="flat" cmpd="sng">
            <a:solidFill>
              <a:srgbClr val="0C0C0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1" name="Google Shape;221;p23"/>
          <p:cNvCxnSpPr>
            <a:stCxn id="205" idx="2"/>
            <a:endCxn id="215" idx="1"/>
          </p:cNvCxnSpPr>
          <p:nvPr/>
        </p:nvCxnSpPr>
        <p:spPr>
          <a:xfrm>
            <a:off x="8934616" y="4075659"/>
            <a:ext cx="864550" cy="293106"/>
          </a:xfrm>
          <a:prstGeom prst="straightConnector1">
            <a:avLst/>
          </a:prstGeom>
          <a:noFill/>
          <a:ln w="19050" cap="flat" cmpd="sng">
            <a:solidFill>
              <a:srgbClr val="0C0C0C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222" name="Google Shape;222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17384" y="301560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7384" y="301560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57384" y="301560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94616" y="292858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4615" y="4615834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39166" y="3535834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Estudo de caso  </a:t>
            </a:r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312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b="1" dirty="0"/>
              <a:t>1. Ataque de </a:t>
            </a:r>
            <a:r>
              <a:rPr lang="pt-BR" b="1" dirty="0" err="1"/>
              <a:t>DDoS</a:t>
            </a:r>
            <a:r>
              <a:rPr lang="pt-BR" b="1" dirty="0"/>
              <a:t> ao Serviço de DNS </a:t>
            </a:r>
            <a:r>
              <a:rPr lang="pt-BR" b="1" dirty="0" err="1"/>
              <a:t>Dyn</a:t>
            </a:r>
            <a:r>
              <a:rPr lang="pt-BR" b="1" dirty="0"/>
              <a:t> (2016)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dirty="0"/>
              <a:t>Em 2016, o serviço de DNS </a:t>
            </a:r>
            <a:r>
              <a:rPr lang="pt-BR" dirty="0" err="1"/>
              <a:t>Dyn</a:t>
            </a:r>
            <a:r>
              <a:rPr lang="pt-BR" dirty="0"/>
              <a:t> foi alvo de um ataque de negação de serviço distribuído (</a:t>
            </a:r>
            <a:r>
              <a:rPr lang="pt-BR" dirty="0" err="1"/>
              <a:t>DDoS</a:t>
            </a:r>
            <a:r>
              <a:rPr lang="pt-BR" dirty="0"/>
              <a:t>), onde milhões de dispositivos infectados com malware (</a:t>
            </a:r>
            <a:r>
              <a:rPr lang="pt-BR" dirty="0" err="1"/>
              <a:t>bots</a:t>
            </a:r>
            <a:r>
              <a:rPr lang="pt-BR" dirty="0"/>
              <a:t>) foram usados para enviar uma quantidade massiva de tráfego para os servidores da empresa. Esse ataque afetou vários sites populares, como Twitter, </a:t>
            </a:r>
            <a:r>
              <a:rPr lang="pt-BR" dirty="0" err="1"/>
              <a:t>Reddit</a:t>
            </a:r>
            <a:r>
              <a:rPr lang="pt-BR" dirty="0"/>
              <a:t>, Spotify e Netflix. O serviço de DNS ficou sobrecarregado, tornando os sites </a:t>
            </a:r>
            <a:r>
              <a:rPr lang="pt-BR" b="1" dirty="0"/>
              <a:t>inacessíveis</a:t>
            </a:r>
            <a:r>
              <a:rPr lang="pt-BR" dirty="0"/>
              <a:t> para usuários em várias regiões do mundo.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Estudo de caso  </a:t>
            </a:r>
            <a:endParaRPr/>
          </a:p>
        </p:txBody>
      </p:sp>
      <p:sp>
        <p:nvSpPr>
          <p:cNvPr id="239" name="Google Shape;239;p25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312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b="1" dirty="0"/>
              <a:t>2. Alteração de Transações Bancárias em 2014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dirty="0"/>
              <a:t>Em 2014, uma instituição financeira global foi alvo de um ataque cibernético. Durante o ataque, os hackers conseguiram acessar o sistema e </a:t>
            </a:r>
            <a:r>
              <a:rPr lang="pt-BR" b="1" dirty="0"/>
              <a:t>alterar transações bancárias</a:t>
            </a:r>
            <a:r>
              <a:rPr lang="pt-BR" dirty="0"/>
              <a:t>. Eles modificaram as informações de transações, fazendo com que os valores corretos fossem alterados ou os depósitos fossem feitos de forma errada, prejudicando os clientes do banco. Quando a fraude foi detectada, os clientes estavam em uma situação de </a:t>
            </a:r>
            <a:r>
              <a:rPr lang="pt-BR" b="1" dirty="0"/>
              <a:t>desconfiança</a:t>
            </a:r>
            <a:r>
              <a:rPr lang="pt-BR" dirty="0"/>
              <a:t>, pois suas transações haviam sido alteradas sem o seu conhecimento.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Estudo de caso </a:t>
            </a:r>
            <a:endParaRPr/>
          </a:p>
        </p:txBody>
      </p:sp>
      <p:sp>
        <p:nvSpPr>
          <p:cNvPr id="245" name="Google Shape;245;p26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291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b="1"/>
              <a:t>3. Fraude de Phishing em 2017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/>
              <a:t>Em 2017, ocorreu um grande ataque de phishing em que criminosos enviaram e-mails falsos se passando por uma instituição bancária. Os e-mails continham um link para um site falso que parecia idêntico ao site legítimo do banco. Muitos clientes, confiando na aparência do e-mail, clicaram no link e forneceram suas credenciais de acesso. Os atacantes usaram essas informações para roubar dinheiro das contas bancárias dos usuários.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Pilar da Autenticidade</a:t>
            </a:r>
            <a:endParaRPr dirty="0"/>
          </a:p>
        </p:txBody>
      </p:sp>
      <p:sp>
        <p:nvSpPr>
          <p:cNvPr id="251" name="Google Shape;251;p27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A autenticidade garante que as informações e comunicações sejam legítimas e venham de fontes confiáveis. Isso evita fraudes e ataques baseados em falsificação de identidade.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Certificados digitais (SSL/TLS) para sites e comunicações seguras.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Protocolos de autenticação fortes, como </a:t>
            </a:r>
            <a:r>
              <a:rPr lang="pt-BR" dirty="0" err="1"/>
              <a:t>Kerberos</a:t>
            </a:r>
            <a:r>
              <a:rPr lang="pt-BR" dirty="0"/>
              <a:t> e </a:t>
            </a:r>
            <a:r>
              <a:rPr lang="pt-BR" dirty="0" err="1"/>
              <a:t>OAuth</a:t>
            </a:r>
            <a:r>
              <a:rPr lang="pt-BR" dirty="0"/>
              <a:t>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E-mails assinados digitalmente para evitar </a:t>
            </a:r>
            <a:r>
              <a:rPr lang="pt-BR" dirty="0" err="1"/>
              <a:t>phishing</a:t>
            </a:r>
            <a:r>
              <a:rPr lang="pt-BR" dirty="0"/>
              <a:t>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Autenticação </a:t>
            </a:r>
            <a:r>
              <a:rPr lang="pt-BR" dirty="0" err="1"/>
              <a:t>Multifator</a:t>
            </a:r>
            <a:r>
              <a:rPr lang="pt-BR" dirty="0"/>
              <a:t> (MFA)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DA5E1-3601-4056-9969-F24F803E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Pilar da Autenticidade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0C5693C-697A-4ED2-A4AD-395041A66205}"/>
              </a:ext>
            </a:extLst>
          </p:cNvPr>
          <p:cNvGrpSpPr/>
          <p:nvPr/>
        </p:nvGrpSpPr>
        <p:grpSpPr>
          <a:xfrm>
            <a:off x="8711476" y="3633334"/>
            <a:ext cx="1554437" cy="1236931"/>
            <a:chOff x="2060014" y="3429000"/>
            <a:chExt cx="1554437" cy="1236931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D9C2E71-6F72-4573-99C9-7C9C201AD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0014" y="3429000"/>
              <a:ext cx="720000" cy="72000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8DC2B7B-7B94-4857-ADF5-5CD2C1042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94451" y="3945931"/>
              <a:ext cx="720000" cy="720000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3B0AC5BF-5B67-44BA-99CF-D72749738996}"/>
              </a:ext>
            </a:extLst>
          </p:cNvPr>
          <p:cNvSpPr txBox="1"/>
          <p:nvPr/>
        </p:nvSpPr>
        <p:spPr>
          <a:xfrm>
            <a:off x="8671004" y="5078419"/>
            <a:ext cx="16353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Acesso ao E-mail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1E95714-77CB-4215-9B54-E9CD19D93FE6}"/>
              </a:ext>
            </a:extLst>
          </p:cNvPr>
          <p:cNvSpPr txBox="1"/>
          <p:nvPr/>
        </p:nvSpPr>
        <p:spPr>
          <a:xfrm>
            <a:off x="8984390" y="3086627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3° - Etapa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CE4C663-455E-41E1-BB58-6C6309F03445}"/>
              </a:ext>
            </a:extLst>
          </p:cNvPr>
          <p:cNvSpPr txBox="1"/>
          <p:nvPr/>
        </p:nvSpPr>
        <p:spPr>
          <a:xfrm>
            <a:off x="5042807" y="4955309"/>
            <a:ext cx="1907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Verificação do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Código de segurança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BC1EF53-2FF7-4B2E-9A5B-0E0C732F2506}"/>
              </a:ext>
            </a:extLst>
          </p:cNvPr>
          <p:cNvSpPr txBox="1"/>
          <p:nvPr/>
        </p:nvSpPr>
        <p:spPr>
          <a:xfrm>
            <a:off x="5492449" y="2963517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2° - Etapa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60946B7A-6DA4-48FD-A01A-84A5F3383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553" y="3509490"/>
            <a:ext cx="1238400" cy="1238400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F55AAE0F-347F-429A-9818-E845E5CBDC34}"/>
              </a:ext>
            </a:extLst>
          </p:cNvPr>
          <p:cNvSpPr txBox="1"/>
          <p:nvPr/>
        </p:nvSpPr>
        <p:spPr>
          <a:xfrm>
            <a:off x="2360103" y="4955309"/>
            <a:ext cx="6864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Senha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062C9C3-3966-4DB9-AC37-D2EBCA476C7F}"/>
              </a:ext>
            </a:extLst>
          </p:cNvPr>
          <p:cNvSpPr txBox="1"/>
          <p:nvPr/>
        </p:nvSpPr>
        <p:spPr>
          <a:xfrm>
            <a:off x="2199001" y="2963517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1° - Etapa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CFD6B071-2C2E-4812-81F0-2C20D532E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4105" y="3509490"/>
            <a:ext cx="1238400" cy="12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6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5" grpId="0"/>
      <p:bldP spid="16" grpId="0"/>
      <p:bldP spid="23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E916B-2C17-426A-BD5D-5FD93A70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Pilar da Legalidade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08221D-9D63-4C70-B0FE-9E61AB214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Legalidade garante que o uso, armazenamento e compartilhamento de informações sigam as leis e regulamentações vigentes. Isso evita penalidades, protege os direitos dos usuários e assegura a conformidade jurídica das organizações.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LGPD e GDPR para garantir a privacidade e proteção de dados pessoais.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Políticas de segurança e privacidade bem definidas para regular o uso de informações.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Auditorias e </a:t>
            </a:r>
            <a:r>
              <a:rPr lang="pt-BR" dirty="0" err="1"/>
              <a:t>compliance</a:t>
            </a:r>
            <a:r>
              <a:rPr lang="pt-BR" dirty="0"/>
              <a:t> para garantir que a empresa esteja em conformidade com as normas.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Consentimento explícito dos usuários antes da coleta e do processamento de seus dados.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7300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E535D-4A6C-4929-AFBC-EE97DD4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do Pilar da Legalidade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2E621B-63B1-49A3-BB83-D8A20524D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290" y="4292453"/>
            <a:ext cx="2659033" cy="53577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7C26C2A-F7B6-43C8-8C70-36AEB18C4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317" y="3117102"/>
            <a:ext cx="3310400" cy="2886478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F7306354-7ED3-4705-B995-2B51E46C962E}"/>
              </a:ext>
            </a:extLst>
          </p:cNvPr>
          <p:cNvGrpSpPr/>
          <p:nvPr/>
        </p:nvGrpSpPr>
        <p:grpSpPr>
          <a:xfrm>
            <a:off x="8798710" y="3509262"/>
            <a:ext cx="2160000" cy="2102159"/>
            <a:chOff x="8850314" y="3480341"/>
            <a:chExt cx="2160000" cy="2102159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C630009D-ECDC-48D7-A8B5-D7EE84D22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30314" y="4502500"/>
              <a:ext cx="1080000" cy="1080000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3136D8BF-BFE4-4E89-B93F-A2B0ABD17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50314" y="3480341"/>
              <a:ext cx="1080000" cy="1080000"/>
            </a:xfrm>
            <a:prstGeom prst="rect">
              <a:avLst/>
            </a:prstGeom>
          </p:spPr>
        </p:pic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9C4AC2-EF08-44BE-AB41-F6D968A3FEBC}"/>
              </a:ext>
            </a:extLst>
          </p:cNvPr>
          <p:cNvSpPr txBox="1"/>
          <p:nvPr/>
        </p:nvSpPr>
        <p:spPr>
          <a:xfrm>
            <a:off x="1509341" y="2643835"/>
            <a:ext cx="2382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Banner de Cookies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6A0C8D8-A95E-45A7-81B4-214C16993B14}"/>
              </a:ext>
            </a:extLst>
          </p:cNvPr>
          <p:cNvSpPr txBox="1"/>
          <p:nvPr/>
        </p:nvSpPr>
        <p:spPr>
          <a:xfrm>
            <a:off x="5154026" y="2536113"/>
            <a:ext cx="2382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Contrato de Termos de Serviços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2FFB2DE-3189-472A-AECD-0376000FD569}"/>
              </a:ext>
            </a:extLst>
          </p:cNvPr>
          <p:cNvSpPr txBox="1"/>
          <p:nvPr/>
        </p:nvSpPr>
        <p:spPr>
          <a:xfrm>
            <a:off x="8798710" y="2643835"/>
            <a:ext cx="2382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Segurança </a:t>
            </a:r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em Saúde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846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42848-F76E-41D6-BE72-F3A725CCD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Questionário - Pilares da 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35937940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1585</Words>
  <Application>Microsoft Office PowerPoint</Application>
  <PresentationFormat>Widescreen</PresentationFormat>
  <Paragraphs>143</Paragraphs>
  <Slides>31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Tema do Office</vt:lpstr>
      <vt:lpstr>Fundamentos da Segurança da Informação</vt:lpstr>
      <vt:lpstr>Apresentação sobre ISSO 27001 E ISSO 27002</vt:lpstr>
      <vt:lpstr>Objetivos da Aula</vt:lpstr>
      <vt:lpstr>Criação e Utilização de dados</vt:lpstr>
      <vt:lpstr>Dispositivos de armazenamento</vt:lpstr>
      <vt:lpstr>Pesquisas de informações </vt:lpstr>
      <vt:lpstr>Tamanho de um petabyte de dados</vt:lpstr>
      <vt:lpstr>Tamanho de um petabyte de dados</vt:lpstr>
      <vt:lpstr>Clive Humby</vt:lpstr>
      <vt:lpstr>Compartilhamento de Informação</vt:lpstr>
      <vt:lpstr>Classificação da Informação: Proteção e Confidencialidade</vt:lpstr>
      <vt:lpstr>Níveis de classificação da informação</vt:lpstr>
      <vt:lpstr>Níveis de classificação da informação</vt:lpstr>
      <vt:lpstr>Fundamentos da segurança da informação</vt:lpstr>
      <vt:lpstr>Importância da classificação </vt:lpstr>
      <vt:lpstr>Pilar da Confiabilidade</vt:lpstr>
      <vt:lpstr>Exemplo Pilar da Confiabilidade</vt:lpstr>
      <vt:lpstr>Pilar da Integridade</vt:lpstr>
      <vt:lpstr>Exemplo Pilar da Integridade</vt:lpstr>
      <vt:lpstr>Exemplo Prático </vt:lpstr>
      <vt:lpstr>Pilar da Disponibilidade</vt:lpstr>
      <vt:lpstr>Exemplo Pilar da Disponibilidade</vt:lpstr>
      <vt:lpstr>Exemplo Pilar da Disponibilidade</vt:lpstr>
      <vt:lpstr>Estudo de caso  </vt:lpstr>
      <vt:lpstr>Estudo de caso  </vt:lpstr>
      <vt:lpstr>Estudo de caso </vt:lpstr>
      <vt:lpstr>Pilar da Autenticidade</vt:lpstr>
      <vt:lpstr>Exemplo Pilar da Autenticidade</vt:lpstr>
      <vt:lpstr>Pilar da Legalidade</vt:lpstr>
      <vt:lpstr>Exemplos do Pilar da Legalidade</vt:lpstr>
      <vt:lpstr>Questionário - Pilares da Segurança da Informação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Pilares da Segurança da Informação</dc:title>
  <cp:lastModifiedBy>Pedro Miho</cp:lastModifiedBy>
  <cp:revision>28</cp:revision>
  <dcterms:modified xsi:type="dcterms:W3CDTF">2026-02-22T20:13:13Z</dcterms:modified>
</cp:coreProperties>
</file>