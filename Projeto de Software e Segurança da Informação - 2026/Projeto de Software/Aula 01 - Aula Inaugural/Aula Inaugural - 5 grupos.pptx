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8"/>
  </p:notesMasterIdLst>
  <p:handoutMasterIdLst>
    <p:handoutMasterId r:id="rId69"/>
  </p:handoutMasterIdLst>
  <p:sldIdLst>
    <p:sldId id="256" r:id="rId2"/>
    <p:sldId id="261" r:id="rId3"/>
    <p:sldId id="263" r:id="rId4"/>
    <p:sldId id="326" r:id="rId5"/>
    <p:sldId id="327" r:id="rId6"/>
    <p:sldId id="264" r:id="rId7"/>
    <p:sldId id="265" r:id="rId8"/>
    <p:sldId id="266" r:id="rId9"/>
    <p:sldId id="283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5" r:id="rId24"/>
    <p:sldId id="286" r:id="rId25"/>
    <p:sldId id="278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267" r:id="rId53"/>
    <p:sldId id="313" r:id="rId54"/>
    <p:sldId id="314" r:id="rId55"/>
    <p:sldId id="27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7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50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edromiho.github.io/UMC/Projeto%20de%20Software%20e%20Seguran%C3%A7a%20da%20Informa%C3%A7%C3%A3o%20-%202026/Projeto%20de%20Software/Aula%2001%20-%20Aula%20Inaugural/index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sz="4000" dirty="0"/>
              <a:t>PROJETOS DE SOFTWARE E SEGURANÇA DA INFORMAÇÃO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Formação Acadêmica e Experiência Profissional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Formação Acadêmica </a:t>
            </a:r>
          </a:p>
          <a:p>
            <a:pPr marL="1028700" lvl="1" indent="-342900"/>
            <a:r>
              <a:rPr lang="pt-BR" dirty="0"/>
              <a:t>Graduado em Tecnologia em Automação Industrial </a:t>
            </a:r>
          </a:p>
          <a:p>
            <a:pPr marL="1028700" lvl="1" indent="-342900"/>
            <a:r>
              <a:rPr lang="pt-BR" dirty="0"/>
              <a:t>Pós-graduado em Cloud </a:t>
            </a:r>
            <a:r>
              <a:rPr lang="pt-BR" dirty="0" err="1"/>
              <a:t>Computing</a:t>
            </a:r>
            <a:endParaRPr lang="pt-BR" dirty="0"/>
          </a:p>
          <a:p>
            <a:pPr marL="1028700" lvl="1" indent="-342900"/>
            <a:r>
              <a:rPr lang="pt-BR" dirty="0"/>
              <a:t>Pós-graduado em Desenvolvimento de Aplicações para Dispositivos Móveis (APP’S)</a:t>
            </a:r>
          </a:p>
          <a:p>
            <a:pPr marL="1028700" lvl="1" indent="-342900"/>
            <a:r>
              <a:rPr lang="pt-BR" dirty="0"/>
              <a:t>Pós-graduado em Desenvolvimento de Aplicações Web</a:t>
            </a:r>
          </a:p>
          <a:p>
            <a:pPr marL="342900" indent="-342900"/>
            <a:r>
              <a:rPr lang="pt-BR" b="1" dirty="0"/>
              <a:t>Experiência Profissional</a:t>
            </a:r>
          </a:p>
          <a:p>
            <a:pPr marL="1028700" lvl="1" indent="-342900"/>
            <a:r>
              <a:rPr lang="pt-BR" dirty="0"/>
              <a:t>Instrutor de Formação Profissional – SENAI</a:t>
            </a:r>
          </a:p>
          <a:p>
            <a:pPr marL="1028700" lvl="1" indent="-342900"/>
            <a:r>
              <a:rPr lang="pt-BR" dirty="0"/>
              <a:t>Professor de TI – UMC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E31E-22FC-4E3A-89BB-C8A2DD72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445EB-44C6-4619-A350-BB0002D4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Fundamentos de POO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Modelagem com UML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Implementação do sistema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Transformação do sistema em API REST com Spring Boot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Integração com banco de dados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Boas práticas e organização de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99105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Primeiro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sobre ISO 27001 E ISO 27002 – 15/04 e 17/04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Para saber os temas para a apresentação, clique </a:t>
                </a:r>
                <a:r>
                  <a:rPr lang="pt-BR" sz="1800" dirty="0">
                    <a:hlinkClick r:id="rId2"/>
                  </a:rPr>
                  <a:t>Aqui</a:t>
                </a:r>
                <a:endParaRPr lang="pt-BR" sz="1800" dirty="0"/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22/04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 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0,6+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𝐴𝑝𝑟𝑒𝑠𝑒𝑛𝑡𝑎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0,4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  <a:blipFill>
                <a:blip r:embed="rId3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3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Segundo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do Projeto Final – 10/06 e 12/06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17/06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0,5+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𝑃𝑟𝑜𝑗𝑒𝑡𝑜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 0,5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  <a:blipFill>
                <a:blip r:embed="rId2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6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2440-DE8C-49A5-9DDC-322B4E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 e Código Objeto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EC3EF9-29DD-4B68-A3EA-5A3B91A7FCA0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625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80C122A-C710-4310-8DDD-F9768852347F}"/>
              </a:ext>
            </a:extLst>
          </p:cNvPr>
          <p:cNvGrpSpPr/>
          <p:nvPr/>
        </p:nvGrpSpPr>
        <p:grpSpPr>
          <a:xfrm>
            <a:off x="653143" y="3023891"/>
            <a:ext cx="5164179" cy="2267363"/>
            <a:chOff x="552316" y="2706824"/>
            <a:chExt cx="5273716" cy="2267363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5949B3-FABE-4D4B-AAF4-2EA57FAF2E76}"/>
                </a:ext>
              </a:extLst>
            </p:cNvPr>
            <p:cNvSpPr txBox="1"/>
            <p:nvPr/>
          </p:nvSpPr>
          <p:spPr>
            <a:xfrm>
              <a:off x="552316" y="2706824"/>
              <a:ext cx="52737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Fonte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É o conjunto de instruções escritas por programadores em um programa.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A96C90B-B59C-4BF8-977A-F89D1453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229" y="3894837"/>
              <a:ext cx="4709891" cy="107935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95FD3F-BB1D-F186-6CD3-7ED3BFB24A15}"/>
              </a:ext>
            </a:extLst>
          </p:cNvPr>
          <p:cNvGrpSpPr/>
          <p:nvPr/>
        </p:nvGrpSpPr>
        <p:grpSpPr>
          <a:xfrm>
            <a:off x="6457406" y="3023891"/>
            <a:ext cx="5164179" cy="2683647"/>
            <a:chOff x="6457406" y="3023891"/>
            <a:chExt cx="5164179" cy="268364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500500-82F8-4D71-9E5F-208441901700}"/>
                </a:ext>
              </a:extLst>
            </p:cNvPr>
            <p:cNvSpPr txBox="1"/>
            <p:nvPr/>
          </p:nvSpPr>
          <p:spPr>
            <a:xfrm>
              <a:off x="6457406" y="3023891"/>
              <a:ext cx="51641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Objeto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 É uma versão intermediária do código fonte, que é entendida pelo computador, mas precisa ser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linkada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 formar o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executável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FFBC70E-F93F-40A1-BA63-05919977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51" y="4211904"/>
              <a:ext cx="260068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4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A </a:t>
            </a:r>
            <a:r>
              <a:rPr lang="pt-BR" b="1" dirty="0"/>
              <a:t>compilação</a:t>
            </a:r>
            <a:r>
              <a:rPr lang="pt-BR" dirty="0"/>
              <a:t> converte o código-fonte em código objeto, que é depois </a:t>
            </a:r>
            <a:r>
              <a:rPr lang="pt-BR" dirty="0" err="1"/>
              <a:t>linkado</a:t>
            </a:r>
            <a:r>
              <a:rPr lang="pt-BR" dirty="0"/>
              <a:t> para criar o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FAB7A6-CE56-48D8-8331-0106DA839889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Objeto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535D07-389B-4D99-B4CE-165A1F71733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2508069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A826F4-D8A8-4DA7-9DCB-A818FE451B91}"/>
              </a:ext>
            </a:extLst>
          </p:cNvPr>
          <p:cNvSpPr txBox="1"/>
          <p:nvPr/>
        </p:nvSpPr>
        <p:spPr>
          <a:xfrm>
            <a:off x="7053860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(Build)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4532EC2-7AE2-4B1A-A91C-4896E2BD78E8}"/>
              </a:ext>
            </a:extLst>
          </p:cNvPr>
          <p:cNvSpPr txBox="1">
            <a:spLocks/>
          </p:cNvSpPr>
          <p:nvPr/>
        </p:nvSpPr>
        <p:spPr>
          <a:xfrm>
            <a:off x="592347" y="5297624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compiladas: C, C++.</a:t>
            </a:r>
          </a:p>
        </p:txBody>
      </p:sp>
    </p:spTree>
    <p:extLst>
      <p:ext uri="{BB962C8B-B14F-4D97-AF65-F5344CB8AC3E}">
        <p14:creationId xmlns:p14="http://schemas.microsoft.com/office/powerpoint/2010/main" val="28827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/>
      <p:bldP spid="14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Já </a:t>
            </a:r>
            <a:r>
              <a:rPr lang="pt-BR" b="1" dirty="0"/>
              <a:t>interpretação</a:t>
            </a:r>
            <a:r>
              <a:rPr lang="pt-BR" dirty="0"/>
              <a:t> executa o código linha por linha, traduzindo e executando cada comando de forma imediata, sem gerar um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2941177" y="3701143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7491940" y="3701142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700061" y="4241845"/>
            <a:ext cx="2791879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4700061" y="3669649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4DF0B2E-8D57-4F70-8E7A-D49D8362E8ED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Interpretadas: </a:t>
            </a:r>
            <a:r>
              <a:rPr lang="pt-BR" dirty="0" err="1"/>
              <a:t>JavaScript</a:t>
            </a:r>
            <a:r>
              <a:rPr lang="pt-BR" dirty="0"/>
              <a:t>, Python, PHP.</a:t>
            </a:r>
          </a:p>
        </p:txBody>
      </p:sp>
    </p:spTree>
    <p:extLst>
      <p:ext uri="{BB962C8B-B14F-4D97-AF65-F5344CB8AC3E}">
        <p14:creationId xmlns:p14="http://schemas.microsoft.com/office/powerpoint/2010/main" val="8526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4843-2780-5841-84B4-8D0F823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Interpretada x Compilada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76FD-25A9-5BDD-5326-442E2024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0456"/>
          </a:xfrm>
        </p:spPr>
        <p:txBody>
          <a:bodyPr/>
          <a:lstStyle/>
          <a:p>
            <a:r>
              <a:rPr lang="pt-BR" dirty="0"/>
              <a:t>Abaixo está uma comparação entre linguagens interpretadas e compiladas, destacando suas principais vantagens e desvantagens.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A600BC-6B6C-1C7B-7AF2-12A46D64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" y="3536813"/>
            <a:ext cx="10850468" cy="22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2BF9-EC6F-4272-AF9F-3E7625EB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716" y="1896926"/>
            <a:ext cx="1793802" cy="44857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pt-BR" sz="1600" dirty="0"/>
              <a:t>Compilação - C</a:t>
            </a:r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891B03A-8AD1-4B38-A239-6EC2F079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10" y="2617250"/>
            <a:ext cx="2743469" cy="23118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ABA186-3F94-48C0-9BBC-816D48EF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60" y="2617250"/>
            <a:ext cx="2649814" cy="14400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0BF7A9F-5581-47BB-8C9D-2AD778D0105F}"/>
              </a:ext>
            </a:extLst>
          </p:cNvPr>
          <p:cNvSpPr txBox="1">
            <a:spLocks/>
          </p:cNvSpPr>
          <p:nvPr/>
        </p:nvSpPr>
        <p:spPr>
          <a:xfrm>
            <a:off x="7306265" y="1896926"/>
            <a:ext cx="2755205" cy="4485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1600" dirty="0"/>
              <a:t>Interpretação - Python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C49ABD-DF65-4A33-98F8-48E05470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93" y="5200802"/>
            <a:ext cx="3562847" cy="2857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2D9806-A30B-4E6C-BB67-9A672ECE6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127" y="4512502"/>
            <a:ext cx="2905480" cy="16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Java se encaixa em qual tipo de abordagem.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47CF3A-212B-45EC-BBCD-4B568300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1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Java</a:t>
            </a:r>
            <a:r>
              <a:rPr lang="pt-BR" dirty="0"/>
              <a:t> é considerado uma linguagem híbrida, pois combina os conceitos de compilação e interpretação para gerar e executar o código.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62D6AD-4CE2-4B8E-AE0D-CF162B80ACA2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EFA3210-0F3D-4106-B9C7-9621689B4CBE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9BA6B0-1019-4906-9D40-51AFC8DBA400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A8EBD8-8A43-4A62-A1D1-BC5996D2CD5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23DEA85-3980-4BF4-9D36-951C4859F72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22D8E-87E9-4CC4-94FE-E7124B3A5E2F}"/>
              </a:ext>
            </a:extLst>
          </p:cNvPr>
          <p:cNvSpPr txBox="1"/>
          <p:nvPr/>
        </p:nvSpPr>
        <p:spPr>
          <a:xfrm>
            <a:off x="2508068" y="3374013"/>
            <a:ext cx="278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A180F-CE0B-4461-9F34-63740C3E3F4F}"/>
              </a:ext>
            </a:extLst>
          </p:cNvPr>
          <p:cNvSpPr txBox="1"/>
          <p:nvPr/>
        </p:nvSpPr>
        <p:spPr>
          <a:xfrm>
            <a:off x="6975442" y="3374013"/>
            <a:ext cx="294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</a:t>
            </a: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 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D1B955A-6FE8-4AD9-87D4-D127E0483556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de abordagem híbrida: Java (JVM) e C# (Microsoft .NET Framework).</a:t>
            </a:r>
          </a:p>
        </p:txBody>
      </p:sp>
    </p:spTree>
    <p:extLst>
      <p:ext uri="{BB962C8B-B14F-4D97-AF65-F5344CB8AC3E}">
        <p14:creationId xmlns:p14="http://schemas.microsoft.com/office/powerpoint/2010/main" val="23713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6" grpId="0" animBg="1"/>
      <p:bldP spid="7" grpId="0" animBg="1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53FF3-C6E3-4811-8B62-94675B1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Linguagem Java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25E58-5645-45B4-B804-B754A74E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Java é uma linguagem de programação </a:t>
            </a:r>
            <a:r>
              <a:rPr lang="pt-BR" b="1" dirty="0"/>
              <a:t>orientada a objetos</a:t>
            </a:r>
            <a:r>
              <a:rPr lang="pt-BR" dirty="0"/>
              <a:t> e uma plataforma de desenvolvimento amplamente utilizada, projetada para ser </a:t>
            </a:r>
            <a:r>
              <a:rPr lang="pt-BR" b="1" dirty="0"/>
              <a:t>portável, robusta e segura</a:t>
            </a:r>
            <a:r>
              <a:rPr lang="pt-BR" dirty="0"/>
              <a:t>. Ela foi criada em 1995 pela Sun Microsystems (agora parte da </a:t>
            </a:r>
            <a:r>
              <a:rPr lang="pt-BR" b="1" dirty="0"/>
              <a:t>Oracle</a:t>
            </a:r>
            <a:r>
              <a:rPr lang="pt-BR" dirty="0"/>
              <a:t> </a:t>
            </a:r>
            <a:r>
              <a:rPr lang="pt-BR" b="1" dirty="0"/>
              <a:t>Corporation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marL="1028700" lvl="1" indent="-342900" algn="just"/>
            <a:r>
              <a:rPr lang="pt-BR" b="1" dirty="0"/>
              <a:t>Portabilidade: </a:t>
            </a:r>
            <a:r>
              <a:rPr lang="pt-BR" dirty="0"/>
              <a:t>Com o uso do JRE e da JVM, um programa Java pode ser executado em diversos sistemas operacionais.</a:t>
            </a:r>
            <a:endParaRPr lang="pt-BR" b="1" dirty="0"/>
          </a:p>
          <a:p>
            <a:pPr marL="1028700" lvl="1" indent="-342900" algn="just"/>
            <a:r>
              <a:rPr lang="pt-BR" b="1" dirty="0"/>
              <a:t>Orientada a Objetos:</a:t>
            </a:r>
            <a:r>
              <a:rPr lang="pt-BR" dirty="0"/>
              <a:t> Baseada em conceitos como classes, herança e encapsulamento, promovendo modularidade e reutilização de código.</a:t>
            </a:r>
          </a:p>
          <a:p>
            <a:pPr marL="1028700" lvl="1" indent="-342900" algn="just"/>
            <a:r>
              <a:rPr lang="pt-BR" b="1" dirty="0"/>
              <a:t>Desempenho otimizado:</a:t>
            </a:r>
            <a:r>
              <a:rPr lang="pt-BR" dirty="0"/>
              <a:t> Graças à compilação JIT (Just-In-Time), a execução do código se torna mais rápida.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BB9D37-FA1C-4FC3-BF71-78F5408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86" y="661987"/>
            <a:ext cx="699589" cy="8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73B4-61A1-4515-A15C-1834A1A0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em Java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9C00D7E-780B-49FB-9168-091B5AE3B0A4}"/>
              </a:ext>
            </a:extLst>
          </p:cNvPr>
          <p:cNvGrpSpPr/>
          <p:nvPr/>
        </p:nvGrpSpPr>
        <p:grpSpPr>
          <a:xfrm>
            <a:off x="751113" y="2890055"/>
            <a:ext cx="1800000" cy="2289017"/>
            <a:chOff x="778992" y="3011975"/>
            <a:chExt cx="1800000" cy="228901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D14EB5B-EEA5-4FFF-8324-33550F9A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92" y="3011975"/>
              <a:ext cx="1800000" cy="180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6B71913-CCED-4DBF-8D02-5CF912D4C071}"/>
                </a:ext>
              </a:extLst>
            </p:cNvPr>
            <p:cNvSpPr txBox="1"/>
            <p:nvPr/>
          </p:nvSpPr>
          <p:spPr>
            <a:xfrm>
              <a:off x="778992" y="4931660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Desenvolvedor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E65E9-A731-447E-A907-2913618235F0}"/>
              </a:ext>
            </a:extLst>
          </p:cNvPr>
          <p:cNvGrpSpPr/>
          <p:nvPr/>
        </p:nvGrpSpPr>
        <p:grpSpPr>
          <a:xfrm>
            <a:off x="6379116" y="2890055"/>
            <a:ext cx="1800000" cy="2289017"/>
            <a:chOff x="6357257" y="3011975"/>
            <a:chExt cx="1800000" cy="228901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27953AB-2167-4B40-8B5D-61111B51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7257" y="3011975"/>
              <a:ext cx="1800000" cy="1800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1642CD-FB1B-4831-98D7-701BB981B102}"/>
                </a:ext>
              </a:extLst>
            </p:cNvPr>
            <p:cNvSpPr txBox="1"/>
            <p:nvPr/>
          </p:nvSpPr>
          <p:spPr>
            <a:xfrm>
              <a:off x="6537257" y="493166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Usuário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7BC416E-3F08-49A8-AE4D-F6031BC99DA6}"/>
              </a:ext>
            </a:extLst>
          </p:cNvPr>
          <p:cNvSpPr txBox="1"/>
          <p:nvPr/>
        </p:nvSpPr>
        <p:spPr>
          <a:xfrm>
            <a:off x="8200888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A1699F-FA99-4837-9C33-C86527C24A0D}"/>
              </a:ext>
            </a:extLst>
          </p:cNvPr>
          <p:cNvSpPr txBox="1"/>
          <p:nvPr/>
        </p:nvSpPr>
        <p:spPr>
          <a:xfrm>
            <a:off x="2741446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30C085F-B3D5-476F-9F08-76FBCB230166}"/>
              </a:ext>
            </a:extLst>
          </p:cNvPr>
          <p:cNvSpPr txBox="1"/>
          <p:nvPr/>
        </p:nvSpPr>
        <p:spPr>
          <a:xfrm>
            <a:off x="2741446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pacote completo para programadores Java, incluindo 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JVM,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ferramentas como 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(compilador) e ferramentas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documentação.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D54A6-222B-4F76-89B7-F76FD065108C}"/>
              </a:ext>
            </a:extLst>
          </p:cNvPr>
          <p:cNvSpPr txBox="1"/>
          <p:nvPr/>
        </p:nvSpPr>
        <p:spPr>
          <a:xfrm>
            <a:off x="8200888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kit básico necessário para rodar programas Java. Ele inclui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bibliotecas padrão do Java. Se você só quer executar um programa Java, o JRE é suficiente.</a:t>
            </a:r>
          </a:p>
        </p:txBody>
      </p:sp>
    </p:spTree>
    <p:extLst>
      <p:ext uri="{BB962C8B-B14F-4D97-AF65-F5344CB8AC3E}">
        <p14:creationId xmlns:p14="http://schemas.microsoft.com/office/powerpoint/2010/main" val="214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/>
      <p:bldP spid="32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5079-838A-4ACC-8316-9ACE9FBB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Desenvolvimento Integrado (IDE)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8BDCB-6228-4321-A672-6E9B06B1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55576"/>
          </a:xfrm>
        </p:spPr>
        <p:txBody>
          <a:bodyPr/>
          <a:lstStyle/>
          <a:p>
            <a:pPr algn="just"/>
            <a:r>
              <a:rPr lang="pt-BR" sz="1600" dirty="0"/>
              <a:t>Uma IDE (</a:t>
            </a:r>
            <a:r>
              <a:rPr lang="pt-BR" sz="1600" dirty="0" err="1"/>
              <a:t>Integrated</a:t>
            </a:r>
            <a:r>
              <a:rPr lang="pt-BR" sz="1600" dirty="0"/>
              <a:t> </a:t>
            </a:r>
            <a:r>
              <a:rPr lang="pt-BR" sz="1600" dirty="0" err="1"/>
              <a:t>Development</a:t>
            </a:r>
            <a:r>
              <a:rPr lang="pt-BR" sz="1600" dirty="0"/>
              <a:t> </a:t>
            </a:r>
            <a:r>
              <a:rPr lang="pt-BR" sz="1600" dirty="0" err="1"/>
              <a:t>Environment</a:t>
            </a:r>
            <a:r>
              <a:rPr lang="pt-BR" sz="1600" dirty="0"/>
              <a:t>) é um programa que reúne várias ferramentas que ajudam os desenvolvedores a escrever, testar e corrigir códigos de forma mais fácil e rápida. Ela combina um editor de código, ferramentas para compilar, </a:t>
            </a:r>
            <a:r>
              <a:rPr lang="pt-BR" sz="1600" dirty="0" err="1"/>
              <a:t>debugar</a:t>
            </a:r>
            <a:r>
              <a:rPr lang="pt-BR" sz="1600" dirty="0"/>
              <a:t> (encontrar erros) e executar o programa em um só lugar, tudo organizado para melhorar a produtividade.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54C6D2A-86F6-4230-815E-C26D60E6B560}"/>
              </a:ext>
            </a:extLst>
          </p:cNvPr>
          <p:cNvGrpSpPr/>
          <p:nvPr/>
        </p:nvGrpSpPr>
        <p:grpSpPr>
          <a:xfrm>
            <a:off x="2768107" y="3704449"/>
            <a:ext cx="1920336" cy="2101911"/>
            <a:chOff x="2456321" y="3704449"/>
            <a:chExt cx="1920336" cy="21019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227EE27-70E6-41D2-9361-BBB511AB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321" y="3704449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40CA642-557F-4293-93E4-26D61FDD8FDB}"/>
                </a:ext>
              </a:extLst>
            </p:cNvPr>
            <p:cNvSpPr txBox="1"/>
            <p:nvPr/>
          </p:nvSpPr>
          <p:spPr>
            <a:xfrm>
              <a:off x="3403166" y="3871316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Eclipse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790CA3-7A90-4ABC-8E4F-1DB98BE75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321" y="5086360"/>
              <a:ext cx="645882" cy="720000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F84D797-F4CF-4290-86E1-523D839FDBB7}"/>
                </a:ext>
              </a:extLst>
            </p:cNvPr>
            <p:cNvSpPr txBox="1"/>
            <p:nvPr/>
          </p:nvSpPr>
          <p:spPr>
            <a:xfrm>
              <a:off x="3294309" y="526169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NetBeans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734E566-A6EC-410A-99F7-62A8034F4D35}"/>
              </a:ext>
            </a:extLst>
          </p:cNvPr>
          <p:cNvGrpSpPr/>
          <p:nvPr/>
        </p:nvGrpSpPr>
        <p:grpSpPr>
          <a:xfrm>
            <a:off x="7456550" y="3674590"/>
            <a:ext cx="1967342" cy="2131770"/>
            <a:chOff x="7768338" y="3674590"/>
            <a:chExt cx="1967342" cy="213177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3B2690B-261C-4ACE-95C2-B5CFDE945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3674590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E00B870-48C4-48B3-9E7F-B87512BC3F0D}"/>
                </a:ext>
              </a:extLst>
            </p:cNvPr>
            <p:cNvSpPr txBox="1"/>
            <p:nvPr/>
          </p:nvSpPr>
          <p:spPr>
            <a:xfrm>
              <a:off x="8711041" y="3849924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1ACFCEB-0EFF-42B5-989E-4093F30A8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5086360"/>
              <a:ext cx="720000" cy="7200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100F30-FD09-40EB-94C6-5D88A939AB71}"/>
                </a:ext>
              </a:extLst>
            </p:cNvPr>
            <p:cNvSpPr txBox="1"/>
            <p:nvPr/>
          </p:nvSpPr>
          <p:spPr>
            <a:xfrm>
              <a:off x="8711041" y="526169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885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62E5-03C7-46AB-8AA6-1117318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Softwares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994F99-6B98-4FE7-BE35-E8B257BCB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021785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C2EEBF-12E5-47D3-B46F-4C515BE0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00" y="4436211"/>
            <a:ext cx="1440000" cy="913044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FC13738-A7ED-446A-BBE5-1419D724A6A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04000" y="3101785"/>
            <a:ext cx="2392000" cy="143094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EA68D6-2ACA-41E9-B913-258E528F2F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101785"/>
            <a:ext cx="2032000" cy="13344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DCC10EC1-9A30-4C83-BD9E-8F28EEF25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00" y="4532733"/>
            <a:ext cx="913045" cy="9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0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Instalar o JDK, acesse aqui para fazer o download - </a:t>
            </a:r>
            <a:r>
              <a:rPr lang="pt-BR" dirty="0">
                <a:hlinkClick r:id="rId2"/>
              </a:rPr>
              <a:t>https://www.oracle.com/java/technologies/javase-downloads.html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C51877-C1FB-414A-A9B1-BE496187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8" y="3130898"/>
            <a:ext cx="5599804" cy="27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324CD8-BD39-4960-852D-B06CB5EAC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2656114"/>
            <a:ext cx="4772691" cy="364858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7330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Certifique que você está instalando na caminho correto.</a:t>
            </a:r>
          </a:p>
        </p:txBody>
      </p:sp>
    </p:spTree>
    <p:extLst>
      <p:ext uri="{BB962C8B-B14F-4D97-AF65-F5344CB8AC3E}">
        <p14:creationId xmlns:p14="http://schemas.microsoft.com/office/powerpoint/2010/main" val="8573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67599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Instalar o Eclipse, acesse aqui para fazer o download - https://www.eclipse.org/downloads/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C577A4-0AC3-460C-9E32-6B35D5C5642E}"/>
              </a:ext>
            </a:extLst>
          </p:cNvPr>
          <p:cNvGrpSpPr/>
          <p:nvPr/>
        </p:nvGrpSpPr>
        <p:grpSpPr>
          <a:xfrm>
            <a:off x="1007063" y="3324497"/>
            <a:ext cx="10177875" cy="2117464"/>
            <a:chOff x="1007062" y="3324497"/>
            <a:chExt cx="10177875" cy="211746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8E881B9-EDC4-4171-AE54-25978397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062" y="3324497"/>
              <a:ext cx="5026860" cy="211746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522C96D-50CD-47A2-B77A-514FC92D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984" y="3611597"/>
              <a:ext cx="4143953" cy="1543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26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9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Selecione a opção </a:t>
            </a:r>
            <a:r>
              <a:rPr lang="pt-BR" b="1" dirty="0"/>
              <a:t>Eclipse IDE for Java </a:t>
            </a:r>
            <a:r>
              <a:rPr lang="pt-BR" b="1" dirty="0" err="1"/>
              <a:t>Developers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728BAD-ADFE-440F-8B06-635B567E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46" y="2664823"/>
            <a:ext cx="3690909" cy="37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1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11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pt-BR" dirty="0"/>
              <a:t>Certifique que você está instalando na caminho correto.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486BE6-EFCB-48C6-BAD1-5E71875B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15" y="2656114"/>
            <a:ext cx="3865771" cy="3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2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11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Primeiro devemos criar um </a:t>
            </a:r>
            <a:r>
              <a:rPr lang="pt-BR" b="1" dirty="0"/>
              <a:t>Projeto em Java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1650E8-7F54-4DB8-8638-9303BB26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2595154"/>
            <a:ext cx="3584528" cy="37643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16163D-386B-4CBD-B455-4153D0C9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66" y="2668147"/>
            <a:ext cx="3357625" cy="36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7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04657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 dirty="0"/>
              <a:t>Após criar o projeto, clique com o botão direito sobre ele, selecione New e, em seguida, </a:t>
            </a:r>
            <a:r>
              <a:rPr lang="pt-BR" dirty="0" err="1"/>
              <a:t>Class</a:t>
            </a:r>
            <a:r>
              <a:rPr lang="pt-BR" dirty="0"/>
              <a:t> para criar uma nova classe.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7B9465-FC39-4EDF-A72C-16D837F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94" y="2997499"/>
            <a:ext cx="2449658" cy="312768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CE308C-33EC-4318-9585-980B0FD420A6}"/>
              </a:ext>
            </a:extLst>
          </p:cNvPr>
          <p:cNvGrpSpPr/>
          <p:nvPr/>
        </p:nvGrpSpPr>
        <p:grpSpPr>
          <a:xfrm>
            <a:off x="6244045" y="2891245"/>
            <a:ext cx="3060213" cy="3536123"/>
            <a:chOff x="6244045" y="2891245"/>
            <a:chExt cx="3060213" cy="35361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D28136-0561-4036-AD89-6D9E0C1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045" y="2891245"/>
              <a:ext cx="3060213" cy="353612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2A3094-C9BA-4C8A-92D3-C50A1774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4045" y="3208329"/>
              <a:ext cx="785405" cy="123842"/>
            </a:xfrm>
            <a:prstGeom prst="rect">
              <a:avLst/>
            </a:prstGeom>
          </p:spPr>
        </p:pic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19C5937-0190-4C5B-9826-C2008253B285}"/>
                </a:ext>
              </a:extLst>
            </p:cNvPr>
            <p:cNvCxnSpPr/>
            <p:nvPr/>
          </p:nvCxnSpPr>
          <p:spPr>
            <a:xfrm>
              <a:off x="8107680" y="6003580"/>
              <a:ext cx="217714" cy="2665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0326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5990613" cy="525090"/>
          </a:xfrm>
        </p:spPr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EM GRUPO - GIT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617B0-F78B-45BB-82A1-8BAEA107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A12ED28-37CA-4D4D-BBF5-AE43DE57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34216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C79D17-1A96-442A-947A-B4DB3AE9AD29}"/>
              </a:ext>
            </a:extLst>
          </p:cNvPr>
          <p:cNvGrpSpPr/>
          <p:nvPr/>
        </p:nvGrpSpPr>
        <p:grpSpPr>
          <a:xfrm>
            <a:off x="7239109" y="4885239"/>
            <a:ext cx="4489200" cy="1300018"/>
            <a:chOff x="7239109" y="4885239"/>
            <a:chExt cx="4489200" cy="130001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E604C56-BBE6-447A-A9A1-E9DF5DA0ED0C}"/>
                </a:ext>
              </a:extLst>
            </p:cNvPr>
            <p:cNvSpPr/>
            <p:nvPr/>
          </p:nvSpPr>
          <p:spPr>
            <a:xfrm>
              <a:off x="7239109" y="4885239"/>
              <a:ext cx="4489200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EB223A7-2364-4062-AF25-2B48AE5FF2CB}"/>
                </a:ext>
              </a:extLst>
            </p:cNvPr>
            <p:cNvSpPr txBox="1"/>
            <p:nvPr/>
          </p:nvSpPr>
          <p:spPr>
            <a:xfrm>
              <a:off x="7520350" y="5025578"/>
              <a:ext cx="3926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Proprietário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D03383-166A-4607-8508-D3B5B868B84F}"/>
              </a:ext>
            </a:extLst>
          </p:cNvPr>
          <p:cNvGrpSpPr/>
          <p:nvPr/>
        </p:nvGrpSpPr>
        <p:grpSpPr>
          <a:xfrm>
            <a:off x="7240722" y="3149421"/>
            <a:ext cx="4487587" cy="1300018"/>
            <a:chOff x="7240722" y="3149421"/>
            <a:chExt cx="4487587" cy="130001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90D42D-03AA-4A68-8788-5E01579EEF0C}"/>
                </a:ext>
              </a:extLst>
            </p:cNvPr>
            <p:cNvSpPr/>
            <p:nvPr/>
          </p:nvSpPr>
          <p:spPr>
            <a:xfrm>
              <a:off x="7240722" y="3149421"/>
              <a:ext cx="4487587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DC17D77-A301-436F-A1D5-028D726B7193}"/>
                </a:ext>
              </a:extLst>
            </p:cNvPr>
            <p:cNvSpPr txBox="1"/>
            <p:nvPr/>
          </p:nvSpPr>
          <p:spPr>
            <a:xfrm>
              <a:off x="7521862" y="3289760"/>
              <a:ext cx="3925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Carro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1011736"/>
          </a:xfrm>
        </p:spPr>
        <p:txBody>
          <a:bodyPr/>
          <a:lstStyle/>
          <a:p>
            <a:r>
              <a:rPr lang="pt-BR" b="1" dirty="0"/>
              <a:t>Java</a:t>
            </a:r>
            <a:r>
              <a:rPr lang="pt-BR" dirty="0"/>
              <a:t> é uma linguagem orientada a objetos que usa </a:t>
            </a:r>
            <a:r>
              <a:rPr lang="pt-BR" b="1" dirty="0"/>
              <a:t>classes</a:t>
            </a:r>
            <a:r>
              <a:rPr lang="pt-BR" dirty="0"/>
              <a:t> para criar aplicações modulares, seguras e multiplataforma.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495EC24-3F3D-4747-87A4-5ED52E431561}"/>
              </a:ext>
            </a:extLst>
          </p:cNvPr>
          <p:cNvSpPr txBox="1">
            <a:spLocks/>
          </p:cNvSpPr>
          <p:nvPr/>
        </p:nvSpPr>
        <p:spPr>
          <a:xfrm>
            <a:off x="592347" y="3149421"/>
            <a:ext cx="6087809" cy="14428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Classes</a:t>
            </a:r>
            <a:r>
              <a:rPr lang="pt-BR" sz="1800" dirty="0"/>
              <a:t> - São os blocos fundamentais no Java, definindo </a:t>
            </a:r>
            <a:r>
              <a:rPr lang="pt-BR" sz="1800" b="1" dirty="0"/>
              <a:t>propriedades</a:t>
            </a:r>
            <a:r>
              <a:rPr lang="pt-BR" sz="1800" dirty="0"/>
              <a:t> (variáveis) e </a:t>
            </a:r>
            <a:r>
              <a:rPr lang="pt-BR" sz="1800" b="1" dirty="0"/>
              <a:t>comportamentos</a:t>
            </a:r>
            <a:r>
              <a:rPr lang="pt-BR" sz="1800" dirty="0"/>
              <a:t> (métodos), servindo como modelos para criar objetos. 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F880EC0-2781-4144-989F-63A1ED8233EF}"/>
              </a:ext>
            </a:extLst>
          </p:cNvPr>
          <p:cNvSpPr txBox="1">
            <a:spLocks/>
          </p:cNvSpPr>
          <p:nvPr/>
        </p:nvSpPr>
        <p:spPr>
          <a:xfrm>
            <a:off x="592347" y="4885239"/>
            <a:ext cx="6087809" cy="13000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Pacotes - </a:t>
            </a:r>
            <a:r>
              <a:rPr lang="pt-BR" sz="1800" dirty="0"/>
              <a:t>Agrupam </a:t>
            </a:r>
            <a:r>
              <a:rPr lang="pt-BR" sz="1800" b="1" dirty="0"/>
              <a:t>classes</a:t>
            </a:r>
            <a:r>
              <a:rPr lang="pt-BR" sz="1800" dirty="0"/>
              <a:t> relacionadas, facilitando a organização do código e evitando conflitos de nomes entre classes. </a:t>
            </a:r>
            <a:endParaRPr lang="pt-BR" dirty="0"/>
          </a:p>
          <a:p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E842520-BB6D-45AA-9C14-4F1B64C0C522}"/>
              </a:ext>
            </a:extLst>
          </p:cNvPr>
          <p:cNvGrpSpPr/>
          <p:nvPr/>
        </p:nvGrpSpPr>
        <p:grpSpPr>
          <a:xfrm>
            <a:off x="7521862" y="3799430"/>
            <a:ext cx="3925307" cy="540000"/>
            <a:chOff x="7826591" y="3870826"/>
            <a:chExt cx="4007223" cy="5400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AD70460-CC6B-41CD-9478-10E7710AA8AE}"/>
                </a:ext>
              </a:extLst>
            </p:cNvPr>
            <p:cNvSpPr/>
            <p:nvPr/>
          </p:nvSpPr>
          <p:spPr>
            <a:xfrm>
              <a:off x="7826591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Carro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B1928D4-10CF-4E80-94D4-23BE1BBD08DC}"/>
                </a:ext>
              </a:extLst>
            </p:cNvPr>
            <p:cNvSpPr/>
            <p:nvPr/>
          </p:nvSpPr>
          <p:spPr>
            <a:xfrm>
              <a:off x="9290203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4817852-7BA8-46A5-8EC1-D33D737377C3}"/>
                </a:ext>
              </a:extLst>
            </p:cNvPr>
            <p:cNvSpPr/>
            <p:nvPr/>
          </p:nvSpPr>
          <p:spPr>
            <a:xfrm>
              <a:off x="10753814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Roda</a:t>
              </a:r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47B3CA-C137-47FD-B6CA-B88C06C4ACC3}"/>
              </a:ext>
            </a:extLst>
          </p:cNvPr>
          <p:cNvSpPr/>
          <p:nvPr/>
        </p:nvSpPr>
        <p:spPr>
          <a:xfrm>
            <a:off x="8954557" y="5535248"/>
            <a:ext cx="1058303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Proprietário</a:t>
            </a:r>
          </a:p>
        </p:txBody>
      </p:sp>
    </p:spTree>
    <p:extLst>
      <p:ext uri="{BB962C8B-B14F-4D97-AF65-F5344CB8AC3E}">
        <p14:creationId xmlns:p14="http://schemas.microsoft.com/office/powerpoint/2010/main" val="12976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137835" cy="108325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Módulos</a:t>
            </a:r>
            <a:r>
              <a:rPr lang="pt-BR" sz="1800" dirty="0"/>
              <a:t> - Em Java, o </a:t>
            </a:r>
            <a:r>
              <a:rPr lang="pt-BR" sz="1800" b="1" dirty="0"/>
              <a:t>módulo</a:t>
            </a:r>
            <a:r>
              <a:rPr lang="pt-BR" sz="1800" dirty="0"/>
              <a:t> é uma unidade que agrupa </a:t>
            </a:r>
            <a:r>
              <a:rPr lang="pt-BR" sz="1800" b="1" dirty="0"/>
              <a:t>pacotes</a:t>
            </a:r>
            <a:r>
              <a:rPr lang="pt-BR" sz="1800" dirty="0"/>
              <a:t> e </a:t>
            </a:r>
            <a:r>
              <a:rPr lang="pt-BR" sz="1800" b="1" dirty="0"/>
              <a:t>classes</a:t>
            </a:r>
            <a:r>
              <a:rPr lang="pt-BR" sz="1800" dirty="0"/>
              <a:t>, introduzido no </a:t>
            </a:r>
            <a:r>
              <a:rPr lang="pt-BR" sz="1800" b="1" dirty="0"/>
              <a:t>Java</a:t>
            </a:r>
            <a:r>
              <a:rPr lang="pt-BR" sz="1800" dirty="0"/>
              <a:t> </a:t>
            </a:r>
            <a:r>
              <a:rPr lang="pt-BR" sz="1800" b="1" dirty="0"/>
              <a:t>9</a:t>
            </a:r>
            <a:r>
              <a:rPr lang="pt-BR" sz="1800" dirty="0"/>
              <a:t> para melhorar a organização, manutenção e gestão de dependências do código.</a:t>
            </a:r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1024808" y="3121892"/>
            <a:ext cx="10142385" cy="30110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62741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6AB40FA-0044-44DC-9A9F-E8D8EB417C56}"/>
              </a:ext>
            </a:extLst>
          </p:cNvPr>
          <p:cNvSpPr txBox="1"/>
          <p:nvPr/>
        </p:nvSpPr>
        <p:spPr>
          <a:xfrm>
            <a:off x="1262303" y="3469610"/>
            <a:ext cx="966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Condomínio</a:t>
            </a:r>
          </a:p>
        </p:txBody>
      </p:sp>
    </p:spTree>
    <p:extLst>
      <p:ext uri="{BB962C8B-B14F-4D97-AF65-F5344CB8AC3E}">
        <p14:creationId xmlns:p14="http://schemas.microsoft.com/office/powerpoint/2010/main" val="24312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698669" y="2944700"/>
            <a:ext cx="10794660" cy="35433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7"/>
            <a:ext cx="11137835" cy="9596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Aplicação - </a:t>
            </a:r>
            <a:r>
              <a:rPr lang="pt-BR" sz="1800" dirty="0"/>
              <a:t>A </a:t>
            </a:r>
            <a:r>
              <a:rPr lang="pt-BR" sz="1800" b="1" dirty="0"/>
              <a:t>aplicação</a:t>
            </a:r>
            <a:r>
              <a:rPr lang="pt-BR" sz="1800" dirty="0"/>
              <a:t> em Java é o programa final que combina classes, pacotes e módulos para executar uma lógica e atingir um objetivo funcional.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A28FDE4-2131-4B87-A02C-0A695216081D}"/>
              </a:ext>
            </a:extLst>
          </p:cNvPr>
          <p:cNvGrpSpPr/>
          <p:nvPr/>
        </p:nvGrpSpPr>
        <p:grpSpPr>
          <a:xfrm>
            <a:off x="891309" y="3878797"/>
            <a:ext cx="10409382" cy="2383458"/>
            <a:chOff x="849745" y="3684834"/>
            <a:chExt cx="10409382" cy="243242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9CD1FFD-2369-455A-B262-886F0EE06B08}"/>
                </a:ext>
              </a:extLst>
            </p:cNvPr>
            <p:cNvSpPr/>
            <p:nvPr/>
          </p:nvSpPr>
          <p:spPr>
            <a:xfrm>
              <a:off x="849745" y="3684834"/>
              <a:ext cx="10409382" cy="243242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6AB40FA-0044-44DC-9A9F-E8D8EB417C56}"/>
                </a:ext>
              </a:extLst>
            </p:cNvPr>
            <p:cNvSpPr txBox="1"/>
            <p:nvPr/>
          </p:nvSpPr>
          <p:spPr>
            <a:xfrm>
              <a:off x="1262303" y="3829749"/>
              <a:ext cx="9625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Condomínio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73322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80C7CDF-1C80-4120-B914-9414936C1369}"/>
              </a:ext>
            </a:extLst>
          </p:cNvPr>
          <p:cNvSpPr txBox="1"/>
          <p:nvPr/>
        </p:nvSpPr>
        <p:spPr>
          <a:xfrm>
            <a:off x="891308" y="3169280"/>
            <a:ext cx="104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Registros de veículos no condomínio</a:t>
            </a:r>
          </a:p>
        </p:txBody>
      </p:sp>
    </p:spTree>
    <p:extLst>
      <p:ext uri="{BB962C8B-B14F-4D97-AF65-F5344CB8AC3E}">
        <p14:creationId xmlns:p14="http://schemas.microsoft.com/office/powerpoint/2010/main" val="3000118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tipo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‘F’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85AD-118A-4E2C-96D3-450710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Primitivos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38E1E-B74B-4052-80E0-03F90DF7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98525"/>
          </a:xfrm>
        </p:spPr>
        <p:txBody>
          <a:bodyPr/>
          <a:lstStyle/>
          <a:p>
            <a:r>
              <a:rPr lang="pt-BR" sz="1600" dirty="0"/>
              <a:t>Os </a:t>
            </a:r>
            <a:r>
              <a:rPr lang="pt-BR" sz="1600" b="1" dirty="0"/>
              <a:t>tipos primitivos </a:t>
            </a:r>
            <a:r>
              <a:rPr lang="pt-BR" sz="1600" dirty="0"/>
              <a:t>em Java são a base para armazenar dados simples, não são objetos e oferecem alto desempenho, atualmente temos os seguintes tipos primitivos.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0156C4-4D2D-40C4-8010-E7CCCD3D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" y="2937163"/>
            <a:ext cx="10135813" cy="2832858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DDF1D8-7463-45E5-92E3-2928CC5AA7A7}"/>
              </a:ext>
            </a:extLst>
          </p:cNvPr>
          <p:cNvSpPr txBox="1">
            <a:spLocks/>
          </p:cNvSpPr>
          <p:nvPr/>
        </p:nvSpPr>
        <p:spPr>
          <a:xfrm>
            <a:off x="592347" y="6003580"/>
            <a:ext cx="11007306" cy="5357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 </a:t>
            </a:r>
            <a:r>
              <a:rPr lang="pt-BR" sz="1600" b="1" dirty="0"/>
              <a:t>String</a:t>
            </a:r>
            <a:r>
              <a:rPr lang="pt-BR" sz="1600" dirty="0"/>
              <a:t> em Java é uma </a:t>
            </a:r>
            <a:r>
              <a:rPr lang="pt-BR" sz="1600" b="1" dirty="0"/>
              <a:t>classe</a:t>
            </a:r>
            <a:r>
              <a:rPr lang="pt-BR" sz="1600" dirty="0"/>
              <a:t> usada para representar e manipular texto, com métodos para operações como concatenação e busca.</a:t>
            </a:r>
          </a:p>
        </p:txBody>
      </p:sp>
    </p:spTree>
    <p:extLst>
      <p:ext uri="{BB962C8B-B14F-4D97-AF65-F5344CB8AC3E}">
        <p14:creationId xmlns:p14="http://schemas.microsoft.com/office/powerpoint/2010/main" val="508123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605793" y="3339053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4141573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972570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Classes e outros elementos do código é principalmente uma questão de convenção, impactando diretamente a legibilidade, manutenção e colaboração em projetos. O </a:t>
            </a:r>
            <a:r>
              <a:rPr lang="pt-BR" sz="1800" b="1" dirty="0"/>
              <a:t>Pascal Case </a:t>
            </a:r>
            <a:r>
              <a:rPr lang="pt-BR" sz="1800" dirty="0"/>
              <a:t>é o padrão utilizado para declarar </a:t>
            </a:r>
            <a:r>
              <a:rPr lang="pt-BR" sz="1800" b="1" dirty="0"/>
              <a:t>Classes</a:t>
            </a:r>
            <a:r>
              <a:rPr lang="pt-BR" sz="18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1" y="349524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4354009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variáveis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AECF8-34E6-4AFA-B566-341971F6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44675"/>
            <a:ext cx="4284453" cy="4351338"/>
          </a:xfrm>
        </p:spPr>
        <p:txBody>
          <a:bodyPr/>
          <a:lstStyle/>
          <a:p>
            <a:r>
              <a:rPr lang="pt-BR" dirty="0"/>
              <a:t>Número Inteiro: </a:t>
            </a:r>
          </a:p>
          <a:p>
            <a:pPr marL="1028700" lvl="1" indent="-342900"/>
            <a:r>
              <a:rPr lang="pt-BR" b="1" dirty="0"/>
              <a:t>byte</a:t>
            </a:r>
            <a:r>
              <a:rPr lang="pt-BR" dirty="0"/>
              <a:t> dia = 20;</a:t>
            </a:r>
          </a:p>
          <a:p>
            <a:pPr marL="1028700" lvl="1" indent="-342900"/>
            <a:r>
              <a:rPr lang="pt-BR" b="1" dirty="0"/>
              <a:t>int</a:t>
            </a:r>
            <a:r>
              <a:rPr lang="pt-BR" dirty="0"/>
              <a:t> idade = 20;</a:t>
            </a:r>
          </a:p>
          <a:p>
            <a:pPr marL="1028700" lvl="1" indent="-342900"/>
            <a:r>
              <a:rPr lang="pt-BR" b="1" dirty="0"/>
              <a:t>short</a:t>
            </a:r>
            <a:r>
              <a:rPr lang="pt-BR" dirty="0"/>
              <a:t> ano = 2024;</a:t>
            </a:r>
          </a:p>
          <a:p>
            <a:pPr marL="1028700" lvl="1" indent="-342900"/>
            <a:r>
              <a:rPr lang="pt-BR" b="1" dirty="0" err="1"/>
              <a:t>long</a:t>
            </a:r>
            <a:r>
              <a:rPr lang="pt-BR" dirty="0"/>
              <a:t> </a:t>
            </a:r>
            <a:r>
              <a:rPr lang="pt-BR" dirty="0" err="1"/>
              <a:t>anoNascimento</a:t>
            </a:r>
            <a:r>
              <a:rPr lang="pt-BR" dirty="0"/>
              <a:t> = 2000;</a:t>
            </a:r>
          </a:p>
          <a:p>
            <a:pPr marL="342900" indent="-342900"/>
            <a:r>
              <a:rPr lang="pt-BR" dirty="0"/>
              <a:t>Número Decimal: </a:t>
            </a:r>
          </a:p>
          <a:p>
            <a:pPr marL="1028700" lvl="1" indent="-342900"/>
            <a:r>
              <a:rPr lang="pt-BR" b="1" dirty="0" err="1"/>
              <a:t>float</a:t>
            </a:r>
            <a:r>
              <a:rPr lang="pt-BR" dirty="0"/>
              <a:t> altura = 1.75f;</a:t>
            </a:r>
          </a:p>
          <a:p>
            <a:pPr marL="1028700" lvl="1" indent="-342900"/>
            <a:r>
              <a:rPr lang="pt-BR" b="1" dirty="0"/>
              <a:t>double</a:t>
            </a:r>
            <a:r>
              <a:rPr lang="pt-BR" dirty="0"/>
              <a:t> peso = 78.5;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9FF185-15E1-43CA-8912-C4AEA2EBF44F}"/>
              </a:ext>
            </a:extLst>
          </p:cNvPr>
          <p:cNvSpPr txBox="1">
            <a:spLocks/>
          </p:cNvSpPr>
          <p:nvPr/>
        </p:nvSpPr>
        <p:spPr>
          <a:xfrm>
            <a:off x="6699849" y="1844675"/>
            <a:ext cx="42844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Caractere/Texto</a:t>
            </a:r>
          </a:p>
          <a:p>
            <a:pPr marL="1028700" lvl="1" indent="-342900"/>
            <a:r>
              <a:rPr lang="pt-BR" b="1" dirty="0"/>
              <a:t>char</a:t>
            </a:r>
            <a:r>
              <a:rPr lang="pt-BR" dirty="0"/>
              <a:t> </a:t>
            </a:r>
            <a:r>
              <a:rPr lang="pt-BR" dirty="0" err="1"/>
              <a:t>genero</a:t>
            </a:r>
            <a:r>
              <a:rPr lang="pt-BR" dirty="0"/>
              <a:t> = 'F';</a:t>
            </a:r>
          </a:p>
          <a:p>
            <a:pPr marL="1028700" lvl="1" indent="-342900"/>
            <a:r>
              <a:rPr lang="pt-BR" b="1" dirty="0"/>
              <a:t>String</a:t>
            </a:r>
            <a:r>
              <a:rPr lang="pt-BR" dirty="0"/>
              <a:t> nome = "Pedro";</a:t>
            </a:r>
          </a:p>
          <a:p>
            <a:r>
              <a:rPr lang="pt-BR" dirty="0"/>
              <a:t>Booleano</a:t>
            </a:r>
          </a:p>
          <a:p>
            <a:pPr marL="1028700" lvl="1" indent="-342900"/>
            <a:r>
              <a:rPr lang="pt-BR" b="1" dirty="0" err="1"/>
              <a:t>boolean</a:t>
            </a:r>
            <a:r>
              <a:rPr lang="pt-BR" dirty="0"/>
              <a:t> logico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422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FB2D6F-375C-40FE-B0C0-B8EACB62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117300" cy="1093834"/>
          </a:xfrm>
        </p:spPr>
        <p:txBody>
          <a:bodyPr/>
          <a:lstStyle/>
          <a:p>
            <a:r>
              <a:rPr lang="pt-BR" dirty="0"/>
              <a:t>Os operadores aritméticos no Java são usados para realizar operações matemáticas básicas, como adição (+), subtração (-), multiplicação (*), divisão (/) e módulo (%), diretamente entre variáveis e valores.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8F1A65-477D-466D-8FC0-F858095D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33" y="3215092"/>
            <a:ext cx="9395534" cy="2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89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210BC-4B14-4230-B4E3-941B123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Matemáticas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AF30B-D69F-4420-A813-3AA90FF1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2812"/>
          </a:xfrm>
        </p:spPr>
        <p:txBody>
          <a:bodyPr/>
          <a:lstStyle/>
          <a:p>
            <a:r>
              <a:rPr lang="pt-BR" dirty="0"/>
              <a:t>A biblioteca </a:t>
            </a:r>
            <a:r>
              <a:rPr lang="pt-BR" dirty="0" err="1"/>
              <a:t>Math</a:t>
            </a:r>
            <a:r>
              <a:rPr lang="pt-BR" dirty="0"/>
              <a:t> no Java oferece métodos estáticos e constantes para cálculos matemáticos, como potência, raiz quadrada, trigonometria e logaritmos, sem precisar criar objetos.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04DBE-243B-4E8E-B119-2531F811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3251710"/>
            <a:ext cx="10280073" cy="286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72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61A8E-0FFF-4F90-A095-346E0D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informações no console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56728-F910-4CB6-81DE-609C0076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exibir informações no console sem adicionar uma quebra de linha ao final, utilizamos o comando </a:t>
            </a: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Para exibir informações no console adicionando uma quebra de linha ao final, utilizamos o comando </a:t>
            </a: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932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F3035-0183-4D59-B954-2A85D9B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Controlando o número de casas decimais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D100C-8567-477C-9CE5-048F0AB2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controlar o número de casas decimais exibidas no console, utilizamos a formatação %.</a:t>
            </a:r>
            <a:r>
              <a:rPr lang="pt-BR" dirty="0" err="1"/>
              <a:t>nºf</a:t>
            </a:r>
            <a:r>
              <a:rPr lang="pt-BR" dirty="0"/>
              <a:t>, onde nº representa a quantidade de casas decimais desejadas. Veja o exemplo abaixo:</a:t>
            </a:r>
          </a:p>
          <a:p>
            <a:r>
              <a:rPr lang="pt-BR" dirty="0"/>
              <a:t>	</a:t>
            </a:r>
            <a:r>
              <a:rPr lang="pt-BR" b="1" dirty="0"/>
              <a:t>double</a:t>
            </a:r>
            <a:r>
              <a:rPr lang="pt-BR" dirty="0"/>
              <a:t> imc = 35.885577;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“%.2f”</a:t>
            </a:r>
            <a:r>
              <a:rPr lang="pt-BR" dirty="0"/>
              <a:t>, imc);</a:t>
            </a:r>
          </a:p>
          <a:p>
            <a:r>
              <a:rPr lang="pt-BR" dirty="0"/>
              <a:t>	Resultado = </a:t>
            </a:r>
            <a:r>
              <a:rPr lang="pt-BR" b="1" dirty="0"/>
              <a:t>35,89</a:t>
            </a:r>
          </a:p>
          <a:p>
            <a:r>
              <a:rPr lang="pt-BR" dirty="0" err="1"/>
              <a:t>Obs</a:t>
            </a:r>
            <a:r>
              <a:rPr lang="pt-BR" dirty="0"/>
              <a:t>: Caso queria quebrar a linha, utilize o %n, ficando da seguinte forma: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  %n”</a:t>
            </a:r>
            <a:r>
              <a:rPr lang="pt-BR" dirty="0"/>
              <a:t>, imc);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216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15533-C167-4461-9846-4A29BBC2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28867-D995-44A0-BB21-4FE7F3A3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574598"/>
          </a:xfrm>
        </p:spPr>
        <p:txBody>
          <a:bodyPr/>
          <a:lstStyle/>
          <a:p>
            <a:r>
              <a:rPr lang="pt-BR" dirty="0"/>
              <a:t>A concatenação é o processo de unir dois ou mais elementos, em um único valor. No Java, a concatenação é feita principalmente com o operador + ou o método </a:t>
            </a:r>
            <a:r>
              <a:rPr lang="pt-BR" dirty="0" err="1"/>
              <a:t>concat</a:t>
            </a:r>
            <a:r>
              <a:rPr lang="pt-BR" dirty="0"/>
              <a:t>() da classe String.</a:t>
            </a:r>
          </a:p>
          <a:p>
            <a:r>
              <a:rPr lang="pt-BR" dirty="0"/>
              <a:t>	</a:t>
            </a:r>
            <a:r>
              <a:rPr lang="pt-BR" dirty="0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7;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” </a:t>
            </a:r>
            <a:r>
              <a:rPr lang="pt-BR" dirty="0"/>
              <a:t>+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r>
              <a:rPr lang="pt-BR" dirty="0"/>
              <a:t>Para concatenar números formatados com texto, utilizamos o método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, como no exemplo abaixo:</a:t>
            </a:r>
          </a:p>
          <a:p>
            <a:r>
              <a:rPr lang="pt-BR" dirty="0">
                <a:solidFill>
                  <a:srgbClr val="C00000"/>
                </a:solidFill>
              </a:rPr>
              <a:t>	double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7.5555555;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%.2f %n”,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10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3925-0098-424B-9208-D35510E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DBF75-9D9B-4DE5-ADA8-79A2AC4B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4219"/>
          </a:xfrm>
        </p:spPr>
        <p:txBody>
          <a:bodyPr/>
          <a:lstStyle/>
          <a:p>
            <a:r>
              <a:rPr lang="pt-BR" sz="1800" dirty="0"/>
              <a:t>No Java, podemos concatenar múltiplos elementos dentro do mesmo </a:t>
            </a:r>
            <a:r>
              <a:rPr lang="pt-BR" sz="1800" dirty="0" err="1"/>
              <a:t>printf</a:t>
            </a:r>
            <a:r>
              <a:rPr lang="pt-BR" sz="1800" dirty="0"/>
              <a:t>(), utilizando especificadores de formato para controlar como cada tipo de dado será exibido. Os especificadores de formato são utilizados para definir o tipo de dado e o formato de exibição, como por exemplo: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316165-2B94-467D-881A-098F9AEA61D0}"/>
              </a:ext>
            </a:extLst>
          </p:cNvPr>
          <p:cNvSpPr txBox="1"/>
          <p:nvPr/>
        </p:nvSpPr>
        <p:spPr>
          <a:xfrm>
            <a:off x="592347" y="3755187"/>
            <a:ext cx="32880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%f - Números de ponto flutuante,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- Números inteiros,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 - String (texto),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%n - Quebra de linha.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2A8B18-4A69-43F0-8523-A22CABFFBC9E}"/>
              </a:ext>
            </a:extLst>
          </p:cNvPr>
          <p:cNvSpPr txBox="1"/>
          <p:nvPr/>
        </p:nvSpPr>
        <p:spPr>
          <a:xfrm>
            <a:off x="4641190" y="3785964"/>
            <a:ext cx="6958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salario = 4500.75;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= "João";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.printf(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%d,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Salário: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%.2f%n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idade, salario);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2453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16967"/>
            <a:ext cx="11007306" cy="1055543"/>
          </a:xfrm>
        </p:spPr>
        <p:txBody>
          <a:bodyPr/>
          <a:lstStyle/>
          <a:p>
            <a:r>
              <a:rPr lang="pt-BR" dirty="0"/>
              <a:t>No Java, a entrada de dados é feita com a classe </a:t>
            </a:r>
            <a:r>
              <a:rPr lang="pt-BR" b="1" dirty="0"/>
              <a:t>Scanner</a:t>
            </a:r>
            <a:r>
              <a:rPr lang="pt-BR" dirty="0"/>
              <a:t> do pacote </a:t>
            </a:r>
            <a:r>
              <a:rPr lang="pt-BR" b="1" dirty="0" err="1"/>
              <a:t>java.util</a:t>
            </a:r>
            <a:r>
              <a:rPr lang="pt-BR" dirty="0"/>
              <a:t>, permitindo que o programa leia informações do usuário, como números e textos, diretamente do teclado.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791BBC9-B3A4-4169-9044-2D1D74837508}"/>
              </a:ext>
            </a:extLst>
          </p:cNvPr>
          <p:cNvGrpSpPr/>
          <p:nvPr/>
        </p:nvGrpSpPr>
        <p:grpSpPr>
          <a:xfrm>
            <a:off x="2783609" y="3020292"/>
            <a:ext cx="6624783" cy="3608488"/>
            <a:chOff x="3932381" y="3020292"/>
            <a:chExt cx="6624783" cy="360848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52A8F5E-F15C-40B8-B8A6-7D2B6B4E07A7}"/>
                </a:ext>
              </a:extLst>
            </p:cNvPr>
            <p:cNvSpPr/>
            <p:nvPr/>
          </p:nvSpPr>
          <p:spPr>
            <a:xfrm>
              <a:off x="3932381" y="3020292"/>
              <a:ext cx="6624783" cy="3608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import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java.util.Scanner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             Importa a biblioteca Scanner</a:t>
              </a:r>
            </a:p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{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static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void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(String[]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args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 {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Scanner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b="1" dirty="0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new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Scanner(System.</a:t>
              </a:r>
              <a:r>
                <a:rPr lang="pt-BR" sz="1400" b="1" i="1" dirty="0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            Cria um objeto scanner.           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String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"Digite um nome: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.next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Lê a próxima palavra escrita pelo o usuário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"Você digitou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+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.close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Encerra o objeto Scanner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A06BE7-E7EE-4C41-A9CD-EC8A15EA5BB9}"/>
                </a:ext>
              </a:extLst>
            </p:cNvPr>
            <p:cNvCxnSpPr/>
            <p:nvPr/>
          </p:nvCxnSpPr>
          <p:spPr>
            <a:xfrm>
              <a:off x="5878944" y="3268807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44C4E0CF-C29A-4F19-9AF4-A4BB87990052}"/>
                </a:ext>
              </a:extLst>
            </p:cNvPr>
            <p:cNvCxnSpPr/>
            <p:nvPr/>
          </p:nvCxnSpPr>
          <p:spPr>
            <a:xfrm>
              <a:off x="7749308" y="42247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1DCF1559-8E1B-4A28-8C7B-430B279F1B25}"/>
                </a:ext>
              </a:extLst>
            </p:cNvPr>
            <p:cNvCxnSpPr/>
            <p:nvPr/>
          </p:nvCxnSpPr>
          <p:spPr>
            <a:xfrm>
              <a:off x="6229926" y="51899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9F063E0-260B-4434-A855-4DCC42918658}"/>
                </a:ext>
              </a:extLst>
            </p:cNvPr>
            <p:cNvCxnSpPr/>
            <p:nvPr/>
          </p:nvCxnSpPr>
          <p:spPr>
            <a:xfrm>
              <a:off x="5710525" y="5826846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2057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next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55543"/>
          </a:xfrm>
        </p:spPr>
        <p:txBody>
          <a:bodyPr/>
          <a:lstStyle/>
          <a:p>
            <a:r>
              <a:rPr lang="pt-BR" dirty="0"/>
              <a:t>Os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da classe </a:t>
            </a:r>
            <a:r>
              <a:rPr lang="pt-BR" b="1" dirty="0"/>
              <a:t>Scanner</a:t>
            </a:r>
            <a:r>
              <a:rPr lang="pt-BR" dirty="0"/>
              <a:t> no Java são usados para capturar dados fornecidos pelo usuário. A tabela abaixo apresenta os principais tipos de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e os dados que cada um é capaz de ler.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5E4199-5CDE-4157-B835-63078EF2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74" y="3000653"/>
            <a:ext cx="7380052" cy="31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 ao usar o </a:t>
            </a:r>
            <a:r>
              <a:rPr lang="pt-BR" dirty="0" err="1"/>
              <a:t>nextInt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7919"/>
          </a:xfrm>
        </p:spPr>
        <p:txBody>
          <a:bodyPr/>
          <a:lstStyle/>
          <a:p>
            <a:r>
              <a:rPr lang="pt-BR" dirty="0"/>
              <a:t>Ao usar </a:t>
            </a:r>
            <a:r>
              <a:rPr lang="pt-BR" b="1" dirty="0" err="1"/>
              <a:t>nextInt</a:t>
            </a:r>
            <a:r>
              <a:rPr lang="pt-BR" b="1" dirty="0"/>
              <a:t>() </a:t>
            </a:r>
            <a:r>
              <a:rPr lang="pt-BR" dirty="0"/>
              <a:t>seguido de </a:t>
            </a:r>
            <a:r>
              <a:rPr lang="pt-BR" b="1" dirty="0" err="1"/>
              <a:t>nextLine</a:t>
            </a:r>
            <a:r>
              <a:rPr lang="pt-BR" b="1" dirty="0"/>
              <a:t>()</a:t>
            </a:r>
            <a:r>
              <a:rPr lang="pt-BR" dirty="0"/>
              <a:t>, é preciso atenção, pois </a:t>
            </a:r>
            <a:r>
              <a:rPr lang="pt-BR" b="1" dirty="0" err="1"/>
              <a:t>nextInt</a:t>
            </a:r>
            <a:r>
              <a:rPr lang="pt-BR" b="1" dirty="0"/>
              <a:t>()</a:t>
            </a:r>
            <a:r>
              <a:rPr lang="pt-BR" dirty="0"/>
              <a:t> lê apenas o número e deixa a quebra de linha (\n) no buffer. Isso faz com que o </a:t>
            </a:r>
            <a:r>
              <a:rPr lang="pt-BR" b="1" dirty="0" err="1"/>
              <a:t>nextLine</a:t>
            </a:r>
            <a:r>
              <a:rPr lang="pt-BR" b="1" dirty="0"/>
              <a:t>() </a:t>
            </a:r>
            <a:r>
              <a:rPr lang="pt-BR" dirty="0"/>
              <a:t>capture a quebra residual, causando comportamentos inesperados.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008A9-DC1E-40A7-A6E7-D65A324ACC50}"/>
              </a:ext>
            </a:extLst>
          </p:cNvPr>
          <p:cNvSpPr/>
          <p:nvPr/>
        </p:nvSpPr>
        <p:spPr>
          <a:xfrm>
            <a:off x="7081421" y="4334084"/>
            <a:ext cx="3352800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pt-B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B80088-2530-4A60-9D22-39866862350B}"/>
              </a:ext>
            </a:extLst>
          </p:cNvPr>
          <p:cNvSpPr/>
          <p:nvPr/>
        </p:nvSpPr>
        <p:spPr>
          <a:xfrm>
            <a:off x="1899821" y="4334084"/>
            <a:ext cx="3352800" cy="13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EFE0A-B91B-4E9F-A279-F74AD32F826D}"/>
              </a:ext>
            </a:extLst>
          </p:cNvPr>
          <p:cNvSpPr txBox="1"/>
          <p:nvPr/>
        </p:nvSpPr>
        <p:spPr>
          <a:xfrm>
            <a:off x="2817039" y="38085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A992FE-D63C-4159-8E85-1885DA211269}"/>
              </a:ext>
            </a:extLst>
          </p:cNvPr>
          <p:cNvSpPr txBox="1"/>
          <p:nvPr/>
        </p:nvSpPr>
        <p:spPr>
          <a:xfrm>
            <a:off x="8094819" y="38085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892432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3602</Words>
  <Application>Microsoft Office PowerPoint</Application>
  <PresentationFormat>Widescreen</PresentationFormat>
  <Paragraphs>423</Paragraphs>
  <Slides>66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Tahoma</vt:lpstr>
      <vt:lpstr>Times New Roman</vt:lpstr>
      <vt:lpstr>Tema do Office</vt:lpstr>
      <vt:lpstr>PROJETOS DE SOFTWARE E SEGURANÇA DA INFORMAÇÃO</vt:lpstr>
      <vt:lpstr>Formação Acadêmica e Experiência Profissional</vt:lpstr>
      <vt:lpstr>Programação do Curso</vt:lpstr>
      <vt:lpstr>Métodos de Avaliação</vt:lpstr>
      <vt:lpstr>Métodos de Avaliação</vt:lpstr>
      <vt:lpstr>Código Fonte e Código Objeto</vt:lpstr>
      <vt:lpstr>Compilação x Interpretação</vt:lpstr>
      <vt:lpstr>Compilação x Interpretação</vt:lpstr>
      <vt:lpstr>Linguagem Interpretada x Compilada</vt:lpstr>
      <vt:lpstr>Compilação x Interpretação na Prática</vt:lpstr>
      <vt:lpstr>O Java se encaixa em qual tipo de abordagem.</vt:lpstr>
      <vt:lpstr>Sobre a Linguagem Java </vt:lpstr>
      <vt:lpstr>Desenvolvimento em Java</vt:lpstr>
      <vt:lpstr>Ambiente de Desenvolvimento Integrado (IDE)</vt:lpstr>
      <vt:lpstr>Requisitos Softwares </vt:lpstr>
      <vt:lpstr>Passo a Passo - JDK</vt:lpstr>
      <vt:lpstr>Passo a Passo - JDK</vt:lpstr>
      <vt:lpstr>Passo a Passo – Eclipse</vt:lpstr>
      <vt:lpstr>Passo a Passo - Eclipse</vt:lpstr>
      <vt:lpstr>Passo a Passo - Eclipse</vt:lpstr>
      <vt:lpstr>Passo a Passo – Criar um arquivo</vt:lpstr>
      <vt:lpstr>Passo a Passo – Criar um arquivo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Introdução ao Java</vt:lpstr>
      <vt:lpstr>Estrutura da Aplicação Java</vt:lpstr>
      <vt:lpstr>Estrutura da Aplicação Java</vt:lpstr>
      <vt:lpstr>Estrutura da Aplicação Java</vt:lpstr>
      <vt:lpstr>Variáveis</vt:lpstr>
      <vt:lpstr>Tipos Primitivos </vt:lpstr>
      <vt:lpstr>Maneiras de declarar variáveis</vt:lpstr>
      <vt:lpstr>Maneiras de declarar Classes</vt:lpstr>
      <vt:lpstr>Declarando variáveis em Java</vt:lpstr>
      <vt:lpstr>Operadores Aritméticos</vt:lpstr>
      <vt:lpstr>Funções Matemáticas</vt:lpstr>
      <vt:lpstr>Exibindo informações no console </vt:lpstr>
      <vt:lpstr>Controlando o número de casas decimais</vt:lpstr>
      <vt:lpstr>Concatenando Elementos</vt:lpstr>
      <vt:lpstr>Concatenando Elementos</vt:lpstr>
      <vt:lpstr>Entrada de Dados</vt:lpstr>
      <vt:lpstr>Métodos next()</vt:lpstr>
      <vt:lpstr>Atenção ao usar o nextInt()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68</cp:revision>
  <dcterms:created xsi:type="dcterms:W3CDTF">2024-03-08T12:14:33Z</dcterms:created>
  <dcterms:modified xsi:type="dcterms:W3CDTF">2026-02-09T18:44:25Z</dcterms:modified>
</cp:coreProperties>
</file>