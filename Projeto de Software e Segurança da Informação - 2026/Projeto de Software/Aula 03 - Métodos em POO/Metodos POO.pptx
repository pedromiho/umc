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8"/>
  </p:notesMasterIdLst>
  <p:sldIdLst>
    <p:sldId id="256" r:id="rId2"/>
    <p:sldId id="274" r:id="rId3"/>
    <p:sldId id="257" r:id="rId4"/>
    <p:sldId id="261" r:id="rId5"/>
    <p:sldId id="275" r:id="rId6"/>
    <p:sldId id="276" r:id="rId7"/>
    <p:sldId id="277" r:id="rId8"/>
    <p:sldId id="278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 dirty="0"/>
              <a:t>Métodos Programação Orientada a Objetos (POO)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44951-435E-405A-9B1C-FB9118DC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Desafio - Gerenciamento de Livros em uma Biblioteca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1F468-5CC3-4133-95DD-B88E34746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Crie um programa para gerenciar livros de uma biblioteca. A classe Livro deve conter os atributos título, autor e quantidade de exemplares disponíveis. No programa principal, permita ao usuário cadastrar um livro informando esses dados.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D369694-C42B-4A80-A75A-E360205DD05D}"/>
              </a:ext>
            </a:extLst>
          </p:cNvPr>
          <p:cNvSpPr txBox="1">
            <a:spLocks/>
          </p:cNvSpPr>
          <p:nvPr/>
        </p:nvSpPr>
        <p:spPr>
          <a:xfrm>
            <a:off x="592347" y="3492023"/>
            <a:ext cx="6113253" cy="2909254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Adicione métodos para emprestar, devolver exemplares e informar o patrimônio total dos livros, ajustando a quantidade disponível. Exiba os dados atualizados do livro após cada operação, utilizando o método </a:t>
            </a:r>
            <a:r>
              <a:rPr lang="pt-BR" dirty="0" err="1"/>
              <a:t>toString</a:t>
            </a:r>
            <a:r>
              <a:rPr lang="pt-BR" dirty="0"/>
              <a:t>. Certifique-se de que o número de exemplares nunca fique negativo.</a:t>
            </a:r>
          </a:p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6AC8620-A8F1-4426-B578-2B0448A3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06" y="3492023"/>
            <a:ext cx="3374161" cy="290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8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72305-7C21-4E25-906C-2ED77935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9A8F5-CFB6-470F-978A-1C8CBBDAF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90708"/>
          </a:xfrm>
        </p:spPr>
        <p:txBody>
          <a:bodyPr/>
          <a:lstStyle/>
          <a:p>
            <a:r>
              <a:rPr lang="pt-BR" dirty="0"/>
              <a:t>Os construtores em POO inicializam objetos automaticamente ao serem criados, atribuindo valores iniciais aos atributos. Isso garante que os objetos tenham dados definidos e evita configurações manuais posteriores, tornando o código mais eficiente.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3F3BFB6-323E-46E4-8D5D-9365375131CE}"/>
              </a:ext>
            </a:extLst>
          </p:cNvPr>
          <p:cNvGrpSpPr/>
          <p:nvPr/>
        </p:nvGrpSpPr>
        <p:grpSpPr>
          <a:xfrm>
            <a:off x="6941257" y="3579812"/>
            <a:ext cx="3220115" cy="2026259"/>
            <a:chOff x="6941257" y="3579812"/>
            <a:chExt cx="3220115" cy="2026259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1D7CB9A-9AEA-4A5D-B2CC-694A9A357F6C}"/>
                </a:ext>
              </a:extLst>
            </p:cNvPr>
            <p:cNvSpPr/>
            <p:nvPr/>
          </p:nvSpPr>
          <p:spPr>
            <a:xfrm>
              <a:off x="6941257" y="4166071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nome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04D7FA70-4A27-4730-960D-86E7DCE13731}"/>
                </a:ext>
              </a:extLst>
            </p:cNvPr>
            <p:cNvSpPr/>
            <p:nvPr/>
          </p:nvSpPr>
          <p:spPr>
            <a:xfrm>
              <a:off x="6941257" y="4886071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idade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E5AE377F-3879-48D1-AE68-2C34F22536B1}"/>
                </a:ext>
              </a:extLst>
            </p:cNvPr>
            <p:cNvSpPr txBox="1"/>
            <p:nvPr/>
          </p:nvSpPr>
          <p:spPr>
            <a:xfrm>
              <a:off x="9135817" y="4326016"/>
              <a:ext cx="10255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“João”</a:t>
              </a:r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74FB14C4-7ADC-4E9C-A375-C95210347710}"/>
                </a:ext>
              </a:extLst>
            </p:cNvPr>
            <p:cNvCxnSpPr>
              <a:cxnSpLocks/>
              <a:stCxn id="19" idx="3"/>
              <a:endCxn id="21" idx="1"/>
            </p:cNvCxnSpPr>
            <p:nvPr/>
          </p:nvCxnSpPr>
          <p:spPr>
            <a:xfrm>
              <a:off x="8381257" y="4526071"/>
              <a:ext cx="754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60E5DB08-184C-4020-8A09-560361440D78}"/>
                </a:ext>
              </a:extLst>
            </p:cNvPr>
            <p:cNvSpPr txBox="1"/>
            <p:nvPr/>
          </p:nvSpPr>
          <p:spPr>
            <a:xfrm>
              <a:off x="6941257" y="3579812"/>
              <a:ext cx="3217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 Construtor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4FB882E-78C7-4DA9-91AB-FE3D0E60A387}"/>
                </a:ext>
              </a:extLst>
            </p:cNvPr>
            <p:cNvSpPr txBox="1"/>
            <p:nvPr/>
          </p:nvSpPr>
          <p:spPr>
            <a:xfrm>
              <a:off x="9135818" y="5046015"/>
              <a:ext cx="5428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B1BE45CB-0E79-435B-833D-2156792106A7}"/>
                </a:ext>
              </a:extLst>
            </p:cNvPr>
            <p:cNvCxnSpPr>
              <a:cxnSpLocks/>
            </p:cNvCxnSpPr>
            <p:nvPr/>
          </p:nvCxnSpPr>
          <p:spPr>
            <a:xfrm>
              <a:off x="8381257" y="5246070"/>
              <a:ext cx="7545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E5D45AC-8148-4B6C-B144-64A17CBAB0DC}"/>
              </a:ext>
            </a:extLst>
          </p:cNvPr>
          <p:cNvGrpSpPr/>
          <p:nvPr/>
        </p:nvGrpSpPr>
        <p:grpSpPr>
          <a:xfrm>
            <a:off x="2030629" y="3579812"/>
            <a:ext cx="2879999" cy="2026259"/>
            <a:chOff x="2030629" y="3579812"/>
            <a:chExt cx="2879999" cy="2026259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95B4AEDB-9D02-4DA3-A8DA-13A17D73CC2D}"/>
                </a:ext>
              </a:extLst>
            </p:cNvPr>
            <p:cNvSpPr/>
            <p:nvPr/>
          </p:nvSpPr>
          <p:spPr>
            <a:xfrm>
              <a:off x="2030629" y="4166071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nome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CDFC1C4-2B2D-4A31-B09A-76E2964897C0}"/>
                </a:ext>
              </a:extLst>
            </p:cNvPr>
            <p:cNvSpPr/>
            <p:nvPr/>
          </p:nvSpPr>
          <p:spPr>
            <a:xfrm>
              <a:off x="2030629" y="4886071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idade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7F58213-D052-4357-9A7A-03F05A706D94}"/>
                </a:ext>
              </a:extLst>
            </p:cNvPr>
            <p:cNvSpPr txBox="1"/>
            <p:nvPr/>
          </p:nvSpPr>
          <p:spPr>
            <a:xfrm>
              <a:off x="4225189" y="4326015"/>
              <a:ext cx="6854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null</a:t>
              </a:r>
              <a:endParaRPr lang="pt-B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9FF03C11-B0A1-4F8A-A46D-D4F9E7E0172C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 flipV="1">
              <a:off x="3470629" y="4526070"/>
              <a:ext cx="75456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A64045A6-6B12-4DB2-9383-DAE6559E13CF}"/>
                </a:ext>
              </a:extLst>
            </p:cNvPr>
            <p:cNvSpPr txBox="1"/>
            <p:nvPr/>
          </p:nvSpPr>
          <p:spPr>
            <a:xfrm>
              <a:off x="2030629" y="3579812"/>
              <a:ext cx="2879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Sem Construtor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86A3057B-A756-4BE4-8314-F3D129E93CBC}"/>
                </a:ext>
              </a:extLst>
            </p:cNvPr>
            <p:cNvSpPr txBox="1"/>
            <p:nvPr/>
          </p:nvSpPr>
          <p:spPr>
            <a:xfrm>
              <a:off x="4225190" y="5046015"/>
              <a:ext cx="30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68A96F8F-AB4C-467F-8A7D-BB8D5F55FBBF}"/>
                </a:ext>
              </a:extLst>
            </p:cNvPr>
            <p:cNvCxnSpPr>
              <a:cxnSpLocks/>
              <a:stCxn id="6" idx="3"/>
              <a:endCxn id="38" idx="1"/>
            </p:cNvCxnSpPr>
            <p:nvPr/>
          </p:nvCxnSpPr>
          <p:spPr>
            <a:xfrm flipV="1">
              <a:off x="3470629" y="5246070"/>
              <a:ext cx="754561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C38C6EEA-850E-4572-8AB7-599730FD9AFA}"/>
                </a:ext>
              </a:extLst>
            </p:cNvPr>
            <p:cNvSpPr/>
            <p:nvPr/>
          </p:nvSpPr>
          <p:spPr>
            <a:xfrm>
              <a:off x="2030629" y="4166070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nome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D02F118C-5A2F-4D23-B1ED-79FC8ED95A4A}"/>
                </a:ext>
              </a:extLst>
            </p:cNvPr>
            <p:cNvSpPr/>
            <p:nvPr/>
          </p:nvSpPr>
          <p:spPr>
            <a:xfrm>
              <a:off x="2030629" y="4886070"/>
              <a:ext cx="1440000" cy="72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9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F0862-4EB7-43CE-BACC-95A37037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Construtor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9EC3D1-5050-446E-9593-19B673DEA2D4}"/>
              </a:ext>
            </a:extLst>
          </p:cNvPr>
          <p:cNvSpPr txBox="1"/>
          <p:nvPr/>
        </p:nvSpPr>
        <p:spPr>
          <a:xfrm>
            <a:off x="8073559" y="23190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080107-14C6-4219-B569-F92C712FBFC3}"/>
              </a:ext>
            </a:extLst>
          </p:cNvPr>
          <p:cNvSpPr/>
          <p:nvPr/>
        </p:nvSpPr>
        <p:spPr>
          <a:xfrm>
            <a:off x="6708474" y="2966166"/>
            <a:ext cx="4415246" cy="2636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(String[] </a:t>
            </a: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pt-BR" sz="12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2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200" dirty="0">
                <a:solidFill>
                  <a:srgbClr val="2A00FF"/>
                </a:solidFill>
                <a:latin typeface="Consolas" panose="020B0609020204030204" pitchFamily="49" charset="0"/>
              </a:rPr>
              <a:t>"Digite o seu nome: "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2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200" dirty="0">
                <a:solidFill>
                  <a:srgbClr val="2A00FF"/>
                </a:solidFill>
                <a:latin typeface="Consolas" panose="020B0609020204030204" pitchFamily="49" charset="0"/>
              </a:rPr>
              <a:t>"Digite a sua idade: "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Pessoa </a:t>
            </a: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pessoa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Pessoa(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2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pessoa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07D29F-E0EE-4762-814A-528A3A877E79}"/>
              </a:ext>
            </a:extLst>
          </p:cNvPr>
          <p:cNvSpPr txBox="1"/>
          <p:nvPr/>
        </p:nvSpPr>
        <p:spPr>
          <a:xfrm>
            <a:off x="2556583" y="231904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Classe: Pessoa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559D24-0F7B-4E33-BB82-CE9180FF25D4}"/>
              </a:ext>
            </a:extLst>
          </p:cNvPr>
          <p:cNvSpPr/>
          <p:nvPr/>
        </p:nvSpPr>
        <p:spPr>
          <a:xfrm>
            <a:off x="1068279" y="3222646"/>
            <a:ext cx="457191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sz="1200" dirty="0">
                <a:solidFill>
                  <a:srgbClr val="0000C0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Pessoa(String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200" dirty="0" err="1">
                <a:solidFill>
                  <a:srgbClr val="0000C0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200" dirty="0" err="1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2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200" dirty="0">
                <a:solidFill>
                  <a:srgbClr val="2A00FF"/>
                </a:solidFill>
                <a:latin typeface="Consolas" panose="020B0609020204030204" pitchFamily="49" charset="0"/>
              </a:rPr>
              <a:t>"nome: "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200" dirty="0">
                <a:solidFill>
                  <a:srgbClr val="0000C0"/>
                </a:solidFill>
                <a:latin typeface="Consolas" panose="020B0609020204030204" pitchFamily="49" charset="0"/>
              </a:rPr>
              <a:t>nome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200" dirty="0">
                <a:solidFill>
                  <a:srgbClr val="2A00FF"/>
                </a:solidFill>
                <a:latin typeface="Consolas" panose="020B0609020204030204" pitchFamily="49" charset="0"/>
              </a:rPr>
              <a:t>", idade: "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200" dirty="0">
                <a:solidFill>
                  <a:srgbClr val="0000C0"/>
                </a:solidFill>
                <a:latin typeface="Consolas" panose="020B0609020204030204" pitchFamily="49" charset="0"/>
              </a:rPr>
              <a:t>idade</a:t>
            </a:r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</a:p>
          <a:p>
            <a:r>
              <a:rPr lang="pt-B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681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7257D-0ACF-4EAA-A854-AEC0B232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 classe Livro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63C707-306A-403E-82A2-84CCFFA34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92225"/>
          </a:xfrm>
        </p:spPr>
        <p:txBody>
          <a:bodyPr/>
          <a:lstStyle/>
          <a:p>
            <a:r>
              <a:rPr lang="pt-BR" dirty="0"/>
              <a:t>A primeira etapa deste desafio é criar uma classe </a:t>
            </a:r>
            <a:r>
              <a:rPr lang="pt-BR" b="1" dirty="0"/>
              <a:t>Livro</a:t>
            </a:r>
            <a:r>
              <a:rPr lang="pt-BR" dirty="0"/>
              <a:t>, dentro de um pacote chamado </a:t>
            </a:r>
            <a:r>
              <a:rPr lang="pt-BR" b="1" dirty="0"/>
              <a:t>Entidades</a:t>
            </a:r>
            <a:r>
              <a:rPr lang="pt-BR" dirty="0"/>
              <a:t>, onde iremos informar os atributos pertencentes a ela.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021475-DC89-4E61-AF73-66573B04AE02}"/>
              </a:ext>
            </a:extLst>
          </p:cNvPr>
          <p:cNvSpPr/>
          <p:nvPr/>
        </p:nvSpPr>
        <p:spPr>
          <a:xfrm>
            <a:off x="4356100" y="3136900"/>
            <a:ext cx="3479800" cy="2667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Entidades;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Livro {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autor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455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65533-00E8-4230-A0E3-20F224B4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Informando os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9BCA43-CD04-47B4-9935-A9DFA2F9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2525"/>
          </a:xfrm>
        </p:spPr>
        <p:txBody>
          <a:bodyPr/>
          <a:lstStyle/>
          <a:p>
            <a:r>
              <a:rPr lang="pt-BR" dirty="0"/>
              <a:t>Informar o método </a:t>
            </a:r>
            <a:r>
              <a:rPr lang="pt-BR" dirty="0" err="1"/>
              <a:t>valorTotalLivro</a:t>
            </a:r>
            <a:r>
              <a:rPr lang="pt-BR" dirty="0"/>
              <a:t>() pertencente a classe Livro(), esse método terá a responsabilidade de calcular o valor total dos livros que a biblioteca possui.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52AB9D-2A83-4E91-A697-7D0F01D9BE7D}"/>
              </a:ext>
            </a:extLst>
          </p:cNvPr>
          <p:cNvSpPr/>
          <p:nvPr/>
        </p:nvSpPr>
        <p:spPr>
          <a:xfrm>
            <a:off x="3276600" y="3374737"/>
            <a:ext cx="5638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valorTotalLivro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valorTotal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valorTotal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C071A43-00C2-4537-AC73-AC319E10E2F3}"/>
              </a:ext>
            </a:extLst>
          </p:cNvPr>
          <p:cNvSpPr txBox="1">
            <a:spLocks/>
          </p:cNvSpPr>
          <p:nvPr/>
        </p:nvSpPr>
        <p:spPr>
          <a:xfrm>
            <a:off x="592347" y="4952602"/>
            <a:ext cx="11007306" cy="154056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 Um </a:t>
            </a:r>
            <a:r>
              <a:rPr lang="pt-BR" sz="1800" b="1" dirty="0"/>
              <a:t>método</a:t>
            </a:r>
            <a:r>
              <a:rPr lang="pt-BR" sz="1800" dirty="0"/>
              <a:t> </a:t>
            </a:r>
            <a:r>
              <a:rPr lang="pt-BR" sz="1800" b="1" dirty="0"/>
              <a:t>com</a:t>
            </a:r>
            <a:r>
              <a:rPr lang="pt-BR" sz="1800" dirty="0"/>
              <a:t> </a:t>
            </a:r>
            <a:r>
              <a:rPr lang="pt-BR" sz="1800" b="1" dirty="0"/>
              <a:t>retorno</a:t>
            </a:r>
            <a:r>
              <a:rPr lang="pt-BR" sz="1800" dirty="0"/>
              <a:t> double (ou qualquer outro tipo) </a:t>
            </a:r>
            <a:r>
              <a:rPr lang="pt-BR" sz="1800" b="1" dirty="0"/>
              <a:t>retorna</a:t>
            </a:r>
            <a:r>
              <a:rPr lang="pt-BR" sz="1800" dirty="0"/>
              <a:t> um valor do tipo especificado quando é chamado.</a:t>
            </a:r>
          </a:p>
          <a:p>
            <a:r>
              <a:rPr lang="pt-BR" sz="1800" dirty="0"/>
              <a:t>Use </a:t>
            </a:r>
            <a:r>
              <a:rPr lang="pt-BR" sz="1800" b="1" dirty="0" err="1"/>
              <a:t>public</a:t>
            </a:r>
            <a:r>
              <a:rPr lang="pt-BR" sz="1800" dirty="0"/>
              <a:t> </a:t>
            </a:r>
            <a:r>
              <a:rPr lang="pt-BR" sz="1800" b="1" dirty="0"/>
              <a:t>double</a:t>
            </a:r>
            <a:r>
              <a:rPr lang="pt-BR" sz="1800" dirty="0"/>
              <a:t> (ou outro tipo de retorno) quando o método precisar calcular ou obter um valor e devolvê-lo para o código que o chamou.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28411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65533-00E8-4230-A0E3-20F224B4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Informando os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9BCA43-CD04-47B4-9935-A9DFA2F9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2525"/>
          </a:xfrm>
        </p:spPr>
        <p:txBody>
          <a:bodyPr/>
          <a:lstStyle/>
          <a:p>
            <a:r>
              <a:rPr lang="pt-BR" dirty="0"/>
              <a:t>Informar os métodos </a:t>
            </a:r>
            <a:r>
              <a:rPr lang="pt-BR" dirty="0" err="1"/>
              <a:t>emprestaLivro</a:t>
            </a:r>
            <a:r>
              <a:rPr lang="pt-BR" dirty="0"/>
              <a:t>() e </a:t>
            </a:r>
            <a:r>
              <a:rPr lang="pt-BR" dirty="0" err="1"/>
              <a:t>devolveLivro</a:t>
            </a:r>
            <a:r>
              <a:rPr lang="pt-BR" dirty="0"/>
              <a:t>() pertencentes a classe Livro(), esse método terá a responsabilidade de calcular a quantidade total de livros que a biblioteca possui no momento.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C071A43-00C2-4537-AC73-AC319E10E2F3}"/>
              </a:ext>
            </a:extLst>
          </p:cNvPr>
          <p:cNvSpPr txBox="1">
            <a:spLocks/>
          </p:cNvSpPr>
          <p:nvPr/>
        </p:nvSpPr>
        <p:spPr>
          <a:xfrm>
            <a:off x="592347" y="4407120"/>
            <a:ext cx="11007306" cy="11525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Um </a:t>
            </a:r>
            <a:r>
              <a:rPr lang="pt-BR" sz="1800" b="1" dirty="0"/>
              <a:t>método</a:t>
            </a:r>
            <a:r>
              <a:rPr lang="pt-BR" sz="1800" dirty="0"/>
              <a:t> </a:t>
            </a:r>
            <a:r>
              <a:rPr lang="pt-BR" sz="1800" b="1" dirty="0" err="1"/>
              <a:t>void</a:t>
            </a:r>
            <a:r>
              <a:rPr lang="pt-BR" sz="1800" dirty="0"/>
              <a:t> não retorna nenhum valor. Ele executa uma ação e termina sua execução.</a:t>
            </a:r>
          </a:p>
          <a:p>
            <a:r>
              <a:rPr lang="pt-BR" sz="1800" dirty="0"/>
              <a:t>Use </a:t>
            </a:r>
            <a:r>
              <a:rPr lang="pt-BR" sz="1800" b="1" dirty="0" err="1"/>
              <a:t>public</a:t>
            </a:r>
            <a:r>
              <a:rPr lang="pt-BR" sz="1800" b="1" dirty="0"/>
              <a:t> </a:t>
            </a:r>
            <a:r>
              <a:rPr lang="pt-BR" sz="1800" b="1" dirty="0" err="1"/>
              <a:t>void</a:t>
            </a:r>
            <a:r>
              <a:rPr lang="pt-BR" sz="1800" b="1" dirty="0"/>
              <a:t> </a:t>
            </a:r>
            <a:r>
              <a:rPr lang="pt-BR" sz="1800" dirty="0"/>
              <a:t>quando o método realiza alguma tarefa, mas você não precisa que ele devolva um valor.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38BA9E-2B7F-4D30-A8FD-4E89DB68C96C}"/>
              </a:ext>
            </a:extLst>
          </p:cNvPr>
          <p:cNvSpPr/>
          <p:nvPr/>
        </p:nvSpPr>
        <p:spPr>
          <a:xfrm>
            <a:off x="684530" y="3271273"/>
            <a:ext cx="498659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emprestaLivro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-=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91443FF-21B4-441D-9000-19CD4F1D47AD}"/>
              </a:ext>
            </a:extLst>
          </p:cNvPr>
          <p:cNvSpPr/>
          <p:nvPr/>
        </p:nvSpPr>
        <p:spPr>
          <a:xfrm>
            <a:off x="5920509" y="3271273"/>
            <a:ext cx="56791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devolveLivro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	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672F217-1887-4E9F-BB2B-BDDFD7C84A8D}"/>
              </a:ext>
            </a:extLst>
          </p:cNvPr>
          <p:cNvSpPr txBox="1">
            <a:spLocks/>
          </p:cNvSpPr>
          <p:nvPr/>
        </p:nvSpPr>
        <p:spPr>
          <a:xfrm>
            <a:off x="592347" y="5833717"/>
            <a:ext cx="11007306" cy="57626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 </a:t>
            </a:r>
            <a:r>
              <a:rPr lang="pt-BR" sz="1800" b="1" dirty="0">
                <a:solidFill>
                  <a:srgbClr val="FF0000"/>
                </a:solidFill>
              </a:rPr>
              <a:t>método</a:t>
            </a:r>
            <a:r>
              <a:rPr lang="pt-BR" sz="1800" dirty="0"/>
              <a:t> </a:t>
            </a:r>
            <a:r>
              <a:rPr lang="pt-BR" sz="1800" b="1" dirty="0" err="1">
                <a:solidFill>
                  <a:srgbClr val="FF0000"/>
                </a:solidFill>
              </a:rPr>
              <a:t>this</a:t>
            </a:r>
            <a:r>
              <a:rPr lang="pt-BR" sz="1800" dirty="0"/>
              <a:t> é usado para referenciar o atributo da classe, diferenciando-o do parâmetro local com o mesmo nome.</a:t>
            </a:r>
          </a:p>
        </p:txBody>
      </p:sp>
    </p:spTree>
    <p:extLst>
      <p:ext uri="{BB962C8B-B14F-4D97-AF65-F5344CB8AC3E}">
        <p14:creationId xmlns:p14="http://schemas.microsoft.com/office/powerpoint/2010/main" val="153720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123D5-8621-4685-8F0E-976C9022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programa </a:t>
            </a:r>
            <a:r>
              <a:rPr lang="pt-BR" dirty="0" err="1"/>
              <a:t>Main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AB4D2-2D26-4A04-91D4-6405BEC6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30670"/>
          </a:xfrm>
        </p:spPr>
        <p:txBody>
          <a:bodyPr/>
          <a:lstStyle/>
          <a:p>
            <a:r>
              <a:rPr lang="pt-BR" dirty="0"/>
              <a:t>Agora iremos criar o programa, onde iremos inserir valores aos atributos criados.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8F753C-E3D4-4C88-862E-6C5F1B91392A}"/>
              </a:ext>
            </a:extLst>
          </p:cNvPr>
          <p:cNvSpPr/>
          <p:nvPr/>
        </p:nvSpPr>
        <p:spPr>
          <a:xfrm>
            <a:off x="2900218" y="2572942"/>
            <a:ext cx="639156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(String[]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Livro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Livro();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"Informe os dados do livro: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"Livro: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"Autor: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autor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"Quantidade: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"Valor: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616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123D5-8621-4685-8F0E-976C9022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programa </a:t>
            </a:r>
            <a:r>
              <a:rPr lang="pt-BR" dirty="0" err="1"/>
              <a:t>Main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AB4D2-2D26-4A04-91D4-6405BEC6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18598"/>
          </a:xfrm>
        </p:spPr>
        <p:txBody>
          <a:bodyPr/>
          <a:lstStyle/>
          <a:p>
            <a:r>
              <a:rPr lang="pt-BR" dirty="0"/>
              <a:t>Agora iremos criar o método, onde iremos calcular o valor total de todos os itens que temos na biblioteca e informar todos as informações referentes ao livro.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E6B5567-D63A-4E97-94B1-EECB105C019C}"/>
              </a:ext>
            </a:extLst>
          </p:cNvPr>
          <p:cNvSpPr/>
          <p:nvPr/>
        </p:nvSpPr>
        <p:spPr>
          <a:xfrm>
            <a:off x="2280067" y="3240038"/>
            <a:ext cx="7631867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valorTotal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.valorTotalLivro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"Registro livro: Livro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indent="2520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Autor: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autor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2520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Quantidade de </a:t>
            </a:r>
            <a:r>
              <a:rPr lang="pt-BR" dirty="0" err="1">
                <a:solidFill>
                  <a:srgbClr val="2A00FF"/>
                </a:solidFill>
                <a:latin typeface="Consolas" panose="020B0609020204030204" pitchFamily="49" charset="0"/>
              </a:rPr>
              <a:t>Examplares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2520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Valor do Livro: R$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2520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Valor total dos livro: R$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valorTotal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7004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27F70-EECA-4094-BE8B-8778CD3B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 forma de exibir as informações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1DA867-C4B0-474D-A2A1-668484946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Outra maneira de exibir as informações sobre o livro é imprimindo diretamente o objeto. No entanto, ao tentar fazer isso sem ajustes, você perceberá que o resultado pode não ser o esperado, já que o Java exibe apenas a referência do objeto e não seus atributos.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B88E24F-679B-4516-A87C-77D95E5369FF}"/>
              </a:ext>
            </a:extLst>
          </p:cNvPr>
          <p:cNvGrpSpPr/>
          <p:nvPr/>
        </p:nvGrpSpPr>
        <p:grpSpPr>
          <a:xfrm>
            <a:off x="1830269" y="3968357"/>
            <a:ext cx="8531462" cy="369332"/>
            <a:chOff x="1830269" y="3970682"/>
            <a:chExt cx="8531462" cy="369332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D10E22F-83C4-4505-89FF-486F59A20BFD}"/>
                </a:ext>
              </a:extLst>
            </p:cNvPr>
            <p:cNvSpPr/>
            <p:nvPr/>
          </p:nvSpPr>
          <p:spPr>
            <a:xfrm>
              <a:off x="1830269" y="3970682"/>
              <a:ext cx="34772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solidFill>
                    <a:srgbClr val="000000"/>
                  </a:solidFill>
                  <a:latin typeface="Consolas" panose="020B0609020204030204" pitchFamily="49" charset="0"/>
                </a:rPr>
                <a:t>System.</a:t>
              </a:r>
              <a:r>
                <a:rPr lang="pt-BR" b="1" i="1" dirty="0">
                  <a:solidFill>
                    <a:srgbClr val="0000C0"/>
                  </a:solidFill>
                  <a:latin typeface="Consolas" panose="020B0609020204030204" pitchFamily="49" charset="0"/>
                </a:rPr>
                <a:t>out</a:t>
              </a:r>
              <a:r>
                <a:rPr lang="pt-BR" dirty="0">
                  <a:solidFill>
                    <a:srgbClr val="000000"/>
                  </a:solidFill>
                  <a:latin typeface="Consolas" panose="020B0609020204030204" pitchFamily="49" charset="0"/>
                </a:rPr>
                <a:t>.println(</a:t>
              </a:r>
              <a:r>
                <a:rPr lang="pt-BR" dirty="0">
                  <a:solidFill>
                    <a:srgbClr val="6A3E3E"/>
                  </a:solidFill>
                  <a:latin typeface="Consolas" panose="020B0609020204030204" pitchFamily="49" charset="0"/>
                </a:rPr>
                <a:t>livro</a:t>
              </a:r>
              <a:r>
                <a:rPr lang="pt-BR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  <a:endParaRPr lang="pt-BR" dirty="0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2B256A8-DCE3-4B19-9818-E06703E3133B}"/>
                </a:ext>
              </a:extLst>
            </p:cNvPr>
            <p:cNvSpPr/>
            <p:nvPr/>
          </p:nvSpPr>
          <p:spPr>
            <a:xfrm>
              <a:off x="7137772" y="3970682"/>
              <a:ext cx="32239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solidFill>
                    <a:srgbClr val="000000"/>
                  </a:solidFill>
                  <a:latin typeface="Consolas" panose="020B0609020204030204" pitchFamily="49" charset="0"/>
                </a:rPr>
                <a:t>Entidades.Livro@506c589e</a:t>
              </a:r>
              <a:endParaRPr lang="pt-BR" dirty="0"/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13EB796B-FA86-4380-BF43-7D520203E9BC}"/>
              </a:ext>
            </a:extLst>
          </p:cNvPr>
          <p:cNvSpPr/>
          <p:nvPr/>
        </p:nvSpPr>
        <p:spPr>
          <a:xfrm>
            <a:off x="592347" y="4877046"/>
            <a:ext cx="11007306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exibir todos os atributos de um objeto ao imprimi-lo diretamente, você deve sobrescrever o método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classe do objeto. O método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como o objeto será representado em formato de texto quando for chamado em uma impressão</a:t>
            </a:r>
          </a:p>
        </p:txBody>
      </p:sp>
    </p:spTree>
    <p:extLst>
      <p:ext uri="{BB962C8B-B14F-4D97-AF65-F5344CB8AC3E}">
        <p14:creationId xmlns:p14="http://schemas.microsoft.com/office/powerpoint/2010/main" val="26335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7DC24-CD23-4482-89A7-0EEF9A09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Sobrescrevendo o Método </a:t>
            </a:r>
            <a:r>
              <a:rPr lang="pt-BR" dirty="0" err="1"/>
              <a:t>toString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D98FB5-CD65-468F-8334-D9069CA02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Para personalizar a forma como o objeto será exibido, devemos sobrescrever o método </a:t>
            </a:r>
            <a:r>
              <a:rPr lang="pt-BR" dirty="0" err="1"/>
              <a:t>toString</a:t>
            </a:r>
            <a:r>
              <a:rPr lang="pt-BR" dirty="0"/>
              <a:t>(), que já existe na linguagem Java. Para isso, basta criar um novo método chamado </a:t>
            </a:r>
            <a:r>
              <a:rPr lang="pt-BR" dirty="0" err="1"/>
              <a:t>toString</a:t>
            </a:r>
            <a:r>
              <a:rPr lang="pt-BR" dirty="0"/>
              <a:t>() dentro da classe Livro, definindo como os atributos do objeto devem ser representados em formato de texto.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32FA2C-953A-4682-810C-E8AFD073BBCD}"/>
              </a:ext>
            </a:extLst>
          </p:cNvPr>
          <p:cNvSpPr/>
          <p:nvPr/>
        </p:nvSpPr>
        <p:spPr>
          <a:xfrm>
            <a:off x="2266950" y="3664478"/>
            <a:ext cx="76581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"Livro: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livro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Autor: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autor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Quantidade de </a:t>
            </a:r>
            <a:r>
              <a:rPr lang="pt-BR" dirty="0" err="1">
                <a:solidFill>
                  <a:srgbClr val="2A00FF"/>
                </a:solidFill>
                <a:latin typeface="Consolas" panose="020B0609020204030204" pitchFamily="49" charset="0"/>
              </a:rPr>
              <a:t>Examplares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Valor do Livro: R$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 Valor total dos livro: R$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valorTotalLivro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5889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7DC24-CD23-4482-89A7-0EEF9A09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Formatando as casas decimais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D98FB5-CD65-468F-8334-D9069CA02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1725"/>
          </a:xfrm>
        </p:spPr>
        <p:txBody>
          <a:bodyPr/>
          <a:lstStyle/>
          <a:p>
            <a:r>
              <a:rPr lang="pt-BR" dirty="0"/>
              <a:t>Para formatar números no padrão brasileiro, onde as casas decimais são separadas por vírgulas, utilizamos o método </a:t>
            </a:r>
            <a:r>
              <a:rPr lang="pt-BR" dirty="0" err="1"/>
              <a:t>String.format</a:t>
            </a:r>
            <a:r>
              <a:rPr lang="pt-BR" dirty="0"/>
              <a:t>(formatação, atributo).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57BD4C-66BD-4EBB-AF5F-26C17DE87C9B}"/>
              </a:ext>
            </a:extLst>
          </p:cNvPr>
          <p:cNvSpPr/>
          <p:nvPr/>
        </p:nvSpPr>
        <p:spPr>
          <a:xfrm>
            <a:off x="1443904" y="3009900"/>
            <a:ext cx="9304193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"Livro: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livro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 Autor: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autor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 Quantidade de </a:t>
            </a:r>
            <a:r>
              <a:rPr lang="pt-B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Examplares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quantidade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 Valor do Livro: R$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format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"%.2f"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valor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indent="6516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 Valor total dos livro: R$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format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"%.2f"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valorTotalLivro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29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58668-95C2-46B9-8AD7-F5C81116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os métodos no programa </a:t>
            </a:r>
            <a:r>
              <a:rPr lang="pt-BR" dirty="0" err="1"/>
              <a:t>Main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40446D-E858-4E4B-93AC-C8FC81793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63625"/>
          </a:xfrm>
        </p:spPr>
        <p:txBody>
          <a:bodyPr/>
          <a:lstStyle/>
          <a:p>
            <a:r>
              <a:rPr lang="pt-BR"/>
              <a:t>Por fim para informar a quantidade final de livros após a devolução e empréstimos de livros, devemos inserir os métodos no programa Main.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3A6452-9FA5-4B70-97CA-66E98D389D01}"/>
              </a:ext>
            </a:extLst>
          </p:cNvPr>
          <p:cNvSpPr/>
          <p:nvPr/>
        </p:nvSpPr>
        <p:spPr>
          <a:xfrm>
            <a:off x="1219142" y="3072538"/>
            <a:ext cx="975371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"Informe a quantidade de livros que deseja devolver: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.devolveLivro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"Dados atualizados: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39BC7A-BFEB-4EAE-B5B7-740443854299}"/>
              </a:ext>
            </a:extLst>
          </p:cNvPr>
          <p:cNvSpPr/>
          <p:nvPr/>
        </p:nvSpPr>
        <p:spPr>
          <a:xfrm>
            <a:off x="1142942" y="5059405"/>
            <a:ext cx="9906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"Informe a quantidade de livros que deseja emprestar: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sc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.emprestaLivro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quantidade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"Dados atualizados: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livro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9801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75CC3-E976-41F1-9A02-E91B3750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900602"/>
            <a:ext cx="9409981" cy="448573"/>
          </a:xfrm>
        </p:spPr>
        <p:txBody>
          <a:bodyPr/>
          <a:lstStyle/>
          <a:p>
            <a:r>
              <a:rPr lang="pt-BR" dirty="0"/>
              <a:t>Desafio - Gerenciamento de Estoque de Roupas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EF754-0F76-4221-BB45-F79DB36E9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Neste desafio, você irá criar um programa para gerenciar o estoque de roupas de uma loja. O objetivo é registrar informações das roupas, adicionar ou remover peças do estoque e exibir os dados atualizados.</a:t>
            </a:r>
          </a:p>
          <a:p>
            <a:endParaRPr lang="pt-BR" dirty="0"/>
          </a:p>
          <a:p>
            <a:r>
              <a:rPr lang="pt-BR" b="1" dirty="0"/>
              <a:t>Contexto:</a:t>
            </a:r>
            <a:r>
              <a:rPr lang="pt-BR" dirty="0"/>
              <a:t> Uma loja de roupas deseja organizar seu estoque de maneira eficiente. Cada roupa possui uma marca, um tipo (por exemplo, camisa, calça, vestido), um tamanho, quantidade em estoque e o valor em estoque. O programa deve permitir o gerenciamento desses dados, incluindo adições e remoções do estoque.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9072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18634-7352-482F-AC17-7063F7C8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Classe - Roupa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2903ED-C4CE-46E0-8382-A33E00AC3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722380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Crie uma classe chamada Roupa.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A classe deve ter os seguintes atributos: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400" dirty="0"/>
              <a:t>marca (String): Marca da roupa.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400" dirty="0"/>
              <a:t>tipo (String): Tipo da roupa (ex.: camisa, calça, vestido).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400" dirty="0"/>
              <a:t>tamanho (String): Tamanho da roupa (ex.: P, M, G).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400" dirty="0"/>
              <a:t>quantidade (int): Quantidade em estoque.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sz="1400" dirty="0"/>
              <a:t>valor (double) : Valor da peça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Adicione um método que retorna o valor total do estoque (quantidade * valor).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Adicione um método para incrementar a quantidade no estoque.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Adicione um método para decrementar a quantidade no estoque, garantindo que não seja possível remover mais peças do que o disponível.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sz="1800" dirty="0"/>
              <a:t>Crie o Projeto de Classe (</a:t>
            </a:r>
            <a:r>
              <a:rPr lang="pt-BR" sz="1800"/>
              <a:t>UML).</a:t>
            </a:r>
            <a:endParaRPr lang="pt-BR" sz="180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pt-BR" sz="1800" dirty="0"/>
          </a:p>
          <a:p>
            <a:pPr marL="1028700" lvl="1" indent="-342900"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662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807C4-7850-4A87-9098-79DF533A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Programa Executável - </a:t>
            </a:r>
            <a:r>
              <a:rPr lang="pt-BR" dirty="0" err="1"/>
              <a:t>Main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C6EEA-82FF-47AF-BF18-0CE07485E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25241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800" dirty="0"/>
              <a:t>No programa principal (classe </a:t>
            </a:r>
            <a:r>
              <a:rPr lang="pt-BR" sz="1800" dirty="0" err="1"/>
              <a:t>Main</a:t>
            </a:r>
            <a:r>
              <a:rPr lang="pt-BR" sz="1800" dirty="0"/>
              <a:t>), implemente as seguintes funcionalidades:</a:t>
            </a:r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Permita que o usuário registre uma nova roupa, informando a marca, o tipo, o tamanho, a quantidade inicial e o valor unitário.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Permita adicionar ou remover peças do estoque.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Exiba as informações atualizadas da roupa após cada operação, incluindo o valor total.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Permita registrar várias roupas e exibir todas as informações no final.</a:t>
            </a:r>
          </a:p>
        </p:txBody>
      </p:sp>
    </p:spTree>
    <p:extLst>
      <p:ext uri="{BB962C8B-B14F-4D97-AF65-F5344CB8AC3E}">
        <p14:creationId xmlns:p14="http://schemas.microsoft.com/office/powerpoint/2010/main" val="2023179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47262AEFF6E47A3CB051106D2382E" ma:contentTypeVersion="3" ma:contentTypeDescription="Crie um novo documento." ma:contentTypeScope="" ma:versionID="78b43c15f34748c3a7ae33a788a680ff">
  <xsd:schema xmlns:xsd="http://www.w3.org/2001/XMLSchema" xmlns:xs="http://www.w3.org/2001/XMLSchema" xmlns:p="http://schemas.microsoft.com/office/2006/metadata/properties" xmlns:ns2="adbca637-b409-402b-9852-6cf3890dd3c6" targetNamespace="http://schemas.microsoft.com/office/2006/metadata/properties" ma:root="true" ma:fieldsID="b8e111a2493b2e2e8385f791067ecb12" ns2:_="">
    <xsd:import namespace="adbca637-b409-402b-9852-6cf3890dd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ca637-b409-402b-9852-6cf3890dd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66CA9B-3772-42FA-997B-C6E88779B220}"/>
</file>

<file path=customXml/itemProps2.xml><?xml version="1.0" encoding="utf-8"?>
<ds:datastoreItem xmlns:ds="http://schemas.openxmlformats.org/officeDocument/2006/customXml" ds:itemID="{C6F4243F-60AA-43BF-98E3-5B890A831D29}"/>
</file>

<file path=customXml/itemProps3.xml><?xml version="1.0" encoding="utf-8"?>
<ds:datastoreItem xmlns:ds="http://schemas.openxmlformats.org/officeDocument/2006/customXml" ds:itemID="{477D9480-6D36-4473-9D62-FAAEC6B8503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2242</TotalTime>
  <Words>1555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Times New Roman</vt:lpstr>
      <vt:lpstr>Tema do Office</vt:lpstr>
      <vt:lpstr>Métodos Programação Orientada a Objetos (POO)</vt:lpstr>
      <vt:lpstr>Desafio - Gerenciamento de Livros em uma Biblioteca </vt:lpstr>
      <vt:lpstr>Construtores</vt:lpstr>
      <vt:lpstr>Exemplo Construtor</vt:lpstr>
      <vt:lpstr>Criando a classe Livro </vt:lpstr>
      <vt:lpstr>Informando os métodos</vt:lpstr>
      <vt:lpstr>Informando os métodos</vt:lpstr>
      <vt:lpstr>Criando o programa Main</vt:lpstr>
      <vt:lpstr>Criando o programa Main</vt:lpstr>
      <vt:lpstr>Outra forma de exibir as informações</vt:lpstr>
      <vt:lpstr>Sobrescrevendo o Método toString()</vt:lpstr>
      <vt:lpstr>Formatando as casas decimais </vt:lpstr>
      <vt:lpstr>Adicionando os métodos no programa Main</vt:lpstr>
      <vt:lpstr>Desafio - Gerenciamento de Estoque de Roupas</vt:lpstr>
      <vt:lpstr>Requisitos Classe - Roupa</vt:lpstr>
      <vt:lpstr>Requisitos Programa Executável - 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3t01lab001</cp:lastModifiedBy>
  <cp:revision>154</cp:revision>
  <dcterms:created xsi:type="dcterms:W3CDTF">2024-03-08T12:14:33Z</dcterms:created>
  <dcterms:modified xsi:type="dcterms:W3CDTF">2026-02-20T11:06:56Z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0x010100FC747262AEFF6E47A3CB051106D2382E</vt:lpwstr>
  </property>
</Properties>
</file>