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92A8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pt-BR" sz="5400"/>
              <a:t>Encapsulamento Programação Orientada a Objetos (POO)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Desafio - Sistema de Conta Bancária com Encapsulamento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592347" y="1844675"/>
            <a:ext cx="11007306" cy="461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Crie um programa para gerenciar a venda de um lanche em uma lanchonete. A classe Lanche deve conter os atributos nome, valor, descrição, quantidade em estoque e status de disponibilidade.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No programa principal, permita que o usuário cadastre um lanche informando esses dados.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Adicione um método para calcular o valor total da compra com base na quantidade informada pelo usuário, aplicando desconto progressivo quando necessário. O sistema deve garantir que a quantidade seja válida, que o estoque seja suficiente e que o lanche esteja disponível para venda.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Desafio - Sistema de Conta Bancária com Encapsulamento</a:t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592347" y="1844675"/>
            <a:ext cx="11007306" cy="461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Implemente métodos para alterar a disponibilidade do lanche, repor estoque e exibir suas informações completas.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O estoque deve ser atualizado apenas quando a compra for válida. Utilize os métodos getters para acessar os dados do objeto e certifique-se de que todas as validações e regras de negócio estejam implementadas dentro da classe, mantendo a organização e o encapsulamento adequados.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Regras de Negócio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O lanche agora deve:</a:t>
            </a:r>
            <a:endParaRPr/>
          </a:p>
          <a:p>
            <a:pPr indent="-342900" lvl="1" marL="10287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Não permitir valor menor que 1</a:t>
            </a:r>
            <a:endParaRPr/>
          </a:p>
          <a:p>
            <a:pPr indent="-342900" lvl="1" marL="10287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Ter limite máximo de compra por pedido (ex: 10 unidades)</a:t>
            </a:r>
            <a:endParaRPr/>
          </a:p>
          <a:p>
            <a:pPr indent="-342900" lvl="1" marL="10287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Aplicar desconto automático: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/>
              <a:t>5% acima de 5 unidades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/>
              <a:t>10% acima de 8 unidades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– Cenário 01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592347" y="1844674"/>
            <a:ext cx="5503653" cy="4740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=== CADASTRO DO LANCHE ===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Digite o nome do lanche: X-Burger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Digite o valor do lanche: 18.00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Digite a descrição do lanche: Pão, carne, queijo e molho especial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Digite a quantidade em estoque: 20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=== DADOS DO LANCHE ===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Nome: X-Burger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Descrição: Pão, carne, queijo e molho especial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Valor unitário: R$ 18.0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Estoque disponível: 20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Disponível: Sim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03" name="Google Shape;103;p17"/>
          <p:cNvSpPr txBox="1"/>
          <p:nvPr/>
        </p:nvSpPr>
        <p:spPr>
          <a:xfrm>
            <a:off x="6239774" y="1844674"/>
            <a:ext cx="5503653" cy="4740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Quantos lanches deseja comprar? 6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Desconto aplicado: 5%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da compra: R$ 102.60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Estoque restante: 14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– Cenário 02, Cenário 03 Cenário 04 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592347" y="1844674"/>
            <a:ext cx="5503653" cy="4740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/>
              <a:t>Cenário 02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Quantos lanches deseja comprar ? -3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Quantidade inválida (mínimo 1 e máximo 10).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Operação cancelada.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/>
              <a:t>Cenário 03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Quantos lanches deseja comprar? 25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Estoque insuficiente.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Estoque atual: 14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Operação cancelada.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10" name="Google Shape;110;p18"/>
          <p:cNvSpPr txBox="1"/>
          <p:nvPr/>
        </p:nvSpPr>
        <p:spPr>
          <a:xfrm>
            <a:off x="592346" y="3436248"/>
            <a:ext cx="5503653" cy="158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204550" y="1844674"/>
            <a:ext cx="5395103" cy="11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04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Lanche indisponível no momento.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é possível realizar a compra.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Construtores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592347" y="1844675"/>
            <a:ext cx="11007306" cy="1490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Os construtores em POO inicializam objetos automaticamente ao serem criados, atribuindo valores iniciais aos atributos. Isso garante que os objetos tenham dados definidos e evita configurações manuais posteriores, tornando o código mais eficiente.</a:t>
            </a:r>
            <a:endParaRPr/>
          </a:p>
        </p:txBody>
      </p:sp>
      <p:grpSp>
        <p:nvGrpSpPr>
          <p:cNvPr id="118" name="Google Shape;118;p19"/>
          <p:cNvGrpSpPr/>
          <p:nvPr/>
        </p:nvGrpSpPr>
        <p:grpSpPr>
          <a:xfrm>
            <a:off x="6941257" y="3579812"/>
            <a:ext cx="3220115" cy="2026259"/>
            <a:chOff x="6941257" y="3579812"/>
            <a:chExt cx="3220115" cy="2026259"/>
          </a:xfrm>
        </p:grpSpPr>
        <p:sp>
          <p:nvSpPr>
            <p:cNvPr id="119" name="Google Shape;119;p19"/>
            <p:cNvSpPr/>
            <p:nvPr/>
          </p:nvSpPr>
          <p:spPr>
            <a:xfrm>
              <a:off x="6941257" y="4166071"/>
              <a:ext cx="1440000" cy="720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nome</a:t>
              </a: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6941257" y="4886071"/>
              <a:ext cx="1440000" cy="720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idade</a:t>
              </a:r>
              <a:endParaRPr/>
            </a:p>
          </p:txBody>
        </p:sp>
        <p:sp>
          <p:nvSpPr>
            <p:cNvPr id="121" name="Google Shape;121;p19"/>
            <p:cNvSpPr txBox="1"/>
            <p:nvPr/>
          </p:nvSpPr>
          <p:spPr>
            <a:xfrm>
              <a:off x="9135817" y="4326016"/>
              <a:ext cx="102555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“João”</a:t>
              </a:r>
              <a:endParaRPr/>
            </a:p>
          </p:txBody>
        </p:sp>
        <p:cxnSp>
          <p:nvCxnSpPr>
            <p:cNvPr id="122" name="Google Shape;122;p19"/>
            <p:cNvCxnSpPr>
              <a:stCxn id="119" idx="3"/>
              <a:endCxn id="121" idx="1"/>
            </p:cNvCxnSpPr>
            <p:nvPr/>
          </p:nvCxnSpPr>
          <p:spPr>
            <a:xfrm>
              <a:off x="8381257" y="4526071"/>
              <a:ext cx="754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3" name="Google Shape;123;p19"/>
            <p:cNvSpPr txBox="1"/>
            <p:nvPr/>
          </p:nvSpPr>
          <p:spPr>
            <a:xfrm>
              <a:off x="6941257" y="3579812"/>
              <a:ext cx="32179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 Construtor</a:t>
              </a:r>
              <a:endParaRPr/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9135818" y="5046015"/>
              <a:ext cx="54284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/>
            </a:p>
          </p:txBody>
        </p:sp>
        <p:cxnSp>
          <p:nvCxnSpPr>
            <p:cNvPr id="125" name="Google Shape;125;p19"/>
            <p:cNvCxnSpPr/>
            <p:nvPr/>
          </p:nvCxnSpPr>
          <p:spPr>
            <a:xfrm>
              <a:off x="8381257" y="5246070"/>
              <a:ext cx="75456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6" name="Google Shape;126;p19"/>
          <p:cNvGrpSpPr/>
          <p:nvPr/>
        </p:nvGrpSpPr>
        <p:grpSpPr>
          <a:xfrm>
            <a:off x="2030629" y="3579812"/>
            <a:ext cx="2879999" cy="2026259"/>
            <a:chOff x="2030629" y="3579812"/>
            <a:chExt cx="2879999" cy="2026259"/>
          </a:xfrm>
        </p:grpSpPr>
        <p:sp>
          <p:nvSpPr>
            <p:cNvPr id="127" name="Google Shape;127;p19"/>
            <p:cNvSpPr/>
            <p:nvPr/>
          </p:nvSpPr>
          <p:spPr>
            <a:xfrm>
              <a:off x="2030629" y="4166071"/>
              <a:ext cx="1440000" cy="720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nome</a:t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030629" y="4886071"/>
              <a:ext cx="1440000" cy="720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idade</a:t>
              </a:r>
              <a:endParaRPr/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4225189" y="4326015"/>
              <a:ext cx="6854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</a:t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0" name="Google Shape;130;p19"/>
            <p:cNvCxnSpPr>
              <a:stCxn id="127" idx="3"/>
              <a:endCxn id="129" idx="1"/>
            </p:cNvCxnSpPr>
            <p:nvPr/>
          </p:nvCxnSpPr>
          <p:spPr>
            <a:xfrm>
              <a:off x="3470629" y="4526071"/>
              <a:ext cx="754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1" name="Google Shape;131;p19"/>
            <p:cNvSpPr txBox="1"/>
            <p:nvPr/>
          </p:nvSpPr>
          <p:spPr>
            <a:xfrm>
              <a:off x="2030629" y="3579812"/>
              <a:ext cx="28799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 Construtor</a:t>
              </a:r>
              <a:endParaRPr/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4225190" y="5046015"/>
              <a:ext cx="3048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cxnSp>
          <p:nvCxnSpPr>
            <p:cNvPr id="133" name="Google Shape;133;p19"/>
            <p:cNvCxnSpPr>
              <a:stCxn id="128" idx="3"/>
              <a:endCxn id="132" idx="1"/>
            </p:cNvCxnSpPr>
            <p:nvPr/>
          </p:nvCxnSpPr>
          <p:spPr>
            <a:xfrm>
              <a:off x="3470629" y="5246071"/>
              <a:ext cx="754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4" name="Google Shape;134;p19"/>
            <p:cNvSpPr/>
            <p:nvPr/>
          </p:nvSpPr>
          <p:spPr>
            <a:xfrm>
              <a:off x="2030629" y="4166070"/>
              <a:ext cx="1440000" cy="720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nome</a:t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2030629" y="4886070"/>
              <a:ext cx="1440000" cy="7200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idade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Construtor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8073559" y="2319048"/>
            <a:ext cx="16850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Main </a:t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6708474" y="2966166"/>
            <a:ext cx="4415246" cy="2636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Scanner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pt-BR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Scanner(System.</a:t>
            </a:r>
            <a:r>
              <a:rPr b="1" i="1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b="1" i="1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b="0" i="0" lang="pt-BR" sz="12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"Digite o seu nome: 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.nextLine();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b="1" i="1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b="0" i="0" lang="pt-BR" sz="12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"Digite a sua idade: 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.nextInt();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Pessoa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pessoa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pt-BR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Pessoa(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b="1" i="1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pessoa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1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.close();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2556583" y="2319048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Classe: Pessoa 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1068279" y="3222646"/>
            <a:ext cx="4571916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String </a:t>
            </a:r>
            <a:r>
              <a:rPr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Pessoa(String </a:t>
            </a: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pt-BR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String toString()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pt-BR" sz="12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"nome: 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pt-BR" sz="12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", idade: "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pt-BR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b="0" i="0" lang="pt-BR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Encapsulamento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592347" y="1844676"/>
            <a:ext cx="11007306" cy="136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Encapsulamento é um dos pilares da Programação Orientada a Objetos, onde os atributos de uma classe são protegidos, permitindo o acesso e modificação apenas por meio de métodos específicos </a:t>
            </a:r>
            <a:r>
              <a:rPr b="1" lang="pt-BR" sz="1800"/>
              <a:t>getters</a:t>
            </a:r>
            <a:r>
              <a:rPr lang="pt-BR" sz="1800"/>
              <a:t> e </a:t>
            </a:r>
            <a:r>
              <a:rPr b="1" lang="pt-BR" sz="1800"/>
              <a:t>setters</a:t>
            </a:r>
            <a:r>
              <a:rPr lang="pt-BR" sz="1800"/>
              <a:t>, aumentando a segurança e o controle do código.</a:t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1596" y="3485606"/>
            <a:ext cx="1917606" cy="2757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/>
          <p:nvPr/>
        </p:nvSpPr>
        <p:spPr>
          <a:xfrm>
            <a:off x="1392798" y="4191183"/>
            <a:ext cx="6096000" cy="13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 máquina de café ilustra o encapsulamento: você usa botões para selecionar o tipo de café desejado sem acessar diretamente as partes internas, como água ou temperatura. Em programação, o encapsulamento funciona assim, protegendo os dados e permitindo acesso apenas por métodos controlados.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Public X Private</a:t>
            </a:r>
            <a:endParaRPr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592347" y="1844676"/>
            <a:ext cx="11007306" cy="1499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Encapsular um atributo significa protegê-lo com o modificador </a:t>
            </a:r>
            <a:r>
              <a:rPr b="1" lang="pt-BR"/>
              <a:t>private</a:t>
            </a:r>
            <a:r>
              <a:rPr lang="pt-BR"/>
              <a:t>, tornando-o inacessível diretamente. Para interagir com ele, são criados métodos </a:t>
            </a:r>
            <a:r>
              <a:rPr b="1" lang="pt-BR"/>
              <a:t>get</a:t>
            </a:r>
            <a:r>
              <a:rPr lang="pt-BR"/>
              <a:t> e </a:t>
            </a:r>
            <a:r>
              <a:rPr b="1" lang="pt-BR"/>
              <a:t>set</a:t>
            </a:r>
            <a:r>
              <a:rPr lang="pt-BR"/>
              <a:t> para alterá-lo de forma controlada, garantindo segurança e consistência.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121" y="3885775"/>
            <a:ext cx="9779758" cy="183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Getters e Setters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592347" y="1844676"/>
            <a:ext cx="11007306" cy="18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Os </a:t>
            </a:r>
            <a:r>
              <a:rPr b="1" lang="pt-BR" sz="1800"/>
              <a:t>Getters </a:t>
            </a:r>
            <a:r>
              <a:rPr lang="pt-BR" sz="1800"/>
              <a:t>e </a:t>
            </a:r>
            <a:r>
              <a:rPr b="1" lang="pt-BR" sz="1800"/>
              <a:t>Setters </a:t>
            </a:r>
            <a:r>
              <a:rPr lang="pt-BR" sz="1800"/>
              <a:t>são métodos em programação orientada a objetos usados para acessar e modificar atributos privados de uma classe.</a:t>
            </a:r>
            <a:endParaRPr/>
          </a:p>
          <a:p>
            <a:pPr indent="-342900" lvl="1" marL="10287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pt-BR"/>
              <a:t>Getters:</a:t>
            </a:r>
            <a:r>
              <a:rPr lang="pt-BR"/>
              <a:t> Permitem ler o valor de um atributo.</a:t>
            </a:r>
            <a:endParaRPr/>
          </a:p>
          <a:p>
            <a:pPr indent="-342900" lvl="1" marL="10287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pt-BR"/>
              <a:t>Setters:</a:t>
            </a:r>
            <a:r>
              <a:rPr lang="pt-BR"/>
              <a:t> Permitem alterar o valor de um atributo, aplicando validações, se necessário.</a:t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1315049" y="4258605"/>
            <a:ext cx="3091379" cy="2164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String </a:t>
            </a:r>
            <a:r>
              <a:rPr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String getNome() {</a:t>
            </a:r>
            <a:endParaRPr/>
          </a:p>
          <a:p>
            <a:pPr indent="45720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setNome(String </a:t>
            </a: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45720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2196696" y="3840480"/>
            <a:ext cx="13280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Classe: Pessoa</a:t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5721477" y="4258605"/>
            <a:ext cx="51554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pessoa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.setNome(</a:t>
            </a:r>
            <a:r>
              <a:rPr lang="pt-BR" sz="1200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"João"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b="1" i="1" lang="pt-BR" sz="12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pt-BR" sz="1200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"Nome atualizado: "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pt-BR" sz="12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pessoa</a:t>
            </a:r>
            <a:r>
              <a:rPr lang="pt-BR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.getNome());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7783190" y="3840480"/>
            <a:ext cx="10320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Executável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747262AEFF6E47A3CB051106D2382E" ma:contentTypeVersion="3" ma:contentTypeDescription="Crie um novo documento." ma:contentTypeScope="" ma:versionID="78b43c15f34748c3a7ae33a788a680ff">
  <xsd:schema xmlns:xsd="http://www.w3.org/2001/XMLSchema" xmlns:xs="http://www.w3.org/2001/XMLSchema" xmlns:p="http://schemas.microsoft.com/office/2006/metadata/properties" xmlns:ns2="adbca637-b409-402b-9852-6cf3890dd3c6" targetNamespace="http://schemas.microsoft.com/office/2006/metadata/properties" ma:root="true" ma:fieldsID="b8e111a2493b2e2e8385f791067ecb12" ns2:_="">
    <xsd:import namespace="adbca637-b409-402b-9852-6cf3890dd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ca637-b409-402b-9852-6cf3890dd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0101D9-69FE-432B-9E18-681C30916A43}"/>
</file>

<file path=customXml/itemProps2.xml><?xml version="1.0" encoding="utf-8"?>
<ds:datastoreItem xmlns:ds="http://schemas.openxmlformats.org/officeDocument/2006/customXml" ds:itemID="{FA06595C-CECF-4F09-AF48-6922B2AB3482}"/>
</file>

<file path=customXml/itemProps3.xml><?xml version="1.0" encoding="utf-8"?>
<ds:datastoreItem xmlns:ds="http://schemas.openxmlformats.org/officeDocument/2006/customXml" ds:itemID="{B656C7A4-B718-4008-BE08-FA73D0998980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0x010100FC747262AEFF6E47A3CB051106D2382E</vt:lpwstr>
  </property>
</Properties>
</file>