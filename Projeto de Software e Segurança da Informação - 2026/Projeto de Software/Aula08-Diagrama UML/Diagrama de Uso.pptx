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9" r:id="rId12"/>
    <p:sldId id="270" r:id="rId13"/>
    <p:sldId id="266" r:id="rId14"/>
    <p:sldId id="271" r:id="rId15"/>
    <p:sldId id="272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79" autoAdjust="0"/>
  </p:normalViewPr>
  <p:slideViewPr>
    <p:cSldViewPr snapToGrid="0">
      <p:cViewPr varScale="1">
        <p:scale>
          <a:sx n="101" d="100"/>
          <a:sy n="101" d="100"/>
        </p:scale>
        <p:origin x="144" y="2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19299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87919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9111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02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175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048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921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786847" y="-1355935"/>
            <a:ext cx="4618307" cy="10981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292A8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283716" y="719713"/>
            <a:ext cx="1273846" cy="720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pt-BR" sz="5400"/>
              <a:t>Visão Geral (UML)</a:t>
            </a: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Prof. Esp. Pedro Miho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O que é UML ?</a:t>
            </a:r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5038432" cy="471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A UML (</a:t>
            </a:r>
            <a:r>
              <a:rPr lang="pt-BR" i="1"/>
              <a:t>Unified Modeling Language</a:t>
            </a:r>
            <a:r>
              <a:rPr lang="pt-BR"/>
              <a:t>) é uma </a:t>
            </a:r>
            <a:r>
              <a:rPr lang="pt-BR" b="1"/>
              <a:t>linguagem visual</a:t>
            </a:r>
            <a:r>
              <a:rPr lang="pt-BR"/>
              <a:t> utilizada para </a:t>
            </a:r>
            <a:r>
              <a:rPr lang="pt-BR" b="1"/>
              <a:t>modelar e documentar sistemas de software</a:t>
            </a:r>
            <a:r>
              <a:rPr lang="pt-BR"/>
              <a:t> por meio de diagramas.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br>
              <a:rPr lang="pt-BR"/>
            </a:br>
            <a:r>
              <a:rPr lang="pt-BR"/>
              <a:t>Ela auxilia na </a:t>
            </a:r>
            <a:r>
              <a:rPr lang="pt-BR" b="1"/>
              <a:t>análise e no projeto do sistema</a:t>
            </a:r>
            <a:r>
              <a:rPr lang="pt-BR"/>
              <a:t>, facilitando a comunicação entre as equipes e apoiando o desenvolvimento orientado a objetos.</a:t>
            </a:r>
            <a:endParaRPr/>
          </a:p>
        </p:txBody>
      </p:sp>
      <p:pic>
        <p:nvPicPr>
          <p:cNvPr id="85" name="Google Shape;8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85838" y="2394831"/>
            <a:ext cx="5592451" cy="3609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Diagrama UML</a:t>
            </a:r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4620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/>
              <a:t>Os </a:t>
            </a:r>
            <a:r>
              <a:rPr lang="pt-BR" sz="1800" b="1"/>
              <a:t>diagramas</a:t>
            </a:r>
            <a:r>
              <a:rPr lang="pt-BR" sz="1800"/>
              <a:t> na UML são </a:t>
            </a:r>
            <a:r>
              <a:rPr lang="pt-BR" sz="1800" b="1"/>
              <a:t>representações visuais</a:t>
            </a:r>
            <a:r>
              <a:rPr lang="pt-BR" sz="1800"/>
              <a:t> usadas para </a:t>
            </a:r>
            <a:r>
              <a:rPr lang="pt-BR" sz="1800" b="1"/>
              <a:t>descrever, organizar e comunicar</a:t>
            </a:r>
            <a:r>
              <a:rPr lang="pt-BR" sz="1800"/>
              <a:t> diferentes aspectos de um sistema de software.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/>
              <a:t>Cada diagrama mostra o sistema sob uma </a:t>
            </a:r>
            <a:r>
              <a:rPr lang="pt-BR" sz="1800" b="1"/>
              <a:t>visão específica</a:t>
            </a:r>
            <a:r>
              <a:rPr lang="pt-BR" sz="1800"/>
              <a:t>, ajudando a entender como ele funciona, como está estruturado ou como seus componentes interagem.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 b="1"/>
              <a:t>Diagrama de Casos de Uso</a:t>
            </a:r>
            <a:r>
              <a:rPr lang="pt-BR" sz="1400"/>
              <a:t> – Funcionalidades do sistema do ponto de vista do usuário.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 b="1"/>
              <a:t>Diagrama de Sequência </a:t>
            </a:r>
            <a:r>
              <a:rPr lang="pt-BR" sz="1400"/>
              <a:t>– Ordem das interações entre objetos.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 b="1"/>
              <a:t>Diagrama de Classes </a:t>
            </a:r>
            <a:r>
              <a:rPr lang="pt-BR" sz="1400"/>
              <a:t>– Estrutura das classes, atributos, métodos e relacionamentos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 b="1"/>
              <a:t>Diagrama de Atividades </a:t>
            </a:r>
            <a:r>
              <a:rPr lang="pt-BR" sz="1400"/>
              <a:t>– Fluxo de processos e decisões.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 b="1"/>
              <a:t>Diagrama de Estados </a:t>
            </a:r>
            <a:r>
              <a:rPr lang="pt-BR" sz="1400"/>
              <a:t>– Estados e transições de um objeto.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 b="1"/>
              <a:t>Diagrama de Componentes</a:t>
            </a:r>
            <a:r>
              <a:rPr lang="pt-BR" sz="1400"/>
              <a:t> – Organização dos componentes do sistema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Problematização – Sistema de Pedidos</a:t>
            </a:r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body" idx="1"/>
          </p:nvPr>
        </p:nvSpPr>
        <p:spPr>
          <a:xfrm>
            <a:off x="592347" y="2737939"/>
            <a:ext cx="11007306" cy="2279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pt-BR" sz="1600" dirty="0"/>
              <a:t>Uma lanchonete realiza o controle de pedidos de forma manual, utilizando papel e planilhas. Com o aumento da demanda, surgiram problemas como erros no cálculo dos pedidos, dificuldade no controle de status, falta de padronização dos produtos e limitações para o crescimento do negócio.</a:t>
            </a:r>
            <a:endParaRPr dirty="0"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pt-BR" sz="1600" dirty="0"/>
              <a:t>Diante desse cenário, surge a necessidade de </a:t>
            </a:r>
            <a:r>
              <a:rPr lang="pt-BR" sz="1600" b="1" dirty="0"/>
              <a:t>planejar e desenvolver um sistema informatizado de pedidos</a:t>
            </a:r>
            <a:r>
              <a:rPr lang="pt-BR" sz="1600" dirty="0"/>
              <a:t>, iniciando com uma solução simples em Java e evoluindo para uma aplicação moderna baseada em </a:t>
            </a:r>
            <a:r>
              <a:rPr lang="pt-BR" sz="1600" b="1" dirty="0"/>
              <a:t>APIs REST com Spring Boot</a:t>
            </a:r>
            <a:r>
              <a:rPr lang="pt-BR" sz="1600" dirty="0"/>
              <a:t>.</a:t>
            </a:r>
            <a:endParaRPr dirty="0"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Desafio Proposto</a:t>
            </a:r>
            <a:endParaRPr/>
          </a:p>
        </p:txBody>
      </p:sp>
      <p:sp>
        <p:nvSpPr>
          <p:cNvPr id="103" name="Google Shape;103;p17"/>
          <p:cNvSpPr txBox="1">
            <a:spLocks noGrp="1"/>
          </p:cNvSpPr>
          <p:nvPr>
            <p:ph type="body" idx="1"/>
          </p:nvPr>
        </p:nvSpPr>
        <p:spPr>
          <a:xfrm>
            <a:off x="592347" y="2448179"/>
            <a:ext cx="11007306" cy="322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pt-BR" sz="1600" dirty="0"/>
              <a:t>Os alunos deverão analisar o problema, identificar as necessidades do sistema e desenvolver uma solução computacional, passando por diferentes níveis de complexidade:</a:t>
            </a:r>
            <a:endParaRPr dirty="0"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 dirty="0"/>
              <a:t>Da Lógica Estruturada ao Paradigma Orientado a Objetos</a:t>
            </a:r>
            <a:endParaRPr dirty="0"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 dirty="0"/>
              <a:t>Da aplicação em Console à Arquitetura Web com Spring Boot</a:t>
            </a:r>
            <a:endParaRPr dirty="0"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 dirty="0"/>
              <a:t>Modelagem com UML</a:t>
            </a:r>
            <a:endParaRPr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pt-BR" sz="1600" dirty="0"/>
              <a:t>Antes de escrever código, será necessário modelar o sistema utilizando UML, garantindo organização, clareza e entendimento do domínio do problema.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 dirty="0"/>
              <a:t>Diagrama de Casos de Uso</a:t>
            </a:r>
            <a:endParaRPr dirty="0"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 dirty="0"/>
              <a:t>O Diagrama de Casos de Uso representa as </a:t>
            </a:r>
            <a:r>
              <a:rPr lang="pt-BR" sz="1800" b="1" dirty="0"/>
              <a:t>funcionalidades de um sistema do ponto de vista do usuário</a:t>
            </a:r>
            <a:r>
              <a:rPr lang="pt-BR" sz="1800" dirty="0"/>
              <a:t>, mostrando </a:t>
            </a:r>
            <a:r>
              <a:rPr lang="pt-BR" sz="1800" b="1" dirty="0"/>
              <a:t>o que o sistema faz</a:t>
            </a:r>
            <a:r>
              <a:rPr lang="pt-BR" sz="1800" dirty="0"/>
              <a:t>, e não como ele é implementado.</a:t>
            </a:r>
            <a:endParaRPr dirty="0"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br>
              <a:rPr lang="pt-BR" sz="1800" dirty="0"/>
            </a:br>
            <a:r>
              <a:rPr lang="pt-BR" sz="1800" dirty="0"/>
              <a:t>Ele apresenta, de forma clara e visual, </a:t>
            </a:r>
            <a:r>
              <a:rPr lang="pt-BR" sz="1800" b="1" dirty="0"/>
              <a:t>quem interage com o sistema e quais ações podem ser realizadas</a:t>
            </a:r>
            <a:r>
              <a:rPr lang="pt-BR" sz="1800" dirty="0"/>
              <a:t>, facilitando a compreensão do funcionamento geral do sistema.</a:t>
            </a:r>
            <a:endParaRPr dirty="0"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 dirty="0"/>
              <a:t>Esse diagrama é muito utilizado na </a:t>
            </a:r>
            <a:r>
              <a:rPr lang="pt-BR" sz="1800" b="1" dirty="0"/>
              <a:t>fase de análise de requisitos</a:t>
            </a:r>
            <a:r>
              <a:rPr lang="pt-BR" sz="1800" dirty="0"/>
              <a:t>, pois ajuda a entender as necessidades do usuário, definir o escopo do sistema e melhorar a comunicação entre clientes, analistas e desenvolvedores.</a:t>
            </a:r>
            <a:endParaRPr dirty="0"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Prático</a:t>
            </a:r>
            <a:endParaRPr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ADEFF74A-E3B6-4604-923C-408E58F9F0EC}"/>
              </a:ext>
            </a:extLst>
          </p:cNvPr>
          <p:cNvGrpSpPr/>
          <p:nvPr/>
        </p:nvGrpSpPr>
        <p:grpSpPr>
          <a:xfrm>
            <a:off x="384961" y="2268997"/>
            <a:ext cx="4462882" cy="3793463"/>
            <a:chOff x="1088746" y="2307092"/>
            <a:chExt cx="4462882" cy="3793463"/>
          </a:xfrm>
        </p:grpSpPr>
        <p:grpSp>
          <p:nvGrpSpPr>
            <p:cNvPr id="115" name="Google Shape;115;p19"/>
            <p:cNvGrpSpPr/>
            <p:nvPr/>
          </p:nvGrpSpPr>
          <p:grpSpPr>
            <a:xfrm>
              <a:off x="1088746" y="3209913"/>
              <a:ext cx="1618488" cy="1987820"/>
              <a:chOff x="781500" y="2715768"/>
              <a:chExt cx="1618488" cy="1987820"/>
            </a:xfrm>
          </p:grpSpPr>
          <p:pic>
            <p:nvPicPr>
              <p:cNvPr id="116" name="Google Shape;116;p19" descr="Homem com preenchimento sólido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781500" y="2715768"/>
                <a:ext cx="1618488" cy="161848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7" name="Google Shape;117;p19"/>
              <p:cNvSpPr txBox="1"/>
              <p:nvPr/>
            </p:nvSpPr>
            <p:spPr>
              <a:xfrm>
                <a:off x="781500" y="4334256"/>
                <a:ext cx="161848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Cliente</a:t>
                </a:r>
                <a:endParaRPr/>
              </a:p>
            </p:txBody>
          </p:sp>
        </p:grpSp>
        <p:grpSp>
          <p:nvGrpSpPr>
            <p:cNvPr id="121" name="Google Shape;121;p19"/>
            <p:cNvGrpSpPr/>
            <p:nvPr/>
          </p:nvGrpSpPr>
          <p:grpSpPr>
            <a:xfrm>
              <a:off x="3795980" y="2307092"/>
              <a:ext cx="1755648" cy="3793463"/>
              <a:chOff x="2810141" y="2307092"/>
              <a:chExt cx="1755648" cy="3793463"/>
            </a:xfrm>
          </p:grpSpPr>
          <p:sp>
            <p:nvSpPr>
              <p:cNvPr id="122" name="Google Shape;122;p19"/>
              <p:cNvSpPr/>
              <p:nvPr/>
            </p:nvSpPr>
            <p:spPr>
              <a:xfrm>
                <a:off x="2810141" y="2307092"/>
                <a:ext cx="1755648" cy="1034165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Fazer Pedido</a:t>
                </a:r>
                <a:endParaRPr/>
              </a:p>
            </p:txBody>
          </p:sp>
          <p:sp>
            <p:nvSpPr>
              <p:cNvPr id="123" name="Google Shape;123;p19"/>
              <p:cNvSpPr/>
              <p:nvPr/>
            </p:nvSpPr>
            <p:spPr>
              <a:xfrm>
                <a:off x="2810141" y="3686794"/>
                <a:ext cx="1755648" cy="1034165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 b="0" i="0" u="none" strike="noStrike" cap="none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Verificar a situação do pedido</a:t>
                </a:r>
                <a:endParaRPr dirty="0"/>
              </a:p>
            </p:txBody>
          </p:sp>
          <p:sp>
            <p:nvSpPr>
              <p:cNvPr id="124" name="Google Shape;124;p19"/>
              <p:cNvSpPr/>
              <p:nvPr/>
            </p:nvSpPr>
            <p:spPr>
              <a:xfrm>
                <a:off x="2810141" y="5066390"/>
                <a:ext cx="1755648" cy="1034165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Retirar o pedido</a:t>
                </a:r>
                <a:endParaRPr/>
              </a:p>
            </p:txBody>
          </p:sp>
        </p:grpSp>
        <p:cxnSp>
          <p:nvCxnSpPr>
            <p:cNvPr id="129" name="Google Shape;129;p19"/>
            <p:cNvCxnSpPr>
              <a:stCxn id="122" idx="4"/>
              <a:endCxn id="123" idx="0"/>
            </p:cNvCxnSpPr>
            <p:nvPr/>
          </p:nvCxnSpPr>
          <p:spPr>
            <a:xfrm>
              <a:off x="4673804" y="3341257"/>
              <a:ext cx="0" cy="3456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30" name="Google Shape;130;p19"/>
            <p:cNvCxnSpPr>
              <a:stCxn id="123" idx="4"/>
              <a:endCxn id="124" idx="0"/>
            </p:cNvCxnSpPr>
            <p:nvPr/>
          </p:nvCxnSpPr>
          <p:spPr>
            <a:xfrm>
              <a:off x="4673804" y="4720959"/>
              <a:ext cx="0" cy="345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31" name="Google Shape;131;p19"/>
            <p:cNvCxnSpPr>
              <a:endCxn id="122" idx="2"/>
            </p:cNvCxnSpPr>
            <p:nvPr/>
          </p:nvCxnSpPr>
          <p:spPr>
            <a:xfrm rot="10800000" flipH="1">
              <a:off x="2441780" y="2824175"/>
              <a:ext cx="1354200" cy="5172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32" name="Google Shape;132;p19"/>
            <p:cNvCxnSpPr>
              <a:endCxn id="123" idx="2"/>
            </p:cNvCxnSpPr>
            <p:nvPr/>
          </p:nvCxnSpPr>
          <p:spPr>
            <a:xfrm>
              <a:off x="2541980" y="4203877"/>
              <a:ext cx="125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33" name="Google Shape;133;p19"/>
            <p:cNvCxnSpPr>
              <a:endCxn id="124" idx="2"/>
            </p:cNvCxnSpPr>
            <p:nvPr/>
          </p:nvCxnSpPr>
          <p:spPr>
            <a:xfrm>
              <a:off x="2541980" y="5013173"/>
              <a:ext cx="1254000" cy="570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118" name="Google Shape;118;p19"/>
          <p:cNvGrpSpPr/>
          <p:nvPr/>
        </p:nvGrpSpPr>
        <p:grpSpPr>
          <a:xfrm>
            <a:off x="10074885" y="3171870"/>
            <a:ext cx="1618488" cy="1987820"/>
            <a:chOff x="781500" y="2715768"/>
            <a:chExt cx="1618488" cy="1987820"/>
          </a:xfrm>
        </p:grpSpPr>
        <p:pic>
          <p:nvPicPr>
            <p:cNvPr id="119" name="Google Shape;119;p19" descr="Homem com preenchimento sólid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81500" y="2715768"/>
              <a:ext cx="1618488" cy="16184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Google Shape;120;p19"/>
            <p:cNvSpPr txBox="1"/>
            <p:nvPr/>
          </p:nvSpPr>
          <p:spPr>
            <a:xfrm>
              <a:off x="781500" y="4334256"/>
              <a:ext cx="16184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Atendente</a:t>
              </a:r>
              <a:endParaRPr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B230F7CB-C4DE-4B2F-8B09-E3DF8F1A5639}"/>
              </a:ext>
            </a:extLst>
          </p:cNvPr>
          <p:cNvGrpSpPr/>
          <p:nvPr/>
        </p:nvGrpSpPr>
        <p:grpSpPr>
          <a:xfrm>
            <a:off x="6814413" y="2958900"/>
            <a:ext cx="3009648" cy="2413761"/>
            <a:chOff x="6940747" y="2829111"/>
            <a:chExt cx="3009648" cy="2413761"/>
          </a:xfrm>
        </p:grpSpPr>
        <p:grpSp>
          <p:nvGrpSpPr>
            <p:cNvPr id="125" name="Google Shape;125;p19"/>
            <p:cNvGrpSpPr/>
            <p:nvPr/>
          </p:nvGrpSpPr>
          <p:grpSpPr>
            <a:xfrm>
              <a:off x="6940747" y="2829111"/>
              <a:ext cx="1755648" cy="2413761"/>
              <a:chOff x="7383780" y="3686794"/>
              <a:chExt cx="1755648" cy="2413761"/>
            </a:xfrm>
          </p:grpSpPr>
          <p:sp>
            <p:nvSpPr>
              <p:cNvPr id="127" name="Google Shape;127;p19"/>
              <p:cNvSpPr/>
              <p:nvPr/>
            </p:nvSpPr>
            <p:spPr>
              <a:xfrm>
                <a:off x="7383780" y="3686794"/>
                <a:ext cx="1755648" cy="1034165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 b="0" i="0" u="none" strike="noStrike" cap="none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Alterar o status do pedido</a:t>
                </a:r>
                <a:endParaRPr dirty="0"/>
              </a:p>
            </p:txBody>
          </p:sp>
          <p:sp>
            <p:nvSpPr>
              <p:cNvPr id="128" name="Google Shape;128;p19"/>
              <p:cNvSpPr/>
              <p:nvPr/>
            </p:nvSpPr>
            <p:spPr>
              <a:xfrm>
                <a:off x="7383780" y="5066390"/>
                <a:ext cx="1755648" cy="1034165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Finalizar o pedido</a:t>
                </a:r>
                <a:endParaRPr/>
              </a:p>
            </p:txBody>
          </p:sp>
        </p:grpSp>
        <p:cxnSp>
          <p:nvCxnSpPr>
            <p:cNvPr id="137" name="Google Shape;137;p19"/>
            <p:cNvCxnSpPr>
              <a:cxnSpLocks/>
              <a:endCxn id="127" idx="6"/>
            </p:cNvCxnSpPr>
            <p:nvPr/>
          </p:nvCxnSpPr>
          <p:spPr>
            <a:xfrm rot="10800000">
              <a:off x="8696395" y="3346194"/>
              <a:ext cx="125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38" name="Google Shape;138;p19"/>
            <p:cNvCxnSpPr>
              <a:cxnSpLocks/>
              <a:endCxn id="128" idx="6"/>
            </p:cNvCxnSpPr>
            <p:nvPr/>
          </p:nvCxnSpPr>
          <p:spPr>
            <a:xfrm flipH="1">
              <a:off x="8696395" y="4682864"/>
              <a:ext cx="1254000" cy="42926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CFFCCD69-65D2-4E90-B0E0-E141EB9BFFD4}"/>
              </a:ext>
            </a:extLst>
          </p:cNvPr>
          <p:cNvSpPr txBox="1"/>
          <p:nvPr/>
        </p:nvSpPr>
        <p:spPr>
          <a:xfrm>
            <a:off x="4161624" y="3294242"/>
            <a:ext cx="784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4360A19-99A4-44BF-83CA-962BFC627595}"/>
              </a:ext>
            </a:extLst>
          </p:cNvPr>
          <p:cNvSpPr txBox="1"/>
          <p:nvPr/>
        </p:nvSpPr>
        <p:spPr>
          <a:xfrm>
            <a:off x="4161624" y="4701625"/>
            <a:ext cx="784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Prático</a:t>
            </a:r>
            <a:endParaRPr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088746" y="3209913"/>
            <a:ext cx="1618488" cy="1987820"/>
            <a:chOff x="781500" y="2715768"/>
            <a:chExt cx="1618488" cy="1987820"/>
          </a:xfrm>
        </p:grpSpPr>
        <p:pic>
          <p:nvPicPr>
            <p:cNvPr id="145" name="Google Shape;145;p20" descr="Homem com preenchimento sólid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81500" y="2715768"/>
              <a:ext cx="1618488" cy="16184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20"/>
            <p:cNvSpPr txBox="1"/>
            <p:nvPr/>
          </p:nvSpPr>
          <p:spPr>
            <a:xfrm>
              <a:off x="781500" y="4334256"/>
              <a:ext cx="16184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Cliente</a:t>
              </a:r>
              <a:endParaRPr/>
            </a:p>
          </p:txBody>
        </p:sp>
      </p:grpSp>
      <p:sp>
        <p:nvSpPr>
          <p:cNvPr id="148" name="Google Shape;148;p20"/>
          <p:cNvSpPr/>
          <p:nvPr/>
        </p:nvSpPr>
        <p:spPr>
          <a:xfrm>
            <a:off x="3795980" y="2307092"/>
            <a:ext cx="1755648" cy="103416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Fazer Pedido</a:t>
            </a:r>
            <a:endParaRPr/>
          </a:p>
        </p:txBody>
      </p:sp>
      <p:sp>
        <p:nvSpPr>
          <p:cNvPr id="149" name="Google Shape;149;p20"/>
          <p:cNvSpPr/>
          <p:nvPr/>
        </p:nvSpPr>
        <p:spPr>
          <a:xfrm>
            <a:off x="3795980" y="3686794"/>
            <a:ext cx="1755648" cy="103416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Verificar a situação do pedido</a:t>
            </a:r>
            <a:endParaRPr/>
          </a:p>
        </p:txBody>
      </p:sp>
      <p:sp>
        <p:nvSpPr>
          <p:cNvPr id="150" name="Google Shape;150;p20"/>
          <p:cNvSpPr/>
          <p:nvPr/>
        </p:nvSpPr>
        <p:spPr>
          <a:xfrm>
            <a:off x="3795980" y="5066390"/>
            <a:ext cx="1755648" cy="103416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Retirar o pedido</a:t>
            </a:r>
            <a:endParaRPr/>
          </a:p>
        </p:txBody>
      </p:sp>
      <p:sp>
        <p:nvSpPr>
          <p:cNvPr id="151" name="Google Shape;151;p20"/>
          <p:cNvSpPr/>
          <p:nvPr/>
        </p:nvSpPr>
        <p:spPr>
          <a:xfrm>
            <a:off x="6759246" y="1514449"/>
            <a:ext cx="1755648" cy="103416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Cartão</a:t>
            </a:r>
            <a:endParaRPr dirty="0"/>
          </a:p>
        </p:txBody>
      </p:sp>
      <p:sp>
        <p:nvSpPr>
          <p:cNvPr id="152" name="Google Shape;152;p20"/>
          <p:cNvSpPr/>
          <p:nvPr/>
        </p:nvSpPr>
        <p:spPr>
          <a:xfrm>
            <a:off x="6759246" y="3014906"/>
            <a:ext cx="1755648" cy="103416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Dinheiro</a:t>
            </a:r>
            <a:endParaRPr dirty="0"/>
          </a:p>
        </p:txBody>
      </p:sp>
      <p:cxnSp>
        <p:nvCxnSpPr>
          <p:cNvPr id="153" name="Google Shape;153;p20"/>
          <p:cNvCxnSpPr>
            <a:stCxn id="148" idx="4"/>
            <a:endCxn id="149" idx="0"/>
          </p:cNvCxnSpPr>
          <p:nvPr/>
        </p:nvCxnSpPr>
        <p:spPr>
          <a:xfrm>
            <a:off x="4673804" y="3341257"/>
            <a:ext cx="0" cy="345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4" name="Google Shape;154;p20"/>
          <p:cNvCxnSpPr>
            <a:stCxn id="149" idx="4"/>
            <a:endCxn id="150" idx="0"/>
          </p:cNvCxnSpPr>
          <p:nvPr/>
        </p:nvCxnSpPr>
        <p:spPr>
          <a:xfrm>
            <a:off x="4673804" y="4720959"/>
            <a:ext cx="0" cy="345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5" name="Google Shape;155;p20"/>
          <p:cNvCxnSpPr>
            <a:endCxn id="148" idx="2"/>
          </p:cNvCxnSpPr>
          <p:nvPr/>
        </p:nvCxnSpPr>
        <p:spPr>
          <a:xfrm rot="10800000" flipH="1">
            <a:off x="2441780" y="2824175"/>
            <a:ext cx="1354200" cy="517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6" name="Google Shape;156;p20"/>
          <p:cNvCxnSpPr>
            <a:endCxn id="149" idx="2"/>
          </p:cNvCxnSpPr>
          <p:nvPr/>
        </p:nvCxnSpPr>
        <p:spPr>
          <a:xfrm>
            <a:off x="2541980" y="4203877"/>
            <a:ext cx="1254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7" name="Google Shape;157;p20"/>
          <p:cNvCxnSpPr>
            <a:endCxn id="150" idx="2"/>
          </p:cNvCxnSpPr>
          <p:nvPr/>
        </p:nvCxnSpPr>
        <p:spPr>
          <a:xfrm>
            <a:off x="2541980" y="5013173"/>
            <a:ext cx="1254000" cy="570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1877C499-4748-4E4B-A511-4EEFF6A7254A}"/>
              </a:ext>
            </a:extLst>
          </p:cNvPr>
          <p:cNvCxnSpPr>
            <a:cxnSpLocks/>
            <a:stCxn id="148" idx="6"/>
            <a:endCxn id="151" idx="2"/>
          </p:cNvCxnSpPr>
          <p:nvPr/>
        </p:nvCxnSpPr>
        <p:spPr>
          <a:xfrm flipV="1">
            <a:off x="5551628" y="2031532"/>
            <a:ext cx="1207618" cy="792643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99C79F8F-B86A-4D47-A418-8501672E254B}"/>
              </a:ext>
            </a:extLst>
          </p:cNvPr>
          <p:cNvCxnSpPr>
            <a:stCxn id="148" idx="6"/>
            <a:endCxn id="152" idx="2"/>
          </p:cNvCxnSpPr>
          <p:nvPr/>
        </p:nvCxnSpPr>
        <p:spPr>
          <a:xfrm>
            <a:off x="5551628" y="2824175"/>
            <a:ext cx="1207618" cy="707814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9CBC4A9-9B79-4494-A84F-688691BEC070}"/>
              </a:ext>
            </a:extLst>
          </p:cNvPr>
          <p:cNvSpPr txBox="1"/>
          <p:nvPr/>
        </p:nvSpPr>
        <p:spPr>
          <a:xfrm>
            <a:off x="5265916" y="1894662"/>
            <a:ext cx="11384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001ED22-17B8-49DC-A587-1ED81A49A72C}"/>
              </a:ext>
            </a:extLst>
          </p:cNvPr>
          <p:cNvSpPr txBox="1"/>
          <p:nvPr/>
        </p:nvSpPr>
        <p:spPr>
          <a:xfrm>
            <a:off x="5265916" y="3550750"/>
            <a:ext cx="11384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D2C7249-A339-49CB-AC29-DDA8DC072228}"/>
              </a:ext>
            </a:extLst>
          </p:cNvPr>
          <p:cNvSpPr txBox="1"/>
          <p:nvPr/>
        </p:nvSpPr>
        <p:spPr>
          <a:xfrm>
            <a:off x="6660776" y="4720959"/>
            <a:ext cx="4284592" cy="13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pt-B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extend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 um comportamento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opcional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que ocorre apenas sob determinada condição, sem impedir o funcionamento do caso de uso principal.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 dirty="0"/>
              <a:t>Diagrama de Classe</a:t>
            </a:r>
            <a:endParaRPr dirty="0"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1"/>
          </p:nvPr>
        </p:nvSpPr>
        <p:spPr>
          <a:xfrm>
            <a:off x="592347" y="2437373"/>
            <a:ext cx="11007306" cy="305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1800"/>
            </a:pPr>
            <a:r>
              <a:rPr lang="pt-BR" sz="1800" dirty="0"/>
              <a:t>O Diagrama de Classes é um diagrama da UML utilizado para representar a estrutura do sistema, mostrando as classes, seus atributos, métodos e os relacionamentos entre elas.</a:t>
            </a:r>
          </a:p>
          <a:p>
            <a:pPr marL="0" lvl="0" indent="0">
              <a:spcBef>
                <a:spcPts val="0"/>
              </a:spcBef>
              <a:buSzPts val="1800"/>
            </a:pPr>
            <a:endParaRPr lang="pt-BR" sz="1800" dirty="0"/>
          </a:p>
          <a:p>
            <a:pPr marL="0" lvl="0" indent="0">
              <a:spcBef>
                <a:spcPts val="0"/>
              </a:spcBef>
              <a:buSzPts val="1800"/>
            </a:pPr>
            <a:r>
              <a:rPr lang="pt-BR" sz="1800" dirty="0"/>
              <a:t>Ele é a base da Programação Orientada a Objetos, pois define como o sistema será organizado antes da implementação do código.</a:t>
            </a:r>
          </a:p>
          <a:p>
            <a:pPr marL="0" lvl="0" indent="0">
              <a:spcBef>
                <a:spcPts val="0"/>
              </a:spcBef>
              <a:buSzPts val="1800"/>
            </a:pPr>
            <a:endParaRPr lang="pt-BR" sz="1800" dirty="0"/>
          </a:p>
          <a:p>
            <a:pPr marL="0" lvl="0" indent="0">
              <a:spcBef>
                <a:spcPts val="0"/>
              </a:spcBef>
              <a:buSzPts val="1800"/>
            </a:pPr>
            <a:r>
              <a:rPr lang="pt-BR" sz="1800" dirty="0"/>
              <a:t>Mostra como o sistema é estruturado, e não o fluxo de execução.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9275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FD41E-8726-4E7E-98C1-AA3036C1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Prático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17EDF48B-1B5E-44F7-B8F4-6040EC57A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792573"/>
              </p:ext>
            </p:extLst>
          </p:nvPr>
        </p:nvGraphicFramePr>
        <p:xfrm>
          <a:off x="1063813" y="2594534"/>
          <a:ext cx="2611718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718">
                  <a:extLst>
                    <a:ext uri="{9D8B030D-6E8A-4147-A177-3AD203B41FA5}">
                      <a16:colId xmlns:a16="http://schemas.microsoft.com/office/drawing/2014/main" val="33712066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090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id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1460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nome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7464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verPedido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2016317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478BA326-4397-4E2A-8CD6-6CDF16419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927361"/>
              </p:ext>
            </p:extLst>
          </p:nvPr>
        </p:nvGraphicFramePr>
        <p:xfrm>
          <a:off x="4790141" y="2594534"/>
          <a:ext cx="2611718" cy="327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718">
                  <a:extLst>
                    <a:ext uri="{9D8B030D-6E8A-4147-A177-3AD203B41FA5}">
                      <a16:colId xmlns:a16="http://schemas.microsoft.com/office/drawing/2014/main" val="37542316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Pedido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99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id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6035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lanche : Lanche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0658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status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StatusPedido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117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cliente : Cliente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2941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quantidade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026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alterarStatus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9853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cadastrarPedido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8228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valorTotal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7751717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0696E045-6820-4265-8506-0EEB5FD32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454146"/>
              </p:ext>
            </p:extLst>
          </p:nvPr>
        </p:nvGraphicFramePr>
        <p:xfrm>
          <a:off x="8516469" y="2594534"/>
          <a:ext cx="2611718" cy="178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718">
                  <a:extLst>
                    <a:ext uri="{9D8B030D-6E8A-4147-A177-3AD203B41FA5}">
                      <a16:colId xmlns:a16="http://schemas.microsoft.com/office/drawing/2014/main" val="37542316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Lanche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99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id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6035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nome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5826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preco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026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infoLanches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701725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12B528DC-F6F1-469E-9A6E-20BBB1F76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369095"/>
              </p:ext>
            </p:extLst>
          </p:nvPr>
        </p:nvGraphicFramePr>
        <p:xfrm>
          <a:off x="1063813" y="4801645"/>
          <a:ext cx="2611718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718">
                  <a:extLst>
                    <a:ext uri="{9D8B030D-6E8A-4147-A177-3AD203B41FA5}">
                      <a16:colId xmlns:a16="http://schemas.microsoft.com/office/drawing/2014/main" val="37542316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Atendente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99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id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6035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nome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026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5782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pt-BR" dirty="0"/>
              <a:t>Relações no Diagrama de Classes (UML)</a:t>
            </a:r>
            <a:endParaRPr dirty="0"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1"/>
          </p:nvPr>
        </p:nvSpPr>
        <p:spPr>
          <a:xfrm>
            <a:off x="592347" y="1924050"/>
            <a:ext cx="11007306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1800"/>
            </a:pPr>
            <a:r>
              <a:rPr lang="pt-BR" sz="1800" dirty="0"/>
              <a:t>As relações no Diagrama de Classes mostram como as classes se conectam e interagem dentro do sistema, ajudando a entender sua estrutura e responsabilidades:</a:t>
            </a:r>
          </a:p>
          <a:p>
            <a:pPr marL="0" lvl="0" indent="0">
              <a:spcBef>
                <a:spcPts val="0"/>
              </a:spcBef>
              <a:buSzPts val="1800"/>
            </a:pPr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0358F40-F6A9-4037-B5AF-B4EDA1731D9C}"/>
              </a:ext>
            </a:extLst>
          </p:cNvPr>
          <p:cNvSpPr txBox="1"/>
          <p:nvPr/>
        </p:nvSpPr>
        <p:spPr>
          <a:xfrm>
            <a:off x="592347" y="3153784"/>
            <a:ext cx="10333278" cy="786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Associação - </a:t>
            </a:r>
            <a:r>
              <a:rPr lang="pt-BR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Relacionamento simples onde uma classe se relaciona com outra, mas ambas existem de forma independente.</a:t>
            </a:r>
          </a:p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Exemplo: </a:t>
            </a:r>
            <a:r>
              <a:rPr lang="pt-BR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Cliente ─── Pedido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BA9F59B-A0E5-4114-B71D-F8445F0EFF02}"/>
              </a:ext>
            </a:extLst>
          </p:cNvPr>
          <p:cNvGrpSpPr/>
          <p:nvPr/>
        </p:nvGrpSpPr>
        <p:grpSpPr>
          <a:xfrm>
            <a:off x="592347" y="4227297"/>
            <a:ext cx="7592143" cy="786754"/>
            <a:chOff x="592347" y="3863329"/>
            <a:chExt cx="7592143" cy="786754"/>
          </a:xfrm>
        </p:grpSpPr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BAA00F59-2ADB-4C97-9FCF-8D9EA73A4ABB}"/>
                </a:ext>
              </a:extLst>
            </p:cNvPr>
            <p:cNvSpPr txBox="1"/>
            <p:nvPr/>
          </p:nvSpPr>
          <p:spPr>
            <a:xfrm>
              <a:off x="592347" y="3863329"/>
              <a:ext cx="7592143" cy="786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600" b="1" dirty="0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Agregação (    ) -  </a:t>
              </a:r>
              <a:r>
                <a:rPr lang="pt-BR" sz="1600" dirty="0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Relacionamento todo–parte fraco, onde a parte pode existir sem o todo.</a:t>
              </a:r>
            </a:p>
            <a:p>
              <a:pPr>
                <a:lnSpc>
                  <a:spcPct val="150000"/>
                </a:lnSpc>
              </a:pPr>
              <a:r>
                <a:rPr lang="pt-BR" sz="1600" b="1" dirty="0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Exemplo: </a:t>
              </a:r>
              <a:r>
                <a:rPr lang="pt-BR" sz="1600" dirty="0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Time  ── Jogador</a:t>
              </a:r>
            </a:p>
          </p:txBody>
        </p:sp>
        <p:sp>
          <p:nvSpPr>
            <p:cNvPr id="7" name="Losango 6">
              <a:extLst>
                <a:ext uri="{FF2B5EF4-FFF2-40B4-BE49-F238E27FC236}">
                  <a16:creationId xmlns:a16="http://schemas.microsoft.com/office/drawing/2014/main" id="{EFD5E40D-7AAA-431F-A58D-F73EF09F260E}"/>
                </a:ext>
              </a:extLst>
            </p:cNvPr>
            <p:cNvSpPr/>
            <p:nvPr/>
          </p:nvSpPr>
          <p:spPr>
            <a:xfrm flipH="1">
              <a:off x="1732316" y="4036307"/>
              <a:ext cx="180000" cy="180000"/>
            </a:xfrm>
            <a:prstGeom prst="diamond">
              <a:avLst/>
            </a:prstGeom>
            <a:solidFill>
              <a:schemeClr val="bg1"/>
            </a:solidFill>
            <a:ln w="127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" name="Losango 7">
              <a:extLst>
                <a:ext uri="{FF2B5EF4-FFF2-40B4-BE49-F238E27FC236}">
                  <a16:creationId xmlns:a16="http://schemas.microsoft.com/office/drawing/2014/main" id="{E5DDAA3D-1543-4021-B0EC-91474557D2D2}"/>
                </a:ext>
              </a:extLst>
            </p:cNvPr>
            <p:cNvSpPr/>
            <p:nvPr/>
          </p:nvSpPr>
          <p:spPr>
            <a:xfrm flipH="1">
              <a:off x="2063124" y="4391113"/>
              <a:ext cx="180000" cy="180000"/>
            </a:xfrm>
            <a:prstGeom prst="diamond">
              <a:avLst/>
            </a:prstGeom>
            <a:solidFill>
              <a:schemeClr val="bg1"/>
            </a:solidFill>
            <a:ln w="127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n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2DC8CD51-88AF-4FEF-AB74-E2BA223E37E9}"/>
              </a:ext>
            </a:extLst>
          </p:cNvPr>
          <p:cNvGrpSpPr/>
          <p:nvPr/>
        </p:nvGrpSpPr>
        <p:grpSpPr>
          <a:xfrm>
            <a:off x="592347" y="5300811"/>
            <a:ext cx="8124340" cy="786754"/>
            <a:chOff x="592347" y="3863329"/>
            <a:chExt cx="8124340" cy="786754"/>
          </a:xfrm>
        </p:grpSpPr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37130AE-A556-4DDC-9710-F9AF92DCB478}"/>
                </a:ext>
              </a:extLst>
            </p:cNvPr>
            <p:cNvSpPr txBox="1"/>
            <p:nvPr/>
          </p:nvSpPr>
          <p:spPr>
            <a:xfrm>
              <a:off x="592347" y="3863329"/>
              <a:ext cx="8124340" cy="786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600" b="1" dirty="0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Composição (    ) -  </a:t>
              </a:r>
              <a:r>
                <a:rPr lang="pt-BR" sz="1600" dirty="0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Relacionamento todo–parte forte, onde a parte depende totalmente do todo.</a:t>
              </a:r>
            </a:p>
            <a:p>
              <a:pPr>
                <a:lnSpc>
                  <a:spcPct val="150000"/>
                </a:lnSpc>
              </a:pPr>
              <a:r>
                <a:rPr lang="pt-BR" sz="1600" b="1" dirty="0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Exemplo: </a:t>
              </a:r>
              <a:r>
                <a:rPr lang="pt-BR" sz="1600" dirty="0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Pedido   ── </a:t>
              </a:r>
              <a:r>
                <a:rPr lang="pt-BR" sz="1600" dirty="0" err="1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ItemPedido</a:t>
              </a:r>
              <a:endParaRPr lang="pt-BR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" name="Losango 12">
              <a:extLst>
                <a:ext uri="{FF2B5EF4-FFF2-40B4-BE49-F238E27FC236}">
                  <a16:creationId xmlns:a16="http://schemas.microsoft.com/office/drawing/2014/main" id="{3C2E3D01-8C0A-48A0-AD2B-3DC4BD084511}"/>
                </a:ext>
              </a:extLst>
            </p:cNvPr>
            <p:cNvSpPr/>
            <p:nvPr/>
          </p:nvSpPr>
          <p:spPr>
            <a:xfrm flipH="1">
              <a:off x="1873604" y="4036307"/>
              <a:ext cx="180000" cy="180000"/>
            </a:xfrm>
            <a:prstGeom prst="diamond">
              <a:avLst/>
            </a:prstGeom>
            <a:solidFill>
              <a:schemeClr val="tx1">
                <a:lumMod val="95000"/>
                <a:lumOff val="5000"/>
              </a:schemeClr>
            </a:solidFill>
            <a:ln w="127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4" name="Losango 13">
              <a:extLst>
                <a:ext uri="{FF2B5EF4-FFF2-40B4-BE49-F238E27FC236}">
                  <a16:creationId xmlns:a16="http://schemas.microsoft.com/office/drawing/2014/main" id="{E3DCB86A-714D-4C9F-A28E-C1E07A50EFA2}"/>
                </a:ext>
              </a:extLst>
            </p:cNvPr>
            <p:cNvSpPr/>
            <p:nvPr/>
          </p:nvSpPr>
          <p:spPr>
            <a:xfrm flipH="1">
              <a:off x="2191712" y="4395622"/>
              <a:ext cx="180000" cy="180000"/>
            </a:xfrm>
            <a:prstGeom prst="diamond">
              <a:avLst/>
            </a:prstGeom>
            <a:solidFill>
              <a:schemeClr val="tx1">
                <a:lumMod val="95000"/>
                <a:lumOff val="5000"/>
              </a:schemeClr>
            </a:solidFill>
            <a:ln w="127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n>
                  <a:solidFill>
                    <a:schemeClr val="tx1"/>
                  </a:solidFill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0330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pt-BR" dirty="0"/>
              <a:t>Relações no Diagrama de Classes (UML)</a:t>
            </a:r>
            <a:endParaRPr dirty="0"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1"/>
          </p:nvPr>
        </p:nvSpPr>
        <p:spPr>
          <a:xfrm>
            <a:off x="592347" y="1924050"/>
            <a:ext cx="11007306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1800"/>
            </a:pPr>
            <a:r>
              <a:rPr lang="pt-BR" sz="1800" dirty="0"/>
              <a:t>As relações no Diagrama de Classes mostram como as classes se conectam e interagem dentro do sistema, ajudando a entender sua estrutura e responsabilidades:</a:t>
            </a:r>
          </a:p>
          <a:p>
            <a:pPr marL="0" lvl="0" indent="0">
              <a:spcBef>
                <a:spcPts val="0"/>
              </a:spcBef>
              <a:buSzPts val="1800"/>
            </a:pPr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0358F40-F6A9-4037-B5AF-B4EDA1731D9C}"/>
              </a:ext>
            </a:extLst>
          </p:cNvPr>
          <p:cNvSpPr txBox="1"/>
          <p:nvPr/>
        </p:nvSpPr>
        <p:spPr>
          <a:xfrm>
            <a:off x="592347" y="3200612"/>
            <a:ext cx="11007306" cy="786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Generalização (Herança) - </a:t>
            </a:r>
            <a:r>
              <a:rPr lang="pt-BR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Relacionamento onde uma classe herda atributos e métodos de outra.</a:t>
            </a:r>
          </a:p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Exemplo: </a:t>
            </a:r>
            <a:r>
              <a:rPr lang="pt-BR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Produto ───► Camisa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87497C3-D933-4063-AE96-90744A19D26E}"/>
              </a:ext>
            </a:extLst>
          </p:cNvPr>
          <p:cNvSpPr txBox="1"/>
          <p:nvPr/>
        </p:nvSpPr>
        <p:spPr>
          <a:xfrm>
            <a:off x="592347" y="4320953"/>
            <a:ext cx="11007306" cy="786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Realização (Interface) - </a:t>
            </a:r>
            <a:r>
              <a:rPr lang="pt-BR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Indica que uma classe implementa uma interface e seus métodos.</a:t>
            </a:r>
          </a:p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Exemplo: </a:t>
            </a:r>
            <a:r>
              <a:rPr lang="pt-BR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Calculável ─ ─ ─► Pedido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29A01AE-89AB-4C8A-8B57-B15458645C55}"/>
              </a:ext>
            </a:extLst>
          </p:cNvPr>
          <p:cNvSpPr txBox="1"/>
          <p:nvPr/>
        </p:nvSpPr>
        <p:spPr>
          <a:xfrm>
            <a:off x="592347" y="5441293"/>
            <a:ext cx="11007306" cy="786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Dependência - </a:t>
            </a:r>
            <a:r>
              <a:rPr lang="pt-BR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Relacionamento temporário, onde uma classe usa outra apenas em um contexto específico.</a:t>
            </a:r>
          </a:p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Exemplo: </a:t>
            </a:r>
            <a:r>
              <a:rPr lang="pt-BR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Atendente ─ ─ ─ Pedido</a:t>
            </a:r>
          </a:p>
        </p:txBody>
      </p:sp>
    </p:spTree>
    <p:extLst>
      <p:ext uri="{BB962C8B-B14F-4D97-AF65-F5344CB8AC3E}">
        <p14:creationId xmlns:p14="http://schemas.microsoft.com/office/powerpoint/2010/main" val="346063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FD41E-8726-4E7E-98C1-AA3036C1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Prático – Relações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17EDF48B-1B5E-44F7-B8F4-6040EC57A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936426"/>
              </p:ext>
            </p:extLst>
          </p:nvPr>
        </p:nvGraphicFramePr>
        <p:xfrm>
          <a:off x="1063813" y="2160106"/>
          <a:ext cx="2611718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718">
                  <a:extLst>
                    <a:ext uri="{9D8B030D-6E8A-4147-A177-3AD203B41FA5}">
                      <a16:colId xmlns:a16="http://schemas.microsoft.com/office/drawing/2014/main" val="33712066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090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id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1460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nome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7464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verPedido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2016317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478BA326-4397-4E2A-8CD6-6CDF16419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870224"/>
              </p:ext>
            </p:extLst>
          </p:nvPr>
        </p:nvGraphicFramePr>
        <p:xfrm>
          <a:off x="4757127" y="3153414"/>
          <a:ext cx="2611718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718">
                  <a:extLst>
                    <a:ext uri="{9D8B030D-6E8A-4147-A177-3AD203B41FA5}">
                      <a16:colId xmlns:a16="http://schemas.microsoft.com/office/drawing/2014/main" val="37542316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Pedido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99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id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6035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Itens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ItemPedido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0658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status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StatusPedido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117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cliente : Cliente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2941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cadastrarPedido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8228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valorTotal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7751717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0696E045-6820-4265-8506-0EEB5FD32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813627"/>
              </p:ext>
            </p:extLst>
          </p:nvPr>
        </p:nvGraphicFramePr>
        <p:xfrm>
          <a:off x="8758516" y="4805379"/>
          <a:ext cx="2611718" cy="178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718">
                  <a:extLst>
                    <a:ext uri="{9D8B030D-6E8A-4147-A177-3AD203B41FA5}">
                      <a16:colId xmlns:a16="http://schemas.microsoft.com/office/drawing/2014/main" val="37542316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Lanche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99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id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6035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nome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5826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preco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026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infoLanches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701725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12B528DC-F6F1-469E-9A6E-20BBB1F76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655709"/>
              </p:ext>
            </p:extLst>
          </p:nvPr>
        </p:nvGraphicFramePr>
        <p:xfrm>
          <a:off x="1063813" y="5176219"/>
          <a:ext cx="2611718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718">
                  <a:extLst>
                    <a:ext uri="{9D8B030D-6E8A-4147-A177-3AD203B41FA5}">
                      <a16:colId xmlns:a16="http://schemas.microsoft.com/office/drawing/2014/main" val="37542316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Atendente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99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id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6035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nome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026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alterarStatus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521261"/>
                  </a:ext>
                </a:extLst>
              </a:tr>
            </a:tbl>
          </a:graphicData>
        </a:graphic>
      </p:graphicFrame>
      <p:sp>
        <p:nvSpPr>
          <p:cNvPr id="13" name="CaixaDeTexto 12">
            <a:extLst>
              <a:ext uri="{FF2B5EF4-FFF2-40B4-BE49-F238E27FC236}">
                <a16:creationId xmlns:a16="http://schemas.microsoft.com/office/drawing/2014/main" id="{34FB7F41-D1F5-49E1-8799-A63747B5F1AF}"/>
              </a:ext>
            </a:extLst>
          </p:cNvPr>
          <p:cNvSpPr txBox="1"/>
          <p:nvPr/>
        </p:nvSpPr>
        <p:spPr>
          <a:xfrm>
            <a:off x="4433885" y="3750438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n</a:t>
            </a:r>
            <a:endParaRPr lang="pt-BR" sz="11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F33B342-14F9-4475-88DD-FA279610B692}"/>
              </a:ext>
            </a:extLst>
          </p:cNvPr>
          <p:cNvSpPr txBox="1"/>
          <p:nvPr/>
        </p:nvSpPr>
        <p:spPr>
          <a:xfrm>
            <a:off x="1931193" y="3618925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1</a:t>
            </a:r>
            <a:endParaRPr lang="pt-BR" sz="1000" dirty="0"/>
          </a:p>
        </p:txBody>
      </p:sp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884746DE-DDAE-452A-9BCA-4466EE227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955272"/>
              </p:ext>
            </p:extLst>
          </p:nvPr>
        </p:nvGraphicFramePr>
        <p:xfrm>
          <a:off x="8758516" y="2160106"/>
          <a:ext cx="2611718" cy="178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718">
                  <a:extLst>
                    <a:ext uri="{9D8B030D-6E8A-4147-A177-3AD203B41FA5}">
                      <a16:colId xmlns:a16="http://schemas.microsoft.com/office/drawing/2014/main" val="37542316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ItemPedido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99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id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6035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lanche : Lanche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5826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quantidade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026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calcularItem</a:t>
                      </a: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: </a:t>
                      </a:r>
                      <a:r>
                        <a:rPr lang="pt-B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</a:t>
                      </a:r>
                      <a:endPara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7017250"/>
                  </a:ext>
                </a:extLst>
              </a:tr>
            </a:tbl>
          </a:graphicData>
        </a:graphic>
      </p:graphicFrame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10B32730-9A03-4591-A767-A2F40B120654}"/>
              </a:ext>
            </a:extLst>
          </p:cNvPr>
          <p:cNvCxnSpPr>
            <a:cxnSpLocks/>
            <a:stCxn id="4" idx="2"/>
          </p:cNvCxnSpPr>
          <p:nvPr/>
        </p:nvCxnSpPr>
        <p:spPr>
          <a:xfrm rot="16200000" flipH="1">
            <a:off x="3327689" y="2619408"/>
            <a:ext cx="456997" cy="2373031"/>
          </a:xfrm>
          <a:prstGeom prst="bentConnector2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BE5ABD98-E3C7-436D-9CC7-72CB70EE7236}"/>
              </a:ext>
            </a:extLst>
          </p:cNvPr>
          <p:cNvCxnSpPr>
            <a:cxnSpLocks/>
            <a:stCxn id="18" idx="1"/>
          </p:cNvCxnSpPr>
          <p:nvPr/>
        </p:nvCxnSpPr>
        <p:spPr>
          <a:xfrm>
            <a:off x="7563271" y="3660438"/>
            <a:ext cx="1195245" cy="6988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7DEFC1B-C80B-4B64-80A3-A5D25A6CAB53}"/>
              </a:ext>
            </a:extLst>
          </p:cNvPr>
          <p:cNvSpPr txBox="1"/>
          <p:nvPr/>
        </p:nvSpPr>
        <p:spPr>
          <a:xfrm>
            <a:off x="7336759" y="3241098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1</a:t>
            </a:r>
            <a:endParaRPr lang="pt-BR" sz="1000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69479A89-99E5-4DBB-9D0B-7889722C8215}"/>
              </a:ext>
            </a:extLst>
          </p:cNvPr>
          <p:cNvSpPr txBox="1"/>
          <p:nvPr/>
        </p:nvSpPr>
        <p:spPr>
          <a:xfrm>
            <a:off x="8450441" y="3241098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n</a:t>
            </a:r>
            <a:endParaRPr lang="pt-BR" sz="1100" dirty="0"/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458583D1-7B79-4B3F-A332-8F92D813BD2D}"/>
              </a:ext>
            </a:extLst>
          </p:cNvPr>
          <p:cNvCxnSpPr>
            <a:cxnSpLocks/>
            <a:stCxn id="20" idx="2"/>
            <a:endCxn id="6" idx="0"/>
          </p:cNvCxnSpPr>
          <p:nvPr/>
        </p:nvCxnSpPr>
        <p:spPr>
          <a:xfrm>
            <a:off x="10064375" y="3948266"/>
            <a:ext cx="0" cy="857113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Losango 17">
            <a:extLst>
              <a:ext uri="{FF2B5EF4-FFF2-40B4-BE49-F238E27FC236}">
                <a16:creationId xmlns:a16="http://schemas.microsoft.com/office/drawing/2014/main" id="{7C692548-B911-4493-90CC-250EE2F19CE5}"/>
              </a:ext>
            </a:extLst>
          </p:cNvPr>
          <p:cNvSpPr/>
          <p:nvPr/>
        </p:nvSpPr>
        <p:spPr>
          <a:xfrm flipH="1">
            <a:off x="7383271" y="3570438"/>
            <a:ext cx="180000" cy="18000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8B79BBB3-90B6-4C7B-81A4-6D20F23C552C}"/>
              </a:ext>
            </a:extLst>
          </p:cNvPr>
          <p:cNvCxnSpPr>
            <a:endCxn id="7" idx="0"/>
          </p:cNvCxnSpPr>
          <p:nvPr/>
        </p:nvCxnSpPr>
        <p:spPr>
          <a:xfrm rot="10800000" flipV="1">
            <a:off x="2369673" y="4639973"/>
            <a:ext cx="2387455" cy="536245"/>
          </a:xfrm>
          <a:prstGeom prst="bentConnector2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943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AD9FA-E3AD-404F-A6A2-1B4CED170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Sequência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3BD09D1-041D-47BD-906A-54569F8B6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4"/>
            <a:ext cx="11007306" cy="4447483"/>
          </a:xfrm>
        </p:spPr>
        <p:txBody>
          <a:bodyPr/>
          <a:lstStyle/>
          <a:p>
            <a:r>
              <a:rPr lang="pt-BR" dirty="0"/>
              <a:t>O Diagrama de Sequência representa a ordem das interações entre atores e objetos ao longo do tempo para realizar uma funcionalidade do sistema, mostrando quem envia mensagens para quem e em que sequência.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sz="1800" dirty="0"/>
              <a:t>Mostrar o fluxo de execução de um caso de uso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sz="1800" dirty="0"/>
              <a:t>Visualizar a ordem das mensagens trocadas entre objetos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sz="1800" dirty="0"/>
              <a:t>Entender responsabilidades e dependências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sz="1800" dirty="0"/>
              <a:t>Ajudar a transformar requisitos em código</a:t>
            </a:r>
          </a:p>
        </p:txBody>
      </p:sp>
    </p:spTree>
    <p:extLst>
      <p:ext uri="{BB962C8B-B14F-4D97-AF65-F5344CB8AC3E}">
        <p14:creationId xmlns:p14="http://schemas.microsoft.com/office/powerpoint/2010/main" val="1107989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BA3EF-D3B8-461D-BC45-8BA246CAB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Prático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D902BB-C7D1-4273-BE53-56EB7C975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36469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1051</Words>
  <Application>Microsoft Office PowerPoint</Application>
  <PresentationFormat>Widescreen</PresentationFormat>
  <Paragraphs>130</Paragraphs>
  <Slides>15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Tema do Office</vt:lpstr>
      <vt:lpstr>Visão Geral (UML)</vt:lpstr>
      <vt:lpstr>O que é UML ?</vt:lpstr>
      <vt:lpstr>Diagrama UML</vt:lpstr>
      <vt:lpstr>Problematização – Sistema de Pedidos</vt:lpstr>
      <vt:lpstr>Desafio Proposto</vt:lpstr>
      <vt:lpstr>Diagrama de Casos de Uso</vt:lpstr>
      <vt:lpstr>Exemplo Prático</vt:lpstr>
      <vt:lpstr>Exemplo Prático</vt:lpstr>
      <vt:lpstr>Diagrama de Classe</vt:lpstr>
      <vt:lpstr>Exemplo Prático</vt:lpstr>
      <vt:lpstr>Relações no Diagrama de Classes (UML)</vt:lpstr>
      <vt:lpstr>Relações no Diagrama de Classes (UML)</vt:lpstr>
      <vt:lpstr>Exemplo Prático – Relações</vt:lpstr>
      <vt:lpstr>Diagrama de Sequência</vt:lpstr>
      <vt:lpstr>Exemplo Prático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Visão Geral (UML)</dc:title>
  <cp:lastModifiedBy>Pedro Miho</cp:lastModifiedBy>
  <cp:revision>42</cp:revision>
  <dcterms:modified xsi:type="dcterms:W3CDTF">2026-03-30T22:24:44Z</dcterms:modified>
</cp:coreProperties>
</file>