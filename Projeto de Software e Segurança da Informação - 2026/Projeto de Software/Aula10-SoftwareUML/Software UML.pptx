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33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spcBef>
                <a:spcPts val="0"/>
              </a:spcBef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spcBef>
                <a:spcPts val="0"/>
              </a:spcBef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spcBef>
                <a:spcPts val="0"/>
              </a:spcBef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06A9D-0192-418E-9BD4-61F6C7044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SOFTWARE UML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5F28E7-6B93-4B8D-AFBC-FD9F6E779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2975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06CAE-1B65-4DF8-A33E-66FA4B15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Problematização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0FF5A-A915-4FE5-99E5-3D5198C7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academia está enfrentando dificuldades para organizar o controle de alunos, planos e treinos, pois utiliza anotações manuais e planilhas, o que tem gerado inconsistências, perda de informações e dificuldade no acompanhamento da evolução dos alunos. Além disso, há problemas na criação e atualização de treinos, bem como no gerenciamento dos planos contratados, impactando diretamente na qualidade do atendimento e na experiência dos alunos.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438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0011F-E2AE-444D-A560-E3ABD1DC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C302A-70D8-4341-AB4B-940FC14D8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resolver essa situação, será desenvolvido um sistema que permita estruturar essas informações de forma organizada, possibilitando o cadastro de alunos, a gestão de planos e a criação de treinos personalizados. O sistema também deverá permitir o acompanhamento da evolução dos alunos e o controle do status de seus planos, garantindo maior eficiência nos processos internos da academia.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107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BEFB0-F9C4-448F-BFA9-16DD13C2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Classes 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943A70-9279-4DF8-BF15-A0A20A96D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isso, será necessário modelar objetos como Aluno, Plano, Treino, Exercício, Instrutor e Acompanhamento, cada um com seus respectivos atributos e comportamentos. Além disso, será importante definir os relacionamentos entre essas entidades, como a associação entre aluno e plano, a composição entre treino e exercícios e o vínculo entre instrutor e treinos, permitindo representar de forma clara a estrutura e o funcionamento do sistema por meio de diagramas UML. </a:t>
            </a:r>
          </a:p>
        </p:txBody>
      </p:sp>
    </p:spTree>
    <p:extLst>
      <p:ext uri="{BB962C8B-B14F-4D97-AF65-F5344CB8AC3E}">
        <p14:creationId xmlns:p14="http://schemas.microsoft.com/office/powerpoint/2010/main" val="397339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75321-AB97-40B7-83B3-34A3BEC8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02A50-A095-46F1-90E8-5BB2BE269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diagrama de classes é um dos principais diagramas da UML e tem como objetivo representar a estrutura de um sistema, mostrando as classes, seus atributos, métodos e os relacionamentos entre elas. Ele permite visualizar de forma clara quais são os elementos que compõem o sistema e como eles se organizam.</a:t>
            </a:r>
          </a:p>
          <a:p>
            <a:endParaRPr lang="pt-BR" dirty="0"/>
          </a:p>
          <a:p>
            <a:r>
              <a:rPr lang="pt-BR" dirty="0"/>
              <a:t>Na prática, funciona como um “mapa” da aplicação, ajudando a planejar a lógica antes da implementação. Com ele, é possível identificar responsabilidades de cada classe, entender como os objetos se conectam e facilitar tanto o desenvolvimento quanto a comunicação entre os envolvidos no projeto.</a:t>
            </a:r>
          </a:p>
        </p:txBody>
      </p:sp>
    </p:spTree>
    <p:extLst>
      <p:ext uri="{BB962C8B-B14F-4D97-AF65-F5344CB8AC3E}">
        <p14:creationId xmlns:p14="http://schemas.microsoft.com/office/powerpoint/2010/main" val="5782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23ACA-4939-4467-AC4A-209A2EBA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9803EE-050B-4A2B-A738-50FB00931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Na UML, os relacionamentos representam como as classes se conectam e interagem dentro de um sistema. Os principais tipos são: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sz="1800" b="1" dirty="0"/>
              <a:t>Associação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sz="1600" dirty="0"/>
              <a:t>Representa uma ligação entre duas classes. Exemplo: um Aluno possui um Treino. Pode ter multiplicidade, como 1:1 ou 1:N.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sz="1800" b="1" dirty="0"/>
              <a:t>Agregação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sz="1600" dirty="0"/>
              <a:t>Relação todo-parte mais fraca, onde as partes podem existir separadamente do todo. Exemplo: um Time e seus Jogadores.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sz="1800" b="1" dirty="0"/>
              <a:t>Composição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sz="1600" dirty="0"/>
              <a:t>Relação todo-parte forte, onde a parte depende totalmente do todo. Se o todo deixa de existir, as partes também deixam. Exemplo: Pedido e </a:t>
            </a:r>
            <a:r>
              <a:rPr lang="pt-BR" sz="1600" dirty="0" err="1"/>
              <a:t>ItemPedido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265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23ACA-4939-4467-AC4A-209A2EBA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9803EE-050B-4A2B-A738-50FB00931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Na UML, os relacionamentos representam como as classes se conectam e interagem dentro de um sistema. Os principais tipos são: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sz="1800" b="1" dirty="0"/>
              <a:t>Herança (Generalização)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sz="1600" dirty="0"/>
              <a:t>Representa uma relação de especialização, onde uma classe herda características de outra. Exemplo: Instrutor herda de Pessoa.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sz="1800" b="1" dirty="0"/>
              <a:t>Dependência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sz="1600" dirty="0"/>
              <a:t>Indica que uma classe utiliza outra de forma temporária, geralmente em métodos. É uma relação mais fraca e momentânea.</a:t>
            </a:r>
          </a:p>
        </p:txBody>
      </p:sp>
    </p:spTree>
    <p:extLst>
      <p:ext uri="{BB962C8B-B14F-4D97-AF65-F5344CB8AC3E}">
        <p14:creationId xmlns:p14="http://schemas.microsoft.com/office/powerpoint/2010/main" val="12411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5832D-BE32-45C8-B2C4-407A6A6B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17CE6F-5F13-4B66-844A-5CF924115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 multiplicidade na UML indica quantas instâncias de uma classe podem se relacionar com uma instância de outra classe dentro de uma associação. Ela define limites mínimos e máximos, como 0..1, 1..* ou 0..*, permitindo representar corretamente as regras do sistema e garantindo uma modelagem mais precisa dos dados.</a:t>
            </a:r>
          </a:p>
          <a:p>
            <a:r>
              <a:rPr lang="pt-BR" sz="1800" dirty="0"/>
              <a:t>Os principais tipos de multiplicidade são:</a:t>
            </a:r>
          </a:p>
          <a:p>
            <a:pPr marL="1028700" lvl="1" indent="-342900"/>
            <a:r>
              <a:rPr lang="pt-BR" sz="1400" b="1" dirty="0"/>
              <a:t>1</a:t>
            </a:r>
            <a:r>
              <a:rPr lang="pt-BR" sz="1400" dirty="0"/>
              <a:t> → exatamente um (</a:t>
            </a:r>
            <a:r>
              <a:rPr lang="pt-BR" sz="1400" dirty="0" err="1"/>
              <a:t>ex</a:t>
            </a:r>
            <a:r>
              <a:rPr lang="pt-BR" sz="1400" dirty="0"/>
              <a:t>: um aluno possui um plano) </a:t>
            </a:r>
          </a:p>
          <a:p>
            <a:pPr marL="1028700" lvl="1" indent="-342900"/>
            <a:r>
              <a:rPr lang="pt-BR" sz="1400" b="1" dirty="0"/>
              <a:t>0..1</a:t>
            </a:r>
            <a:r>
              <a:rPr lang="pt-BR" sz="1400" dirty="0"/>
              <a:t> → zero ou um (relacionamento opcional) </a:t>
            </a:r>
          </a:p>
          <a:p>
            <a:pPr marL="1028700" lvl="1" indent="-342900"/>
            <a:r>
              <a:rPr lang="pt-BR" sz="1400" b="1" dirty="0"/>
              <a:t>1..*</a:t>
            </a:r>
            <a:r>
              <a:rPr lang="pt-BR" sz="1400" dirty="0"/>
              <a:t> → um ou muitos (</a:t>
            </a:r>
            <a:r>
              <a:rPr lang="pt-BR" sz="1400" dirty="0" err="1"/>
              <a:t>ex</a:t>
            </a:r>
            <a:r>
              <a:rPr lang="pt-BR" sz="1400" dirty="0"/>
              <a:t>: um pedido deve ter pelo menos um item) </a:t>
            </a:r>
          </a:p>
          <a:p>
            <a:pPr marL="1028700" lvl="1" indent="-342900"/>
            <a:r>
              <a:rPr lang="pt-BR" sz="1400" b="1" dirty="0"/>
              <a:t>0..*</a:t>
            </a:r>
            <a:r>
              <a:rPr lang="pt-BR" sz="1400" dirty="0"/>
              <a:t> → zero ou muitos (</a:t>
            </a:r>
            <a:r>
              <a:rPr lang="pt-BR" sz="1400" dirty="0" err="1"/>
              <a:t>ex</a:t>
            </a:r>
            <a:r>
              <a:rPr lang="pt-BR" sz="1400" dirty="0"/>
              <a:t>: um cliente pode ter vários pedidos ou nenhum) </a:t>
            </a:r>
          </a:p>
          <a:p>
            <a:pPr marL="1028700" lvl="1" indent="-342900"/>
            <a:r>
              <a:rPr lang="pt-BR" sz="1400" b="1" dirty="0"/>
              <a:t>*</a:t>
            </a:r>
            <a:r>
              <a:rPr lang="pt-BR" sz="1400" dirty="0"/>
              <a:t> → muitos (forma simplificada de 0..*)</a:t>
            </a:r>
          </a:p>
          <a:p>
            <a:pPr marL="1028700" lvl="1" indent="-342900"/>
            <a:r>
              <a:rPr lang="pt-BR" sz="1400" dirty="0" err="1"/>
              <a:t>n..m</a:t>
            </a:r>
            <a:r>
              <a:rPr lang="pt-BR" sz="1400" dirty="0"/>
              <a:t> → intervalo específico (</a:t>
            </a:r>
            <a:r>
              <a:rPr lang="pt-BR" sz="1400" dirty="0" err="1"/>
              <a:t>ex</a:t>
            </a:r>
            <a:r>
              <a:rPr lang="pt-BR" sz="1400" dirty="0"/>
              <a:t>: 2..5, no mínimo 2 e no máximo 5 instâncias)</a:t>
            </a:r>
          </a:p>
          <a:p>
            <a:pPr marL="1028700" lvl="1" indent="-342900"/>
            <a:endParaRPr lang="pt-BR" sz="1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637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56AD0-D780-4AFD-A828-463A252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Estereótipos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6EE2C0-49D5-4174-8574-2BAA87B7A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UML, os </a:t>
            </a:r>
            <a:r>
              <a:rPr lang="pt-BR" b="1" dirty="0"/>
              <a:t>estereótipos</a:t>
            </a:r>
            <a:r>
              <a:rPr lang="pt-BR" dirty="0"/>
              <a:t> são uma forma de estender o significado dos elementos do diagrama, permitindo adicionar um contexto ou papel específico a uma classe, método ou relacionamento. Eles funcionam como “rótulos” que indicam a função daquele elemento dentro do sistema.</a:t>
            </a:r>
          </a:p>
          <a:p>
            <a:endParaRPr lang="pt-BR" dirty="0"/>
          </a:p>
          <a:p>
            <a:r>
              <a:rPr lang="pt-BR" dirty="0"/>
              <a:t>Os estereótipos são representados entre « » (ou &lt;&lt; &gt;&gt;), como por exemplo &lt;&lt;possui&gt;&gt;, &lt;&lt;atende&gt;&gt; ou &lt;&lt;cadastra&gt;&gt;. Eles são muito utilizados para organizar melhor o modelo, principalmente em arquiteturas, ajudando a identificar rapidamente a responsabilidade de cada classe, como classes de controle, classes de dados ou classes de interface.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143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F9C15-0DEA-456C-8CDF-B1CFD70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Classe Academia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0103E2-6A5E-4E6B-921F-447ABA79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876" y="1897745"/>
            <a:ext cx="6454248" cy="410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6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97A2-09A3-4C4E-8C5F-B88E0A72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C56F34-0772-4968-B96B-65F7C06B0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diagrama de casos de uso é um diagrama da UML que representa as funcionalidades de um sistema a partir da visão do usuário. Ele mostra o que o sistema faz, sem detalhar como essas ações são implementadas.</a:t>
            </a:r>
          </a:p>
          <a:p>
            <a:endParaRPr lang="pt-BR" dirty="0"/>
          </a:p>
          <a:p>
            <a:r>
              <a:rPr lang="pt-BR" dirty="0"/>
              <a:t>Nesse diagrama, são identificados os atores (usuários ou sistemas externos) e os casos de uso (funcionalidades), ajudando a compreender os requisitos e definir o escopo do sistema de forma clara.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13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5F711-3F44-46A8-BB75-5AE6D017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Uso Academia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63F496-A250-4F94-8D54-A9015067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2011717"/>
            <a:ext cx="714474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4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2323</TotalTime>
  <Words>876</Words>
  <Application>Microsoft Office PowerPoint</Application>
  <PresentationFormat>Widescreen</PresentationFormat>
  <Paragraphs>46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Tema do Office</vt:lpstr>
      <vt:lpstr>SOFTWARE UML</vt:lpstr>
      <vt:lpstr>Problematização</vt:lpstr>
      <vt:lpstr>Solução</vt:lpstr>
      <vt:lpstr>Modelagem de Classes e Relacionamentos</vt:lpstr>
      <vt:lpstr>Diagrama de Classe</vt:lpstr>
      <vt:lpstr>Relações</vt:lpstr>
      <vt:lpstr>Relações</vt:lpstr>
      <vt:lpstr>Multiplicidade</vt:lpstr>
      <vt:lpstr>Estereótipos</vt:lpstr>
      <vt:lpstr>Diagrama de Classe Academia</vt:lpstr>
      <vt:lpstr>Diagrama de Uso</vt:lpstr>
      <vt:lpstr>Diagrama de Uso Academia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180</cp:revision>
  <dcterms:created xsi:type="dcterms:W3CDTF">2024-03-08T12:14:33Z</dcterms:created>
  <dcterms:modified xsi:type="dcterms:W3CDTF">2026-04-05T23:27:13Z</dcterms:modified>
</cp:coreProperties>
</file>