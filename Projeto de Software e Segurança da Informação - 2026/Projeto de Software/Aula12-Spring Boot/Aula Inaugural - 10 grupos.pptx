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4"/>
  </p:sldMasterIdLst>
  <p:notesMasterIdLst>
    <p:notesMasterId r:id="rId18"/>
  </p:notesMasterIdLst>
  <p:handoutMasterIdLst>
    <p:handoutMasterId r:id="rId19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67" r:id="rId15"/>
    <p:sldId id="268" r:id="rId16"/>
    <p:sldId id="265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9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dro Henrique Miho de Souza" userId="S::pedrosouza@umc.br::3bc82412-f670-4b53-8c7d-8094f7642ee2" providerId="AD" clId="Web-{1236DFDE-05E3-2B6B-CF4B-F06BF9EBA303}"/>
    <pc:docChg chg="modSld">
      <pc:chgData name="Pedro Henrique Miho de Souza" userId="S::pedrosouza@umc.br::3bc82412-f670-4b53-8c7d-8094f7642ee2" providerId="AD" clId="Web-{1236DFDE-05E3-2B6B-CF4B-F06BF9EBA303}" dt="2026-02-10T11:21:01.316" v="3" actId="20577"/>
      <pc:docMkLst>
        <pc:docMk/>
      </pc:docMkLst>
      <pc:sldChg chg="modSp">
        <pc:chgData name="Pedro Henrique Miho de Souza" userId="S::pedrosouza@umc.br::3bc82412-f670-4b53-8c7d-8094f7642ee2" providerId="AD" clId="Web-{1236DFDE-05E3-2B6B-CF4B-F06BF9EBA303}" dt="2026-02-10T11:21:01.316" v="3" actId="20577"/>
        <pc:sldMkLst>
          <pc:docMk/>
          <pc:sldMk cId="4046982407" sldId="256"/>
        </pc:sldMkLst>
        <pc:spChg chg="mod">
          <ac:chgData name="Pedro Henrique Miho de Souza" userId="S::pedrosouza@umc.br::3bc82412-f670-4b53-8c7d-8094f7642ee2" providerId="AD" clId="Web-{1236DFDE-05E3-2B6B-CF4B-F06BF9EBA303}" dt="2026-02-10T11:20:54.940" v="2" actId="20577"/>
          <ac:spMkLst>
            <pc:docMk/>
            <pc:sldMk cId="4046982407" sldId="256"/>
            <ac:spMk id="2" creationId="{9B3B5C3A-A09A-4259-AF3D-EF5302F61C54}"/>
          </ac:spMkLst>
        </pc:spChg>
        <pc:spChg chg="mod">
          <ac:chgData name="Pedro Henrique Miho de Souza" userId="S::pedrosouza@umc.br::3bc82412-f670-4b53-8c7d-8094f7642ee2" providerId="AD" clId="Web-{1236DFDE-05E3-2B6B-CF4B-F06BF9EBA303}" dt="2026-02-10T11:21:01.316" v="3" actId="20577"/>
          <ac:spMkLst>
            <pc:docMk/>
            <pc:sldMk cId="4046982407" sldId="256"/>
            <ac:spMk id="3" creationId="{C4FF2C9F-673D-46AD-83CF-B874F96C37E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1.png"/><Relationship Id="rId5" Type="http://schemas.openxmlformats.org/officeDocument/2006/relationships/image" Target="../media/image16.png"/><Relationship Id="rId10" Type="http://schemas.openxmlformats.org/officeDocument/2006/relationships/image" Target="../media/image4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0731"/>
            <a:ext cx="9144000" cy="1776069"/>
          </a:xfrm>
        </p:spPr>
        <p:txBody>
          <a:bodyPr lIns="91440" tIns="45720" rIns="91440" bIns="45720" anchor="b"/>
          <a:lstStyle/>
          <a:p>
            <a:r>
              <a:rPr lang="pt-BR" sz="4400" dirty="0">
                <a:latin typeface="Times New Roman"/>
                <a:cs typeface="Times New Roman"/>
              </a:rPr>
              <a:t>Spring Boot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 lIns="91440" tIns="45720" rIns="91440" bIns="45720" anchor="t"/>
          <a:lstStyle/>
          <a:p>
            <a:r>
              <a:rPr lang="pt-BR" dirty="0">
                <a:latin typeface="Times New Roman"/>
                <a:cs typeface="Times New Roman"/>
              </a:rPr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BEBAF5-3C46-17B8-5CA7-B64921085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Spring Boot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D08E67-6549-6291-F288-017058B5BD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2186998"/>
          </a:xfrm>
        </p:spPr>
        <p:txBody>
          <a:bodyPr/>
          <a:lstStyle/>
          <a:p>
            <a:pPr algn="just"/>
            <a:r>
              <a:rPr lang="pt-BR" dirty="0"/>
              <a:t>O </a:t>
            </a:r>
            <a:r>
              <a:rPr lang="pt-BR" b="1" dirty="0"/>
              <a:t>Spring Boot</a:t>
            </a:r>
            <a:r>
              <a:rPr lang="pt-BR" dirty="0"/>
              <a:t> é um framework do ecossistema Java criado para simplificar o desenvolvimento de aplicações, principalmente aplicações web e APIs.</a:t>
            </a:r>
          </a:p>
          <a:p>
            <a:pPr algn="just"/>
            <a:r>
              <a:rPr lang="pt-BR" dirty="0"/>
              <a:t>De forma direta, ele permite que você crie sistemas robustos </a:t>
            </a:r>
            <a:r>
              <a:rPr lang="pt-BR" b="1" dirty="0"/>
              <a:t>com muito menos configuração e esforço</a:t>
            </a:r>
            <a:r>
              <a:rPr lang="pt-BR" dirty="0"/>
              <a:t> do que era necessário anteriormente no desenvolvimento Java tradicional.</a:t>
            </a:r>
          </a:p>
          <a:p>
            <a:endParaRPr lang="pt-BR" dirty="0"/>
          </a:p>
        </p:txBody>
      </p:sp>
      <p:pic>
        <p:nvPicPr>
          <p:cNvPr id="7" name="Imagem 6" descr="Logotipo, Ícone&#10;&#10;O conteúdo gerado por IA pode estar incorreto.">
            <a:extLst>
              <a:ext uri="{FF2B5EF4-FFF2-40B4-BE49-F238E27FC236}">
                <a16:creationId xmlns:a16="http://schemas.microsoft.com/office/drawing/2014/main" id="{3FC6E662-5D71-1A7A-17CC-20F9C5472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01333" y="4544150"/>
            <a:ext cx="1441126" cy="1440000"/>
          </a:xfrm>
          <a:prstGeom prst="rect">
            <a:avLst/>
          </a:prstGeom>
        </p:spPr>
      </p:pic>
      <p:pic>
        <p:nvPicPr>
          <p:cNvPr id="9" name="Imagem 8" descr="Ícone&#10;&#10;O conteúdo gerado por IA pode estar incorreto.">
            <a:extLst>
              <a:ext uri="{FF2B5EF4-FFF2-40B4-BE49-F238E27FC236}">
                <a16:creationId xmlns:a16="http://schemas.microsoft.com/office/drawing/2014/main" id="{C73EDDCB-E789-E2A6-AA42-34AE3995BD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9540" y="4544150"/>
            <a:ext cx="1602253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9580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FB0425-1906-0C33-2A74-AA609C59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das antigas tecnologias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3D7F21-4D0F-4D3F-956B-8BDA317B0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441989"/>
          </a:xfrm>
        </p:spPr>
        <p:txBody>
          <a:bodyPr/>
          <a:lstStyle/>
          <a:p>
            <a:pPr algn="just"/>
            <a:r>
              <a:rPr lang="pt-BR" sz="1800" dirty="0"/>
              <a:t>Antes do surgimento do </a:t>
            </a:r>
            <a:r>
              <a:rPr lang="pt-BR" sz="1800" b="1" dirty="0"/>
              <a:t>Spring Boot</a:t>
            </a:r>
            <a:r>
              <a:rPr lang="pt-BR" sz="1800" dirty="0"/>
              <a:t>, o desenvolvimento web em Java era complexo e pouco produtivo. Com tecnologias como o Java EE, era necessário lidar com muitas configurações manuais, arquivos XML extensos e integração difícil entre componentes. Além disso, o alto acoplamento tornava a manutenção mais complicada e lenta. 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1C458B5-65B7-10A3-F162-6440DFE343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2973" y="3773316"/>
            <a:ext cx="2276793" cy="2353003"/>
          </a:xfrm>
          <a:prstGeom prst="rect">
            <a:avLst/>
          </a:prstGeom>
        </p:spPr>
      </p:pic>
      <p:pic>
        <p:nvPicPr>
          <p:cNvPr id="1026" name="Picture 2" descr="Importando e editando um arquivo XML">
            <a:extLst>
              <a:ext uri="{FF2B5EF4-FFF2-40B4-BE49-F238E27FC236}">
                <a16:creationId xmlns:a16="http://schemas.microsoft.com/office/drawing/2014/main" id="{7F51AE2C-38C2-D7A9-8EB3-2871C0C068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7254" y="3286664"/>
            <a:ext cx="3755833" cy="3326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62371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D813B1-5C97-9207-858A-351037615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Spring Boot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A2CA54-8C44-C4D7-F939-D281AD3F14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Spring Boot</a:t>
            </a:r>
            <a:r>
              <a:rPr lang="pt-BR" dirty="0"/>
              <a:t> resolve os problemas do desenvolvimento web em Java tornando o processo mais simples e produtivo.</a:t>
            </a:r>
          </a:p>
          <a:p>
            <a:r>
              <a:rPr lang="pt-BR" b="1" dirty="0"/>
              <a:t>Principais Melhorias:</a:t>
            </a:r>
          </a:p>
          <a:p>
            <a:pPr marL="1028700" lvl="1" indent="-342900"/>
            <a:r>
              <a:rPr lang="pt-BR" b="1" dirty="0"/>
              <a:t>Configuração automática</a:t>
            </a:r>
            <a:r>
              <a:rPr lang="pt-BR" dirty="0"/>
              <a:t> → elimina XML e configurações manuais </a:t>
            </a:r>
          </a:p>
          <a:p>
            <a:pPr marL="1028700" lvl="1" indent="-342900"/>
            <a:r>
              <a:rPr lang="pt-BR" b="1" dirty="0"/>
              <a:t>Servidor embutido</a:t>
            </a:r>
            <a:r>
              <a:rPr lang="pt-BR" dirty="0"/>
              <a:t> → roda a aplicação direto (</a:t>
            </a:r>
            <a:r>
              <a:rPr lang="pt-BR" dirty="0" err="1"/>
              <a:t>ex</a:t>
            </a:r>
            <a:r>
              <a:rPr lang="pt-BR" dirty="0"/>
              <a:t>: Apache </a:t>
            </a:r>
            <a:r>
              <a:rPr lang="pt-BR" dirty="0" err="1"/>
              <a:t>Tomcat</a:t>
            </a:r>
            <a:r>
              <a:rPr lang="pt-BR" dirty="0"/>
              <a:t>) </a:t>
            </a:r>
          </a:p>
          <a:p>
            <a:pPr marL="1028700" lvl="1" indent="-342900"/>
            <a:r>
              <a:rPr lang="pt-BR" b="1" dirty="0"/>
              <a:t>Menor acoplamento</a:t>
            </a:r>
            <a:r>
              <a:rPr lang="pt-BR" dirty="0"/>
              <a:t> → facilita manutenção e evolução (herdado do Spring Framework) </a:t>
            </a:r>
          </a:p>
          <a:p>
            <a:pPr marL="1028700" lvl="1" indent="-342900"/>
            <a:r>
              <a:rPr lang="pt-BR" b="1" dirty="0"/>
              <a:t>Mais produtividade</a:t>
            </a:r>
            <a:r>
              <a:rPr lang="pt-BR" dirty="0"/>
              <a:t> → foco na regra de negócio </a:t>
            </a:r>
          </a:p>
          <a:p>
            <a:pPr marL="1028700" lvl="1" indent="-342900"/>
            <a:r>
              <a:rPr lang="pt-BR" b="1" dirty="0"/>
              <a:t>Inicialização rápida</a:t>
            </a:r>
            <a:r>
              <a:rPr lang="pt-BR" dirty="0"/>
              <a:t> → projeto pronto em poucos minutos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87429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7B3345-AFD9-E34B-B421-74245CCA0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6203706" cy="448573"/>
          </a:xfrm>
        </p:spPr>
        <p:txBody>
          <a:bodyPr/>
          <a:lstStyle/>
          <a:p>
            <a:r>
              <a:rPr lang="pt-BR" dirty="0"/>
              <a:t>Empresas que usam Spring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533291-79BC-54E5-EFB5-34A2909B1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6" y="1844675"/>
            <a:ext cx="8499895" cy="544842"/>
          </a:xfrm>
        </p:spPr>
        <p:txBody>
          <a:bodyPr/>
          <a:lstStyle/>
          <a:p>
            <a:r>
              <a:rPr lang="pt-BR" dirty="0"/>
              <a:t>Grandes empresas utilizam o ecossistema Spring: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6E6B109-E2E4-3723-1D58-43BB4CA5A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000" y="2737186"/>
            <a:ext cx="2880000" cy="1383629"/>
          </a:xfrm>
          <a:prstGeom prst="rect">
            <a:avLst/>
          </a:prstGeom>
        </p:spPr>
      </p:pic>
      <p:pic>
        <p:nvPicPr>
          <p:cNvPr id="2050" name="Picture 2" descr="Comércio eletrônico abre as portas da exportação para produtores brasileiros">
            <a:extLst>
              <a:ext uri="{FF2B5EF4-FFF2-40B4-BE49-F238E27FC236}">
                <a16:creationId xmlns:a16="http://schemas.microsoft.com/office/drawing/2014/main" id="{508A051F-C857-87EC-F91E-523E0F34B7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2947" y="4824734"/>
            <a:ext cx="2880000" cy="108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O Poder do LinkedIn para Expandir Sua Rede Social, Profissional e Acadêmica">
            <a:extLst>
              <a:ext uri="{FF2B5EF4-FFF2-40B4-BE49-F238E27FC236}">
                <a16:creationId xmlns:a16="http://schemas.microsoft.com/office/drawing/2014/main" id="{119EBFAD-0BC8-86BC-6FCA-6197E5ECA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5894" y="4468484"/>
            <a:ext cx="2880000" cy="18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Início da operação Mitsui Sumitomo Seguros e Porto - Mitsui Sumitomo Seguros">
            <a:extLst>
              <a:ext uri="{FF2B5EF4-FFF2-40B4-BE49-F238E27FC236}">
                <a16:creationId xmlns:a16="http://schemas.microsoft.com/office/drawing/2014/main" id="{7CEFD892-5907-E446-4E19-A4DE63D176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4000" y="2935688"/>
            <a:ext cx="2880000" cy="986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9FF9A8C-C81B-AB02-CB92-865292A07D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6000" y="2662548"/>
            <a:ext cx="2880000" cy="1532904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1D610209-042D-75E0-8502-64F0BC20F4F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8841" y="4691652"/>
            <a:ext cx="2620212" cy="1353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65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844D5-9491-5F6A-F14E-F70549FDB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Servidor do Spring Boot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D35FA6D-0F3F-AEEE-4C4C-C35CE646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79680"/>
          </a:xfrm>
        </p:spPr>
        <p:txBody>
          <a:bodyPr/>
          <a:lstStyle/>
          <a:p>
            <a:pPr algn="just"/>
            <a:r>
              <a:rPr lang="pt-BR" dirty="0"/>
              <a:t>O Spring Boot utiliza servidores web embutidos, sendo o Apache </a:t>
            </a:r>
            <a:r>
              <a:rPr lang="pt-BR" dirty="0" err="1"/>
              <a:t>Tomcat</a:t>
            </a:r>
            <a:r>
              <a:rPr lang="pt-BR" dirty="0"/>
              <a:t> o mais comum, permitindo rodar aplicações de forma simples e rápida.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0A1A757-A9E5-C451-D0B4-2762A6BA56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0333" y="4069565"/>
            <a:ext cx="1260000" cy="1260000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52D595CE-E404-B5FB-8101-183A3D46CB18}"/>
              </a:ext>
            </a:extLst>
          </p:cNvPr>
          <p:cNvGrpSpPr/>
          <p:nvPr/>
        </p:nvGrpSpPr>
        <p:grpSpPr>
          <a:xfrm>
            <a:off x="10165039" y="3671675"/>
            <a:ext cx="720000" cy="2079612"/>
            <a:chOff x="10161473" y="3563967"/>
            <a:chExt cx="720000" cy="2079612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A5B1D27A-AB22-037A-050B-AC1C8A67A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1473" y="4923579"/>
              <a:ext cx="720000" cy="720000"/>
            </a:xfrm>
            <a:prstGeom prst="rect">
              <a:avLst/>
            </a:prstGeom>
          </p:spPr>
        </p:pic>
        <p:pic>
          <p:nvPicPr>
            <p:cNvPr id="11" name="Imagem 10">
              <a:extLst>
                <a:ext uri="{FF2B5EF4-FFF2-40B4-BE49-F238E27FC236}">
                  <a16:creationId xmlns:a16="http://schemas.microsoft.com/office/drawing/2014/main" id="{DE4E8FAB-264F-05A4-3299-63C31D222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61473" y="3563967"/>
              <a:ext cx="720000" cy="720000"/>
            </a:xfrm>
            <a:prstGeom prst="rect">
              <a:avLst/>
            </a:prstGeom>
          </p:spPr>
        </p:pic>
      </p:grpSp>
      <p:pic>
        <p:nvPicPr>
          <p:cNvPr id="7" name="Imagem 6">
            <a:extLst>
              <a:ext uri="{FF2B5EF4-FFF2-40B4-BE49-F238E27FC236}">
                <a16:creationId xmlns:a16="http://schemas.microsoft.com/office/drawing/2014/main" id="{F839134A-E7BE-5AB9-A9DA-0F8A83FD36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0205" y="4069565"/>
            <a:ext cx="1260000" cy="1260000"/>
          </a:xfrm>
          <a:prstGeom prst="rect">
            <a:avLst/>
          </a:prstGeom>
        </p:spPr>
      </p:pic>
      <p:grpSp>
        <p:nvGrpSpPr>
          <p:cNvPr id="21" name="Agrupar 20">
            <a:extLst>
              <a:ext uri="{FF2B5EF4-FFF2-40B4-BE49-F238E27FC236}">
                <a16:creationId xmlns:a16="http://schemas.microsoft.com/office/drawing/2014/main" id="{7106356C-C508-FA82-87A0-83BEFC91DE8B}"/>
              </a:ext>
            </a:extLst>
          </p:cNvPr>
          <p:cNvGrpSpPr/>
          <p:nvPr/>
        </p:nvGrpSpPr>
        <p:grpSpPr>
          <a:xfrm>
            <a:off x="1186236" y="3419383"/>
            <a:ext cx="1260000" cy="2584196"/>
            <a:chOff x="1528243" y="3517649"/>
            <a:chExt cx="1260000" cy="2584196"/>
          </a:xfrm>
        </p:grpSpPr>
        <p:pic>
          <p:nvPicPr>
            <p:cNvPr id="13" name="Imagem 12">
              <a:extLst>
                <a:ext uri="{FF2B5EF4-FFF2-40B4-BE49-F238E27FC236}">
                  <a16:creationId xmlns:a16="http://schemas.microsoft.com/office/drawing/2014/main" id="{1C5521F9-FB71-A863-D9E5-3D4A6C47DF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8243" y="5381845"/>
              <a:ext cx="720000" cy="720000"/>
            </a:xfrm>
            <a:prstGeom prst="rect">
              <a:avLst/>
            </a:prstGeom>
          </p:spPr>
        </p:pic>
        <p:pic>
          <p:nvPicPr>
            <p:cNvPr id="15" name="Imagem 14">
              <a:extLst>
                <a:ext uri="{FF2B5EF4-FFF2-40B4-BE49-F238E27FC236}">
                  <a16:creationId xmlns:a16="http://schemas.microsoft.com/office/drawing/2014/main" id="{28D5148B-D024-97F8-1EAE-989C58B5B13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68243" y="3517649"/>
              <a:ext cx="720000" cy="720000"/>
            </a:xfrm>
            <a:prstGeom prst="rect">
              <a:avLst/>
            </a:prstGeom>
          </p:spPr>
        </p:pic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D2DB7C65-79C6-0F8E-B3D5-5CAFF0C478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28243" y="4449747"/>
              <a:ext cx="720000" cy="720000"/>
            </a:xfrm>
            <a:prstGeom prst="rect">
              <a:avLst/>
            </a:prstGeom>
          </p:spPr>
        </p:pic>
      </p:grpSp>
      <p:pic>
        <p:nvPicPr>
          <p:cNvPr id="19" name="Imagem 18">
            <a:extLst>
              <a:ext uri="{FF2B5EF4-FFF2-40B4-BE49-F238E27FC236}">
                <a16:creationId xmlns:a16="http://schemas.microsoft.com/office/drawing/2014/main" id="{8A4DA2C8-55E0-E227-F8A0-45D6E3B8E98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00461" y="4069565"/>
            <a:ext cx="1260000" cy="1260000"/>
          </a:xfrm>
          <a:prstGeom prst="rect">
            <a:avLst/>
          </a:prstGeom>
        </p:spPr>
      </p:pic>
      <p:grpSp>
        <p:nvGrpSpPr>
          <p:cNvPr id="22" name="Agrupar 21">
            <a:extLst>
              <a:ext uri="{FF2B5EF4-FFF2-40B4-BE49-F238E27FC236}">
                <a16:creationId xmlns:a16="http://schemas.microsoft.com/office/drawing/2014/main" id="{CC0980A5-D564-3623-39A7-904B7B201B60}"/>
              </a:ext>
            </a:extLst>
          </p:cNvPr>
          <p:cNvGrpSpPr/>
          <p:nvPr/>
        </p:nvGrpSpPr>
        <p:grpSpPr>
          <a:xfrm>
            <a:off x="5156887" y="5643579"/>
            <a:ext cx="2066892" cy="720000"/>
            <a:chOff x="4917905" y="5643579"/>
            <a:chExt cx="2066892" cy="720000"/>
          </a:xfrm>
        </p:grpSpPr>
        <p:pic>
          <p:nvPicPr>
            <p:cNvPr id="20" name="Imagem 19" descr="Ícone&#10;&#10;O conteúdo gerado por IA pode estar incorreto.">
              <a:extLst>
                <a:ext uri="{FF2B5EF4-FFF2-40B4-BE49-F238E27FC236}">
                  <a16:creationId xmlns:a16="http://schemas.microsoft.com/office/drawing/2014/main" id="{19FFCED6-CE77-2C6B-44C2-C002BEB5C7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17905" y="5643579"/>
              <a:ext cx="801128" cy="720000"/>
            </a:xfrm>
            <a:prstGeom prst="rect">
              <a:avLst/>
            </a:prstGeom>
          </p:spPr>
        </p:pic>
        <p:pic>
          <p:nvPicPr>
            <p:cNvPr id="3074" name="Picture 2" descr="Apache Tomcat – Wikipédia, a enciclopédia livre">
              <a:extLst>
                <a:ext uri="{FF2B5EF4-FFF2-40B4-BE49-F238E27FC236}">
                  <a16:creationId xmlns:a16="http://schemas.microsoft.com/office/drawing/2014/main" id="{DA128C6F-905C-5F57-CFAF-8C89CBD0566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74297" y="5643579"/>
              <a:ext cx="101050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559BC0AE-4E89-0FD9-D952-39319995F3A9}"/>
              </a:ext>
            </a:extLst>
          </p:cNvPr>
          <p:cNvCxnSpPr/>
          <p:nvPr/>
        </p:nvCxnSpPr>
        <p:spPr>
          <a:xfrm>
            <a:off x="3819525" y="4391675"/>
            <a:ext cx="1634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5932B8AE-276E-3F7F-50E8-AB072FF710FE}"/>
              </a:ext>
            </a:extLst>
          </p:cNvPr>
          <p:cNvCxnSpPr>
            <a:cxnSpLocks/>
          </p:cNvCxnSpPr>
          <p:nvPr/>
        </p:nvCxnSpPr>
        <p:spPr>
          <a:xfrm flipH="1">
            <a:off x="3819525" y="4829175"/>
            <a:ext cx="15525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605EB39C-7560-B867-0D02-05E520E47938}"/>
              </a:ext>
            </a:extLst>
          </p:cNvPr>
          <p:cNvSpPr txBox="1"/>
          <p:nvPr/>
        </p:nvSpPr>
        <p:spPr>
          <a:xfrm>
            <a:off x="4082539" y="3884899"/>
            <a:ext cx="11785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REST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E46BD5CE-2526-9AA0-0E42-2266E1F88628}"/>
              </a:ext>
            </a:extLst>
          </p:cNvPr>
          <p:cNvCxnSpPr>
            <a:cxnSpLocks/>
          </p:cNvCxnSpPr>
          <p:nvPr/>
        </p:nvCxnSpPr>
        <p:spPr>
          <a:xfrm>
            <a:off x="7008566" y="4440178"/>
            <a:ext cx="1634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AD42E04F-8919-E53A-4869-46388234B3FA}"/>
              </a:ext>
            </a:extLst>
          </p:cNvPr>
          <p:cNvCxnSpPr>
            <a:cxnSpLocks/>
          </p:cNvCxnSpPr>
          <p:nvPr/>
        </p:nvCxnSpPr>
        <p:spPr>
          <a:xfrm flipH="1">
            <a:off x="7008566" y="4877678"/>
            <a:ext cx="15525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8A85420E-F71D-0AF6-2B1F-144DE5EE232D}"/>
              </a:ext>
            </a:extLst>
          </p:cNvPr>
          <p:cNvSpPr txBox="1"/>
          <p:nvPr/>
        </p:nvSpPr>
        <p:spPr>
          <a:xfrm>
            <a:off x="6923400" y="3884899"/>
            <a:ext cx="17039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Hibernate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JPA</a:t>
            </a:r>
          </a:p>
        </p:txBody>
      </p:sp>
    </p:spTree>
    <p:extLst>
      <p:ext uri="{BB962C8B-B14F-4D97-AF65-F5344CB8AC3E}">
        <p14:creationId xmlns:p14="http://schemas.microsoft.com/office/powerpoint/2010/main" val="3360964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4C3388-B91A-1A44-6CDD-E63A9B2D8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API </a:t>
            </a:r>
            <a:r>
              <a:rPr lang="pt-BR" dirty="0" err="1"/>
              <a:t>RESTful</a:t>
            </a:r>
            <a:r>
              <a:rPr lang="pt-BR" dirty="0"/>
              <a:t> 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EA13BD-DC6A-251F-DDF3-AA656C6AB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Uma </a:t>
            </a:r>
            <a:r>
              <a:rPr lang="pt-BR" b="1" dirty="0"/>
              <a:t>API </a:t>
            </a:r>
            <a:r>
              <a:rPr lang="pt-BR" b="1" dirty="0" err="1"/>
              <a:t>RESTful</a:t>
            </a:r>
            <a:r>
              <a:rPr lang="pt-BR" dirty="0"/>
              <a:t> é uma interface que permite a comunicação entre sistemas usando o padrão </a:t>
            </a:r>
            <a:r>
              <a:rPr lang="pt-BR" b="1" dirty="0"/>
              <a:t>REST (</a:t>
            </a:r>
            <a:r>
              <a:rPr lang="pt-BR" b="1" dirty="0" err="1"/>
              <a:t>Representational</a:t>
            </a:r>
            <a:r>
              <a:rPr lang="pt-BR" b="1" dirty="0"/>
              <a:t> </a:t>
            </a:r>
            <a:r>
              <a:rPr lang="pt-BR" b="1" dirty="0" err="1"/>
              <a:t>State</a:t>
            </a:r>
            <a:r>
              <a:rPr lang="pt-BR" b="1" dirty="0"/>
              <a:t> </a:t>
            </a:r>
            <a:r>
              <a:rPr lang="pt-BR" b="1" dirty="0" err="1"/>
              <a:t>Transfer</a:t>
            </a:r>
            <a:r>
              <a:rPr lang="pt-BR" b="1" dirty="0"/>
              <a:t>)</a:t>
            </a:r>
            <a:r>
              <a:rPr lang="pt-BR" dirty="0"/>
              <a:t> sobre o protocolo </a:t>
            </a:r>
            <a:r>
              <a:rPr lang="pt-BR" b="1" dirty="0"/>
              <a:t>HTTP</a:t>
            </a:r>
            <a:r>
              <a:rPr lang="pt-BR" dirty="0"/>
              <a:t>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Uso do HTTP </a:t>
            </a:r>
            <a:r>
              <a:rPr lang="pt-BR" dirty="0"/>
              <a:t>→ Métodos como GET, POST, PUT, DELETE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 err="1"/>
              <a:t>Stateless</a:t>
            </a:r>
            <a:r>
              <a:rPr lang="pt-BR" dirty="0"/>
              <a:t> → Cada requisição é independente, ou seja, o servidor não armazena informações de requisições anteriores.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Recursos (URL) </a:t>
            </a:r>
            <a:r>
              <a:rPr lang="pt-BR" dirty="0"/>
              <a:t>→ Tudo é tratado como recurso e acessado por meio de URLs, como /clientes, /produtos ou /pedidos.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JSON</a:t>
            </a:r>
            <a:r>
              <a:rPr lang="pt-BR" dirty="0"/>
              <a:t> → Formato padrão de troca de dados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Cliente-Servidor </a:t>
            </a:r>
            <a:r>
              <a:rPr lang="pt-BR" dirty="0"/>
              <a:t>→ O front-</a:t>
            </a:r>
            <a:r>
              <a:rPr lang="pt-BR" dirty="0" err="1"/>
              <a:t>end</a:t>
            </a:r>
            <a:r>
              <a:rPr lang="pt-BR" dirty="0"/>
              <a:t> (interface) e o </a:t>
            </a:r>
            <a:r>
              <a:rPr lang="pt-BR" dirty="0" err="1"/>
              <a:t>back-end</a:t>
            </a:r>
            <a:r>
              <a:rPr lang="pt-BR" dirty="0"/>
              <a:t> (regras de negócio) funcionam de forma independente, permitindo maior flexibilidade no desenvolvimento.</a:t>
            </a:r>
          </a:p>
        </p:txBody>
      </p:sp>
    </p:spTree>
    <p:extLst>
      <p:ext uri="{BB962C8B-B14F-4D97-AF65-F5344CB8AC3E}">
        <p14:creationId xmlns:p14="http://schemas.microsoft.com/office/powerpoint/2010/main" val="2985090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EF1B89-8067-CFDB-C3C9-B75F43870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C2B44EE-61E2-3A39-A2EE-88FC9282A8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584325"/>
          </a:xfrm>
        </p:spPr>
        <p:txBody>
          <a:bodyPr/>
          <a:lstStyle/>
          <a:p>
            <a:pPr algn="just"/>
            <a:r>
              <a:rPr lang="pt-BR" dirty="0"/>
              <a:t>O </a:t>
            </a:r>
            <a:r>
              <a:rPr lang="pt-BR" b="1" dirty="0"/>
              <a:t>HTTP</a:t>
            </a:r>
            <a:r>
              <a:rPr lang="pt-BR" dirty="0"/>
              <a:t> (Protocolo de Transferência de Hipertexto) é um protocolo de comunicação utilizado para transferir dados na web, funcionando por meio de </a:t>
            </a:r>
            <a:r>
              <a:rPr lang="pt-BR" b="1" dirty="0"/>
              <a:t>requisições enviadas pelo cliente ao servidor</a:t>
            </a:r>
            <a:r>
              <a:rPr lang="pt-BR" dirty="0"/>
              <a:t>, que processa a solicitação e retorna uma resposta com os dados desejados.</a:t>
            </a:r>
          </a:p>
          <a:p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6BD025-D23B-F808-F871-5075AF3F62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1933" y="4155348"/>
            <a:ext cx="1260000" cy="126000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F061D8ED-005E-0E9A-47C8-489E5F614D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1805" y="4155348"/>
            <a:ext cx="1260000" cy="1260000"/>
          </a:xfrm>
          <a:prstGeom prst="rect">
            <a:avLst/>
          </a:prstGeom>
        </p:spPr>
      </p:pic>
      <p:cxnSp>
        <p:nvCxnSpPr>
          <p:cNvPr id="6" name="Conector de Seta Reta 5">
            <a:extLst>
              <a:ext uri="{FF2B5EF4-FFF2-40B4-BE49-F238E27FC236}">
                <a16:creationId xmlns:a16="http://schemas.microsoft.com/office/drawing/2014/main" id="{851E303F-5598-EC66-A538-9152F0B4B327}"/>
              </a:ext>
            </a:extLst>
          </p:cNvPr>
          <p:cNvCxnSpPr>
            <a:cxnSpLocks/>
          </p:cNvCxnSpPr>
          <p:nvPr/>
        </p:nvCxnSpPr>
        <p:spPr>
          <a:xfrm>
            <a:off x="5191125" y="4477458"/>
            <a:ext cx="1634650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E94F68EF-F01F-5D27-7764-9456761D6A21}"/>
              </a:ext>
            </a:extLst>
          </p:cNvPr>
          <p:cNvCxnSpPr>
            <a:cxnSpLocks/>
          </p:cNvCxnSpPr>
          <p:nvPr/>
        </p:nvCxnSpPr>
        <p:spPr>
          <a:xfrm flipH="1">
            <a:off x="5191125" y="4914958"/>
            <a:ext cx="1552575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CD32E1-9343-690E-63C5-23278FFC17BB}"/>
              </a:ext>
            </a:extLst>
          </p:cNvPr>
          <p:cNvSpPr txBox="1"/>
          <p:nvPr/>
        </p:nvSpPr>
        <p:spPr>
          <a:xfrm>
            <a:off x="5627577" y="3970682"/>
            <a:ext cx="7617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8405DD7-1F7C-A7D2-109A-E3667E256EC1}"/>
              </a:ext>
            </a:extLst>
          </p:cNvPr>
          <p:cNvSpPr txBox="1"/>
          <p:nvPr/>
        </p:nvSpPr>
        <p:spPr>
          <a:xfrm>
            <a:off x="3996047" y="5465978"/>
            <a:ext cx="8515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4E776F2-5B8F-BAEC-0A3D-E0025351012B}"/>
              </a:ext>
            </a:extLst>
          </p:cNvPr>
          <p:cNvSpPr txBox="1"/>
          <p:nvPr/>
        </p:nvSpPr>
        <p:spPr>
          <a:xfrm>
            <a:off x="7072055" y="5465978"/>
            <a:ext cx="9797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Servidor</a:t>
            </a:r>
          </a:p>
        </p:txBody>
      </p:sp>
    </p:spTree>
    <p:extLst>
      <p:ext uri="{BB962C8B-B14F-4D97-AF65-F5344CB8AC3E}">
        <p14:creationId xmlns:p14="http://schemas.microsoft.com/office/powerpoint/2010/main" val="896867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9C2FE8-6D7C-6FB8-7B13-FC5592C90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Cabeçalho de requisição do 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1E2F91A-38A8-0AC9-75B7-CE43CAEEFD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98550"/>
          </a:xfrm>
        </p:spPr>
        <p:txBody>
          <a:bodyPr/>
          <a:lstStyle/>
          <a:p>
            <a:r>
              <a:rPr lang="pt-BR" dirty="0"/>
              <a:t>O cabeçalho de uma requisição no </a:t>
            </a:r>
            <a:r>
              <a:rPr lang="pt-BR" b="1" dirty="0"/>
              <a:t>HTTP</a:t>
            </a:r>
            <a:r>
              <a:rPr lang="pt-BR" dirty="0"/>
              <a:t> contém </a:t>
            </a:r>
            <a:r>
              <a:rPr lang="pt-BR" b="1" dirty="0"/>
              <a:t>informações adicionais (metadados)</a:t>
            </a:r>
            <a:r>
              <a:rPr lang="pt-BR" dirty="0"/>
              <a:t> que ajudam o servidor a entender </a:t>
            </a:r>
            <a:r>
              <a:rPr lang="pt-BR" b="1" dirty="0"/>
              <a:t>como processar a requisição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68154DF-40C5-02A5-C23F-2A64135040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1411" y="3240842"/>
            <a:ext cx="6372225" cy="28699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527331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4F96D-B95B-7AC8-76E8-0AF6C8ABC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D4EE8-4655-D130-F6D3-325EC3F76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Cabeçalho de requisição do 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52A3B51-2CCB-2472-8C78-1590F7B568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491958"/>
          </a:xfrm>
        </p:spPr>
        <p:txBody>
          <a:bodyPr/>
          <a:lstStyle/>
          <a:p>
            <a:r>
              <a:rPr lang="pt-BR" dirty="0"/>
              <a:t>Para que serve cada campo: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Método </a:t>
            </a:r>
            <a:r>
              <a:rPr lang="pt-BR" dirty="0"/>
              <a:t>→ Define qual método será utilizado, como por exemplo o método POST.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URI </a:t>
            </a:r>
            <a:r>
              <a:rPr lang="pt-BR" dirty="0"/>
              <a:t>→ Define onde a requisição será aplicada no servidor.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Versão </a:t>
            </a:r>
            <a:r>
              <a:rPr lang="pt-BR" dirty="0"/>
              <a:t>→ Indica a versão do protocolo HTTP, como no exemplo a versão 1.1.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Host</a:t>
            </a:r>
            <a:r>
              <a:rPr lang="pt-BR" dirty="0"/>
              <a:t> → Informa o endereço do servidor que vai receber a requisição e a porta que será utilizada.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Connection</a:t>
            </a:r>
            <a:r>
              <a:rPr lang="pt-BR" dirty="0"/>
              <a:t> → Define se a conexão deve permanecer aberta, no </a:t>
            </a:r>
            <a:r>
              <a:rPr lang="pt-BR" dirty="0" err="1"/>
              <a:t>keep-alive</a:t>
            </a:r>
            <a:r>
              <a:rPr lang="pt-BR" dirty="0"/>
              <a:t> define que a conexão deve ser mantida aberta.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 err="1"/>
              <a:t>Content-Type</a:t>
            </a:r>
            <a:r>
              <a:rPr lang="pt-BR" dirty="0"/>
              <a:t> → Indica o tipo de dado enviado no corpo da requisição, como por exemplo o JSON.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Corpo (body) </a:t>
            </a:r>
            <a:r>
              <a:rPr lang="pt-BR" dirty="0"/>
              <a:t>→ Contém os </a:t>
            </a:r>
            <a:r>
              <a:rPr lang="pt-BR" b="1" dirty="0"/>
              <a:t>dados enviados para o servidor</a:t>
            </a:r>
            <a:r>
              <a:rPr lang="pt-BR" dirty="0"/>
              <a:t>.</a:t>
            </a:r>
          </a:p>
          <a:p>
            <a:pPr marL="1028700" lvl="1" indent="-342900" algn="just">
              <a:spcAft>
                <a:spcPts val="500"/>
              </a:spcAft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409128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F39E9-E8E0-9053-3501-97156C49E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041239-0329-FF91-E7EB-0A7D5C249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Cabeçalho de requisição do 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3758374-24F1-CB85-7CAC-D1A043B6FF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98550"/>
          </a:xfrm>
        </p:spPr>
        <p:txBody>
          <a:bodyPr/>
          <a:lstStyle/>
          <a:p>
            <a:pPr algn="just"/>
            <a:r>
              <a:rPr lang="pt-BR" dirty="0"/>
              <a:t>O cabeçalho da resposta no </a:t>
            </a:r>
            <a:r>
              <a:rPr lang="pt-BR" b="1" dirty="0"/>
              <a:t>HTTP</a:t>
            </a:r>
            <a:r>
              <a:rPr lang="pt-BR" dirty="0"/>
              <a:t> serve para informar ao cliente (navegador ou aplicação) como interpretar a resposta enviada pelo servidor.</a:t>
            </a:r>
          </a:p>
          <a:p>
            <a:endParaRPr lang="pt-BR" dirty="0"/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6F33D559-0B61-2351-4435-EBD63B254A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545" y="3272590"/>
            <a:ext cx="6366909" cy="2902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68733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CD14E-8D81-5F1F-9631-073E80CD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08358F-8408-E217-5B7F-9E6A329B2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Cabeçalho de requisição do 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02D192-BA1A-B833-D32E-7F54A67A79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4491958"/>
          </a:xfrm>
        </p:spPr>
        <p:txBody>
          <a:bodyPr/>
          <a:lstStyle/>
          <a:p>
            <a:r>
              <a:rPr lang="pt-BR" dirty="0"/>
              <a:t>Para que serve cada campo: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Método </a:t>
            </a:r>
            <a:r>
              <a:rPr lang="pt-BR" dirty="0"/>
              <a:t>→ Define qual método será utilizado, como por exemplo o método POST.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URI </a:t>
            </a:r>
            <a:r>
              <a:rPr lang="pt-BR" dirty="0"/>
              <a:t>→ Define onde a requisição será aplicada no servidor.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Versão </a:t>
            </a:r>
            <a:r>
              <a:rPr lang="pt-BR" dirty="0"/>
              <a:t>→ Indica a versão do protocolo HTTP, como no exemplo a versão 1.1.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Host</a:t>
            </a:r>
            <a:r>
              <a:rPr lang="pt-BR" dirty="0"/>
              <a:t> → Informa o endereço do servidor que vai receber a requisição e a porta que será utilizada.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Connection</a:t>
            </a:r>
            <a:r>
              <a:rPr lang="pt-BR" dirty="0"/>
              <a:t> → Define se a conexão deve permanecer aberta, no </a:t>
            </a:r>
            <a:r>
              <a:rPr lang="pt-BR" dirty="0" err="1"/>
              <a:t>keep-alive</a:t>
            </a:r>
            <a:r>
              <a:rPr lang="pt-BR" dirty="0"/>
              <a:t> define que a conexão deve ser mantida aberta.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 err="1"/>
              <a:t>Content-Type</a:t>
            </a:r>
            <a:r>
              <a:rPr lang="pt-BR" dirty="0"/>
              <a:t> → Indica o tipo de dado enviado no corpo da requisição, como por exemplo o JSON.</a:t>
            </a:r>
          </a:p>
          <a:p>
            <a:pPr marL="1028700" lvl="1" indent="-342900" algn="just">
              <a:spcAft>
                <a:spcPts val="500"/>
              </a:spcAft>
            </a:pPr>
            <a:r>
              <a:rPr lang="pt-BR" b="1" dirty="0"/>
              <a:t>Corpo (body) </a:t>
            </a:r>
            <a:r>
              <a:rPr lang="pt-BR" dirty="0"/>
              <a:t>→ Contém os </a:t>
            </a:r>
            <a:r>
              <a:rPr lang="pt-BR" b="1" dirty="0"/>
              <a:t>dados enviados para o servidor</a:t>
            </a:r>
            <a:r>
              <a:rPr lang="pt-BR" dirty="0"/>
              <a:t>.</a:t>
            </a:r>
          </a:p>
          <a:p>
            <a:pPr marL="1028700" lvl="1" indent="-342900" algn="just">
              <a:spcAft>
                <a:spcPts val="500"/>
              </a:spcAft>
            </a:pPr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02300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F746F-0D95-B089-0638-0FE68A8958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219227-3606-076A-5A91-E3E0EBE7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Cabeçalho de resposta do Protocolo HTTP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A8AEA2-DB12-4BE1-B618-3CE41B8421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9836898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FC747262AEFF6E47A3CB051106D2382E" ma:contentTypeVersion="7" ma:contentTypeDescription="Crie um novo documento." ma:contentTypeScope="" ma:versionID="c252a372321bb20a146a92d630e83497">
  <xsd:schema xmlns:xsd="http://www.w3.org/2001/XMLSchema" xmlns:xs="http://www.w3.org/2001/XMLSchema" xmlns:p="http://schemas.microsoft.com/office/2006/metadata/properties" xmlns:ns2="adbca637-b409-402b-9852-6cf3890dd3c6" targetNamespace="http://schemas.microsoft.com/office/2006/metadata/properties" ma:root="true" ma:fieldsID="3e9113f952ce2a4df8b21a287312ae4d" ns2:_="">
    <xsd:import namespace="adbca637-b409-402b-9852-6cf3890dd3c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dbca637-b409-402b-9852-6cf3890dd3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AA641E-A36E-40C4-ABAC-AE8B4CD4DD7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7BA82208-FFF8-4F32-9CA5-4822B26C310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23FF897-DC32-4170-B5D6-85E604CF92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dbca637-b409-402b-9852-6cf3890dd3c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765</TotalTime>
  <Words>734</Words>
  <Application>Microsoft Office PowerPoint</Application>
  <PresentationFormat>Widescreen</PresentationFormat>
  <Paragraphs>60</Paragraphs>
  <Slides>13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Tema do Office</vt:lpstr>
      <vt:lpstr>Spring Boot </vt:lpstr>
      <vt:lpstr>Spring Boot</vt:lpstr>
      <vt:lpstr>Problemas das antigas tecnologias </vt:lpstr>
      <vt:lpstr>Spring Boot</vt:lpstr>
      <vt:lpstr>Empresas que usam Spring </vt:lpstr>
      <vt:lpstr>Servidor do Spring Boot</vt:lpstr>
      <vt:lpstr>O que é uma API RESTful ?</vt:lpstr>
      <vt:lpstr>Protocolo HTTP</vt:lpstr>
      <vt:lpstr>Cabeçalho de requisição do Protocolo HTTP</vt:lpstr>
      <vt:lpstr>Cabeçalho de requisição do Protocolo HTTP</vt:lpstr>
      <vt:lpstr>Cabeçalho de requisição do Protocolo HTTP</vt:lpstr>
      <vt:lpstr>Cabeçalho de requisição do Protocolo HTTP</vt:lpstr>
      <vt:lpstr>Cabeçalho de resposta do Protocolo HTTP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CFP 117  Escola SENAI - Mogi Das Cruzes</cp:lastModifiedBy>
  <cp:revision>98</cp:revision>
  <dcterms:created xsi:type="dcterms:W3CDTF">2024-03-08T12:14:33Z</dcterms:created>
  <dcterms:modified xsi:type="dcterms:W3CDTF">2026-04-29T00:55:09Z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0x010100FC747262AEFF6E47A3CB051106D2382E</vt:lpwstr>
  </property>
</Properties>
</file>