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5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Miho de Souza" userId="S::pedrosouza@umc.br::3bc82412-f670-4b53-8c7d-8094f7642ee2" providerId="AD" clId="Web-{1236DFDE-05E3-2B6B-CF4B-F06BF9EBA303}"/>
    <pc:docChg chg="modSld">
      <pc:chgData name="Pedro Henrique Miho de Souza" userId="S::pedrosouza@umc.br::3bc82412-f670-4b53-8c7d-8094f7642ee2" providerId="AD" clId="Web-{1236DFDE-05E3-2B6B-CF4B-F06BF9EBA303}" dt="2026-02-10T11:21:01.316" v="3" actId="20577"/>
      <pc:docMkLst>
        <pc:docMk/>
      </pc:docMkLst>
      <pc:sldChg chg="modSp">
        <pc:chgData name="Pedro Henrique Miho de Souza" userId="S::pedrosouza@umc.br::3bc82412-f670-4b53-8c7d-8094f7642ee2" providerId="AD" clId="Web-{1236DFDE-05E3-2B6B-CF4B-F06BF9EBA303}" dt="2026-02-10T11:21:01.316" v="3" actId="20577"/>
        <pc:sldMkLst>
          <pc:docMk/>
          <pc:sldMk cId="4046982407" sldId="256"/>
        </pc:sldMkLst>
        <pc:spChg chg="mod">
          <ac:chgData name="Pedro Henrique Miho de Souza" userId="S::pedrosouza@umc.br::3bc82412-f670-4b53-8c7d-8094f7642ee2" providerId="AD" clId="Web-{1236DFDE-05E3-2B6B-CF4B-F06BF9EBA303}" dt="2026-02-10T11:20:54.940" v="2" actId="20577"/>
          <ac:spMkLst>
            <pc:docMk/>
            <pc:sldMk cId="4046982407" sldId="256"/>
            <ac:spMk id="2" creationId="{9B3B5C3A-A09A-4259-AF3D-EF5302F61C54}"/>
          </ac:spMkLst>
        </pc:spChg>
        <pc:spChg chg="mod">
          <ac:chgData name="Pedro Henrique Miho de Souza" userId="S::pedrosouza@umc.br::3bc82412-f670-4b53-8c7d-8094f7642ee2" providerId="AD" clId="Web-{1236DFDE-05E3-2B6B-CF4B-F06BF9EBA303}" dt="2026-02-10T11:21:01.316" v="3" actId="20577"/>
          <ac:spMkLst>
            <pc:docMk/>
            <pc:sldMk cId="4046982407" sldId="256"/>
            <ac:spMk id="3" creationId="{C4FF2C9F-673D-46AD-83CF-B874F96C37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 lIns="91440" tIns="45720" rIns="91440" bIns="45720" anchor="b"/>
          <a:lstStyle/>
          <a:p>
            <a:r>
              <a:rPr lang="pt-BR" sz="4400" dirty="0">
                <a:latin typeface="Times New Roman"/>
                <a:cs typeface="Times New Roman"/>
              </a:rPr>
              <a:t>Spring Boot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 lIns="91440" tIns="45720" rIns="91440" bIns="45720" anchor="t"/>
          <a:lstStyle/>
          <a:p>
            <a:r>
              <a:rPr lang="pt-BR" dirty="0">
                <a:latin typeface="Times New Roman"/>
                <a:cs typeface="Times New Roman"/>
              </a:rPr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EBAF5-3C46-17B8-5CA7-B6492108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08E67-6549-6291-F288-017058B5B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186998"/>
          </a:xfrm>
        </p:spPr>
        <p:txBody>
          <a:bodyPr/>
          <a:lstStyle/>
          <a:p>
            <a:pPr algn="just"/>
            <a:r>
              <a:rPr lang="pt-BR" dirty="0"/>
              <a:t>O </a:t>
            </a:r>
            <a:r>
              <a:rPr lang="pt-BR" b="1" dirty="0"/>
              <a:t>Spring Boot</a:t>
            </a:r>
            <a:r>
              <a:rPr lang="pt-BR" dirty="0"/>
              <a:t> é um framework do ecossistema Java criado para simplificar o desenvolvimento de aplicações, principalmente aplicações web e APIs.</a:t>
            </a:r>
          </a:p>
          <a:p>
            <a:pPr algn="just"/>
            <a:r>
              <a:rPr lang="pt-BR" dirty="0"/>
              <a:t>De forma direta, ele permite que você crie sistemas robustos </a:t>
            </a:r>
            <a:r>
              <a:rPr lang="pt-BR" b="1" dirty="0"/>
              <a:t>com muito menos configuração e esforço</a:t>
            </a:r>
            <a:r>
              <a:rPr lang="pt-BR" dirty="0"/>
              <a:t> do que era necessário anteriormente no desenvolvimento Java tradicional.</a:t>
            </a:r>
          </a:p>
          <a:p>
            <a:endParaRPr lang="pt-BR" dirty="0"/>
          </a:p>
        </p:txBody>
      </p:sp>
      <p:pic>
        <p:nvPicPr>
          <p:cNvPr id="7" name="Imagem 6" descr="Logotipo, Ícone&#10;&#10;O conteúdo gerado por IA pode estar incorreto.">
            <a:extLst>
              <a:ext uri="{FF2B5EF4-FFF2-40B4-BE49-F238E27FC236}">
                <a16:creationId xmlns:a16="http://schemas.microsoft.com/office/drawing/2014/main" id="{3FC6E662-5D71-1A7A-17CC-20F9C5472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33" y="4544150"/>
            <a:ext cx="1441126" cy="14400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C73EDDCB-E789-E2A6-AA42-34AE3995B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540" y="4544150"/>
            <a:ext cx="1602253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8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B0425-1906-0C33-2A74-AA609C59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das antigas tecnologias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3D7F21-4D0F-4D3F-956B-8BDA317B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41989"/>
          </a:xfrm>
        </p:spPr>
        <p:txBody>
          <a:bodyPr/>
          <a:lstStyle/>
          <a:p>
            <a:pPr algn="just"/>
            <a:r>
              <a:rPr lang="pt-BR" sz="1800" dirty="0"/>
              <a:t>Antes do surgimento do </a:t>
            </a:r>
            <a:r>
              <a:rPr lang="pt-BR" sz="1800" b="1" dirty="0"/>
              <a:t>Spring Boot</a:t>
            </a:r>
            <a:r>
              <a:rPr lang="pt-BR" sz="1800" dirty="0"/>
              <a:t>, o desenvolvimento web em Java era complexo e pouco produtivo. Com tecnologias como o Java EE, era necessário lidar com muitas configurações manuais, arquivos XML extensos e integração difícil entre componentes. Além disso, o alto acoplamento tornava a manutenção mais complicada e lenta. 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C458B5-65B7-10A3-F162-6440DFE34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973" y="3773316"/>
            <a:ext cx="2276793" cy="2353003"/>
          </a:xfrm>
          <a:prstGeom prst="rect">
            <a:avLst/>
          </a:prstGeom>
        </p:spPr>
      </p:pic>
      <p:pic>
        <p:nvPicPr>
          <p:cNvPr id="1026" name="Picture 2" descr="Importando e editando um arquivo XML">
            <a:extLst>
              <a:ext uri="{FF2B5EF4-FFF2-40B4-BE49-F238E27FC236}">
                <a16:creationId xmlns:a16="http://schemas.microsoft.com/office/drawing/2014/main" id="{7F51AE2C-38C2-D7A9-8EB3-2871C0C06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54" y="3286664"/>
            <a:ext cx="3755833" cy="332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23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813B1-5C97-9207-858A-35103761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A2CA54-8C44-C4D7-F939-D281AD3F1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Spring Boot</a:t>
            </a:r>
            <a:r>
              <a:rPr lang="pt-BR" dirty="0"/>
              <a:t> resolve os problemas do desenvolvimento web em Java tornando o processo mais simples e produtivo.</a:t>
            </a:r>
          </a:p>
          <a:p>
            <a:r>
              <a:rPr lang="pt-BR" b="1" dirty="0"/>
              <a:t>Principais Melhorias:</a:t>
            </a:r>
          </a:p>
          <a:p>
            <a:pPr marL="1028700" lvl="1" indent="-342900"/>
            <a:r>
              <a:rPr lang="pt-BR" b="1" dirty="0"/>
              <a:t>Configuração automática</a:t>
            </a:r>
            <a:r>
              <a:rPr lang="pt-BR" dirty="0"/>
              <a:t> → elimina XML e configurações manuais </a:t>
            </a:r>
          </a:p>
          <a:p>
            <a:pPr marL="1028700" lvl="1" indent="-342900"/>
            <a:r>
              <a:rPr lang="pt-BR" b="1" dirty="0"/>
              <a:t>Servidor embutido</a:t>
            </a:r>
            <a:r>
              <a:rPr lang="pt-BR" dirty="0"/>
              <a:t> → roda a aplicação direto (</a:t>
            </a:r>
            <a:r>
              <a:rPr lang="pt-BR" dirty="0" err="1"/>
              <a:t>ex</a:t>
            </a:r>
            <a:r>
              <a:rPr lang="pt-BR" dirty="0"/>
              <a:t>: Apache </a:t>
            </a:r>
            <a:r>
              <a:rPr lang="pt-BR" dirty="0" err="1"/>
              <a:t>Tomcat</a:t>
            </a:r>
            <a:r>
              <a:rPr lang="pt-BR" dirty="0"/>
              <a:t>) </a:t>
            </a:r>
          </a:p>
          <a:p>
            <a:pPr marL="1028700" lvl="1" indent="-342900"/>
            <a:r>
              <a:rPr lang="pt-BR" b="1" dirty="0"/>
              <a:t>Menor acoplamento</a:t>
            </a:r>
            <a:r>
              <a:rPr lang="pt-BR" dirty="0"/>
              <a:t> → facilita manutenção e evolução (herdado do Spring Framework) </a:t>
            </a:r>
          </a:p>
          <a:p>
            <a:pPr marL="1028700" lvl="1" indent="-342900"/>
            <a:r>
              <a:rPr lang="pt-BR" b="1" dirty="0"/>
              <a:t>Mais produtividade</a:t>
            </a:r>
            <a:r>
              <a:rPr lang="pt-BR" dirty="0"/>
              <a:t> → foco na regra de negócio </a:t>
            </a:r>
          </a:p>
          <a:p>
            <a:pPr marL="1028700" lvl="1" indent="-342900"/>
            <a:r>
              <a:rPr lang="pt-BR" b="1" dirty="0"/>
              <a:t>Inicialização rápida</a:t>
            </a:r>
            <a:r>
              <a:rPr lang="pt-BR" dirty="0"/>
              <a:t> → projeto pronto em poucos minutos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42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3345-AFD9-E34B-B421-74245CCA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203706" cy="448573"/>
          </a:xfrm>
        </p:spPr>
        <p:txBody>
          <a:bodyPr/>
          <a:lstStyle/>
          <a:p>
            <a:r>
              <a:rPr lang="pt-BR" dirty="0"/>
              <a:t>Empresas que usam Spring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33291-79BC-54E5-EFB5-34A2909B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44675"/>
            <a:ext cx="8499895" cy="544842"/>
          </a:xfrm>
        </p:spPr>
        <p:txBody>
          <a:bodyPr/>
          <a:lstStyle/>
          <a:p>
            <a:r>
              <a:rPr lang="pt-BR" dirty="0"/>
              <a:t>Grandes empresas utilizam o ecossistema Spring: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E6B109-E2E4-3723-1D58-43BB4CA5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00" y="2737186"/>
            <a:ext cx="2880000" cy="1383629"/>
          </a:xfrm>
          <a:prstGeom prst="rect">
            <a:avLst/>
          </a:prstGeom>
        </p:spPr>
      </p:pic>
      <p:pic>
        <p:nvPicPr>
          <p:cNvPr id="2050" name="Picture 2" descr="Comércio eletrônico abre as portas da exportação para produtores brasileiros">
            <a:extLst>
              <a:ext uri="{FF2B5EF4-FFF2-40B4-BE49-F238E27FC236}">
                <a16:creationId xmlns:a16="http://schemas.microsoft.com/office/drawing/2014/main" id="{508A051F-C857-87EC-F91E-523E0F34B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47" y="4824734"/>
            <a:ext cx="2880000" cy="10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 Poder do LinkedIn para Expandir Sua Rede Social, Profissional e Acadêmica">
            <a:extLst>
              <a:ext uri="{FF2B5EF4-FFF2-40B4-BE49-F238E27FC236}">
                <a16:creationId xmlns:a16="http://schemas.microsoft.com/office/drawing/2014/main" id="{119EBFAD-0BC8-86BC-6FCA-6197E5ECA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94" y="4468484"/>
            <a:ext cx="288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ício da operação Mitsui Sumitomo Seguros e Porto - Mitsui Sumitomo Seguros">
            <a:extLst>
              <a:ext uri="{FF2B5EF4-FFF2-40B4-BE49-F238E27FC236}">
                <a16:creationId xmlns:a16="http://schemas.microsoft.com/office/drawing/2014/main" id="{7CEFD892-5907-E446-4E19-A4DE63D17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000" y="2935688"/>
            <a:ext cx="2880000" cy="9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9FF9A8C-C81B-AB02-CB92-865292A07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000" y="2662548"/>
            <a:ext cx="2880000" cy="153290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D610209-042D-75E0-8502-64F0BC20F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841" y="4691652"/>
            <a:ext cx="2620212" cy="13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844D5-9491-5F6A-F14E-F70549FD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Servidor do 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35FA6D-0F3F-AEEE-4C4C-C35CE64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9680"/>
          </a:xfrm>
        </p:spPr>
        <p:txBody>
          <a:bodyPr/>
          <a:lstStyle/>
          <a:p>
            <a:pPr algn="just"/>
            <a:r>
              <a:rPr lang="pt-BR" dirty="0"/>
              <a:t>O Spring Boot utiliza servidores web embutidos, sendo o Apache </a:t>
            </a:r>
            <a:r>
              <a:rPr lang="pt-BR" dirty="0" err="1"/>
              <a:t>Tomcat</a:t>
            </a:r>
            <a:r>
              <a:rPr lang="pt-BR" dirty="0"/>
              <a:t> o mais comum, permitindo rodar aplicações de forma simples e rápida.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1A757-A9E5-C451-D0B4-2762A6BA5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333" y="4069565"/>
            <a:ext cx="1260000" cy="126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2D595CE-E404-B5FB-8101-183A3D46CB18}"/>
              </a:ext>
            </a:extLst>
          </p:cNvPr>
          <p:cNvGrpSpPr/>
          <p:nvPr/>
        </p:nvGrpSpPr>
        <p:grpSpPr>
          <a:xfrm>
            <a:off x="10165039" y="3671675"/>
            <a:ext cx="720000" cy="2079612"/>
            <a:chOff x="10161473" y="3563967"/>
            <a:chExt cx="720000" cy="2079612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5B1D27A-AB22-037A-050B-AC1C8A67A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1473" y="4923579"/>
              <a:ext cx="720000" cy="72000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DE4E8FAB-264F-05A4-3299-63C31D222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1473" y="3563967"/>
              <a:ext cx="720000" cy="720000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839134A-E7BE-5AB9-A9DA-0F8A83FD3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05" y="4069565"/>
            <a:ext cx="1260000" cy="1260000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106356C-C508-FA82-87A0-83BEFC91DE8B}"/>
              </a:ext>
            </a:extLst>
          </p:cNvPr>
          <p:cNvGrpSpPr/>
          <p:nvPr/>
        </p:nvGrpSpPr>
        <p:grpSpPr>
          <a:xfrm>
            <a:off x="1186236" y="3419383"/>
            <a:ext cx="1260000" cy="2584196"/>
            <a:chOff x="1528243" y="3517649"/>
            <a:chExt cx="1260000" cy="2584196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C5521F9-FB71-A863-D9E5-3D4A6C47D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8243" y="5381845"/>
              <a:ext cx="720000" cy="72000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28D5148B-D024-97F8-1EAE-989C58B5B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8243" y="3517649"/>
              <a:ext cx="720000" cy="720000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2DB7C65-79C6-0F8E-B3D5-5CAFF0C47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8243" y="4449747"/>
              <a:ext cx="720000" cy="720000"/>
            </a:xfrm>
            <a:prstGeom prst="rect">
              <a:avLst/>
            </a:prstGeom>
          </p:spPr>
        </p:pic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8A4DA2C8-55E0-E227-F8A0-45D6E3B8E9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069565"/>
            <a:ext cx="1260000" cy="1260000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C0980A5-D564-3623-39A7-904B7B201B60}"/>
              </a:ext>
            </a:extLst>
          </p:cNvPr>
          <p:cNvGrpSpPr/>
          <p:nvPr/>
        </p:nvGrpSpPr>
        <p:grpSpPr>
          <a:xfrm>
            <a:off x="5156887" y="5643579"/>
            <a:ext cx="2066892" cy="720000"/>
            <a:chOff x="4917905" y="5643579"/>
            <a:chExt cx="2066892" cy="720000"/>
          </a:xfrm>
        </p:grpSpPr>
        <p:pic>
          <p:nvPicPr>
            <p:cNvPr id="20" name="Imagem 19" descr="Ícone&#10;&#10;O conteúdo gerado por IA pode estar incorreto.">
              <a:extLst>
                <a:ext uri="{FF2B5EF4-FFF2-40B4-BE49-F238E27FC236}">
                  <a16:creationId xmlns:a16="http://schemas.microsoft.com/office/drawing/2014/main" id="{19FFCED6-CE77-2C6B-44C2-C002BEB5C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7905" y="5643579"/>
              <a:ext cx="801128" cy="720000"/>
            </a:xfrm>
            <a:prstGeom prst="rect">
              <a:avLst/>
            </a:prstGeom>
          </p:spPr>
        </p:pic>
        <p:pic>
          <p:nvPicPr>
            <p:cNvPr id="3074" name="Picture 2" descr="Apache Tomcat – Wikipédia, a enciclopédia livre">
              <a:extLst>
                <a:ext uri="{FF2B5EF4-FFF2-40B4-BE49-F238E27FC236}">
                  <a16:creationId xmlns:a16="http://schemas.microsoft.com/office/drawing/2014/main" id="{DA128C6F-905C-5F57-CFAF-8C89CBD05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4297" y="5643579"/>
              <a:ext cx="10105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559BC0AE-4E89-0FD9-D952-39319995F3A9}"/>
              </a:ext>
            </a:extLst>
          </p:cNvPr>
          <p:cNvCxnSpPr/>
          <p:nvPr/>
        </p:nvCxnSpPr>
        <p:spPr>
          <a:xfrm>
            <a:off x="3819525" y="4391675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932B8AE-276E-3F7F-50E8-AB072FF710FE}"/>
              </a:ext>
            </a:extLst>
          </p:cNvPr>
          <p:cNvCxnSpPr>
            <a:cxnSpLocks/>
          </p:cNvCxnSpPr>
          <p:nvPr/>
        </p:nvCxnSpPr>
        <p:spPr>
          <a:xfrm flipH="1">
            <a:off x="3819525" y="4829175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05EB39C-7560-B867-0D02-05E520E47938}"/>
              </a:ext>
            </a:extLst>
          </p:cNvPr>
          <p:cNvSpPr txBox="1"/>
          <p:nvPr/>
        </p:nvSpPr>
        <p:spPr>
          <a:xfrm>
            <a:off x="4082539" y="388489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E46BD5CE-2526-9AA0-0E42-2266E1F88628}"/>
              </a:ext>
            </a:extLst>
          </p:cNvPr>
          <p:cNvCxnSpPr>
            <a:cxnSpLocks/>
          </p:cNvCxnSpPr>
          <p:nvPr/>
        </p:nvCxnSpPr>
        <p:spPr>
          <a:xfrm>
            <a:off x="7008566" y="4440178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D42E04F-8919-E53A-4869-46388234B3FA}"/>
              </a:ext>
            </a:extLst>
          </p:cNvPr>
          <p:cNvCxnSpPr>
            <a:cxnSpLocks/>
          </p:cNvCxnSpPr>
          <p:nvPr/>
        </p:nvCxnSpPr>
        <p:spPr>
          <a:xfrm flipH="1">
            <a:off x="7008566" y="4877678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A85420E-F71D-0AF6-2B1F-144DE5EE232D}"/>
              </a:ext>
            </a:extLst>
          </p:cNvPr>
          <p:cNvSpPr txBox="1"/>
          <p:nvPr/>
        </p:nvSpPr>
        <p:spPr>
          <a:xfrm>
            <a:off x="6923400" y="3884899"/>
            <a:ext cx="170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JPA</a:t>
            </a:r>
          </a:p>
        </p:txBody>
      </p:sp>
    </p:spTree>
    <p:extLst>
      <p:ext uri="{BB962C8B-B14F-4D97-AF65-F5344CB8AC3E}">
        <p14:creationId xmlns:p14="http://schemas.microsoft.com/office/powerpoint/2010/main" val="336096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C3388-B91A-1A44-6CDD-E63A9B2D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</a:t>
            </a:r>
            <a:r>
              <a:rPr lang="pt-BR" dirty="0" err="1"/>
              <a:t>RESTful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A13BD-DC6A-251F-DDF3-AA656C6AB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Uma </a:t>
            </a:r>
            <a:r>
              <a:rPr lang="pt-BR" b="1" dirty="0"/>
              <a:t>API </a:t>
            </a:r>
            <a:r>
              <a:rPr lang="pt-BR" b="1" dirty="0" err="1"/>
              <a:t>RESTful</a:t>
            </a:r>
            <a:r>
              <a:rPr lang="pt-BR" dirty="0"/>
              <a:t> é uma interface que permite a comunicação entre sistemas usando o padrão </a:t>
            </a:r>
            <a:r>
              <a:rPr lang="pt-BR" b="1" dirty="0"/>
              <a:t>REST (</a:t>
            </a:r>
            <a:r>
              <a:rPr lang="pt-BR" b="1" dirty="0" err="1"/>
              <a:t>Representational</a:t>
            </a:r>
            <a:r>
              <a:rPr lang="pt-BR" b="1" dirty="0"/>
              <a:t> </a:t>
            </a:r>
            <a:r>
              <a:rPr lang="pt-BR" b="1" dirty="0" err="1"/>
              <a:t>State</a:t>
            </a:r>
            <a:r>
              <a:rPr lang="pt-BR" b="1" dirty="0"/>
              <a:t> </a:t>
            </a:r>
            <a:r>
              <a:rPr lang="pt-BR" b="1" dirty="0" err="1"/>
              <a:t>Transfer</a:t>
            </a:r>
            <a:r>
              <a:rPr lang="pt-BR" b="1" dirty="0"/>
              <a:t>)</a:t>
            </a:r>
            <a:r>
              <a:rPr lang="pt-BR" dirty="0"/>
              <a:t> sobre o protocolo </a:t>
            </a:r>
            <a:r>
              <a:rPr lang="pt-BR" b="1" dirty="0"/>
              <a:t>HTTP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Uso do HTTP </a:t>
            </a:r>
            <a:r>
              <a:rPr lang="pt-BR" dirty="0"/>
              <a:t>→ Métodos como GET, POST, PUT, DELETE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Stateless</a:t>
            </a:r>
            <a:r>
              <a:rPr lang="pt-BR" dirty="0"/>
              <a:t> → Cada requisição é independente, ou seja, o servidor não armazena informações de requisições anteriores.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Recursos (URL) </a:t>
            </a:r>
            <a:r>
              <a:rPr lang="pt-BR" dirty="0"/>
              <a:t>→ Tudo é tratado como recurso e acessado por meio de URLs, como /clientes, /produtos ou /pedidos.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JSON</a:t>
            </a:r>
            <a:r>
              <a:rPr lang="pt-BR" dirty="0"/>
              <a:t> → Formato padrão de troca de dados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Cliente-Servidor </a:t>
            </a:r>
            <a:r>
              <a:rPr lang="pt-BR" dirty="0"/>
              <a:t>→ O front-</a:t>
            </a:r>
            <a:r>
              <a:rPr lang="pt-BR" dirty="0" err="1"/>
              <a:t>end</a:t>
            </a:r>
            <a:r>
              <a:rPr lang="pt-BR" dirty="0"/>
              <a:t> (interface) e o </a:t>
            </a:r>
            <a:r>
              <a:rPr lang="pt-BR" dirty="0" err="1"/>
              <a:t>back-end</a:t>
            </a:r>
            <a:r>
              <a:rPr lang="pt-BR" dirty="0"/>
              <a:t> (regras de negócio) funcionam de forma independente, permitindo maior flexibilidade no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98509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F1B89-8067-CFDB-C3C9-B75F4387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B44EE-61E2-3A39-A2EE-88FC9282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pPr algn="just"/>
            <a:r>
              <a:rPr lang="pt-BR" dirty="0"/>
              <a:t>O </a:t>
            </a:r>
            <a:r>
              <a:rPr lang="pt-BR" b="1" dirty="0"/>
              <a:t>HTTP</a:t>
            </a:r>
            <a:r>
              <a:rPr lang="pt-BR" dirty="0"/>
              <a:t> (Protocolo de Transferência de Hipertexto) é um protocolo de comunicação utilizado para transferir dados na web, funcionando por meio de </a:t>
            </a:r>
            <a:r>
              <a:rPr lang="pt-BR" b="1" dirty="0"/>
              <a:t>requisições enviadas pelo cliente ao servidor</a:t>
            </a:r>
            <a:r>
              <a:rPr lang="pt-BR" dirty="0"/>
              <a:t>, que processa a solicitação e retorna uma resposta com os dados desejados.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6BD025-D23B-F808-F871-5075AF3F6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933" y="4155348"/>
            <a:ext cx="1260000" cy="126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061D8ED-005E-0E9A-47C8-489E5F614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805" y="4155348"/>
            <a:ext cx="1260000" cy="12600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51E303F-5598-EC66-A538-9152F0B4B327}"/>
              </a:ext>
            </a:extLst>
          </p:cNvPr>
          <p:cNvCxnSpPr>
            <a:cxnSpLocks/>
          </p:cNvCxnSpPr>
          <p:nvPr/>
        </p:nvCxnSpPr>
        <p:spPr>
          <a:xfrm>
            <a:off x="5191125" y="4477458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94F68EF-F01F-5D27-7764-9456761D6A21}"/>
              </a:ext>
            </a:extLst>
          </p:cNvPr>
          <p:cNvCxnSpPr>
            <a:cxnSpLocks/>
          </p:cNvCxnSpPr>
          <p:nvPr/>
        </p:nvCxnSpPr>
        <p:spPr>
          <a:xfrm flipH="1">
            <a:off x="5191125" y="4914958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CD32E1-9343-690E-63C5-23278FFC17BB}"/>
              </a:ext>
            </a:extLst>
          </p:cNvPr>
          <p:cNvSpPr txBox="1"/>
          <p:nvPr/>
        </p:nvSpPr>
        <p:spPr>
          <a:xfrm>
            <a:off x="5627577" y="397068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8405DD7-1F7C-A7D2-109A-E3667E256EC1}"/>
              </a:ext>
            </a:extLst>
          </p:cNvPr>
          <p:cNvSpPr txBox="1"/>
          <p:nvPr/>
        </p:nvSpPr>
        <p:spPr>
          <a:xfrm>
            <a:off x="3996047" y="546597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E776F2-5B8F-BAEC-0A3D-E0025351012B}"/>
              </a:ext>
            </a:extLst>
          </p:cNvPr>
          <p:cNvSpPr txBox="1"/>
          <p:nvPr/>
        </p:nvSpPr>
        <p:spPr>
          <a:xfrm>
            <a:off x="7072055" y="546597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89686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C2FE8-6D7C-6FB8-7B13-FC5592C9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2F91A-38A8-0AC9-75B7-CE43CAEEF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8550"/>
          </a:xfrm>
        </p:spPr>
        <p:txBody>
          <a:bodyPr/>
          <a:lstStyle/>
          <a:p>
            <a:r>
              <a:rPr lang="pt-BR" dirty="0"/>
              <a:t>O cabeçalho de uma requisição no </a:t>
            </a:r>
            <a:r>
              <a:rPr lang="pt-BR" b="1" dirty="0"/>
              <a:t>HTTP</a:t>
            </a:r>
            <a:r>
              <a:rPr lang="pt-BR" dirty="0"/>
              <a:t> contém </a:t>
            </a:r>
            <a:r>
              <a:rPr lang="pt-BR" b="1" dirty="0"/>
              <a:t>informações adicionais (metadados)</a:t>
            </a:r>
            <a:r>
              <a:rPr lang="pt-BR" dirty="0"/>
              <a:t> que ajudam o servidor a entender </a:t>
            </a:r>
            <a:r>
              <a:rPr lang="pt-BR" b="1" dirty="0"/>
              <a:t>como processar a requisição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68154DF-40C5-02A5-C23F-2A6413504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411" y="3240842"/>
            <a:ext cx="6372225" cy="286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73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F96D-B95B-7AC8-76E8-0AF6C8AB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D4EE8-4655-D130-F6D3-325EC3F7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2A3B51-2CCB-2472-8C78-1590F7B56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91958"/>
          </a:xfrm>
        </p:spPr>
        <p:txBody>
          <a:bodyPr/>
          <a:lstStyle/>
          <a:p>
            <a:r>
              <a:rPr lang="pt-BR" dirty="0"/>
              <a:t>Para que serve cada campo: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Método </a:t>
            </a:r>
            <a:r>
              <a:rPr lang="pt-BR" dirty="0"/>
              <a:t>→ Define qual método será utilizado, como por exemplo o método POST.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URI </a:t>
            </a:r>
            <a:r>
              <a:rPr lang="pt-BR" dirty="0"/>
              <a:t>→ Define onde a requisição será aplicada no servidor.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Versão </a:t>
            </a:r>
            <a:r>
              <a:rPr lang="pt-BR" dirty="0"/>
              <a:t>→ Indica a versão do protocolo HTTP, como no exemplo a versão 1.1.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Host</a:t>
            </a:r>
            <a:r>
              <a:rPr lang="pt-BR" dirty="0"/>
              <a:t> → Informa o endereço do servidor que vai receber a requisição e a porta que será utilizada.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Connection</a:t>
            </a:r>
            <a:r>
              <a:rPr lang="pt-BR" dirty="0"/>
              <a:t> → Define se a conexão deve permanecer aberta, no </a:t>
            </a:r>
            <a:r>
              <a:rPr lang="pt-BR" dirty="0" err="1"/>
              <a:t>keep-alive</a:t>
            </a:r>
            <a:r>
              <a:rPr lang="pt-BR" dirty="0"/>
              <a:t> define que a conexão deve ser mantida aberta.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Content-Type</a:t>
            </a:r>
            <a:r>
              <a:rPr lang="pt-BR" dirty="0"/>
              <a:t> → Indica o tipo de dado enviado no corpo da requisição, como por exemplo o JSON.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Corpo (body) </a:t>
            </a:r>
            <a:r>
              <a:rPr lang="pt-BR" dirty="0"/>
              <a:t>→ Contém os </a:t>
            </a:r>
            <a:r>
              <a:rPr lang="pt-BR" b="1" dirty="0"/>
              <a:t>dados enviados para o servidor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091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39E9-E8E0-9053-3501-97156C49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1239-0329-FF91-E7EB-0A7D5C24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da resposta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758374-24F1-CB85-7CAC-D1A043B6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8550"/>
          </a:xfrm>
        </p:spPr>
        <p:txBody>
          <a:bodyPr/>
          <a:lstStyle/>
          <a:p>
            <a:pPr algn="just"/>
            <a:r>
              <a:rPr lang="pt-BR" dirty="0"/>
              <a:t>O cabeçalho da resposta no </a:t>
            </a:r>
            <a:r>
              <a:rPr lang="pt-BR" b="1" dirty="0"/>
              <a:t>HTTP</a:t>
            </a:r>
            <a:r>
              <a:rPr lang="pt-BR" dirty="0"/>
              <a:t> serve para informar ao cliente (navegador ou aplicação) como interpretar a resposta enviada pelo servidor.</a:t>
            </a:r>
          </a:p>
          <a:p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F33D559-0B61-2351-4435-EBD63B254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545" y="3272590"/>
            <a:ext cx="6366909" cy="290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87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D14E-8D81-5F1F-9631-073E80CD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8358F-8408-E217-5B7F-9E6A329B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2D192-BA1A-B833-D32E-7F54A67A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91958"/>
          </a:xfrm>
        </p:spPr>
        <p:txBody>
          <a:bodyPr/>
          <a:lstStyle/>
          <a:p>
            <a:r>
              <a:rPr lang="pt-BR" dirty="0"/>
              <a:t>Para que serve cada campo: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Versão </a:t>
            </a:r>
            <a:r>
              <a:rPr lang="pt-BR" dirty="0"/>
              <a:t>→ Indica a versão do protocolo HTTP, como no exemplo a versão 1.1.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Status </a:t>
            </a:r>
            <a:r>
              <a:rPr lang="pt-BR" dirty="0"/>
              <a:t>→ Define se a requisição foi concluída com sucesso.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Date</a:t>
            </a:r>
            <a:r>
              <a:rPr lang="pt-BR" dirty="0"/>
              <a:t> → Indica o momento exato em que a resposta foi gerada pelo servidor. 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Server </a:t>
            </a:r>
            <a:r>
              <a:rPr lang="pt-BR" dirty="0"/>
              <a:t>→ Identifica o software que o servidor está rodando.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Content-Type</a:t>
            </a:r>
            <a:r>
              <a:rPr lang="pt-BR" dirty="0"/>
              <a:t> → Indica o tipo de dado enviado no corpo da requisição, como por exemplo o HTML.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Corpo (body) </a:t>
            </a:r>
            <a:r>
              <a:rPr lang="pt-BR" dirty="0"/>
              <a:t>→ Contém os </a:t>
            </a:r>
            <a:r>
              <a:rPr lang="pt-BR" b="1" dirty="0"/>
              <a:t>dados</a:t>
            </a:r>
            <a:r>
              <a:rPr lang="pt-BR" dirty="0"/>
              <a:t> </a:t>
            </a:r>
            <a:r>
              <a:rPr lang="pt-BR" b="1" dirty="0"/>
              <a:t>retornados do servidor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230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746F-0D95-B089-0638-0FE68A89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19227-3606-076A-5A91-E3E0EBE7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Status de Resposta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8AEA2-DB12-4BE1-B618-3CE41B842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Os status de retorno do </a:t>
            </a:r>
            <a:r>
              <a:rPr lang="pt-BR" b="1" dirty="0"/>
              <a:t>HTTP</a:t>
            </a:r>
            <a:r>
              <a:rPr lang="pt-BR" dirty="0"/>
              <a:t> indicam o resultado da requisição e são organizados em cinco classes pelo primeiro dígito, permitindo que o cliente trate respostas e apresente mensagens adequadas ao usuário. Os códigos de status são divididos em grupos como apresentados a seguir:</a:t>
            </a:r>
          </a:p>
          <a:p>
            <a:pPr marL="1028700" lvl="1" indent="-342900"/>
            <a:r>
              <a:rPr lang="pt-BR" b="1" dirty="0"/>
              <a:t>1xx — Informação</a:t>
            </a:r>
            <a:endParaRPr lang="pt-BR" dirty="0"/>
          </a:p>
          <a:p>
            <a:pPr marL="1028700" lvl="1" indent="-342900"/>
            <a:r>
              <a:rPr lang="pt-BR" b="1" dirty="0"/>
              <a:t>2xx — Sucesso</a:t>
            </a:r>
            <a:endParaRPr lang="pt-BR" dirty="0"/>
          </a:p>
          <a:p>
            <a:pPr marL="1028700" lvl="1" indent="-342900"/>
            <a:r>
              <a:rPr lang="pt-BR" b="1" dirty="0"/>
              <a:t>3xx — Redirecionamento</a:t>
            </a:r>
            <a:endParaRPr lang="pt-BR" dirty="0"/>
          </a:p>
          <a:p>
            <a:pPr marL="1028700" lvl="1" indent="-342900"/>
            <a:r>
              <a:rPr lang="pt-BR" b="1" dirty="0"/>
              <a:t>4xx — Erro do cliente</a:t>
            </a:r>
            <a:endParaRPr lang="pt-BR" dirty="0"/>
          </a:p>
          <a:p>
            <a:pPr marL="1028700" lvl="1" indent="-342900"/>
            <a:r>
              <a:rPr lang="pt-BR" b="1" dirty="0"/>
              <a:t>5xx — Erro do servidor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8368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CECFD-DD83-A369-0027-B462FBD8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Códigos mais comuns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03BD0-ACFF-BE4B-1280-1479522B5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Alguns códigos em cada grupo são usados com mais frequência, consequentemente, mais conhecidos que os demais, por exemplo:</a:t>
            </a:r>
          </a:p>
          <a:p>
            <a:pPr marL="1028700" lvl="1" indent="-342900"/>
            <a:r>
              <a:rPr lang="pt-BR" b="1" dirty="0"/>
              <a:t>200 OK</a:t>
            </a:r>
            <a:r>
              <a:rPr lang="pt-BR" dirty="0"/>
              <a:t>: A requisição foi atendida com sucesso.</a:t>
            </a:r>
          </a:p>
          <a:p>
            <a:pPr marL="1028700" lvl="1" indent="-342900"/>
            <a:r>
              <a:rPr lang="pt-BR" b="1" dirty="0"/>
              <a:t>400 </a:t>
            </a:r>
            <a:r>
              <a:rPr lang="pt-BR" b="1" dirty="0" err="1"/>
              <a:t>Bad</a:t>
            </a:r>
            <a:r>
              <a:rPr lang="pt-BR" b="1" dirty="0"/>
              <a:t> </a:t>
            </a:r>
            <a:r>
              <a:rPr lang="pt-BR" b="1" dirty="0" err="1"/>
              <a:t>Request</a:t>
            </a:r>
            <a:r>
              <a:rPr lang="pt-BR" dirty="0"/>
              <a:t>: A requisição está mal formada e não pode ser entendida pelo servidor.</a:t>
            </a:r>
          </a:p>
          <a:p>
            <a:pPr marL="1028700" lvl="1" indent="-342900"/>
            <a:r>
              <a:rPr lang="pt-BR" b="1" dirty="0"/>
              <a:t>403 </a:t>
            </a:r>
            <a:r>
              <a:rPr lang="pt-BR" b="1" dirty="0" err="1"/>
              <a:t>Forbidden</a:t>
            </a:r>
            <a:r>
              <a:rPr lang="pt-BR" dirty="0"/>
              <a:t>: Usuário não autorizado a fazer a operação requisitada.</a:t>
            </a:r>
          </a:p>
          <a:p>
            <a:pPr marL="1028700" lvl="1" indent="-342900"/>
            <a:r>
              <a:rPr lang="pt-BR" b="1" dirty="0"/>
              <a:t>404 </a:t>
            </a:r>
            <a:r>
              <a:rPr lang="pt-BR" b="1" dirty="0" err="1"/>
              <a:t>Not</a:t>
            </a:r>
            <a:r>
              <a:rPr lang="pt-BR" b="1" dirty="0"/>
              <a:t> </a:t>
            </a:r>
            <a:r>
              <a:rPr lang="pt-BR" b="1" dirty="0" err="1"/>
              <a:t>Found</a:t>
            </a:r>
            <a:r>
              <a:rPr lang="pt-BR" dirty="0"/>
              <a:t>: O recurso requisitado não pode ser encontrado na URI informada.</a:t>
            </a:r>
          </a:p>
          <a:p>
            <a:pPr marL="1028700" lvl="1" indent="-342900"/>
            <a:r>
              <a:rPr lang="pt-BR" b="1" dirty="0"/>
              <a:t>405 </a:t>
            </a:r>
            <a:r>
              <a:rPr lang="pt-BR" b="1" dirty="0" err="1"/>
              <a:t>Method</a:t>
            </a:r>
            <a:r>
              <a:rPr lang="pt-BR" b="1" dirty="0"/>
              <a:t> </a:t>
            </a:r>
            <a:r>
              <a:rPr lang="pt-BR" b="1" dirty="0" err="1"/>
              <a:t>Not</a:t>
            </a:r>
            <a:r>
              <a:rPr lang="pt-BR" b="1" dirty="0"/>
              <a:t> </a:t>
            </a:r>
            <a:r>
              <a:rPr lang="pt-BR" b="1" dirty="0" err="1"/>
              <a:t>Allowed</a:t>
            </a:r>
            <a:r>
              <a:rPr lang="pt-BR" dirty="0"/>
              <a:t>: O método utilizado na requisição não é permitido no recurso especificado.</a:t>
            </a:r>
          </a:p>
          <a:p>
            <a:pPr marL="1028700" lvl="1" indent="-342900"/>
            <a:r>
              <a:rPr lang="pt-BR" b="1" dirty="0"/>
              <a:t>500 </a:t>
            </a:r>
            <a:r>
              <a:rPr lang="pt-BR" b="1" dirty="0" err="1"/>
              <a:t>Internal</a:t>
            </a:r>
            <a:r>
              <a:rPr lang="pt-BR" b="1" dirty="0"/>
              <a:t> Server Error</a:t>
            </a:r>
            <a:r>
              <a:rPr lang="pt-BR" dirty="0"/>
              <a:t>: O servidor encontrou uma condição inesperada que o impede de executar a requisição.</a:t>
            </a:r>
          </a:p>
          <a:p>
            <a:pPr marL="1028700" lvl="1" indent="-342900"/>
            <a:r>
              <a:rPr lang="pt-BR" b="1" dirty="0"/>
              <a:t>503 Service </a:t>
            </a:r>
            <a:r>
              <a:rPr lang="pt-BR" b="1" dirty="0" err="1"/>
              <a:t>Unavailable</a:t>
            </a:r>
            <a:r>
              <a:rPr lang="pt-BR" dirty="0"/>
              <a:t>: O servidor está temporariamente indisponível, normalmente devido a sobrecarga ou manutenção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32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58E77-DF0B-CF91-E535-DADBEF0B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32A327-F503-E3D4-3DC6-87C87FA22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métodos do </a:t>
            </a:r>
            <a:r>
              <a:rPr lang="pt-BR" b="1" dirty="0"/>
              <a:t>HTTP</a:t>
            </a:r>
            <a:r>
              <a:rPr lang="pt-BR" dirty="0"/>
              <a:t> definem </a:t>
            </a:r>
            <a:r>
              <a:rPr lang="pt-BR" b="1" dirty="0"/>
              <a:t>qual ação o cliente deseja realizar no servidor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b="1" dirty="0"/>
              <a:t>GET - </a:t>
            </a:r>
            <a:r>
              <a:rPr lang="pt-BR" dirty="0"/>
              <a:t>Usado para </a:t>
            </a:r>
            <a:r>
              <a:rPr lang="pt-BR" b="1" dirty="0"/>
              <a:t>buscar dados</a:t>
            </a:r>
            <a:r>
              <a:rPr lang="pt-BR" dirty="0"/>
              <a:t> no servidor.</a:t>
            </a:r>
          </a:p>
          <a:p>
            <a:pPr marL="1028700" lvl="1" indent="-342900"/>
            <a:r>
              <a:rPr lang="pt-BR" b="1" dirty="0"/>
              <a:t>POST - </a:t>
            </a:r>
            <a:r>
              <a:rPr lang="pt-BR" dirty="0"/>
              <a:t>Usado para </a:t>
            </a:r>
            <a:r>
              <a:rPr lang="pt-BR" b="1" dirty="0"/>
              <a:t>criar novos dados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b="1" dirty="0"/>
              <a:t>PUT - </a:t>
            </a:r>
            <a:r>
              <a:rPr lang="pt-BR" dirty="0"/>
              <a:t>Usado para </a:t>
            </a:r>
            <a:r>
              <a:rPr lang="pt-BR" b="1" dirty="0"/>
              <a:t>atualizar um recurso existente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b="1" dirty="0"/>
              <a:t>DELETE - </a:t>
            </a:r>
            <a:r>
              <a:rPr lang="pt-BR" dirty="0"/>
              <a:t>Usado para </a:t>
            </a:r>
            <a:r>
              <a:rPr lang="pt-BR" b="1" dirty="0"/>
              <a:t>remover um recurso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6213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CE12-1BA5-CFA1-EA44-8D0914DE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diretórios em um projeto 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25183-7B87-7314-A9B0-96CCAA47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Spring Boot organiza o projeto em camadas, separando responsabilidades como entrada de dados, regras de negócio e acesso ao banco, facilitando manutenção e escalabilidade.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projectApplication.java </a:t>
            </a:r>
            <a:r>
              <a:rPr lang="pt-BR" dirty="0"/>
              <a:t>→ Classe principal responsável por </a:t>
            </a:r>
            <a:r>
              <a:rPr lang="pt-BR" b="1" dirty="0"/>
              <a:t>inicializar a aplicação Spring Boot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controller</a:t>
            </a:r>
            <a:r>
              <a:rPr lang="pt-BR" dirty="0"/>
              <a:t> → Contém as classes responsáveis por receber as requisições HTTP.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service</a:t>
            </a:r>
            <a:r>
              <a:rPr lang="pt-BR" b="1" dirty="0"/>
              <a:t> </a:t>
            </a:r>
            <a:r>
              <a:rPr lang="pt-BR" dirty="0"/>
              <a:t>→ Contém as regras de negócio da aplicação.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repository</a:t>
            </a:r>
            <a:r>
              <a:rPr lang="pt-BR" b="1" dirty="0"/>
              <a:t> </a:t>
            </a:r>
            <a:r>
              <a:rPr lang="pt-BR" dirty="0"/>
              <a:t> → Responsável pelo </a:t>
            </a:r>
            <a:r>
              <a:rPr lang="pt-BR" b="1" dirty="0"/>
              <a:t>acesso ao banco de dados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model </a:t>
            </a:r>
            <a:r>
              <a:rPr lang="pt-BR" dirty="0"/>
              <a:t>→ Contém as </a:t>
            </a:r>
            <a:r>
              <a:rPr lang="pt-BR" b="1" dirty="0"/>
              <a:t>entidades do sistema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config</a:t>
            </a:r>
            <a:r>
              <a:rPr lang="pt-BR" b="1" dirty="0"/>
              <a:t> </a:t>
            </a:r>
            <a:r>
              <a:rPr lang="pt-BR" dirty="0"/>
              <a:t>→ Contém classes de </a:t>
            </a:r>
            <a:r>
              <a:rPr lang="pt-BR" b="1" dirty="0"/>
              <a:t>configuração da aplicação</a:t>
            </a:r>
            <a:r>
              <a:rPr lang="pt-BR" dirty="0"/>
              <a:t>, como segurança, CORS, </a:t>
            </a:r>
            <a:r>
              <a:rPr lang="pt-BR" dirty="0" err="1"/>
              <a:t>beans</a:t>
            </a:r>
            <a:r>
              <a:rPr lang="pt-BR"/>
              <a:t> personalizados, etc.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5812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47262AEFF6E47A3CB051106D2382E" ma:contentTypeVersion="7" ma:contentTypeDescription="Crie um novo documento." ma:contentTypeScope="" ma:versionID="c252a372321bb20a146a92d630e83497">
  <xsd:schema xmlns:xsd="http://www.w3.org/2001/XMLSchema" xmlns:xs="http://www.w3.org/2001/XMLSchema" xmlns:p="http://schemas.microsoft.com/office/2006/metadata/properties" xmlns:ns2="adbca637-b409-402b-9852-6cf3890dd3c6" targetNamespace="http://schemas.microsoft.com/office/2006/metadata/properties" ma:root="true" ma:fieldsID="3e9113f952ce2a4df8b21a287312ae4d" ns2:_="">
    <xsd:import namespace="adbca637-b409-402b-9852-6cf3890dd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ca637-b409-402b-9852-6cf3890dd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A641E-A36E-40C4-ABAC-AE8B4CD4DD7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A82208-FFF8-4F32-9CA5-4822B26C31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3FF897-DC32-4170-B5D6-85E604CF9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bca637-b409-402b-9852-6cf3890dd3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</TotalTime>
  <Words>1061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Tema do Office</vt:lpstr>
      <vt:lpstr>Spring Boot </vt:lpstr>
      <vt:lpstr>Spring Boot</vt:lpstr>
      <vt:lpstr>Problemas das antigas tecnologias </vt:lpstr>
      <vt:lpstr>Spring Boot</vt:lpstr>
      <vt:lpstr>Empresas que usam Spring </vt:lpstr>
      <vt:lpstr>Servidor do Spring Boot</vt:lpstr>
      <vt:lpstr>O que é uma API RESTful ?</vt:lpstr>
      <vt:lpstr>Protocolo HTTP</vt:lpstr>
      <vt:lpstr>Cabeçalho de requisição do Protocolo HTTP</vt:lpstr>
      <vt:lpstr>Cabeçalho de requisição do Protocolo HTTP</vt:lpstr>
      <vt:lpstr>Cabeçalho da resposta do Protocolo HTTP</vt:lpstr>
      <vt:lpstr>Cabeçalho de requisição do Protocolo HTTP</vt:lpstr>
      <vt:lpstr>Status de Resposta</vt:lpstr>
      <vt:lpstr>Códigos mais comuns</vt:lpstr>
      <vt:lpstr>Métodos do protocolo HTTP</vt:lpstr>
      <vt:lpstr>Estrutura de diretórios em um projeto Spring Boot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3t01lab001</cp:lastModifiedBy>
  <cp:revision>106</cp:revision>
  <dcterms:created xsi:type="dcterms:W3CDTF">2024-03-08T12:14:33Z</dcterms:created>
  <dcterms:modified xsi:type="dcterms:W3CDTF">2026-04-29T13:00:16Z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0x010100FC747262AEFF6E47A3CB051106D2382E</vt:lpwstr>
  </property>
</Properties>
</file>