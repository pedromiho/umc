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4"/>
  </p:sldMasterIdLst>
  <p:notesMasterIdLst>
    <p:notesMasterId r:id="rId15"/>
  </p:notesMasterIdLst>
  <p:handoutMasterIdLst>
    <p:handoutMasterId r:id="rId16"/>
  </p:handoutMasterIdLst>
  <p:sldIdLst>
    <p:sldId id="256" r:id="rId5"/>
    <p:sldId id="257" r:id="rId6"/>
    <p:sldId id="258" r:id="rId7"/>
    <p:sldId id="259" r:id="rId8"/>
    <p:sldId id="260" r:id="rId9"/>
    <p:sldId id="261" r:id="rId10"/>
    <p:sldId id="262" r:id="rId11"/>
    <p:sldId id="263" r:id="rId12"/>
    <p:sldId id="264" r:id="rId13"/>
    <p:sldId id="265" r:id="rId1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2A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111" d="100"/>
          <a:sy n="111" d="100"/>
        </p:scale>
        <p:origin x="594" y="96"/>
      </p:cViewPr>
      <p:guideLst>
        <p:guide orient="horz" pos="2160"/>
        <p:guide pos="3840"/>
      </p:guideLst>
    </p:cSldViewPr>
  </p:slideViewPr>
  <p:notesTextViewPr>
    <p:cViewPr>
      <p:scale>
        <a:sx n="1" d="1"/>
        <a:sy n="1" d="1"/>
      </p:scale>
      <p:origin x="0" y="0"/>
    </p:cViewPr>
  </p:notesTextViewPr>
  <p:notesViewPr>
    <p:cSldViewPr snapToGrid="0">
      <p:cViewPr varScale="1">
        <p:scale>
          <a:sx n="83" d="100"/>
          <a:sy n="83" d="100"/>
        </p:scale>
        <p:origin x="3852"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dro Henrique Miho de Souza" userId="S::pedrosouza@umc.br::3bc82412-f670-4b53-8c7d-8094f7642ee2" providerId="AD" clId="Web-{1236DFDE-05E3-2B6B-CF4B-F06BF9EBA303}"/>
    <pc:docChg chg="modSld">
      <pc:chgData name="Pedro Henrique Miho de Souza" userId="S::pedrosouza@umc.br::3bc82412-f670-4b53-8c7d-8094f7642ee2" providerId="AD" clId="Web-{1236DFDE-05E3-2B6B-CF4B-F06BF9EBA303}" dt="2026-02-10T11:21:01.316" v="3" actId="20577"/>
      <pc:docMkLst>
        <pc:docMk/>
      </pc:docMkLst>
      <pc:sldChg chg="modSp">
        <pc:chgData name="Pedro Henrique Miho de Souza" userId="S::pedrosouza@umc.br::3bc82412-f670-4b53-8c7d-8094f7642ee2" providerId="AD" clId="Web-{1236DFDE-05E3-2B6B-CF4B-F06BF9EBA303}" dt="2026-02-10T11:21:01.316" v="3" actId="20577"/>
        <pc:sldMkLst>
          <pc:docMk/>
          <pc:sldMk cId="4046982407" sldId="256"/>
        </pc:sldMkLst>
        <pc:spChg chg="mod">
          <ac:chgData name="Pedro Henrique Miho de Souza" userId="S::pedrosouza@umc.br::3bc82412-f670-4b53-8c7d-8094f7642ee2" providerId="AD" clId="Web-{1236DFDE-05E3-2B6B-CF4B-F06BF9EBA303}" dt="2026-02-10T11:20:54.940" v="2" actId="20577"/>
          <ac:spMkLst>
            <pc:docMk/>
            <pc:sldMk cId="4046982407" sldId="256"/>
            <ac:spMk id="2" creationId="{9B3B5C3A-A09A-4259-AF3D-EF5302F61C54}"/>
          </ac:spMkLst>
        </pc:spChg>
        <pc:spChg chg="mod">
          <ac:chgData name="Pedro Henrique Miho de Souza" userId="S::pedrosouza@umc.br::3bc82412-f670-4b53-8c7d-8094f7642ee2" providerId="AD" clId="Web-{1236DFDE-05E3-2B6B-CF4B-F06BF9EBA303}" dt="2026-02-10T11:21:01.316" v="3" actId="20577"/>
          <ac:spMkLst>
            <pc:docMk/>
            <pc:sldMk cId="4046982407" sldId="256"/>
            <ac:spMk id="3" creationId="{C4FF2C9F-673D-46AD-83CF-B874F96C37E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C4EE8F0D-4C39-45F8-A86B-93ED1F9D17B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a:extLst>
              <a:ext uri="{FF2B5EF4-FFF2-40B4-BE49-F238E27FC236}">
                <a16:creationId xmlns:a16="http://schemas.microsoft.com/office/drawing/2014/main" id="{8AF67F67-5D71-4F4C-B62B-A94D0A480B6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28648D-752F-4D9E-8EC2-61293C3E9BC7}" type="datetimeFigureOut">
              <a:rPr lang="pt-BR" smtClean="0"/>
              <a:t>30/04/2026</a:t>
            </a:fld>
            <a:endParaRPr lang="pt-BR"/>
          </a:p>
        </p:txBody>
      </p:sp>
      <p:sp>
        <p:nvSpPr>
          <p:cNvPr id="4" name="Espaço Reservado para Rodapé 3">
            <a:extLst>
              <a:ext uri="{FF2B5EF4-FFF2-40B4-BE49-F238E27FC236}">
                <a16:creationId xmlns:a16="http://schemas.microsoft.com/office/drawing/2014/main" id="{4A044854-0830-44C0-9D0A-E43EA97F77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7798EFAA-FD92-4E85-A429-F363379A131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1548D3A-3BA1-4F54-81A1-A8158414A376}" type="slidenum">
              <a:rPr lang="pt-BR" smtClean="0"/>
              <a:t>‹nº›</a:t>
            </a:fld>
            <a:endParaRPr lang="pt-BR"/>
          </a:p>
        </p:txBody>
      </p:sp>
    </p:spTree>
    <p:extLst>
      <p:ext uri="{BB962C8B-B14F-4D97-AF65-F5344CB8AC3E}">
        <p14:creationId xmlns:p14="http://schemas.microsoft.com/office/powerpoint/2010/main" val="4192340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8C82C2-29AC-436A-BE1C-15EF34E1D3DC}" type="datetimeFigureOut">
              <a:rPr lang="pt-BR" smtClean="0"/>
              <a:t>30/04/2026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1B5CAF-5B6F-425A-AE44-DCAC1E915DB8}" type="slidenum">
              <a:rPr lang="pt-BR" smtClean="0"/>
              <a:t>‹nº›</a:t>
            </a:fld>
            <a:endParaRPr lang="pt-BR"/>
          </a:p>
        </p:txBody>
      </p:sp>
    </p:spTree>
    <p:extLst>
      <p:ext uri="{BB962C8B-B14F-4D97-AF65-F5344CB8AC3E}">
        <p14:creationId xmlns:p14="http://schemas.microsoft.com/office/powerpoint/2010/main" val="21575481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9F73EA-414C-4929-B3E7-AD122EFFBFBF}"/>
              </a:ext>
            </a:extLst>
          </p:cNvPr>
          <p:cNvSpPr>
            <a:spLocks noGrp="1"/>
          </p:cNvSpPr>
          <p:nvPr>
            <p:ph type="ctrTitle"/>
          </p:nvPr>
        </p:nvSpPr>
        <p:spPr>
          <a:xfrm>
            <a:off x="1524000" y="1652931"/>
            <a:ext cx="9144000" cy="2387600"/>
          </a:xfrm>
          <a:prstGeom prst="rect">
            <a:avLst/>
          </a:prstGeom>
        </p:spPr>
        <p:txBody>
          <a:bodyPr anchor="b"/>
          <a:lstStyle>
            <a:lvl1pPr algn="ctr">
              <a:defRPr sz="60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Subtítulo 2">
            <a:extLst>
              <a:ext uri="{FF2B5EF4-FFF2-40B4-BE49-F238E27FC236}">
                <a16:creationId xmlns:a16="http://schemas.microsoft.com/office/drawing/2014/main" id="{C37FCEED-3F66-43BC-8B20-36021361A3BF}"/>
              </a:ext>
            </a:extLst>
          </p:cNvPr>
          <p:cNvSpPr>
            <a:spLocks noGrp="1"/>
          </p:cNvSpPr>
          <p:nvPr>
            <p:ph type="subTitle" idx="1"/>
          </p:nvPr>
        </p:nvSpPr>
        <p:spPr>
          <a:xfrm>
            <a:off x="1524000" y="4260550"/>
            <a:ext cx="9144000" cy="1655762"/>
          </a:xfrm>
          <a:prstGeom prst="rect">
            <a:avLst/>
          </a:prstGeom>
        </p:spPr>
        <p:txBody>
          <a:bodyPr/>
          <a:lstStyle>
            <a:lvl1pPr marL="0" indent="0" algn="ctr">
              <a:buNone/>
              <a:defRPr sz="24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dirty="0"/>
              <a:t>Clique para editar o estilo do subtítulo Mestre</a:t>
            </a:r>
          </a:p>
        </p:txBody>
      </p:sp>
    </p:spTree>
    <p:extLst>
      <p:ext uri="{BB962C8B-B14F-4D97-AF65-F5344CB8AC3E}">
        <p14:creationId xmlns:p14="http://schemas.microsoft.com/office/powerpoint/2010/main" val="2639507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DFB8E-AD99-4A2B-8BE2-ED878F912428}"/>
              </a:ext>
            </a:extLst>
          </p:cNvPr>
          <p:cNvSpPr>
            <a:spLocks noGrp="1"/>
          </p:cNvSpPr>
          <p:nvPr>
            <p:ph type="title"/>
          </p:nvPr>
        </p:nvSpPr>
        <p:spPr>
          <a:xfrm>
            <a:off x="749185" y="854420"/>
            <a:ext cx="9409981" cy="448573"/>
          </a:xfrm>
          <a:prstGeom prst="rect">
            <a:avLst/>
          </a:prstGeom>
        </p:spPr>
        <p:txBody>
          <a:bodyPr/>
          <a:lstStyle>
            <a:lvl1pPr>
              <a:defRPr sz="28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Espaço Reservado para Conteúdo 2">
            <a:extLst>
              <a:ext uri="{FF2B5EF4-FFF2-40B4-BE49-F238E27FC236}">
                <a16:creationId xmlns:a16="http://schemas.microsoft.com/office/drawing/2014/main" id="{F1BA61F7-989E-45C9-916D-42CE0B17B371}"/>
              </a:ext>
            </a:extLst>
          </p:cNvPr>
          <p:cNvSpPr>
            <a:spLocks noGrp="1"/>
          </p:cNvSpPr>
          <p:nvPr>
            <p:ph idx="1"/>
          </p:nvPr>
        </p:nvSpPr>
        <p:spPr>
          <a:xfrm>
            <a:off x="592347" y="1844675"/>
            <a:ext cx="11007306" cy="4351338"/>
          </a:xfrm>
          <a:prstGeom prst="rect">
            <a:avLst/>
          </a:prstGeom>
        </p:spPr>
        <p:txBody>
          <a:bodyPr/>
          <a:lstStyle>
            <a:lvl1pPr marL="0" indent="0">
              <a:lnSpc>
                <a:spcPct val="150000"/>
              </a:lnSpc>
              <a:buNone/>
              <a:defRPr sz="2000">
                <a:latin typeface="Times New Roman" panose="02020603050405020304" pitchFamily="18" charset="0"/>
                <a:cs typeface="Times New Roman" panose="02020603050405020304" pitchFamily="18" charset="0"/>
              </a:defRPr>
            </a:lvl1pPr>
            <a:lvl2pPr>
              <a:lnSpc>
                <a:spcPct val="150000"/>
              </a:lnSpc>
              <a:defRPr sz="1600">
                <a:latin typeface="Times New Roman" panose="02020603050405020304" pitchFamily="18" charset="0"/>
                <a:cs typeface="Times New Roman" panose="02020603050405020304" pitchFamily="18" charset="0"/>
              </a:defRPr>
            </a:lvl2pPr>
            <a:lvl3pPr>
              <a:lnSpc>
                <a:spcPct val="150000"/>
              </a:lnSpc>
              <a:defRPr sz="1400">
                <a:latin typeface="Times New Roman" panose="02020603050405020304" pitchFamily="18" charset="0"/>
                <a:cs typeface="Times New Roman" panose="02020603050405020304" pitchFamily="18" charset="0"/>
              </a:defRPr>
            </a:lvl3pPr>
            <a:lvl4pPr>
              <a:lnSpc>
                <a:spcPct val="150000"/>
              </a:lnSpc>
              <a:defRPr sz="1200">
                <a:latin typeface="Times New Roman" panose="02020603050405020304" pitchFamily="18" charset="0"/>
                <a:cs typeface="Times New Roman" panose="02020603050405020304" pitchFamily="18" charset="0"/>
              </a:defRPr>
            </a:lvl4pPr>
            <a:lvl5pPr>
              <a:lnSpc>
                <a:spcPct val="150000"/>
              </a:lnSpc>
              <a:defRPr sz="1000">
                <a:latin typeface="Times New Roman" panose="02020603050405020304" pitchFamily="18" charset="0"/>
                <a:cs typeface="Times New Roman" panose="02020603050405020304" pitchFamily="18" charset="0"/>
              </a:defRPr>
            </a:lvl5pPr>
          </a:lstStyle>
          <a:p>
            <a:pPr lvl="0"/>
            <a:r>
              <a:rPr lang="pt-BR" dirty="0"/>
              <a:t>Editar estilos de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29072721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440976-951F-48E1-9F65-E2E7237C0898}"/>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F3F09C38-83BA-4379-9DE9-B52DAEE2D66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7801F2F7-E203-4170-8B06-E39E4EF61BE0}"/>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5" name="Espaço Reservado para Rodapé 4">
            <a:extLst>
              <a:ext uri="{FF2B5EF4-FFF2-40B4-BE49-F238E27FC236}">
                <a16:creationId xmlns:a16="http://schemas.microsoft.com/office/drawing/2014/main" id="{CE2FDAB5-81C4-491B-B1DB-3E7A63996A04}"/>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AF87684E-F6A9-4B10-B6C6-98901C57A499}"/>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18226914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537CFC-895E-42D9-B850-249E3AA6498C}"/>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36E2EF1D-1141-40D7-BDED-690939FB81B7}"/>
              </a:ext>
            </a:extLst>
          </p:cNvPr>
          <p:cNvSpPr>
            <a:spLocks noGrp="1"/>
          </p:cNvSpPr>
          <p:nvPr>
            <p:ph sz="half" idx="1"/>
          </p:nvPr>
        </p:nvSpPr>
        <p:spPr>
          <a:xfrm>
            <a:off x="838200" y="1825625"/>
            <a:ext cx="5181600" cy="435133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98ECF165-5788-48F8-B64E-CAD147B1C6F3}"/>
              </a:ext>
            </a:extLst>
          </p:cNvPr>
          <p:cNvSpPr>
            <a:spLocks noGrp="1"/>
          </p:cNvSpPr>
          <p:nvPr>
            <p:ph sz="half" idx="2"/>
          </p:nvPr>
        </p:nvSpPr>
        <p:spPr>
          <a:xfrm>
            <a:off x="6172200" y="1825625"/>
            <a:ext cx="5181600" cy="435133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621A5A9C-1616-4A2F-9897-2AA0D6A7B0E1}"/>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6" name="Espaço Reservado para Rodapé 5">
            <a:extLst>
              <a:ext uri="{FF2B5EF4-FFF2-40B4-BE49-F238E27FC236}">
                <a16:creationId xmlns:a16="http://schemas.microsoft.com/office/drawing/2014/main" id="{819E4B8E-0EE6-4C64-9500-F64ED0B84D5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BFE3A651-93A6-476E-86D8-9380EB0792B9}"/>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11802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8013D5-4B61-49F1-B604-8019D708D1CC}"/>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57207A11-9E53-4968-BFBB-FBA312D24CA3}"/>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DE141C8A-81E9-4FD8-AF20-F5BD9DA313CA}"/>
              </a:ext>
            </a:extLst>
          </p:cNvPr>
          <p:cNvSpPr>
            <a:spLocks noGrp="1"/>
          </p:cNvSpPr>
          <p:nvPr>
            <p:ph sz="half" idx="2"/>
          </p:nvPr>
        </p:nvSpPr>
        <p:spPr>
          <a:xfrm>
            <a:off x="839788" y="2505075"/>
            <a:ext cx="5157787" cy="368458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CB1C8E84-38D3-49F5-9A51-7C0AF548DF7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F895D1BB-221B-469A-A06C-FD406B207A37}"/>
              </a:ext>
            </a:extLst>
          </p:cNvPr>
          <p:cNvSpPr>
            <a:spLocks noGrp="1"/>
          </p:cNvSpPr>
          <p:nvPr>
            <p:ph sz="quarter" idx="4"/>
          </p:nvPr>
        </p:nvSpPr>
        <p:spPr>
          <a:xfrm>
            <a:off x="6172200" y="2505075"/>
            <a:ext cx="5183188" cy="3684588"/>
          </a:xfrm>
          <a:prstGeom prst="rect">
            <a:avLst/>
          </a:prstGeo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6EAA33C3-5B87-4019-8743-8F9C2F983009}"/>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8" name="Espaço Reservado para Rodapé 7">
            <a:extLst>
              <a:ext uri="{FF2B5EF4-FFF2-40B4-BE49-F238E27FC236}">
                <a16:creationId xmlns:a16="http://schemas.microsoft.com/office/drawing/2014/main" id="{70BDA0B8-E9EF-4477-9209-5DEC09732C40}"/>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FBCF0E10-CAD6-4E43-98B3-1AFB88B68546}"/>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645059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F29988-C070-4222-8D96-E36CF17E191C}"/>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420D39C8-444E-4546-80F5-D0180A75AF94}"/>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4" name="Espaço Reservado para Rodapé 3">
            <a:extLst>
              <a:ext uri="{FF2B5EF4-FFF2-40B4-BE49-F238E27FC236}">
                <a16:creationId xmlns:a16="http://schemas.microsoft.com/office/drawing/2014/main" id="{61C134A4-BE1B-4962-9516-659CD4519DE4}"/>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1CE7749A-36AE-46D1-BE46-BE0E2F45BD08}"/>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3457533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E43BC826-C9FB-472E-956F-F80F0568AE25}"/>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3" name="Espaço Reservado para Rodapé 2">
            <a:extLst>
              <a:ext uri="{FF2B5EF4-FFF2-40B4-BE49-F238E27FC236}">
                <a16:creationId xmlns:a16="http://schemas.microsoft.com/office/drawing/2014/main" id="{6E154652-AECB-47CC-A9CD-8426C4D1ACA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D7E24980-9E3E-413B-9621-9DCBCC5F48F1}"/>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2833773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9EF455-B40C-43F1-B648-F6F57DD2C9E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C1570ACE-9666-4656-BDDD-596392FA709C}"/>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8FF34EE3-79AE-487D-B73B-1A408180A02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E5AF76A-9469-4EBF-8DAC-F6889FD75462}"/>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6" name="Espaço Reservado para Rodapé 5">
            <a:extLst>
              <a:ext uri="{FF2B5EF4-FFF2-40B4-BE49-F238E27FC236}">
                <a16:creationId xmlns:a16="http://schemas.microsoft.com/office/drawing/2014/main" id="{8B4ED122-B6B8-4D0E-98A8-D1205798462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14136D5D-BD69-4CD2-A354-F8289DAAC667}"/>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42814922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87CECA-FA2C-4E5F-A052-5D5CBF0F75B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20F7117-B346-47D7-9DBC-5BBD02B232BC}"/>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DFDB8822-F4D3-4DE6-B130-D7308F116CC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E370F3C1-6276-4A5F-B650-8B2E8FB06333}"/>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6" name="Espaço Reservado para Rodapé 5">
            <a:extLst>
              <a:ext uri="{FF2B5EF4-FFF2-40B4-BE49-F238E27FC236}">
                <a16:creationId xmlns:a16="http://schemas.microsoft.com/office/drawing/2014/main" id="{B142CF32-D9DD-42DF-9B63-B3207D85DB2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62A81DD0-CB02-442E-A173-AFA500CC711A}"/>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1776478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B2585-BC56-4839-AEEF-1B75486F2313}"/>
              </a:ext>
            </a:extLst>
          </p:cNvPr>
          <p:cNvSpPr>
            <a:spLocks noGrp="1"/>
          </p:cNvSpPr>
          <p:nvPr>
            <p:ph type="title"/>
          </p:nvPr>
        </p:nvSpPr>
        <p:spPr>
          <a:xfrm>
            <a:off x="838200" y="828134"/>
            <a:ext cx="9392728" cy="491707"/>
          </a:xfrm>
          <a:prstGeom prst="rect">
            <a:avLst/>
          </a:prstGeom>
        </p:spPr>
        <p:txBody>
          <a:bodyPr/>
          <a:lstStyle>
            <a:lvl1pPr>
              <a:defRPr sz="2800">
                <a:latin typeface="Times New Roman" panose="02020603050405020304" pitchFamily="18" charset="0"/>
                <a:cs typeface="Times New Roman" panose="02020603050405020304" pitchFamily="18" charset="0"/>
              </a:defRPr>
            </a:lvl1pPr>
          </a:lstStyle>
          <a:p>
            <a:r>
              <a:rPr lang="pt-BR" dirty="0"/>
              <a:t>Clique para editar o título Mestre</a:t>
            </a:r>
          </a:p>
        </p:txBody>
      </p:sp>
      <p:sp>
        <p:nvSpPr>
          <p:cNvPr id="3" name="Espaço Reservado para Texto Vertical 2">
            <a:extLst>
              <a:ext uri="{FF2B5EF4-FFF2-40B4-BE49-F238E27FC236}">
                <a16:creationId xmlns:a16="http://schemas.microsoft.com/office/drawing/2014/main" id="{19D1A810-2C5E-49EA-AAFC-FDC1AA5F1FC4}"/>
              </a:ext>
            </a:extLst>
          </p:cNvPr>
          <p:cNvSpPr>
            <a:spLocks noGrp="1"/>
          </p:cNvSpPr>
          <p:nvPr>
            <p:ph type="body" orient="vert" idx="1"/>
          </p:nvPr>
        </p:nvSpPr>
        <p:spPr>
          <a:xfrm>
            <a:off x="605287" y="1825624"/>
            <a:ext cx="10981426" cy="4618307"/>
          </a:xfrm>
          <a:prstGeom prst="rect">
            <a:avLst/>
          </a:prstGeom>
        </p:spPr>
        <p:txBody>
          <a:bodyPr vert="eaVert"/>
          <a:lstStyle/>
          <a:p>
            <a:pPr lvl="0"/>
            <a:r>
              <a:rPr lang="pt-BR" dirty="0"/>
              <a:t>Editar estilos de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8666024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EDB59BB-5636-42CF-B124-FAF3D7953F15}"/>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93875309-BF17-4BAA-9583-FFA5CD6256CF}"/>
              </a:ext>
            </a:extLst>
          </p:cNvPr>
          <p:cNvSpPr>
            <a:spLocks noGrp="1"/>
          </p:cNvSpPr>
          <p:nvPr>
            <p:ph type="body" orient="vert" idx="1"/>
          </p:nvPr>
        </p:nvSpPr>
        <p:spPr>
          <a:xfrm>
            <a:off x="838200" y="365125"/>
            <a:ext cx="7734300" cy="5811838"/>
          </a:xfrm>
          <a:prstGeom prst="rect">
            <a:avLst/>
          </a:prstGeo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354D6C19-C741-47D2-A6CB-2906DBB98236}"/>
              </a:ext>
            </a:extLst>
          </p:cNvPr>
          <p:cNvSpPr>
            <a:spLocks noGrp="1"/>
          </p:cNvSpPr>
          <p:nvPr>
            <p:ph type="dt" sz="half" idx="10"/>
          </p:nvPr>
        </p:nvSpPr>
        <p:spPr>
          <a:xfrm>
            <a:off x="838200" y="6356350"/>
            <a:ext cx="2743200" cy="365125"/>
          </a:xfrm>
          <a:prstGeom prst="rect">
            <a:avLst/>
          </a:prstGeom>
        </p:spPr>
        <p:txBody>
          <a:bodyPr/>
          <a:lstStyle/>
          <a:p>
            <a:fld id="{CDD55C27-F8C6-4481-8569-CAC50CAE9F1F}" type="datetimeFigureOut">
              <a:rPr lang="pt-BR" smtClean="0"/>
              <a:t>30/04/2026</a:t>
            </a:fld>
            <a:endParaRPr lang="pt-BR"/>
          </a:p>
        </p:txBody>
      </p:sp>
      <p:sp>
        <p:nvSpPr>
          <p:cNvPr id="5" name="Espaço Reservado para Rodapé 4">
            <a:extLst>
              <a:ext uri="{FF2B5EF4-FFF2-40B4-BE49-F238E27FC236}">
                <a16:creationId xmlns:a16="http://schemas.microsoft.com/office/drawing/2014/main" id="{3AC129DE-944E-4128-9F49-76B5C1F4FBC2}"/>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20892AE-B301-431E-9D8C-F0BDAF576005}"/>
              </a:ext>
            </a:extLst>
          </p:cNvPr>
          <p:cNvSpPr>
            <a:spLocks noGrp="1"/>
          </p:cNvSpPr>
          <p:nvPr>
            <p:ph type="sldNum" sz="quarter" idx="12"/>
          </p:nvPr>
        </p:nvSpPr>
        <p:spPr>
          <a:xfrm>
            <a:off x="8610600" y="6356350"/>
            <a:ext cx="2743200" cy="365125"/>
          </a:xfrm>
          <a:prstGeom prst="rect">
            <a:avLst/>
          </a:prstGeom>
        </p:spPr>
        <p:txBody>
          <a:bodyPr/>
          <a:lstStyle/>
          <a:p>
            <a:fld id="{4BD41EC5-C773-4CDF-9E39-1AADF374E505}" type="slidenum">
              <a:rPr lang="pt-BR" smtClean="0"/>
              <a:t>‹nº›</a:t>
            </a:fld>
            <a:endParaRPr lang="pt-BR"/>
          </a:p>
        </p:txBody>
      </p:sp>
    </p:spTree>
    <p:extLst>
      <p:ext uri="{BB962C8B-B14F-4D97-AF65-F5344CB8AC3E}">
        <p14:creationId xmlns:p14="http://schemas.microsoft.com/office/powerpoint/2010/main" val="565955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Imagem 6">
            <a:extLst>
              <a:ext uri="{FF2B5EF4-FFF2-40B4-BE49-F238E27FC236}">
                <a16:creationId xmlns:a16="http://schemas.microsoft.com/office/drawing/2014/main" id="{56E30110-E419-43DB-AEFA-3636065754B3}"/>
              </a:ext>
            </a:extLst>
          </p:cNvPr>
          <p:cNvPicPr>
            <a:picLocks noChangeAspect="1"/>
          </p:cNvPicPr>
          <p:nvPr userDrawn="1"/>
        </p:nvPicPr>
        <p:blipFill>
          <a:blip r:embed="rId13"/>
          <a:stretch>
            <a:fillRect/>
          </a:stretch>
        </p:blipFill>
        <p:spPr>
          <a:xfrm>
            <a:off x="0" y="6762736"/>
            <a:ext cx="12192000" cy="95264"/>
          </a:xfrm>
          <a:prstGeom prst="rect">
            <a:avLst/>
          </a:prstGeom>
          <a:solidFill>
            <a:schemeClr val="bg1"/>
          </a:solidFill>
          <a:ln>
            <a:solidFill>
              <a:srgbClr val="292A86"/>
            </a:solidFill>
          </a:ln>
        </p:spPr>
      </p:pic>
      <p:pic>
        <p:nvPicPr>
          <p:cNvPr id="8" name="Imagem 7">
            <a:extLst>
              <a:ext uri="{FF2B5EF4-FFF2-40B4-BE49-F238E27FC236}">
                <a16:creationId xmlns:a16="http://schemas.microsoft.com/office/drawing/2014/main" id="{4AAA702B-ED3B-45E1-8C71-1ACC187886AA}"/>
              </a:ext>
            </a:extLst>
          </p:cNvPr>
          <p:cNvPicPr>
            <a:picLocks noChangeAspect="1"/>
          </p:cNvPicPr>
          <p:nvPr userDrawn="1"/>
        </p:nvPicPr>
        <p:blipFill>
          <a:blip r:embed="rId13"/>
          <a:stretch>
            <a:fillRect/>
          </a:stretch>
        </p:blipFill>
        <p:spPr>
          <a:xfrm>
            <a:off x="582422" y="635357"/>
            <a:ext cx="122428" cy="888712"/>
          </a:xfrm>
          <a:prstGeom prst="rect">
            <a:avLst/>
          </a:prstGeom>
          <a:solidFill>
            <a:srgbClr val="292A86"/>
          </a:solidFill>
        </p:spPr>
      </p:pic>
      <p:pic>
        <p:nvPicPr>
          <p:cNvPr id="9" name="Imagem 8">
            <a:extLst>
              <a:ext uri="{FF2B5EF4-FFF2-40B4-BE49-F238E27FC236}">
                <a16:creationId xmlns:a16="http://schemas.microsoft.com/office/drawing/2014/main" id="{49B168A8-B937-4519-802D-8D1D90A0A0EA}"/>
              </a:ext>
            </a:extLst>
          </p:cNvPr>
          <p:cNvPicPr>
            <a:picLocks noChangeAspect="1"/>
          </p:cNvPicPr>
          <p:nvPr userDrawn="1"/>
        </p:nvPicPr>
        <p:blipFill>
          <a:blip r:embed="rId14"/>
          <a:stretch>
            <a:fillRect/>
          </a:stretch>
        </p:blipFill>
        <p:spPr>
          <a:xfrm>
            <a:off x="10283716" y="719713"/>
            <a:ext cx="1273846" cy="720000"/>
          </a:xfrm>
          <a:prstGeom prst="rect">
            <a:avLst/>
          </a:prstGeom>
        </p:spPr>
      </p:pic>
    </p:spTree>
    <p:extLst>
      <p:ext uri="{BB962C8B-B14F-4D97-AF65-F5344CB8AC3E}">
        <p14:creationId xmlns:p14="http://schemas.microsoft.com/office/powerpoint/2010/main" val="290049584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3B5C3A-A09A-4259-AF3D-EF5302F61C54}"/>
              </a:ext>
            </a:extLst>
          </p:cNvPr>
          <p:cNvSpPr>
            <a:spLocks noGrp="1"/>
          </p:cNvSpPr>
          <p:nvPr>
            <p:ph type="ctrTitle"/>
          </p:nvPr>
        </p:nvSpPr>
        <p:spPr>
          <a:xfrm>
            <a:off x="1524000" y="1830731"/>
            <a:ext cx="9144000" cy="1776069"/>
          </a:xfrm>
        </p:spPr>
        <p:txBody>
          <a:bodyPr lIns="91440" tIns="45720" rIns="91440" bIns="45720" anchor="b"/>
          <a:lstStyle/>
          <a:p>
            <a:r>
              <a:rPr lang="pt-BR" sz="4400" dirty="0"/>
              <a:t>Acesso a Banco de Dados em Java</a:t>
            </a:r>
            <a:endParaRPr lang="pt-BR" sz="4400" dirty="0">
              <a:latin typeface="Times New Roman"/>
              <a:cs typeface="Times New Roman"/>
            </a:endParaRPr>
          </a:p>
        </p:txBody>
      </p:sp>
      <p:sp>
        <p:nvSpPr>
          <p:cNvPr id="3" name="Subtítulo 2">
            <a:extLst>
              <a:ext uri="{FF2B5EF4-FFF2-40B4-BE49-F238E27FC236}">
                <a16:creationId xmlns:a16="http://schemas.microsoft.com/office/drawing/2014/main" id="{C4FF2C9F-673D-46AD-83CF-B874F96C37E6}"/>
              </a:ext>
            </a:extLst>
          </p:cNvPr>
          <p:cNvSpPr>
            <a:spLocks noGrp="1"/>
          </p:cNvSpPr>
          <p:nvPr>
            <p:ph type="subTitle" idx="1"/>
          </p:nvPr>
        </p:nvSpPr>
        <p:spPr>
          <a:xfrm>
            <a:off x="1524000" y="3927565"/>
            <a:ext cx="9144000" cy="1277503"/>
          </a:xfrm>
        </p:spPr>
        <p:txBody>
          <a:bodyPr lIns="91440" tIns="45720" rIns="91440" bIns="45720" anchor="t"/>
          <a:lstStyle/>
          <a:p>
            <a:r>
              <a:rPr lang="pt-BR" dirty="0">
                <a:latin typeface="Times New Roman"/>
                <a:cs typeface="Times New Roman"/>
              </a:rPr>
              <a:t>Prof. Esp. Pedro Miho</a:t>
            </a:r>
          </a:p>
        </p:txBody>
      </p:sp>
    </p:spTree>
    <p:extLst>
      <p:ext uri="{BB962C8B-B14F-4D97-AF65-F5344CB8AC3E}">
        <p14:creationId xmlns:p14="http://schemas.microsoft.com/office/powerpoint/2010/main" val="40469824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885730-8AEC-9FD8-8A19-7D93E5B2A7DA}"/>
              </a:ext>
            </a:extLst>
          </p:cNvPr>
          <p:cNvSpPr>
            <a:spLocks noGrp="1"/>
          </p:cNvSpPr>
          <p:nvPr>
            <p:ph type="title"/>
          </p:nvPr>
        </p:nvSpPr>
        <p:spPr/>
        <p:txBody>
          <a:bodyPr/>
          <a:lstStyle/>
          <a:p>
            <a:r>
              <a:rPr lang="pt-BR" dirty="0"/>
              <a:t>JDBC (Começo de tudo)</a:t>
            </a:r>
          </a:p>
        </p:txBody>
      </p:sp>
      <p:sp>
        <p:nvSpPr>
          <p:cNvPr id="3" name="Espaço Reservado para Conteúdo 2">
            <a:extLst>
              <a:ext uri="{FF2B5EF4-FFF2-40B4-BE49-F238E27FC236}">
                <a16:creationId xmlns:a16="http://schemas.microsoft.com/office/drawing/2014/main" id="{7CA2DDA8-BC34-D4F5-C02C-7BD46F08E404}"/>
              </a:ext>
            </a:extLst>
          </p:cNvPr>
          <p:cNvSpPr>
            <a:spLocks noGrp="1"/>
          </p:cNvSpPr>
          <p:nvPr>
            <p:ph idx="1"/>
          </p:nvPr>
        </p:nvSpPr>
        <p:spPr>
          <a:xfrm>
            <a:off x="592347" y="1652242"/>
            <a:ext cx="11007306" cy="1496400"/>
          </a:xfrm>
        </p:spPr>
        <p:txBody>
          <a:bodyPr/>
          <a:lstStyle/>
          <a:p>
            <a:pPr algn="just"/>
            <a:r>
              <a:rPr lang="pt-BR" sz="1600" dirty="0"/>
              <a:t>O JDBC é uma API do Java que permite conectar-se a bancos de dados relacionais e executar operações como consultar, inserir, atualizar e excluir dados utilizando SQL. Ele atua como uma camada de baixo nível, exigindo que o desenvolvedor gerencie manualmente conexões, consultas e resultados.</a:t>
            </a:r>
          </a:p>
          <a:p>
            <a:endParaRPr lang="pt-BR" dirty="0"/>
          </a:p>
        </p:txBody>
      </p:sp>
      <p:sp>
        <p:nvSpPr>
          <p:cNvPr id="7" name="CaixaDeTexto 6">
            <a:extLst>
              <a:ext uri="{FF2B5EF4-FFF2-40B4-BE49-F238E27FC236}">
                <a16:creationId xmlns:a16="http://schemas.microsoft.com/office/drawing/2014/main" id="{BE64600D-AC27-F9EB-9386-5EB75E1D2E5E}"/>
              </a:ext>
            </a:extLst>
          </p:cNvPr>
          <p:cNvSpPr txBox="1"/>
          <p:nvPr/>
        </p:nvSpPr>
        <p:spPr>
          <a:xfrm>
            <a:off x="2739515" y="3588588"/>
            <a:ext cx="6712970" cy="2800767"/>
          </a:xfrm>
          <a:prstGeom prst="rect">
            <a:avLst/>
          </a:prstGeom>
          <a:noFill/>
        </p:spPr>
        <p:txBody>
          <a:bodyPr wrap="square">
            <a:spAutoFit/>
          </a:bodyPr>
          <a:lstStyle/>
          <a:p>
            <a:r>
              <a:rPr lang="pt-BR" sz="1600" b="1" dirty="0" err="1">
                <a:solidFill>
                  <a:schemeClr val="accent1">
                    <a:lumMod val="75000"/>
                  </a:schemeClr>
                </a:solidFill>
              </a:rPr>
              <a:t>public</a:t>
            </a:r>
            <a:r>
              <a:rPr lang="pt-BR" sz="1600" b="1" dirty="0">
                <a:effectLst/>
              </a:rPr>
              <a:t> </a:t>
            </a:r>
            <a:r>
              <a:rPr lang="pt-BR" sz="1600" b="1" dirty="0" err="1">
                <a:solidFill>
                  <a:schemeClr val="accent1">
                    <a:lumMod val="75000"/>
                  </a:schemeClr>
                </a:solidFill>
              </a:rPr>
              <a:t>class</a:t>
            </a:r>
            <a:r>
              <a:rPr lang="pt-BR" sz="1600" b="1" dirty="0">
                <a:effectLst/>
              </a:rPr>
              <a:t> </a:t>
            </a:r>
            <a:r>
              <a:rPr lang="pt-BR" sz="1600" b="1" dirty="0" err="1">
                <a:solidFill>
                  <a:srgbClr val="FF0000"/>
                </a:solidFill>
                <a:effectLst/>
              </a:rPr>
              <a:t>ConexaoDB</a:t>
            </a:r>
            <a:r>
              <a:rPr lang="pt-BR" sz="1600" b="1" dirty="0">
                <a:effectLst/>
              </a:rPr>
              <a:t> { </a:t>
            </a:r>
          </a:p>
          <a:p>
            <a:endParaRPr lang="pt-BR" sz="1600" b="1" dirty="0">
              <a:effectLst/>
            </a:endParaRPr>
          </a:p>
          <a:p>
            <a:pPr indent="457200"/>
            <a:r>
              <a:rPr lang="pt-BR" sz="1600" b="1" dirty="0" err="1">
                <a:solidFill>
                  <a:schemeClr val="accent1">
                    <a:lumMod val="75000"/>
                  </a:schemeClr>
                </a:solidFill>
                <a:effectLst/>
              </a:rPr>
              <a:t>private</a:t>
            </a:r>
            <a:r>
              <a:rPr lang="pt-BR" sz="1600" b="1" dirty="0">
                <a:solidFill>
                  <a:schemeClr val="accent1">
                    <a:lumMod val="75000"/>
                  </a:schemeClr>
                </a:solidFill>
                <a:effectLst/>
              </a:rPr>
              <a:t> </a:t>
            </a:r>
            <a:r>
              <a:rPr lang="pt-BR" sz="1600" b="1" dirty="0" err="1">
                <a:solidFill>
                  <a:schemeClr val="accent1">
                    <a:lumMod val="75000"/>
                  </a:schemeClr>
                </a:solidFill>
                <a:effectLst/>
              </a:rPr>
              <a:t>static</a:t>
            </a:r>
            <a:r>
              <a:rPr lang="pt-BR" sz="1600" b="1" dirty="0">
                <a:solidFill>
                  <a:schemeClr val="accent1">
                    <a:lumMod val="75000"/>
                  </a:schemeClr>
                </a:solidFill>
                <a:effectLst/>
              </a:rPr>
              <a:t> final </a:t>
            </a:r>
            <a:r>
              <a:rPr lang="pt-BR" sz="1600" b="1" dirty="0" err="1">
                <a:solidFill>
                  <a:srgbClr val="FF0000"/>
                </a:solidFill>
              </a:rPr>
              <a:t>String</a:t>
            </a:r>
            <a:r>
              <a:rPr lang="pt-BR" sz="1600" b="1" dirty="0">
                <a:effectLst/>
              </a:rPr>
              <a:t> URL = </a:t>
            </a:r>
            <a:r>
              <a:rPr lang="pt-BR" sz="1600" b="1" dirty="0">
                <a:solidFill>
                  <a:schemeClr val="accent6">
                    <a:lumMod val="75000"/>
                  </a:schemeClr>
                </a:solidFill>
                <a:effectLst/>
              </a:rPr>
              <a:t>"</a:t>
            </a:r>
            <a:r>
              <a:rPr lang="pt-BR" sz="1600" b="1" dirty="0" err="1">
                <a:solidFill>
                  <a:schemeClr val="accent6">
                    <a:lumMod val="75000"/>
                  </a:schemeClr>
                </a:solidFill>
                <a:effectLst/>
              </a:rPr>
              <a:t>jdbc:mysql</a:t>
            </a:r>
            <a:r>
              <a:rPr lang="pt-BR" sz="1600" b="1" dirty="0">
                <a:solidFill>
                  <a:schemeClr val="accent6">
                    <a:lumMod val="75000"/>
                  </a:schemeClr>
                </a:solidFill>
                <a:effectLst/>
              </a:rPr>
              <a:t>://localhost:3306/sistema"</a:t>
            </a:r>
            <a:r>
              <a:rPr lang="pt-BR" sz="1600" b="1" dirty="0">
                <a:effectLst/>
              </a:rPr>
              <a:t>;</a:t>
            </a:r>
          </a:p>
          <a:p>
            <a:pPr indent="457200"/>
            <a:r>
              <a:rPr lang="pt-BR" sz="1600" b="1" dirty="0">
                <a:effectLst/>
              </a:rPr>
              <a:t> </a:t>
            </a:r>
          </a:p>
          <a:p>
            <a:pPr indent="457200"/>
            <a:r>
              <a:rPr lang="pt-BR" sz="1600" b="1" dirty="0" err="1">
                <a:solidFill>
                  <a:schemeClr val="accent1">
                    <a:lumMod val="75000"/>
                  </a:schemeClr>
                </a:solidFill>
              </a:rPr>
              <a:t>private</a:t>
            </a:r>
            <a:r>
              <a:rPr lang="pt-BR" sz="1600" b="1" dirty="0">
                <a:effectLst/>
              </a:rPr>
              <a:t> </a:t>
            </a:r>
            <a:r>
              <a:rPr lang="pt-BR" sz="1600" b="1" dirty="0" err="1">
                <a:solidFill>
                  <a:schemeClr val="accent1">
                    <a:lumMod val="75000"/>
                  </a:schemeClr>
                </a:solidFill>
              </a:rPr>
              <a:t>static</a:t>
            </a:r>
            <a:r>
              <a:rPr lang="pt-BR" sz="1600" b="1" dirty="0">
                <a:effectLst/>
              </a:rPr>
              <a:t> </a:t>
            </a:r>
            <a:r>
              <a:rPr lang="pt-BR" sz="1600" b="1" dirty="0">
                <a:solidFill>
                  <a:schemeClr val="accent1">
                    <a:lumMod val="75000"/>
                  </a:schemeClr>
                </a:solidFill>
              </a:rPr>
              <a:t>final</a:t>
            </a:r>
            <a:r>
              <a:rPr lang="pt-BR" sz="1600" b="1" dirty="0">
                <a:effectLst/>
              </a:rPr>
              <a:t> </a:t>
            </a:r>
            <a:r>
              <a:rPr lang="pt-BR" sz="1600" b="1" dirty="0" err="1">
                <a:solidFill>
                  <a:srgbClr val="FF0000"/>
                </a:solidFill>
              </a:rPr>
              <a:t>String</a:t>
            </a:r>
            <a:r>
              <a:rPr lang="pt-BR" sz="1600" b="1" dirty="0">
                <a:effectLst/>
              </a:rPr>
              <a:t> USER = </a:t>
            </a:r>
            <a:r>
              <a:rPr lang="pt-BR" sz="1600" b="1" dirty="0">
                <a:solidFill>
                  <a:schemeClr val="accent6">
                    <a:lumMod val="75000"/>
                  </a:schemeClr>
                </a:solidFill>
              </a:rPr>
              <a:t>"root"</a:t>
            </a:r>
            <a:r>
              <a:rPr lang="pt-BR" sz="1600" b="1" dirty="0">
                <a:effectLst/>
              </a:rPr>
              <a:t>;</a:t>
            </a:r>
          </a:p>
          <a:p>
            <a:pPr indent="457200"/>
            <a:r>
              <a:rPr lang="pt-BR" sz="1600" b="1" dirty="0" err="1">
                <a:solidFill>
                  <a:schemeClr val="accent1">
                    <a:lumMod val="75000"/>
                  </a:schemeClr>
                </a:solidFill>
              </a:rPr>
              <a:t>private</a:t>
            </a:r>
            <a:r>
              <a:rPr lang="pt-BR" sz="1600" b="1" dirty="0">
                <a:effectLst/>
              </a:rPr>
              <a:t> </a:t>
            </a:r>
            <a:r>
              <a:rPr lang="pt-BR" sz="1600" b="1" dirty="0" err="1">
                <a:solidFill>
                  <a:schemeClr val="accent1">
                    <a:lumMod val="75000"/>
                  </a:schemeClr>
                </a:solidFill>
              </a:rPr>
              <a:t>static</a:t>
            </a:r>
            <a:r>
              <a:rPr lang="pt-BR" sz="1600" b="1" dirty="0">
                <a:effectLst/>
              </a:rPr>
              <a:t> </a:t>
            </a:r>
            <a:r>
              <a:rPr lang="pt-BR" sz="1600" b="1" dirty="0">
                <a:solidFill>
                  <a:schemeClr val="accent1">
                    <a:lumMod val="75000"/>
                  </a:schemeClr>
                </a:solidFill>
              </a:rPr>
              <a:t>final</a:t>
            </a:r>
            <a:r>
              <a:rPr lang="pt-BR" sz="1600" b="1" dirty="0">
                <a:effectLst/>
              </a:rPr>
              <a:t> </a:t>
            </a:r>
            <a:r>
              <a:rPr lang="pt-BR" sz="1600" b="1" dirty="0" err="1">
                <a:solidFill>
                  <a:srgbClr val="FF0000"/>
                </a:solidFill>
              </a:rPr>
              <a:t>String</a:t>
            </a:r>
            <a:r>
              <a:rPr lang="pt-BR" sz="1600" b="1" dirty="0">
                <a:effectLst/>
              </a:rPr>
              <a:t> PASSWORD = </a:t>
            </a:r>
            <a:r>
              <a:rPr lang="pt-BR" sz="1600" b="1" dirty="0">
                <a:solidFill>
                  <a:schemeClr val="accent6">
                    <a:lumMod val="75000"/>
                  </a:schemeClr>
                </a:solidFill>
              </a:rPr>
              <a:t>""</a:t>
            </a:r>
            <a:r>
              <a:rPr lang="pt-BR" sz="1600" b="1" dirty="0">
                <a:effectLst/>
              </a:rPr>
              <a:t>; </a:t>
            </a:r>
          </a:p>
          <a:p>
            <a:pPr indent="457200"/>
            <a:endParaRPr lang="pt-BR" sz="1600" b="1" dirty="0"/>
          </a:p>
          <a:p>
            <a:pPr indent="457200"/>
            <a:r>
              <a:rPr lang="pt-BR" sz="1600" b="1" dirty="0" err="1">
                <a:solidFill>
                  <a:schemeClr val="accent1">
                    <a:lumMod val="75000"/>
                  </a:schemeClr>
                </a:solidFill>
              </a:rPr>
              <a:t>public</a:t>
            </a:r>
            <a:r>
              <a:rPr lang="pt-BR" sz="1600" b="1" dirty="0">
                <a:effectLst/>
              </a:rPr>
              <a:t> </a:t>
            </a:r>
            <a:r>
              <a:rPr lang="pt-BR" sz="1600" b="1" dirty="0" err="1">
                <a:solidFill>
                  <a:schemeClr val="accent1">
                    <a:lumMod val="75000"/>
                  </a:schemeClr>
                </a:solidFill>
              </a:rPr>
              <a:t>static</a:t>
            </a:r>
            <a:r>
              <a:rPr lang="pt-BR" sz="1600" b="1" dirty="0">
                <a:effectLst/>
              </a:rPr>
              <a:t> </a:t>
            </a:r>
            <a:r>
              <a:rPr lang="pt-BR" sz="1600" b="1" dirty="0">
                <a:solidFill>
                  <a:srgbClr val="FF0000"/>
                </a:solidFill>
              </a:rPr>
              <a:t>Connection</a:t>
            </a:r>
            <a:r>
              <a:rPr lang="pt-BR" sz="1600" b="1" dirty="0">
                <a:effectLst/>
              </a:rPr>
              <a:t> </a:t>
            </a:r>
            <a:r>
              <a:rPr lang="pt-BR" sz="1600" b="1" dirty="0">
                <a:solidFill>
                  <a:srgbClr val="FF0000"/>
                </a:solidFill>
              </a:rPr>
              <a:t>conectar</a:t>
            </a:r>
            <a:r>
              <a:rPr lang="pt-BR" sz="1600" b="1" dirty="0">
                <a:effectLst/>
              </a:rPr>
              <a:t>() </a:t>
            </a:r>
            <a:r>
              <a:rPr lang="pt-BR" sz="1600" b="1" dirty="0" err="1">
                <a:solidFill>
                  <a:schemeClr val="accent1">
                    <a:lumMod val="75000"/>
                  </a:schemeClr>
                </a:solidFill>
              </a:rPr>
              <a:t>throws</a:t>
            </a:r>
            <a:r>
              <a:rPr lang="pt-BR" sz="1600" b="1" dirty="0">
                <a:effectLst/>
              </a:rPr>
              <a:t> </a:t>
            </a:r>
            <a:r>
              <a:rPr lang="pt-BR" sz="1600" b="1" dirty="0" err="1">
                <a:solidFill>
                  <a:srgbClr val="FF0000"/>
                </a:solidFill>
              </a:rPr>
              <a:t>SQLException</a:t>
            </a:r>
            <a:r>
              <a:rPr lang="pt-BR" sz="1600" b="1" dirty="0">
                <a:effectLst/>
              </a:rPr>
              <a:t> { </a:t>
            </a:r>
          </a:p>
          <a:p>
            <a:pPr lvl="1" indent="457200"/>
            <a:r>
              <a:rPr lang="pt-BR" sz="1600" b="1" dirty="0" err="1">
                <a:solidFill>
                  <a:schemeClr val="accent1">
                    <a:lumMod val="75000"/>
                  </a:schemeClr>
                </a:solidFill>
              </a:rPr>
              <a:t>return</a:t>
            </a:r>
            <a:r>
              <a:rPr lang="pt-BR" sz="1600" b="1" dirty="0">
                <a:effectLst/>
              </a:rPr>
              <a:t> </a:t>
            </a:r>
            <a:r>
              <a:rPr lang="pt-BR" sz="1600" b="1" dirty="0" err="1">
                <a:solidFill>
                  <a:srgbClr val="FF0000"/>
                </a:solidFill>
              </a:rPr>
              <a:t>DriverManager</a:t>
            </a:r>
            <a:r>
              <a:rPr lang="pt-BR" sz="1600" b="1" dirty="0" err="1">
                <a:effectLst/>
              </a:rPr>
              <a:t>.</a:t>
            </a:r>
            <a:r>
              <a:rPr lang="pt-BR" sz="1600" b="1" dirty="0" err="1">
                <a:solidFill>
                  <a:srgbClr val="FF0000"/>
                </a:solidFill>
              </a:rPr>
              <a:t>getConnection</a:t>
            </a:r>
            <a:r>
              <a:rPr lang="pt-BR" sz="1600" b="1" dirty="0">
                <a:effectLst/>
              </a:rPr>
              <a:t>(URL, USER, PASSWORD); </a:t>
            </a:r>
          </a:p>
          <a:p>
            <a:pPr indent="457200"/>
            <a:r>
              <a:rPr lang="pt-BR" sz="1600" b="1" dirty="0">
                <a:effectLst/>
              </a:rPr>
              <a:t>}</a:t>
            </a:r>
          </a:p>
          <a:p>
            <a:r>
              <a:rPr lang="pt-BR" sz="1600" b="1" dirty="0">
                <a:effectLst/>
              </a:rPr>
              <a:t>}</a:t>
            </a:r>
            <a:endParaRPr lang="pt-BR" sz="1600" dirty="0"/>
          </a:p>
        </p:txBody>
      </p:sp>
    </p:spTree>
    <p:extLst>
      <p:ext uri="{BB962C8B-B14F-4D97-AF65-F5344CB8AC3E}">
        <p14:creationId xmlns:p14="http://schemas.microsoft.com/office/powerpoint/2010/main" val="1154896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7E43E8-A678-D3A2-24CE-A59DB568941D}"/>
              </a:ext>
            </a:extLst>
          </p:cNvPr>
          <p:cNvSpPr>
            <a:spLocks noGrp="1"/>
          </p:cNvSpPr>
          <p:nvPr>
            <p:ph type="title"/>
          </p:nvPr>
        </p:nvSpPr>
        <p:spPr/>
        <p:txBody>
          <a:bodyPr/>
          <a:lstStyle/>
          <a:p>
            <a:r>
              <a:rPr lang="pt-BR" dirty="0"/>
              <a:t>Exemplo de Inserção</a:t>
            </a:r>
          </a:p>
        </p:txBody>
      </p:sp>
      <p:sp>
        <p:nvSpPr>
          <p:cNvPr id="5" name="CaixaDeTexto 4">
            <a:extLst>
              <a:ext uri="{FF2B5EF4-FFF2-40B4-BE49-F238E27FC236}">
                <a16:creationId xmlns:a16="http://schemas.microsoft.com/office/drawing/2014/main" id="{CB5F15F4-734C-3071-A163-50C9A0866414}"/>
              </a:ext>
            </a:extLst>
          </p:cNvPr>
          <p:cNvSpPr txBox="1"/>
          <p:nvPr/>
        </p:nvSpPr>
        <p:spPr>
          <a:xfrm>
            <a:off x="2089030" y="2300249"/>
            <a:ext cx="8013939" cy="4031873"/>
          </a:xfrm>
          <a:prstGeom prst="rect">
            <a:avLst/>
          </a:prstGeom>
          <a:noFill/>
        </p:spPr>
        <p:txBody>
          <a:bodyPr wrap="square">
            <a:spAutoFit/>
          </a:bodyPr>
          <a:lstStyle/>
          <a:p>
            <a:r>
              <a:rPr lang="pt-BR" sz="1600" b="1" dirty="0" err="1">
                <a:solidFill>
                  <a:schemeClr val="accent1">
                    <a:lumMod val="75000"/>
                  </a:schemeClr>
                </a:solidFill>
              </a:rPr>
              <a:t>public</a:t>
            </a:r>
            <a:r>
              <a:rPr lang="pt-BR" sz="1600" b="1" dirty="0"/>
              <a:t> </a:t>
            </a:r>
            <a:r>
              <a:rPr lang="pt-BR" sz="1600" b="1" dirty="0" err="1">
                <a:solidFill>
                  <a:schemeClr val="accent1">
                    <a:lumMod val="75000"/>
                  </a:schemeClr>
                </a:solidFill>
              </a:rPr>
              <a:t>void</a:t>
            </a:r>
            <a:r>
              <a:rPr lang="pt-BR" sz="1600" b="1" dirty="0"/>
              <a:t> </a:t>
            </a:r>
            <a:r>
              <a:rPr lang="pt-BR" sz="1600" b="1" dirty="0" err="1">
                <a:solidFill>
                  <a:srgbClr val="FF0000"/>
                </a:solidFill>
              </a:rPr>
              <a:t>inserirCliente</a:t>
            </a:r>
            <a:r>
              <a:rPr lang="pt-BR" sz="1600" b="1" dirty="0"/>
              <a:t>(</a:t>
            </a:r>
            <a:r>
              <a:rPr lang="pt-BR" sz="1600" b="1" dirty="0" err="1">
                <a:solidFill>
                  <a:schemeClr val="accent1">
                    <a:lumMod val="75000"/>
                  </a:schemeClr>
                </a:solidFill>
              </a:rPr>
              <a:t>String</a:t>
            </a:r>
            <a:r>
              <a:rPr lang="pt-BR" sz="1600" b="1" dirty="0"/>
              <a:t> nome, </a:t>
            </a:r>
            <a:r>
              <a:rPr lang="pt-BR" sz="1600" b="1" dirty="0" err="1">
                <a:solidFill>
                  <a:schemeClr val="accent1">
                    <a:lumMod val="75000"/>
                  </a:schemeClr>
                </a:solidFill>
              </a:rPr>
              <a:t>int</a:t>
            </a:r>
            <a:r>
              <a:rPr lang="pt-BR" sz="1600" b="1" dirty="0"/>
              <a:t> idade) {</a:t>
            </a:r>
            <a:br>
              <a:rPr lang="pt-BR" sz="1600" b="1" dirty="0"/>
            </a:br>
            <a:r>
              <a:rPr lang="pt-BR" sz="1600" b="1" dirty="0"/>
              <a:t>	</a:t>
            </a:r>
            <a:r>
              <a:rPr lang="pt-BR" sz="1600" b="1" dirty="0" err="1">
                <a:solidFill>
                  <a:srgbClr val="FF0000"/>
                </a:solidFill>
              </a:rPr>
              <a:t>String</a:t>
            </a:r>
            <a:r>
              <a:rPr lang="pt-BR" sz="1600" b="1" dirty="0"/>
              <a:t> </a:t>
            </a:r>
            <a:r>
              <a:rPr lang="pt-BR" sz="1600" b="1" dirty="0" err="1"/>
              <a:t>sql</a:t>
            </a:r>
            <a:r>
              <a:rPr lang="pt-BR" sz="1600" b="1" dirty="0"/>
              <a:t> = </a:t>
            </a:r>
            <a:r>
              <a:rPr lang="pt-BR" sz="1600" b="1" dirty="0">
                <a:solidFill>
                  <a:schemeClr val="accent6">
                    <a:lumMod val="75000"/>
                  </a:schemeClr>
                </a:solidFill>
              </a:rPr>
              <a:t>"INSERT INTO cliente (nome, idade) VALUES (?, ?)"</a:t>
            </a:r>
            <a:r>
              <a:rPr lang="pt-BR" sz="1600" b="1" dirty="0"/>
              <a:t>;</a:t>
            </a:r>
            <a:br>
              <a:rPr lang="pt-BR" sz="1600" b="1" dirty="0"/>
            </a:br>
            <a:br>
              <a:rPr lang="pt-BR" sz="1600" b="1" dirty="0"/>
            </a:br>
            <a:r>
              <a:rPr lang="pt-BR" sz="1600" b="1" dirty="0"/>
              <a:t>    	</a:t>
            </a:r>
            <a:r>
              <a:rPr lang="pt-BR" sz="1600" b="1" dirty="0" err="1">
                <a:solidFill>
                  <a:schemeClr val="accent1">
                    <a:lumMod val="75000"/>
                  </a:schemeClr>
                </a:solidFill>
              </a:rPr>
              <a:t>try</a:t>
            </a:r>
            <a:r>
              <a:rPr lang="pt-BR" sz="1600" b="1" dirty="0"/>
              <a:t> (</a:t>
            </a:r>
            <a:r>
              <a:rPr lang="pt-BR" sz="1600" b="1" dirty="0" err="1">
                <a:solidFill>
                  <a:srgbClr val="FF0000"/>
                </a:solidFill>
              </a:rPr>
              <a:t>PreparedStatement</a:t>
            </a:r>
            <a:r>
              <a:rPr lang="pt-BR" sz="1600" b="1" dirty="0"/>
              <a:t> </a:t>
            </a:r>
            <a:r>
              <a:rPr lang="pt-BR" sz="1600" b="1" dirty="0" err="1"/>
              <a:t>stmt</a:t>
            </a:r>
            <a:r>
              <a:rPr lang="pt-BR" sz="1600" b="1" dirty="0"/>
              <a:t> = </a:t>
            </a:r>
            <a:r>
              <a:rPr lang="pt-BR" sz="1600" b="1" dirty="0" err="1">
                <a:solidFill>
                  <a:srgbClr val="FF0000"/>
                </a:solidFill>
              </a:rPr>
              <a:t>ConexaoDB</a:t>
            </a:r>
            <a:r>
              <a:rPr lang="pt-BR" sz="1600" b="1" dirty="0"/>
              <a:t>.</a:t>
            </a:r>
            <a:r>
              <a:rPr lang="pt-BR" sz="1600" b="1" dirty="0">
                <a:solidFill>
                  <a:srgbClr val="FF0000"/>
                </a:solidFill>
              </a:rPr>
              <a:t> conectar</a:t>
            </a:r>
            <a:r>
              <a:rPr lang="pt-BR" sz="1600" b="1" dirty="0"/>
              <a:t>().</a:t>
            </a:r>
            <a:r>
              <a:rPr lang="pt-BR" sz="1600" b="1" dirty="0" err="1">
                <a:solidFill>
                  <a:srgbClr val="FF0000"/>
                </a:solidFill>
              </a:rPr>
              <a:t>prepareStatement</a:t>
            </a:r>
            <a:r>
              <a:rPr lang="pt-BR" sz="1600" b="1" dirty="0"/>
              <a:t>(</a:t>
            </a:r>
            <a:r>
              <a:rPr lang="pt-BR" sz="1600" b="1" dirty="0" err="1"/>
              <a:t>sql</a:t>
            </a:r>
            <a:r>
              <a:rPr lang="pt-BR" sz="1600" b="1" dirty="0"/>
              <a:t>)) {</a:t>
            </a:r>
            <a:br>
              <a:rPr lang="pt-BR" sz="1600" b="1" dirty="0"/>
            </a:br>
            <a:br>
              <a:rPr lang="pt-BR" sz="1600" b="1" dirty="0"/>
            </a:br>
            <a:r>
              <a:rPr lang="pt-BR" sz="1600" b="1" dirty="0"/>
              <a:t>       		</a:t>
            </a:r>
            <a:r>
              <a:rPr lang="pt-BR" sz="1600" b="1" dirty="0" err="1"/>
              <a:t>stmt.</a:t>
            </a:r>
            <a:r>
              <a:rPr lang="pt-BR" sz="1600" b="1" dirty="0" err="1">
                <a:solidFill>
                  <a:srgbClr val="FF0000"/>
                </a:solidFill>
              </a:rPr>
              <a:t>setString</a:t>
            </a:r>
            <a:r>
              <a:rPr lang="pt-BR" sz="1600" b="1" dirty="0"/>
              <a:t>(1, </a:t>
            </a:r>
            <a:r>
              <a:rPr lang="pt-BR" sz="1600" b="1" dirty="0">
                <a:solidFill>
                  <a:schemeClr val="accent1">
                    <a:lumMod val="75000"/>
                  </a:schemeClr>
                </a:solidFill>
              </a:rPr>
              <a:t>nome</a:t>
            </a:r>
            <a:r>
              <a:rPr lang="pt-BR" sz="1600" b="1" dirty="0"/>
              <a:t>);</a:t>
            </a:r>
            <a:br>
              <a:rPr lang="pt-BR" sz="1600" b="1" dirty="0"/>
            </a:br>
            <a:r>
              <a:rPr lang="pt-BR" sz="1600" b="1" dirty="0"/>
              <a:t>        		</a:t>
            </a:r>
            <a:r>
              <a:rPr lang="pt-BR" sz="1600" b="1" dirty="0" err="1"/>
              <a:t>stmt.</a:t>
            </a:r>
            <a:r>
              <a:rPr lang="pt-BR" sz="1600" b="1" dirty="0" err="1">
                <a:solidFill>
                  <a:srgbClr val="FF0000"/>
                </a:solidFill>
              </a:rPr>
              <a:t>setInt</a:t>
            </a:r>
            <a:r>
              <a:rPr lang="pt-BR" sz="1600" b="1" dirty="0"/>
              <a:t>(2, </a:t>
            </a:r>
            <a:r>
              <a:rPr lang="pt-BR" sz="1600" b="1" dirty="0">
                <a:solidFill>
                  <a:schemeClr val="accent1">
                    <a:lumMod val="75000"/>
                  </a:schemeClr>
                </a:solidFill>
              </a:rPr>
              <a:t>idade</a:t>
            </a:r>
            <a:r>
              <a:rPr lang="pt-BR" sz="1600" b="1" dirty="0"/>
              <a:t>);</a:t>
            </a:r>
            <a:br>
              <a:rPr lang="pt-BR" sz="1600" b="1" dirty="0"/>
            </a:br>
            <a:br>
              <a:rPr lang="pt-BR" sz="1600" b="1" dirty="0"/>
            </a:br>
            <a:r>
              <a:rPr lang="pt-BR" sz="1600" b="1" dirty="0"/>
              <a:t>        		</a:t>
            </a:r>
            <a:r>
              <a:rPr lang="pt-BR" sz="1600" b="1" dirty="0" err="1"/>
              <a:t>stmt.</a:t>
            </a:r>
            <a:r>
              <a:rPr lang="pt-BR" sz="1600" b="1" dirty="0" err="1">
                <a:solidFill>
                  <a:srgbClr val="FF0000"/>
                </a:solidFill>
              </a:rPr>
              <a:t>executeUpdate</a:t>
            </a:r>
            <a:r>
              <a:rPr lang="pt-BR" sz="1600" b="1" dirty="0"/>
              <a:t>();</a:t>
            </a:r>
            <a:br>
              <a:rPr lang="pt-BR" sz="1600" b="1" dirty="0"/>
            </a:br>
            <a:br>
              <a:rPr lang="pt-BR" sz="1600" b="1" dirty="0"/>
            </a:br>
            <a:r>
              <a:rPr lang="pt-BR" sz="1600" b="1" dirty="0"/>
              <a:t>        		</a:t>
            </a:r>
            <a:r>
              <a:rPr lang="pt-BR" sz="1600" b="1" dirty="0" err="1"/>
              <a:t>System.out.println</a:t>
            </a:r>
            <a:r>
              <a:rPr lang="pt-BR" sz="1600" b="1" dirty="0"/>
              <a:t>("Cliente inserido com sucesso!");</a:t>
            </a:r>
            <a:br>
              <a:rPr lang="pt-BR" sz="1600" b="1" dirty="0"/>
            </a:br>
            <a:br>
              <a:rPr lang="pt-BR" sz="1600" b="1" dirty="0"/>
            </a:br>
            <a:r>
              <a:rPr lang="pt-BR" sz="1600" b="1" dirty="0"/>
              <a:t>    	} catch (</a:t>
            </a:r>
            <a:r>
              <a:rPr lang="pt-BR" sz="1600" b="1" dirty="0" err="1">
                <a:solidFill>
                  <a:srgbClr val="FF0000"/>
                </a:solidFill>
              </a:rPr>
              <a:t>SQLException</a:t>
            </a:r>
            <a:r>
              <a:rPr lang="pt-BR" sz="1600" b="1" dirty="0"/>
              <a:t> e) {</a:t>
            </a:r>
            <a:br>
              <a:rPr lang="pt-BR" sz="1600" b="1" dirty="0"/>
            </a:br>
            <a:r>
              <a:rPr lang="pt-BR" sz="1600" b="1" dirty="0"/>
              <a:t>        		</a:t>
            </a:r>
            <a:r>
              <a:rPr lang="pt-BR" sz="1600" b="1" dirty="0" err="1"/>
              <a:t>e.printStackTrace</a:t>
            </a:r>
            <a:r>
              <a:rPr lang="pt-BR" sz="1600" b="1" dirty="0"/>
              <a:t>();</a:t>
            </a:r>
            <a:br>
              <a:rPr lang="pt-BR" sz="1600" b="1" dirty="0"/>
            </a:br>
            <a:r>
              <a:rPr lang="pt-BR" sz="1600" b="1" dirty="0"/>
              <a:t>    	}</a:t>
            </a:r>
            <a:br>
              <a:rPr lang="pt-BR" sz="1600" b="1" dirty="0"/>
            </a:br>
            <a:r>
              <a:rPr lang="pt-BR" sz="1600" b="1" dirty="0"/>
              <a:t>}</a:t>
            </a:r>
          </a:p>
        </p:txBody>
      </p:sp>
    </p:spTree>
    <p:extLst>
      <p:ext uri="{BB962C8B-B14F-4D97-AF65-F5344CB8AC3E}">
        <p14:creationId xmlns:p14="http://schemas.microsoft.com/office/powerpoint/2010/main" val="23184241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8E1CDE-24CA-99BF-191F-FF2E4D1F900A}"/>
              </a:ext>
            </a:extLst>
          </p:cNvPr>
          <p:cNvSpPr>
            <a:spLocks noGrp="1"/>
          </p:cNvSpPr>
          <p:nvPr>
            <p:ph type="title"/>
          </p:nvPr>
        </p:nvSpPr>
        <p:spPr/>
        <p:txBody>
          <a:bodyPr/>
          <a:lstStyle/>
          <a:p>
            <a:r>
              <a:rPr lang="pt-BR" dirty="0"/>
              <a:t>Java </a:t>
            </a:r>
            <a:r>
              <a:rPr lang="pt-BR" dirty="0" err="1"/>
              <a:t>Persistence</a:t>
            </a:r>
            <a:r>
              <a:rPr lang="pt-BR" dirty="0"/>
              <a:t> API  (JPA) </a:t>
            </a:r>
          </a:p>
        </p:txBody>
      </p:sp>
      <p:sp>
        <p:nvSpPr>
          <p:cNvPr id="3" name="Espaço Reservado para Conteúdo 2">
            <a:extLst>
              <a:ext uri="{FF2B5EF4-FFF2-40B4-BE49-F238E27FC236}">
                <a16:creationId xmlns:a16="http://schemas.microsoft.com/office/drawing/2014/main" id="{3B19BF60-E7E2-3222-3F03-B09FC022354F}"/>
              </a:ext>
            </a:extLst>
          </p:cNvPr>
          <p:cNvSpPr>
            <a:spLocks noGrp="1"/>
          </p:cNvSpPr>
          <p:nvPr>
            <p:ph idx="1"/>
          </p:nvPr>
        </p:nvSpPr>
        <p:spPr>
          <a:xfrm>
            <a:off x="592347" y="1706653"/>
            <a:ext cx="11007306" cy="1476495"/>
          </a:xfrm>
        </p:spPr>
        <p:txBody>
          <a:bodyPr/>
          <a:lstStyle/>
          <a:p>
            <a:pPr algn="just"/>
            <a:r>
              <a:rPr lang="pt-BR" sz="1600" dirty="0"/>
              <a:t>O </a:t>
            </a:r>
            <a:r>
              <a:rPr lang="pt-BR" sz="1600" b="1" dirty="0"/>
              <a:t>JPA</a:t>
            </a:r>
            <a:r>
              <a:rPr lang="pt-BR" sz="1600" dirty="0"/>
              <a:t> é uma especificação do Java que define uma forma mais simples de trabalhar com banco de dados usando programação orientada a objetos. Ele permite mapear classes Java para tabelas por meio de anotações e realizar operações como criar, buscar, atualizar e deletar dados sem escrever SQL diretamente.</a:t>
            </a:r>
          </a:p>
        </p:txBody>
      </p:sp>
      <p:sp>
        <p:nvSpPr>
          <p:cNvPr id="5" name="CaixaDeTexto 4">
            <a:extLst>
              <a:ext uri="{FF2B5EF4-FFF2-40B4-BE49-F238E27FC236}">
                <a16:creationId xmlns:a16="http://schemas.microsoft.com/office/drawing/2014/main" id="{C2173E86-F5B8-343D-9378-3EFAA22DF5D6}"/>
              </a:ext>
            </a:extLst>
          </p:cNvPr>
          <p:cNvSpPr txBox="1"/>
          <p:nvPr/>
        </p:nvSpPr>
        <p:spPr>
          <a:xfrm>
            <a:off x="2901710" y="3418257"/>
            <a:ext cx="6388579" cy="2585323"/>
          </a:xfrm>
          <a:prstGeom prst="rect">
            <a:avLst/>
          </a:prstGeom>
          <a:noFill/>
        </p:spPr>
        <p:txBody>
          <a:bodyPr wrap="square">
            <a:spAutoFit/>
          </a:bodyPr>
          <a:lstStyle/>
          <a:p>
            <a:r>
              <a:rPr lang="pt-BR" sz="1600" b="1" dirty="0">
                <a:solidFill>
                  <a:schemeClr val="accent3">
                    <a:lumMod val="50000"/>
                  </a:schemeClr>
                </a:solidFill>
                <a:latin typeface="Calibri "/>
              </a:rPr>
              <a:t>@Table</a:t>
            </a:r>
            <a:r>
              <a:rPr lang="pt-BR" sz="1600" b="1" dirty="0">
                <a:latin typeface="Calibri "/>
              </a:rPr>
              <a:t>(name = </a:t>
            </a:r>
            <a:r>
              <a:rPr lang="pt-BR" sz="1600" b="1" dirty="0">
                <a:solidFill>
                  <a:schemeClr val="accent6">
                    <a:lumMod val="75000"/>
                  </a:schemeClr>
                </a:solidFill>
              </a:rPr>
              <a:t>"pagamento"</a:t>
            </a:r>
            <a:r>
              <a:rPr lang="pt-BR" sz="1600" b="1" dirty="0">
                <a:latin typeface="Calibri "/>
              </a:rPr>
              <a:t>) </a:t>
            </a:r>
          </a:p>
          <a:p>
            <a:r>
              <a:rPr lang="pt-BR" sz="1600" b="1" dirty="0">
                <a:solidFill>
                  <a:schemeClr val="accent3">
                    <a:lumMod val="50000"/>
                  </a:schemeClr>
                </a:solidFill>
                <a:latin typeface="Calibri "/>
              </a:rPr>
              <a:t>@Entity</a:t>
            </a:r>
            <a:r>
              <a:rPr lang="pt-BR" sz="1600" b="1" dirty="0">
                <a:latin typeface="Calibri "/>
              </a:rPr>
              <a:t>(name = </a:t>
            </a:r>
            <a:r>
              <a:rPr lang="pt-BR" sz="1600" b="1" dirty="0">
                <a:solidFill>
                  <a:schemeClr val="accent6">
                    <a:lumMod val="75000"/>
                  </a:schemeClr>
                </a:solidFill>
              </a:rPr>
              <a:t>"Pagamento"</a:t>
            </a:r>
            <a:r>
              <a:rPr lang="pt-BR" sz="1600" b="1" dirty="0">
                <a:latin typeface="Calibri "/>
              </a:rPr>
              <a:t>)</a:t>
            </a:r>
          </a:p>
          <a:p>
            <a:endParaRPr lang="pt-BR" sz="1600" b="1" dirty="0">
              <a:latin typeface="Calibri "/>
            </a:endParaRPr>
          </a:p>
          <a:p>
            <a:r>
              <a:rPr lang="pt-BR" sz="1600" b="1" dirty="0" err="1">
                <a:solidFill>
                  <a:schemeClr val="accent1">
                    <a:lumMod val="75000"/>
                  </a:schemeClr>
                </a:solidFill>
              </a:rPr>
              <a:t>public</a:t>
            </a:r>
            <a:r>
              <a:rPr lang="pt-BR" sz="1600" b="1" dirty="0">
                <a:latin typeface="Calibri "/>
              </a:rPr>
              <a:t> </a:t>
            </a:r>
            <a:r>
              <a:rPr lang="pt-BR" sz="1600" b="1" dirty="0" err="1">
                <a:solidFill>
                  <a:schemeClr val="accent1">
                    <a:lumMod val="75000"/>
                  </a:schemeClr>
                </a:solidFill>
              </a:rPr>
              <a:t>class</a:t>
            </a:r>
            <a:r>
              <a:rPr lang="pt-BR" sz="1600" b="1" dirty="0">
                <a:latin typeface="Calibri "/>
              </a:rPr>
              <a:t> </a:t>
            </a:r>
            <a:r>
              <a:rPr lang="pt-BR" sz="1600" b="1" dirty="0">
                <a:solidFill>
                  <a:srgbClr val="FF0000"/>
                </a:solidFill>
              </a:rPr>
              <a:t>Pagamento</a:t>
            </a:r>
            <a:r>
              <a:rPr lang="pt-BR" sz="1600" b="1" dirty="0">
                <a:latin typeface="Calibri "/>
              </a:rPr>
              <a:t> { </a:t>
            </a:r>
          </a:p>
          <a:p>
            <a:r>
              <a:rPr lang="pt-BR" sz="1600" b="1" dirty="0">
                <a:latin typeface="Calibri "/>
              </a:rPr>
              <a:t>	</a:t>
            </a:r>
            <a:r>
              <a:rPr lang="pt-BR" sz="1600" b="1" dirty="0">
                <a:solidFill>
                  <a:schemeClr val="accent3">
                    <a:lumMod val="50000"/>
                  </a:schemeClr>
                </a:solidFill>
                <a:latin typeface="Calibri "/>
              </a:rPr>
              <a:t>@Id @GeneratedValue</a:t>
            </a:r>
            <a:r>
              <a:rPr lang="pt-BR" sz="1600" b="1" dirty="0">
                <a:latin typeface="Calibri "/>
              </a:rPr>
              <a:t>(strategy = </a:t>
            </a:r>
            <a:r>
              <a:rPr lang="pt-BR" sz="1600" b="1" dirty="0" err="1">
                <a:solidFill>
                  <a:srgbClr val="FF0000"/>
                </a:solidFill>
              </a:rPr>
              <a:t>GenerationType</a:t>
            </a:r>
            <a:r>
              <a:rPr lang="pt-BR" sz="1600" b="1" dirty="0" err="1">
                <a:latin typeface="Calibri "/>
              </a:rPr>
              <a:t>.IDENTITY</a:t>
            </a:r>
            <a:r>
              <a:rPr lang="pt-BR" sz="1600" b="1" dirty="0">
                <a:latin typeface="Calibri "/>
              </a:rPr>
              <a:t>) </a:t>
            </a:r>
          </a:p>
          <a:p>
            <a:r>
              <a:rPr lang="pt-BR" sz="1600" b="1" dirty="0">
                <a:latin typeface="Calibri "/>
              </a:rPr>
              <a:t>	</a:t>
            </a:r>
            <a:r>
              <a:rPr lang="pt-BR" sz="1600" b="1" dirty="0" err="1">
                <a:solidFill>
                  <a:schemeClr val="accent1">
                    <a:lumMod val="75000"/>
                  </a:schemeClr>
                </a:solidFill>
              </a:rPr>
              <a:t>private</a:t>
            </a:r>
            <a:r>
              <a:rPr lang="pt-BR" sz="1600" b="1" dirty="0">
                <a:latin typeface="Calibri "/>
              </a:rPr>
              <a:t> </a:t>
            </a:r>
            <a:r>
              <a:rPr lang="pt-BR" sz="1600" b="1" dirty="0" err="1">
                <a:solidFill>
                  <a:srgbClr val="FF0000"/>
                </a:solidFill>
              </a:rPr>
              <a:t>Long</a:t>
            </a:r>
            <a:r>
              <a:rPr lang="pt-BR" sz="1600" b="1" dirty="0">
                <a:latin typeface="Calibri "/>
              </a:rPr>
              <a:t> id;</a:t>
            </a:r>
          </a:p>
          <a:p>
            <a:r>
              <a:rPr lang="pt-BR" sz="1600" b="1" dirty="0">
                <a:latin typeface="Calibri "/>
              </a:rPr>
              <a:t>	</a:t>
            </a:r>
            <a:r>
              <a:rPr lang="pt-BR" sz="1600" b="1" dirty="0" err="1">
                <a:solidFill>
                  <a:schemeClr val="accent1">
                    <a:lumMod val="75000"/>
                  </a:schemeClr>
                </a:solidFill>
              </a:rPr>
              <a:t>private</a:t>
            </a:r>
            <a:r>
              <a:rPr lang="pt-BR" sz="1600" b="1" dirty="0">
                <a:latin typeface="Calibri "/>
              </a:rPr>
              <a:t> </a:t>
            </a:r>
            <a:r>
              <a:rPr lang="pt-BR" sz="1600" b="1" dirty="0" err="1">
                <a:solidFill>
                  <a:srgbClr val="FF0000"/>
                </a:solidFill>
              </a:rPr>
              <a:t>String</a:t>
            </a:r>
            <a:r>
              <a:rPr lang="pt-BR" sz="1600" b="1" dirty="0">
                <a:latin typeface="Calibri "/>
              </a:rPr>
              <a:t> </a:t>
            </a:r>
            <a:r>
              <a:rPr lang="pt-BR" sz="1600" b="1" dirty="0" err="1">
                <a:latin typeface="Calibri "/>
              </a:rPr>
              <a:t>nomeCliente</a:t>
            </a:r>
            <a:r>
              <a:rPr lang="pt-BR" sz="1600" b="1" dirty="0">
                <a:latin typeface="Calibri "/>
              </a:rPr>
              <a:t>; </a:t>
            </a:r>
          </a:p>
          <a:p>
            <a:r>
              <a:rPr lang="pt-BR" sz="1600" b="1" dirty="0">
                <a:latin typeface="Calibri "/>
              </a:rPr>
              <a:t>	</a:t>
            </a:r>
            <a:r>
              <a:rPr lang="pt-BR" sz="1600" b="1" dirty="0" err="1">
                <a:solidFill>
                  <a:schemeClr val="accent1">
                    <a:lumMod val="75000"/>
                  </a:schemeClr>
                </a:solidFill>
              </a:rPr>
              <a:t>private</a:t>
            </a:r>
            <a:r>
              <a:rPr lang="pt-BR" sz="1600" b="1" dirty="0">
                <a:latin typeface="Calibri "/>
              </a:rPr>
              <a:t> </a:t>
            </a:r>
            <a:r>
              <a:rPr lang="pt-BR" sz="1600" b="1" dirty="0" err="1">
                <a:solidFill>
                  <a:srgbClr val="FF0000"/>
                </a:solidFill>
              </a:rPr>
              <a:t>double</a:t>
            </a:r>
            <a:r>
              <a:rPr lang="pt-BR" sz="1600" b="1" dirty="0">
                <a:latin typeface="Calibri "/>
              </a:rPr>
              <a:t> valor; </a:t>
            </a:r>
          </a:p>
          <a:p>
            <a:r>
              <a:rPr lang="pt-BR" sz="1600" b="1" dirty="0">
                <a:latin typeface="Calibri "/>
              </a:rPr>
              <a:t>	</a:t>
            </a:r>
            <a:r>
              <a:rPr lang="pt-BR" sz="1600" b="1" dirty="0" err="1">
                <a:solidFill>
                  <a:schemeClr val="accent1">
                    <a:lumMod val="75000"/>
                  </a:schemeClr>
                </a:solidFill>
              </a:rPr>
              <a:t>private</a:t>
            </a:r>
            <a:r>
              <a:rPr lang="pt-BR" sz="1600" b="1" dirty="0">
                <a:latin typeface="Calibri "/>
              </a:rPr>
              <a:t> </a:t>
            </a:r>
            <a:r>
              <a:rPr lang="pt-BR" sz="1600" b="1" dirty="0" err="1">
                <a:solidFill>
                  <a:srgbClr val="FF0000"/>
                </a:solidFill>
              </a:rPr>
              <a:t>String</a:t>
            </a:r>
            <a:r>
              <a:rPr lang="pt-BR" sz="1600" b="1" dirty="0">
                <a:latin typeface="Calibri "/>
              </a:rPr>
              <a:t> </a:t>
            </a:r>
            <a:r>
              <a:rPr lang="pt-BR" sz="1600" b="1" dirty="0" err="1">
                <a:latin typeface="Calibri "/>
              </a:rPr>
              <a:t>descricao</a:t>
            </a:r>
            <a:r>
              <a:rPr lang="pt-BR" sz="1600" b="1" dirty="0">
                <a:latin typeface="Calibri "/>
              </a:rPr>
              <a:t>; </a:t>
            </a:r>
          </a:p>
          <a:p>
            <a:r>
              <a:rPr lang="pt-BR" sz="1600" b="1" dirty="0">
                <a:latin typeface="Calibri "/>
              </a:rPr>
              <a:t>}</a:t>
            </a:r>
          </a:p>
        </p:txBody>
      </p:sp>
    </p:spTree>
    <p:extLst>
      <p:ext uri="{BB962C8B-B14F-4D97-AF65-F5344CB8AC3E}">
        <p14:creationId xmlns:p14="http://schemas.microsoft.com/office/powerpoint/2010/main" val="7530627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DE04A2-D4E1-7083-06F9-AC4C689462C6}"/>
              </a:ext>
            </a:extLst>
          </p:cNvPr>
          <p:cNvSpPr>
            <a:spLocks noGrp="1"/>
          </p:cNvSpPr>
          <p:nvPr>
            <p:ph type="title"/>
          </p:nvPr>
        </p:nvSpPr>
        <p:spPr/>
        <p:txBody>
          <a:bodyPr/>
          <a:lstStyle/>
          <a:p>
            <a:r>
              <a:rPr lang="pt-BR" dirty="0"/>
              <a:t>Mapeamento campo a campo (JPA)</a:t>
            </a:r>
          </a:p>
        </p:txBody>
      </p:sp>
      <p:sp>
        <p:nvSpPr>
          <p:cNvPr id="3" name="Espaço Reservado para Conteúdo 2">
            <a:extLst>
              <a:ext uri="{FF2B5EF4-FFF2-40B4-BE49-F238E27FC236}">
                <a16:creationId xmlns:a16="http://schemas.microsoft.com/office/drawing/2014/main" id="{0D45D94E-2245-0DBA-EBF6-87C57C8EF776}"/>
              </a:ext>
            </a:extLst>
          </p:cNvPr>
          <p:cNvSpPr>
            <a:spLocks noGrp="1"/>
          </p:cNvSpPr>
          <p:nvPr>
            <p:ph idx="1"/>
          </p:nvPr>
        </p:nvSpPr>
        <p:spPr>
          <a:xfrm>
            <a:off x="592347" y="1844675"/>
            <a:ext cx="11007306" cy="1105559"/>
          </a:xfrm>
        </p:spPr>
        <p:txBody>
          <a:bodyPr/>
          <a:lstStyle/>
          <a:p>
            <a:pPr algn="just"/>
            <a:r>
              <a:rPr lang="pt-BR" dirty="0"/>
              <a:t>No </a:t>
            </a:r>
            <a:r>
              <a:rPr lang="pt-BR" b="1" dirty="0"/>
              <a:t>JPA</a:t>
            </a:r>
            <a:r>
              <a:rPr lang="pt-BR" dirty="0"/>
              <a:t>, os atributos da classe se tornam colunas no banco de dados, enquanto as anotações definem como esse mapeamento será feito.</a:t>
            </a:r>
          </a:p>
        </p:txBody>
      </p:sp>
      <p:pic>
        <p:nvPicPr>
          <p:cNvPr id="6" name="Imagem 5">
            <a:extLst>
              <a:ext uri="{FF2B5EF4-FFF2-40B4-BE49-F238E27FC236}">
                <a16:creationId xmlns:a16="http://schemas.microsoft.com/office/drawing/2014/main" id="{A7E638F6-2089-AA89-4EAA-914D2FE435C1}"/>
              </a:ext>
            </a:extLst>
          </p:cNvPr>
          <p:cNvPicPr>
            <a:picLocks noChangeAspect="1"/>
          </p:cNvPicPr>
          <p:nvPr/>
        </p:nvPicPr>
        <p:blipFill>
          <a:blip r:embed="rId2"/>
          <a:stretch>
            <a:fillRect/>
          </a:stretch>
        </p:blipFill>
        <p:spPr>
          <a:xfrm>
            <a:off x="1189347" y="3429000"/>
            <a:ext cx="9813305" cy="2220969"/>
          </a:xfrm>
          <a:prstGeom prst="rect">
            <a:avLst/>
          </a:prstGeom>
        </p:spPr>
      </p:pic>
    </p:spTree>
    <p:extLst>
      <p:ext uri="{BB962C8B-B14F-4D97-AF65-F5344CB8AC3E}">
        <p14:creationId xmlns:p14="http://schemas.microsoft.com/office/powerpoint/2010/main" val="10830758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D02215-FD71-5100-6FE7-78663DA934BD}"/>
              </a:ext>
            </a:extLst>
          </p:cNvPr>
          <p:cNvSpPr>
            <a:spLocks noGrp="1"/>
          </p:cNvSpPr>
          <p:nvPr>
            <p:ph type="title"/>
          </p:nvPr>
        </p:nvSpPr>
        <p:spPr/>
        <p:txBody>
          <a:bodyPr/>
          <a:lstStyle/>
          <a:p>
            <a:r>
              <a:rPr lang="pt-BR" dirty="0"/>
              <a:t>Mapeamento Objeto-Relacional (ORM)</a:t>
            </a:r>
          </a:p>
        </p:txBody>
      </p:sp>
      <p:sp>
        <p:nvSpPr>
          <p:cNvPr id="3" name="Espaço Reservado para Conteúdo 2">
            <a:extLst>
              <a:ext uri="{FF2B5EF4-FFF2-40B4-BE49-F238E27FC236}">
                <a16:creationId xmlns:a16="http://schemas.microsoft.com/office/drawing/2014/main" id="{A588E31D-1AD4-5B9E-DEE7-4B572B1B86D4}"/>
              </a:ext>
            </a:extLst>
          </p:cNvPr>
          <p:cNvSpPr>
            <a:spLocks noGrp="1"/>
          </p:cNvSpPr>
          <p:nvPr>
            <p:ph idx="1"/>
          </p:nvPr>
        </p:nvSpPr>
        <p:spPr>
          <a:xfrm>
            <a:off x="566947" y="2149476"/>
            <a:ext cx="5617953" cy="3333750"/>
          </a:xfrm>
        </p:spPr>
        <p:txBody>
          <a:bodyPr/>
          <a:lstStyle/>
          <a:p>
            <a:pPr algn="just">
              <a:spcBef>
                <a:spcPts val="0"/>
              </a:spcBef>
            </a:pPr>
            <a:r>
              <a:rPr lang="pt-BR" sz="1600" dirty="0"/>
              <a:t>O </a:t>
            </a:r>
            <a:r>
              <a:rPr lang="pt-BR" sz="1600" b="1" dirty="0"/>
              <a:t>ORM</a:t>
            </a:r>
            <a:r>
              <a:rPr lang="pt-BR" sz="1600" dirty="0"/>
              <a:t> (Mapeamento Objeto-Relacional) é um conceito que permite converter automaticamente objetos de uma aplicação em dados de um banco relacional, e vice-versa.</a:t>
            </a:r>
          </a:p>
          <a:p>
            <a:pPr algn="just">
              <a:spcBef>
                <a:spcPts val="0"/>
              </a:spcBef>
            </a:pPr>
            <a:r>
              <a:rPr lang="pt-BR" sz="1600" dirty="0"/>
              <a:t>Na prática, o ORM funciona como uma ponte entre dois mundos:</a:t>
            </a:r>
          </a:p>
          <a:p>
            <a:pPr marL="971550" lvl="1" indent="-285750" algn="just">
              <a:spcBef>
                <a:spcPts val="0"/>
              </a:spcBef>
            </a:pPr>
            <a:r>
              <a:rPr lang="pt-BR" dirty="0"/>
              <a:t>Programação orientada a objetos (Java) </a:t>
            </a:r>
          </a:p>
          <a:p>
            <a:pPr marL="971550" lvl="1" indent="-285750" algn="just">
              <a:spcBef>
                <a:spcPts val="0"/>
              </a:spcBef>
            </a:pPr>
            <a:r>
              <a:rPr lang="pt-BR" dirty="0"/>
              <a:t>Banco de dados relacional (tabelas) </a:t>
            </a:r>
          </a:p>
          <a:p>
            <a:endParaRPr lang="pt-BR" dirty="0"/>
          </a:p>
        </p:txBody>
      </p:sp>
      <p:pic>
        <p:nvPicPr>
          <p:cNvPr id="2050" name="Picture 2" descr="O que é mapeamento objeto relacional? (ORM) | by Geovane Feitosa Cavalcante  | Medium">
            <a:extLst>
              <a:ext uri="{FF2B5EF4-FFF2-40B4-BE49-F238E27FC236}">
                <a16:creationId xmlns:a16="http://schemas.microsoft.com/office/drawing/2014/main" id="{436A46A8-58D6-39E2-5C7F-40EA2E01F5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75" y="2703512"/>
            <a:ext cx="4286250" cy="3333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2874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ECBCCBB-0DA3-40F7-A2E3-91F024086772}"/>
              </a:ext>
            </a:extLst>
          </p:cNvPr>
          <p:cNvSpPr>
            <a:spLocks noGrp="1"/>
          </p:cNvSpPr>
          <p:nvPr>
            <p:ph type="title"/>
          </p:nvPr>
        </p:nvSpPr>
        <p:spPr/>
        <p:txBody>
          <a:bodyPr/>
          <a:lstStyle/>
          <a:p>
            <a:r>
              <a:rPr lang="pt-BR" dirty="0" err="1"/>
              <a:t>Hibernate</a:t>
            </a:r>
            <a:endParaRPr lang="pt-BR" dirty="0"/>
          </a:p>
        </p:txBody>
      </p:sp>
      <p:sp>
        <p:nvSpPr>
          <p:cNvPr id="3" name="Espaço Reservado para Conteúdo 2">
            <a:extLst>
              <a:ext uri="{FF2B5EF4-FFF2-40B4-BE49-F238E27FC236}">
                <a16:creationId xmlns:a16="http://schemas.microsoft.com/office/drawing/2014/main" id="{AC8AC8F7-5DAB-3D66-2C62-3FA5C281BEBE}"/>
              </a:ext>
            </a:extLst>
          </p:cNvPr>
          <p:cNvSpPr>
            <a:spLocks noGrp="1"/>
          </p:cNvSpPr>
          <p:nvPr>
            <p:ph idx="1"/>
          </p:nvPr>
        </p:nvSpPr>
        <p:spPr>
          <a:xfrm>
            <a:off x="592347" y="1844675"/>
            <a:ext cx="11007306" cy="1364351"/>
          </a:xfrm>
        </p:spPr>
        <p:txBody>
          <a:bodyPr/>
          <a:lstStyle/>
          <a:p>
            <a:pPr algn="just"/>
            <a:r>
              <a:rPr lang="pt-BR" sz="1600" dirty="0" err="1"/>
              <a:t>Hibernate</a:t>
            </a:r>
            <a:r>
              <a:rPr lang="pt-BR" sz="1600" dirty="0"/>
              <a:t> é um framework Java que implementa a JPA e funciona como um ORM, fazendo a ponte entre objetos Java e bancos de dados relacionais. Ele mapeia classes para tabelas automaticamente, eliminando a necessidade de escrever SQL manualmente. O resultado é um desenvolvimento mais produtivo, com menos código repetitivo e maior foco na lógica de negócio.</a:t>
            </a:r>
          </a:p>
        </p:txBody>
      </p:sp>
      <p:pic>
        <p:nvPicPr>
          <p:cNvPr id="8" name="Imagem 7">
            <a:extLst>
              <a:ext uri="{FF2B5EF4-FFF2-40B4-BE49-F238E27FC236}">
                <a16:creationId xmlns:a16="http://schemas.microsoft.com/office/drawing/2014/main" id="{6C410BB9-DDA3-52CE-E429-95EDE9AB8CF1}"/>
              </a:ext>
            </a:extLst>
          </p:cNvPr>
          <p:cNvPicPr>
            <a:picLocks noChangeAspect="1"/>
          </p:cNvPicPr>
          <p:nvPr/>
        </p:nvPicPr>
        <p:blipFill>
          <a:blip r:embed="rId2"/>
          <a:stretch>
            <a:fillRect/>
          </a:stretch>
        </p:blipFill>
        <p:spPr>
          <a:xfrm>
            <a:off x="2035252" y="3648975"/>
            <a:ext cx="8121496" cy="2354605"/>
          </a:xfrm>
          <a:prstGeom prst="rect">
            <a:avLst/>
          </a:prstGeom>
        </p:spPr>
      </p:pic>
    </p:spTree>
    <p:extLst>
      <p:ext uri="{BB962C8B-B14F-4D97-AF65-F5344CB8AC3E}">
        <p14:creationId xmlns:p14="http://schemas.microsoft.com/office/powerpoint/2010/main" val="1899750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D83856-0905-DFEC-AFB1-6A0FCD02336E}"/>
              </a:ext>
            </a:extLst>
          </p:cNvPr>
          <p:cNvSpPr>
            <a:spLocks noGrp="1"/>
          </p:cNvSpPr>
          <p:nvPr>
            <p:ph type="title"/>
          </p:nvPr>
        </p:nvSpPr>
        <p:spPr/>
        <p:txBody>
          <a:bodyPr/>
          <a:lstStyle/>
          <a:p>
            <a:r>
              <a:rPr lang="pt-BR" b="1" dirty="0"/>
              <a:t>Spring Data JPA</a:t>
            </a:r>
            <a:endParaRPr lang="pt-BR" dirty="0"/>
          </a:p>
        </p:txBody>
      </p:sp>
      <p:sp>
        <p:nvSpPr>
          <p:cNvPr id="3" name="Espaço Reservado para Conteúdo 2">
            <a:extLst>
              <a:ext uri="{FF2B5EF4-FFF2-40B4-BE49-F238E27FC236}">
                <a16:creationId xmlns:a16="http://schemas.microsoft.com/office/drawing/2014/main" id="{24C28200-4402-6C82-3760-EC6C69125E7A}"/>
              </a:ext>
            </a:extLst>
          </p:cNvPr>
          <p:cNvSpPr>
            <a:spLocks noGrp="1"/>
          </p:cNvSpPr>
          <p:nvPr>
            <p:ph idx="1"/>
          </p:nvPr>
        </p:nvSpPr>
        <p:spPr/>
        <p:txBody>
          <a:bodyPr/>
          <a:lstStyle/>
          <a:p>
            <a:pPr algn="just"/>
            <a:r>
              <a:rPr lang="pt-BR" sz="1600" b="1" dirty="0"/>
              <a:t>Spring Data JPA</a:t>
            </a:r>
            <a:r>
              <a:rPr lang="pt-BR" sz="1600" dirty="0"/>
              <a:t> é um dependência do ecossistema Spring que adiciona uma camada de abstração sobre o JPA, simplificando ainda mais o acesso a dados. Com ele, basta criar interfaces de repositório e o Spring gera automaticamente as implementações, eliminando código repetitivo. Os desenvolvedores podem definir consultas apenas pelo nome dos métodos, sem escrever SQL. Ele ainda se integra nativamente com outros recursos do Spring, como injeção de dependência, transações e segurança.</a:t>
            </a:r>
          </a:p>
          <a:p>
            <a:pPr marL="971550" lvl="1" indent="-285750" algn="just"/>
            <a:r>
              <a:rPr lang="pt-BR" sz="1400" dirty="0" err="1"/>
              <a:t>save</a:t>
            </a:r>
            <a:r>
              <a:rPr lang="pt-BR" sz="1400" dirty="0"/>
              <a:t>(</a:t>
            </a:r>
            <a:r>
              <a:rPr lang="pt-BR" sz="1400" dirty="0" err="1"/>
              <a:t>entity</a:t>
            </a:r>
            <a:r>
              <a:rPr lang="pt-BR" sz="1400" dirty="0"/>
              <a:t>) — salva ou atualiza uma entidade no banco. Se o objeto já possui ID, ele atualiza; se não possui, insere um novo registro.</a:t>
            </a:r>
          </a:p>
          <a:p>
            <a:pPr marL="971550" lvl="1" indent="-285750" algn="just"/>
            <a:r>
              <a:rPr lang="pt-BR" sz="1400" dirty="0" err="1"/>
              <a:t>findAll</a:t>
            </a:r>
            <a:r>
              <a:rPr lang="pt-BR" sz="1400" dirty="0"/>
              <a:t>() — retorna uma lista com todos os registros da tabela correspondente à entidade.</a:t>
            </a:r>
          </a:p>
          <a:p>
            <a:pPr marL="971550" lvl="1" indent="-285750" algn="just"/>
            <a:r>
              <a:rPr lang="pt-BR" sz="1400" dirty="0"/>
              <a:t>delete(</a:t>
            </a:r>
            <a:r>
              <a:rPr lang="pt-BR" sz="1400" dirty="0" err="1"/>
              <a:t>entity</a:t>
            </a:r>
            <a:r>
              <a:rPr lang="pt-BR" sz="1400" dirty="0"/>
              <a:t>) — remove do banco o objeto informado como parâmetro.</a:t>
            </a:r>
          </a:p>
        </p:txBody>
      </p:sp>
    </p:spTree>
    <p:extLst>
      <p:ext uri="{BB962C8B-B14F-4D97-AF65-F5344CB8AC3E}">
        <p14:creationId xmlns:p14="http://schemas.microsoft.com/office/powerpoint/2010/main" val="756386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B76ED-41D0-A370-2171-483F05B68CAE}"/>
              </a:ext>
            </a:extLst>
          </p:cNvPr>
          <p:cNvSpPr>
            <a:spLocks noGrp="1"/>
          </p:cNvSpPr>
          <p:nvPr>
            <p:ph type="title"/>
          </p:nvPr>
        </p:nvSpPr>
        <p:spPr/>
        <p:txBody>
          <a:bodyPr/>
          <a:lstStyle/>
          <a:p>
            <a:r>
              <a:rPr lang="pt-BR" dirty="0"/>
              <a:t>Veja a comparação:</a:t>
            </a:r>
          </a:p>
        </p:txBody>
      </p:sp>
      <p:sp>
        <p:nvSpPr>
          <p:cNvPr id="3" name="Espaço Reservado para Conteúdo 2">
            <a:extLst>
              <a:ext uri="{FF2B5EF4-FFF2-40B4-BE49-F238E27FC236}">
                <a16:creationId xmlns:a16="http://schemas.microsoft.com/office/drawing/2014/main" id="{9601DF90-B026-1BE3-CF82-AD53795FF6AE}"/>
              </a:ext>
            </a:extLst>
          </p:cNvPr>
          <p:cNvSpPr>
            <a:spLocks noGrp="1"/>
          </p:cNvSpPr>
          <p:nvPr>
            <p:ph idx="1"/>
          </p:nvPr>
        </p:nvSpPr>
        <p:spPr>
          <a:xfrm>
            <a:off x="592347" y="1844675"/>
            <a:ext cx="5204604" cy="4351338"/>
          </a:xfrm>
        </p:spPr>
        <p:txBody>
          <a:bodyPr/>
          <a:lstStyle/>
          <a:p>
            <a:r>
              <a:rPr lang="pt-BR" dirty="0"/>
              <a:t>Modelo Tradicional (SAVE)</a:t>
            </a:r>
          </a:p>
          <a:p>
            <a:r>
              <a:rPr lang="pt-BR" sz="1400" dirty="0" err="1"/>
              <a:t>String</a:t>
            </a:r>
            <a:r>
              <a:rPr lang="pt-BR" sz="1400" dirty="0"/>
              <a:t> </a:t>
            </a:r>
            <a:r>
              <a:rPr lang="pt-BR" sz="1400" dirty="0" err="1"/>
              <a:t>sql</a:t>
            </a:r>
            <a:r>
              <a:rPr lang="pt-BR" sz="1400" dirty="0"/>
              <a:t> = "INSERT INTO produtos (nome, </a:t>
            </a:r>
            <a:r>
              <a:rPr lang="pt-BR" sz="1400" dirty="0" err="1"/>
              <a:t>preco</a:t>
            </a:r>
            <a:r>
              <a:rPr lang="pt-BR" sz="1400" dirty="0"/>
              <a:t>) VALUES (?, ?)";</a:t>
            </a:r>
          </a:p>
          <a:p>
            <a:r>
              <a:rPr lang="pt-BR" sz="1400" dirty="0" err="1"/>
              <a:t>PreparedStatement</a:t>
            </a:r>
            <a:r>
              <a:rPr lang="pt-BR" sz="1400" dirty="0"/>
              <a:t> </a:t>
            </a:r>
            <a:r>
              <a:rPr lang="pt-BR" sz="1400" dirty="0" err="1"/>
              <a:t>ps</a:t>
            </a:r>
            <a:r>
              <a:rPr lang="pt-BR" sz="1400" dirty="0"/>
              <a:t> = </a:t>
            </a:r>
            <a:r>
              <a:rPr lang="pt-BR" sz="1400" dirty="0" err="1"/>
              <a:t>conn.prepareStatement</a:t>
            </a:r>
            <a:r>
              <a:rPr lang="pt-BR" sz="1400" dirty="0"/>
              <a:t>(</a:t>
            </a:r>
            <a:r>
              <a:rPr lang="pt-BR" sz="1400" dirty="0" err="1"/>
              <a:t>sql</a:t>
            </a:r>
            <a:r>
              <a:rPr lang="pt-BR" sz="1400" dirty="0"/>
              <a:t>);</a:t>
            </a:r>
          </a:p>
          <a:p>
            <a:r>
              <a:rPr lang="pt-BR" sz="1400" dirty="0" err="1"/>
              <a:t>ps.setString</a:t>
            </a:r>
            <a:r>
              <a:rPr lang="pt-BR" sz="1400" dirty="0"/>
              <a:t>(1, </a:t>
            </a:r>
            <a:r>
              <a:rPr lang="pt-BR" sz="1400" dirty="0" err="1"/>
              <a:t>produto.getNome</a:t>
            </a:r>
            <a:r>
              <a:rPr lang="pt-BR" sz="1400" dirty="0"/>
              <a:t>());</a:t>
            </a:r>
          </a:p>
          <a:p>
            <a:r>
              <a:rPr lang="pt-BR" sz="1400" dirty="0" err="1"/>
              <a:t>ps.setDouble</a:t>
            </a:r>
            <a:r>
              <a:rPr lang="pt-BR" sz="1400" dirty="0"/>
              <a:t>(2, </a:t>
            </a:r>
            <a:r>
              <a:rPr lang="pt-BR" sz="1400" dirty="0" err="1"/>
              <a:t>produto.getPreco</a:t>
            </a:r>
            <a:r>
              <a:rPr lang="pt-BR" sz="1400" dirty="0"/>
              <a:t>());</a:t>
            </a:r>
          </a:p>
          <a:p>
            <a:r>
              <a:rPr lang="pt-BR" sz="1400" dirty="0" err="1"/>
              <a:t>ps.executeUpdate</a:t>
            </a:r>
            <a:r>
              <a:rPr lang="pt-BR" sz="1400" dirty="0"/>
              <a:t>();</a:t>
            </a:r>
          </a:p>
          <a:p>
            <a:endParaRPr lang="pt-BR" dirty="0"/>
          </a:p>
        </p:txBody>
      </p:sp>
      <p:sp>
        <p:nvSpPr>
          <p:cNvPr id="4" name="Espaço Reservado para Conteúdo 2">
            <a:extLst>
              <a:ext uri="{FF2B5EF4-FFF2-40B4-BE49-F238E27FC236}">
                <a16:creationId xmlns:a16="http://schemas.microsoft.com/office/drawing/2014/main" id="{66E367BC-880D-07CC-26A0-E8997D36CBF5}"/>
              </a:ext>
            </a:extLst>
          </p:cNvPr>
          <p:cNvSpPr txBox="1">
            <a:spLocks/>
          </p:cNvSpPr>
          <p:nvPr/>
        </p:nvSpPr>
        <p:spPr>
          <a:xfrm>
            <a:off x="6737231" y="1844675"/>
            <a:ext cx="3959524" cy="4351338"/>
          </a:xfrm>
          <a:prstGeom prst="rect">
            <a:avLst/>
          </a:prstGeom>
        </p:spPr>
        <p:txBody>
          <a:bodyPr/>
          <a:lstStyle>
            <a:lvl1pPr marL="0" indent="0" algn="l" defTabSz="914400" rtl="0" eaLnBrk="1" latinLnBrk="0" hangingPunct="1">
              <a:lnSpc>
                <a:spcPct val="150000"/>
              </a:lnSpc>
              <a:spcBef>
                <a:spcPts val="1000"/>
              </a:spcBef>
              <a:buFont typeface="Arial" panose="020B0604020202020204" pitchFamily="34" charset="0"/>
              <a:buNone/>
              <a:defRPr sz="20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150000"/>
              </a:lnSpc>
              <a:spcBef>
                <a:spcPts val="500"/>
              </a:spcBef>
              <a:buFont typeface="Arial" panose="020B0604020202020204" pitchFamily="34" charset="0"/>
              <a:buChar char="•"/>
              <a:defRPr sz="16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150000"/>
              </a:lnSpc>
              <a:spcBef>
                <a:spcPts val="500"/>
              </a:spcBef>
              <a:buFont typeface="Arial" panose="020B0604020202020204" pitchFamily="34" charset="0"/>
              <a:buChar char="•"/>
              <a:defRPr sz="14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150000"/>
              </a:lnSpc>
              <a:spcBef>
                <a:spcPts val="500"/>
              </a:spcBef>
              <a:buFont typeface="Arial" panose="020B0604020202020204" pitchFamily="34" charset="0"/>
              <a:buChar char="•"/>
              <a:defRPr sz="12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150000"/>
              </a:lnSpc>
              <a:spcBef>
                <a:spcPts val="500"/>
              </a:spcBef>
              <a:buFont typeface="Arial" panose="020B0604020202020204" pitchFamily="34" charset="0"/>
              <a:buChar char="•"/>
              <a:defRPr sz="10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Spring Data JPA (SAVE)</a:t>
            </a:r>
            <a:br>
              <a:rPr lang="pt-BR" dirty="0"/>
            </a:br>
            <a:r>
              <a:rPr lang="pt-BR" dirty="0" err="1"/>
              <a:t>repository.save</a:t>
            </a:r>
            <a:r>
              <a:rPr lang="pt-BR" dirty="0"/>
              <a:t>(produto);</a:t>
            </a:r>
          </a:p>
          <a:p>
            <a:br>
              <a:rPr lang="pt-BR" dirty="0"/>
            </a:br>
            <a:endParaRPr lang="pt-BR" dirty="0"/>
          </a:p>
        </p:txBody>
      </p:sp>
    </p:spTree>
    <p:extLst>
      <p:ext uri="{BB962C8B-B14F-4D97-AF65-F5344CB8AC3E}">
        <p14:creationId xmlns:p14="http://schemas.microsoft.com/office/powerpoint/2010/main" val="14378971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9059E2-DEC4-3D33-2D9D-4F895C9D8139}"/>
              </a:ext>
            </a:extLst>
          </p:cNvPr>
          <p:cNvSpPr>
            <a:spLocks noGrp="1"/>
          </p:cNvSpPr>
          <p:nvPr>
            <p:ph type="title"/>
          </p:nvPr>
        </p:nvSpPr>
        <p:spPr/>
        <p:txBody>
          <a:bodyPr/>
          <a:lstStyle/>
          <a:p>
            <a:r>
              <a:rPr lang="pt-BR" dirty="0"/>
              <a:t>Conclusão</a:t>
            </a:r>
          </a:p>
        </p:txBody>
      </p:sp>
      <p:sp>
        <p:nvSpPr>
          <p:cNvPr id="3" name="Espaço Reservado para Conteúdo 2">
            <a:extLst>
              <a:ext uri="{FF2B5EF4-FFF2-40B4-BE49-F238E27FC236}">
                <a16:creationId xmlns:a16="http://schemas.microsoft.com/office/drawing/2014/main" id="{E62E4210-C0CB-EA50-5FA8-19B1D6AAD243}"/>
              </a:ext>
            </a:extLst>
          </p:cNvPr>
          <p:cNvSpPr>
            <a:spLocks noGrp="1"/>
          </p:cNvSpPr>
          <p:nvPr>
            <p:ph idx="1"/>
          </p:nvPr>
        </p:nvSpPr>
        <p:spPr/>
        <p:txBody>
          <a:bodyPr/>
          <a:lstStyle/>
          <a:p>
            <a:pPr algn="just"/>
            <a:r>
              <a:rPr lang="pt-BR" dirty="0"/>
              <a:t>JDBC é a API de baixo nível do Java para comunicação direta com bancos de dados. JPA é uma especificação que padroniza como a persistência de dados deve funcionar em Java. </a:t>
            </a:r>
            <a:r>
              <a:rPr lang="pt-BR" dirty="0" err="1"/>
              <a:t>Hibernate</a:t>
            </a:r>
            <a:r>
              <a:rPr lang="pt-BR" dirty="0"/>
              <a:t> é a implementação mais popular dessa especificação, eliminando a escrita manual de SQL. Já o Spring Data JPA vai um passo além, adicionando uma camada de abstração sobre o </a:t>
            </a:r>
            <a:r>
              <a:rPr lang="pt-BR" dirty="0" err="1"/>
              <a:t>Hibernate</a:t>
            </a:r>
            <a:r>
              <a:rPr lang="pt-BR" dirty="0"/>
              <a:t> que reduz ainda mais o código necessário, integrando tudo ao ecossistema Spring.</a:t>
            </a:r>
          </a:p>
        </p:txBody>
      </p:sp>
    </p:spTree>
    <p:extLst>
      <p:ext uri="{BB962C8B-B14F-4D97-AF65-F5344CB8AC3E}">
        <p14:creationId xmlns:p14="http://schemas.microsoft.com/office/powerpoint/2010/main" val="3910667920"/>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D762BEB9C470D64E830EA7F9B590A6AA" ma:contentTypeVersion="7" ma:contentTypeDescription="Crie um novo documento." ma:contentTypeScope="" ma:versionID="dcebd1e3abf24839b5fb00caea22d4dc">
  <xsd:schema xmlns:xsd="http://www.w3.org/2001/XMLSchema" xmlns:xs="http://www.w3.org/2001/XMLSchema" xmlns:p="http://schemas.microsoft.com/office/2006/metadata/properties" xmlns:ns2="9d524459-36f9-409a-ba1f-de753a0e6b68" targetNamespace="http://schemas.microsoft.com/office/2006/metadata/properties" ma:root="true" ma:fieldsID="3bbe5fb22fc39e85d0fd94c1b2fbc535" ns2:_="">
    <xsd:import namespace="9d524459-36f9-409a-ba1f-de753a0e6b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d524459-36f9-409a-ba1f-de753a0e6b6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BA82208-FFF8-4F32-9CA5-4822B26C310B}">
  <ds:schemaRefs>
    <ds:schemaRef ds:uri="http://schemas.microsoft.com/sharepoint/v3/contenttype/forms"/>
  </ds:schemaRefs>
</ds:datastoreItem>
</file>

<file path=customXml/itemProps2.xml><?xml version="1.0" encoding="utf-8"?>
<ds:datastoreItem xmlns:ds="http://schemas.openxmlformats.org/officeDocument/2006/customXml" ds:itemID="{44AA641E-A36E-40C4-ABAC-AE8B4CD4DD79}">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85B27902-4198-4F39-BE8E-25F0EA1A4EA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d524459-36f9-409a-ba1f-de753a0e6b6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832</TotalTime>
  <Words>819</Words>
  <Application>Microsoft Office PowerPoint</Application>
  <PresentationFormat>Widescreen</PresentationFormat>
  <Paragraphs>54</Paragraphs>
  <Slides>10</Slides>
  <Notes>0</Notes>
  <HiddenSlides>0</HiddenSlides>
  <MMClips>0</MMClips>
  <ScaleCrop>false</ScaleCrop>
  <HeadingPairs>
    <vt:vector size="6" baseType="variant">
      <vt:variant>
        <vt:lpstr>Fontes usadas</vt:lpstr>
      </vt:variant>
      <vt:variant>
        <vt:i4>4</vt:i4>
      </vt:variant>
      <vt:variant>
        <vt:lpstr>Tema</vt:lpstr>
      </vt:variant>
      <vt:variant>
        <vt:i4>1</vt:i4>
      </vt:variant>
      <vt:variant>
        <vt:lpstr>Títulos de slides</vt:lpstr>
      </vt:variant>
      <vt:variant>
        <vt:i4>10</vt:i4>
      </vt:variant>
    </vt:vector>
  </HeadingPairs>
  <TitlesOfParts>
    <vt:vector size="15" baseType="lpstr">
      <vt:lpstr>Arial</vt:lpstr>
      <vt:lpstr>Calibri</vt:lpstr>
      <vt:lpstr>Calibri </vt:lpstr>
      <vt:lpstr>Times New Roman</vt:lpstr>
      <vt:lpstr>Tema do Office</vt:lpstr>
      <vt:lpstr>Acesso a Banco de Dados em Java</vt:lpstr>
      <vt:lpstr>JDBC (Começo de tudo)</vt:lpstr>
      <vt:lpstr>Exemplo de Inserção</vt:lpstr>
      <vt:lpstr>Java Persistence API  (JPA) </vt:lpstr>
      <vt:lpstr>Mapeamento campo a campo (JPA)</vt:lpstr>
      <vt:lpstr>Mapeamento Objeto-Relacional (ORM)</vt:lpstr>
      <vt:lpstr>Hibernate</vt:lpstr>
      <vt:lpstr>Spring Data JPA</vt:lpstr>
      <vt:lpstr>Veja a comparação:</vt:lpstr>
      <vt:lpstr>Conclusão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Lucas Tadeu Monteiro Guedes Fernandes Salomao</dc:creator>
  <cp:lastModifiedBy>Ciro Tavares Mendes</cp:lastModifiedBy>
  <cp:revision>114</cp:revision>
  <dcterms:created xsi:type="dcterms:W3CDTF">2024-03-08T12:14:33Z</dcterms:created>
  <dcterms:modified xsi:type="dcterms:W3CDTF">2026-04-30T18:35:33Z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0x010100D762BEB9C470D64E830EA7F9B590A6AA</vt:lpwstr>
  </property>
</Properties>
</file>