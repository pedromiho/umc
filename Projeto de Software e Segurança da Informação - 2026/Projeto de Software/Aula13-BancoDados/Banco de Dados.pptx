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4"/>
  </p:sldMasterIdLst>
  <p:notesMasterIdLst>
    <p:notesMasterId r:id="rId12"/>
  </p:notesMasterIdLst>
  <p:handoutMasterIdLst>
    <p:handoutMasterId r:id="rId13"/>
  </p:handout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92A8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>
        <p:scale>
          <a:sx n="75" d="100"/>
          <a:sy n="75" d="100"/>
        </p:scale>
        <p:origin x="1950" y="85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3" d="100"/>
          <a:sy n="83" d="100"/>
        </p:scale>
        <p:origin x="3852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edro Henrique Miho de Souza" userId="S::pedrosouza@umc.br::3bc82412-f670-4b53-8c7d-8094f7642ee2" providerId="AD" clId="Web-{1236DFDE-05E3-2B6B-CF4B-F06BF9EBA303}"/>
    <pc:docChg chg="modSld">
      <pc:chgData name="Pedro Henrique Miho de Souza" userId="S::pedrosouza@umc.br::3bc82412-f670-4b53-8c7d-8094f7642ee2" providerId="AD" clId="Web-{1236DFDE-05E3-2B6B-CF4B-F06BF9EBA303}" dt="2026-02-10T11:21:01.316" v="3" actId="20577"/>
      <pc:docMkLst>
        <pc:docMk/>
      </pc:docMkLst>
      <pc:sldChg chg="modSp">
        <pc:chgData name="Pedro Henrique Miho de Souza" userId="S::pedrosouza@umc.br::3bc82412-f670-4b53-8c7d-8094f7642ee2" providerId="AD" clId="Web-{1236DFDE-05E3-2B6B-CF4B-F06BF9EBA303}" dt="2026-02-10T11:21:01.316" v="3" actId="20577"/>
        <pc:sldMkLst>
          <pc:docMk/>
          <pc:sldMk cId="4046982407" sldId="256"/>
        </pc:sldMkLst>
        <pc:spChg chg="mod">
          <ac:chgData name="Pedro Henrique Miho de Souza" userId="S::pedrosouza@umc.br::3bc82412-f670-4b53-8c7d-8094f7642ee2" providerId="AD" clId="Web-{1236DFDE-05E3-2B6B-CF4B-F06BF9EBA303}" dt="2026-02-10T11:20:54.940" v="2" actId="20577"/>
          <ac:spMkLst>
            <pc:docMk/>
            <pc:sldMk cId="4046982407" sldId="256"/>
            <ac:spMk id="2" creationId="{9B3B5C3A-A09A-4259-AF3D-EF5302F61C54}"/>
          </ac:spMkLst>
        </pc:spChg>
        <pc:spChg chg="mod">
          <ac:chgData name="Pedro Henrique Miho de Souza" userId="S::pedrosouza@umc.br::3bc82412-f670-4b53-8c7d-8094f7642ee2" providerId="AD" clId="Web-{1236DFDE-05E3-2B6B-CF4B-F06BF9EBA303}" dt="2026-02-10T11:21:01.316" v="3" actId="20577"/>
          <ac:spMkLst>
            <pc:docMk/>
            <pc:sldMk cId="4046982407" sldId="256"/>
            <ac:spMk id="3" creationId="{C4FF2C9F-673D-46AD-83CF-B874F96C37E6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C4EE8F0D-4C39-45F8-A86B-93ED1F9D17B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8AF67F67-5D71-4F4C-B62B-A94D0A480B6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28648D-752F-4D9E-8EC2-61293C3E9BC7}" type="datetimeFigureOut">
              <a:rPr lang="pt-BR" smtClean="0"/>
              <a:t>30/04/2026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4A044854-0830-44C0-9D0A-E43EA97F778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7798EFAA-FD92-4E85-A429-F363379A131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548D3A-3BA1-4F54-81A1-A8158414A37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234046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8C82C2-29AC-436A-BE1C-15EF34E1D3DC}" type="datetimeFigureOut">
              <a:rPr lang="pt-BR" smtClean="0"/>
              <a:t>30/04/2026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1B5CAF-5B6F-425A-AE44-DCAC1E915DB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575481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9F73EA-414C-4929-B3E7-AD122EFFBF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52931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37FCEED-3F66-43BC-8B20-36021361A3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60550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dirty="0"/>
              <a:t>Clique para editar o estilo do subtítulo Mestre</a:t>
            </a:r>
          </a:p>
        </p:txBody>
      </p:sp>
    </p:spTree>
    <p:extLst>
      <p:ext uri="{BB962C8B-B14F-4D97-AF65-F5344CB8AC3E}">
        <p14:creationId xmlns:p14="http://schemas.microsoft.com/office/powerpoint/2010/main" val="26395079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5DFB8E-AD99-4A2B-8BE2-ED878F9124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185" y="854420"/>
            <a:ext cx="9409981" cy="448573"/>
          </a:xfrm>
          <a:prstGeom prst="rect">
            <a:avLst/>
          </a:prstGeom>
        </p:spPr>
        <p:txBody>
          <a:bodyPr/>
          <a:lstStyle>
            <a:lvl1pPr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1BA61F7-989E-45C9-916D-42CE0B17B3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435133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lnSpc>
                <a:spcPct val="150000"/>
              </a:lnSpc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lnSpc>
                <a:spcPct val="150000"/>
              </a:lnSpc>
              <a:defRPr sz="140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lnSpc>
                <a:spcPct val="150000"/>
              </a:lnSpc>
              <a:defRPr sz="120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lnSpc>
                <a:spcPct val="150000"/>
              </a:lnSpc>
              <a:defRPr sz="1000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pt-BR" dirty="0"/>
              <a:t>Editar estilos de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29072721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440976-951F-48E1-9F65-E2E7237C08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3F09C38-83BA-4379-9DE9-B52DAEE2D6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801F2F7-E203-4170-8B06-E39E4EF61B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30/04/2026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E2FDAB5-81C4-491B-B1DB-3E7A63996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F87684E-F6A9-4B10-B6C6-98901C57A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226914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537CFC-895E-42D9-B850-249E3AA649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6E2EF1D-1141-40D7-BDED-690939FB81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8ECF165-5788-48F8-B64E-CAD147B1C6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21A5A9C-1616-4A2F-9897-2AA0D6A7B0E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30/04/2026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19E4B8E-0EE6-4C64-9500-F64ED0B84D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FE3A651-93A6-476E-86D8-9380EB079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180244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8013D5-4B61-49F1-B604-8019D708D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7207A11-9E53-4968-BFBB-FBA312D24C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E141C8A-81E9-4FD8-AF20-F5BD9DA313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CB1C8E84-38D3-49F5-9A51-7C0AF548DF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895D1BB-221B-469A-A06C-FD406B207A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EAA33C3-5B87-4019-8743-8F9C2F9830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30/04/2026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0BDA0B8-E9EF-4477-9209-5DEC09732C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FBCF0E10-CAD6-4E43-98B3-1AFB88B68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450592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F29988-C070-4222-8D96-E36CF17E19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420D39C8-444E-4546-80F5-D0180A75AF9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30/04/2026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61C134A4-BE1B-4962-9516-659CD4519D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CE7749A-36AE-46D1-BE46-BE0E2F45B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57533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E43BC826-C9FB-472E-956F-F80F0568AE2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30/04/2026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6E154652-AECB-47CC-A9CD-8426C4D1AC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7E24980-9E3E-413B-9621-9DCBCC5F48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337732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9EF455-B40C-43F1-B648-F6F57DD2C9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1570ACE-9666-4656-BDDD-596392FA70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FF34EE3-79AE-487D-B73B-1A408180A0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E5AF76A-9469-4EBF-8DAC-F6889FD7546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30/04/2026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B4ED122-B6B8-4D0E-98A8-D120579846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4136D5D-BD69-4CD2-A354-F8289DAAC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814922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87CECA-FA2C-4E5F-A052-5D5CBF0F75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920F7117-B346-47D7-9DBC-5BBD02B232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FDB8822-F4D3-4DE6-B130-D7308F116C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370F3C1-6276-4A5F-B650-8B2E8FB0633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30/04/2026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142CF32-D9DD-42DF-9B63-B3207D85D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2A81DD0-CB02-442E-A173-AFA500CC7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764785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DB2585-BC56-4839-AEEF-1B75486F23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28134"/>
            <a:ext cx="9392728" cy="491707"/>
          </a:xfrm>
          <a:prstGeom prst="rect">
            <a:avLst/>
          </a:prstGeom>
        </p:spPr>
        <p:txBody>
          <a:bodyPr/>
          <a:lstStyle>
            <a:lvl1pPr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19D1A810-2C5E-49EA-AAFC-FDC1AA5F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05287" y="1825624"/>
            <a:ext cx="10981426" cy="4618307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pt-BR" dirty="0"/>
              <a:t>Editar estilos de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38666024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EDB59BB-5636-42CF-B124-FAF3D7953F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3875309-BF17-4BAA-9583-FFA5CD6256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54D6C19-C741-47D2-A6CB-2906DBB9823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30/04/2026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AC129DE-944E-4128-9F49-76B5C1F4FB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20892AE-B301-431E-9D8C-F0BDAF576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659552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56E30110-E419-43DB-AEFA-3636065754B3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6762736"/>
            <a:ext cx="12192000" cy="95264"/>
          </a:xfrm>
          <a:prstGeom prst="rect">
            <a:avLst/>
          </a:prstGeom>
          <a:solidFill>
            <a:schemeClr val="bg1"/>
          </a:solidFill>
          <a:ln>
            <a:solidFill>
              <a:srgbClr val="292A86"/>
            </a:solidFill>
          </a:ln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4AAA702B-ED3B-45E1-8C71-1ACC187886AA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582422" y="635357"/>
            <a:ext cx="122428" cy="888712"/>
          </a:xfrm>
          <a:prstGeom prst="rect">
            <a:avLst/>
          </a:prstGeom>
          <a:solidFill>
            <a:srgbClr val="292A86"/>
          </a:solidFill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49B168A8-B937-4519-802D-8D1D90A0A0EA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0283716" y="719713"/>
            <a:ext cx="1273846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04958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3B5C3A-A09A-4259-AF3D-EF5302F61C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830731"/>
            <a:ext cx="9144000" cy="1776069"/>
          </a:xfrm>
        </p:spPr>
        <p:txBody>
          <a:bodyPr lIns="91440" tIns="45720" rIns="91440" bIns="45720" anchor="b"/>
          <a:lstStyle/>
          <a:p>
            <a:r>
              <a:rPr lang="pt-BR" sz="4400" dirty="0"/>
              <a:t>Acesso a Banco de Dados em Java</a:t>
            </a:r>
            <a:endParaRPr lang="pt-BR" sz="4400" dirty="0">
              <a:latin typeface="Times New Roman"/>
              <a:cs typeface="Times New Roman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4FF2C9F-673D-46AD-83CF-B874F96C37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27565"/>
            <a:ext cx="9144000" cy="1277503"/>
          </a:xfrm>
        </p:spPr>
        <p:txBody>
          <a:bodyPr lIns="91440" tIns="45720" rIns="91440" bIns="45720" anchor="t"/>
          <a:lstStyle/>
          <a:p>
            <a:r>
              <a:rPr lang="pt-BR" dirty="0">
                <a:latin typeface="Times New Roman"/>
                <a:cs typeface="Times New Roman"/>
              </a:rPr>
              <a:t>Prof. Esp. Pedro Miho</a:t>
            </a:r>
          </a:p>
        </p:txBody>
      </p:sp>
    </p:spTree>
    <p:extLst>
      <p:ext uri="{BB962C8B-B14F-4D97-AF65-F5344CB8AC3E}">
        <p14:creationId xmlns:p14="http://schemas.microsoft.com/office/powerpoint/2010/main" val="40469824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885730-8AEC-9FD8-8A19-7D93E5B2A7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JDBC (Começo de tudo)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CA2DDA8-BC34-D4F5-C02C-7BD46F08E4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652242"/>
            <a:ext cx="11007306" cy="1496400"/>
          </a:xfrm>
        </p:spPr>
        <p:txBody>
          <a:bodyPr/>
          <a:lstStyle/>
          <a:p>
            <a:pPr algn="just"/>
            <a:r>
              <a:rPr lang="pt-BR" sz="1600" dirty="0"/>
              <a:t>O JDBC é uma API do Java que permite conectar-se a bancos de dados relacionais e executar operações como consultar, inserir, atualizar e excluir dados utilizando SQL. Ele atua como uma camada de baixo nível, exigindo que o desenvolvedor gerencie manualmente conexões, consultas e resultados.</a:t>
            </a:r>
          </a:p>
          <a:p>
            <a:endParaRPr lang="pt-BR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BE64600D-AC27-F9EB-9386-5EB75E1D2E5E}"/>
              </a:ext>
            </a:extLst>
          </p:cNvPr>
          <p:cNvSpPr txBox="1"/>
          <p:nvPr/>
        </p:nvSpPr>
        <p:spPr>
          <a:xfrm>
            <a:off x="2739515" y="3588588"/>
            <a:ext cx="6712970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600" b="1" dirty="0" err="1">
                <a:solidFill>
                  <a:schemeClr val="accent1">
                    <a:lumMod val="75000"/>
                  </a:schemeClr>
                </a:solidFill>
              </a:rPr>
              <a:t>public</a:t>
            </a:r>
            <a:r>
              <a:rPr lang="pt-BR" sz="1600" b="1" dirty="0">
                <a:effectLst/>
              </a:rPr>
              <a:t> </a:t>
            </a:r>
            <a:r>
              <a:rPr lang="pt-BR" sz="1600" b="1" dirty="0" err="1">
                <a:solidFill>
                  <a:schemeClr val="accent1">
                    <a:lumMod val="75000"/>
                  </a:schemeClr>
                </a:solidFill>
              </a:rPr>
              <a:t>class</a:t>
            </a:r>
            <a:r>
              <a:rPr lang="pt-BR" sz="1600" b="1" dirty="0">
                <a:effectLst/>
              </a:rPr>
              <a:t> </a:t>
            </a:r>
            <a:r>
              <a:rPr lang="pt-BR" sz="1600" b="1" dirty="0" err="1">
                <a:solidFill>
                  <a:srgbClr val="FF0000"/>
                </a:solidFill>
                <a:effectLst/>
              </a:rPr>
              <a:t>ConexaoDB</a:t>
            </a:r>
            <a:r>
              <a:rPr lang="pt-BR" sz="1600" b="1" dirty="0">
                <a:effectLst/>
              </a:rPr>
              <a:t> { </a:t>
            </a:r>
          </a:p>
          <a:p>
            <a:endParaRPr lang="pt-BR" sz="1600" b="1" dirty="0">
              <a:effectLst/>
            </a:endParaRPr>
          </a:p>
          <a:p>
            <a:pPr indent="457200"/>
            <a:r>
              <a:rPr lang="pt-BR" sz="1600" b="1" dirty="0" err="1">
                <a:solidFill>
                  <a:schemeClr val="accent1">
                    <a:lumMod val="75000"/>
                  </a:schemeClr>
                </a:solidFill>
                <a:effectLst/>
              </a:rPr>
              <a:t>private</a:t>
            </a:r>
            <a:r>
              <a:rPr lang="pt-BR" sz="1600" b="1" dirty="0">
                <a:solidFill>
                  <a:schemeClr val="accent1">
                    <a:lumMod val="75000"/>
                  </a:schemeClr>
                </a:solidFill>
                <a:effectLst/>
              </a:rPr>
              <a:t> </a:t>
            </a:r>
            <a:r>
              <a:rPr lang="pt-BR" sz="1600" b="1" dirty="0" err="1">
                <a:solidFill>
                  <a:schemeClr val="accent1">
                    <a:lumMod val="75000"/>
                  </a:schemeClr>
                </a:solidFill>
                <a:effectLst/>
              </a:rPr>
              <a:t>static</a:t>
            </a:r>
            <a:r>
              <a:rPr lang="pt-BR" sz="1600" b="1" dirty="0">
                <a:solidFill>
                  <a:schemeClr val="accent1">
                    <a:lumMod val="75000"/>
                  </a:schemeClr>
                </a:solidFill>
                <a:effectLst/>
              </a:rPr>
              <a:t> final </a:t>
            </a:r>
            <a:r>
              <a:rPr lang="pt-BR" sz="1600" b="1" dirty="0" err="1">
                <a:solidFill>
                  <a:srgbClr val="FF0000"/>
                </a:solidFill>
              </a:rPr>
              <a:t>String</a:t>
            </a:r>
            <a:r>
              <a:rPr lang="pt-BR" sz="1600" b="1" dirty="0">
                <a:effectLst/>
              </a:rPr>
              <a:t> URL = </a:t>
            </a:r>
            <a:r>
              <a:rPr lang="pt-BR" sz="1600" b="1" dirty="0">
                <a:solidFill>
                  <a:schemeClr val="accent6">
                    <a:lumMod val="75000"/>
                  </a:schemeClr>
                </a:solidFill>
                <a:effectLst/>
              </a:rPr>
              <a:t>"</a:t>
            </a:r>
            <a:r>
              <a:rPr lang="pt-BR" sz="1600" b="1" dirty="0" err="1">
                <a:solidFill>
                  <a:schemeClr val="accent6">
                    <a:lumMod val="75000"/>
                  </a:schemeClr>
                </a:solidFill>
                <a:effectLst/>
              </a:rPr>
              <a:t>jdbc:mysql</a:t>
            </a:r>
            <a:r>
              <a:rPr lang="pt-BR" sz="1600" b="1" dirty="0">
                <a:solidFill>
                  <a:schemeClr val="accent6">
                    <a:lumMod val="75000"/>
                  </a:schemeClr>
                </a:solidFill>
                <a:effectLst/>
              </a:rPr>
              <a:t>://localhost:3306/sistema"</a:t>
            </a:r>
            <a:r>
              <a:rPr lang="pt-BR" sz="1600" b="1" dirty="0">
                <a:effectLst/>
              </a:rPr>
              <a:t>;</a:t>
            </a:r>
          </a:p>
          <a:p>
            <a:pPr indent="457200"/>
            <a:r>
              <a:rPr lang="pt-BR" sz="1600" b="1" dirty="0">
                <a:effectLst/>
              </a:rPr>
              <a:t> </a:t>
            </a:r>
          </a:p>
          <a:p>
            <a:pPr indent="457200"/>
            <a:r>
              <a:rPr lang="pt-BR" sz="1600" b="1" dirty="0" err="1">
                <a:solidFill>
                  <a:schemeClr val="accent1">
                    <a:lumMod val="75000"/>
                  </a:schemeClr>
                </a:solidFill>
              </a:rPr>
              <a:t>private</a:t>
            </a:r>
            <a:r>
              <a:rPr lang="pt-BR" sz="1600" b="1" dirty="0">
                <a:effectLst/>
              </a:rPr>
              <a:t> </a:t>
            </a:r>
            <a:r>
              <a:rPr lang="pt-BR" sz="1600" b="1" dirty="0" err="1">
                <a:solidFill>
                  <a:schemeClr val="accent1">
                    <a:lumMod val="75000"/>
                  </a:schemeClr>
                </a:solidFill>
              </a:rPr>
              <a:t>static</a:t>
            </a:r>
            <a:r>
              <a:rPr lang="pt-BR" sz="1600" b="1" dirty="0">
                <a:effectLst/>
              </a:rPr>
              <a:t> </a:t>
            </a:r>
            <a:r>
              <a:rPr lang="pt-BR" sz="1600" b="1" dirty="0">
                <a:solidFill>
                  <a:schemeClr val="accent1">
                    <a:lumMod val="75000"/>
                  </a:schemeClr>
                </a:solidFill>
              </a:rPr>
              <a:t>final</a:t>
            </a:r>
            <a:r>
              <a:rPr lang="pt-BR" sz="1600" b="1" dirty="0">
                <a:effectLst/>
              </a:rPr>
              <a:t> </a:t>
            </a:r>
            <a:r>
              <a:rPr lang="pt-BR" sz="1600" b="1" dirty="0" err="1">
                <a:solidFill>
                  <a:srgbClr val="FF0000"/>
                </a:solidFill>
              </a:rPr>
              <a:t>String</a:t>
            </a:r>
            <a:r>
              <a:rPr lang="pt-BR" sz="1600" b="1" dirty="0">
                <a:effectLst/>
              </a:rPr>
              <a:t> USER = </a:t>
            </a:r>
            <a:r>
              <a:rPr lang="pt-BR" sz="1600" b="1" dirty="0">
                <a:solidFill>
                  <a:schemeClr val="accent6">
                    <a:lumMod val="75000"/>
                  </a:schemeClr>
                </a:solidFill>
              </a:rPr>
              <a:t>"root"</a:t>
            </a:r>
            <a:r>
              <a:rPr lang="pt-BR" sz="1600" b="1" dirty="0">
                <a:effectLst/>
              </a:rPr>
              <a:t>;</a:t>
            </a:r>
          </a:p>
          <a:p>
            <a:pPr indent="457200"/>
            <a:r>
              <a:rPr lang="pt-BR" sz="1600" b="1" dirty="0" err="1">
                <a:solidFill>
                  <a:schemeClr val="accent1">
                    <a:lumMod val="75000"/>
                  </a:schemeClr>
                </a:solidFill>
              </a:rPr>
              <a:t>private</a:t>
            </a:r>
            <a:r>
              <a:rPr lang="pt-BR" sz="1600" b="1" dirty="0">
                <a:effectLst/>
              </a:rPr>
              <a:t> </a:t>
            </a:r>
            <a:r>
              <a:rPr lang="pt-BR" sz="1600" b="1" dirty="0" err="1">
                <a:solidFill>
                  <a:schemeClr val="accent1">
                    <a:lumMod val="75000"/>
                  </a:schemeClr>
                </a:solidFill>
              </a:rPr>
              <a:t>static</a:t>
            </a:r>
            <a:r>
              <a:rPr lang="pt-BR" sz="1600" b="1" dirty="0">
                <a:effectLst/>
              </a:rPr>
              <a:t> </a:t>
            </a:r>
            <a:r>
              <a:rPr lang="pt-BR" sz="1600" b="1" dirty="0">
                <a:solidFill>
                  <a:schemeClr val="accent1">
                    <a:lumMod val="75000"/>
                  </a:schemeClr>
                </a:solidFill>
              </a:rPr>
              <a:t>final</a:t>
            </a:r>
            <a:r>
              <a:rPr lang="pt-BR" sz="1600" b="1" dirty="0">
                <a:effectLst/>
              </a:rPr>
              <a:t> </a:t>
            </a:r>
            <a:r>
              <a:rPr lang="pt-BR" sz="1600" b="1" dirty="0" err="1">
                <a:solidFill>
                  <a:srgbClr val="FF0000"/>
                </a:solidFill>
              </a:rPr>
              <a:t>String</a:t>
            </a:r>
            <a:r>
              <a:rPr lang="pt-BR" sz="1600" b="1" dirty="0">
                <a:effectLst/>
              </a:rPr>
              <a:t> PASSWORD = </a:t>
            </a:r>
            <a:r>
              <a:rPr lang="pt-BR" sz="1600" b="1" dirty="0">
                <a:solidFill>
                  <a:schemeClr val="accent6">
                    <a:lumMod val="75000"/>
                  </a:schemeClr>
                </a:solidFill>
              </a:rPr>
              <a:t>""</a:t>
            </a:r>
            <a:r>
              <a:rPr lang="pt-BR" sz="1600" b="1" dirty="0">
                <a:effectLst/>
              </a:rPr>
              <a:t>; </a:t>
            </a:r>
          </a:p>
          <a:p>
            <a:pPr indent="457200"/>
            <a:endParaRPr lang="pt-BR" sz="1600" b="1" dirty="0"/>
          </a:p>
          <a:p>
            <a:pPr indent="457200"/>
            <a:r>
              <a:rPr lang="pt-BR" sz="1600" b="1" dirty="0" err="1">
                <a:solidFill>
                  <a:schemeClr val="accent1">
                    <a:lumMod val="75000"/>
                  </a:schemeClr>
                </a:solidFill>
              </a:rPr>
              <a:t>public</a:t>
            </a:r>
            <a:r>
              <a:rPr lang="pt-BR" sz="1600" b="1" dirty="0">
                <a:effectLst/>
              </a:rPr>
              <a:t> </a:t>
            </a:r>
            <a:r>
              <a:rPr lang="pt-BR" sz="1600" b="1" dirty="0" err="1">
                <a:solidFill>
                  <a:schemeClr val="accent1">
                    <a:lumMod val="75000"/>
                  </a:schemeClr>
                </a:solidFill>
              </a:rPr>
              <a:t>static</a:t>
            </a:r>
            <a:r>
              <a:rPr lang="pt-BR" sz="1600" b="1" dirty="0">
                <a:effectLst/>
              </a:rPr>
              <a:t> </a:t>
            </a:r>
            <a:r>
              <a:rPr lang="pt-BR" sz="1600" b="1" dirty="0">
                <a:solidFill>
                  <a:srgbClr val="FF0000"/>
                </a:solidFill>
              </a:rPr>
              <a:t>Connection</a:t>
            </a:r>
            <a:r>
              <a:rPr lang="pt-BR" sz="1600" b="1" dirty="0">
                <a:effectLst/>
              </a:rPr>
              <a:t> </a:t>
            </a:r>
            <a:r>
              <a:rPr lang="pt-BR" sz="1600" b="1" dirty="0">
                <a:solidFill>
                  <a:srgbClr val="FF0000"/>
                </a:solidFill>
              </a:rPr>
              <a:t>conectar</a:t>
            </a:r>
            <a:r>
              <a:rPr lang="pt-BR" sz="1600" b="1" dirty="0">
                <a:effectLst/>
              </a:rPr>
              <a:t>() </a:t>
            </a:r>
            <a:r>
              <a:rPr lang="pt-BR" sz="1600" b="1" dirty="0" err="1">
                <a:solidFill>
                  <a:schemeClr val="accent1">
                    <a:lumMod val="75000"/>
                  </a:schemeClr>
                </a:solidFill>
              </a:rPr>
              <a:t>throws</a:t>
            </a:r>
            <a:r>
              <a:rPr lang="pt-BR" sz="1600" b="1" dirty="0">
                <a:effectLst/>
              </a:rPr>
              <a:t> </a:t>
            </a:r>
            <a:r>
              <a:rPr lang="pt-BR" sz="1600" b="1" dirty="0" err="1">
                <a:solidFill>
                  <a:srgbClr val="FF0000"/>
                </a:solidFill>
              </a:rPr>
              <a:t>SQLException</a:t>
            </a:r>
            <a:r>
              <a:rPr lang="pt-BR" sz="1600" b="1" dirty="0">
                <a:effectLst/>
              </a:rPr>
              <a:t> { </a:t>
            </a:r>
          </a:p>
          <a:p>
            <a:pPr lvl="1" indent="457200"/>
            <a:r>
              <a:rPr lang="pt-BR" sz="1600" b="1" dirty="0" err="1">
                <a:solidFill>
                  <a:schemeClr val="accent1">
                    <a:lumMod val="75000"/>
                  </a:schemeClr>
                </a:solidFill>
              </a:rPr>
              <a:t>return</a:t>
            </a:r>
            <a:r>
              <a:rPr lang="pt-BR" sz="1600" b="1" dirty="0">
                <a:effectLst/>
              </a:rPr>
              <a:t> </a:t>
            </a:r>
            <a:r>
              <a:rPr lang="pt-BR" sz="1600" b="1" dirty="0" err="1">
                <a:solidFill>
                  <a:srgbClr val="FF0000"/>
                </a:solidFill>
              </a:rPr>
              <a:t>DriverManager</a:t>
            </a:r>
            <a:r>
              <a:rPr lang="pt-BR" sz="1600" b="1" dirty="0" err="1">
                <a:effectLst/>
              </a:rPr>
              <a:t>.</a:t>
            </a:r>
            <a:r>
              <a:rPr lang="pt-BR" sz="1600" b="1" dirty="0" err="1">
                <a:solidFill>
                  <a:srgbClr val="FF0000"/>
                </a:solidFill>
              </a:rPr>
              <a:t>getConnection</a:t>
            </a:r>
            <a:r>
              <a:rPr lang="pt-BR" sz="1600" b="1" dirty="0">
                <a:effectLst/>
              </a:rPr>
              <a:t>(URL, USER, PASSWORD); </a:t>
            </a:r>
          </a:p>
          <a:p>
            <a:pPr indent="457200"/>
            <a:r>
              <a:rPr lang="pt-BR" sz="1600" b="1" dirty="0">
                <a:effectLst/>
              </a:rPr>
              <a:t>}</a:t>
            </a:r>
          </a:p>
          <a:p>
            <a:r>
              <a:rPr lang="pt-BR" sz="1600" b="1" dirty="0">
                <a:effectLst/>
              </a:rPr>
              <a:t>}</a:t>
            </a:r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11548961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7E43E8-A678-D3A2-24CE-A59DB56894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 de Inserção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CB5F15F4-734C-3071-A163-50C9A0866414}"/>
              </a:ext>
            </a:extLst>
          </p:cNvPr>
          <p:cNvSpPr txBox="1"/>
          <p:nvPr/>
        </p:nvSpPr>
        <p:spPr>
          <a:xfrm>
            <a:off x="2089030" y="2300249"/>
            <a:ext cx="8013939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600" b="1" dirty="0" err="1">
                <a:solidFill>
                  <a:schemeClr val="accent1">
                    <a:lumMod val="75000"/>
                  </a:schemeClr>
                </a:solidFill>
              </a:rPr>
              <a:t>public</a:t>
            </a:r>
            <a:r>
              <a:rPr lang="pt-BR" sz="1600" b="1" dirty="0"/>
              <a:t> </a:t>
            </a:r>
            <a:r>
              <a:rPr lang="pt-BR" sz="1600" b="1" dirty="0" err="1">
                <a:solidFill>
                  <a:schemeClr val="accent1">
                    <a:lumMod val="75000"/>
                  </a:schemeClr>
                </a:solidFill>
              </a:rPr>
              <a:t>void</a:t>
            </a:r>
            <a:r>
              <a:rPr lang="pt-BR" sz="1600" b="1" dirty="0"/>
              <a:t> </a:t>
            </a:r>
            <a:r>
              <a:rPr lang="pt-BR" sz="1600" b="1" dirty="0" err="1">
                <a:solidFill>
                  <a:srgbClr val="FF0000"/>
                </a:solidFill>
              </a:rPr>
              <a:t>inserirCliente</a:t>
            </a:r>
            <a:r>
              <a:rPr lang="pt-BR" sz="1600" b="1" dirty="0"/>
              <a:t>(</a:t>
            </a:r>
            <a:r>
              <a:rPr lang="pt-BR" sz="1600" b="1" dirty="0" err="1">
                <a:solidFill>
                  <a:schemeClr val="accent1">
                    <a:lumMod val="75000"/>
                  </a:schemeClr>
                </a:solidFill>
              </a:rPr>
              <a:t>String</a:t>
            </a:r>
            <a:r>
              <a:rPr lang="pt-BR" sz="1600" b="1" dirty="0"/>
              <a:t> nome, </a:t>
            </a:r>
            <a:r>
              <a:rPr lang="pt-BR" sz="1600" b="1" dirty="0" err="1">
                <a:solidFill>
                  <a:schemeClr val="accent1">
                    <a:lumMod val="75000"/>
                  </a:schemeClr>
                </a:solidFill>
              </a:rPr>
              <a:t>int</a:t>
            </a:r>
            <a:r>
              <a:rPr lang="pt-BR" sz="1600" b="1" dirty="0"/>
              <a:t> idade) {</a:t>
            </a:r>
            <a:br>
              <a:rPr lang="pt-BR" sz="1600" b="1" dirty="0"/>
            </a:br>
            <a:r>
              <a:rPr lang="pt-BR" sz="1600" b="1" dirty="0"/>
              <a:t>	</a:t>
            </a:r>
            <a:r>
              <a:rPr lang="pt-BR" sz="1600" b="1" dirty="0" err="1">
                <a:solidFill>
                  <a:srgbClr val="FF0000"/>
                </a:solidFill>
              </a:rPr>
              <a:t>String</a:t>
            </a:r>
            <a:r>
              <a:rPr lang="pt-BR" sz="1600" b="1" dirty="0"/>
              <a:t> </a:t>
            </a:r>
            <a:r>
              <a:rPr lang="pt-BR" sz="1600" b="1" dirty="0" err="1"/>
              <a:t>sql</a:t>
            </a:r>
            <a:r>
              <a:rPr lang="pt-BR" sz="1600" b="1" dirty="0"/>
              <a:t> = </a:t>
            </a:r>
            <a:r>
              <a:rPr lang="pt-BR" sz="1600" b="1" dirty="0">
                <a:solidFill>
                  <a:schemeClr val="accent6">
                    <a:lumMod val="75000"/>
                  </a:schemeClr>
                </a:solidFill>
              </a:rPr>
              <a:t>"INSERT INTO cliente (nome, idade) VALUES (?, ?)"</a:t>
            </a:r>
            <a:r>
              <a:rPr lang="pt-BR" sz="1600" b="1" dirty="0"/>
              <a:t>;</a:t>
            </a:r>
            <a:br>
              <a:rPr lang="pt-BR" sz="1600" b="1" dirty="0"/>
            </a:br>
            <a:br>
              <a:rPr lang="pt-BR" sz="1600" b="1" dirty="0"/>
            </a:br>
            <a:r>
              <a:rPr lang="pt-BR" sz="1600" b="1" dirty="0"/>
              <a:t>    	</a:t>
            </a:r>
            <a:r>
              <a:rPr lang="pt-BR" sz="1600" b="1" dirty="0" err="1">
                <a:solidFill>
                  <a:schemeClr val="accent1">
                    <a:lumMod val="75000"/>
                  </a:schemeClr>
                </a:solidFill>
              </a:rPr>
              <a:t>try</a:t>
            </a:r>
            <a:r>
              <a:rPr lang="pt-BR" sz="1600" b="1" dirty="0"/>
              <a:t> (</a:t>
            </a:r>
            <a:r>
              <a:rPr lang="pt-BR" sz="1600" b="1" dirty="0" err="1">
                <a:solidFill>
                  <a:srgbClr val="FF0000"/>
                </a:solidFill>
              </a:rPr>
              <a:t>PreparedStatement</a:t>
            </a:r>
            <a:r>
              <a:rPr lang="pt-BR" sz="1600" b="1" dirty="0"/>
              <a:t> </a:t>
            </a:r>
            <a:r>
              <a:rPr lang="pt-BR" sz="1600" b="1" dirty="0" err="1"/>
              <a:t>stmt</a:t>
            </a:r>
            <a:r>
              <a:rPr lang="pt-BR" sz="1600" b="1" dirty="0"/>
              <a:t> = </a:t>
            </a:r>
            <a:r>
              <a:rPr lang="pt-BR" sz="1600" b="1" dirty="0" err="1">
                <a:solidFill>
                  <a:srgbClr val="FF0000"/>
                </a:solidFill>
              </a:rPr>
              <a:t>ConexaoDB</a:t>
            </a:r>
            <a:r>
              <a:rPr lang="pt-BR" sz="1600" b="1" dirty="0"/>
              <a:t>.</a:t>
            </a:r>
            <a:r>
              <a:rPr lang="pt-BR" sz="1600" b="1" dirty="0">
                <a:solidFill>
                  <a:srgbClr val="FF0000"/>
                </a:solidFill>
              </a:rPr>
              <a:t> conectar</a:t>
            </a:r>
            <a:r>
              <a:rPr lang="pt-BR" sz="1600" b="1" dirty="0"/>
              <a:t>().</a:t>
            </a:r>
            <a:r>
              <a:rPr lang="pt-BR" sz="1600" b="1" dirty="0" err="1">
                <a:solidFill>
                  <a:srgbClr val="FF0000"/>
                </a:solidFill>
              </a:rPr>
              <a:t>prepareStatement</a:t>
            </a:r>
            <a:r>
              <a:rPr lang="pt-BR" sz="1600" b="1" dirty="0"/>
              <a:t>(</a:t>
            </a:r>
            <a:r>
              <a:rPr lang="pt-BR" sz="1600" b="1" dirty="0" err="1"/>
              <a:t>sql</a:t>
            </a:r>
            <a:r>
              <a:rPr lang="pt-BR" sz="1600" b="1" dirty="0"/>
              <a:t>)) {</a:t>
            </a:r>
            <a:br>
              <a:rPr lang="pt-BR" sz="1600" b="1" dirty="0"/>
            </a:br>
            <a:br>
              <a:rPr lang="pt-BR" sz="1600" b="1" dirty="0"/>
            </a:br>
            <a:r>
              <a:rPr lang="pt-BR" sz="1600" b="1" dirty="0"/>
              <a:t>       		</a:t>
            </a:r>
            <a:r>
              <a:rPr lang="pt-BR" sz="1600" b="1" dirty="0" err="1"/>
              <a:t>stmt.</a:t>
            </a:r>
            <a:r>
              <a:rPr lang="pt-BR" sz="1600" b="1" dirty="0" err="1">
                <a:solidFill>
                  <a:srgbClr val="FF0000"/>
                </a:solidFill>
              </a:rPr>
              <a:t>setString</a:t>
            </a:r>
            <a:r>
              <a:rPr lang="pt-BR" sz="1600" b="1" dirty="0"/>
              <a:t>(1, </a:t>
            </a:r>
            <a:r>
              <a:rPr lang="pt-BR" sz="1600" b="1" dirty="0">
                <a:solidFill>
                  <a:schemeClr val="accent1">
                    <a:lumMod val="75000"/>
                  </a:schemeClr>
                </a:solidFill>
              </a:rPr>
              <a:t>nome</a:t>
            </a:r>
            <a:r>
              <a:rPr lang="pt-BR" sz="1600" b="1" dirty="0"/>
              <a:t>);</a:t>
            </a:r>
            <a:br>
              <a:rPr lang="pt-BR" sz="1600" b="1" dirty="0"/>
            </a:br>
            <a:r>
              <a:rPr lang="pt-BR" sz="1600" b="1" dirty="0"/>
              <a:t>        		</a:t>
            </a:r>
            <a:r>
              <a:rPr lang="pt-BR" sz="1600" b="1" dirty="0" err="1"/>
              <a:t>stmt.</a:t>
            </a:r>
            <a:r>
              <a:rPr lang="pt-BR" sz="1600" b="1" dirty="0" err="1">
                <a:solidFill>
                  <a:srgbClr val="FF0000"/>
                </a:solidFill>
              </a:rPr>
              <a:t>setInt</a:t>
            </a:r>
            <a:r>
              <a:rPr lang="pt-BR" sz="1600" b="1" dirty="0"/>
              <a:t>(2, </a:t>
            </a:r>
            <a:r>
              <a:rPr lang="pt-BR" sz="1600" b="1" dirty="0">
                <a:solidFill>
                  <a:schemeClr val="accent1">
                    <a:lumMod val="75000"/>
                  </a:schemeClr>
                </a:solidFill>
              </a:rPr>
              <a:t>idade</a:t>
            </a:r>
            <a:r>
              <a:rPr lang="pt-BR" sz="1600" b="1" dirty="0"/>
              <a:t>);</a:t>
            </a:r>
            <a:br>
              <a:rPr lang="pt-BR" sz="1600" b="1" dirty="0"/>
            </a:br>
            <a:br>
              <a:rPr lang="pt-BR" sz="1600" b="1" dirty="0"/>
            </a:br>
            <a:r>
              <a:rPr lang="pt-BR" sz="1600" b="1" dirty="0"/>
              <a:t>        		</a:t>
            </a:r>
            <a:r>
              <a:rPr lang="pt-BR" sz="1600" b="1" dirty="0" err="1"/>
              <a:t>stmt.</a:t>
            </a:r>
            <a:r>
              <a:rPr lang="pt-BR" sz="1600" b="1" dirty="0" err="1">
                <a:solidFill>
                  <a:srgbClr val="FF0000"/>
                </a:solidFill>
              </a:rPr>
              <a:t>executeUpdate</a:t>
            </a:r>
            <a:r>
              <a:rPr lang="pt-BR" sz="1600" b="1" dirty="0"/>
              <a:t>();</a:t>
            </a:r>
            <a:br>
              <a:rPr lang="pt-BR" sz="1600" b="1" dirty="0"/>
            </a:br>
            <a:br>
              <a:rPr lang="pt-BR" sz="1600" b="1" dirty="0"/>
            </a:br>
            <a:r>
              <a:rPr lang="pt-BR" sz="1600" b="1" dirty="0"/>
              <a:t>        		</a:t>
            </a:r>
            <a:r>
              <a:rPr lang="pt-BR" sz="1600" b="1" dirty="0" err="1"/>
              <a:t>System.out.println</a:t>
            </a:r>
            <a:r>
              <a:rPr lang="pt-BR" sz="1600" b="1" dirty="0"/>
              <a:t>("Cliente inserido com sucesso!");</a:t>
            </a:r>
            <a:br>
              <a:rPr lang="pt-BR" sz="1600" b="1" dirty="0"/>
            </a:br>
            <a:br>
              <a:rPr lang="pt-BR" sz="1600" b="1" dirty="0"/>
            </a:br>
            <a:r>
              <a:rPr lang="pt-BR" sz="1600" b="1" dirty="0"/>
              <a:t>    	} catch (</a:t>
            </a:r>
            <a:r>
              <a:rPr lang="pt-BR" sz="1600" b="1" dirty="0" err="1">
                <a:solidFill>
                  <a:srgbClr val="FF0000"/>
                </a:solidFill>
              </a:rPr>
              <a:t>SQLException</a:t>
            </a:r>
            <a:r>
              <a:rPr lang="pt-BR" sz="1600" b="1" dirty="0"/>
              <a:t> e) {</a:t>
            </a:r>
            <a:br>
              <a:rPr lang="pt-BR" sz="1600" b="1" dirty="0"/>
            </a:br>
            <a:r>
              <a:rPr lang="pt-BR" sz="1600" b="1" dirty="0"/>
              <a:t>        		</a:t>
            </a:r>
            <a:r>
              <a:rPr lang="pt-BR" sz="1600" b="1" dirty="0" err="1"/>
              <a:t>e.printStackTrace</a:t>
            </a:r>
            <a:r>
              <a:rPr lang="pt-BR" sz="1600" b="1" dirty="0"/>
              <a:t>();</a:t>
            </a:r>
            <a:br>
              <a:rPr lang="pt-BR" sz="1600" b="1" dirty="0"/>
            </a:br>
            <a:r>
              <a:rPr lang="pt-BR" sz="1600" b="1" dirty="0"/>
              <a:t>    	}</a:t>
            </a:r>
            <a:br>
              <a:rPr lang="pt-BR" sz="1600" b="1" dirty="0"/>
            </a:br>
            <a:r>
              <a:rPr lang="pt-BR" sz="1600" b="1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3184241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8E1CDE-24CA-99BF-191F-FF2E4D1F90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Java </a:t>
            </a:r>
            <a:r>
              <a:rPr lang="pt-BR" dirty="0" err="1"/>
              <a:t>Persistence</a:t>
            </a:r>
            <a:r>
              <a:rPr lang="pt-BR" dirty="0"/>
              <a:t> API  (JPA)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B19BF60-E7E2-3222-3F03-B09FC02235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706653"/>
            <a:ext cx="11007306" cy="1476495"/>
          </a:xfrm>
        </p:spPr>
        <p:txBody>
          <a:bodyPr/>
          <a:lstStyle/>
          <a:p>
            <a:pPr algn="just"/>
            <a:r>
              <a:rPr lang="pt-BR" sz="1600" dirty="0"/>
              <a:t>O </a:t>
            </a:r>
            <a:r>
              <a:rPr lang="pt-BR" sz="1600" b="1" dirty="0"/>
              <a:t>JPA</a:t>
            </a:r>
            <a:r>
              <a:rPr lang="pt-BR" sz="1600" dirty="0"/>
              <a:t> é uma especificação do Java que define uma forma mais simples de trabalhar com banco de dados usando programação orientada a objetos. Ele permite mapear classes Java para tabelas por meio de anotações e realizar operações como criar, buscar, atualizar e deletar dados sem escrever SQL diretamente.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C2173E86-F5B8-343D-9378-3EFAA22DF5D6}"/>
              </a:ext>
            </a:extLst>
          </p:cNvPr>
          <p:cNvSpPr txBox="1"/>
          <p:nvPr/>
        </p:nvSpPr>
        <p:spPr>
          <a:xfrm>
            <a:off x="2901710" y="3418257"/>
            <a:ext cx="6388579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600" b="1" dirty="0">
                <a:solidFill>
                  <a:schemeClr val="accent3">
                    <a:lumMod val="50000"/>
                  </a:schemeClr>
                </a:solidFill>
                <a:latin typeface="Calibri "/>
              </a:rPr>
              <a:t>@Table</a:t>
            </a:r>
            <a:r>
              <a:rPr lang="pt-BR" sz="1600" b="1" dirty="0">
                <a:latin typeface="Calibri "/>
              </a:rPr>
              <a:t>(name = </a:t>
            </a:r>
            <a:r>
              <a:rPr lang="pt-BR" sz="1600" b="1" dirty="0">
                <a:solidFill>
                  <a:schemeClr val="accent6">
                    <a:lumMod val="75000"/>
                  </a:schemeClr>
                </a:solidFill>
              </a:rPr>
              <a:t>"pagamento"</a:t>
            </a:r>
            <a:r>
              <a:rPr lang="pt-BR" sz="1600" b="1" dirty="0">
                <a:latin typeface="Calibri "/>
              </a:rPr>
              <a:t>) </a:t>
            </a:r>
          </a:p>
          <a:p>
            <a:r>
              <a:rPr lang="pt-BR" sz="1600" b="1" dirty="0">
                <a:solidFill>
                  <a:schemeClr val="accent3">
                    <a:lumMod val="50000"/>
                  </a:schemeClr>
                </a:solidFill>
                <a:latin typeface="Calibri "/>
              </a:rPr>
              <a:t>@Entity</a:t>
            </a:r>
            <a:r>
              <a:rPr lang="pt-BR" sz="1600" b="1" dirty="0">
                <a:latin typeface="Calibri "/>
              </a:rPr>
              <a:t>(name = </a:t>
            </a:r>
            <a:r>
              <a:rPr lang="pt-BR" sz="1600" b="1" dirty="0">
                <a:solidFill>
                  <a:schemeClr val="accent6">
                    <a:lumMod val="75000"/>
                  </a:schemeClr>
                </a:solidFill>
              </a:rPr>
              <a:t>"Pagamento"</a:t>
            </a:r>
            <a:r>
              <a:rPr lang="pt-BR" sz="1600" b="1" dirty="0">
                <a:latin typeface="Calibri "/>
              </a:rPr>
              <a:t>)</a:t>
            </a:r>
          </a:p>
          <a:p>
            <a:endParaRPr lang="pt-BR" sz="1600" b="1" dirty="0">
              <a:latin typeface="Calibri "/>
            </a:endParaRPr>
          </a:p>
          <a:p>
            <a:r>
              <a:rPr lang="pt-BR" sz="1600" b="1" dirty="0" err="1">
                <a:solidFill>
                  <a:schemeClr val="accent1">
                    <a:lumMod val="75000"/>
                  </a:schemeClr>
                </a:solidFill>
              </a:rPr>
              <a:t>public</a:t>
            </a:r>
            <a:r>
              <a:rPr lang="pt-BR" sz="1600" b="1" dirty="0">
                <a:latin typeface="Calibri "/>
              </a:rPr>
              <a:t> </a:t>
            </a:r>
            <a:r>
              <a:rPr lang="pt-BR" sz="1600" b="1" dirty="0" err="1">
                <a:solidFill>
                  <a:schemeClr val="accent1">
                    <a:lumMod val="75000"/>
                  </a:schemeClr>
                </a:solidFill>
              </a:rPr>
              <a:t>class</a:t>
            </a:r>
            <a:r>
              <a:rPr lang="pt-BR" sz="1600" b="1" dirty="0">
                <a:latin typeface="Calibri "/>
              </a:rPr>
              <a:t> </a:t>
            </a:r>
            <a:r>
              <a:rPr lang="pt-BR" sz="1600" b="1" dirty="0">
                <a:solidFill>
                  <a:srgbClr val="FF0000"/>
                </a:solidFill>
              </a:rPr>
              <a:t>Pagamento</a:t>
            </a:r>
            <a:r>
              <a:rPr lang="pt-BR" sz="1600" b="1" dirty="0">
                <a:latin typeface="Calibri "/>
              </a:rPr>
              <a:t> { </a:t>
            </a:r>
          </a:p>
          <a:p>
            <a:r>
              <a:rPr lang="pt-BR" sz="1600" b="1" dirty="0">
                <a:latin typeface="Calibri "/>
              </a:rPr>
              <a:t>	</a:t>
            </a:r>
            <a:r>
              <a:rPr lang="pt-BR" sz="1600" b="1" dirty="0">
                <a:solidFill>
                  <a:schemeClr val="accent3">
                    <a:lumMod val="50000"/>
                  </a:schemeClr>
                </a:solidFill>
                <a:latin typeface="Calibri "/>
              </a:rPr>
              <a:t>@Id @GeneratedValue</a:t>
            </a:r>
            <a:r>
              <a:rPr lang="pt-BR" sz="1600" b="1" dirty="0">
                <a:latin typeface="Calibri "/>
              </a:rPr>
              <a:t>(strategy = </a:t>
            </a:r>
            <a:r>
              <a:rPr lang="pt-BR" sz="1600" b="1" dirty="0" err="1">
                <a:solidFill>
                  <a:srgbClr val="FF0000"/>
                </a:solidFill>
              </a:rPr>
              <a:t>GenerationType</a:t>
            </a:r>
            <a:r>
              <a:rPr lang="pt-BR" sz="1600" b="1" dirty="0" err="1">
                <a:latin typeface="Calibri "/>
              </a:rPr>
              <a:t>.IDENTITY</a:t>
            </a:r>
            <a:r>
              <a:rPr lang="pt-BR" sz="1600" b="1" dirty="0">
                <a:latin typeface="Calibri "/>
              </a:rPr>
              <a:t>) </a:t>
            </a:r>
          </a:p>
          <a:p>
            <a:r>
              <a:rPr lang="pt-BR" sz="1600" b="1" dirty="0">
                <a:latin typeface="Calibri "/>
              </a:rPr>
              <a:t>	</a:t>
            </a:r>
            <a:r>
              <a:rPr lang="pt-BR" sz="1600" b="1" dirty="0" err="1">
                <a:solidFill>
                  <a:schemeClr val="accent1">
                    <a:lumMod val="75000"/>
                  </a:schemeClr>
                </a:solidFill>
              </a:rPr>
              <a:t>private</a:t>
            </a:r>
            <a:r>
              <a:rPr lang="pt-BR" sz="1600" b="1" dirty="0">
                <a:latin typeface="Calibri "/>
              </a:rPr>
              <a:t> </a:t>
            </a:r>
            <a:r>
              <a:rPr lang="pt-BR" sz="1600" b="1" dirty="0" err="1">
                <a:solidFill>
                  <a:srgbClr val="FF0000"/>
                </a:solidFill>
              </a:rPr>
              <a:t>Long</a:t>
            </a:r>
            <a:r>
              <a:rPr lang="pt-BR" sz="1600" b="1" dirty="0">
                <a:latin typeface="Calibri "/>
              </a:rPr>
              <a:t> id;</a:t>
            </a:r>
          </a:p>
          <a:p>
            <a:r>
              <a:rPr lang="pt-BR" sz="1600" b="1" dirty="0">
                <a:latin typeface="Calibri "/>
              </a:rPr>
              <a:t>	</a:t>
            </a:r>
            <a:r>
              <a:rPr lang="pt-BR" sz="1600" b="1" dirty="0" err="1">
                <a:solidFill>
                  <a:schemeClr val="accent1">
                    <a:lumMod val="75000"/>
                  </a:schemeClr>
                </a:solidFill>
              </a:rPr>
              <a:t>private</a:t>
            </a:r>
            <a:r>
              <a:rPr lang="pt-BR" sz="1600" b="1" dirty="0">
                <a:latin typeface="Calibri "/>
              </a:rPr>
              <a:t> </a:t>
            </a:r>
            <a:r>
              <a:rPr lang="pt-BR" sz="1600" b="1" dirty="0" err="1">
                <a:solidFill>
                  <a:srgbClr val="FF0000"/>
                </a:solidFill>
              </a:rPr>
              <a:t>String</a:t>
            </a:r>
            <a:r>
              <a:rPr lang="pt-BR" sz="1600" b="1" dirty="0">
                <a:latin typeface="Calibri "/>
              </a:rPr>
              <a:t> </a:t>
            </a:r>
            <a:r>
              <a:rPr lang="pt-BR" sz="1600" b="1" dirty="0" err="1">
                <a:latin typeface="Calibri "/>
              </a:rPr>
              <a:t>nomeCliente</a:t>
            </a:r>
            <a:r>
              <a:rPr lang="pt-BR" sz="1600" b="1" dirty="0">
                <a:latin typeface="Calibri "/>
              </a:rPr>
              <a:t>; </a:t>
            </a:r>
          </a:p>
          <a:p>
            <a:r>
              <a:rPr lang="pt-BR" sz="1600" b="1" dirty="0">
                <a:latin typeface="Calibri "/>
              </a:rPr>
              <a:t>	</a:t>
            </a:r>
            <a:r>
              <a:rPr lang="pt-BR" sz="1600" b="1" dirty="0" err="1">
                <a:solidFill>
                  <a:schemeClr val="accent1">
                    <a:lumMod val="75000"/>
                  </a:schemeClr>
                </a:solidFill>
              </a:rPr>
              <a:t>private</a:t>
            </a:r>
            <a:r>
              <a:rPr lang="pt-BR" sz="1600" b="1" dirty="0">
                <a:latin typeface="Calibri "/>
              </a:rPr>
              <a:t> </a:t>
            </a:r>
            <a:r>
              <a:rPr lang="pt-BR" sz="1600" b="1" dirty="0" err="1">
                <a:solidFill>
                  <a:srgbClr val="FF0000"/>
                </a:solidFill>
              </a:rPr>
              <a:t>double</a:t>
            </a:r>
            <a:r>
              <a:rPr lang="pt-BR" sz="1600" b="1" dirty="0">
                <a:latin typeface="Calibri "/>
              </a:rPr>
              <a:t> valor; </a:t>
            </a:r>
          </a:p>
          <a:p>
            <a:r>
              <a:rPr lang="pt-BR" sz="1600" b="1" dirty="0">
                <a:latin typeface="Calibri "/>
              </a:rPr>
              <a:t>	</a:t>
            </a:r>
            <a:r>
              <a:rPr lang="pt-BR" sz="1600" b="1" dirty="0" err="1">
                <a:solidFill>
                  <a:schemeClr val="accent1">
                    <a:lumMod val="75000"/>
                  </a:schemeClr>
                </a:solidFill>
              </a:rPr>
              <a:t>private</a:t>
            </a:r>
            <a:r>
              <a:rPr lang="pt-BR" sz="1600" b="1" dirty="0">
                <a:latin typeface="Calibri "/>
              </a:rPr>
              <a:t> </a:t>
            </a:r>
            <a:r>
              <a:rPr lang="pt-BR" sz="1600" b="1" dirty="0" err="1">
                <a:solidFill>
                  <a:srgbClr val="FF0000"/>
                </a:solidFill>
              </a:rPr>
              <a:t>String</a:t>
            </a:r>
            <a:r>
              <a:rPr lang="pt-BR" sz="1600" b="1" dirty="0">
                <a:latin typeface="Calibri "/>
              </a:rPr>
              <a:t> </a:t>
            </a:r>
            <a:r>
              <a:rPr lang="pt-BR" sz="1600" b="1" dirty="0" err="1">
                <a:latin typeface="Calibri "/>
              </a:rPr>
              <a:t>descricao</a:t>
            </a:r>
            <a:r>
              <a:rPr lang="pt-BR" sz="1600" b="1" dirty="0">
                <a:latin typeface="Calibri "/>
              </a:rPr>
              <a:t>; </a:t>
            </a:r>
          </a:p>
          <a:p>
            <a:r>
              <a:rPr lang="pt-BR" sz="1600" b="1" dirty="0">
                <a:latin typeface="Calibri 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7530627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DE04A2-D4E1-7083-06F9-AC4C68946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Mapeamento campo a campo (JPA)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D45D94E-2245-0DBA-EBF6-87C57C8EF7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1105559"/>
          </a:xfrm>
        </p:spPr>
        <p:txBody>
          <a:bodyPr/>
          <a:lstStyle/>
          <a:p>
            <a:pPr algn="just"/>
            <a:r>
              <a:rPr lang="pt-BR" dirty="0"/>
              <a:t>No </a:t>
            </a:r>
            <a:r>
              <a:rPr lang="pt-BR" b="1" dirty="0"/>
              <a:t>JPA</a:t>
            </a:r>
            <a:r>
              <a:rPr lang="pt-BR" dirty="0"/>
              <a:t>, os atributos da classe se tornam colunas no banco de dados, enquanto as anotações definem como esse mapeamento será feito.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A7E638F6-2089-AA89-4EAA-914D2FE435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9347" y="3429000"/>
            <a:ext cx="9813305" cy="2220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30758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D02215-FD71-5100-6FE7-78663DA934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Mapeamento Objeto-Relacional (ORM)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588E31D-1AD4-5B9E-DEE7-4B572B1B86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6947" y="2149475"/>
            <a:ext cx="5617953" cy="4441825"/>
          </a:xfrm>
        </p:spPr>
        <p:txBody>
          <a:bodyPr/>
          <a:lstStyle/>
          <a:p>
            <a:pPr algn="just">
              <a:spcBef>
                <a:spcPts val="0"/>
              </a:spcBef>
            </a:pPr>
            <a:r>
              <a:rPr lang="pt-BR" sz="1600" dirty="0"/>
              <a:t>O </a:t>
            </a:r>
            <a:r>
              <a:rPr lang="pt-BR" sz="1600" b="1" dirty="0"/>
              <a:t>ORM</a:t>
            </a:r>
            <a:r>
              <a:rPr lang="pt-BR" sz="1600" dirty="0"/>
              <a:t> (Mapeamento Objeto-Relacional) é um conceito que permite converter automaticamente objetos de uma aplicação em dados de um banco relacional, e vice-versa.</a:t>
            </a:r>
          </a:p>
          <a:p>
            <a:pPr algn="just">
              <a:spcBef>
                <a:spcPts val="0"/>
              </a:spcBef>
            </a:pPr>
            <a:r>
              <a:rPr lang="pt-BR" sz="1600" dirty="0"/>
              <a:t>Na prática, o ORM funciona como uma ponte entre dois mundos:</a:t>
            </a:r>
          </a:p>
          <a:p>
            <a:pPr marL="971550" lvl="1" indent="-285750" algn="just">
              <a:spcBef>
                <a:spcPts val="0"/>
              </a:spcBef>
            </a:pPr>
            <a:r>
              <a:rPr lang="pt-BR" dirty="0"/>
              <a:t>Programação orientada a objetos (Java) </a:t>
            </a:r>
          </a:p>
          <a:p>
            <a:pPr marL="971550" lvl="1" indent="-285750" algn="just">
              <a:spcBef>
                <a:spcPts val="0"/>
              </a:spcBef>
            </a:pPr>
            <a:r>
              <a:rPr lang="pt-BR" dirty="0"/>
              <a:t>Banco de dados relacional (tabelas) </a:t>
            </a:r>
          </a:p>
          <a:p>
            <a:endParaRPr lang="pt-BR" dirty="0"/>
          </a:p>
        </p:txBody>
      </p:sp>
      <p:pic>
        <p:nvPicPr>
          <p:cNvPr id="2050" name="Picture 2" descr="O que é mapeamento objeto relacional? (ORM) | by Geovane Feitosa Cavalcante  | Medium">
            <a:extLst>
              <a:ext uri="{FF2B5EF4-FFF2-40B4-BE49-F238E27FC236}">
                <a16:creationId xmlns:a16="http://schemas.microsoft.com/office/drawing/2014/main" id="{436A46A8-58D6-39E2-5C7F-40EA2E01F5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00875" y="2703512"/>
            <a:ext cx="4286250" cy="333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02874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CBCCBB-0DA3-40F7-A2E3-91F024086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C8AC8F7-5DAB-3D66-2C62-3FA5C281BE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9975024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D762BEB9C470D64E830EA7F9B590A6AA" ma:contentTypeVersion="7" ma:contentTypeDescription="Crie um novo documento." ma:contentTypeScope="" ma:versionID="dcebd1e3abf24839b5fb00caea22d4dc">
  <xsd:schema xmlns:xsd="http://www.w3.org/2001/XMLSchema" xmlns:xs="http://www.w3.org/2001/XMLSchema" xmlns:p="http://schemas.microsoft.com/office/2006/metadata/properties" xmlns:ns2="9d524459-36f9-409a-ba1f-de753a0e6b68" targetNamespace="http://schemas.microsoft.com/office/2006/metadata/properties" ma:root="true" ma:fieldsID="3bbe5fb22fc39e85d0fd94c1b2fbc535" ns2:_="">
    <xsd:import namespace="9d524459-36f9-409a-ba1f-de753a0e6b6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d524459-36f9-409a-ba1f-de753a0e6b6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4AA641E-A36E-40C4-ABAC-AE8B4CD4DD79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7BA82208-FFF8-4F32-9CA5-4822B26C310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5B27902-4198-4F39-BE8E-25F0EA1A4EA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d524459-36f9-409a-ba1f-de753a0e6b6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819</TotalTime>
  <Words>456</Words>
  <Application>Microsoft Office PowerPoint</Application>
  <PresentationFormat>Widescreen</PresentationFormat>
  <Paragraphs>36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</vt:lpstr>
      <vt:lpstr>Times New Roman</vt:lpstr>
      <vt:lpstr>Tema do Office</vt:lpstr>
      <vt:lpstr>Acesso a Banco de Dados em Java</vt:lpstr>
      <vt:lpstr>JDBC (Começo de tudo)</vt:lpstr>
      <vt:lpstr>Exemplo de Inserção</vt:lpstr>
      <vt:lpstr>Java Persistence API  (JPA) </vt:lpstr>
      <vt:lpstr>Mapeamento campo a campo (JPA)</vt:lpstr>
      <vt:lpstr>Mapeamento Objeto-Relacional (ORM)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Lucas Tadeu Monteiro Guedes Fernandes Salomao</dc:creator>
  <cp:lastModifiedBy>Ciro Tavares Mendes</cp:lastModifiedBy>
  <cp:revision>112</cp:revision>
  <dcterms:created xsi:type="dcterms:W3CDTF">2024-03-08T12:14:33Z</dcterms:created>
  <dcterms:modified xsi:type="dcterms:W3CDTF">2026-04-30T17:44:11Z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0x010100D762BEB9C470D64E830EA7F9B590A6AA</vt:lpwstr>
  </property>
</Properties>
</file>