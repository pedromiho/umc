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9"/>
  </p:notesMasterIdLst>
  <p:sldIdLst>
    <p:sldId id="256" r:id="rId2"/>
    <p:sldId id="278" r:id="rId3"/>
    <p:sldId id="269" r:id="rId4"/>
    <p:sldId id="268" r:id="rId5"/>
    <p:sldId id="270" r:id="rId6"/>
    <p:sldId id="271" r:id="rId7"/>
    <p:sldId id="272" r:id="rId8"/>
    <p:sldId id="279" r:id="rId9"/>
    <p:sldId id="274" r:id="rId10"/>
    <p:sldId id="275" r:id="rId11"/>
    <p:sldId id="276" r:id="rId12"/>
    <p:sldId id="277" r:id="rId13"/>
    <p:sldId id="280" r:id="rId14"/>
    <p:sldId id="281" r:id="rId15"/>
    <p:sldId id="282" r:id="rId16"/>
    <p:sldId id="283" r:id="rId17"/>
    <p:sldId id="28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dro Henrique Miho de Souza" initials="PHMdS" lastIdx="2" clrIdx="0">
    <p:extLst>
      <p:ext uri="{19B8F6BF-5375-455C-9EA6-DF929625EA0E}">
        <p15:presenceInfo xmlns:p15="http://schemas.microsoft.com/office/powerpoint/2012/main" userId="S-1-5-21-1968796493-41410912-2451105760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5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B45FB-FC1C-4893-B550-48C1193193C6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00886-2B44-4102-B316-2BF70C0940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52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just"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just"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qfAczP5YsM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tPizFNPupk&amp;t=13s" TargetMode="External"/><Relationship Id="rId2" Type="http://schemas.openxmlformats.org/officeDocument/2006/relationships/hyperlink" Target="https://www.youtube.com/watch?v=12EaUb6o2m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Ameaças Cibernéticas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15" y="2357080"/>
            <a:ext cx="6187144" cy="341008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Em maio de 2000, o mundo presenciou um dos ataques cibernéticos mais devastadores da história: o vírus </a:t>
            </a:r>
            <a:r>
              <a:rPr lang="pt-BR" sz="1600" dirty="0" err="1"/>
              <a:t>ILoveYou</a:t>
            </a:r>
            <a:r>
              <a:rPr lang="pt-BR" sz="1600" dirty="0"/>
              <a:t>. Disfarçado como uma inocente declaração de amor enviada por e-mail, o malware explorava a curiosidade dos usuários para se espalhar rapidamente. Ao ser aberto, ele infectava o sistema, comprometia arquivos e se propagava automaticamente, atingindo milhões de computadores em poucos dias. Esse ataque evidenciou o poder da engenharia social e mostrou como uma simples mensagem podia causar impactos globais em empresas, governos e usuários comuns.</a:t>
            </a:r>
            <a:endParaRPr lang="pt-BR"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8651A2-503B-4619-97E3-97E0DF7BD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374" y="2357080"/>
            <a:ext cx="3856512" cy="341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5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ataque foi realizado utilizando um </a:t>
            </a:r>
            <a:r>
              <a:rPr lang="pt-BR" dirty="0" err="1"/>
              <a:t>worm</a:t>
            </a:r>
            <a:r>
              <a:rPr lang="pt-BR" dirty="0"/>
              <a:t> escrito em Visual Basic Script (VBS).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lvl="1" indent="0">
              <a:buNone/>
            </a:pPr>
            <a:r>
              <a:rPr lang="pt-BR" dirty="0"/>
              <a:t>Propagação: O vírus se espalhava via e-mail, com o assunto "ILOVEYOU" e um anexo chamado "LOVE-LETTER-FOR-YOU.txt.vbs".</a:t>
            </a:r>
          </a:p>
          <a:p>
            <a:pPr lvl="1" indent="0">
              <a:buNone/>
            </a:pPr>
            <a:r>
              <a:rPr lang="pt-BR" b="1" dirty="0"/>
              <a:t>Funcionamento:</a:t>
            </a:r>
          </a:p>
          <a:p>
            <a:pPr marL="1428750" lvl="2" indent="-285750"/>
            <a:r>
              <a:rPr lang="pt-BR" dirty="0"/>
              <a:t>O usuário abria o anexo, acreditando ser uma carta de amor.</a:t>
            </a:r>
          </a:p>
          <a:p>
            <a:pPr marL="1428750" lvl="2" indent="-285750"/>
            <a:r>
              <a:rPr lang="pt-BR" dirty="0"/>
              <a:t>O script sobrescrevia arquivos no computador, incluindo documentos do Office, imagens e áudios.</a:t>
            </a:r>
          </a:p>
          <a:p>
            <a:pPr marL="1428750" lvl="2" indent="-285750"/>
            <a:r>
              <a:rPr lang="pt-BR" dirty="0"/>
              <a:t>O </a:t>
            </a:r>
            <a:r>
              <a:rPr lang="pt-BR" dirty="0" err="1"/>
              <a:t>worm</a:t>
            </a:r>
            <a:r>
              <a:rPr lang="pt-BR" dirty="0"/>
              <a:t> enviava automaticamente cópias de si mesmo para todos os contatos do Outlook do usuário, ampliando a disseminação global.</a:t>
            </a:r>
          </a:p>
          <a:p>
            <a:pPr marL="0" lvl="2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2322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b="1" dirty="0"/>
              <a:t>Suspensão de e-mails corporativos</a:t>
            </a:r>
            <a:r>
              <a:rPr lang="pt-BR" dirty="0"/>
              <a:t>: Grandes organizações, como o Pentágono, a CIA e o Parlamento Britânico, suspenderam temporariamente seus serviços de e-mail para evitar a propagação.</a:t>
            </a:r>
          </a:p>
          <a:p>
            <a:pPr marL="971550" lvl="1" indent="-285750"/>
            <a:r>
              <a:rPr lang="pt-BR" b="1" dirty="0"/>
              <a:t>Desenvolvimento de patches e atualizações: </a:t>
            </a:r>
            <a:r>
              <a:rPr lang="pt-BR" dirty="0"/>
              <a:t>Empresas de segurança começaram a desenvolver patches e atualizações para bloquear o malware.</a:t>
            </a:r>
          </a:p>
          <a:p>
            <a:pPr marL="971550" lvl="1" indent="-285750"/>
            <a:r>
              <a:rPr lang="pt-BR" b="1" dirty="0"/>
              <a:t>Campanhas de conscientização</a:t>
            </a:r>
            <a:r>
              <a:rPr lang="pt-BR" dirty="0"/>
              <a:t>: Usuários foram orientados a não abrir anexos desconhecidos.</a:t>
            </a:r>
          </a:p>
          <a:p>
            <a:pPr marL="971550" lvl="1" indent="-285750"/>
            <a:r>
              <a:rPr lang="pt-BR" b="1" dirty="0"/>
              <a:t>Bloqueio de anexos maliciosos:</a:t>
            </a:r>
            <a:r>
              <a:rPr lang="pt-BR" dirty="0"/>
              <a:t> Provedores de e-mail e administradores de TI passaram a filtrar mensagens contendo scripts potencialmente perigosos.</a:t>
            </a:r>
          </a:p>
        </p:txBody>
      </p:sp>
    </p:spTree>
    <p:extLst>
      <p:ext uri="{BB962C8B-B14F-4D97-AF65-F5344CB8AC3E}">
        <p14:creationId xmlns:p14="http://schemas.microsoft.com/office/powerpoint/2010/main" val="3607171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Número de dispositivos infectados e prejuízo total</a:t>
            </a:r>
          </a:p>
          <a:p>
            <a:pPr lvl="1" indent="0">
              <a:buNone/>
            </a:pPr>
            <a:r>
              <a:rPr lang="pt-BR" dirty="0"/>
              <a:t>Na época do ataque, estima-se que existiam cerca de 500 milhões de computadores conectados à internet. Isso significa que aproximadamente 10% de todos os dispositivos conectados foram afetados pelo malware.</a:t>
            </a:r>
          </a:p>
          <a:p>
            <a:pPr lvl="1" indent="0">
              <a:buNone/>
            </a:pPr>
            <a:r>
              <a:rPr lang="pt-BR" b="1" dirty="0"/>
              <a:t>Resumo dos impactos:</a:t>
            </a:r>
          </a:p>
          <a:p>
            <a:pPr marL="1428750" lvl="2" indent="-285750"/>
            <a:r>
              <a:rPr lang="pt-BR" dirty="0"/>
              <a:t>Computadores infectados: Mais de 50 milhões</a:t>
            </a:r>
          </a:p>
          <a:p>
            <a:pPr marL="1428750" lvl="2" indent="-285750"/>
            <a:r>
              <a:rPr lang="pt-BR" dirty="0"/>
              <a:t>Porcentagem de dispositivos afetados no mundo: ~10%</a:t>
            </a:r>
          </a:p>
          <a:p>
            <a:pPr lvl="1" indent="0">
              <a:buNone/>
            </a:pPr>
            <a:r>
              <a:rPr lang="pt-BR" b="1" dirty="0"/>
              <a:t>Prejuízo total:</a:t>
            </a:r>
          </a:p>
          <a:p>
            <a:pPr marL="1428750" lvl="2" indent="-285750"/>
            <a:r>
              <a:rPr lang="pt-BR" dirty="0"/>
              <a:t>Danos diretos: Entre US$ 5,5 e 8,7 bilhões</a:t>
            </a:r>
          </a:p>
          <a:p>
            <a:pPr marL="1428750" lvl="2" indent="-285750"/>
            <a:r>
              <a:rPr lang="pt-BR" dirty="0"/>
              <a:t>Custos para remoção e recuperação: Cerca de US$ 15 bilhões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4231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pt-BR" sz="1800" b="1" dirty="0"/>
              <a:t>Responsáveis pelo o ataque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O vírus </a:t>
            </a:r>
            <a:r>
              <a:rPr lang="pt-BR" b="1" dirty="0"/>
              <a:t>ILOVEYOU</a:t>
            </a:r>
            <a:r>
              <a:rPr lang="pt-BR" dirty="0"/>
              <a:t> foi criado por </a:t>
            </a:r>
            <a:r>
              <a:rPr lang="pt-BR" b="1" dirty="0" err="1"/>
              <a:t>Onel</a:t>
            </a:r>
            <a:r>
              <a:rPr lang="pt-BR" b="1" dirty="0"/>
              <a:t> de Guzmán</a:t>
            </a:r>
            <a:r>
              <a:rPr lang="pt-BR" dirty="0"/>
              <a:t>, um estudante filipino de ciência da computação. Na época, ele era membro de um grupo de hackers chamado </a:t>
            </a:r>
            <a:r>
              <a:rPr lang="pt-BR" b="1" dirty="0" err="1"/>
              <a:t>GRAMMERSoft</a:t>
            </a:r>
            <a:r>
              <a:rPr lang="pt-BR" dirty="0"/>
              <a:t>, que desenvolvia programas maliciosos.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Motivação por trás do vírus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Inicialmente, </a:t>
            </a:r>
            <a:r>
              <a:rPr lang="pt-BR" dirty="0" err="1"/>
              <a:t>Onel</a:t>
            </a:r>
            <a:r>
              <a:rPr lang="pt-BR" dirty="0"/>
              <a:t> de Guzmán afirmou que seu objetivo era roubar credenciais de internet para permitir o acesso gratuito à web, já que o serviço era caro nas Filipinas. No entanto, o vírus acabou se espalhando de forma descontrolada, causando um dos maiores </a:t>
            </a:r>
            <a:r>
              <a:rPr lang="pt-BR" dirty="0" err="1"/>
              <a:t>ciberataques</a:t>
            </a:r>
            <a:r>
              <a:rPr lang="pt-BR" dirty="0"/>
              <a:t> da história.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b="1" dirty="0"/>
              <a:t>Consequências legais</a:t>
            </a:r>
          </a:p>
          <a:p>
            <a:pPr lvl="2" indent="0">
              <a:spcBef>
                <a:spcPts val="0"/>
              </a:spcBef>
              <a:buNone/>
            </a:pPr>
            <a:r>
              <a:rPr lang="pt-BR" dirty="0"/>
              <a:t>Apesar da enorme repercussão do ataque, </a:t>
            </a:r>
            <a:r>
              <a:rPr lang="pt-BR" dirty="0" err="1"/>
              <a:t>Onel</a:t>
            </a:r>
            <a:r>
              <a:rPr lang="pt-BR" dirty="0"/>
              <a:t> de Guzmán não foi punido criminalmente. Na época, as Filipinas não possuíam leis específicas contra crimes cibernéticos, o que impediu qualquer ação legal contra ele. No entanto, o incidente levou o país a criar novas regulamentações para crimes digitais.</a:t>
            </a:r>
          </a:p>
        </p:txBody>
      </p:sp>
    </p:spTree>
    <p:extLst>
      <p:ext uri="{BB962C8B-B14F-4D97-AF65-F5344CB8AC3E}">
        <p14:creationId xmlns:p14="http://schemas.microsoft.com/office/powerpoint/2010/main" val="364169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C96E-DC8A-4903-8059-FE7D8949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ILoveYou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975AE1-176A-4311-BED3-DF3FADA0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3536950"/>
          </a:xfrm>
        </p:spPr>
        <p:txBody>
          <a:bodyPr/>
          <a:lstStyle/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O que aconteceu com ele depois?</a:t>
            </a:r>
          </a:p>
          <a:p>
            <a:pPr lvl="1" indent="0">
              <a:spcBef>
                <a:spcPts val="0"/>
              </a:spcBef>
              <a:buNone/>
            </a:pPr>
            <a:r>
              <a:rPr lang="pt-BR" dirty="0"/>
              <a:t>Após o ataque, </a:t>
            </a:r>
            <a:r>
              <a:rPr lang="pt-BR" dirty="0" err="1"/>
              <a:t>Onel</a:t>
            </a:r>
            <a:r>
              <a:rPr lang="pt-BR" dirty="0"/>
              <a:t> de Guzmán desapareceu por anos, evitando a mídia e qualquer exposição pública. Em 2020, ele foi encontrado pelo jornalista </a:t>
            </a:r>
            <a:r>
              <a:rPr lang="pt-BR" dirty="0" err="1"/>
              <a:t>Geoff</a:t>
            </a:r>
            <a:r>
              <a:rPr lang="pt-BR" dirty="0"/>
              <a:t> White e revelou que, de fato, foi o responsável pelo vírus. Atualmente, vive uma vida simples nas Filipinas, trabalhando com conserto de celulares e recusando entrevistas sobre seu passado hacker.</a:t>
            </a:r>
          </a:p>
          <a:p>
            <a:pPr marL="0" lvl="1" indent="0">
              <a:spcBef>
                <a:spcPts val="0"/>
              </a:spcBef>
              <a:buNone/>
            </a:pPr>
            <a:endParaRPr lang="pt-BR" sz="2000" dirty="0"/>
          </a:p>
          <a:p>
            <a:pPr marL="0" lvl="1" indent="0">
              <a:spcBef>
                <a:spcPts val="0"/>
              </a:spcBef>
              <a:buNone/>
            </a:pPr>
            <a:r>
              <a:rPr lang="pt-BR" sz="1800" b="1" dirty="0"/>
              <a:t>Vídeo explicando o ataque </a:t>
            </a:r>
            <a:r>
              <a:rPr lang="pt-BR" sz="1800" b="1" dirty="0" err="1"/>
              <a:t>ILoveYou</a:t>
            </a:r>
            <a:r>
              <a:rPr lang="pt-BR" sz="1800" b="1" dirty="0"/>
              <a:t>: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dirty="0"/>
              <a:t>https://www.youtube.com/watch?v=fRk5e0iSa1Q</a:t>
            </a:r>
          </a:p>
        </p:txBody>
      </p:sp>
    </p:spTree>
    <p:extLst>
      <p:ext uri="{BB962C8B-B14F-4D97-AF65-F5344CB8AC3E}">
        <p14:creationId xmlns:p14="http://schemas.microsoft.com/office/powerpoint/2010/main" val="118941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F533B-5079-4447-AA4C-751B8156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D4BA6-2695-4157-A2D2-3BDFD3FDD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534" y="2528110"/>
            <a:ext cx="6261035" cy="3475470"/>
          </a:xfrm>
        </p:spPr>
        <p:txBody>
          <a:bodyPr/>
          <a:lstStyle/>
          <a:p>
            <a:r>
              <a:rPr lang="pt-BR" sz="1800" dirty="0"/>
              <a:t>O </a:t>
            </a:r>
            <a:r>
              <a:rPr lang="pt-BR" sz="1800" dirty="0" err="1"/>
              <a:t>Stuxnet</a:t>
            </a:r>
            <a:r>
              <a:rPr lang="pt-BR" sz="1800" dirty="0"/>
              <a:t> foi um ataque cibernético sofisticado criado pelos EUA e Israel para sabotar o programa nuclear iraniano. Descoberto em 2010, ele visava especificamente as centrífugas de enriquecimento de urânio na usina de </a:t>
            </a:r>
            <a:r>
              <a:rPr lang="pt-BR" sz="1800" dirty="0" err="1"/>
              <a:t>Natanz</a:t>
            </a:r>
            <a:r>
              <a:rPr lang="pt-BR" sz="1800" dirty="0"/>
              <a:t>, alterando seu funcionamento de forma imperceptível e causando danos físicos. Esse ataque marcou a história da guerra cibernética ao demonstrar como um malware pode ser usado para sabotagem em larga escala.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120C2DB-E9EC-48D4-90B2-FA0539963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103" y="3716533"/>
            <a:ext cx="3415363" cy="10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1800" b="1" dirty="0"/>
              <a:t>Malwares utilizados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um </a:t>
            </a:r>
            <a:r>
              <a:rPr lang="pt-BR" b="1" dirty="0" err="1"/>
              <a:t>worm</a:t>
            </a:r>
            <a:r>
              <a:rPr lang="pt-BR" dirty="0"/>
              <a:t> altamente sofisticado, projetado especificamente para atacar sistemas industriais. Ele explorava </a:t>
            </a:r>
            <a:r>
              <a:rPr lang="pt-BR" b="1" dirty="0"/>
              <a:t>vulnerabilidades de dia zero</a:t>
            </a:r>
            <a:r>
              <a:rPr lang="pt-BR" dirty="0"/>
              <a:t> no Windows e manipulava </a:t>
            </a:r>
            <a:r>
              <a:rPr lang="pt-BR" b="1" dirty="0"/>
              <a:t>Controladores Lógicos Programáveis (</a:t>
            </a:r>
            <a:r>
              <a:rPr lang="pt-BR" b="1" dirty="0" err="1"/>
              <a:t>CLPs</a:t>
            </a:r>
            <a:r>
              <a:rPr lang="pt-BR" b="1" dirty="0"/>
              <a:t>)</a:t>
            </a:r>
            <a:r>
              <a:rPr lang="pt-BR" dirty="0"/>
              <a:t> da Siemens.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não foi entregue via internet, pois as instalações iranianas estavam desconectadas da rede mundial.</a:t>
            </a:r>
          </a:p>
          <a:p>
            <a:pPr marL="971550" lvl="1" indent="-285750"/>
            <a:r>
              <a:rPr lang="pt-BR" dirty="0"/>
              <a:t>O malware foi introduzido por </a:t>
            </a:r>
            <a:r>
              <a:rPr lang="pt-BR" dirty="0" err="1"/>
              <a:t>pendrives</a:t>
            </a:r>
            <a:r>
              <a:rPr lang="pt-BR" dirty="0"/>
              <a:t> ou laptops contaminados.</a:t>
            </a:r>
          </a:p>
          <a:p>
            <a:pPr marL="971550" lvl="1" indent="-285750"/>
            <a:r>
              <a:rPr lang="pt-BR" dirty="0"/>
              <a:t>Assim que infectava um sistema, o </a:t>
            </a:r>
            <a:r>
              <a:rPr lang="pt-BR" dirty="0" err="1"/>
              <a:t>worm</a:t>
            </a:r>
            <a:r>
              <a:rPr lang="pt-BR" dirty="0"/>
              <a:t> se autorreplicava e explorava vulnerabilidades no Windows para se espalhar por toda a rede.</a:t>
            </a:r>
          </a:p>
          <a:p>
            <a:pPr marL="971550" lvl="1" indent="-285750"/>
            <a:r>
              <a:rPr lang="pt-BR" dirty="0"/>
              <a:t>O objetivo era modificar o código dos </a:t>
            </a:r>
            <a:r>
              <a:rPr lang="pt-BR" dirty="0" err="1"/>
              <a:t>CLPs</a:t>
            </a:r>
            <a:r>
              <a:rPr lang="pt-BR" dirty="0"/>
              <a:t> da Siemens, usados para controlar as centrífugas nucleares, fazendo com que elas girassem em velocidades perigosas e se autodestruíssem.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8777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Para evitar detecção, o </a:t>
            </a:r>
            <a:r>
              <a:rPr lang="pt-BR" sz="1600" dirty="0" err="1"/>
              <a:t>Stuxnet</a:t>
            </a:r>
            <a:r>
              <a:rPr lang="pt-BR" sz="1600" dirty="0"/>
              <a:t> enviava dados falsos para os operadores, simulando que as máquinas estavam funcionando normalmente.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lvl="1" indent="0">
              <a:buNone/>
            </a:pPr>
            <a:r>
              <a:rPr lang="pt-BR" dirty="0"/>
              <a:t>Após a descoberta do </a:t>
            </a:r>
            <a:r>
              <a:rPr lang="pt-BR" dirty="0" err="1"/>
              <a:t>Stuxnet</a:t>
            </a:r>
            <a:r>
              <a:rPr lang="pt-BR" dirty="0"/>
              <a:t> em 2010, especialistas em </a:t>
            </a:r>
            <a:r>
              <a:rPr lang="pt-BR" dirty="0" err="1"/>
              <a:t>cibersegurança</a:t>
            </a:r>
            <a:r>
              <a:rPr lang="pt-BR" dirty="0"/>
              <a:t> trabalharam para analisá-lo e desenvolver patches de segurança. A Microsoft lançou atualizações para corrigir as vulnerabilidades exploradas pelo </a:t>
            </a:r>
            <a:r>
              <a:rPr lang="pt-BR" dirty="0" err="1"/>
              <a:t>worm</a:t>
            </a:r>
            <a:r>
              <a:rPr lang="pt-BR" dirty="0"/>
              <a:t>. O Irã também tentou conter o ataque, removendo o malware de suas redes e substituindo equipamentos danificados.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Motivo do ataque?</a:t>
            </a:r>
          </a:p>
          <a:p>
            <a:pPr lvl="1" indent="0">
              <a:buNone/>
            </a:pPr>
            <a:r>
              <a:rPr lang="pt-BR" dirty="0"/>
              <a:t>O </a:t>
            </a:r>
            <a:r>
              <a:rPr lang="pt-BR" dirty="0" err="1"/>
              <a:t>Stuxnet</a:t>
            </a:r>
            <a:r>
              <a:rPr lang="pt-BR" dirty="0"/>
              <a:t> foi desenvolvido pelos Estados Unidos e Israel como parte da operação </a:t>
            </a:r>
            <a:r>
              <a:rPr lang="pt-BR" dirty="0" err="1"/>
              <a:t>ultra-secreta</a:t>
            </a:r>
            <a:r>
              <a:rPr lang="pt-BR" dirty="0"/>
              <a:t> chamada "Jogos Olímpicos". O objetivo era atrasar e enfraquecer o programa nuclear do Irã, impedindo o desenvolvimento de armas nucleares sem precisar de uma ação militar direta.</a:t>
            </a:r>
          </a:p>
          <a:p>
            <a:pPr marL="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199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Stuxnet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973350" lvl="2" indent="-285750"/>
            <a:r>
              <a:rPr lang="pt-BR" sz="1600" b="1" dirty="0"/>
              <a:t>Dispositivos infectados: </a:t>
            </a:r>
            <a:r>
              <a:rPr lang="pt-BR" sz="1600" dirty="0"/>
              <a:t>Dezenas de milhares de computadores.</a:t>
            </a:r>
          </a:p>
          <a:p>
            <a:pPr marL="973350" lvl="2" indent="-285750"/>
            <a:r>
              <a:rPr lang="pt-BR" sz="1600" b="1" dirty="0"/>
              <a:t>Dano à infraestrutura: </a:t>
            </a:r>
            <a:r>
              <a:rPr lang="pt-BR" sz="1600" dirty="0"/>
              <a:t>Centenas de centrífugas nucleares foram desativadas ou destruídas.</a:t>
            </a:r>
          </a:p>
          <a:p>
            <a:pPr marL="973350" lvl="2" indent="-285750"/>
            <a:r>
              <a:rPr lang="pt-BR" sz="1600" b="1" dirty="0"/>
              <a:t>Impacto: </a:t>
            </a:r>
            <a:r>
              <a:rPr lang="pt-BR" sz="1600" dirty="0"/>
              <a:t>O ataque causou um atraso significativo no programa nuclear iraniano e levou o Irã a reforçar sua segurança cibernética.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O que foi feito para parar esse ataque?</a:t>
            </a:r>
          </a:p>
          <a:p>
            <a:pPr marL="687600" lvl="2" indent="0">
              <a:buNone/>
            </a:pPr>
            <a:r>
              <a:rPr lang="pt-BR" sz="1600" dirty="0"/>
              <a:t>Embora nenhum país tenha assumido oficialmente a autoria, investigações apontam que o </a:t>
            </a:r>
            <a:r>
              <a:rPr lang="pt-BR" sz="1600" dirty="0" err="1"/>
              <a:t>Stuxnet</a:t>
            </a:r>
            <a:r>
              <a:rPr lang="pt-BR" sz="1600" dirty="0"/>
              <a:t> foi desenvolvido por uma colaboração entre a </a:t>
            </a:r>
            <a:r>
              <a:rPr lang="pt-BR" sz="1600" b="1" dirty="0"/>
              <a:t>Agência de Segurança Nacional dos EUA (NSA) </a:t>
            </a:r>
            <a:r>
              <a:rPr lang="pt-BR" sz="1600" dirty="0"/>
              <a:t>e a </a:t>
            </a:r>
            <a:r>
              <a:rPr lang="pt-BR" sz="1600" b="1" dirty="0"/>
              <a:t>unidade de inteligência cibernética de Israel</a:t>
            </a:r>
            <a:r>
              <a:rPr lang="pt-BR" sz="1600" dirty="0"/>
              <a:t>.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pt-BR" sz="1800" b="1" dirty="0"/>
              <a:t>Vídeo explicativo</a:t>
            </a:r>
          </a:p>
          <a:p>
            <a:pPr marL="687600" lvl="2" indent="0">
              <a:spcBef>
                <a:spcPts val="0"/>
              </a:spcBef>
              <a:buNone/>
            </a:pPr>
            <a:r>
              <a:rPr lang="pt-BR" sz="1600" u="sng" dirty="0">
                <a:hlinkClick r:id="rId2"/>
              </a:rPr>
              <a:t>https://www.youtube.com/watch?v=MqfAczP5YsM</a:t>
            </a:r>
            <a:endParaRPr lang="pt-BR" sz="1600" dirty="0"/>
          </a:p>
          <a:p>
            <a:pPr marL="0" lvl="2" indent="0">
              <a:spcBef>
                <a:spcPts val="0"/>
              </a:spcBef>
              <a:buNone/>
            </a:pP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620736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E4DC9-6098-44A2-8648-267C3C143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-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668E14-95D3-494C-A1F6-10A8AD66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488" y="2644358"/>
            <a:ext cx="5466708" cy="294538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sz="1600" dirty="0"/>
              <a:t>O </a:t>
            </a:r>
            <a:r>
              <a:rPr lang="pt-BR" sz="1600" dirty="0" err="1"/>
              <a:t>WannaCry</a:t>
            </a:r>
            <a:r>
              <a:rPr lang="pt-BR" sz="1600" dirty="0"/>
              <a:t>, um ataque </a:t>
            </a:r>
            <a:r>
              <a:rPr lang="pt-BR" sz="1600" dirty="0" err="1"/>
              <a:t>ransomware</a:t>
            </a:r>
            <a:r>
              <a:rPr lang="pt-BR" sz="1600" dirty="0"/>
              <a:t> de 2017, explorou uma falha no Windows para se espalhar globalmente, criptografando arquivos e exigindo resgates em Bitcoin. O ataque afetou milhares de organizações em mais de 150 países, incluindo hospitais e órgãos governamentais. Utilizando a falha </a:t>
            </a:r>
            <a:r>
              <a:rPr lang="pt-BR" sz="1600" dirty="0" err="1"/>
              <a:t>EternalBlue</a:t>
            </a:r>
            <a:r>
              <a:rPr lang="pt-BR" sz="1600" dirty="0"/>
              <a:t>, vazada por hackers, o incidente destacou os riscos da falta de atualizações de segurança e a vulnerabilidade de infraestruturas críticas.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0F8D96-0490-4CB0-92CE-C4ABAAC4B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84" y="2230525"/>
            <a:ext cx="5016827" cy="377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977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630017"/>
          </a:xfrm>
        </p:spPr>
        <p:txBody>
          <a:bodyPr/>
          <a:lstStyle/>
          <a:p>
            <a:r>
              <a:rPr lang="pt-BR" sz="1800" b="1" dirty="0"/>
              <a:t>Malwares utilizados</a:t>
            </a:r>
          </a:p>
          <a:p>
            <a:pPr marL="971550" lvl="1" indent="-285750"/>
            <a:r>
              <a:rPr lang="pt-BR" b="1" dirty="0" err="1"/>
              <a:t>WannaCry</a:t>
            </a:r>
            <a:r>
              <a:rPr lang="pt-BR" b="1" dirty="0"/>
              <a:t>:</a:t>
            </a:r>
            <a:r>
              <a:rPr lang="pt-BR" dirty="0"/>
              <a:t> Um </a:t>
            </a:r>
            <a:r>
              <a:rPr lang="pt-BR" dirty="0" err="1"/>
              <a:t>ransomware</a:t>
            </a:r>
            <a:r>
              <a:rPr lang="pt-BR" dirty="0"/>
              <a:t> que criptografava arquivos do sistema infectado e exigia um resgate em Bitcoin para liberar os dados.</a:t>
            </a:r>
          </a:p>
          <a:p>
            <a:pPr marL="971550" lvl="1" indent="-285750"/>
            <a:r>
              <a:rPr lang="pt-BR" b="1" dirty="0" err="1"/>
              <a:t>EternalBlue</a:t>
            </a:r>
            <a:r>
              <a:rPr lang="pt-BR" dirty="0"/>
              <a:t>: Uma exploração de vulnerabilidade no protocolo SMBv1 do Windows, originalmente desenvolvida pela NSA e vazada pelos Shadow Brokers.</a:t>
            </a:r>
          </a:p>
          <a:p>
            <a:pPr marL="0" lvl="1" indent="0">
              <a:buNone/>
            </a:pPr>
            <a:r>
              <a:rPr lang="pt-BR" sz="1800" b="1" dirty="0"/>
              <a:t>Meio de propagação e funcionamento do ataque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era um </a:t>
            </a:r>
            <a:r>
              <a:rPr lang="pt-BR" dirty="0" err="1"/>
              <a:t>worm</a:t>
            </a:r>
            <a:r>
              <a:rPr lang="pt-BR" dirty="0"/>
              <a:t>, ou seja, ele se espalhava automaticamente entre computadores vulneráveis.</a:t>
            </a:r>
          </a:p>
          <a:p>
            <a:pPr marL="971550" lvl="1" indent="-285750"/>
            <a:r>
              <a:rPr lang="pt-BR" dirty="0"/>
              <a:t>Ele explorava a falha </a:t>
            </a:r>
            <a:r>
              <a:rPr lang="pt-BR" dirty="0" err="1"/>
              <a:t>EternalBlue</a:t>
            </a:r>
            <a:r>
              <a:rPr lang="pt-BR" dirty="0"/>
              <a:t> no protocolo SMBv1 do Windows para se replicar dentro das redes corporativas e pela internet.</a:t>
            </a:r>
          </a:p>
          <a:p>
            <a:pPr marL="971550" lvl="1" indent="-285750"/>
            <a:r>
              <a:rPr lang="pt-BR" dirty="0"/>
              <a:t>Quando um computador era infectado, o malware criptografava os arquivos e exibia uma mensagem exigindo um pagamento em Bitcoin para liberar os arquivos.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882341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33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1600" dirty="0"/>
              <a:t>A Microsoft lançou um patch de segurança (MS17-010) para corrigir a vulnerabilidade </a:t>
            </a:r>
            <a:r>
              <a:rPr lang="pt-BR" sz="1600" dirty="0" err="1"/>
              <a:t>EternalBlue</a:t>
            </a:r>
            <a:r>
              <a:rPr lang="pt-BR" sz="1600" dirty="0"/>
              <a:t> em março de 2017, mas muitas máquinas permaneceram sem atualização, facilitando a propagação do malware.</a:t>
            </a:r>
            <a:endParaRPr lang="pt-BR" sz="1600" b="1" dirty="0"/>
          </a:p>
          <a:p>
            <a:pPr>
              <a:spcBef>
                <a:spcPts val="0"/>
              </a:spcBef>
            </a:pPr>
            <a:r>
              <a:rPr lang="pt-BR" sz="1800" b="1" dirty="0"/>
              <a:t>O que foi feito para parar esse ataque?</a:t>
            </a:r>
          </a:p>
          <a:p>
            <a:pPr marL="971550" lvl="1" indent="-285750"/>
            <a:r>
              <a:rPr lang="pt-BR" dirty="0"/>
              <a:t>O ataque foi interrompido temporariamente quando o pesquisador Marcus </a:t>
            </a:r>
            <a:r>
              <a:rPr lang="pt-BR" dirty="0" err="1"/>
              <a:t>Hutchins</a:t>
            </a:r>
            <a:r>
              <a:rPr lang="pt-BR" dirty="0"/>
              <a:t> encontrou um "interruptor de eliminação" no código do malware.</a:t>
            </a:r>
          </a:p>
          <a:p>
            <a:pPr marL="971550" lvl="1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fazia uma requisição para um domínio específico antes de se ativar. </a:t>
            </a:r>
            <a:r>
              <a:rPr lang="pt-BR" dirty="0" err="1"/>
              <a:t>Hutchins</a:t>
            </a:r>
            <a:r>
              <a:rPr lang="pt-BR" dirty="0"/>
              <a:t> registrou esse domínio, o que fez com que o </a:t>
            </a:r>
            <a:r>
              <a:rPr lang="pt-BR" dirty="0" err="1"/>
              <a:t>ransomware</a:t>
            </a:r>
            <a:r>
              <a:rPr lang="pt-BR" dirty="0"/>
              <a:t> parasse de funcionar em máquinas conectadas à internet.</a:t>
            </a:r>
          </a:p>
          <a:p>
            <a:pPr marL="971550" lvl="1" indent="-285750"/>
            <a:r>
              <a:rPr lang="pt-BR" dirty="0"/>
              <a:t>A Microsoft lançou um patch de segurança (MS17-010) para corrigir a vulnerabilidade </a:t>
            </a:r>
            <a:r>
              <a:rPr lang="pt-BR" dirty="0" err="1"/>
              <a:t>EternalBlue</a:t>
            </a:r>
            <a:r>
              <a:rPr lang="pt-BR" dirty="0"/>
              <a:t> em março de 2017, mas muitas máquinas permaneceram sem atualização, facilitando a propagação do malware.</a:t>
            </a:r>
          </a:p>
        </p:txBody>
      </p:sp>
    </p:spTree>
    <p:extLst>
      <p:ext uri="{BB962C8B-B14F-4D97-AF65-F5344CB8AC3E}">
        <p14:creationId xmlns:p14="http://schemas.microsoft.com/office/powerpoint/2010/main" val="2798419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None/>
            </a:pPr>
            <a:r>
              <a:rPr lang="pt-BR" sz="1800" b="1" dirty="0"/>
              <a:t>Motivo do ataque?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O objetivo principal parecia ser extorsão financeira, uma vez que o </a:t>
            </a:r>
            <a:r>
              <a:rPr lang="pt-BR" dirty="0" err="1"/>
              <a:t>ransomware</a:t>
            </a:r>
            <a:r>
              <a:rPr lang="pt-BR" dirty="0"/>
              <a:t> exigia pagamentos em Bitcoin para </a:t>
            </a:r>
            <a:r>
              <a:rPr lang="pt-BR" dirty="0" err="1"/>
              <a:t>descriptografar</a:t>
            </a:r>
            <a:r>
              <a:rPr lang="pt-BR" dirty="0"/>
              <a:t> os arquivos.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Algumas investigações indicam que o ataque pode ter sido um teste de capacidade cibernética por parte da Coreia do Norte, possivelmente ligado ao Grupo </a:t>
            </a:r>
            <a:r>
              <a:rPr lang="pt-BR" dirty="0" err="1"/>
              <a:t>Lazarus</a:t>
            </a:r>
            <a:r>
              <a:rPr lang="pt-BR" dirty="0"/>
              <a:t>, um grupo de hackers supostamente associado ao governo norte-coreano.</a:t>
            </a:r>
          </a:p>
          <a:p>
            <a:pPr marL="971550" lvl="1" indent="-285750">
              <a:spcBef>
                <a:spcPts val="0"/>
              </a:spcBef>
            </a:pPr>
            <a:r>
              <a:rPr lang="pt-BR" dirty="0"/>
              <a:t>Alguns especialistas sugeriram que o </a:t>
            </a:r>
            <a:r>
              <a:rPr lang="pt-BR" dirty="0" err="1"/>
              <a:t>WannaCry</a:t>
            </a:r>
            <a:r>
              <a:rPr lang="pt-BR" dirty="0"/>
              <a:t> pode ter sido uma ação acidental, pois ele continha um código inacabado e falhas que reduziram seu impacto.</a:t>
            </a:r>
          </a:p>
          <a:p>
            <a:pPr>
              <a:spcBef>
                <a:spcPts val="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17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07B82-1834-41A3-ABA1-E45AF435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443DE-AB2D-4846-9E7B-2081F1E6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426816"/>
          </a:xfrm>
        </p:spPr>
        <p:txBody>
          <a:bodyPr/>
          <a:lstStyle/>
          <a:p>
            <a:pPr marL="0" lvl="1" indent="0">
              <a:buNone/>
            </a:pPr>
            <a:r>
              <a:rPr lang="pt-BR" sz="1800" b="1" dirty="0"/>
              <a:t>Número de dispositivos infectados e prejuízo total</a:t>
            </a:r>
          </a:p>
          <a:p>
            <a:pPr marL="687600" lvl="2" indent="-285750"/>
            <a:r>
              <a:rPr lang="pt-BR" dirty="0"/>
              <a:t>O </a:t>
            </a:r>
            <a:r>
              <a:rPr lang="pt-BR" dirty="0" err="1"/>
              <a:t>WannaCry</a:t>
            </a:r>
            <a:r>
              <a:rPr lang="pt-BR" dirty="0"/>
              <a:t> infectou aproximadamente 200 mil computadores em mais de 150 países.</a:t>
            </a:r>
          </a:p>
          <a:p>
            <a:pPr marL="687600" lvl="2" indent="-285750"/>
            <a:r>
              <a:rPr lang="pt-BR" dirty="0"/>
              <a:t>Grandes empresas e instituições foram afetadas, incluindo FedEx, Honda, Nissan e o NHS (Sistema de Saúde do Reino Unido).</a:t>
            </a:r>
          </a:p>
          <a:p>
            <a:pPr marL="687600" lvl="2" indent="-285750"/>
            <a:r>
              <a:rPr lang="pt-BR" dirty="0"/>
              <a:t>O prejuízo estimado foi de cerca de US$ 4 bilhões globalmente, considerando custos de recuperação, resgates pagos e interrupção de serviços.</a:t>
            </a:r>
          </a:p>
          <a:p>
            <a:pPr>
              <a:spcBef>
                <a:spcPts val="0"/>
              </a:spcBef>
            </a:pPr>
            <a:r>
              <a:rPr lang="pt-BR" sz="1800" b="1" dirty="0"/>
              <a:t>Quem fez o ataque</a:t>
            </a:r>
          </a:p>
          <a:p>
            <a:pPr lvl="1"/>
            <a:r>
              <a:rPr lang="pt-BR" dirty="0"/>
              <a:t>Os </a:t>
            </a:r>
            <a:r>
              <a:rPr lang="pt-BR" b="1" dirty="0"/>
              <a:t>EUA e o Reino Unido</a:t>
            </a:r>
            <a:r>
              <a:rPr lang="pt-BR" dirty="0"/>
              <a:t> atribuíram o ataque ao governo da </a:t>
            </a:r>
            <a:r>
              <a:rPr lang="pt-BR" b="1" dirty="0"/>
              <a:t>Coreia do Norte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Alguns pesquisadores indicam que o ataque foi conduzido pelo </a:t>
            </a:r>
            <a:r>
              <a:rPr lang="pt-BR" b="1" dirty="0"/>
              <a:t>Grupo </a:t>
            </a:r>
            <a:r>
              <a:rPr lang="pt-BR" b="1" dirty="0" err="1"/>
              <a:t>Lazarus</a:t>
            </a:r>
            <a:r>
              <a:rPr lang="pt-BR" dirty="0"/>
              <a:t>, um grupo de hackers ligado à Coreia do Norte.</a:t>
            </a:r>
          </a:p>
          <a:p>
            <a:pPr lvl="1"/>
            <a:r>
              <a:rPr lang="pt-BR" dirty="0"/>
              <a:t>No entanto, há especulações de que </a:t>
            </a:r>
            <a:r>
              <a:rPr lang="pt-BR" b="1" dirty="0"/>
              <a:t>outras nações ou grupos podem ter forjado evidências</a:t>
            </a:r>
            <a:r>
              <a:rPr lang="pt-BR" dirty="0"/>
              <a:t> para incriminar a Coreia do Norte.</a:t>
            </a:r>
          </a:p>
          <a:p>
            <a:pPr marL="401850" lvl="2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7556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5FC04-F1A1-47D8-B15B-11BD71C5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reais – </a:t>
            </a:r>
            <a:r>
              <a:rPr lang="pt-BR" dirty="0" err="1"/>
              <a:t>WannaCry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D3255B-4B85-4486-8718-DF0954F0C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b="1" dirty="0"/>
              <a:t>Vídeo explicativo</a:t>
            </a:r>
          </a:p>
          <a:p>
            <a:pPr marL="687600" lvl="1" indent="-285750" fontAlgn="base"/>
            <a:r>
              <a:rPr lang="pt-BR" dirty="0">
                <a:hlinkClick r:id="rId2"/>
              </a:rPr>
              <a:t>https://www.youtube.com/watch?v=12EaUb6o2mM</a:t>
            </a:r>
            <a:endParaRPr lang="pt-BR" dirty="0"/>
          </a:p>
          <a:p>
            <a:pPr marL="687600" lvl="1" indent="-285750" fontAlgn="base"/>
            <a:r>
              <a:rPr lang="pt-BR" dirty="0">
                <a:hlinkClick r:id="rId3"/>
              </a:rPr>
              <a:t>https://www.youtube.com/watch?v=etPizFNPupk&amp;t=13s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903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1297</TotalTime>
  <Words>1702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Tema do Office</vt:lpstr>
      <vt:lpstr>Ameaças Cibernéticas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ILoveYou</vt:lpstr>
      <vt:lpstr>Casos reais – Stuxnet</vt:lpstr>
      <vt:lpstr>Casos reais – Stuxnet</vt:lpstr>
      <vt:lpstr>Casos reais – Stuxnet</vt:lpstr>
      <vt:lpstr>Casos reais – Stuxnet</vt:lpstr>
      <vt:lpstr>Casos reais - WannaCry</vt:lpstr>
      <vt:lpstr>Casos reais – WannaCry</vt:lpstr>
      <vt:lpstr>Casos reais – WannaCry</vt:lpstr>
      <vt:lpstr>Casos reais – WannaCry</vt:lpstr>
      <vt:lpstr>Casos reais – WannaCry</vt:lpstr>
      <vt:lpstr>Casos reais – WannaCry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141</cp:revision>
  <dcterms:created xsi:type="dcterms:W3CDTF">2024-03-08T12:14:33Z</dcterms:created>
  <dcterms:modified xsi:type="dcterms:W3CDTF">2026-03-10T01:32:41Z</dcterms:modified>
</cp:coreProperties>
</file>