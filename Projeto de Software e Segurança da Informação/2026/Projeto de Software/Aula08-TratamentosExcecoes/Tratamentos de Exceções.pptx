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4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5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edro Henrique Miho de Souza" initials="PHMdS" lastIdx="2" clrIdx="0">
    <p:extLst>
      <p:ext uri="{19B8F6BF-5375-455C-9EA6-DF929625EA0E}">
        <p15:presenceInfo xmlns:p15="http://schemas.microsoft.com/office/powerpoint/2012/main" userId="S-1-5-21-1968796493-41410912-2451105760-100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2A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7" autoAdjust="0"/>
    <p:restoredTop sz="94660"/>
  </p:normalViewPr>
  <p:slideViewPr>
    <p:cSldViewPr snapToGrid="0" showGuides="1">
      <p:cViewPr varScale="1">
        <p:scale>
          <a:sx n="113" d="100"/>
          <a:sy n="113" d="100"/>
        </p:scale>
        <p:origin x="336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customXml" Target="../customXml/item3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BB45FB-FC1C-4893-B550-48C1193193C6}" type="datetimeFigureOut">
              <a:rPr lang="pt-BR" smtClean="0"/>
              <a:t>29/04/2025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800886-2B44-4102-B316-2BF70C09400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2525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9F73EA-414C-4929-B3E7-AD122EFFBF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52931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37FCEED-3F66-43BC-8B20-36021361A3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60550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639507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5DFB8E-AD99-4A2B-8BE2-ED878F912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BA61F7-989E-45C9-916D-42CE0B17B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435133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spcBef>
                <a:spcPts val="0"/>
              </a:spcBef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algn="just">
              <a:lnSpc>
                <a:spcPct val="150000"/>
              </a:lnSpc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algn="just">
              <a:lnSpc>
                <a:spcPct val="150000"/>
              </a:lnSpc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algn="just">
              <a:lnSpc>
                <a:spcPct val="150000"/>
              </a:lnSpc>
              <a:spcBef>
                <a:spcPts val="0"/>
              </a:spcBef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algn="just">
              <a:lnSpc>
                <a:spcPct val="150000"/>
              </a:lnSpc>
              <a:spcBef>
                <a:spcPts val="0"/>
              </a:spcBef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907272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440976-951F-48E1-9F65-E2E7237C0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3F09C38-83BA-4379-9DE9-B52DAEE2D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801F2F7-E203-4170-8B06-E39E4EF61B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29/04/2025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E2FDAB5-81C4-491B-B1DB-3E7A63996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87684E-F6A9-4B10-B6C6-98901C57A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2691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537CFC-895E-42D9-B850-249E3AA64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E2EF1D-1141-40D7-BDED-690939FB81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ECF165-5788-48F8-B64E-CAD147B1C6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21A5A9C-1616-4A2F-9897-2AA0D6A7B0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29/04/2025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19E4B8E-0EE6-4C64-9500-F64ED0B84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FE3A651-93A6-476E-86D8-9380EB079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8024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8013D5-4B61-49F1-B604-8019D708D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7207A11-9E53-4968-BFBB-FBA312D24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E141C8A-81E9-4FD8-AF20-F5BD9DA313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B1C8E84-38D3-49F5-9A51-7C0AF548D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95D1BB-221B-469A-A06C-FD406B207A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EAA33C3-5B87-4019-8743-8F9C2F9830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29/04/2025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0BDA0B8-E9EF-4477-9209-5DEC09732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BCF0E10-CAD6-4E43-98B3-1AFB88B68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5059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F29988-C070-4222-8D96-E36CF17E1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20D39C8-444E-4546-80F5-D0180A75AF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29/04/2025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1C134A4-BE1B-4962-9516-659CD4519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CE7749A-36AE-46D1-BE46-BE0E2F45B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7533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43BC826-C9FB-472E-956F-F80F0568AE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29/04/2025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E154652-AECB-47CC-A9CD-8426C4D1A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7E24980-9E3E-413B-9621-9DCBCC5F4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3773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9EF455-B40C-43F1-B648-F6F57DD2C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1570ACE-9666-4656-BDDD-596392FA70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FF34EE3-79AE-487D-B73B-1A408180A0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E5AF76A-9469-4EBF-8DAC-F6889FD754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29/04/2025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B4ED122-B6B8-4D0E-98A8-D12057984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4136D5D-BD69-4CD2-A354-F8289DAAC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1492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87CECA-FA2C-4E5F-A052-5D5CBF0F7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20F7117-B346-47D7-9DBC-5BBD02B232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FDB8822-F4D3-4DE6-B130-D7308F116C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370F3C1-6276-4A5F-B650-8B2E8FB063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29/04/2025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142CF32-D9DD-42DF-9B63-B3207D85D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2A81DD0-CB02-442E-A173-AFA500CC7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6478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DB2585-BC56-4839-AEEF-1B75486F2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8134"/>
            <a:ext cx="9392728" cy="491707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9D1A810-2C5E-49EA-AAFC-FDC1AA5F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05287" y="1825624"/>
            <a:ext cx="10981426" cy="461830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866602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EDB59BB-5636-42CF-B124-FAF3D7953F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3875309-BF17-4BAA-9583-FFA5CD6256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54D6C19-C741-47D2-A6CB-2906DBB982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29/04/2025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AC129DE-944E-4128-9F49-76B5C1F4F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0892AE-B301-431E-9D8C-F0BDAF576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5955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56E30110-E419-43DB-AEFA-3636065754B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762736"/>
            <a:ext cx="12192000" cy="95264"/>
          </a:xfrm>
          <a:prstGeom prst="rect">
            <a:avLst/>
          </a:prstGeom>
          <a:solidFill>
            <a:schemeClr val="bg1"/>
          </a:solidFill>
          <a:ln>
            <a:solidFill>
              <a:srgbClr val="292A86"/>
            </a:solidFill>
          </a:ln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AAA702B-ED3B-45E1-8C71-1ACC187886AA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582422" y="635357"/>
            <a:ext cx="122428" cy="888712"/>
          </a:xfrm>
          <a:prstGeom prst="rect">
            <a:avLst/>
          </a:prstGeom>
          <a:solidFill>
            <a:srgbClr val="292A86"/>
          </a:solidFill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9B168A8-B937-4519-802D-8D1D90A0A0EA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83716" y="719713"/>
            <a:ext cx="1273846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495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8B8FC8-9D6D-4E3B-ABB7-9EF80D9004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sz="5400" dirty="0"/>
              <a:t>Tratamento de Exceções em Java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E03FF3E-842E-4C89-BED7-4C22AAAEFC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Prof. Esp. Pedro Miho</a:t>
            </a:r>
          </a:p>
        </p:txBody>
      </p:sp>
    </p:spTree>
    <p:extLst>
      <p:ext uri="{BB962C8B-B14F-4D97-AF65-F5344CB8AC3E}">
        <p14:creationId xmlns:p14="http://schemas.microsoft.com/office/powerpoint/2010/main" val="160591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1E34B5-7ADC-4F53-91A5-4210FE1C0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Objetivos da Aula</a:t>
            </a:r>
            <a:br>
              <a:rPr lang="pt-BR" b="1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C04BB49-A3BF-4860-BFBF-361AB3C0DE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Ao final da aula, os alunos serão capazes de:</a:t>
            </a:r>
          </a:p>
          <a:p>
            <a:pPr marL="1028700" lvl="1" indent="-342900"/>
            <a:r>
              <a:rPr lang="pt-BR" dirty="0"/>
              <a:t>Compreender o conceito de exceção e sua importância na programação.</a:t>
            </a:r>
          </a:p>
          <a:p>
            <a:pPr marL="1028700" lvl="1" indent="-342900"/>
            <a:r>
              <a:rPr lang="pt-BR" dirty="0"/>
              <a:t>Diferenciar exceções verificadas (</a:t>
            </a:r>
            <a:r>
              <a:rPr lang="pt-BR" dirty="0" err="1"/>
              <a:t>checked</a:t>
            </a:r>
            <a:r>
              <a:rPr lang="pt-BR" dirty="0"/>
              <a:t>) e não verificadas (</a:t>
            </a:r>
            <a:r>
              <a:rPr lang="pt-BR" dirty="0" err="1"/>
              <a:t>unchecked</a:t>
            </a:r>
            <a:r>
              <a:rPr lang="pt-BR" dirty="0"/>
              <a:t>).</a:t>
            </a:r>
          </a:p>
          <a:p>
            <a:pPr marL="1028700" lvl="1" indent="-342900"/>
            <a:r>
              <a:rPr lang="pt-BR" dirty="0"/>
              <a:t>Utilizar </a:t>
            </a:r>
            <a:r>
              <a:rPr lang="pt-BR" dirty="0" err="1"/>
              <a:t>try</a:t>
            </a:r>
            <a:r>
              <a:rPr lang="pt-BR" dirty="0"/>
              <a:t>, catch, </a:t>
            </a:r>
            <a:r>
              <a:rPr lang="pt-BR" dirty="0" err="1"/>
              <a:t>finally</a:t>
            </a:r>
            <a:r>
              <a:rPr lang="pt-BR" dirty="0"/>
              <a:t> e </a:t>
            </a:r>
            <a:r>
              <a:rPr lang="pt-BR" dirty="0" err="1"/>
              <a:t>throw</a:t>
            </a:r>
            <a:r>
              <a:rPr lang="pt-BR" dirty="0"/>
              <a:t> para tratar erros.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66944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EA89A6-5F36-4142-833E-595C44BD5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uma Exceção 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D929DDE-3A1A-4D5A-9239-6506D86D7C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Exceções são eventos anormais que interrompem o fluxo de execução de um programa, representando erros como:</a:t>
            </a:r>
          </a:p>
          <a:p>
            <a:pPr marL="1028700" lvl="1" indent="-342900"/>
            <a:r>
              <a:rPr lang="pt-BR" dirty="0"/>
              <a:t>Divisão por zero</a:t>
            </a:r>
          </a:p>
          <a:p>
            <a:pPr marL="1028700" lvl="1" indent="-342900"/>
            <a:r>
              <a:rPr lang="pt-BR" dirty="0"/>
              <a:t>Acesso a arquivos inexistentes</a:t>
            </a:r>
          </a:p>
          <a:p>
            <a:pPr marL="1028700" lvl="1" indent="-342900"/>
            <a:r>
              <a:rPr lang="pt-BR" dirty="0"/>
              <a:t>Problemas de conexão com o banco de dados</a:t>
            </a:r>
          </a:p>
          <a:p>
            <a:pPr marL="1028700" lvl="1" indent="-342900"/>
            <a:r>
              <a:rPr lang="pt-BR" dirty="0"/>
              <a:t>Conversão de tipos inválidos.</a:t>
            </a:r>
          </a:p>
          <a:p>
            <a:r>
              <a:rPr lang="pt-BR" dirty="0"/>
              <a:t>Elas podem encerrar o programa de forma inesperada, afetando a experiência do usuário e a estabilidade do sistema. Para lidar com isso, Java oferece mecanismos como </a:t>
            </a:r>
            <a:r>
              <a:rPr lang="pt-BR" dirty="0" err="1"/>
              <a:t>try</a:t>
            </a:r>
            <a:r>
              <a:rPr lang="pt-BR" dirty="0"/>
              <a:t>, catch, </a:t>
            </a:r>
            <a:r>
              <a:rPr lang="pt-BR" dirty="0" err="1"/>
              <a:t>finally</a:t>
            </a:r>
            <a:r>
              <a:rPr lang="pt-BR" dirty="0"/>
              <a:t> e </a:t>
            </a:r>
            <a:r>
              <a:rPr lang="pt-BR" dirty="0" err="1"/>
              <a:t>throws</a:t>
            </a:r>
            <a:r>
              <a:rPr lang="pt-BR" dirty="0"/>
              <a:t> para capturar e tratar essas exceções.</a:t>
            </a:r>
          </a:p>
        </p:txBody>
      </p:sp>
    </p:spTree>
    <p:extLst>
      <p:ext uri="{BB962C8B-B14F-4D97-AF65-F5344CB8AC3E}">
        <p14:creationId xmlns:p14="http://schemas.microsoft.com/office/powerpoint/2010/main" val="2609032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9CB44B-456A-421E-9D89-357FF0E06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Sintaxe </a:t>
            </a:r>
            <a:r>
              <a:rPr lang="pt-BR" dirty="0" err="1"/>
              <a:t>try</a:t>
            </a:r>
            <a:r>
              <a:rPr lang="pt-BR" dirty="0"/>
              <a:t> ... catch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EBAD25F-F96A-44E3-8FE5-851AE69C2BFF}"/>
              </a:ext>
            </a:extLst>
          </p:cNvPr>
          <p:cNvSpPr/>
          <p:nvPr/>
        </p:nvSpPr>
        <p:spPr>
          <a:xfrm>
            <a:off x="2810933" y="2994506"/>
            <a:ext cx="7713133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try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indent="457200"/>
            <a:r>
              <a:rPr lang="pt-BR" dirty="0">
                <a:solidFill>
                  <a:srgbClr val="3F7F5F"/>
                </a:solidFill>
                <a:latin typeface="Consolas" panose="020B0609020204030204" pitchFamily="49" charset="0"/>
              </a:rPr>
              <a:t>// Bloco de código onde pode ocorrer uma exceção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pt-BR" b="1" dirty="0">
                <a:solidFill>
                  <a:srgbClr val="7F0055"/>
                </a:solidFill>
                <a:latin typeface="Consolas" panose="020B0609020204030204" pitchFamily="49" charset="0"/>
              </a:rPr>
              <a:t>catch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(TipoDeExcecao1 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e1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indent="457200"/>
            <a:r>
              <a:rPr lang="pt-BR" dirty="0">
                <a:solidFill>
                  <a:srgbClr val="3F7F5F"/>
                </a:solidFill>
                <a:latin typeface="Consolas" panose="020B0609020204030204" pitchFamily="49" charset="0"/>
              </a:rPr>
              <a:t>// Bloco de código que trata a TipoDeExcecao1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pt-BR" b="1" dirty="0">
                <a:solidFill>
                  <a:srgbClr val="7F0055"/>
                </a:solidFill>
                <a:latin typeface="Consolas" panose="020B0609020204030204" pitchFamily="49" charset="0"/>
              </a:rPr>
              <a:t>catch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(TipoDeExcecao2 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e2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indent="457200"/>
            <a:r>
              <a:rPr lang="pt-BR" dirty="0">
                <a:solidFill>
                  <a:srgbClr val="3F7F5F"/>
                </a:solidFill>
                <a:latin typeface="Consolas" panose="020B0609020204030204" pitchFamily="49" charset="0"/>
              </a:rPr>
              <a:t>// Bloco de código que trata a TipoDeExcecao2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56780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7766DE-CF8A-4F06-BB79-E06C5F50D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Exemplos de exceções no </a:t>
            </a:r>
            <a:r>
              <a:rPr lang="pt-BR" dirty="0" err="1"/>
              <a:t>try</a:t>
            </a:r>
            <a:r>
              <a:rPr lang="pt-BR" dirty="0"/>
              <a:t>-catch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FF61CCC-3F1A-40C7-9274-6885A23DAC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619125"/>
          </a:xfrm>
        </p:spPr>
        <p:txBody>
          <a:bodyPr/>
          <a:lstStyle/>
          <a:p>
            <a:r>
              <a:rPr lang="pt-BR" dirty="0" err="1"/>
              <a:t>NullPointerException</a:t>
            </a:r>
            <a:r>
              <a:rPr lang="pt-BR" dirty="0"/>
              <a:t> - Ocorre quando você tenta acessar ou manipular um objeto que é </a:t>
            </a:r>
            <a:r>
              <a:rPr lang="pt-BR" dirty="0" err="1"/>
              <a:t>null</a:t>
            </a:r>
            <a:r>
              <a:rPr lang="pt-BR" dirty="0"/>
              <a:t>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67652124-3FF1-4A81-909E-5CF887A7FB7B}"/>
              </a:ext>
            </a:extLst>
          </p:cNvPr>
          <p:cNvSpPr/>
          <p:nvPr/>
        </p:nvSpPr>
        <p:spPr>
          <a:xfrm>
            <a:off x="1566333" y="3079171"/>
            <a:ext cx="9059334" cy="20108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try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indent="457200">
              <a:spcBef>
                <a:spcPts val="150"/>
              </a:spcBef>
              <a:spcAft>
                <a:spcPts val="150"/>
              </a:spcAft>
            </a:pP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str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457200">
              <a:spcBef>
                <a:spcPts val="150"/>
              </a:spcBef>
              <a:spcAft>
                <a:spcPts val="150"/>
              </a:spcAft>
            </a:pP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str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.length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pt-BR" b="1" dirty="0">
                <a:solidFill>
                  <a:srgbClr val="7F0055"/>
                </a:solidFill>
                <a:latin typeface="Consolas" panose="020B0609020204030204" pitchFamily="49" charset="0"/>
              </a:rPr>
              <a:t>catch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NullPointerException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indent="457200">
              <a:spcBef>
                <a:spcPts val="150"/>
              </a:spcBef>
              <a:spcAft>
                <a:spcPts val="150"/>
              </a:spcAft>
            </a:pP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2A00FF"/>
                </a:solidFill>
                <a:latin typeface="Consolas" panose="020B0609020204030204" pitchFamily="49" charset="0"/>
              </a:rPr>
              <a:t>"Erro: Tentativa de acessar um objeto nulo."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16691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7766DE-CF8A-4F06-BB79-E06C5F50D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Exemplos de exceções no </a:t>
            </a:r>
            <a:r>
              <a:rPr lang="pt-BR" dirty="0" err="1"/>
              <a:t>try</a:t>
            </a:r>
            <a:r>
              <a:rPr lang="pt-BR" dirty="0"/>
              <a:t>-catch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FF61CCC-3F1A-40C7-9274-6885A23DAC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932392"/>
          </a:xfrm>
        </p:spPr>
        <p:txBody>
          <a:bodyPr/>
          <a:lstStyle/>
          <a:p>
            <a:r>
              <a:rPr lang="pt-BR" dirty="0" err="1"/>
              <a:t>ArrayIndexOutOfBoundsException</a:t>
            </a:r>
            <a:r>
              <a:rPr lang="pt-BR" dirty="0"/>
              <a:t> - Ocorre quando você tenta acessar um índice fora do limite de um </a:t>
            </a:r>
            <a:r>
              <a:rPr lang="pt-BR" dirty="0" err="1"/>
              <a:t>array</a:t>
            </a:r>
            <a:r>
              <a:rPr lang="pt-BR" dirty="0"/>
              <a:t>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DB66B5FB-0936-4989-893A-664850F7783E}"/>
              </a:ext>
            </a:extLst>
          </p:cNvPr>
          <p:cNvSpPr/>
          <p:nvPr/>
        </p:nvSpPr>
        <p:spPr>
          <a:xfrm>
            <a:off x="1989667" y="3429000"/>
            <a:ext cx="8212666" cy="190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try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indent="457200">
              <a:spcBef>
                <a:spcPts val="150"/>
              </a:spcBef>
              <a:spcAft>
                <a:spcPts val="150"/>
              </a:spcAft>
            </a:pPr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arr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[5];</a:t>
            </a:r>
          </a:p>
          <a:p>
            <a:pPr indent="457200">
              <a:spcBef>
                <a:spcPts val="150"/>
              </a:spcBef>
              <a:spcAft>
                <a:spcPts val="150"/>
              </a:spcAft>
            </a:pP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arr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[10]);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pt-BR" b="1" dirty="0">
                <a:solidFill>
                  <a:srgbClr val="7F0055"/>
                </a:solidFill>
                <a:latin typeface="Consolas" panose="020B0609020204030204" pitchFamily="49" charset="0"/>
              </a:rPr>
              <a:t>catch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ArrayIndexOutOfBoundsException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indent="457200">
              <a:spcBef>
                <a:spcPts val="150"/>
              </a:spcBef>
              <a:spcAft>
                <a:spcPts val="150"/>
              </a:spcAft>
            </a:pP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2A00FF"/>
                </a:solidFill>
                <a:latin typeface="Consolas" panose="020B0609020204030204" pitchFamily="49" charset="0"/>
              </a:rPr>
              <a:t>"Erro: Índice fora do limite do </a:t>
            </a:r>
            <a:r>
              <a:rPr lang="pt-BR" dirty="0" err="1">
                <a:solidFill>
                  <a:srgbClr val="2A00FF"/>
                </a:solidFill>
                <a:latin typeface="Consolas" panose="020B0609020204030204" pitchFamily="49" charset="0"/>
              </a:rPr>
              <a:t>array</a:t>
            </a:r>
            <a:r>
              <a:rPr lang="pt-BR" dirty="0">
                <a:solidFill>
                  <a:srgbClr val="2A00FF"/>
                </a:solidFill>
                <a:latin typeface="Consolas" panose="020B0609020204030204" pitchFamily="49" charset="0"/>
              </a:rPr>
              <a:t>."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30091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7766DE-CF8A-4F06-BB79-E06C5F50D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Exemplos de exceções no </a:t>
            </a:r>
            <a:r>
              <a:rPr lang="pt-BR" dirty="0" err="1"/>
              <a:t>try</a:t>
            </a:r>
            <a:r>
              <a:rPr lang="pt-BR" dirty="0"/>
              <a:t>-catch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FF61CCC-3F1A-40C7-9274-6885A23DAC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619125"/>
          </a:xfrm>
        </p:spPr>
        <p:txBody>
          <a:bodyPr/>
          <a:lstStyle/>
          <a:p>
            <a:r>
              <a:rPr lang="pt-BR" dirty="0" err="1"/>
              <a:t>ArithmeticException</a:t>
            </a:r>
            <a:r>
              <a:rPr lang="pt-BR" dirty="0"/>
              <a:t> - Ocorre quando uma operação aritmética inválida, como a divisão por zero, é realizada.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DB41D093-10CE-472F-B6B3-8A591B2A9344}"/>
              </a:ext>
            </a:extLst>
          </p:cNvPr>
          <p:cNvSpPr/>
          <p:nvPr/>
        </p:nvSpPr>
        <p:spPr>
          <a:xfrm>
            <a:off x="1908592" y="3813372"/>
            <a:ext cx="837481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try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indent="457200"/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resultado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10 / 0;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pt-BR" b="1" dirty="0">
                <a:solidFill>
                  <a:srgbClr val="7F0055"/>
                </a:solidFill>
                <a:latin typeface="Consolas" panose="020B0609020204030204" pitchFamily="49" charset="0"/>
              </a:rPr>
              <a:t>catch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ArithmeticException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indent="457200"/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2A00FF"/>
                </a:solidFill>
                <a:latin typeface="Consolas" panose="020B0609020204030204" pitchFamily="49" charset="0"/>
              </a:rPr>
              <a:t>"Erro: Não é possível dividir por zero."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692434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7766DE-CF8A-4F06-BB79-E06C5F50D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Exemplos de exceções no </a:t>
            </a:r>
            <a:r>
              <a:rPr lang="pt-BR" dirty="0" err="1"/>
              <a:t>try</a:t>
            </a:r>
            <a:r>
              <a:rPr lang="pt-BR" dirty="0"/>
              <a:t>-catch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FF61CCC-3F1A-40C7-9274-6885A23DAC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619125"/>
          </a:xfrm>
        </p:spPr>
        <p:txBody>
          <a:bodyPr/>
          <a:lstStyle/>
          <a:p>
            <a:r>
              <a:rPr lang="pt-BR" dirty="0" err="1"/>
              <a:t>ClassNotFoundException</a:t>
            </a:r>
            <a:r>
              <a:rPr lang="pt-BR" dirty="0"/>
              <a:t> - Ocorre quando a JVM não consegue encontrar uma classe especificada.</a:t>
            </a:r>
          </a:p>
          <a:p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3BA48BB-6E31-40D5-9D76-550D5EBF7116}"/>
              </a:ext>
            </a:extLst>
          </p:cNvPr>
          <p:cNvSpPr/>
          <p:nvPr/>
        </p:nvSpPr>
        <p:spPr>
          <a:xfrm>
            <a:off x="2514600" y="3429000"/>
            <a:ext cx="7162801" cy="15799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try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indent="457200">
              <a:spcBef>
                <a:spcPts val="150"/>
              </a:spcBef>
              <a:spcAft>
                <a:spcPts val="150"/>
              </a:spcAft>
            </a:pP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Class.</a:t>
            </a:r>
            <a:r>
              <a:rPr lang="pt-BR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forName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pt-BR" dirty="0" err="1">
                <a:solidFill>
                  <a:srgbClr val="2A00FF"/>
                </a:solidFill>
                <a:latin typeface="Consolas" panose="020B0609020204030204" pitchFamily="49" charset="0"/>
              </a:rPr>
              <a:t>com.exemplo.MinhaClasse</a:t>
            </a:r>
            <a:r>
              <a:rPr lang="pt-BR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pt-BR" b="1" dirty="0">
                <a:solidFill>
                  <a:srgbClr val="7F0055"/>
                </a:solidFill>
                <a:latin typeface="Consolas" panose="020B0609020204030204" pitchFamily="49" charset="0"/>
              </a:rPr>
              <a:t>catch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ClassNotFoundException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indent="457200">
              <a:spcBef>
                <a:spcPts val="150"/>
              </a:spcBef>
              <a:spcAft>
                <a:spcPts val="150"/>
              </a:spcAft>
            </a:pP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2A00FF"/>
                </a:solidFill>
                <a:latin typeface="Consolas" panose="020B0609020204030204" pitchFamily="49" charset="0"/>
              </a:rPr>
              <a:t>"Erro: Classe não encontrada."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36706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7766DE-CF8A-4F06-BB79-E06C5F50D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Exemplos de exceções no </a:t>
            </a:r>
            <a:r>
              <a:rPr lang="pt-BR" dirty="0" err="1"/>
              <a:t>try</a:t>
            </a:r>
            <a:r>
              <a:rPr lang="pt-BR" dirty="0"/>
              <a:t>-catch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FF61CCC-3F1A-40C7-9274-6885A23DAC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619125"/>
          </a:xfrm>
        </p:spPr>
        <p:txBody>
          <a:bodyPr/>
          <a:lstStyle/>
          <a:p>
            <a:r>
              <a:rPr lang="pt-BR" dirty="0" err="1"/>
              <a:t>FileNotFoundException</a:t>
            </a:r>
            <a:r>
              <a:rPr lang="pt-BR" dirty="0"/>
              <a:t> - Ocorre quando um arquivo especificado não é encontrado no sistema de arquivos.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EF22CD4-FCDC-455E-8117-5EFB66A43ACE}"/>
              </a:ext>
            </a:extLst>
          </p:cNvPr>
          <p:cNvSpPr/>
          <p:nvPr/>
        </p:nvSpPr>
        <p:spPr>
          <a:xfrm>
            <a:off x="2298700" y="3564282"/>
            <a:ext cx="7594600" cy="20108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try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indent="457200">
              <a:spcBef>
                <a:spcPts val="150"/>
              </a:spcBef>
              <a:spcAft>
                <a:spcPts val="150"/>
              </a:spcAft>
            </a:pP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File </a:t>
            </a: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file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File(</a:t>
            </a:r>
            <a:r>
              <a:rPr lang="pt-BR" dirty="0">
                <a:solidFill>
                  <a:srgbClr val="2A00FF"/>
                </a:solidFill>
                <a:latin typeface="Consolas" panose="020B0609020204030204" pitchFamily="49" charset="0"/>
              </a:rPr>
              <a:t>"arquivo_inexistente.txt"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indent="457200">
              <a:spcBef>
                <a:spcPts val="150"/>
              </a:spcBef>
              <a:spcAft>
                <a:spcPts val="150"/>
              </a:spcAft>
            </a:pP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FileReader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fr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FileReader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file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pt-BR" b="1" dirty="0">
                <a:solidFill>
                  <a:srgbClr val="7F0055"/>
                </a:solidFill>
                <a:latin typeface="Consolas" panose="020B0609020204030204" pitchFamily="49" charset="0"/>
              </a:rPr>
              <a:t>catch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FileNotFoundException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indent="457200">
              <a:spcBef>
                <a:spcPts val="150"/>
              </a:spcBef>
              <a:spcAft>
                <a:spcPts val="150"/>
              </a:spcAft>
            </a:pP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2A00FF"/>
                </a:solidFill>
                <a:latin typeface="Consolas" panose="020B0609020204030204" pitchFamily="49" charset="0"/>
              </a:rPr>
              <a:t>"Erro: Arquivo não encontrado."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55058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7766DE-CF8A-4F06-BB79-E06C5F50D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Exemplos de exceções no </a:t>
            </a:r>
            <a:r>
              <a:rPr lang="pt-BR" dirty="0" err="1"/>
              <a:t>try</a:t>
            </a:r>
            <a:r>
              <a:rPr lang="pt-BR" dirty="0"/>
              <a:t>-catch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FF61CCC-3F1A-40C7-9274-6885A23DAC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619125"/>
          </a:xfrm>
        </p:spPr>
        <p:txBody>
          <a:bodyPr/>
          <a:lstStyle/>
          <a:p>
            <a:r>
              <a:rPr lang="pt-BR" dirty="0" err="1"/>
              <a:t>SQLException</a:t>
            </a:r>
            <a:r>
              <a:rPr lang="pt-BR" dirty="0"/>
              <a:t> - Ocorre quando há falha na execução de operações relacionadas ao banco de dados, como falha de conexão ou erro na consulta SQL.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57CA3F0-247C-4657-A62F-B28E3563F8B0}"/>
              </a:ext>
            </a:extLst>
          </p:cNvPr>
          <p:cNvSpPr/>
          <p:nvPr/>
        </p:nvSpPr>
        <p:spPr>
          <a:xfrm>
            <a:off x="1028701" y="3240039"/>
            <a:ext cx="10134599" cy="20723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600" dirty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pt-BR" sz="1600" u="sng" dirty="0">
                <a:solidFill>
                  <a:srgbClr val="3F7F5F"/>
                </a:solidFill>
                <a:latin typeface="Consolas" panose="020B0609020204030204" pitchFamily="49" charset="0"/>
              </a:rPr>
              <a:t>Exemplo</a:t>
            </a:r>
            <a:r>
              <a:rPr lang="pt-BR" sz="1600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3F7F5F"/>
                </a:solidFill>
                <a:latin typeface="Consolas" panose="020B0609020204030204" pitchFamily="49" charset="0"/>
              </a:rPr>
              <a:t>SQLException</a:t>
            </a:r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try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indent="457200">
              <a:spcBef>
                <a:spcPts val="150"/>
              </a:spcBef>
              <a:spcAft>
                <a:spcPts val="15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Connection </a:t>
            </a:r>
            <a:r>
              <a:rPr lang="pt-BR" sz="1600" u="sng" dirty="0" err="1">
                <a:solidFill>
                  <a:srgbClr val="6A3E3E"/>
                </a:solidFill>
                <a:latin typeface="Consolas" panose="020B0609020204030204" pitchFamily="49" charset="0"/>
              </a:rPr>
              <a:t>conn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DriverManager.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getConnection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pt-BR" sz="1600" dirty="0" err="1">
                <a:solidFill>
                  <a:srgbClr val="2A00FF"/>
                </a:solidFill>
                <a:latin typeface="Consolas" panose="020B0609020204030204" pitchFamily="49" charset="0"/>
              </a:rPr>
              <a:t>jdbc:mysql</a:t>
            </a:r>
            <a:r>
              <a:rPr lang="pt-BR" sz="1600" dirty="0">
                <a:solidFill>
                  <a:srgbClr val="2A00FF"/>
                </a:solidFill>
                <a:latin typeface="Consolas" panose="020B0609020204030204" pitchFamily="49" charset="0"/>
              </a:rPr>
              <a:t>://localhost:3306/</a:t>
            </a:r>
            <a:r>
              <a:rPr lang="pt-BR" sz="1600" dirty="0" err="1">
                <a:solidFill>
                  <a:srgbClr val="2A00FF"/>
                </a:solidFill>
                <a:latin typeface="Consolas" panose="020B0609020204030204" pitchFamily="49" charset="0"/>
              </a:rPr>
              <a:t>meubanco</a:t>
            </a:r>
            <a:r>
              <a:rPr lang="pt-BR" sz="1600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>
                <a:solidFill>
                  <a:srgbClr val="2A00FF"/>
                </a:solidFill>
                <a:latin typeface="Consolas" panose="020B0609020204030204" pitchFamily="49" charset="0"/>
              </a:rPr>
              <a:t>"root"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>
                <a:solidFill>
                  <a:srgbClr val="2A00FF"/>
                </a:solidFill>
                <a:latin typeface="Consolas" panose="020B0609020204030204" pitchFamily="49" charset="0"/>
              </a:rPr>
              <a:t>"senha"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catch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SQLException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indent="457200">
              <a:spcBef>
                <a:spcPts val="150"/>
              </a:spcBef>
              <a:spcAft>
                <a:spcPts val="150"/>
              </a:spcAft>
            </a:pP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2A00FF"/>
                </a:solidFill>
                <a:latin typeface="Consolas" panose="020B0609020204030204" pitchFamily="49" charset="0"/>
              </a:rPr>
              <a:t>"Erro: Problema de conexão com o banco de dados."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184743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7766DE-CF8A-4F06-BB79-E06C5F50D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Exemplos de exceções no </a:t>
            </a:r>
            <a:r>
              <a:rPr lang="pt-BR" dirty="0" err="1"/>
              <a:t>try</a:t>
            </a:r>
            <a:r>
              <a:rPr lang="pt-BR" dirty="0"/>
              <a:t>-catch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FF61CCC-3F1A-40C7-9274-6885A23DAC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619125"/>
          </a:xfrm>
        </p:spPr>
        <p:txBody>
          <a:bodyPr/>
          <a:lstStyle/>
          <a:p>
            <a:r>
              <a:rPr lang="pt-BR" dirty="0" err="1"/>
              <a:t>NumberFormatException</a:t>
            </a:r>
            <a:r>
              <a:rPr lang="pt-BR" dirty="0"/>
              <a:t> - Ocorre quando tenta-se converter uma </a:t>
            </a:r>
            <a:r>
              <a:rPr lang="pt-BR" dirty="0" err="1"/>
              <a:t>string</a:t>
            </a:r>
            <a:r>
              <a:rPr lang="pt-BR" dirty="0"/>
              <a:t> para um número, mas o formato da </a:t>
            </a:r>
            <a:r>
              <a:rPr lang="pt-BR" dirty="0" err="1"/>
              <a:t>string</a:t>
            </a:r>
            <a:r>
              <a:rPr lang="pt-BR" dirty="0"/>
              <a:t> não é válido.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3B95B00-D4DA-4223-90D4-530F1042789D}"/>
              </a:ext>
            </a:extLst>
          </p:cNvPr>
          <p:cNvSpPr/>
          <p:nvPr/>
        </p:nvSpPr>
        <p:spPr>
          <a:xfrm>
            <a:off x="2167467" y="3429000"/>
            <a:ext cx="7857067" cy="20108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try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indent="457200">
              <a:spcBef>
                <a:spcPts val="150"/>
              </a:spcBef>
              <a:spcAft>
                <a:spcPts val="150"/>
              </a:spcAft>
            </a:pP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numero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dirty="0">
                <a:solidFill>
                  <a:srgbClr val="2A00FF"/>
                </a:solidFill>
                <a:latin typeface="Consolas" panose="020B0609020204030204" pitchFamily="49" charset="0"/>
              </a:rPr>
              <a:t>"abc"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457200">
              <a:spcBef>
                <a:spcPts val="150"/>
              </a:spcBef>
              <a:spcAft>
                <a:spcPts val="150"/>
              </a:spcAft>
            </a:pPr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u="sng" dirty="0">
                <a:solidFill>
                  <a:srgbClr val="6A3E3E"/>
                </a:solidFill>
                <a:latin typeface="Consolas" panose="020B0609020204030204" pitchFamily="49" charset="0"/>
              </a:rPr>
              <a:t>num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Integer.</a:t>
            </a:r>
            <a:r>
              <a:rPr lang="pt-BR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parseInt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numero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pt-BR" b="1" dirty="0">
                <a:solidFill>
                  <a:srgbClr val="7F0055"/>
                </a:solidFill>
                <a:latin typeface="Consolas" panose="020B0609020204030204" pitchFamily="49" charset="0"/>
              </a:rPr>
              <a:t>catch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NumberFormatException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indent="457200">
              <a:spcBef>
                <a:spcPts val="150"/>
              </a:spcBef>
              <a:spcAft>
                <a:spcPts val="150"/>
              </a:spcAft>
            </a:pP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2A00FF"/>
                </a:solidFill>
                <a:latin typeface="Consolas" panose="020B0609020204030204" pitchFamily="49" charset="0"/>
              </a:rPr>
              <a:t>"Erro: Formato de número inválido."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865079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7766DE-CF8A-4F06-BB79-E06C5F50D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Exemplos de exceções no </a:t>
            </a:r>
            <a:r>
              <a:rPr lang="pt-BR" dirty="0" err="1"/>
              <a:t>try</a:t>
            </a:r>
            <a:r>
              <a:rPr lang="pt-BR" dirty="0"/>
              <a:t>-catch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FF61CCC-3F1A-40C7-9274-6885A23DAC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619125"/>
          </a:xfrm>
        </p:spPr>
        <p:txBody>
          <a:bodyPr/>
          <a:lstStyle/>
          <a:p>
            <a:r>
              <a:rPr lang="pt-BR" dirty="0" err="1"/>
              <a:t>IOException</a:t>
            </a:r>
            <a:r>
              <a:rPr lang="pt-BR" dirty="0"/>
              <a:t> - Ocorre em operações de entrada/saída, como leitura de arquivos, quando há falhas no processo.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D08719D3-5677-4B77-A5D0-CAE51309AF8E}"/>
              </a:ext>
            </a:extLst>
          </p:cNvPr>
          <p:cNvSpPr/>
          <p:nvPr/>
        </p:nvSpPr>
        <p:spPr>
          <a:xfrm>
            <a:off x="1054100" y="3643405"/>
            <a:ext cx="100838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try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indent="457200"/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BufferedReader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reader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BufferedReader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FileReader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2A00FF"/>
                </a:solidFill>
                <a:latin typeface="Consolas" panose="020B0609020204030204" pitchFamily="49" charset="0"/>
              </a:rPr>
              <a:t>"arquivo.txt"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pPr indent="457200"/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linha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reader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.readLine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pt-BR" b="1" dirty="0">
                <a:solidFill>
                  <a:srgbClr val="7F0055"/>
                </a:solidFill>
                <a:latin typeface="Consolas" panose="020B0609020204030204" pitchFamily="49" charset="0"/>
              </a:rPr>
              <a:t>catch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IOException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indent="457200"/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2A00FF"/>
                </a:solidFill>
                <a:latin typeface="Consolas" panose="020B0609020204030204" pitchFamily="49" charset="0"/>
              </a:rPr>
              <a:t>"Erro: Falha na operação de entrada/saída."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588707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CDE039-655F-4967-9969-4D63BDCDC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Bloco </a:t>
            </a:r>
            <a:r>
              <a:rPr lang="pt-BR" dirty="0" err="1"/>
              <a:t>finally</a:t>
            </a:r>
            <a:r>
              <a:rPr lang="pt-BR" dirty="0"/>
              <a:t> em Java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A335C2-60B8-47CD-9607-DE672FC497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bloco </a:t>
            </a:r>
            <a:r>
              <a:rPr lang="pt-BR" dirty="0" err="1"/>
              <a:t>finally</a:t>
            </a:r>
            <a:r>
              <a:rPr lang="pt-BR" dirty="0"/>
              <a:t> garante que um conjunto de instruções seja sempre executado, independentemente de uma exceção ter sido ou não lançada no bloco </a:t>
            </a:r>
            <a:r>
              <a:rPr lang="pt-BR" dirty="0" err="1"/>
              <a:t>try</a:t>
            </a:r>
            <a:r>
              <a:rPr lang="pt-BR" dirty="0"/>
              <a:t>.</a:t>
            </a:r>
          </a:p>
          <a:p>
            <a:r>
              <a:rPr lang="pt-BR" dirty="0"/>
              <a:t>Funcionalidade:</a:t>
            </a:r>
          </a:p>
          <a:p>
            <a:pPr marL="1028700" lvl="1" indent="-342900"/>
            <a:r>
              <a:rPr lang="pt-BR" dirty="0"/>
              <a:t>Garantia de execução: O código dentro do bloco </a:t>
            </a:r>
            <a:r>
              <a:rPr lang="pt-BR" dirty="0" err="1"/>
              <a:t>finally</a:t>
            </a:r>
            <a:r>
              <a:rPr lang="pt-BR" dirty="0"/>
              <a:t> será executado sempre, independentemente de exceções.</a:t>
            </a:r>
          </a:p>
          <a:p>
            <a:pPr marL="1028700" lvl="1" indent="-342900"/>
            <a:r>
              <a:rPr lang="pt-BR" dirty="0"/>
              <a:t>Execução: O bloco </a:t>
            </a:r>
            <a:r>
              <a:rPr lang="pt-BR" dirty="0" err="1"/>
              <a:t>finally</a:t>
            </a:r>
            <a:r>
              <a:rPr lang="pt-BR" dirty="0"/>
              <a:t> é executado após o </a:t>
            </a:r>
            <a:r>
              <a:rPr lang="pt-BR" dirty="0" err="1"/>
              <a:t>try</a:t>
            </a:r>
            <a:r>
              <a:rPr lang="pt-BR" dirty="0"/>
              <a:t> e catch, garantindo que ações de limpeza ou liberação de recursos sejam feitas.</a:t>
            </a:r>
          </a:p>
          <a:p>
            <a:pPr marL="1028700" lvl="1" indent="-342900"/>
            <a:r>
              <a:rPr lang="pt-BR" dirty="0"/>
              <a:t>Importante: Mesmo que uma exceção não seja tratada no catch, o </a:t>
            </a:r>
            <a:r>
              <a:rPr lang="pt-BR" dirty="0" err="1"/>
              <a:t>finally</a:t>
            </a:r>
            <a:r>
              <a:rPr lang="pt-BR" dirty="0"/>
              <a:t> será executado antes do término do programa.</a:t>
            </a:r>
          </a:p>
        </p:txBody>
      </p:sp>
    </p:spTree>
    <p:extLst>
      <p:ext uri="{BB962C8B-B14F-4D97-AF65-F5344CB8AC3E}">
        <p14:creationId xmlns:p14="http://schemas.microsoft.com/office/powerpoint/2010/main" val="20140435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83F6B5-F482-4C51-865A-0F19EB7A6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Sintaxe </a:t>
            </a:r>
            <a:r>
              <a:rPr lang="pt-BR" dirty="0" err="1"/>
              <a:t>Finally</a:t>
            </a:r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E36BC53-4EFD-4289-B2CC-0F3108870068}"/>
              </a:ext>
            </a:extLst>
          </p:cNvPr>
          <p:cNvSpPr/>
          <p:nvPr/>
        </p:nvSpPr>
        <p:spPr>
          <a:xfrm>
            <a:off x="2510366" y="2966072"/>
            <a:ext cx="7171268" cy="23391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try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indent="457200">
              <a:spcBef>
                <a:spcPts val="150"/>
              </a:spcBef>
              <a:spcAft>
                <a:spcPts val="150"/>
              </a:spcAft>
            </a:pPr>
            <a:r>
              <a:rPr lang="pt-BR" dirty="0">
                <a:solidFill>
                  <a:srgbClr val="3F7F5F"/>
                </a:solidFill>
                <a:latin typeface="Consolas" panose="020B0609020204030204" pitchFamily="49" charset="0"/>
              </a:rPr>
              <a:t>// Bloco de código onde pode ocorrer uma exceção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pt-BR" b="1" dirty="0">
                <a:solidFill>
                  <a:srgbClr val="7F0055"/>
                </a:solidFill>
                <a:latin typeface="Consolas" panose="020B0609020204030204" pitchFamily="49" charset="0"/>
              </a:rPr>
              <a:t>catch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Exception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indent="457200">
              <a:spcBef>
                <a:spcPts val="150"/>
              </a:spcBef>
              <a:spcAft>
                <a:spcPts val="150"/>
              </a:spcAft>
            </a:pPr>
            <a:r>
              <a:rPr lang="pt-BR" dirty="0">
                <a:solidFill>
                  <a:srgbClr val="3F7F5F"/>
                </a:solidFill>
                <a:latin typeface="Consolas" panose="020B0609020204030204" pitchFamily="49" charset="0"/>
              </a:rPr>
              <a:t>// Bloco de código onde pode ocorrer uma exceção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finally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indent="457200">
              <a:spcBef>
                <a:spcPts val="150"/>
              </a:spcBef>
              <a:spcAft>
                <a:spcPts val="150"/>
              </a:spcAft>
            </a:pPr>
            <a:r>
              <a:rPr lang="pt-BR" dirty="0">
                <a:solidFill>
                  <a:srgbClr val="3F7F5F"/>
                </a:solidFill>
                <a:latin typeface="Consolas" panose="020B0609020204030204" pitchFamily="49" charset="0"/>
              </a:rPr>
              <a:t>// Bloco de código que será sempre executado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713262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2FEB74B-2001-4D53-A749-A65E0701DB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1800" dirty="0"/>
              <a:t>O </a:t>
            </a:r>
            <a:r>
              <a:rPr lang="pt-BR" sz="1800" dirty="0" err="1"/>
              <a:t>throws</a:t>
            </a:r>
            <a:r>
              <a:rPr lang="pt-BR" sz="1800" dirty="0"/>
              <a:t> é uma palavra-chave em Java usada para indicar que um método pode lançar exceções. Ele é colocado após a assinatura do método e serve para declarar exceções que podem ser propagadas para o método chamador, que deve tratá-las ou propagá-las. O </a:t>
            </a:r>
            <a:r>
              <a:rPr lang="pt-BR" sz="1800" dirty="0" err="1"/>
              <a:t>throws</a:t>
            </a:r>
            <a:r>
              <a:rPr lang="pt-BR" sz="1800" dirty="0"/>
              <a:t> é obrigatório quando o método pode lançar exceções verificadas como: </a:t>
            </a:r>
          </a:p>
          <a:p>
            <a:pPr marL="971550" lvl="1" indent="-285750"/>
            <a:r>
              <a:rPr lang="pt-BR" sz="1400" dirty="0" err="1"/>
              <a:t>IOException</a:t>
            </a:r>
            <a:endParaRPr lang="pt-BR" sz="1400" dirty="0"/>
          </a:p>
          <a:p>
            <a:pPr marL="971550" lvl="1" indent="-285750"/>
            <a:r>
              <a:rPr lang="pt-BR" sz="1400" dirty="0" err="1"/>
              <a:t>SQLException</a:t>
            </a:r>
            <a:endParaRPr lang="pt-BR" sz="1400" dirty="0"/>
          </a:p>
          <a:p>
            <a:pPr marL="971550" lvl="1" indent="-285750"/>
            <a:r>
              <a:rPr lang="pt-BR" sz="1400" dirty="0" err="1"/>
              <a:t>ClassNotFoundException</a:t>
            </a:r>
            <a:endParaRPr lang="pt-BR" sz="1400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19DCBBF0-F7D3-4A2F-B2FC-A84121044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o </a:t>
            </a:r>
            <a:r>
              <a:rPr lang="pt-BR" dirty="0" err="1"/>
              <a:t>throws</a:t>
            </a:r>
            <a:r>
              <a:rPr lang="pt-BR" dirty="0"/>
              <a:t> em Java?</a:t>
            </a:r>
          </a:p>
        </p:txBody>
      </p:sp>
    </p:spTree>
    <p:extLst>
      <p:ext uri="{BB962C8B-B14F-4D97-AF65-F5344CB8AC3E}">
        <p14:creationId xmlns:p14="http://schemas.microsoft.com/office/powerpoint/2010/main" val="1812326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AC5EA5-A9EA-4DAB-A3D5-3F667379B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Desafio: Conectando ao Banco de Dados com </a:t>
            </a:r>
            <a:r>
              <a:rPr lang="pt-BR" dirty="0" err="1"/>
              <a:t>throws</a:t>
            </a:r>
            <a:r>
              <a:rPr lang="pt-BR" dirty="0"/>
              <a:t> e </a:t>
            </a:r>
            <a:r>
              <a:rPr lang="pt-BR" dirty="0" err="1"/>
              <a:t>try</a:t>
            </a:r>
            <a:r>
              <a:rPr lang="pt-BR" dirty="0"/>
              <a:t>/catch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155735D-1407-4F4C-8D5E-13BE159CF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Neste desafio, vamos entender como manipular exceções em Java ao tentar se conectar a um banco de dados, utilizando os conceitos de </a:t>
            </a:r>
            <a:r>
              <a:rPr lang="pt-BR" dirty="0" err="1"/>
              <a:t>throws</a:t>
            </a:r>
            <a:r>
              <a:rPr lang="pt-BR" dirty="0"/>
              <a:t> e </a:t>
            </a:r>
            <a:r>
              <a:rPr lang="pt-BR" dirty="0" err="1"/>
              <a:t>try</a:t>
            </a:r>
            <a:r>
              <a:rPr lang="pt-BR" dirty="0"/>
              <a:t>/catch.</a:t>
            </a:r>
          </a:p>
          <a:p>
            <a:r>
              <a:rPr lang="pt-BR"/>
              <a:t>Objetivo:</a:t>
            </a:r>
          </a:p>
          <a:p>
            <a:r>
              <a:rPr lang="pt-BR"/>
              <a:t>O </a:t>
            </a:r>
            <a:r>
              <a:rPr lang="pt-BR" dirty="0"/>
              <a:t>código fornecido tem como objetivo conectar-se a um banco de dados MySQL e demonstrar como o uso de </a:t>
            </a:r>
            <a:r>
              <a:rPr lang="pt-BR" dirty="0" err="1"/>
              <a:t>throws</a:t>
            </a:r>
            <a:r>
              <a:rPr lang="pt-BR" dirty="0"/>
              <a:t> e </a:t>
            </a:r>
            <a:r>
              <a:rPr lang="pt-BR" dirty="0" err="1"/>
              <a:t>try</a:t>
            </a:r>
            <a:r>
              <a:rPr lang="pt-BR" dirty="0"/>
              <a:t>/catch afeta a execução do programa. Vamos aprender a importância desses mecanismos para tratar erros de forma eficiente, permitindo que o código continue executando mesmo quando ocorre uma exceção.</a:t>
            </a:r>
          </a:p>
        </p:txBody>
      </p:sp>
    </p:spTree>
    <p:extLst>
      <p:ext uri="{BB962C8B-B14F-4D97-AF65-F5344CB8AC3E}">
        <p14:creationId xmlns:p14="http://schemas.microsoft.com/office/powerpoint/2010/main" val="6670370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762BEB9C470D64E830EA7F9B590A6AA" ma:contentTypeVersion="7" ma:contentTypeDescription="Crie um novo documento." ma:contentTypeScope="" ma:versionID="dcebd1e3abf24839b5fb00caea22d4dc">
  <xsd:schema xmlns:xsd="http://www.w3.org/2001/XMLSchema" xmlns:xs="http://www.w3.org/2001/XMLSchema" xmlns:p="http://schemas.microsoft.com/office/2006/metadata/properties" xmlns:ns2="9d524459-36f9-409a-ba1f-de753a0e6b68" targetNamespace="http://schemas.microsoft.com/office/2006/metadata/properties" ma:root="true" ma:fieldsID="3bbe5fb22fc39e85d0fd94c1b2fbc535" ns2:_="">
    <xsd:import namespace="9d524459-36f9-409a-ba1f-de753a0e6b6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524459-36f9-409a-ba1f-de753a0e6b6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ADC2F14-C23E-4A0F-9523-94E936D0C06C}"/>
</file>

<file path=customXml/itemProps2.xml><?xml version="1.0" encoding="utf-8"?>
<ds:datastoreItem xmlns:ds="http://schemas.openxmlformats.org/officeDocument/2006/customXml" ds:itemID="{C1050613-4F21-41CD-9FEA-1018A2B5E957}"/>
</file>

<file path=customXml/itemProps3.xml><?xml version="1.0" encoding="utf-8"?>
<ds:datastoreItem xmlns:ds="http://schemas.openxmlformats.org/officeDocument/2006/customXml" ds:itemID="{12518EA7-C952-49A1-8F35-69B84D723441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3558</TotalTime>
  <Words>1013</Words>
  <Application>Microsoft Office PowerPoint</Application>
  <PresentationFormat>Widescreen</PresentationFormat>
  <Paragraphs>107</Paragraphs>
  <Slides>16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Consolas</vt:lpstr>
      <vt:lpstr>Times New Roman</vt:lpstr>
      <vt:lpstr>Tema do Office</vt:lpstr>
      <vt:lpstr>Tratamento de Exceções em Java</vt:lpstr>
      <vt:lpstr>Objetivos da Aula </vt:lpstr>
      <vt:lpstr>O que é uma Exceção ?</vt:lpstr>
      <vt:lpstr>Sintaxe try ... catch</vt:lpstr>
      <vt:lpstr>Exemplos de exceções no try-catch</vt:lpstr>
      <vt:lpstr>Exemplos de exceções no try-catch</vt:lpstr>
      <vt:lpstr>Exemplos de exceções no try-catch</vt:lpstr>
      <vt:lpstr>Exemplos de exceções no try-catch</vt:lpstr>
      <vt:lpstr>Exemplos de exceções no try-catch</vt:lpstr>
      <vt:lpstr>Exemplos de exceções no try-catch</vt:lpstr>
      <vt:lpstr>Exemplos de exceções no try-catch</vt:lpstr>
      <vt:lpstr>Exemplos de exceções no try-catch</vt:lpstr>
      <vt:lpstr>Bloco finally em Java</vt:lpstr>
      <vt:lpstr>Sintaxe Finally</vt:lpstr>
      <vt:lpstr>O que é o throws em Java?</vt:lpstr>
      <vt:lpstr>Desafio: Conectando ao Banco de Dados com throws e try/catch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Lucas Tadeu Monteiro Guedes Fernandes Salomao</dc:creator>
  <cp:lastModifiedBy>Pedro Miho</cp:lastModifiedBy>
  <cp:revision>267</cp:revision>
  <dcterms:created xsi:type="dcterms:W3CDTF">2024-03-08T12:14:33Z</dcterms:created>
  <dcterms:modified xsi:type="dcterms:W3CDTF">2025-04-30T02:19:34Z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0x010100D762BEB9C470D64E830EA7F9B590A6AA</vt:lpwstr>
  </property>
</Properties>
</file>