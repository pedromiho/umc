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7" r:id="rId1"/>
  </p:sldMasterIdLst>
  <p:notesMasterIdLst>
    <p:notesMasterId r:id="rId31"/>
  </p:notesMasterIdLst>
  <p:sldIdLst>
    <p:sldId id="256" r:id="rId2"/>
    <p:sldId id="277" r:id="rId3"/>
    <p:sldId id="278" r:id="rId4"/>
    <p:sldId id="282" r:id="rId5"/>
    <p:sldId id="279" r:id="rId6"/>
    <p:sldId id="280" r:id="rId7"/>
    <p:sldId id="281" r:id="rId8"/>
    <p:sldId id="283" r:id="rId9"/>
    <p:sldId id="284" r:id="rId10"/>
    <p:sldId id="285" r:id="rId11"/>
    <p:sldId id="286" r:id="rId12"/>
    <p:sldId id="287" r:id="rId13"/>
    <p:sldId id="288" r:id="rId14"/>
    <p:sldId id="257" r:id="rId15"/>
    <p:sldId id="275" r:id="rId16"/>
    <p:sldId id="258" r:id="rId17"/>
    <p:sldId id="261" r:id="rId18"/>
    <p:sldId id="262" r:id="rId19"/>
    <p:sldId id="276" r:id="rId20"/>
    <p:sldId id="265" r:id="rId21"/>
    <p:sldId id="266" r:id="rId22"/>
    <p:sldId id="267" r:id="rId23"/>
    <p:sldId id="268" r:id="rId24"/>
    <p:sldId id="269" r:id="rId25"/>
    <p:sldId id="270" r:id="rId26"/>
    <p:sldId id="271" r:id="rId27"/>
    <p:sldId id="272" r:id="rId28"/>
    <p:sldId id="273" r:id="rId29"/>
    <p:sldId id="274" r:id="rId30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edro Henrique Miho de Souza" initials="PHMdS" lastIdx="2" clrIdx="0">
    <p:extLst>
      <p:ext uri="{19B8F6BF-5375-455C-9EA6-DF929625EA0E}">
        <p15:presenceInfo xmlns:p15="http://schemas.microsoft.com/office/powerpoint/2012/main" userId="S-1-5-21-1968796493-41410912-2451105760-1002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3073"/>
    <a:srgbClr val="292A8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 showGuides="1">
      <p:cViewPr>
        <p:scale>
          <a:sx n="100" d="100"/>
          <a:sy n="100" d="100"/>
        </p:scale>
        <p:origin x="990" y="24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BB45FB-FC1C-4893-B550-48C1193193C6}" type="datetimeFigureOut">
              <a:rPr lang="pt-BR" smtClean="0"/>
              <a:t>04/08/2025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C800886-2B44-4102-B316-2BF70C09400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125258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9F73EA-414C-4929-B3E7-AD122EFFBF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652931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37FCEED-3F66-43BC-8B20-36021361A3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60550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dirty="0"/>
              <a:t>Clique para editar o estilo do subtítulo Mestre</a:t>
            </a:r>
          </a:p>
        </p:txBody>
      </p:sp>
    </p:spTree>
    <p:extLst>
      <p:ext uri="{BB962C8B-B14F-4D97-AF65-F5344CB8AC3E}">
        <p14:creationId xmlns:p14="http://schemas.microsoft.com/office/powerpoint/2010/main" val="26395079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5DFB8E-AD99-4A2B-8BE2-ED878F9124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1BA61F7-989E-45C9-916D-42CE0B17B3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4351338"/>
          </a:xfrm>
          <a:prstGeom prst="rect">
            <a:avLst/>
          </a:prstGeom>
        </p:spPr>
        <p:txBody>
          <a:bodyPr/>
          <a:lstStyle>
            <a:lvl1pPr marL="0" indent="0" algn="just">
              <a:lnSpc>
                <a:spcPct val="150000"/>
              </a:lnSpc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algn="just">
              <a:lnSpc>
                <a:spcPct val="150000"/>
              </a:lnSpc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algn="just">
              <a:lnSpc>
                <a:spcPct val="150000"/>
              </a:lnSpc>
              <a:defRPr sz="140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algn="just">
              <a:lnSpc>
                <a:spcPct val="150000"/>
              </a:lnSpc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algn="just">
              <a:lnSpc>
                <a:spcPct val="150000"/>
              </a:lnSpc>
              <a:defRPr sz="1000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pt-BR" dirty="0"/>
              <a:t>Editar estilos de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29072721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440976-951F-48E1-9F65-E2E7237C0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3F09C38-83BA-4379-9DE9-B52DAEE2D6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801F2F7-E203-4170-8B06-E39E4EF61B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04/08/2025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E2FDAB5-81C4-491B-B1DB-3E7A63996A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F87684E-F6A9-4B10-B6C6-98901C57A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226914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537CFC-895E-42D9-B850-249E3AA649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6E2EF1D-1141-40D7-BDED-690939FB81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98ECF165-5788-48F8-B64E-CAD147B1C6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21A5A9C-1616-4A2F-9897-2AA0D6A7B0E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04/08/2025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19E4B8E-0EE6-4C64-9500-F64ED0B84D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BFE3A651-93A6-476E-86D8-9380EB079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80244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8013D5-4B61-49F1-B604-8019D708D1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7207A11-9E53-4968-BFBB-FBA312D24C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E141C8A-81E9-4FD8-AF20-F5BD9DA313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CB1C8E84-38D3-49F5-9A51-7C0AF548DF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F895D1BB-221B-469A-A06C-FD406B207A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6EAA33C3-5B87-4019-8743-8F9C2F98300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04/08/2025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70BDA0B8-E9EF-4477-9209-5DEC09732C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FBCF0E10-CAD6-4E43-98B3-1AFB88B68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450592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F29988-C070-4222-8D96-E36CF17E19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420D39C8-444E-4546-80F5-D0180A75AF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04/08/2025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61C134A4-BE1B-4962-9516-659CD4519D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1CE7749A-36AE-46D1-BE46-BE0E2F45B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575335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E43BC826-C9FB-472E-956F-F80F0568AE2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04/08/2025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6E154652-AECB-47CC-A9CD-8426C4D1AC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7E24980-9E3E-413B-9621-9DCBCC5F48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37732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69EF455-B40C-43F1-B648-F6F57DD2C9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1570ACE-9666-4656-BDDD-596392FA70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8FF34EE3-79AE-487D-B73B-1A408180A0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E5AF76A-9469-4EBF-8DAC-F6889FD7546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04/08/2025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B4ED122-B6B8-4D0E-98A8-D12057984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14136D5D-BD69-4CD2-A354-F8289DAAC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14922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687CECA-FA2C-4E5F-A052-5D5CBF0F75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920F7117-B346-47D7-9DBC-5BBD02B232B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FDB8822-F4D3-4DE6-B130-D7308F116C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370F3C1-6276-4A5F-B650-8B2E8FB0633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04/08/2025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142CF32-D9DD-42DF-9B63-B3207D85D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2A81DD0-CB02-442E-A173-AFA500CC71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764785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9DB2585-BC56-4839-AEEF-1B75486F23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28134"/>
            <a:ext cx="9392728" cy="491707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19D1A810-2C5E-49EA-AAFC-FDC1AA5F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05287" y="1825624"/>
            <a:ext cx="10981426" cy="4618307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pt-BR" dirty="0"/>
              <a:t>Editar estilos de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38666024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0EDB59BB-5636-42CF-B124-FAF3D7953F1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93875309-BF17-4BAA-9583-FFA5CD6256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54D6C19-C741-47D2-A6CB-2906DBB9823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04/08/2025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AC129DE-944E-4128-9F49-76B5C1F4FB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20892AE-B301-431E-9D8C-F0BDAF5760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59552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56E30110-E419-43DB-AEFA-3636065754B3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0" y="6762736"/>
            <a:ext cx="12192000" cy="95264"/>
          </a:xfrm>
          <a:prstGeom prst="rect">
            <a:avLst/>
          </a:prstGeom>
          <a:solidFill>
            <a:schemeClr val="bg1"/>
          </a:solidFill>
          <a:ln>
            <a:solidFill>
              <a:srgbClr val="292A86"/>
            </a:solidFill>
          </a:ln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4AAA702B-ED3B-45E1-8C71-1ACC187886AA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582422" y="635357"/>
            <a:ext cx="122428" cy="888712"/>
          </a:xfrm>
          <a:prstGeom prst="rect">
            <a:avLst/>
          </a:prstGeom>
          <a:solidFill>
            <a:srgbClr val="292A86"/>
          </a:solidFill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49B168A8-B937-4519-802D-8D1D90A0A0EA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10283716" y="719713"/>
            <a:ext cx="127384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04958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e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gif"/><Relationship Id="rId2" Type="http://schemas.openxmlformats.org/officeDocument/2006/relationships/image" Target="../media/image7.gif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8B8FC8-9D6D-4E3B-ABB7-9EF80D9004E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sz="5400" dirty="0"/>
              <a:t>Introdução a Programação Orientada a Objetos (POO)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E03FF3E-842E-4C89-BED7-4C22AAAEFC1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t-BR" dirty="0"/>
              <a:t>Prof. Esp. Pedro Miho</a:t>
            </a:r>
          </a:p>
        </p:txBody>
      </p:sp>
    </p:spTree>
    <p:extLst>
      <p:ext uri="{BB962C8B-B14F-4D97-AF65-F5344CB8AC3E}">
        <p14:creationId xmlns:p14="http://schemas.microsoft.com/office/powerpoint/2010/main" val="1605918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BF48A3D-BFC4-4F97-892D-646D4247F4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Programação Orientada a Objetos 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28EAE2B-99CA-46C5-B263-09E7AB3E22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4351338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pt-BR" dirty="0"/>
              <a:t>A Programação Orientada a Objetos (POO) é um </a:t>
            </a:r>
            <a:r>
              <a:rPr lang="pt-BR" b="1" dirty="0"/>
              <a:t>paradigma de programação</a:t>
            </a:r>
            <a:r>
              <a:rPr lang="pt-BR" dirty="0"/>
              <a:t> que organiza o código com base em </a:t>
            </a:r>
            <a:r>
              <a:rPr lang="pt-BR" b="1" dirty="0"/>
              <a:t>objetos</a:t>
            </a:r>
            <a:r>
              <a:rPr lang="pt-BR" dirty="0"/>
              <a:t>, que representam entidades do mundo real ou do sistema.</a:t>
            </a:r>
          </a:p>
          <a:p>
            <a:pPr>
              <a:spcBef>
                <a:spcPts val="0"/>
              </a:spcBef>
            </a:pPr>
            <a:endParaRPr lang="pt-BR" dirty="0"/>
          </a:p>
          <a:p>
            <a:pPr lvl="1">
              <a:spcBef>
                <a:spcPts val="0"/>
              </a:spcBef>
            </a:pPr>
            <a:r>
              <a:rPr lang="pt-BR" dirty="0"/>
              <a:t>Exemplo do mundo real: um carro pode ser representado como um objeto com </a:t>
            </a:r>
            <a:r>
              <a:rPr lang="pt-BR" b="1" dirty="0"/>
              <a:t>atributos</a:t>
            </a:r>
            <a:r>
              <a:rPr lang="pt-BR" dirty="0"/>
              <a:t> (cor, modelo, ano) e </a:t>
            </a:r>
            <a:r>
              <a:rPr lang="pt-BR" b="1" dirty="0"/>
              <a:t>métodos</a:t>
            </a:r>
            <a:r>
              <a:rPr lang="pt-BR" dirty="0"/>
              <a:t> (acelerar, frear).</a:t>
            </a:r>
          </a:p>
          <a:p>
            <a:pPr lvl="1">
              <a:spcBef>
                <a:spcPts val="0"/>
              </a:spcBef>
            </a:pPr>
            <a:endParaRPr lang="pt-BR" dirty="0"/>
          </a:p>
          <a:p>
            <a:pPr marL="0" lvl="1" indent="0">
              <a:spcBef>
                <a:spcPts val="0"/>
              </a:spcBef>
              <a:buNone/>
            </a:pPr>
            <a:r>
              <a:rPr lang="pt-BR" sz="2000" dirty="0"/>
              <a:t>A </a:t>
            </a:r>
            <a:r>
              <a:rPr lang="pt-BR" sz="2000" b="1" dirty="0"/>
              <a:t>POO serve para organizar o código de forma mais clara, reutilizável e fácil de manter</a:t>
            </a:r>
            <a:r>
              <a:rPr lang="pt-BR" sz="2000" dirty="0"/>
              <a:t>, especialmente em projetos grandes e complexos. Ela permite </a:t>
            </a:r>
            <a:r>
              <a:rPr lang="pt-BR" sz="2000" b="1" dirty="0"/>
              <a:t>simular o mundo real</a:t>
            </a:r>
            <a:r>
              <a:rPr lang="pt-BR" sz="2000" dirty="0"/>
              <a:t>, representando entidades como objetos com características e comportamentos.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2639600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999A81-B335-4768-A302-E61E4E79C5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Evolução dos Paradigmas de Programação até chegar à POO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1C8BEDE-0BC5-4C77-AB5E-F544BC1C24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b="1" dirty="0"/>
              <a:t>Programação de Baixo Nível</a:t>
            </a:r>
          </a:p>
          <a:p>
            <a:pPr lvl="1" indent="0">
              <a:spcBef>
                <a:spcPts val="0"/>
              </a:spcBef>
              <a:buNone/>
            </a:pPr>
            <a:r>
              <a:rPr lang="pt-BR" dirty="0"/>
              <a:t>Programação de baixo nível é aquela mais próxima do hardware, escrita com instruções que a máquina entende diretamente, como:</a:t>
            </a:r>
          </a:p>
          <a:p>
            <a:pPr lvl="2" indent="0">
              <a:spcBef>
                <a:spcPts val="0"/>
              </a:spcBef>
              <a:buNone/>
            </a:pPr>
            <a:r>
              <a:rPr lang="pt-BR" dirty="0"/>
              <a:t>Linguagem de Máquina (binário)</a:t>
            </a:r>
          </a:p>
          <a:p>
            <a:pPr lvl="2" indent="0">
              <a:spcBef>
                <a:spcPts val="0"/>
              </a:spcBef>
              <a:buNone/>
            </a:pPr>
            <a:r>
              <a:rPr lang="pt-BR" dirty="0"/>
              <a:t>Assembly (linguagem de montagem)</a:t>
            </a:r>
          </a:p>
          <a:p>
            <a:pPr marL="1028700" lvl="1" indent="-342900">
              <a:spcBef>
                <a:spcPts val="0"/>
              </a:spcBef>
            </a:pPr>
            <a:r>
              <a:rPr lang="pt-BR" b="1" dirty="0"/>
              <a:t>Características:</a:t>
            </a:r>
          </a:p>
          <a:p>
            <a:pPr lvl="2" indent="0">
              <a:spcBef>
                <a:spcPts val="0"/>
              </a:spcBef>
              <a:buNone/>
            </a:pPr>
            <a:r>
              <a:rPr lang="pt-BR" dirty="0"/>
              <a:t>Extremamente rápida e eficiente.</a:t>
            </a:r>
          </a:p>
          <a:p>
            <a:pPr lvl="2" indent="0">
              <a:spcBef>
                <a:spcPts val="0"/>
              </a:spcBef>
              <a:buNone/>
            </a:pPr>
            <a:r>
              <a:rPr lang="pt-BR" dirty="0"/>
              <a:t>Altamente dependente do processador e da arquitetura.</a:t>
            </a:r>
          </a:p>
          <a:p>
            <a:pPr lvl="2" indent="0">
              <a:spcBef>
                <a:spcPts val="0"/>
              </a:spcBef>
              <a:buNone/>
            </a:pPr>
            <a:r>
              <a:rPr lang="pt-BR" dirty="0"/>
              <a:t>Difícil de escrever, entender e manter. </a:t>
            </a:r>
          </a:p>
          <a:p>
            <a:pPr marL="1028700" lvl="1" indent="-342900">
              <a:spcBef>
                <a:spcPts val="0"/>
              </a:spcBef>
            </a:pPr>
            <a:r>
              <a:rPr lang="pt-BR" b="1" dirty="0"/>
              <a:t>Importância:</a:t>
            </a:r>
          </a:p>
          <a:p>
            <a:pPr lvl="2" indent="0">
              <a:spcBef>
                <a:spcPts val="0"/>
              </a:spcBef>
              <a:buNone/>
            </a:pPr>
            <a:r>
              <a:rPr lang="pt-BR" dirty="0"/>
              <a:t>Usada para desenvolver sistemas embarcados, drivers, sistemas operacionais.</a:t>
            </a:r>
          </a:p>
          <a:p>
            <a:pPr lvl="2" indent="0">
              <a:spcBef>
                <a:spcPts val="0"/>
              </a:spcBef>
              <a:buNone/>
            </a:pPr>
            <a:r>
              <a:rPr lang="pt-BR" dirty="0"/>
              <a:t>Base para criação de compiladores e linguagens de alto nível.</a:t>
            </a:r>
          </a:p>
          <a:p>
            <a:pPr marL="1028700" lvl="1" indent="-342900"/>
            <a:endParaRPr lang="pt-BR" b="1" dirty="0"/>
          </a:p>
        </p:txBody>
      </p:sp>
    </p:spTree>
    <p:extLst>
      <p:ext uri="{BB962C8B-B14F-4D97-AF65-F5344CB8AC3E}">
        <p14:creationId xmlns:p14="http://schemas.microsoft.com/office/powerpoint/2010/main" val="11135378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999A81-B335-4768-A302-E61E4E79C5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Evolução dos Paradigmas de Programação até chegar à POO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1C8BEDE-0BC5-4C77-AB5E-F544BC1C24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b="1" dirty="0"/>
              <a:t>Programação Linear ou Sequencial</a:t>
            </a:r>
          </a:p>
          <a:p>
            <a:pPr marL="1028700" lvl="1" indent="-342900"/>
            <a:r>
              <a:rPr lang="pt-BR" b="1" dirty="0"/>
              <a:t>Como funciona?</a:t>
            </a:r>
          </a:p>
          <a:p>
            <a:pPr lvl="2" indent="0">
              <a:buNone/>
            </a:pPr>
            <a:r>
              <a:rPr lang="pt-BR" dirty="0"/>
              <a:t>O código é executado linha por linha, do início ao fim.</a:t>
            </a:r>
          </a:p>
          <a:p>
            <a:pPr marL="1028700" lvl="1" indent="-342900"/>
            <a:r>
              <a:rPr lang="pt-BR" b="1" dirty="0"/>
              <a:t>Quando surgiu?</a:t>
            </a:r>
          </a:p>
          <a:p>
            <a:pPr lvl="2" indent="0">
              <a:buNone/>
            </a:pPr>
            <a:r>
              <a:rPr lang="pt-BR" dirty="0"/>
              <a:t>Nas primeiras linguagens, como Assembly ou BASIC.</a:t>
            </a:r>
          </a:p>
          <a:p>
            <a:pPr marL="1028700" lvl="1" indent="-342900"/>
            <a:r>
              <a:rPr lang="pt-BR" b="1" dirty="0"/>
              <a:t>Problemas: </a:t>
            </a:r>
          </a:p>
          <a:p>
            <a:pPr lvl="2" indent="0">
              <a:buNone/>
            </a:pPr>
            <a:r>
              <a:rPr lang="pt-BR" dirty="0"/>
              <a:t>Dificuldade para reutilizar e manter o código.</a:t>
            </a:r>
          </a:p>
          <a:p>
            <a:pPr lvl="2" indent="0">
              <a:buNone/>
            </a:pPr>
            <a:r>
              <a:rPr lang="pt-BR" dirty="0"/>
              <a:t>Códigos longos, repetitivos e difíceis de testar.</a:t>
            </a:r>
          </a:p>
          <a:p>
            <a:pPr marL="1028700" lvl="1" indent="-342900"/>
            <a:r>
              <a:rPr lang="pt-BR" b="1" dirty="0"/>
              <a:t>Exemplo: </a:t>
            </a:r>
            <a:r>
              <a:rPr lang="pt-BR" dirty="0"/>
              <a:t>Um programa que lê um número, soma com outro e imprime o resultado — tudo feito em sequência.</a:t>
            </a:r>
          </a:p>
        </p:txBody>
      </p:sp>
    </p:spTree>
    <p:extLst>
      <p:ext uri="{BB962C8B-B14F-4D97-AF65-F5344CB8AC3E}">
        <p14:creationId xmlns:p14="http://schemas.microsoft.com/office/powerpoint/2010/main" val="864520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6691F5-710B-47A8-8F0C-2568E4A742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Evolução dos Paradigmas de Programação até chegar à POO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362A89E-06D5-493A-9226-3869B4B78A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4672666"/>
          </a:xfrm>
        </p:spPr>
        <p:txBody>
          <a:bodyPr/>
          <a:lstStyle/>
          <a:p>
            <a:r>
              <a:rPr lang="pt-BR" b="1" dirty="0"/>
              <a:t>Programação Estruturada</a:t>
            </a:r>
          </a:p>
          <a:p>
            <a:pPr lvl="1"/>
            <a:r>
              <a:rPr lang="pt-BR" b="1" dirty="0"/>
              <a:t>Como funciona? </a:t>
            </a:r>
          </a:p>
          <a:p>
            <a:pPr marL="914400" lvl="2" indent="0">
              <a:buNone/>
            </a:pPr>
            <a:r>
              <a:rPr lang="pt-BR" dirty="0"/>
              <a:t>O código é dividido em blocos lógicos, usando estruturas como </a:t>
            </a:r>
            <a:r>
              <a:rPr lang="pt-BR" dirty="0" err="1"/>
              <a:t>if</a:t>
            </a:r>
            <a:r>
              <a:rPr lang="pt-BR" dirty="0"/>
              <a:t>, </a:t>
            </a:r>
            <a:r>
              <a:rPr lang="pt-BR" dirty="0" err="1"/>
              <a:t>while</a:t>
            </a:r>
            <a:r>
              <a:rPr lang="pt-BR" dirty="0"/>
              <a:t>, for, e funções.</a:t>
            </a:r>
          </a:p>
          <a:p>
            <a:pPr lvl="1"/>
            <a:r>
              <a:rPr lang="pt-BR" b="1" dirty="0"/>
              <a:t>Exemplos de linguagens: </a:t>
            </a:r>
          </a:p>
          <a:p>
            <a:pPr marL="914400" lvl="2" indent="0">
              <a:buNone/>
            </a:pPr>
            <a:r>
              <a:rPr lang="pt-BR" dirty="0"/>
              <a:t>C, Pascal, Fortran (modernos)</a:t>
            </a:r>
          </a:p>
          <a:p>
            <a:pPr lvl="1"/>
            <a:r>
              <a:rPr lang="pt-BR" b="1" dirty="0"/>
              <a:t>Vantagens: </a:t>
            </a:r>
          </a:p>
          <a:p>
            <a:pPr marL="914400" lvl="2" indent="0">
              <a:buNone/>
            </a:pPr>
            <a:r>
              <a:rPr lang="pt-BR" dirty="0"/>
              <a:t>Melhor organização, reaproveitamento de código com funções, menor repetição.</a:t>
            </a:r>
          </a:p>
          <a:p>
            <a:pPr lvl="1"/>
            <a:r>
              <a:rPr lang="pt-BR" b="1" dirty="0"/>
              <a:t>Limitações:</a:t>
            </a:r>
          </a:p>
          <a:p>
            <a:pPr marL="914400" lvl="2" indent="0">
              <a:buNone/>
            </a:pPr>
            <a:r>
              <a:rPr lang="pt-BR" dirty="0"/>
              <a:t>Dificuldade de representar entidades do mundo real.</a:t>
            </a:r>
          </a:p>
          <a:p>
            <a:pPr marL="914400" lvl="2" indent="0">
              <a:buNone/>
            </a:pPr>
            <a:r>
              <a:rPr lang="pt-BR" dirty="0"/>
              <a:t>À medida que o sistema cresce, aumenta a complexidade de controlar dados espalhados.</a:t>
            </a:r>
          </a:p>
          <a:p>
            <a:pPr lvl="1"/>
            <a:r>
              <a:rPr lang="pt-BR" b="1" dirty="0"/>
              <a:t> Exemplo: </a:t>
            </a:r>
            <a:r>
              <a:rPr lang="pt-BR" dirty="0"/>
              <a:t>um sistema de cadastro com funções </a:t>
            </a:r>
            <a:r>
              <a:rPr lang="pt-BR" dirty="0" err="1"/>
              <a:t>cadastrarCliente</a:t>
            </a:r>
            <a:r>
              <a:rPr lang="pt-BR" dirty="0"/>
              <a:t>(), </a:t>
            </a:r>
            <a:r>
              <a:rPr lang="pt-BR" dirty="0" err="1"/>
              <a:t>exibirClientes</a:t>
            </a:r>
            <a:r>
              <a:rPr lang="pt-BR" dirty="0"/>
              <a:t>(), etc.</a:t>
            </a:r>
          </a:p>
        </p:txBody>
      </p:sp>
    </p:spTree>
    <p:extLst>
      <p:ext uri="{BB962C8B-B14F-4D97-AF65-F5344CB8AC3E}">
        <p14:creationId xmlns:p14="http://schemas.microsoft.com/office/powerpoint/2010/main" val="40100071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B5E6641-2926-4745-8C3A-C057B3E260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Evolução dos Paradigmas de Programação até chegar à POO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81E8BEA-A9DF-4D70-B0A7-A656BF1D3D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b="1" dirty="0"/>
              <a:t>Programação Modular</a:t>
            </a:r>
          </a:p>
          <a:p>
            <a:pPr lvl="1"/>
            <a:r>
              <a:rPr lang="pt-BR" b="1" dirty="0"/>
              <a:t>Como funciona?</a:t>
            </a:r>
            <a:endParaRPr lang="pt-BR" dirty="0"/>
          </a:p>
          <a:p>
            <a:pPr marL="914400" lvl="2" indent="0">
              <a:buNone/>
            </a:pPr>
            <a:r>
              <a:rPr lang="pt-BR" dirty="0"/>
              <a:t>A lógica é dividida em </a:t>
            </a:r>
            <a:r>
              <a:rPr lang="pt-BR" b="1" dirty="0"/>
              <a:t>módulos independentes</a:t>
            </a:r>
            <a:r>
              <a:rPr lang="pt-BR" dirty="0"/>
              <a:t>, agrupando funções e dados relacionados.</a:t>
            </a:r>
          </a:p>
          <a:p>
            <a:pPr lvl="1"/>
            <a:r>
              <a:rPr lang="pt-BR" b="1" dirty="0"/>
              <a:t>Objetivo:</a:t>
            </a:r>
            <a:endParaRPr lang="pt-BR" dirty="0"/>
          </a:p>
          <a:p>
            <a:pPr marL="914400" lvl="2" indent="0">
              <a:buNone/>
            </a:pPr>
            <a:r>
              <a:rPr lang="pt-BR" dirty="0"/>
              <a:t>Aumentar a </a:t>
            </a:r>
            <a:r>
              <a:rPr lang="pt-BR" b="1" dirty="0"/>
              <a:t>separação de responsabilidades</a:t>
            </a:r>
            <a:r>
              <a:rPr lang="pt-BR" dirty="0"/>
              <a:t> e facilitar a </a:t>
            </a:r>
            <a:r>
              <a:rPr lang="pt-BR" b="1" dirty="0"/>
              <a:t>manutenção</a:t>
            </a:r>
            <a:r>
              <a:rPr lang="pt-BR" dirty="0"/>
              <a:t>.</a:t>
            </a:r>
          </a:p>
          <a:p>
            <a:pPr lvl="1"/>
            <a:r>
              <a:rPr lang="pt-BR" b="1" dirty="0"/>
              <a:t>Ainda não há objetos</a:t>
            </a:r>
            <a:r>
              <a:rPr lang="pt-BR" dirty="0"/>
              <a:t>, mas é um passo importante para chegar lá.</a:t>
            </a:r>
          </a:p>
          <a:p>
            <a:pPr lvl="1"/>
            <a:r>
              <a:rPr lang="pt-BR" b="1" dirty="0"/>
              <a:t>Limitações:</a:t>
            </a:r>
            <a:endParaRPr lang="pt-BR" dirty="0"/>
          </a:p>
          <a:p>
            <a:pPr marL="914400" lvl="2" indent="0">
              <a:buNone/>
            </a:pPr>
            <a:r>
              <a:rPr lang="pt-BR" dirty="0"/>
              <a:t>Os dados ainda ficam separados do comportamento (sem encapsulamento real).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2773426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FE24446-0618-4C98-ABC0-6F464C3A5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Evolução dos Paradigmas de Programação até chegar à POO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0D376ED-464B-44E6-BAA6-F6103B428A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b="1" dirty="0"/>
              <a:t>Programação Orientada a Objetos (POO)</a:t>
            </a:r>
          </a:p>
          <a:p>
            <a:pPr marL="1028700" lvl="1" indent="-342900"/>
            <a:r>
              <a:rPr lang="pt-BR" b="1" dirty="0"/>
              <a:t>Como funciona?</a:t>
            </a:r>
          </a:p>
          <a:p>
            <a:pPr lvl="2" indent="0">
              <a:buNone/>
            </a:pPr>
            <a:r>
              <a:rPr lang="pt-BR" dirty="0"/>
              <a:t>Une </a:t>
            </a:r>
            <a:r>
              <a:rPr lang="pt-BR" b="1" dirty="0"/>
              <a:t>dados (atributos)</a:t>
            </a:r>
            <a:r>
              <a:rPr lang="pt-BR" dirty="0"/>
              <a:t> e </a:t>
            </a:r>
            <a:r>
              <a:rPr lang="pt-BR" b="1" dirty="0"/>
              <a:t>comportamentos (métodos)</a:t>
            </a:r>
            <a:r>
              <a:rPr lang="pt-BR" dirty="0"/>
              <a:t> em uma mesma unidade: o </a:t>
            </a:r>
            <a:r>
              <a:rPr lang="pt-BR" b="1" dirty="0"/>
              <a:t>objeto</a:t>
            </a:r>
            <a:r>
              <a:rPr lang="pt-BR" dirty="0"/>
              <a:t>.</a:t>
            </a:r>
          </a:p>
          <a:p>
            <a:pPr marL="1028700" lvl="1" indent="-342900"/>
            <a:r>
              <a:rPr lang="pt-BR" b="1" dirty="0"/>
              <a:t>Objetivo:</a:t>
            </a:r>
          </a:p>
          <a:p>
            <a:pPr lvl="2" indent="0">
              <a:buNone/>
            </a:pPr>
            <a:r>
              <a:rPr lang="pt-BR" dirty="0"/>
              <a:t>Tornar o código mais próximo do mundo real e mais fácil de </a:t>
            </a:r>
            <a:r>
              <a:rPr lang="pt-BR" b="1" dirty="0"/>
              <a:t>manter, escalar e testar</a:t>
            </a:r>
            <a:r>
              <a:rPr lang="pt-BR" dirty="0"/>
              <a:t>.</a:t>
            </a:r>
          </a:p>
          <a:p>
            <a:pPr marL="1028700" lvl="1" indent="-342900"/>
            <a:r>
              <a:rPr lang="pt-BR" b="1" dirty="0"/>
              <a:t>Exemplos de linguagens:</a:t>
            </a:r>
            <a:r>
              <a:rPr lang="pt-BR" dirty="0"/>
              <a:t> </a:t>
            </a:r>
          </a:p>
          <a:p>
            <a:pPr lvl="2" indent="0">
              <a:buNone/>
            </a:pPr>
            <a:r>
              <a:rPr lang="pt-BR" b="1" dirty="0"/>
              <a:t>Java, C++, Python, C#, Ruby, </a:t>
            </a:r>
            <a:r>
              <a:rPr lang="pt-BR" b="1" dirty="0" err="1"/>
              <a:t>Kotlin</a:t>
            </a:r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870488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E02E481-D87F-4579-8D5B-78E0CDC038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Programação Estruturada x POO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EA7C769D-89CF-4884-852B-112CB6C8F52D}"/>
              </a:ext>
            </a:extLst>
          </p:cNvPr>
          <p:cNvSpPr/>
          <p:nvPr/>
        </p:nvSpPr>
        <p:spPr>
          <a:xfrm>
            <a:off x="749185" y="2752164"/>
            <a:ext cx="2339788" cy="3361765"/>
          </a:xfrm>
          <a:prstGeom prst="roundRect">
            <a:avLst/>
          </a:prstGeom>
          <a:solidFill>
            <a:srgbClr val="04307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Dados Globais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A671FA11-0933-4B6A-8FF4-2104CF4A5ED7}"/>
              </a:ext>
            </a:extLst>
          </p:cNvPr>
          <p:cNvSpPr/>
          <p:nvPr/>
        </p:nvSpPr>
        <p:spPr>
          <a:xfrm>
            <a:off x="3644785" y="2752164"/>
            <a:ext cx="2339788" cy="448574"/>
          </a:xfrm>
          <a:prstGeom prst="roundRect">
            <a:avLst/>
          </a:prstGeom>
          <a:solidFill>
            <a:srgbClr val="04307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Procedimentos</a:t>
            </a: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23BDC205-D003-4EF1-8568-C6011DDCAADB}"/>
              </a:ext>
            </a:extLst>
          </p:cNvPr>
          <p:cNvSpPr/>
          <p:nvPr/>
        </p:nvSpPr>
        <p:spPr>
          <a:xfrm>
            <a:off x="3644785" y="3723228"/>
            <a:ext cx="2339788" cy="448574"/>
          </a:xfrm>
          <a:prstGeom prst="roundRect">
            <a:avLst/>
          </a:prstGeom>
          <a:solidFill>
            <a:srgbClr val="04307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Procedimentos</a:t>
            </a:r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7EEBDFF2-AE4E-4B40-B059-809D6AEB9624}"/>
              </a:ext>
            </a:extLst>
          </p:cNvPr>
          <p:cNvSpPr/>
          <p:nvPr/>
        </p:nvSpPr>
        <p:spPr>
          <a:xfrm>
            <a:off x="3644785" y="4694292"/>
            <a:ext cx="2339788" cy="448574"/>
          </a:xfrm>
          <a:prstGeom prst="roundRect">
            <a:avLst/>
          </a:prstGeom>
          <a:solidFill>
            <a:srgbClr val="04307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Procedimentos</a:t>
            </a:r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776183C6-AB7A-4CE0-8506-EB63523E96B2}"/>
              </a:ext>
            </a:extLst>
          </p:cNvPr>
          <p:cNvSpPr/>
          <p:nvPr/>
        </p:nvSpPr>
        <p:spPr>
          <a:xfrm>
            <a:off x="3644785" y="5665355"/>
            <a:ext cx="2339788" cy="448574"/>
          </a:xfrm>
          <a:prstGeom prst="roundRect">
            <a:avLst/>
          </a:prstGeom>
          <a:solidFill>
            <a:srgbClr val="04307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Procedimentos</a:t>
            </a:r>
          </a:p>
        </p:txBody>
      </p:sp>
      <p:cxnSp>
        <p:nvCxnSpPr>
          <p:cNvPr id="14" name="Conector: Angulado 13">
            <a:extLst>
              <a:ext uri="{FF2B5EF4-FFF2-40B4-BE49-F238E27FC236}">
                <a16:creationId xmlns:a16="http://schemas.microsoft.com/office/drawing/2014/main" id="{715831DB-42DA-4D29-9C10-3F334FB87BBF}"/>
              </a:ext>
            </a:extLst>
          </p:cNvPr>
          <p:cNvCxnSpPr>
            <a:cxnSpLocks/>
            <a:stCxn id="5" idx="1"/>
            <a:endCxn id="8" idx="1"/>
          </p:cNvCxnSpPr>
          <p:nvPr/>
        </p:nvCxnSpPr>
        <p:spPr>
          <a:xfrm rot="10800000" flipV="1">
            <a:off x="3644785" y="2976450"/>
            <a:ext cx="12700" cy="2913191"/>
          </a:xfrm>
          <a:prstGeom prst="bentConnector3">
            <a:avLst>
              <a:gd name="adj1" fmla="val 1800000"/>
            </a:avLst>
          </a:prstGeom>
          <a:ln w="28575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ector reto 16">
            <a:extLst>
              <a:ext uri="{FF2B5EF4-FFF2-40B4-BE49-F238E27FC236}">
                <a16:creationId xmlns:a16="http://schemas.microsoft.com/office/drawing/2014/main" id="{5AA2679A-C0B0-4A06-8CC1-10DF8CBC222A}"/>
              </a:ext>
            </a:extLst>
          </p:cNvPr>
          <p:cNvCxnSpPr>
            <a:cxnSpLocks/>
            <a:stCxn id="4" idx="3"/>
          </p:cNvCxnSpPr>
          <p:nvPr/>
        </p:nvCxnSpPr>
        <p:spPr>
          <a:xfrm>
            <a:off x="3088973" y="4433047"/>
            <a:ext cx="327327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ector de Seta Reta 21">
            <a:extLst>
              <a:ext uri="{FF2B5EF4-FFF2-40B4-BE49-F238E27FC236}">
                <a16:creationId xmlns:a16="http://schemas.microsoft.com/office/drawing/2014/main" id="{45396A5F-F7FD-406E-B65D-FBE7BE797282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3416300" y="3947515"/>
            <a:ext cx="22848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ector de Seta Reta 23">
            <a:extLst>
              <a:ext uri="{FF2B5EF4-FFF2-40B4-BE49-F238E27FC236}">
                <a16:creationId xmlns:a16="http://schemas.microsoft.com/office/drawing/2014/main" id="{7FA6D84F-EBA3-4CA5-BC41-505BB51678F1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3416300" y="4918579"/>
            <a:ext cx="22848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tângulo: Cantos Arredondados 27">
            <a:extLst>
              <a:ext uri="{FF2B5EF4-FFF2-40B4-BE49-F238E27FC236}">
                <a16:creationId xmlns:a16="http://schemas.microsoft.com/office/drawing/2014/main" id="{7971E83D-E347-4A8D-85C1-B6242E369739}"/>
              </a:ext>
            </a:extLst>
          </p:cNvPr>
          <p:cNvSpPr/>
          <p:nvPr/>
        </p:nvSpPr>
        <p:spPr>
          <a:xfrm>
            <a:off x="6426085" y="2752165"/>
            <a:ext cx="2339788" cy="1419638"/>
          </a:xfrm>
          <a:prstGeom prst="roundRect">
            <a:avLst/>
          </a:prstGeom>
          <a:solidFill>
            <a:srgbClr val="04307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Dados do Objeto</a:t>
            </a:r>
          </a:p>
        </p:txBody>
      </p:sp>
      <p:sp>
        <p:nvSpPr>
          <p:cNvPr id="29" name="Retângulo: Cantos Arredondados 28">
            <a:extLst>
              <a:ext uri="{FF2B5EF4-FFF2-40B4-BE49-F238E27FC236}">
                <a16:creationId xmlns:a16="http://schemas.microsoft.com/office/drawing/2014/main" id="{19A57736-344E-463F-B2A4-E761CF84058A}"/>
              </a:ext>
            </a:extLst>
          </p:cNvPr>
          <p:cNvSpPr/>
          <p:nvPr/>
        </p:nvSpPr>
        <p:spPr>
          <a:xfrm>
            <a:off x="9321685" y="2752164"/>
            <a:ext cx="2339788" cy="448574"/>
          </a:xfrm>
          <a:prstGeom prst="roundRect">
            <a:avLst/>
          </a:prstGeom>
          <a:solidFill>
            <a:srgbClr val="04307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Método</a:t>
            </a:r>
          </a:p>
        </p:txBody>
      </p:sp>
      <p:sp>
        <p:nvSpPr>
          <p:cNvPr id="30" name="Retângulo: Cantos Arredondados 29">
            <a:extLst>
              <a:ext uri="{FF2B5EF4-FFF2-40B4-BE49-F238E27FC236}">
                <a16:creationId xmlns:a16="http://schemas.microsoft.com/office/drawing/2014/main" id="{E4D358A1-A572-4FE2-864D-63954C0158D9}"/>
              </a:ext>
            </a:extLst>
          </p:cNvPr>
          <p:cNvSpPr/>
          <p:nvPr/>
        </p:nvSpPr>
        <p:spPr>
          <a:xfrm>
            <a:off x="9321685" y="3723228"/>
            <a:ext cx="2339788" cy="448574"/>
          </a:xfrm>
          <a:prstGeom prst="roundRect">
            <a:avLst/>
          </a:prstGeom>
          <a:solidFill>
            <a:srgbClr val="04307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Método</a:t>
            </a:r>
          </a:p>
        </p:txBody>
      </p:sp>
      <p:cxnSp>
        <p:nvCxnSpPr>
          <p:cNvPr id="33" name="Conector: Angulado 32">
            <a:extLst>
              <a:ext uri="{FF2B5EF4-FFF2-40B4-BE49-F238E27FC236}">
                <a16:creationId xmlns:a16="http://schemas.microsoft.com/office/drawing/2014/main" id="{8F6C8F6E-5BFB-4812-9CAF-D764B222228C}"/>
              </a:ext>
            </a:extLst>
          </p:cNvPr>
          <p:cNvCxnSpPr>
            <a:cxnSpLocks/>
            <a:stCxn id="29" idx="1"/>
            <a:endCxn id="30" idx="1"/>
          </p:cNvCxnSpPr>
          <p:nvPr/>
        </p:nvCxnSpPr>
        <p:spPr>
          <a:xfrm rot="10800000" flipV="1">
            <a:off x="9321685" y="2976451"/>
            <a:ext cx="12700" cy="971064"/>
          </a:xfrm>
          <a:prstGeom prst="bentConnector3">
            <a:avLst>
              <a:gd name="adj1" fmla="val 1800000"/>
            </a:avLst>
          </a:prstGeom>
          <a:ln w="28575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ector reto 33">
            <a:extLst>
              <a:ext uri="{FF2B5EF4-FFF2-40B4-BE49-F238E27FC236}">
                <a16:creationId xmlns:a16="http://schemas.microsoft.com/office/drawing/2014/main" id="{8FE79077-A1C1-4DCC-8B18-96958E46FA1E}"/>
              </a:ext>
            </a:extLst>
          </p:cNvPr>
          <p:cNvCxnSpPr>
            <a:cxnSpLocks/>
          </p:cNvCxnSpPr>
          <p:nvPr/>
        </p:nvCxnSpPr>
        <p:spPr>
          <a:xfrm>
            <a:off x="8748092" y="3461983"/>
            <a:ext cx="345108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tângulo: Cantos Arredondados 40">
            <a:extLst>
              <a:ext uri="{FF2B5EF4-FFF2-40B4-BE49-F238E27FC236}">
                <a16:creationId xmlns:a16="http://schemas.microsoft.com/office/drawing/2014/main" id="{43007219-22A7-4373-9742-33961F90135F}"/>
              </a:ext>
            </a:extLst>
          </p:cNvPr>
          <p:cNvSpPr/>
          <p:nvPr/>
        </p:nvSpPr>
        <p:spPr>
          <a:xfrm>
            <a:off x="6426085" y="4694292"/>
            <a:ext cx="2339788" cy="1419638"/>
          </a:xfrm>
          <a:prstGeom prst="roundRect">
            <a:avLst/>
          </a:prstGeom>
          <a:solidFill>
            <a:srgbClr val="04307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Dados do Objeto</a:t>
            </a:r>
          </a:p>
        </p:txBody>
      </p:sp>
      <p:sp>
        <p:nvSpPr>
          <p:cNvPr id="42" name="Retângulo: Cantos Arredondados 41">
            <a:extLst>
              <a:ext uri="{FF2B5EF4-FFF2-40B4-BE49-F238E27FC236}">
                <a16:creationId xmlns:a16="http://schemas.microsoft.com/office/drawing/2014/main" id="{EE8F233F-7A3C-4376-AB3A-C70E7113C172}"/>
              </a:ext>
            </a:extLst>
          </p:cNvPr>
          <p:cNvSpPr/>
          <p:nvPr/>
        </p:nvSpPr>
        <p:spPr>
          <a:xfrm>
            <a:off x="9321685" y="4694291"/>
            <a:ext cx="2339788" cy="448574"/>
          </a:xfrm>
          <a:prstGeom prst="roundRect">
            <a:avLst/>
          </a:prstGeom>
          <a:solidFill>
            <a:srgbClr val="04307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Método</a:t>
            </a:r>
          </a:p>
        </p:txBody>
      </p:sp>
      <p:sp>
        <p:nvSpPr>
          <p:cNvPr id="43" name="Retângulo: Cantos Arredondados 42">
            <a:extLst>
              <a:ext uri="{FF2B5EF4-FFF2-40B4-BE49-F238E27FC236}">
                <a16:creationId xmlns:a16="http://schemas.microsoft.com/office/drawing/2014/main" id="{28B848E6-844A-4A81-AD20-3591243DC287}"/>
              </a:ext>
            </a:extLst>
          </p:cNvPr>
          <p:cNvSpPr/>
          <p:nvPr/>
        </p:nvSpPr>
        <p:spPr>
          <a:xfrm>
            <a:off x="9321685" y="5665355"/>
            <a:ext cx="2339788" cy="448574"/>
          </a:xfrm>
          <a:prstGeom prst="roundRect">
            <a:avLst/>
          </a:prstGeom>
          <a:solidFill>
            <a:srgbClr val="04307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Método</a:t>
            </a:r>
          </a:p>
        </p:txBody>
      </p:sp>
      <p:cxnSp>
        <p:nvCxnSpPr>
          <p:cNvPr id="44" name="Conector: Angulado 43">
            <a:extLst>
              <a:ext uri="{FF2B5EF4-FFF2-40B4-BE49-F238E27FC236}">
                <a16:creationId xmlns:a16="http://schemas.microsoft.com/office/drawing/2014/main" id="{D12A4591-91E7-44A1-BACC-4FD74DADDF76}"/>
              </a:ext>
            </a:extLst>
          </p:cNvPr>
          <p:cNvCxnSpPr>
            <a:cxnSpLocks/>
            <a:stCxn id="42" idx="1"/>
            <a:endCxn id="43" idx="1"/>
          </p:cNvCxnSpPr>
          <p:nvPr/>
        </p:nvCxnSpPr>
        <p:spPr>
          <a:xfrm rot="10800000" flipV="1">
            <a:off x="9321685" y="4918578"/>
            <a:ext cx="12700" cy="971064"/>
          </a:xfrm>
          <a:prstGeom prst="bentConnector3">
            <a:avLst>
              <a:gd name="adj1" fmla="val 1800000"/>
            </a:avLst>
          </a:prstGeom>
          <a:ln w="28575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ector reto 44">
            <a:extLst>
              <a:ext uri="{FF2B5EF4-FFF2-40B4-BE49-F238E27FC236}">
                <a16:creationId xmlns:a16="http://schemas.microsoft.com/office/drawing/2014/main" id="{88705664-274B-45FF-BFAA-0922C8FFC1CE}"/>
              </a:ext>
            </a:extLst>
          </p:cNvPr>
          <p:cNvCxnSpPr>
            <a:cxnSpLocks/>
          </p:cNvCxnSpPr>
          <p:nvPr/>
        </p:nvCxnSpPr>
        <p:spPr>
          <a:xfrm>
            <a:off x="8748092" y="5404110"/>
            <a:ext cx="345108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84974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093D7B6-7CB9-44D6-AA45-DDE53F8732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 Objeto 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AF7BEF7-449C-4425-8473-5A0442F267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670050"/>
          </a:xfrm>
        </p:spPr>
        <p:txBody>
          <a:bodyPr/>
          <a:lstStyle/>
          <a:p>
            <a:r>
              <a:rPr lang="pt-BR" dirty="0"/>
              <a:t>Um </a:t>
            </a:r>
            <a:r>
              <a:rPr lang="pt-BR" b="1" dirty="0"/>
              <a:t>objeto</a:t>
            </a:r>
            <a:r>
              <a:rPr lang="pt-BR" dirty="0"/>
              <a:t>, em tecnologia e programação (especialmente na Programação Orientada a Objetos – POO), é uma </a:t>
            </a:r>
            <a:r>
              <a:rPr lang="pt-BR" b="1" dirty="0"/>
              <a:t>estrutura que representa uma entidade do mundo real</a:t>
            </a:r>
            <a:r>
              <a:rPr lang="pt-BR" dirty="0"/>
              <a:t> com suas </a:t>
            </a:r>
            <a:r>
              <a:rPr lang="pt-BR" b="1" dirty="0"/>
              <a:t>características (atributos)</a:t>
            </a:r>
            <a:r>
              <a:rPr lang="pt-BR" dirty="0"/>
              <a:t> e </a:t>
            </a:r>
            <a:r>
              <a:rPr lang="pt-BR" b="1" dirty="0"/>
              <a:t>ações (métodos)</a:t>
            </a:r>
            <a:r>
              <a:rPr lang="pt-BR" dirty="0"/>
              <a:t>.</a:t>
            </a:r>
          </a:p>
          <a:p>
            <a:endParaRPr lang="pt-BR" dirty="0"/>
          </a:p>
        </p:txBody>
      </p:sp>
      <p:pic>
        <p:nvPicPr>
          <p:cNvPr id="3074" name="Picture 2" descr="Top 10 Melhores Carros Populares (Chevrolet e mais) | mybest">
            <a:extLst>
              <a:ext uri="{FF2B5EF4-FFF2-40B4-BE49-F238E27FC236}">
                <a16:creationId xmlns:a16="http://schemas.microsoft.com/office/drawing/2014/main" id="{CDBD4FFA-FC0A-4B02-B50E-CDDD02DDF9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5318" y="3781159"/>
            <a:ext cx="3486150" cy="22224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tângulo 4">
            <a:extLst>
              <a:ext uri="{FF2B5EF4-FFF2-40B4-BE49-F238E27FC236}">
                <a16:creationId xmlns:a16="http://schemas.microsoft.com/office/drawing/2014/main" id="{9CCBFED5-D431-4134-9AF2-A709C08B72AC}"/>
              </a:ext>
            </a:extLst>
          </p:cNvPr>
          <p:cNvSpPr/>
          <p:nvPr/>
        </p:nvSpPr>
        <p:spPr>
          <a:xfrm>
            <a:off x="5756786" y="3781158"/>
            <a:ext cx="2082289" cy="13056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Características</a:t>
            </a:r>
          </a:p>
          <a:p>
            <a:pPr marL="226800" lvl="1">
              <a:lnSpc>
                <a:spcPct val="150000"/>
              </a:lnSpc>
            </a:pPr>
            <a:r>
              <a:rPr lang="pt-BR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Cor</a:t>
            </a:r>
          </a:p>
          <a:p>
            <a:pPr marL="226800" lvl="1">
              <a:lnSpc>
                <a:spcPct val="150000"/>
              </a:lnSpc>
            </a:pPr>
            <a:r>
              <a:rPr lang="pt-BR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Modelo</a:t>
            </a:r>
          </a:p>
          <a:p>
            <a:pPr marL="226800" lvl="1">
              <a:lnSpc>
                <a:spcPct val="150000"/>
              </a:lnSpc>
            </a:pPr>
            <a:r>
              <a:rPr lang="pt-BR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Motor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D6F71735-16A2-48E7-8198-80F18A3B09C4}"/>
              </a:ext>
            </a:extLst>
          </p:cNvPr>
          <p:cNvSpPr/>
          <p:nvPr/>
        </p:nvSpPr>
        <p:spPr>
          <a:xfrm>
            <a:off x="8974393" y="3781158"/>
            <a:ext cx="2082289" cy="10286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Ações</a:t>
            </a:r>
          </a:p>
          <a:p>
            <a:pPr marL="226800" lvl="1">
              <a:lnSpc>
                <a:spcPct val="150000"/>
              </a:lnSpc>
            </a:pPr>
            <a:r>
              <a:rPr lang="pt-BR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Andar()</a:t>
            </a:r>
          </a:p>
          <a:p>
            <a:pPr marL="226800" lvl="1">
              <a:lnSpc>
                <a:spcPct val="150000"/>
              </a:lnSpc>
            </a:pPr>
            <a:r>
              <a:rPr lang="pt-BR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Frear()</a:t>
            </a:r>
          </a:p>
        </p:txBody>
      </p:sp>
    </p:spTree>
    <p:extLst>
      <p:ext uri="{BB962C8B-B14F-4D97-AF65-F5344CB8AC3E}">
        <p14:creationId xmlns:p14="http://schemas.microsoft.com/office/powerpoint/2010/main" val="14066377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3A408E1-F298-47F9-A295-107D46AEC7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uma classe 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62AC729-3129-4C09-AC00-0772392D4D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041400"/>
          </a:xfrm>
        </p:spPr>
        <p:txBody>
          <a:bodyPr/>
          <a:lstStyle/>
          <a:p>
            <a:r>
              <a:rPr lang="pt-BR" dirty="0"/>
              <a:t>Uma </a:t>
            </a:r>
            <a:r>
              <a:rPr lang="pt-BR" b="1" dirty="0"/>
              <a:t>classe</a:t>
            </a:r>
            <a:r>
              <a:rPr lang="pt-BR" dirty="0"/>
              <a:t> é um </a:t>
            </a:r>
            <a:r>
              <a:rPr lang="pt-BR" b="1" dirty="0"/>
              <a:t>molde</a:t>
            </a:r>
            <a:r>
              <a:rPr lang="pt-BR" dirty="0"/>
              <a:t> (ou </a:t>
            </a:r>
            <a:r>
              <a:rPr lang="pt-BR" b="1" dirty="0"/>
              <a:t>modelo</a:t>
            </a:r>
            <a:r>
              <a:rPr lang="pt-BR" dirty="0"/>
              <a:t>) que define como serão os objetos.</a:t>
            </a:r>
            <a:br>
              <a:rPr lang="pt-BR" dirty="0"/>
            </a:br>
            <a:r>
              <a:rPr lang="pt-BR" dirty="0"/>
              <a:t>Ela </a:t>
            </a:r>
            <a:r>
              <a:rPr lang="pt-BR" b="1" dirty="0"/>
              <a:t>organiza e agrupa dados (atributos)</a:t>
            </a:r>
            <a:r>
              <a:rPr lang="pt-BR" dirty="0"/>
              <a:t> e </a:t>
            </a:r>
            <a:r>
              <a:rPr lang="pt-BR" b="1" dirty="0"/>
              <a:t>ações (métodos)</a:t>
            </a:r>
            <a:r>
              <a:rPr lang="pt-BR" dirty="0"/>
              <a:t> relacionados a um tipo de entidade.</a:t>
            </a:r>
          </a:p>
        </p:txBody>
      </p:sp>
      <p:pic>
        <p:nvPicPr>
          <p:cNvPr id="5122" name="Picture 2" descr="Top 10 Melhores Carros Populares (Chevrolet e mais) | mybest">
            <a:extLst>
              <a:ext uri="{FF2B5EF4-FFF2-40B4-BE49-F238E27FC236}">
                <a16:creationId xmlns:a16="http://schemas.microsoft.com/office/drawing/2014/main" id="{5FFEC15B-86EA-4974-AFDE-F6A28D1447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0043" y="3668882"/>
            <a:ext cx="2823882" cy="1800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C152DC6A-C6F6-456F-A00B-E4BE32EA0D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3968" y="3686174"/>
            <a:ext cx="2712373" cy="1498943"/>
          </a:xfrm>
          <a:prstGeom prst="rect">
            <a:avLst/>
          </a:prstGeom>
        </p:spPr>
      </p:pic>
      <p:pic>
        <p:nvPicPr>
          <p:cNvPr id="5124" name="Picture 4" descr="Polo lidera vendas de hatches compactos em janeiro com Onix no retrovisor -  Revista Carro">
            <a:extLst>
              <a:ext uri="{FF2B5EF4-FFF2-40B4-BE49-F238E27FC236}">
                <a16:creationId xmlns:a16="http://schemas.microsoft.com/office/drawing/2014/main" id="{0080B205-E415-4CD4-ABD3-2B897D89DB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06384" y="3668856"/>
            <a:ext cx="2695575" cy="15162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014378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8580212-6C21-4A3A-B48C-8AE46322A2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Classe carro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CDFA00C-4790-4B41-BA48-4FCBB1C20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3331953" cy="4351338"/>
          </a:xfrm>
        </p:spPr>
        <p:txBody>
          <a:bodyPr/>
          <a:lstStyle/>
          <a:p>
            <a:r>
              <a:rPr lang="pt-BR" b="1" dirty="0"/>
              <a:t>Características</a:t>
            </a:r>
            <a:r>
              <a:rPr lang="pt-BR" dirty="0"/>
              <a:t> </a:t>
            </a:r>
            <a:r>
              <a:rPr lang="pt-BR" b="1" dirty="0"/>
              <a:t>(Atributos)</a:t>
            </a:r>
          </a:p>
          <a:p>
            <a:pPr lvl="1" indent="0">
              <a:buNone/>
            </a:pPr>
            <a:r>
              <a:rPr lang="pt-BR" dirty="0"/>
              <a:t>Cor </a:t>
            </a:r>
          </a:p>
          <a:p>
            <a:pPr lvl="1" indent="0">
              <a:buNone/>
            </a:pPr>
            <a:r>
              <a:rPr lang="pt-BR" dirty="0"/>
              <a:t>Modelo </a:t>
            </a:r>
          </a:p>
          <a:p>
            <a:pPr lvl="1" indent="0">
              <a:buNone/>
            </a:pPr>
            <a:r>
              <a:rPr lang="pt-BR" dirty="0"/>
              <a:t>Motor  </a:t>
            </a:r>
          </a:p>
          <a:p>
            <a:pPr marL="0" lvl="1" indent="0">
              <a:buNone/>
            </a:pPr>
            <a:r>
              <a:rPr lang="pt-BR" sz="2000" b="1" dirty="0"/>
              <a:t>Comportamentos (Métodos) </a:t>
            </a:r>
          </a:p>
          <a:p>
            <a:pPr lvl="1" indent="0">
              <a:buNone/>
            </a:pPr>
            <a:r>
              <a:rPr lang="pt-BR" dirty="0"/>
              <a:t>Andar()</a:t>
            </a:r>
          </a:p>
          <a:p>
            <a:pPr lvl="1" indent="0">
              <a:buNone/>
            </a:pPr>
            <a:r>
              <a:rPr lang="pt-BR" dirty="0"/>
              <a:t>Frear()</a:t>
            </a:r>
          </a:p>
          <a:p>
            <a:pPr lvl="1" indent="0">
              <a:buNone/>
            </a:pPr>
            <a:r>
              <a:rPr lang="pt-BR" dirty="0"/>
              <a:t> </a:t>
            </a:r>
          </a:p>
          <a:p>
            <a:pPr lvl="1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3944706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4B5884C-9DB6-4490-AF46-5B44B34E36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Instanciar uma classe</a:t>
            </a:r>
          </a:p>
        </p:txBody>
      </p:sp>
      <p:sp>
        <p:nvSpPr>
          <p:cNvPr id="4" name="Espaço Reservado para Conteúdo 2">
            <a:extLst>
              <a:ext uri="{FF2B5EF4-FFF2-40B4-BE49-F238E27FC236}">
                <a16:creationId xmlns:a16="http://schemas.microsoft.com/office/drawing/2014/main" id="{E7E52D3A-8200-4B45-96CE-887FD08566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3474828" cy="4351338"/>
          </a:xfrm>
        </p:spPr>
        <p:txBody>
          <a:bodyPr/>
          <a:lstStyle/>
          <a:p>
            <a:r>
              <a:rPr lang="pt-BR" b="1" dirty="0"/>
              <a:t>Características</a:t>
            </a:r>
            <a:r>
              <a:rPr lang="pt-BR" dirty="0"/>
              <a:t> </a:t>
            </a:r>
            <a:r>
              <a:rPr lang="pt-BR" b="1" dirty="0"/>
              <a:t>(Atributos)</a:t>
            </a:r>
          </a:p>
          <a:p>
            <a:pPr lvl="1" indent="0">
              <a:buNone/>
            </a:pPr>
            <a:r>
              <a:rPr lang="pt-BR" dirty="0"/>
              <a:t>Cor - Branco</a:t>
            </a:r>
          </a:p>
          <a:p>
            <a:pPr lvl="1" indent="0">
              <a:buNone/>
            </a:pPr>
            <a:r>
              <a:rPr lang="pt-BR" dirty="0"/>
              <a:t>Modelo - Polo</a:t>
            </a:r>
          </a:p>
          <a:p>
            <a:pPr lvl="1" indent="0">
              <a:buNone/>
            </a:pPr>
            <a:r>
              <a:rPr lang="pt-BR" dirty="0"/>
              <a:t>Motor  - 1.0 Turbo</a:t>
            </a:r>
          </a:p>
          <a:p>
            <a:pPr marL="0" lvl="1" indent="0">
              <a:buNone/>
            </a:pPr>
            <a:r>
              <a:rPr lang="pt-BR" sz="2000" b="1" dirty="0"/>
              <a:t>Comportamentos (Métodos) </a:t>
            </a:r>
          </a:p>
          <a:p>
            <a:pPr lvl="1" indent="0">
              <a:buNone/>
            </a:pPr>
            <a:r>
              <a:rPr lang="pt-BR" dirty="0"/>
              <a:t>Andar()</a:t>
            </a:r>
          </a:p>
          <a:p>
            <a:pPr lvl="1" indent="0">
              <a:buNone/>
            </a:pPr>
            <a:r>
              <a:rPr lang="pt-BR" dirty="0"/>
              <a:t>Frear()</a:t>
            </a:r>
          </a:p>
          <a:p>
            <a:pPr lvl="1" indent="0">
              <a:buNone/>
            </a:pPr>
            <a:r>
              <a:rPr lang="pt-BR" dirty="0"/>
              <a:t> </a:t>
            </a:r>
          </a:p>
          <a:p>
            <a:pPr lvl="1" indent="0">
              <a:buNone/>
            </a:pPr>
            <a:endParaRPr lang="pt-BR" dirty="0"/>
          </a:p>
        </p:txBody>
      </p:sp>
      <p:pic>
        <p:nvPicPr>
          <p:cNvPr id="6148" name="Picture 4" descr="VW Polo GTS 2021 com rodas de 18 polegadas vale a compra? - Revista  Fullpower | Notícias sobre carros, acessórios e customizações">
            <a:extLst>
              <a:ext uri="{FF2B5EF4-FFF2-40B4-BE49-F238E27FC236}">
                <a16:creationId xmlns:a16="http://schemas.microsoft.com/office/drawing/2014/main" id="{60C3299C-E556-4BA3-A6E8-67A5A150C0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4339" y="2714625"/>
            <a:ext cx="4565314" cy="25669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D4A08249-01E3-4B89-979B-01FDFB6BA898}"/>
              </a:ext>
            </a:extLst>
          </p:cNvPr>
          <p:cNvCxnSpPr>
            <a:cxnSpLocks/>
          </p:cNvCxnSpPr>
          <p:nvPr/>
        </p:nvCxnSpPr>
        <p:spPr>
          <a:xfrm>
            <a:off x="4181475" y="4020344"/>
            <a:ext cx="2738564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tângulo 9">
            <a:extLst>
              <a:ext uri="{FF2B5EF4-FFF2-40B4-BE49-F238E27FC236}">
                <a16:creationId xmlns:a16="http://schemas.microsoft.com/office/drawing/2014/main" id="{E70FAB87-53DE-4D5C-95D7-30FAD3A5CF55}"/>
              </a:ext>
            </a:extLst>
          </p:cNvPr>
          <p:cNvSpPr/>
          <p:nvPr/>
        </p:nvSpPr>
        <p:spPr>
          <a:xfrm>
            <a:off x="5001055" y="3330059"/>
            <a:ext cx="109940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Instanciar</a:t>
            </a:r>
          </a:p>
        </p:txBody>
      </p:sp>
    </p:spTree>
    <p:extLst>
      <p:ext uri="{BB962C8B-B14F-4D97-AF65-F5344CB8AC3E}">
        <p14:creationId xmlns:p14="http://schemas.microsoft.com/office/powerpoint/2010/main" val="25207014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CFC94F-F8C3-47D9-B2D6-5911FDFD5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Comportamento da Classe</a:t>
            </a:r>
          </a:p>
        </p:txBody>
      </p:sp>
      <p:pic>
        <p:nvPicPr>
          <p:cNvPr id="17" name="Espaço Reservado para Conteúdo 16">
            <a:extLst>
              <a:ext uri="{FF2B5EF4-FFF2-40B4-BE49-F238E27FC236}">
                <a16:creationId xmlns:a16="http://schemas.microsoft.com/office/drawing/2014/main" id="{0E79E216-A075-4C96-A3A3-9790A347A24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4274" y="2915444"/>
            <a:ext cx="3347295" cy="2799556"/>
          </a:xfrm>
        </p:spPr>
      </p:pic>
      <p:pic>
        <p:nvPicPr>
          <p:cNvPr id="19" name="Imagem 18">
            <a:extLst>
              <a:ext uri="{FF2B5EF4-FFF2-40B4-BE49-F238E27FC236}">
                <a16:creationId xmlns:a16="http://schemas.microsoft.com/office/drawing/2014/main" id="{262984C7-7551-47DA-AD2B-48DB2C3B39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9700" y="2915444"/>
            <a:ext cx="3829050" cy="2799556"/>
          </a:xfrm>
          <a:prstGeom prst="rect">
            <a:avLst/>
          </a:prstGeom>
        </p:spPr>
      </p:pic>
      <p:sp>
        <p:nvSpPr>
          <p:cNvPr id="20" name="CaixaDeTexto 19">
            <a:extLst>
              <a:ext uri="{FF2B5EF4-FFF2-40B4-BE49-F238E27FC236}">
                <a16:creationId xmlns:a16="http://schemas.microsoft.com/office/drawing/2014/main" id="{18A26949-B5AC-4FA8-92FA-00DB8B80A977}"/>
              </a:ext>
            </a:extLst>
          </p:cNvPr>
          <p:cNvSpPr txBox="1"/>
          <p:nvPr/>
        </p:nvSpPr>
        <p:spPr>
          <a:xfrm>
            <a:off x="2843213" y="2400300"/>
            <a:ext cx="962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Andar()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FD946682-214A-4D7C-A6C0-6E6088DBFFB8}"/>
              </a:ext>
            </a:extLst>
          </p:cNvPr>
          <p:cNvSpPr txBox="1"/>
          <p:nvPr/>
        </p:nvSpPr>
        <p:spPr>
          <a:xfrm>
            <a:off x="8768394" y="2372519"/>
            <a:ext cx="8790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Frear()</a:t>
            </a:r>
          </a:p>
        </p:txBody>
      </p:sp>
    </p:spTree>
    <p:extLst>
      <p:ext uri="{BB962C8B-B14F-4D97-AF65-F5344CB8AC3E}">
        <p14:creationId xmlns:p14="http://schemas.microsoft.com/office/powerpoint/2010/main" val="24830071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74E4B8D-53F6-4AF5-8E4A-1C3E27B76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Classes em POO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8798C3C-991D-4DEB-B91B-2811E51F2B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212561"/>
          </a:xfrm>
        </p:spPr>
        <p:txBody>
          <a:bodyPr/>
          <a:lstStyle/>
          <a:p>
            <a:r>
              <a:rPr lang="pt-BR" dirty="0"/>
              <a:t>Uma classe em Java é um modelo ou estrutura que define as propriedades (atributos) e comportamentos (métodos) de um objeto, funcionando como um molde para criar instâncias (objetos) no programa.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94336A81-7BAA-4782-85A8-0434B4D50C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182" y="3318164"/>
            <a:ext cx="10067636" cy="1550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2004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169DDAA-F296-4CE9-B774-48D7077462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Instanciar uma Classe 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90FE15C-0BB0-485F-AA5F-9038D08C35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584325"/>
          </a:xfrm>
        </p:spPr>
        <p:txBody>
          <a:bodyPr/>
          <a:lstStyle/>
          <a:p>
            <a:r>
              <a:rPr lang="pt-BR" sz="1800" dirty="0"/>
              <a:t>Instanciar uma classe significa criar um objeto a partir de uma classe. Em Java, isso é feito utilizando a palavra-chave new, seguida pelo nome da classe e seus parâmetros, caso existam. Quando um objeto é instanciado, ele tem sua própria cópia dos atributos e pode acessar os métodos definidos na classe.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631BDFC5-7154-474C-9438-41994DB22B53}"/>
              </a:ext>
            </a:extLst>
          </p:cNvPr>
          <p:cNvSpPr txBox="1"/>
          <p:nvPr/>
        </p:nvSpPr>
        <p:spPr>
          <a:xfrm>
            <a:off x="592347" y="4959927"/>
            <a:ext cx="8939580" cy="13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NomeDaClasse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É o nome da classe que você deseja instanciar.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nomeDoObjeto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É o nome da variável que irá referenciar o objeto criado.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new: Palavras-chave usada para criar uma nova instância da classe.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NomeDaClasse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(): Chamada ao construtor da classe (se houver) para inicializar o objeto.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B6DD26F1-C1AE-4BD5-8729-399B847A9B4F}"/>
              </a:ext>
            </a:extLst>
          </p:cNvPr>
          <p:cNvSpPr/>
          <p:nvPr/>
        </p:nvSpPr>
        <p:spPr>
          <a:xfrm>
            <a:off x="3027692" y="3640465"/>
            <a:ext cx="613661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 err="1">
                <a:solidFill>
                  <a:srgbClr val="000000"/>
                </a:solidFill>
                <a:latin typeface="Consolas" panose="020B0609020204030204" pitchFamily="49" charset="0"/>
              </a:rPr>
              <a:t>NomeDaClasse</a:t>
            </a:r>
            <a:r>
              <a:rPr lang="pt-BR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pt-BR" dirty="0" err="1">
                <a:solidFill>
                  <a:srgbClr val="6A3E3E"/>
                </a:solidFill>
                <a:latin typeface="Consolas" panose="020B0609020204030204" pitchFamily="49" charset="0"/>
              </a:rPr>
              <a:t>nomeDoObjeto</a:t>
            </a:r>
            <a:r>
              <a:rPr lang="pt-BR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pt-BR" b="1" dirty="0">
                <a:solidFill>
                  <a:srgbClr val="7F0055"/>
                </a:solidFill>
                <a:latin typeface="Consolas" panose="020B0609020204030204" pitchFamily="49" charset="0"/>
              </a:rPr>
              <a:t>new</a:t>
            </a:r>
            <a:r>
              <a:rPr lang="pt-BR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pt-BR" dirty="0" err="1">
                <a:solidFill>
                  <a:srgbClr val="000000"/>
                </a:solidFill>
                <a:latin typeface="Consolas" panose="020B0609020204030204" pitchFamily="49" charset="0"/>
              </a:rPr>
              <a:t>NomeDaClasse</a:t>
            </a:r>
            <a:r>
              <a:rPr lang="pt-BR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1142819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B8BB48F-18EA-4DB0-8E9A-B1017EF47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Entendo as Classes na Prática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E705951-202C-47B4-B423-DE67118B23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4"/>
            <a:ext cx="11007306" cy="4657725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pt-BR" b="1" dirty="0"/>
              <a:t>Desafio: Comparando Gastos Mensais – Estruturada </a:t>
            </a:r>
            <a:r>
              <a:rPr lang="pt-BR" b="1" dirty="0" err="1"/>
              <a:t>vs</a:t>
            </a:r>
            <a:r>
              <a:rPr lang="pt-BR" b="1" dirty="0"/>
              <a:t> Orientada a Objetos</a:t>
            </a:r>
          </a:p>
          <a:p>
            <a:pPr lvl="1" indent="0">
              <a:spcBef>
                <a:spcPts val="0"/>
              </a:spcBef>
              <a:buNone/>
            </a:pPr>
            <a:r>
              <a:rPr lang="pt-BR" dirty="0"/>
              <a:t>Você deseja comparar os gastos de dois meses (Janeiro e Fevereiro) com Alimentação, Luz e Água. O objetivo é identificar qual mês teve o maior gasto total.</a:t>
            </a:r>
          </a:p>
          <a:p>
            <a:pPr marL="971550" lvl="1" indent="-285750">
              <a:spcBef>
                <a:spcPts val="0"/>
              </a:spcBef>
            </a:pPr>
            <a:r>
              <a:rPr lang="pt-BR" b="1" dirty="0"/>
              <a:t>Programação Estruturada</a:t>
            </a:r>
          </a:p>
          <a:p>
            <a:pPr lvl="2" indent="0">
              <a:spcBef>
                <a:spcPts val="0"/>
              </a:spcBef>
              <a:buNone/>
            </a:pPr>
            <a:r>
              <a:rPr lang="pt-BR" dirty="0"/>
              <a:t>Crie um programa onde você armazena os valores gastos com </a:t>
            </a:r>
            <a:r>
              <a:rPr lang="pt-BR" b="1" dirty="0"/>
              <a:t>Alimentação</a:t>
            </a:r>
            <a:r>
              <a:rPr lang="pt-BR" dirty="0"/>
              <a:t>, </a:t>
            </a:r>
            <a:r>
              <a:rPr lang="pt-BR" b="1" dirty="0"/>
              <a:t>Luz</a:t>
            </a:r>
            <a:r>
              <a:rPr lang="pt-BR" dirty="0"/>
              <a:t> e </a:t>
            </a:r>
            <a:r>
              <a:rPr lang="pt-BR" b="1" dirty="0"/>
              <a:t>Água</a:t>
            </a:r>
            <a:r>
              <a:rPr lang="pt-BR" dirty="0"/>
              <a:t> para os meses de Janeiro e Fevereiro em variáveis separadas. Em seguida, calcule a soma total dos gastos de cada mês e compare os resultados para identificar qual mês apresentou o maior gasto total.</a:t>
            </a:r>
            <a:endParaRPr lang="pt-BR" b="1" dirty="0"/>
          </a:p>
        </p:txBody>
      </p:sp>
    </p:spTree>
    <p:extLst>
      <p:ext uri="{BB962C8B-B14F-4D97-AF65-F5344CB8AC3E}">
        <p14:creationId xmlns:p14="http://schemas.microsoft.com/office/powerpoint/2010/main" val="20983197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B8DE3EC-458E-4DDF-B7B0-707499A498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Resolução utilizando a Programação Estruturada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B5A3352-9F0F-4A1B-B2F5-BB47907933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639907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pt-BR" dirty="0"/>
              <a:t>Importar o Scanner e declarar as variáveis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A9D726E2-45A4-46EC-ACAD-1C5853FD0F3B}"/>
              </a:ext>
            </a:extLst>
          </p:cNvPr>
          <p:cNvSpPr/>
          <p:nvPr/>
        </p:nvSpPr>
        <p:spPr>
          <a:xfrm>
            <a:off x="1842654" y="2564971"/>
            <a:ext cx="8506692" cy="6360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150"/>
              </a:spcBef>
              <a:spcAft>
                <a:spcPts val="150"/>
              </a:spcAft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Scanner </a:t>
            </a:r>
            <a:r>
              <a:rPr lang="en-US" sz="1600" dirty="0" err="1">
                <a:solidFill>
                  <a:srgbClr val="6A3E3E"/>
                </a:solidFill>
                <a:latin typeface="Consolas" panose="020B0609020204030204" pitchFamily="49" charset="0"/>
              </a:rPr>
              <a:t>sc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600" b="1" dirty="0">
                <a:solidFill>
                  <a:srgbClr val="7F0055"/>
                </a:solidFill>
                <a:latin typeface="Consolas" panose="020B0609020204030204" pitchFamily="49" charset="0"/>
              </a:rPr>
              <a:t>new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Scanner(System.</a:t>
            </a:r>
            <a:r>
              <a:rPr lang="en-US" sz="1600" b="1" i="1" dirty="0">
                <a:solidFill>
                  <a:srgbClr val="0000C0"/>
                </a:solidFill>
                <a:latin typeface="Consolas" panose="020B0609020204030204" pitchFamily="49" charset="0"/>
              </a:rPr>
              <a:t>in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spcBef>
                <a:spcPts val="150"/>
              </a:spcBef>
              <a:spcAft>
                <a:spcPts val="150"/>
              </a:spcAft>
            </a:pPr>
            <a:r>
              <a:rPr lang="en-US" sz="1600" b="1" dirty="0">
                <a:solidFill>
                  <a:srgbClr val="7F0055"/>
                </a:solidFill>
                <a:latin typeface="Consolas" panose="020B0609020204030204" pitchFamily="49" charset="0"/>
              </a:rPr>
              <a:t>double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6A3E3E"/>
                </a:solidFill>
                <a:latin typeface="Consolas" panose="020B0609020204030204" pitchFamily="49" charset="0"/>
              </a:rPr>
              <a:t>alimJan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600" dirty="0" err="1">
                <a:solidFill>
                  <a:srgbClr val="6A3E3E"/>
                </a:solidFill>
                <a:latin typeface="Consolas" panose="020B0609020204030204" pitchFamily="49" charset="0"/>
              </a:rPr>
              <a:t>energiaJan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600" dirty="0" err="1">
                <a:solidFill>
                  <a:srgbClr val="6A3E3E"/>
                </a:solidFill>
                <a:latin typeface="Consolas" panose="020B0609020204030204" pitchFamily="49" charset="0"/>
              </a:rPr>
              <a:t>aguaJan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600" dirty="0" err="1">
                <a:solidFill>
                  <a:srgbClr val="6A3E3E"/>
                </a:solidFill>
                <a:latin typeface="Consolas" panose="020B0609020204030204" pitchFamily="49" charset="0"/>
              </a:rPr>
              <a:t>alimFev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600" dirty="0" err="1">
                <a:solidFill>
                  <a:srgbClr val="6A3E3E"/>
                </a:solidFill>
                <a:latin typeface="Consolas" panose="020B0609020204030204" pitchFamily="49" charset="0"/>
              </a:rPr>
              <a:t>energiaFev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600" dirty="0" err="1">
                <a:solidFill>
                  <a:srgbClr val="6A3E3E"/>
                </a:solidFill>
                <a:latin typeface="Consolas" panose="020B0609020204030204" pitchFamily="49" charset="0"/>
              </a:rPr>
              <a:t>aguaFev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5" name="Espaço Reservado para Conteúdo 2">
            <a:extLst>
              <a:ext uri="{FF2B5EF4-FFF2-40B4-BE49-F238E27FC236}">
                <a16:creationId xmlns:a16="http://schemas.microsoft.com/office/drawing/2014/main" id="{CE3DE0DC-F12F-4A35-856E-E4A3D6B03F64}"/>
              </a:ext>
            </a:extLst>
          </p:cNvPr>
          <p:cNvSpPr txBox="1">
            <a:spLocks/>
          </p:cNvSpPr>
          <p:nvPr/>
        </p:nvSpPr>
        <p:spPr>
          <a:xfrm>
            <a:off x="592347" y="3281432"/>
            <a:ext cx="11007306" cy="639907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685800" indent="-228600" algn="just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1143000" indent="-228600" algn="just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600200" indent="-228600" algn="just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2057400" indent="-228600" algn="just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+mj-lt"/>
              <a:buAutoNum type="arabicPeriod" startAt="2"/>
            </a:pPr>
            <a:r>
              <a:rPr lang="pt-BR" dirty="0"/>
              <a:t>Atribuir os valores as variáveis, a partir da entra de dados do usuário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ECA5BD7F-F2E5-425C-8E29-7C2BD56FC1FD}"/>
              </a:ext>
            </a:extLst>
          </p:cNvPr>
          <p:cNvSpPr/>
          <p:nvPr/>
        </p:nvSpPr>
        <p:spPr>
          <a:xfrm>
            <a:off x="3062114" y="4001729"/>
            <a:ext cx="6067772" cy="24211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150"/>
              </a:spcBef>
              <a:spcAft>
                <a:spcPts val="150"/>
              </a:spcAft>
            </a:pP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System.</a:t>
            </a:r>
            <a:r>
              <a:rPr lang="pt-BR" sz="1600" b="1" i="1" dirty="0">
                <a:solidFill>
                  <a:srgbClr val="0000C0"/>
                </a:solidFill>
                <a:latin typeface="Consolas" panose="020B0609020204030204" pitchFamily="49" charset="0"/>
              </a:rPr>
              <a:t>out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.println(</a:t>
            </a:r>
            <a:r>
              <a:rPr lang="pt-BR" sz="1600" dirty="0">
                <a:solidFill>
                  <a:srgbClr val="2A00FF"/>
                </a:solidFill>
                <a:latin typeface="Consolas" panose="020B0609020204030204" pitchFamily="49" charset="0"/>
              </a:rPr>
              <a:t>"Digite as contas de Janeiro"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spcBef>
                <a:spcPts val="150"/>
              </a:spcBef>
              <a:spcAft>
                <a:spcPts val="150"/>
              </a:spcAft>
            </a:pPr>
            <a:r>
              <a:rPr lang="pt-BR" sz="1600" dirty="0" err="1">
                <a:solidFill>
                  <a:srgbClr val="6A3E3E"/>
                </a:solidFill>
                <a:latin typeface="Consolas" panose="020B0609020204030204" pitchFamily="49" charset="0"/>
              </a:rPr>
              <a:t>alimJan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pt-BR" sz="1600" dirty="0" err="1">
                <a:solidFill>
                  <a:srgbClr val="6A3E3E"/>
                </a:solidFill>
                <a:latin typeface="Consolas" panose="020B0609020204030204" pitchFamily="49" charset="0"/>
              </a:rPr>
              <a:t>sc</a:t>
            </a:r>
            <a:r>
              <a:rPr lang="pt-B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.nextDouble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</a:p>
          <a:p>
            <a:pPr>
              <a:spcBef>
                <a:spcPts val="150"/>
              </a:spcBef>
              <a:spcAft>
                <a:spcPts val="150"/>
              </a:spcAft>
            </a:pPr>
            <a:r>
              <a:rPr lang="pt-BR" sz="1600" dirty="0" err="1">
                <a:solidFill>
                  <a:srgbClr val="6A3E3E"/>
                </a:solidFill>
                <a:latin typeface="Consolas" panose="020B0609020204030204" pitchFamily="49" charset="0"/>
              </a:rPr>
              <a:t>energiaJan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pt-BR" sz="1600" dirty="0" err="1">
                <a:solidFill>
                  <a:srgbClr val="6A3E3E"/>
                </a:solidFill>
                <a:latin typeface="Consolas" panose="020B0609020204030204" pitchFamily="49" charset="0"/>
              </a:rPr>
              <a:t>sc</a:t>
            </a:r>
            <a:r>
              <a:rPr lang="pt-B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.nextDouble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</a:p>
          <a:p>
            <a:pPr>
              <a:spcBef>
                <a:spcPts val="150"/>
              </a:spcBef>
              <a:spcAft>
                <a:spcPts val="150"/>
              </a:spcAft>
            </a:pPr>
            <a:r>
              <a:rPr lang="pt-BR" sz="1600" dirty="0" err="1">
                <a:solidFill>
                  <a:srgbClr val="6A3E3E"/>
                </a:solidFill>
                <a:latin typeface="Consolas" panose="020B0609020204030204" pitchFamily="49" charset="0"/>
              </a:rPr>
              <a:t>aguaJan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pt-BR" sz="1600" dirty="0" err="1">
                <a:solidFill>
                  <a:srgbClr val="6A3E3E"/>
                </a:solidFill>
                <a:latin typeface="Consolas" panose="020B0609020204030204" pitchFamily="49" charset="0"/>
              </a:rPr>
              <a:t>sc</a:t>
            </a:r>
            <a:r>
              <a:rPr lang="pt-B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.nextDouble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</a:p>
          <a:p>
            <a:pPr>
              <a:spcBef>
                <a:spcPts val="150"/>
              </a:spcBef>
              <a:spcAft>
                <a:spcPts val="150"/>
              </a:spcAft>
            </a:pP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System.</a:t>
            </a:r>
            <a:r>
              <a:rPr lang="pt-BR" sz="1600" b="1" i="1" dirty="0">
                <a:solidFill>
                  <a:srgbClr val="0000C0"/>
                </a:solidFill>
                <a:latin typeface="Consolas" panose="020B0609020204030204" pitchFamily="49" charset="0"/>
              </a:rPr>
              <a:t>out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.println(</a:t>
            </a:r>
            <a:r>
              <a:rPr lang="pt-BR" sz="1600" dirty="0">
                <a:solidFill>
                  <a:srgbClr val="2A00FF"/>
                </a:solidFill>
                <a:latin typeface="Consolas" panose="020B0609020204030204" pitchFamily="49" charset="0"/>
              </a:rPr>
              <a:t>"Digite as contas de Fevereiro"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spcBef>
                <a:spcPts val="150"/>
              </a:spcBef>
              <a:spcAft>
                <a:spcPts val="150"/>
              </a:spcAft>
            </a:pPr>
            <a:r>
              <a:rPr lang="pt-BR" sz="1600" dirty="0" err="1">
                <a:solidFill>
                  <a:srgbClr val="6A3E3E"/>
                </a:solidFill>
                <a:latin typeface="Consolas" panose="020B0609020204030204" pitchFamily="49" charset="0"/>
              </a:rPr>
              <a:t>alimFev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pt-BR" sz="1600" dirty="0" err="1">
                <a:solidFill>
                  <a:srgbClr val="6A3E3E"/>
                </a:solidFill>
                <a:latin typeface="Consolas" panose="020B0609020204030204" pitchFamily="49" charset="0"/>
              </a:rPr>
              <a:t>sc</a:t>
            </a:r>
            <a:r>
              <a:rPr lang="pt-B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.nextDouble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</a:p>
          <a:p>
            <a:pPr>
              <a:spcBef>
                <a:spcPts val="150"/>
              </a:spcBef>
              <a:spcAft>
                <a:spcPts val="150"/>
              </a:spcAft>
            </a:pPr>
            <a:r>
              <a:rPr lang="pt-BR" sz="1600" dirty="0" err="1">
                <a:solidFill>
                  <a:srgbClr val="6A3E3E"/>
                </a:solidFill>
                <a:latin typeface="Consolas" panose="020B0609020204030204" pitchFamily="49" charset="0"/>
              </a:rPr>
              <a:t>energiaFev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pt-BR" sz="1600" dirty="0" err="1">
                <a:solidFill>
                  <a:srgbClr val="6A3E3E"/>
                </a:solidFill>
                <a:latin typeface="Consolas" panose="020B0609020204030204" pitchFamily="49" charset="0"/>
              </a:rPr>
              <a:t>sc</a:t>
            </a:r>
            <a:r>
              <a:rPr lang="pt-B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.nextDouble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</a:p>
          <a:p>
            <a:pPr>
              <a:spcBef>
                <a:spcPts val="150"/>
              </a:spcBef>
              <a:spcAft>
                <a:spcPts val="150"/>
              </a:spcAft>
            </a:pPr>
            <a:r>
              <a:rPr lang="pt-BR" sz="1600" dirty="0" err="1">
                <a:solidFill>
                  <a:srgbClr val="6A3E3E"/>
                </a:solidFill>
                <a:latin typeface="Consolas" panose="020B0609020204030204" pitchFamily="49" charset="0"/>
              </a:rPr>
              <a:t>aguaFev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pt-BR" sz="1600" dirty="0" err="1">
                <a:solidFill>
                  <a:srgbClr val="6A3E3E"/>
                </a:solidFill>
                <a:latin typeface="Consolas" panose="020B0609020204030204" pitchFamily="49" charset="0"/>
              </a:rPr>
              <a:t>sc</a:t>
            </a:r>
            <a:r>
              <a:rPr lang="pt-B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.nextDouble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</a:p>
        </p:txBody>
      </p:sp>
    </p:spTree>
    <p:extLst>
      <p:ext uri="{BB962C8B-B14F-4D97-AF65-F5344CB8AC3E}">
        <p14:creationId xmlns:p14="http://schemas.microsoft.com/office/powerpoint/2010/main" val="17065734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B8DE3EC-458E-4DDF-B7B0-707499A498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Resolução utilizando a Programação Estruturada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B5A3352-9F0F-4A1B-B2F5-BB47907933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639907"/>
          </a:xfrm>
        </p:spPr>
        <p:txBody>
          <a:bodyPr/>
          <a:lstStyle/>
          <a:p>
            <a:pPr marL="457200" indent="-457200">
              <a:buFont typeface="+mj-lt"/>
              <a:buAutoNum type="arabicPeriod" startAt="3"/>
            </a:pPr>
            <a:r>
              <a:rPr lang="pt-BR" dirty="0"/>
              <a:t>Somar os gastos no meses de Janeiro e Fevereiro</a:t>
            </a:r>
          </a:p>
        </p:txBody>
      </p:sp>
      <p:sp>
        <p:nvSpPr>
          <p:cNvPr id="5" name="Espaço Reservado para Conteúdo 2">
            <a:extLst>
              <a:ext uri="{FF2B5EF4-FFF2-40B4-BE49-F238E27FC236}">
                <a16:creationId xmlns:a16="http://schemas.microsoft.com/office/drawing/2014/main" id="{CE3DE0DC-F12F-4A35-856E-E4A3D6B03F64}"/>
              </a:ext>
            </a:extLst>
          </p:cNvPr>
          <p:cNvSpPr txBox="1">
            <a:spLocks/>
          </p:cNvSpPr>
          <p:nvPr/>
        </p:nvSpPr>
        <p:spPr>
          <a:xfrm>
            <a:off x="592347" y="3186812"/>
            <a:ext cx="11007306" cy="639907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685800" indent="-228600" algn="just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1143000" indent="-228600" algn="just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600200" indent="-228600" algn="just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2057400" indent="-228600" algn="just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+mj-lt"/>
              <a:buAutoNum type="arabicPeriod" startAt="4"/>
            </a:pPr>
            <a:r>
              <a:rPr lang="pt-BR" dirty="0"/>
              <a:t>Comparar os meses que tiveram maior gasto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3DE3F455-139F-4885-B0FC-3B384E3C8A76}"/>
              </a:ext>
            </a:extLst>
          </p:cNvPr>
          <p:cNvSpPr/>
          <p:nvPr/>
        </p:nvSpPr>
        <p:spPr>
          <a:xfrm>
            <a:off x="3249021" y="2517661"/>
            <a:ext cx="5693959" cy="6360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150"/>
              </a:spcBef>
              <a:spcAft>
                <a:spcPts val="150"/>
              </a:spcAft>
            </a:pPr>
            <a:r>
              <a:rPr lang="pt-BR" sz="1600" b="1" dirty="0">
                <a:solidFill>
                  <a:srgbClr val="7F0055"/>
                </a:solidFill>
                <a:latin typeface="Consolas" panose="020B0609020204030204" pitchFamily="49" charset="0"/>
              </a:rPr>
              <a:t>double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pt-BR" sz="1600" dirty="0" err="1">
                <a:solidFill>
                  <a:srgbClr val="6A3E3E"/>
                </a:solidFill>
                <a:latin typeface="Consolas" panose="020B0609020204030204" pitchFamily="49" charset="0"/>
              </a:rPr>
              <a:t>contaJan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pt-BR" sz="1600" dirty="0" err="1">
                <a:solidFill>
                  <a:srgbClr val="6A3E3E"/>
                </a:solidFill>
                <a:latin typeface="Consolas" panose="020B0609020204030204" pitchFamily="49" charset="0"/>
              </a:rPr>
              <a:t>aguaJan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pt-BR" sz="1600" dirty="0" err="1">
                <a:solidFill>
                  <a:srgbClr val="6A3E3E"/>
                </a:solidFill>
                <a:latin typeface="Consolas" panose="020B0609020204030204" pitchFamily="49" charset="0"/>
              </a:rPr>
              <a:t>alimJan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pt-BR" sz="1600" dirty="0" err="1">
                <a:solidFill>
                  <a:srgbClr val="6A3E3E"/>
                </a:solidFill>
                <a:latin typeface="Consolas" panose="020B0609020204030204" pitchFamily="49" charset="0"/>
              </a:rPr>
              <a:t>energiaJan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spcBef>
                <a:spcPts val="150"/>
              </a:spcBef>
              <a:spcAft>
                <a:spcPts val="150"/>
              </a:spcAft>
            </a:pPr>
            <a:r>
              <a:rPr lang="pt-BR" sz="1600" b="1" dirty="0">
                <a:solidFill>
                  <a:srgbClr val="7F0055"/>
                </a:solidFill>
                <a:latin typeface="Consolas" panose="020B0609020204030204" pitchFamily="49" charset="0"/>
              </a:rPr>
              <a:t>double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pt-BR" sz="1600" dirty="0" err="1">
                <a:solidFill>
                  <a:srgbClr val="6A3E3E"/>
                </a:solidFill>
                <a:latin typeface="Consolas" panose="020B0609020204030204" pitchFamily="49" charset="0"/>
              </a:rPr>
              <a:t>contaFev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pt-BR" sz="1600" dirty="0" err="1">
                <a:solidFill>
                  <a:srgbClr val="6A3E3E"/>
                </a:solidFill>
                <a:latin typeface="Consolas" panose="020B0609020204030204" pitchFamily="49" charset="0"/>
              </a:rPr>
              <a:t>aguaFev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pt-BR" sz="1600" dirty="0" err="1">
                <a:solidFill>
                  <a:srgbClr val="6A3E3E"/>
                </a:solidFill>
                <a:latin typeface="Consolas" panose="020B0609020204030204" pitchFamily="49" charset="0"/>
              </a:rPr>
              <a:t>alimFev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pt-BR" sz="1600" dirty="0" err="1">
                <a:solidFill>
                  <a:srgbClr val="6A3E3E"/>
                </a:solidFill>
                <a:latin typeface="Consolas" panose="020B0609020204030204" pitchFamily="49" charset="0"/>
              </a:rPr>
              <a:t>energiaFev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6F572520-6574-48C4-A192-6EF14F3CE69E}"/>
              </a:ext>
            </a:extLst>
          </p:cNvPr>
          <p:cNvSpPr/>
          <p:nvPr/>
        </p:nvSpPr>
        <p:spPr>
          <a:xfrm>
            <a:off x="1828800" y="3826719"/>
            <a:ext cx="8534400" cy="27186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150"/>
              </a:spcBef>
              <a:spcAft>
                <a:spcPts val="150"/>
              </a:spcAft>
            </a:pPr>
            <a:r>
              <a:rPr lang="pt-BR" sz="1600" b="1" dirty="0">
                <a:solidFill>
                  <a:srgbClr val="7F0055"/>
                </a:solidFill>
                <a:latin typeface="Consolas" panose="020B0609020204030204" pitchFamily="49" charset="0"/>
              </a:rPr>
              <a:t>if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pt-BR" sz="1600" dirty="0" err="1">
                <a:solidFill>
                  <a:srgbClr val="6A3E3E"/>
                </a:solidFill>
                <a:latin typeface="Consolas" panose="020B0609020204030204" pitchFamily="49" charset="0"/>
              </a:rPr>
              <a:t>contaJan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pt-BR" sz="1600" dirty="0" err="1">
                <a:solidFill>
                  <a:srgbClr val="6A3E3E"/>
                </a:solidFill>
                <a:latin typeface="Consolas" panose="020B0609020204030204" pitchFamily="49" charset="0"/>
              </a:rPr>
              <a:t>contaFev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</a:p>
          <a:p>
            <a:pPr indent="457200">
              <a:spcBef>
                <a:spcPts val="150"/>
              </a:spcBef>
              <a:spcAft>
                <a:spcPts val="150"/>
              </a:spcAft>
            </a:pP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System.</a:t>
            </a:r>
            <a:r>
              <a:rPr lang="pt-BR" sz="1600" b="1" i="1" dirty="0">
                <a:solidFill>
                  <a:srgbClr val="0000C0"/>
                </a:solidFill>
                <a:latin typeface="Consolas" panose="020B0609020204030204" pitchFamily="49" charset="0"/>
              </a:rPr>
              <a:t>out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.println(</a:t>
            </a:r>
            <a:r>
              <a:rPr lang="pt-BR" sz="1600" dirty="0">
                <a:solidFill>
                  <a:srgbClr val="2A00FF"/>
                </a:solidFill>
                <a:latin typeface="Consolas" panose="020B0609020204030204" pitchFamily="49" charset="0"/>
              </a:rPr>
              <a:t>"A conta de Janeiro é maior do que a de Fevereiro"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spcBef>
                <a:spcPts val="150"/>
              </a:spcBef>
              <a:spcAft>
                <a:spcPts val="150"/>
              </a:spcAft>
            </a:pP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pPr>
              <a:spcBef>
                <a:spcPts val="150"/>
              </a:spcBef>
              <a:spcAft>
                <a:spcPts val="150"/>
              </a:spcAft>
            </a:pPr>
            <a:r>
              <a:rPr lang="pt-BR" sz="1600" b="1" dirty="0">
                <a:solidFill>
                  <a:srgbClr val="7F0055"/>
                </a:solidFill>
                <a:latin typeface="Consolas" panose="020B0609020204030204" pitchFamily="49" charset="0"/>
              </a:rPr>
              <a:t>else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pt-BR" sz="1600" b="1" dirty="0">
                <a:solidFill>
                  <a:srgbClr val="7F0055"/>
                </a:solidFill>
                <a:latin typeface="Consolas" panose="020B0609020204030204" pitchFamily="49" charset="0"/>
              </a:rPr>
              <a:t>if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pt-BR" sz="1600" dirty="0" err="1">
                <a:solidFill>
                  <a:srgbClr val="6A3E3E"/>
                </a:solidFill>
                <a:latin typeface="Consolas" panose="020B0609020204030204" pitchFamily="49" charset="0"/>
              </a:rPr>
              <a:t>contaFev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pt-BR" sz="1600" dirty="0" err="1">
                <a:solidFill>
                  <a:srgbClr val="6A3E3E"/>
                </a:solidFill>
                <a:latin typeface="Consolas" panose="020B0609020204030204" pitchFamily="49" charset="0"/>
              </a:rPr>
              <a:t>contaJan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</a:p>
          <a:p>
            <a:pPr indent="457200">
              <a:spcBef>
                <a:spcPts val="150"/>
              </a:spcBef>
              <a:spcAft>
                <a:spcPts val="150"/>
              </a:spcAft>
            </a:pP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System.</a:t>
            </a:r>
            <a:r>
              <a:rPr lang="pt-BR" sz="1600" b="1" i="1" dirty="0">
                <a:solidFill>
                  <a:srgbClr val="0000C0"/>
                </a:solidFill>
                <a:latin typeface="Consolas" panose="020B0609020204030204" pitchFamily="49" charset="0"/>
              </a:rPr>
              <a:t>out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.println(</a:t>
            </a:r>
            <a:r>
              <a:rPr lang="pt-BR" sz="1600" dirty="0">
                <a:solidFill>
                  <a:srgbClr val="2A00FF"/>
                </a:solidFill>
                <a:latin typeface="Consolas" panose="020B0609020204030204" pitchFamily="49" charset="0"/>
              </a:rPr>
              <a:t>"A conta de Fevereiro é maior do que a de Janeiro"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spcBef>
                <a:spcPts val="150"/>
              </a:spcBef>
              <a:spcAft>
                <a:spcPts val="150"/>
              </a:spcAft>
            </a:pP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pPr>
              <a:spcBef>
                <a:spcPts val="150"/>
              </a:spcBef>
              <a:spcAft>
                <a:spcPts val="150"/>
              </a:spcAft>
            </a:pPr>
            <a:r>
              <a:rPr lang="pt-BR" sz="1600" b="1" dirty="0">
                <a:solidFill>
                  <a:srgbClr val="7F0055"/>
                </a:solidFill>
                <a:latin typeface="Consolas" panose="020B0609020204030204" pitchFamily="49" charset="0"/>
              </a:rPr>
              <a:t>else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</a:p>
          <a:p>
            <a:pPr indent="457200">
              <a:spcBef>
                <a:spcPts val="150"/>
              </a:spcBef>
              <a:spcAft>
                <a:spcPts val="150"/>
              </a:spcAft>
            </a:pP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System.</a:t>
            </a:r>
            <a:r>
              <a:rPr lang="pt-BR" sz="1600" b="1" i="1" dirty="0">
                <a:solidFill>
                  <a:srgbClr val="0000C0"/>
                </a:solidFill>
                <a:latin typeface="Consolas" panose="020B0609020204030204" pitchFamily="49" charset="0"/>
              </a:rPr>
              <a:t>out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.println(</a:t>
            </a:r>
            <a:r>
              <a:rPr lang="pt-BR" sz="1600" dirty="0">
                <a:solidFill>
                  <a:srgbClr val="2A00FF"/>
                </a:solidFill>
                <a:latin typeface="Consolas" panose="020B0609020204030204" pitchFamily="49" charset="0"/>
              </a:rPr>
              <a:t>"Ambas as contas possuem o mesmo valor"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spcBef>
                <a:spcPts val="150"/>
              </a:spcBef>
              <a:spcAft>
                <a:spcPts val="150"/>
              </a:spcAft>
            </a:pP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481303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B8BB48F-18EA-4DB0-8E9A-B1017EF47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Entendo as Classes na Prática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E705951-202C-47B4-B423-DE67118B23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4"/>
            <a:ext cx="11007306" cy="4657725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pt-BR" b="1" dirty="0"/>
              <a:t>Desafio: Comparando Gastos Mensais – Estruturada </a:t>
            </a:r>
            <a:r>
              <a:rPr lang="pt-BR" b="1" dirty="0" err="1"/>
              <a:t>vs</a:t>
            </a:r>
            <a:r>
              <a:rPr lang="pt-BR" b="1" dirty="0"/>
              <a:t> Orientada a Objetos</a:t>
            </a:r>
          </a:p>
          <a:p>
            <a:pPr lvl="1" indent="0">
              <a:spcBef>
                <a:spcPts val="0"/>
              </a:spcBef>
              <a:buNone/>
            </a:pPr>
            <a:r>
              <a:rPr lang="pt-BR" dirty="0"/>
              <a:t>Você deseja comparar os gastos de dois meses (Janeiro e Fevereiro) com Alimentação, Luz e Água. O objetivo é identificar qual mês teve o maior gasto total.</a:t>
            </a:r>
          </a:p>
          <a:p>
            <a:pPr marL="971550" lvl="1" indent="-285750">
              <a:spcBef>
                <a:spcPts val="0"/>
              </a:spcBef>
            </a:pPr>
            <a:r>
              <a:rPr lang="pt-BR" b="1" dirty="0"/>
              <a:t>Programação Orientada a Objetos</a:t>
            </a:r>
          </a:p>
          <a:p>
            <a:pPr lvl="2" indent="0">
              <a:spcBef>
                <a:spcPts val="0"/>
              </a:spcBef>
              <a:buNone/>
            </a:pPr>
            <a:r>
              <a:rPr lang="pt-BR" dirty="0"/>
              <a:t> Crie um programa onde você implemente uma classe chamada </a:t>
            </a:r>
            <a:r>
              <a:rPr lang="pt-BR" dirty="0" err="1"/>
              <a:t>Mes</a:t>
            </a:r>
            <a:r>
              <a:rPr lang="pt-BR" dirty="0"/>
              <a:t> com atributos para armazenar os gastos de </a:t>
            </a:r>
            <a:r>
              <a:rPr lang="pt-BR" b="1" dirty="0"/>
              <a:t>Alimentação</a:t>
            </a:r>
            <a:r>
              <a:rPr lang="pt-BR" dirty="0"/>
              <a:t>, </a:t>
            </a:r>
            <a:r>
              <a:rPr lang="pt-BR" b="1" dirty="0"/>
              <a:t>Luz</a:t>
            </a:r>
            <a:r>
              <a:rPr lang="pt-BR" dirty="0"/>
              <a:t> e </a:t>
            </a:r>
            <a:r>
              <a:rPr lang="pt-BR" b="1" dirty="0"/>
              <a:t>Água</a:t>
            </a:r>
            <a:r>
              <a:rPr lang="pt-BR" dirty="0"/>
              <a:t>. Adicione um método na classe para calcular a soma total desses gastos. Depois, crie dois objetos da classe </a:t>
            </a:r>
            <a:r>
              <a:rPr lang="pt-BR" b="1" dirty="0" err="1"/>
              <a:t>Mes</a:t>
            </a:r>
            <a:r>
              <a:rPr lang="pt-BR" dirty="0"/>
              <a:t> representando os meses de Janeiro e Fevereiro, utilize o método para calcular os totais de cada mês e compare os resultados para identificar qual deles teve o maior gasto.</a:t>
            </a:r>
          </a:p>
        </p:txBody>
      </p:sp>
    </p:spTree>
    <p:extLst>
      <p:ext uri="{BB962C8B-B14F-4D97-AF65-F5344CB8AC3E}">
        <p14:creationId xmlns:p14="http://schemas.microsoft.com/office/powerpoint/2010/main" val="304572699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B8DE3EC-458E-4DDF-B7B0-707499A498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Resolução utilizando a Programação Orientada a Objetos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B5A3352-9F0F-4A1B-B2F5-BB47907933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639907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pt-BR" dirty="0"/>
              <a:t>Criar uma classe </a:t>
            </a:r>
            <a:r>
              <a:rPr lang="pt-BR" b="1" dirty="0" err="1"/>
              <a:t>ContaMes</a:t>
            </a:r>
            <a:r>
              <a:rPr lang="pt-BR" dirty="0"/>
              <a:t>, dentro de um pacote </a:t>
            </a:r>
            <a:r>
              <a:rPr lang="pt-BR" b="1" dirty="0"/>
              <a:t>Entidades </a:t>
            </a:r>
            <a:r>
              <a:rPr lang="pt-BR" dirty="0"/>
              <a:t>e definir os </a:t>
            </a:r>
            <a:r>
              <a:rPr lang="pt-BR" b="1" dirty="0"/>
              <a:t>atributos</a:t>
            </a:r>
            <a:r>
              <a:rPr lang="pt-BR" dirty="0"/>
              <a:t> dessa classe.</a:t>
            </a:r>
            <a:r>
              <a:rPr lang="pt-BR" b="1" dirty="0"/>
              <a:t> </a:t>
            </a:r>
            <a:endParaRPr lang="pt-BR" dirty="0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EB48FA7B-BADA-4180-ADAF-DC0F92ADC4C8}"/>
              </a:ext>
            </a:extLst>
          </p:cNvPr>
          <p:cNvSpPr/>
          <p:nvPr/>
        </p:nvSpPr>
        <p:spPr>
          <a:xfrm>
            <a:off x="4318000" y="2484582"/>
            <a:ext cx="3556000" cy="215443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150"/>
              </a:spcBef>
              <a:spcAft>
                <a:spcPts val="150"/>
              </a:spcAft>
            </a:pPr>
            <a:r>
              <a:rPr lang="pt-BR" sz="1600" b="1" dirty="0" err="1">
                <a:solidFill>
                  <a:srgbClr val="7F0055"/>
                </a:solidFill>
                <a:latin typeface="Consolas" panose="020B0609020204030204" pitchFamily="49" charset="0"/>
              </a:rPr>
              <a:t>package</a:t>
            </a:r>
            <a:r>
              <a:rPr lang="pt-BR" dirty="0"/>
              <a:t> 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Entidades</a:t>
            </a:r>
            <a:r>
              <a:rPr lang="pt-BR" dirty="0"/>
              <a:t>;</a:t>
            </a:r>
          </a:p>
          <a:p>
            <a:pPr>
              <a:spcBef>
                <a:spcPts val="150"/>
              </a:spcBef>
              <a:spcAft>
                <a:spcPts val="150"/>
              </a:spcAft>
            </a:pPr>
            <a:endParaRPr lang="pt-BR" sz="1600" b="1" dirty="0">
              <a:solidFill>
                <a:srgbClr val="7F0055"/>
              </a:solidFill>
              <a:latin typeface="Consolas" panose="020B0609020204030204" pitchFamily="49" charset="0"/>
            </a:endParaRPr>
          </a:p>
          <a:p>
            <a:pPr>
              <a:spcBef>
                <a:spcPts val="150"/>
              </a:spcBef>
              <a:spcAft>
                <a:spcPts val="150"/>
              </a:spcAft>
            </a:pPr>
            <a:r>
              <a:rPr lang="pt-BR" sz="1600" b="1" dirty="0" err="1">
                <a:solidFill>
                  <a:srgbClr val="7F0055"/>
                </a:solidFill>
                <a:latin typeface="Consolas" panose="020B0609020204030204" pitchFamily="49" charset="0"/>
              </a:rPr>
              <a:t>public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pt-BR" sz="1600" b="1" dirty="0" err="1">
                <a:solidFill>
                  <a:srgbClr val="7F0055"/>
                </a:solidFill>
                <a:latin typeface="Consolas" panose="020B0609020204030204" pitchFamily="49" charset="0"/>
              </a:rPr>
              <a:t>class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pt-B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ContaMes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</a:p>
          <a:p>
            <a:pPr indent="457200">
              <a:spcBef>
                <a:spcPts val="150"/>
              </a:spcBef>
              <a:spcAft>
                <a:spcPts val="150"/>
              </a:spcAft>
            </a:pPr>
            <a:r>
              <a:rPr lang="pt-BR" sz="1600" b="1" dirty="0" err="1">
                <a:solidFill>
                  <a:srgbClr val="7F0055"/>
                </a:solidFill>
                <a:latin typeface="Consolas" panose="020B0609020204030204" pitchFamily="49" charset="0"/>
              </a:rPr>
              <a:t>public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pt-BR" sz="1600" b="1" dirty="0">
                <a:solidFill>
                  <a:srgbClr val="7F0055"/>
                </a:solidFill>
                <a:latin typeface="Consolas" panose="020B0609020204030204" pitchFamily="49" charset="0"/>
              </a:rPr>
              <a:t>double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pt-BR" sz="1600" dirty="0" err="1">
                <a:solidFill>
                  <a:srgbClr val="0000C0"/>
                </a:solidFill>
                <a:latin typeface="Consolas" panose="020B0609020204030204" pitchFamily="49" charset="0"/>
              </a:rPr>
              <a:t>alimentacao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indent="457200">
              <a:spcBef>
                <a:spcPts val="150"/>
              </a:spcBef>
              <a:spcAft>
                <a:spcPts val="150"/>
              </a:spcAft>
            </a:pPr>
            <a:r>
              <a:rPr lang="pt-BR" sz="1600" b="1" dirty="0" err="1">
                <a:solidFill>
                  <a:srgbClr val="7F0055"/>
                </a:solidFill>
                <a:latin typeface="Consolas" panose="020B0609020204030204" pitchFamily="49" charset="0"/>
              </a:rPr>
              <a:t>public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pt-BR" sz="1600" b="1" dirty="0">
                <a:solidFill>
                  <a:srgbClr val="7F0055"/>
                </a:solidFill>
                <a:latin typeface="Consolas" panose="020B0609020204030204" pitchFamily="49" charset="0"/>
              </a:rPr>
              <a:t>double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pt-BR" sz="1600" dirty="0">
                <a:solidFill>
                  <a:srgbClr val="0000C0"/>
                </a:solidFill>
                <a:latin typeface="Consolas" panose="020B0609020204030204" pitchFamily="49" charset="0"/>
              </a:rPr>
              <a:t>agua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indent="457200">
              <a:spcBef>
                <a:spcPts val="150"/>
              </a:spcBef>
              <a:spcAft>
                <a:spcPts val="150"/>
              </a:spcAft>
            </a:pPr>
            <a:r>
              <a:rPr lang="pt-BR" sz="1600" b="1" dirty="0" err="1">
                <a:solidFill>
                  <a:srgbClr val="7F0055"/>
                </a:solidFill>
                <a:latin typeface="Consolas" panose="020B0609020204030204" pitchFamily="49" charset="0"/>
              </a:rPr>
              <a:t>public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pt-BR" sz="1600" b="1" dirty="0">
                <a:solidFill>
                  <a:srgbClr val="7F0055"/>
                </a:solidFill>
                <a:latin typeface="Consolas" panose="020B0609020204030204" pitchFamily="49" charset="0"/>
              </a:rPr>
              <a:t>double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pt-BR" sz="1600" dirty="0">
                <a:solidFill>
                  <a:srgbClr val="0000C0"/>
                </a:solidFill>
                <a:latin typeface="Consolas" panose="020B0609020204030204" pitchFamily="49" charset="0"/>
              </a:rPr>
              <a:t>energia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spcBef>
                <a:spcPts val="150"/>
              </a:spcBef>
              <a:spcAft>
                <a:spcPts val="150"/>
              </a:spcAft>
            </a:pPr>
            <a:r>
              <a:rPr lang="pt-BR" sz="1600" u="sng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pt-BR" sz="16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432133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B8DE3EC-458E-4DDF-B7B0-707499A498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Resolução utilizando a Programação Orientada a Objetos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B5A3352-9F0F-4A1B-B2F5-BB47907933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639907"/>
          </a:xfrm>
        </p:spPr>
        <p:txBody>
          <a:bodyPr/>
          <a:lstStyle/>
          <a:p>
            <a:pPr marL="457200" indent="-457200">
              <a:buFont typeface="+mj-lt"/>
              <a:buAutoNum type="arabicPeriod" startAt="2"/>
            </a:pPr>
            <a:r>
              <a:rPr lang="pt-BR"/>
              <a:t>Crie um programa </a:t>
            </a:r>
            <a:r>
              <a:rPr lang="pt-BR" dirty="0"/>
              <a:t>chamado </a:t>
            </a:r>
            <a:r>
              <a:rPr lang="pt-BR" b="1" dirty="0" err="1"/>
              <a:t>Main</a:t>
            </a:r>
            <a:r>
              <a:rPr lang="pt-BR" dirty="0"/>
              <a:t> e, dentro dela, instancie objetos da classe </a:t>
            </a:r>
            <a:r>
              <a:rPr lang="pt-BR" b="1" dirty="0" err="1"/>
              <a:t>ContaMes</a:t>
            </a:r>
            <a:r>
              <a:rPr lang="pt-BR" dirty="0"/>
              <a:t>.</a:t>
            </a:r>
            <a:endParaRPr lang="pt-BR" b="1" dirty="0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22B8DDD7-F87F-4713-9CE0-DF6F1325CDBE}"/>
              </a:ext>
            </a:extLst>
          </p:cNvPr>
          <p:cNvSpPr/>
          <p:nvPr/>
        </p:nvSpPr>
        <p:spPr>
          <a:xfrm>
            <a:off x="3048000" y="2667245"/>
            <a:ext cx="6096000" cy="1826141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spcBef>
                <a:spcPts val="150"/>
              </a:spcBef>
              <a:spcAft>
                <a:spcPts val="150"/>
              </a:spcAft>
            </a:pPr>
            <a:r>
              <a:rPr lang="pt-BR" sz="1600" b="1" dirty="0" err="1">
                <a:solidFill>
                  <a:srgbClr val="7F0055"/>
                </a:solidFill>
                <a:latin typeface="Consolas" panose="020B0609020204030204" pitchFamily="49" charset="0"/>
              </a:rPr>
              <a:t>public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pt-BR" sz="1600" b="1" dirty="0" err="1">
                <a:solidFill>
                  <a:srgbClr val="7F0055"/>
                </a:solidFill>
                <a:latin typeface="Consolas" panose="020B0609020204030204" pitchFamily="49" charset="0"/>
              </a:rPr>
              <a:t>static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pt-BR" sz="1600" b="1" dirty="0" err="1">
                <a:solidFill>
                  <a:srgbClr val="7F0055"/>
                </a:solidFill>
                <a:latin typeface="Consolas" panose="020B0609020204030204" pitchFamily="49" charset="0"/>
              </a:rPr>
              <a:t>void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pt-B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Main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(String[] </a:t>
            </a:r>
            <a:r>
              <a:rPr lang="pt-BR" sz="1600" dirty="0" err="1">
                <a:solidFill>
                  <a:srgbClr val="6A3E3E"/>
                </a:solidFill>
                <a:latin typeface="Consolas" panose="020B0609020204030204" pitchFamily="49" charset="0"/>
              </a:rPr>
              <a:t>args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</a:p>
          <a:p>
            <a:pPr indent="457200">
              <a:spcBef>
                <a:spcPts val="150"/>
              </a:spcBef>
              <a:spcAft>
                <a:spcPts val="150"/>
              </a:spcAft>
            </a:pP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Scanner </a:t>
            </a:r>
            <a:r>
              <a:rPr lang="pt-BR" sz="1600" dirty="0" err="1">
                <a:solidFill>
                  <a:srgbClr val="6A3E3E"/>
                </a:solidFill>
                <a:latin typeface="Consolas" panose="020B0609020204030204" pitchFamily="49" charset="0"/>
              </a:rPr>
              <a:t>sc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pt-BR" sz="1600" b="1" dirty="0">
                <a:solidFill>
                  <a:srgbClr val="7F0055"/>
                </a:solidFill>
                <a:latin typeface="Consolas" panose="020B0609020204030204" pitchFamily="49" charset="0"/>
              </a:rPr>
              <a:t>new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Scanner(System.</a:t>
            </a:r>
            <a:r>
              <a:rPr lang="pt-BR" sz="1600" b="1" i="1" dirty="0">
                <a:solidFill>
                  <a:srgbClr val="0000C0"/>
                </a:solidFill>
                <a:latin typeface="Consolas" panose="020B0609020204030204" pitchFamily="49" charset="0"/>
              </a:rPr>
              <a:t>in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pPr indent="457200">
              <a:spcBef>
                <a:spcPts val="150"/>
              </a:spcBef>
              <a:spcAft>
                <a:spcPts val="150"/>
              </a:spcAft>
            </a:pPr>
            <a:r>
              <a:rPr lang="pt-B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ContaMes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pt-BR" sz="1600" dirty="0" err="1">
                <a:solidFill>
                  <a:srgbClr val="6A3E3E"/>
                </a:solidFill>
                <a:latin typeface="Consolas" panose="020B0609020204030204" pitchFamily="49" charset="0"/>
              </a:rPr>
              <a:t>jan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pt-BR" sz="1600" dirty="0" err="1">
                <a:solidFill>
                  <a:srgbClr val="6A3E3E"/>
                </a:solidFill>
                <a:latin typeface="Consolas" panose="020B0609020204030204" pitchFamily="49" charset="0"/>
              </a:rPr>
              <a:t>fev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indent="457200">
              <a:spcBef>
                <a:spcPts val="150"/>
              </a:spcBef>
              <a:spcAft>
                <a:spcPts val="150"/>
              </a:spcAft>
            </a:pPr>
            <a:r>
              <a:rPr lang="pt-BR" sz="1600" dirty="0" err="1">
                <a:solidFill>
                  <a:srgbClr val="6A3E3E"/>
                </a:solidFill>
                <a:latin typeface="Consolas" panose="020B0609020204030204" pitchFamily="49" charset="0"/>
              </a:rPr>
              <a:t>jan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pt-BR" sz="1600" b="1" dirty="0">
                <a:solidFill>
                  <a:srgbClr val="7F0055"/>
                </a:solidFill>
                <a:latin typeface="Consolas" panose="020B0609020204030204" pitchFamily="49" charset="0"/>
              </a:rPr>
              <a:t>new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pt-B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ContaMes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</a:p>
          <a:p>
            <a:pPr indent="457200">
              <a:spcBef>
                <a:spcPts val="150"/>
              </a:spcBef>
              <a:spcAft>
                <a:spcPts val="150"/>
              </a:spcAft>
            </a:pPr>
            <a:r>
              <a:rPr lang="pt-BR" sz="1600" dirty="0" err="1">
                <a:solidFill>
                  <a:srgbClr val="6A3E3E"/>
                </a:solidFill>
                <a:latin typeface="Consolas" panose="020B0609020204030204" pitchFamily="49" charset="0"/>
              </a:rPr>
              <a:t>fev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pt-BR" sz="1600" b="1" dirty="0">
                <a:solidFill>
                  <a:srgbClr val="7F0055"/>
                </a:solidFill>
                <a:latin typeface="Consolas" panose="020B0609020204030204" pitchFamily="49" charset="0"/>
              </a:rPr>
              <a:t>new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pt-B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ContaMes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</a:p>
          <a:p>
            <a:pPr>
              <a:spcBef>
                <a:spcPts val="150"/>
              </a:spcBef>
              <a:spcAft>
                <a:spcPts val="150"/>
              </a:spcAft>
            </a:pP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4EF6A3C2-8FD2-46FA-BAAD-35D0E4F21B20}"/>
              </a:ext>
            </a:extLst>
          </p:cNvPr>
          <p:cNvSpPr/>
          <p:nvPr/>
        </p:nvSpPr>
        <p:spPr>
          <a:xfrm>
            <a:off x="592348" y="4860714"/>
            <a:ext cx="11007305" cy="1421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Instanciar objetos de uma classe significa criar instâncias específicas (ou seja, objetos) baseadas no modelo definido pela classe. Em termos simples, é quando você usa a classe como um "molde" para criar objetos concretos com seus próprios valores de atributos.</a:t>
            </a:r>
          </a:p>
        </p:txBody>
      </p:sp>
    </p:spTree>
    <p:extLst>
      <p:ext uri="{BB962C8B-B14F-4D97-AF65-F5344CB8AC3E}">
        <p14:creationId xmlns:p14="http://schemas.microsoft.com/office/powerpoint/2010/main" val="17274057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DA3C62C-F884-4C15-B846-0569680273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Variáveis x Objetos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FA322BD-C242-4113-8378-FC6084A7D9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092489"/>
          </a:xfrm>
        </p:spPr>
        <p:txBody>
          <a:bodyPr/>
          <a:lstStyle/>
          <a:p>
            <a:r>
              <a:rPr lang="pt-BR" dirty="0"/>
              <a:t>Variáveis – São espaços na memória que armazenam valores simples, como números ou texto</a:t>
            </a:r>
          </a:p>
          <a:p>
            <a:pPr indent="457200">
              <a:spcBef>
                <a:spcPts val="0"/>
              </a:spcBef>
            </a:pPr>
            <a:r>
              <a:rPr lang="en-US" sz="1800" b="1" dirty="0">
                <a:solidFill>
                  <a:srgbClr val="7F0055"/>
                </a:solidFill>
                <a:latin typeface="Consolas" panose="020B0609020204030204" pitchFamily="49" charset="0"/>
              </a:rPr>
              <a:t>double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6A3E3E"/>
                </a:solidFill>
                <a:latin typeface="Consolas" panose="020B0609020204030204" pitchFamily="49" charset="0"/>
              </a:rPr>
              <a:t>alimJan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800" dirty="0" err="1">
                <a:solidFill>
                  <a:srgbClr val="6A3E3E"/>
                </a:solidFill>
                <a:latin typeface="Consolas" panose="020B0609020204030204" pitchFamily="49" charset="0"/>
              </a:rPr>
              <a:t>energiaJan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800" dirty="0" err="1">
                <a:solidFill>
                  <a:srgbClr val="6A3E3E"/>
                </a:solidFill>
                <a:latin typeface="Consolas" panose="020B0609020204030204" pitchFamily="49" charset="0"/>
              </a:rPr>
              <a:t>aguaJan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800" dirty="0" err="1">
                <a:solidFill>
                  <a:srgbClr val="6A3E3E"/>
                </a:solidFill>
                <a:latin typeface="Consolas" panose="020B0609020204030204" pitchFamily="49" charset="0"/>
              </a:rPr>
              <a:t>alimFev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800" dirty="0" err="1">
                <a:solidFill>
                  <a:srgbClr val="6A3E3E"/>
                </a:solidFill>
                <a:latin typeface="Consolas" panose="020B0609020204030204" pitchFamily="49" charset="0"/>
              </a:rPr>
              <a:t>energiaFev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800" dirty="0" err="1">
                <a:solidFill>
                  <a:srgbClr val="6A3E3E"/>
                </a:solidFill>
                <a:latin typeface="Consolas" panose="020B0609020204030204" pitchFamily="49" charset="0"/>
              </a:rPr>
              <a:t>aguaFev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5BBDA955-8E5D-4A90-87A3-0C78196A1F20}"/>
              </a:ext>
            </a:extLst>
          </p:cNvPr>
          <p:cNvSpPr/>
          <p:nvPr/>
        </p:nvSpPr>
        <p:spPr>
          <a:xfrm>
            <a:off x="3492296" y="3560837"/>
            <a:ext cx="1440000" cy="720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300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68DDED6D-53E2-4644-AC0A-FE51AA93179C}"/>
              </a:ext>
            </a:extLst>
          </p:cNvPr>
          <p:cNvSpPr/>
          <p:nvPr/>
        </p:nvSpPr>
        <p:spPr>
          <a:xfrm>
            <a:off x="5561900" y="3560837"/>
            <a:ext cx="1440000" cy="720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200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A802F6CF-45AE-4460-842E-B3C47584AB1A}"/>
              </a:ext>
            </a:extLst>
          </p:cNvPr>
          <p:cNvSpPr/>
          <p:nvPr/>
        </p:nvSpPr>
        <p:spPr>
          <a:xfrm>
            <a:off x="7631503" y="3560837"/>
            <a:ext cx="1440000" cy="720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100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1C30A57F-34F6-42ED-855E-A24586509678}"/>
              </a:ext>
            </a:extLst>
          </p:cNvPr>
          <p:cNvSpPr/>
          <p:nvPr/>
        </p:nvSpPr>
        <p:spPr>
          <a:xfrm>
            <a:off x="3492296" y="4818250"/>
            <a:ext cx="1440000" cy="720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400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50EE4E6D-6576-4132-9ED5-B91BED935E3F}"/>
              </a:ext>
            </a:extLst>
          </p:cNvPr>
          <p:cNvSpPr/>
          <p:nvPr/>
        </p:nvSpPr>
        <p:spPr>
          <a:xfrm>
            <a:off x="5561900" y="4818250"/>
            <a:ext cx="1440000" cy="720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500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37CCC4B2-39A0-4EB3-9896-7F31481D2B76}"/>
              </a:ext>
            </a:extLst>
          </p:cNvPr>
          <p:cNvSpPr/>
          <p:nvPr/>
        </p:nvSpPr>
        <p:spPr>
          <a:xfrm>
            <a:off x="7631503" y="4818250"/>
            <a:ext cx="1440000" cy="720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600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D9F1E76E-E16F-45E8-A3C2-B70F66B9A382}"/>
              </a:ext>
            </a:extLst>
          </p:cNvPr>
          <p:cNvSpPr txBox="1"/>
          <p:nvPr/>
        </p:nvSpPr>
        <p:spPr>
          <a:xfrm>
            <a:off x="3492296" y="4402720"/>
            <a:ext cx="144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alimJan</a:t>
            </a:r>
            <a:endParaRPr lang="pt-BR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8CBE1BF2-35C5-48AB-8E95-9ED1BB18D2A5}"/>
              </a:ext>
            </a:extLst>
          </p:cNvPr>
          <p:cNvSpPr txBox="1"/>
          <p:nvPr/>
        </p:nvSpPr>
        <p:spPr>
          <a:xfrm>
            <a:off x="5561900" y="4402719"/>
            <a:ext cx="144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energiaJan</a:t>
            </a:r>
            <a:endParaRPr lang="pt-BR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AE6B6154-2288-495A-B637-49FB9E09F169}"/>
              </a:ext>
            </a:extLst>
          </p:cNvPr>
          <p:cNvSpPr txBox="1"/>
          <p:nvPr/>
        </p:nvSpPr>
        <p:spPr>
          <a:xfrm>
            <a:off x="7631503" y="4411600"/>
            <a:ext cx="144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aguaJan</a:t>
            </a:r>
            <a:endParaRPr lang="pt-BR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B5C43E9F-E189-4313-93BA-A342A8CD2133}"/>
              </a:ext>
            </a:extLst>
          </p:cNvPr>
          <p:cNvSpPr txBox="1"/>
          <p:nvPr/>
        </p:nvSpPr>
        <p:spPr>
          <a:xfrm>
            <a:off x="3492296" y="5628848"/>
            <a:ext cx="144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alimJan</a:t>
            </a:r>
            <a:endParaRPr lang="pt-BR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B305111C-C3E7-4113-AC6E-6E0CBA42D983}"/>
              </a:ext>
            </a:extLst>
          </p:cNvPr>
          <p:cNvSpPr txBox="1"/>
          <p:nvPr/>
        </p:nvSpPr>
        <p:spPr>
          <a:xfrm>
            <a:off x="5561900" y="5628847"/>
            <a:ext cx="144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energiaFev</a:t>
            </a:r>
            <a:endParaRPr lang="pt-BR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E5C19901-93C9-437A-8C61-92DBF9CB1DB7}"/>
              </a:ext>
            </a:extLst>
          </p:cNvPr>
          <p:cNvSpPr txBox="1"/>
          <p:nvPr/>
        </p:nvSpPr>
        <p:spPr>
          <a:xfrm>
            <a:off x="7631503" y="5637728"/>
            <a:ext cx="144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aguaFev</a:t>
            </a:r>
            <a:endParaRPr lang="pt-BR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76979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DA3C62C-F884-4C15-B846-0569680273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Variáveis x Objetos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FA322BD-C242-4113-8378-FC6084A7D9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584325"/>
          </a:xfrm>
        </p:spPr>
        <p:txBody>
          <a:bodyPr/>
          <a:lstStyle/>
          <a:p>
            <a:r>
              <a:rPr lang="pt-BR" dirty="0"/>
              <a:t>Objetos – São instâncias de uma classe que armazenam valores dos atributos, mantendo um estado único para cada instância.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3FBB8DC7-C4DA-4F1A-B14B-D8C631942882}"/>
              </a:ext>
            </a:extLst>
          </p:cNvPr>
          <p:cNvSpPr/>
          <p:nvPr/>
        </p:nvSpPr>
        <p:spPr>
          <a:xfrm>
            <a:off x="560096" y="2820199"/>
            <a:ext cx="6096000" cy="923330"/>
          </a:xfrm>
          <a:prstGeom prst="rect">
            <a:avLst/>
          </a:prstGeom>
        </p:spPr>
        <p:txBody>
          <a:bodyPr>
            <a:spAutoFit/>
          </a:bodyPr>
          <a:lstStyle/>
          <a:p>
            <a:pPr indent="457200"/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ContaMes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6A3E3E"/>
                </a:solidFill>
                <a:latin typeface="Consolas" panose="020B0609020204030204" pitchFamily="49" charset="0"/>
              </a:rPr>
              <a:t>jan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dirty="0" err="1">
                <a:solidFill>
                  <a:srgbClr val="6A3E3E"/>
                </a:solidFill>
                <a:latin typeface="Consolas" panose="020B0609020204030204" pitchFamily="49" charset="0"/>
              </a:rPr>
              <a:t>fev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indent="457200"/>
            <a:r>
              <a:rPr lang="en-US" dirty="0" err="1">
                <a:solidFill>
                  <a:srgbClr val="6A3E3E"/>
                </a:solidFill>
                <a:latin typeface="Consolas" panose="020B0609020204030204" pitchFamily="49" charset="0"/>
              </a:rPr>
              <a:t>jan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b="1" dirty="0">
                <a:solidFill>
                  <a:srgbClr val="7F0055"/>
                </a:solidFill>
                <a:latin typeface="Consolas" panose="020B0609020204030204" pitchFamily="49" charset="0"/>
              </a:rPr>
              <a:t>new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ContaMes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</a:p>
          <a:p>
            <a:pPr indent="457200"/>
            <a:r>
              <a:rPr lang="en-US" dirty="0" err="1">
                <a:solidFill>
                  <a:srgbClr val="6A3E3E"/>
                </a:solidFill>
                <a:latin typeface="Consolas" panose="020B0609020204030204" pitchFamily="49" charset="0"/>
              </a:rPr>
              <a:t>fev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b="1" dirty="0">
                <a:solidFill>
                  <a:srgbClr val="7F0055"/>
                </a:solidFill>
                <a:latin typeface="Consolas" panose="020B0609020204030204" pitchFamily="49" charset="0"/>
              </a:rPr>
              <a:t>new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ContaMes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</a:p>
        </p:txBody>
      </p:sp>
      <p:grpSp>
        <p:nvGrpSpPr>
          <p:cNvPr id="43" name="Agrupar 42">
            <a:extLst>
              <a:ext uri="{FF2B5EF4-FFF2-40B4-BE49-F238E27FC236}">
                <a16:creationId xmlns:a16="http://schemas.microsoft.com/office/drawing/2014/main" id="{2947BDE9-800E-4A1E-BA5E-BD5872590B7D}"/>
              </a:ext>
            </a:extLst>
          </p:cNvPr>
          <p:cNvGrpSpPr/>
          <p:nvPr/>
        </p:nvGrpSpPr>
        <p:grpSpPr>
          <a:xfrm>
            <a:off x="3507647" y="3970682"/>
            <a:ext cx="5183919" cy="720000"/>
            <a:chOff x="3500434" y="3970682"/>
            <a:chExt cx="5183919" cy="720000"/>
          </a:xfrm>
        </p:grpSpPr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5BBDA955-8E5D-4A90-87A3-0C78196A1F20}"/>
                </a:ext>
              </a:extLst>
            </p:cNvPr>
            <p:cNvSpPr/>
            <p:nvPr/>
          </p:nvSpPr>
          <p:spPr>
            <a:xfrm>
              <a:off x="4364353" y="3970682"/>
              <a:ext cx="1440000" cy="720000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300</a:t>
              </a:r>
            </a:p>
          </p:txBody>
        </p:sp>
        <p:sp>
          <p:nvSpPr>
            <p:cNvPr id="5" name="Retângulo 4">
              <a:extLst>
                <a:ext uri="{FF2B5EF4-FFF2-40B4-BE49-F238E27FC236}">
                  <a16:creationId xmlns:a16="http://schemas.microsoft.com/office/drawing/2014/main" id="{68DDED6D-53E2-4644-AC0A-FE51AA93179C}"/>
                </a:ext>
              </a:extLst>
            </p:cNvPr>
            <p:cNvSpPr/>
            <p:nvPr/>
          </p:nvSpPr>
          <p:spPr>
            <a:xfrm>
              <a:off x="5804353" y="3970682"/>
              <a:ext cx="1440000" cy="720000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200</a:t>
              </a:r>
            </a:p>
          </p:txBody>
        </p:sp>
        <p:sp>
          <p:nvSpPr>
            <p:cNvPr id="6" name="Retângulo 5">
              <a:extLst>
                <a:ext uri="{FF2B5EF4-FFF2-40B4-BE49-F238E27FC236}">
                  <a16:creationId xmlns:a16="http://schemas.microsoft.com/office/drawing/2014/main" id="{A802F6CF-45AE-4460-842E-B3C47584AB1A}"/>
                </a:ext>
              </a:extLst>
            </p:cNvPr>
            <p:cNvSpPr/>
            <p:nvPr/>
          </p:nvSpPr>
          <p:spPr>
            <a:xfrm>
              <a:off x="7244353" y="3970682"/>
              <a:ext cx="1440000" cy="720000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pt-BR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100</a:t>
              </a:r>
            </a:p>
          </p:txBody>
        </p:sp>
        <p:sp>
          <p:nvSpPr>
            <p:cNvPr id="13" name="CaixaDeTexto 12">
              <a:extLst>
                <a:ext uri="{FF2B5EF4-FFF2-40B4-BE49-F238E27FC236}">
                  <a16:creationId xmlns:a16="http://schemas.microsoft.com/office/drawing/2014/main" id="{4F29C462-48D5-42AA-8F80-FE4D5CE3FC64}"/>
                </a:ext>
              </a:extLst>
            </p:cNvPr>
            <p:cNvSpPr txBox="1"/>
            <p:nvPr/>
          </p:nvSpPr>
          <p:spPr>
            <a:xfrm>
              <a:off x="3500434" y="4130627"/>
              <a:ext cx="49725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jan</a:t>
              </a:r>
              <a:endParaRPr lang="pt-BR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4" name="Agrupar 13">
            <a:extLst>
              <a:ext uri="{FF2B5EF4-FFF2-40B4-BE49-F238E27FC236}">
                <a16:creationId xmlns:a16="http://schemas.microsoft.com/office/drawing/2014/main" id="{1033130A-57BD-4783-B9F3-9F46CB55B2EC}"/>
              </a:ext>
            </a:extLst>
          </p:cNvPr>
          <p:cNvGrpSpPr/>
          <p:nvPr/>
        </p:nvGrpSpPr>
        <p:grpSpPr>
          <a:xfrm>
            <a:off x="3500434" y="5323555"/>
            <a:ext cx="5191132" cy="720000"/>
            <a:chOff x="3238500" y="5423677"/>
            <a:chExt cx="5191132" cy="720000"/>
          </a:xfrm>
        </p:grpSpPr>
        <p:grpSp>
          <p:nvGrpSpPr>
            <p:cNvPr id="11" name="Agrupar 10">
              <a:extLst>
                <a:ext uri="{FF2B5EF4-FFF2-40B4-BE49-F238E27FC236}">
                  <a16:creationId xmlns:a16="http://schemas.microsoft.com/office/drawing/2014/main" id="{69C54E0C-61E6-4217-B762-C0314D48A544}"/>
                </a:ext>
              </a:extLst>
            </p:cNvPr>
            <p:cNvGrpSpPr/>
            <p:nvPr/>
          </p:nvGrpSpPr>
          <p:grpSpPr>
            <a:xfrm>
              <a:off x="4109632" y="5423677"/>
              <a:ext cx="4320000" cy="720000"/>
              <a:chOff x="4262032" y="4210457"/>
              <a:chExt cx="4320000" cy="720000"/>
            </a:xfrm>
          </p:grpSpPr>
          <p:sp>
            <p:nvSpPr>
              <p:cNvPr id="31" name="Retângulo 30">
                <a:extLst>
                  <a:ext uri="{FF2B5EF4-FFF2-40B4-BE49-F238E27FC236}">
                    <a16:creationId xmlns:a16="http://schemas.microsoft.com/office/drawing/2014/main" id="{6EBCE5F1-301C-4EF3-A4A0-EFADFF5114CE}"/>
                  </a:ext>
                </a:extLst>
              </p:cNvPr>
              <p:cNvSpPr/>
              <p:nvPr/>
            </p:nvSpPr>
            <p:spPr>
              <a:xfrm>
                <a:off x="4262032" y="4210457"/>
                <a:ext cx="1440000" cy="720000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300</a:t>
                </a:r>
              </a:p>
            </p:txBody>
          </p:sp>
          <p:sp>
            <p:nvSpPr>
              <p:cNvPr id="32" name="Retângulo 31">
                <a:extLst>
                  <a:ext uri="{FF2B5EF4-FFF2-40B4-BE49-F238E27FC236}">
                    <a16:creationId xmlns:a16="http://schemas.microsoft.com/office/drawing/2014/main" id="{0356BD65-30EF-4287-BEFD-B83510B332E0}"/>
                  </a:ext>
                </a:extLst>
              </p:cNvPr>
              <p:cNvSpPr/>
              <p:nvPr/>
            </p:nvSpPr>
            <p:spPr>
              <a:xfrm>
                <a:off x="5702032" y="4210457"/>
                <a:ext cx="1440000" cy="720000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200</a:t>
                </a:r>
              </a:p>
            </p:txBody>
          </p:sp>
          <p:sp>
            <p:nvSpPr>
              <p:cNvPr id="33" name="Retângulo 32">
                <a:extLst>
                  <a:ext uri="{FF2B5EF4-FFF2-40B4-BE49-F238E27FC236}">
                    <a16:creationId xmlns:a16="http://schemas.microsoft.com/office/drawing/2014/main" id="{8E1E1E8E-D73E-4780-9B02-CB1634611C3E}"/>
                  </a:ext>
                </a:extLst>
              </p:cNvPr>
              <p:cNvSpPr/>
              <p:nvPr/>
            </p:nvSpPr>
            <p:spPr>
              <a:xfrm>
                <a:off x="7142032" y="4210457"/>
                <a:ext cx="1440000" cy="720000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pt-BR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100</a:t>
                </a:r>
              </a:p>
            </p:txBody>
          </p:sp>
        </p:grpSp>
        <p:sp>
          <p:nvSpPr>
            <p:cNvPr id="34" name="CaixaDeTexto 33">
              <a:extLst>
                <a:ext uri="{FF2B5EF4-FFF2-40B4-BE49-F238E27FC236}">
                  <a16:creationId xmlns:a16="http://schemas.microsoft.com/office/drawing/2014/main" id="{BEA98F6C-F0CD-42BC-9127-397E17AFC215}"/>
                </a:ext>
              </a:extLst>
            </p:cNvPr>
            <p:cNvSpPr txBox="1"/>
            <p:nvPr/>
          </p:nvSpPr>
          <p:spPr>
            <a:xfrm>
              <a:off x="3238500" y="5583622"/>
              <a:ext cx="51167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fev</a:t>
              </a:r>
              <a:endParaRPr lang="pt-BR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7" name="Agrupar 16">
            <a:extLst>
              <a:ext uri="{FF2B5EF4-FFF2-40B4-BE49-F238E27FC236}">
                <a16:creationId xmlns:a16="http://schemas.microsoft.com/office/drawing/2014/main" id="{A7F22129-89F9-4279-B239-C0AE39FCA609}"/>
              </a:ext>
            </a:extLst>
          </p:cNvPr>
          <p:cNvGrpSpPr/>
          <p:nvPr/>
        </p:nvGrpSpPr>
        <p:grpSpPr>
          <a:xfrm>
            <a:off x="4371566" y="4853230"/>
            <a:ext cx="4320000" cy="307777"/>
            <a:chOff x="4102419" y="4911630"/>
            <a:chExt cx="4320000" cy="307777"/>
          </a:xfrm>
        </p:grpSpPr>
        <p:sp>
          <p:nvSpPr>
            <p:cNvPr id="36" name="CaixaDeTexto 35">
              <a:extLst>
                <a:ext uri="{FF2B5EF4-FFF2-40B4-BE49-F238E27FC236}">
                  <a16:creationId xmlns:a16="http://schemas.microsoft.com/office/drawing/2014/main" id="{42F16D65-4246-4984-8511-545FE59910B3}"/>
                </a:ext>
              </a:extLst>
            </p:cNvPr>
            <p:cNvSpPr txBox="1"/>
            <p:nvPr/>
          </p:nvSpPr>
          <p:spPr>
            <a:xfrm>
              <a:off x="4102419" y="4911630"/>
              <a:ext cx="14400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alimentação</a:t>
              </a:r>
            </a:p>
          </p:txBody>
        </p:sp>
        <p:sp>
          <p:nvSpPr>
            <p:cNvPr id="37" name="CaixaDeTexto 36">
              <a:extLst>
                <a:ext uri="{FF2B5EF4-FFF2-40B4-BE49-F238E27FC236}">
                  <a16:creationId xmlns:a16="http://schemas.microsoft.com/office/drawing/2014/main" id="{05B81601-DF76-4F68-8D1F-C63903B0EF1A}"/>
                </a:ext>
              </a:extLst>
            </p:cNvPr>
            <p:cNvSpPr txBox="1"/>
            <p:nvPr/>
          </p:nvSpPr>
          <p:spPr>
            <a:xfrm>
              <a:off x="5542419" y="4911630"/>
              <a:ext cx="14400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energia</a:t>
              </a:r>
            </a:p>
          </p:txBody>
        </p:sp>
        <p:sp>
          <p:nvSpPr>
            <p:cNvPr id="38" name="CaixaDeTexto 37">
              <a:extLst>
                <a:ext uri="{FF2B5EF4-FFF2-40B4-BE49-F238E27FC236}">
                  <a16:creationId xmlns:a16="http://schemas.microsoft.com/office/drawing/2014/main" id="{E40F735F-829F-402D-8C2F-E1123C85EB32}"/>
                </a:ext>
              </a:extLst>
            </p:cNvPr>
            <p:cNvSpPr txBox="1"/>
            <p:nvPr/>
          </p:nvSpPr>
          <p:spPr>
            <a:xfrm>
              <a:off x="6982419" y="4911630"/>
              <a:ext cx="14400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agua</a:t>
              </a:r>
            </a:p>
          </p:txBody>
        </p:sp>
      </p:grpSp>
      <p:grpSp>
        <p:nvGrpSpPr>
          <p:cNvPr id="39" name="Agrupar 38">
            <a:extLst>
              <a:ext uri="{FF2B5EF4-FFF2-40B4-BE49-F238E27FC236}">
                <a16:creationId xmlns:a16="http://schemas.microsoft.com/office/drawing/2014/main" id="{A1AB57F6-EDE2-49A6-84BD-0F7C7E16D8FD}"/>
              </a:ext>
            </a:extLst>
          </p:cNvPr>
          <p:cNvGrpSpPr/>
          <p:nvPr/>
        </p:nvGrpSpPr>
        <p:grpSpPr>
          <a:xfrm>
            <a:off x="4371566" y="6206103"/>
            <a:ext cx="4320000" cy="307777"/>
            <a:chOff x="4102419" y="4911630"/>
            <a:chExt cx="4320000" cy="307777"/>
          </a:xfrm>
        </p:grpSpPr>
        <p:sp>
          <p:nvSpPr>
            <p:cNvPr id="40" name="CaixaDeTexto 39">
              <a:extLst>
                <a:ext uri="{FF2B5EF4-FFF2-40B4-BE49-F238E27FC236}">
                  <a16:creationId xmlns:a16="http://schemas.microsoft.com/office/drawing/2014/main" id="{46FADC90-D64B-4C08-8394-0521FA14D24A}"/>
                </a:ext>
              </a:extLst>
            </p:cNvPr>
            <p:cNvSpPr txBox="1"/>
            <p:nvPr/>
          </p:nvSpPr>
          <p:spPr>
            <a:xfrm>
              <a:off x="4102419" y="4911630"/>
              <a:ext cx="14400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alimentação</a:t>
              </a:r>
            </a:p>
          </p:txBody>
        </p:sp>
        <p:sp>
          <p:nvSpPr>
            <p:cNvPr id="41" name="CaixaDeTexto 40">
              <a:extLst>
                <a:ext uri="{FF2B5EF4-FFF2-40B4-BE49-F238E27FC236}">
                  <a16:creationId xmlns:a16="http://schemas.microsoft.com/office/drawing/2014/main" id="{604558D8-6FC1-4E4B-B8CE-57E757AEA59C}"/>
                </a:ext>
              </a:extLst>
            </p:cNvPr>
            <p:cNvSpPr txBox="1"/>
            <p:nvPr/>
          </p:nvSpPr>
          <p:spPr>
            <a:xfrm>
              <a:off x="5542419" y="4911630"/>
              <a:ext cx="14400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energia</a:t>
              </a:r>
            </a:p>
          </p:txBody>
        </p:sp>
        <p:sp>
          <p:nvSpPr>
            <p:cNvPr id="42" name="CaixaDeTexto 41">
              <a:extLst>
                <a:ext uri="{FF2B5EF4-FFF2-40B4-BE49-F238E27FC236}">
                  <a16:creationId xmlns:a16="http://schemas.microsoft.com/office/drawing/2014/main" id="{EFAF1304-7A3A-4AE0-BD05-5CB4D47D3F34}"/>
                </a:ext>
              </a:extLst>
            </p:cNvPr>
            <p:cNvSpPr txBox="1"/>
            <p:nvPr/>
          </p:nvSpPr>
          <p:spPr>
            <a:xfrm>
              <a:off x="6982419" y="4911630"/>
              <a:ext cx="14400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agua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1464953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B8DE3EC-458E-4DDF-B7B0-707499A498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Resolução utilizando a Programação Orientada a Objetos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B5A3352-9F0F-4A1B-B2F5-BB47907933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639907"/>
          </a:xfrm>
        </p:spPr>
        <p:txBody>
          <a:bodyPr/>
          <a:lstStyle/>
          <a:p>
            <a:pPr marL="457200" indent="-457200">
              <a:buFont typeface="+mj-lt"/>
              <a:buAutoNum type="arabicPeriod" startAt="3"/>
            </a:pPr>
            <a:r>
              <a:rPr lang="pt-BR" dirty="0"/>
              <a:t>Atribuir valores para cada atributo dentro do objeto</a:t>
            </a:r>
            <a:endParaRPr lang="pt-BR" b="1" dirty="0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5177909A-ABB4-49A1-A03D-D47D451DCF47}"/>
              </a:ext>
            </a:extLst>
          </p:cNvPr>
          <p:cNvSpPr/>
          <p:nvPr/>
        </p:nvSpPr>
        <p:spPr>
          <a:xfrm>
            <a:off x="2728912" y="2589833"/>
            <a:ext cx="6734175" cy="24211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150"/>
              </a:spcBef>
              <a:spcAft>
                <a:spcPts val="150"/>
              </a:spcAft>
            </a:pP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System.</a:t>
            </a:r>
            <a:r>
              <a:rPr lang="pt-BR" sz="1600" b="1" i="1" dirty="0">
                <a:solidFill>
                  <a:srgbClr val="0000C0"/>
                </a:solidFill>
                <a:latin typeface="Consolas" panose="020B0609020204030204" pitchFamily="49" charset="0"/>
              </a:rPr>
              <a:t>out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.println(</a:t>
            </a:r>
            <a:r>
              <a:rPr lang="pt-BR" sz="1600" dirty="0">
                <a:solidFill>
                  <a:srgbClr val="2A00FF"/>
                </a:solidFill>
                <a:latin typeface="Consolas" panose="020B0609020204030204" pitchFamily="49" charset="0"/>
              </a:rPr>
              <a:t>"Digite as contas de Janeiro"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spcBef>
                <a:spcPts val="150"/>
              </a:spcBef>
              <a:spcAft>
                <a:spcPts val="150"/>
              </a:spcAft>
            </a:pPr>
            <a:r>
              <a:rPr lang="pt-BR" sz="1600" dirty="0" err="1">
                <a:solidFill>
                  <a:srgbClr val="6A3E3E"/>
                </a:solidFill>
                <a:latin typeface="Consolas" panose="020B0609020204030204" pitchFamily="49" charset="0"/>
              </a:rPr>
              <a:t>jan</a:t>
            </a:r>
            <a:r>
              <a:rPr lang="pt-B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pt-BR" sz="1600" dirty="0" err="1">
                <a:solidFill>
                  <a:srgbClr val="0000C0"/>
                </a:solidFill>
                <a:latin typeface="Consolas" panose="020B0609020204030204" pitchFamily="49" charset="0"/>
              </a:rPr>
              <a:t>agua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pt-BR" sz="1600" dirty="0" err="1">
                <a:solidFill>
                  <a:srgbClr val="6A3E3E"/>
                </a:solidFill>
                <a:latin typeface="Consolas" panose="020B0609020204030204" pitchFamily="49" charset="0"/>
              </a:rPr>
              <a:t>sc</a:t>
            </a:r>
            <a:r>
              <a:rPr lang="pt-B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.nextDouble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</a:p>
          <a:p>
            <a:pPr>
              <a:spcBef>
                <a:spcPts val="150"/>
              </a:spcBef>
              <a:spcAft>
                <a:spcPts val="150"/>
              </a:spcAft>
            </a:pPr>
            <a:r>
              <a:rPr lang="pt-BR" sz="1600" dirty="0" err="1">
                <a:solidFill>
                  <a:srgbClr val="6A3E3E"/>
                </a:solidFill>
                <a:latin typeface="Consolas" panose="020B0609020204030204" pitchFamily="49" charset="0"/>
              </a:rPr>
              <a:t>jan</a:t>
            </a:r>
            <a:r>
              <a:rPr lang="pt-B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pt-BR" sz="1600" dirty="0" err="1">
                <a:solidFill>
                  <a:srgbClr val="0000C0"/>
                </a:solidFill>
                <a:latin typeface="Consolas" panose="020B0609020204030204" pitchFamily="49" charset="0"/>
              </a:rPr>
              <a:t>alimentacao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pt-BR" sz="1600" dirty="0" err="1">
                <a:solidFill>
                  <a:srgbClr val="6A3E3E"/>
                </a:solidFill>
                <a:latin typeface="Consolas" panose="020B0609020204030204" pitchFamily="49" charset="0"/>
              </a:rPr>
              <a:t>sc</a:t>
            </a:r>
            <a:r>
              <a:rPr lang="pt-B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.nextDouble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</a:p>
          <a:p>
            <a:pPr>
              <a:spcBef>
                <a:spcPts val="150"/>
              </a:spcBef>
              <a:spcAft>
                <a:spcPts val="150"/>
              </a:spcAft>
            </a:pPr>
            <a:r>
              <a:rPr lang="pt-BR" sz="1600" dirty="0" err="1">
                <a:solidFill>
                  <a:srgbClr val="6A3E3E"/>
                </a:solidFill>
                <a:latin typeface="Consolas" panose="020B0609020204030204" pitchFamily="49" charset="0"/>
              </a:rPr>
              <a:t>jan</a:t>
            </a:r>
            <a:r>
              <a:rPr lang="pt-B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pt-BR" sz="1600" dirty="0" err="1">
                <a:solidFill>
                  <a:srgbClr val="0000C0"/>
                </a:solidFill>
                <a:latin typeface="Consolas" panose="020B0609020204030204" pitchFamily="49" charset="0"/>
              </a:rPr>
              <a:t>energia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pt-BR" sz="1600" dirty="0" err="1">
                <a:solidFill>
                  <a:srgbClr val="6A3E3E"/>
                </a:solidFill>
                <a:latin typeface="Consolas" panose="020B0609020204030204" pitchFamily="49" charset="0"/>
              </a:rPr>
              <a:t>sc</a:t>
            </a:r>
            <a:r>
              <a:rPr lang="pt-B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.nextDouble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</a:p>
          <a:p>
            <a:pPr>
              <a:spcBef>
                <a:spcPts val="150"/>
              </a:spcBef>
              <a:spcAft>
                <a:spcPts val="150"/>
              </a:spcAft>
            </a:pP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System.</a:t>
            </a:r>
            <a:r>
              <a:rPr lang="pt-BR" sz="1600" b="1" i="1" dirty="0">
                <a:solidFill>
                  <a:srgbClr val="0000C0"/>
                </a:solidFill>
                <a:latin typeface="Consolas" panose="020B0609020204030204" pitchFamily="49" charset="0"/>
              </a:rPr>
              <a:t>out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.println(</a:t>
            </a:r>
            <a:r>
              <a:rPr lang="pt-BR" sz="1600" dirty="0">
                <a:solidFill>
                  <a:srgbClr val="2A00FF"/>
                </a:solidFill>
                <a:latin typeface="Consolas" panose="020B0609020204030204" pitchFamily="49" charset="0"/>
              </a:rPr>
              <a:t>"Digite as contas de Fevereiro"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spcBef>
                <a:spcPts val="150"/>
              </a:spcBef>
              <a:spcAft>
                <a:spcPts val="150"/>
              </a:spcAft>
            </a:pPr>
            <a:r>
              <a:rPr lang="pt-BR" sz="1600" dirty="0" err="1">
                <a:solidFill>
                  <a:srgbClr val="6A3E3E"/>
                </a:solidFill>
                <a:latin typeface="Consolas" panose="020B0609020204030204" pitchFamily="49" charset="0"/>
              </a:rPr>
              <a:t>fev</a:t>
            </a:r>
            <a:r>
              <a:rPr lang="pt-B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pt-BR" sz="1600" dirty="0" err="1">
                <a:solidFill>
                  <a:srgbClr val="0000C0"/>
                </a:solidFill>
                <a:latin typeface="Consolas" panose="020B0609020204030204" pitchFamily="49" charset="0"/>
              </a:rPr>
              <a:t>agua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pt-BR" sz="1600" dirty="0" err="1">
                <a:solidFill>
                  <a:srgbClr val="6A3E3E"/>
                </a:solidFill>
                <a:latin typeface="Consolas" panose="020B0609020204030204" pitchFamily="49" charset="0"/>
              </a:rPr>
              <a:t>sc</a:t>
            </a:r>
            <a:r>
              <a:rPr lang="pt-B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.nextDouble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</a:p>
          <a:p>
            <a:pPr>
              <a:spcBef>
                <a:spcPts val="150"/>
              </a:spcBef>
              <a:spcAft>
                <a:spcPts val="150"/>
              </a:spcAft>
            </a:pPr>
            <a:r>
              <a:rPr lang="pt-BR" sz="1600" dirty="0" err="1">
                <a:solidFill>
                  <a:srgbClr val="6A3E3E"/>
                </a:solidFill>
                <a:latin typeface="Consolas" panose="020B0609020204030204" pitchFamily="49" charset="0"/>
              </a:rPr>
              <a:t>fev</a:t>
            </a:r>
            <a:r>
              <a:rPr lang="pt-B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pt-BR" sz="1600" dirty="0" err="1">
                <a:solidFill>
                  <a:srgbClr val="0000C0"/>
                </a:solidFill>
                <a:latin typeface="Consolas" panose="020B0609020204030204" pitchFamily="49" charset="0"/>
              </a:rPr>
              <a:t>alimentacao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pt-BR" sz="1600" dirty="0" err="1">
                <a:solidFill>
                  <a:srgbClr val="6A3E3E"/>
                </a:solidFill>
                <a:latin typeface="Consolas" panose="020B0609020204030204" pitchFamily="49" charset="0"/>
              </a:rPr>
              <a:t>sc</a:t>
            </a:r>
            <a:r>
              <a:rPr lang="pt-B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.nextDouble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</a:p>
          <a:p>
            <a:pPr>
              <a:spcBef>
                <a:spcPts val="150"/>
              </a:spcBef>
              <a:spcAft>
                <a:spcPts val="150"/>
              </a:spcAft>
            </a:pPr>
            <a:r>
              <a:rPr lang="pt-BR" sz="1600" dirty="0" err="1">
                <a:solidFill>
                  <a:srgbClr val="6A3E3E"/>
                </a:solidFill>
                <a:latin typeface="Consolas" panose="020B0609020204030204" pitchFamily="49" charset="0"/>
              </a:rPr>
              <a:t>fev</a:t>
            </a:r>
            <a:r>
              <a:rPr lang="pt-B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pt-BR" sz="1600" dirty="0" err="1">
                <a:solidFill>
                  <a:srgbClr val="0000C0"/>
                </a:solidFill>
                <a:latin typeface="Consolas" panose="020B0609020204030204" pitchFamily="49" charset="0"/>
              </a:rPr>
              <a:t>energia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pt-BR" sz="1600" dirty="0" err="1">
                <a:solidFill>
                  <a:srgbClr val="6A3E3E"/>
                </a:solidFill>
                <a:latin typeface="Consolas" panose="020B0609020204030204" pitchFamily="49" charset="0"/>
              </a:rPr>
              <a:t>sc</a:t>
            </a:r>
            <a:r>
              <a:rPr lang="pt-B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.nextDouble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</a:p>
        </p:txBody>
      </p:sp>
    </p:spTree>
    <p:extLst>
      <p:ext uri="{BB962C8B-B14F-4D97-AF65-F5344CB8AC3E}">
        <p14:creationId xmlns:p14="http://schemas.microsoft.com/office/powerpoint/2010/main" val="217211166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B8DE3EC-458E-4DDF-B7B0-707499A498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Resolução utilizando a Programação Orientada a Objetos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B5A3352-9F0F-4A1B-B2F5-BB47907933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639907"/>
          </a:xfrm>
        </p:spPr>
        <p:txBody>
          <a:bodyPr/>
          <a:lstStyle/>
          <a:p>
            <a:pPr marL="457200" indent="-457200">
              <a:buFont typeface="+mj-lt"/>
              <a:buAutoNum type="arabicPeriod" startAt="4"/>
            </a:pPr>
            <a:r>
              <a:rPr lang="pt-BR" dirty="0"/>
              <a:t>Para somar os valores dos atributos, primeiro devemos criar um </a:t>
            </a:r>
            <a:r>
              <a:rPr lang="pt-BR" b="1" dirty="0"/>
              <a:t>método</a:t>
            </a:r>
            <a:r>
              <a:rPr lang="pt-BR" dirty="0"/>
              <a:t>, dentro da classe </a:t>
            </a:r>
            <a:r>
              <a:rPr lang="pt-BR" b="1" dirty="0" err="1"/>
              <a:t>ContaMes</a:t>
            </a:r>
            <a:r>
              <a:rPr lang="pt-BR" dirty="0"/>
              <a:t>. </a:t>
            </a:r>
            <a:endParaRPr lang="pt-BR" b="1" dirty="0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3BDF04D2-7D9A-493B-8E30-CD5E63D676B0}"/>
              </a:ext>
            </a:extLst>
          </p:cNvPr>
          <p:cNvSpPr/>
          <p:nvPr/>
        </p:nvSpPr>
        <p:spPr>
          <a:xfrm>
            <a:off x="2834440" y="2770644"/>
            <a:ext cx="7324726" cy="30469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150"/>
              </a:spcBef>
              <a:spcAft>
                <a:spcPts val="150"/>
              </a:spcAft>
            </a:pPr>
            <a:r>
              <a:rPr lang="pt-BR" sz="1600" b="1" dirty="0" err="1">
                <a:solidFill>
                  <a:srgbClr val="7F0055"/>
                </a:solidFill>
                <a:latin typeface="Consolas" panose="020B0609020204030204" pitchFamily="49" charset="0"/>
              </a:rPr>
              <a:t>public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pt-BR" sz="1600" b="1" dirty="0" err="1">
                <a:solidFill>
                  <a:srgbClr val="7F0055"/>
                </a:solidFill>
                <a:latin typeface="Consolas" panose="020B0609020204030204" pitchFamily="49" charset="0"/>
              </a:rPr>
              <a:t>class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pt-B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ContaMes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</a:p>
          <a:p>
            <a:pPr indent="457200">
              <a:spcBef>
                <a:spcPts val="150"/>
              </a:spcBef>
              <a:spcAft>
                <a:spcPts val="150"/>
              </a:spcAft>
            </a:pPr>
            <a:r>
              <a:rPr lang="pt-BR" sz="1600" b="1" dirty="0" err="1">
                <a:solidFill>
                  <a:srgbClr val="7F0055"/>
                </a:solidFill>
                <a:latin typeface="Consolas" panose="020B0609020204030204" pitchFamily="49" charset="0"/>
              </a:rPr>
              <a:t>public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pt-BR" sz="1600" b="1" dirty="0">
                <a:solidFill>
                  <a:srgbClr val="7F0055"/>
                </a:solidFill>
                <a:latin typeface="Consolas" panose="020B0609020204030204" pitchFamily="49" charset="0"/>
              </a:rPr>
              <a:t>double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pt-BR" sz="1600" dirty="0" err="1">
                <a:solidFill>
                  <a:srgbClr val="0000C0"/>
                </a:solidFill>
                <a:latin typeface="Consolas" panose="020B0609020204030204" pitchFamily="49" charset="0"/>
              </a:rPr>
              <a:t>alimentacao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indent="457200">
              <a:spcBef>
                <a:spcPts val="150"/>
              </a:spcBef>
              <a:spcAft>
                <a:spcPts val="150"/>
              </a:spcAft>
            </a:pPr>
            <a:r>
              <a:rPr lang="pt-BR" sz="1600" b="1" dirty="0" err="1">
                <a:solidFill>
                  <a:srgbClr val="7F0055"/>
                </a:solidFill>
                <a:latin typeface="Consolas" panose="020B0609020204030204" pitchFamily="49" charset="0"/>
              </a:rPr>
              <a:t>public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pt-BR" sz="1600" b="1" dirty="0">
                <a:solidFill>
                  <a:srgbClr val="7F0055"/>
                </a:solidFill>
                <a:latin typeface="Consolas" panose="020B0609020204030204" pitchFamily="49" charset="0"/>
              </a:rPr>
              <a:t>double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pt-BR" sz="1600" dirty="0">
                <a:solidFill>
                  <a:srgbClr val="0000C0"/>
                </a:solidFill>
                <a:latin typeface="Consolas" panose="020B0609020204030204" pitchFamily="49" charset="0"/>
              </a:rPr>
              <a:t>agua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indent="457200">
              <a:spcBef>
                <a:spcPts val="150"/>
              </a:spcBef>
              <a:spcAft>
                <a:spcPts val="150"/>
              </a:spcAft>
            </a:pPr>
            <a:r>
              <a:rPr lang="pt-BR" sz="1600" b="1" dirty="0" err="1">
                <a:solidFill>
                  <a:srgbClr val="7F0055"/>
                </a:solidFill>
                <a:latin typeface="Consolas" panose="020B0609020204030204" pitchFamily="49" charset="0"/>
              </a:rPr>
              <a:t>public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pt-BR" sz="1600" b="1" dirty="0">
                <a:solidFill>
                  <a:srgbClr val="7F0055"/>
                </a:solidFill>
                <a:latin typeface="Consolas" panose="020B0609020204030204" pitchFamily="49" charset="0"/>
              </a:rPr>
              <a:t>double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pt-BR" sz="1600" dirty="0">
                <a:solidFill>
                  <a:srgbClr val="0000C0"/>
                </a:solidFill>
                <a:latin typeface="Consolas" panose="020B0609020204030204" pitchFamily="49" charset="0"/>
              </a:rPr>
              <a:t>energia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indent="457200">
              <a:spcBef>
                <a:spcPts val="150"/>
              </a:spcBef>
              <a:spcAft>
                <a:spcPts val="150"/>
              </a:spcAft>
            </a:pPr>
            <a:endParaRPr lang="pt-BR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indent="457200">
              <a:spcBef>
                <a:spcPts val="150"/>
              </a:spcBef>
              <a:spcAft>
                <a:spcPts val="150"/>
              </a:spcAft>
            </a:pPr>
            <a:r>
              <a:rPr lang="pt-BR" sz="1600" b="1" dirty="0" err="1">
                <a:solidFill>
                  <a:srgbClr val="7F0055"/>
                </a:solidFill>
                <a:latin typeface="Consolas" panose="020B0609020204030204" pitchFamily="49" charset="0"/>
              </a:rPr>
              <a:t>public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pt-BR" sz="1600" b="1" dirty="0">
                <a:solidFill>
                  <a:srgbClr val="7F0055"/>
                </a:solidFill>
                <a:latin typeface="Consolas" panose="020B0609020204030204" pitchFamily="49" charset="0"/>
              </a:rPr>
              <a:t>double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pt-B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somaConta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() {</a:t>
            </a:r>
          </a:p>
          <a:p>
            <a:pPr indent="914400">
              <a:spcBef>
                <a:spcPts val="150"/>
              </a:spcBef>
              <a:spcAft>
                <a:spcPts val="150"/>
              </a:spcAft>
            </a:pPr>
            <a:r>
              <a:rPr lang="pt-BR" sz="1600" b="1" dirty="0">
                <a:solidFill>
                  <a:srgbClr val="7F0055"/>
                </a:solidFill>
                <a:latin typeface="Consolas" panose="020B0609020204030204" pitchFamily="49" charset="0"/>
              </a:rPr>
              <a:t>double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pt-BR" sz="1600" dirty="0" err="1">
                <a:solidFill>
                  <a:srgbClr val="6A3E3E"/>
                </a:solidFill>
                <a:latin typeface="Consolas" panose="020B0609020204030204" pitchFamily="49" charset="0"/>
              </a:rPr>
              <a:t>contaMes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pt-BR" sz="1600" dirty="0" err="1">
                <a:solidFill>
                  <a:srgbClr val="0000C0"/>
                </a:solidFill>
                <a:latin typeface="Consolas" panose="020B0609020204030204" pitchFamily="49" charset="0"/>
              </a:rPr>
              <a:t>alimentacao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pt-BR" sz="1600" dirty="0">
                <a:solidFill>
                  <a:srgbClr val="0000C0"/>
                </a:solidFill>
                <a:latin typeface="Consolas" panose="020B0609020204030204" pitchFamily="49" charset="0"/>
              </a:rPr>
              <a:t>agua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pt-BR" sz="1600" dirty="0">
                <a:solidFill>
                  <a:srgbClr val="0000C0"/>
                </a:solidFill>
                <a:latin typeface="Consolas" panose="020B0609020204030204" pitchFamily="49" charset="0"/>
              </a:rPr>
              <a:t>energia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indent="914400">
              <a:spcBef>
                <a:spcPts val="150"/>
              </a:spcBef>
              <a:spcAft>
                <a:spcPts val="150"/>
              </a:spcAft>
            </a:pPr>
            <a:r>
              <a:rPr lang="pt-BR" sz="1600" b="1" dirty="0" err="1">
                <a:solidFill>
                  <a:srgbClr val="7F0055"/>
                </a:solidFill>
                <a:latin typeface="Consolas" panose="020B0609020204030204" pitchFamily="49" charset="0"/>
              </a:rPr>
              <a:t>return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pt-BR" sz="1600" dirty="0" err="1">
                <a:solidFill>
                  <a:srgbClr val="6A3E3E"/>
                </a:solidFill>
                <a:latin typeface="Consolas" panose="020B0609020204030204" pitchFamily="49" charset="0"/>
              </a:rPr>
              <a:t>contaMes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indent="457200">
              <a:spcBef>
                <a:spcPts val="150"/>
              </a:spcBef>
              <a:spcAft>
                <a:spcPts val="150"/>
              </a:spcAft>
            </a:pP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pPr>
              <a:spcBef>
                <a:spcPts val="150"/>
              </a:spcBef>
              <a:spcAft>
                <a:spcPts val="150"/>
              </a:spcAft>
            </a:pP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50949035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B8DE3EC-458E-4DDF-B7B0-707499A498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Resolução utilizando a Programação Orientada a Objetos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B5A3352-9F0F-4A1B-B2F5-BB47907933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639907"/>
          </a:xfrm>
        </p:spPr>
        <p:txBody>
          <a:bodyPr/>
          <a:lstStyle/>
          <a:p>
            <a:pPr marL="457200" indent="-457200">
              <a:buFont typeface="+mj-lt"/>
              <a:buAutoNum type="arabicPeriod" startAt="5"/>
            </a:pPr>
            <a:r>
              <a:rPr lang="pt-BR" dirty="0"/>
              <a:t>E após isso devemos atribuir o valor somado dentro de uma variável no programa </a:t>
            </a:r>
            <a:r>
              <a:rPr lang="pt-BR" b="1" dirty="0" err="1"/>
              <a:t>Main</a:t>
            </a:r>
            <a:r>
              <a:rPr lang="pt-BR" dirty="0"/>
              <a:t>.</a:t>
            </a:r>
            <a:endParaRPr lang="pt-BR" b="1" dirty="0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ED28D574-F95D-45B1-8E35-A6A5DAA836A0}"/>
              </a:ext>
            </a:extLst>
          </p:cNvPr>
          <p:cNvSpPr/>
          <p:nvPr/>
        </p:nvSpPr>
        <p:spPr>
          <a:xfrm>
            <a:off x="4114800" y="2520403"/>
            <a:ext cx="3962400" cy="6360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150"/>
              </a:spcBef>
              <a:spcAft>
                <a:spcPts val="150"/>
              </a:spcAft>
            </a:pPr>
            <a:r>
              <a:rPr lang="pt-BR" sz="1600" b="1" dirty="0">
                <a:solidFill>
                  <a:srgbClr val="7F0055"/>
                </a:solidFill>
                <a:latin typeface="Consolas" panose="020B0609020204030204" pitchFamily="49" charset="0"/>
              </a:rPr>
              <a:t>double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pt-BR" sz="1600" dirty="0" err="1">
                <a:solidFill>
                  <a:srgbClr val="6A3E3E"/>
                </a:solidFill>
                <a:latin typeface="Consolas" panose="020B0609020204030204" pitchFamily="49" charset="0"/>
              </a:rPr>
              <a:t>contaJan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pt-BR" sz="1600" dirty="0" err="1">
                <a:solidFill>
                  <a:srgbClr val="6A3E3E"/>
                </a:solidFill>
                <a:latin typeface="Consolas" panose="020B0609020204030204" pitchFamily="49" charset="0"/>
              </a:rPr>
              <a:t>jan</a:t>
            </a:r>
            <a:r>
              <a:rPr lang="pt-B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.somaConta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</a:p>
          <a:p>
            <a:pPr>
              <a:spcBef>
                <a:spcPts val="150"/>
              </a:spcBef>
              <a:spcAft>
                <a:spcPts val="150"/>
              </a:spcAft>
            </a:pPr>
            <a:r>
              <a:rPr lang="pt-BR" sz="1600" b="1" dirty="0">
                <a:solidFill>
                  <a:srgbClr val="7F0055"/>
                </a:solidFill>
                <a:latin typeface="Consolas" panose="020B0609020204030204" pitchFamily="49" charset="0"/>
              </a:rPr>
              <a:t>double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pt-BR" sz="1600" dirty="0" err="1">
                <a:solidFill>
                  <a:srgbClr val="6A3E3E"/>
                </a:solidFill>
                <a:latin typeface="Consolas" panose="020B0609020204030204" pitchFamily="49" charset="0"/>
              </a:rPr>
              <a:t>contaFev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pt-BR" sz="1600" dirty="0" err="1">
                <a:solidFill>
                  <a:srgbClr val="6A3E3E"/>
                </a:solidFill>
                <a:latin typeface="Consolas" panose="020B0609020204030204" pitchFamily="49" charset="0"/>
              </a:rPr>
              <a:t>fev</a:t>
            </a:r>
            <a:r>
              <a:rPr lang="pt-B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.somaConta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</a:p>
        </p:txBody>
      </p:sp>
      <p:sp>
        <p:nvSpPr>
          <p:cNvPr id="6" name="Espaço Reservado para Conteúdo 2">
            <a:extLst>
              <a:ext uri="{FF2B5EF4-FFF2-40B4-BE49-F238E27FC236}">
                <a16:creationId xmlns:a16="http://schemas.microsoft.com/office/drawing/2014/main" id="{56BE7F1B-7613-46F9-A06A-54E8C26004B5}"/>
              </a:ext>
            </a:extLst>
          </p:cNvPr>
          <p:cNvSpPr txBox="1">
            <a:spLocks/>
          </p:cNvSpPr>
          <p:nvPr/>
        </p:nvSpPr>
        <p:spPr>
          <a:xfrm>
            <a:off x="592347" y="3192296"/>
            <a:ext cx="11007306" cy="639907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685800" indent="-228600" algn="just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1143000" indent="-228600" algn="just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600200" indent="-228600" algn="just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2057400" indent="-228600" algn="just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+mj-lt"/>
              <a:buAutoNum type="arabicPeriod" startAt="6"/>
            </a:pPr>
            <a:r>
              <a:rPr lang="pt-BR" dirty="0"/>
              <a:t>Por fim comparar qual mês teve o maior gasto</a:t>
            </a:r>
            <a:endParaRPr lang="pt-BR" b="1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3E147AD4-8D07-4AFC-AF93-34FB894A5173}"/>
              </a:ext>
            </a:extLst>
          </p:cNvPr>
          <p:cNvSpPr/>
          <p:nvPr/>
        </p:nvSpPr>
        <p:spPr>
          <a:xfrm>
            <a:off x="1685925" y="3868024"/>
            <a:ext cx="8820150" cy="27186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150"/>
              </a:spcBef>
              <a:spcAft>
                <a:spcPts val="150"/>
              </a:spcAft>
            </a:pPr>
            <a:r>
              <a:rPr lang="pt-BR" sz="1600" b="1" dirty="0">
                <a:solidFill>
                  <a:srgbClr val="7F0055"/>
                </a:solidFill>
                <a:latin typeface="Consolas" panose="020B0609020204030204" pitchFamily="49" charset="0"/>
              </a:rPr>
              <a:t>if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pt-BR" sz="1600" dirty="0" err="1">
                <a:solidFill>
                  <a:srgbClr val="6A3E3E"/>
                </a:solidFill>
                <a:latin typeface="Consolas" panose="020B0609020204030204" pitchFamily="49" charset="0"/>
              </a:rPr>
              <a:t>contaJan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pt-BR" sz="1600" dirty="0" err="1">
                <a:solidFill>
                  <a:srgbClr val="6A3E3E"/>
                </a:solidFill>
                <a:latin typeface="Consolas" panose="020B0609020204030204" pitchFamily="49" charset="0"/>
              </a:rPr>
              <a:t>contaFev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</a:p>
          <a:p>
            <a:pPr indent="457200">
              <a:spcBef>
                <a:spcPts val="150"/>
              </a:spcBef>
              <a:spcAft>
                <a:spcPts val="150"/>
              </a:spcAft>
            </a:pP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System.</a:t>
            </a:r>
            <a:r>
              <a:rPr lang="pt-BR" sz="1600" b="1" i="1" dirty="0">
                <a:solidFill>
                  <a:srgbClr val="0000C0"/>
                </a:solidFill>
                <a:latin typeface="Consolas" panose="020B0609020204030204" pitchFamily="49" charset="0"/>
              </a:rPr>
              <a:t>out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.println(</a:t>
            </a:r>
            <a:r>
              <a:rPr lang="pt-BR" sz="1600" dirty="0">
                <a:solidFill>
                  <a:srgbClr val="2A00FF"/>
                </a:solidFill>
                <a:latin typeface="Consolas" panose="020B0609020204030204" pitchFamily="49" charset="0"/>
              </a:rPr>
              <a:t>"A conta de Janeiro é maior do que a de Fevereiro"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spcBef>
                <a:spcPts val="150"/>
              </a:spcBef>
              <a:spcAft>
                <a:spcPts val="150"/>
              </a:spcAft>
            </a:pP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pPr>
              <a:spcBef>
                <a:spcPts val="150"/>
              </a:spcBef>
              <a:spcAft>
                <a:spcPts val="150"/>
              </a:spcAft>
            </a:pPr>
            <a:r>
              <a:rPr lang="pt-BR" sz="1600" b="1" dirty="0">
                <a:solidFill>
                  <a:srgbClr val="7F0055"/>
                </a:solidFill>
                <a:latin typeface="Consolas" panose="020B0609020204030204" pitchFamily="49" charset="0"/>
              </a:rPr>
              <a:t>else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pt-BR" sz="1600" b="1" dirty="0">
                <a:solidFill>
                  <a:srgbClr val="7F0055"/>
                </a:solidFill>
                <a:latin typeface="Consolas" panose="020B0609020204030204" pitchFamily="49" charset="0"/>
              </a:rPr>
              <a:t>if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pt-BR" sz="1600" dirty="0" err="1">
                <a:solidFill>
                  <a:srgbClr val="6A3E3E"/>
                </a:solidFill>
                <a:latin typeface="Consolas" panose="020B0609020204030204" pitchFamily="49" charset="0"/>
              </a:rPr>
              <a:t>contaFev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pt-BR" sz="1600" dirty="0" err="1">
                <a:solidFill>
                  <a:srgbClr val="6A3E3E"/>
                </a:solidFill>
                <a:latin typeface="Consolas" panose="020B0609020204030204" pitchFamily="49" charset="0"/>
              </a:rPr>
              <a:t>contaJan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</a:p>
          <a:p>
            <a:pPr indent="457200">
              <a:spcBef>
                <a:spcPts val="150"/>
              </a:spcBef>
              <a:spcAft>
                <a:spcPts val="150"/>
              </a:spcAft>
            </a:pP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System.</a:t>
            </a:r>
            <a:r>
              <a:rPr lang="pt-BR" sz="1600" b="1" i="1" dirty="0">
                <a:solidFill>
                  <a:srgbClr val="0000C0"/>
                </a:solidFill>
                <a:latin typeface="Consolas" panose="020B0609020204030204" pitchFamily="49" charset="0"/>
              </a:rPr>
              <a:t>out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.println(</a:t>
            </a:r>
            <a:r>
              <a:rPr lang="pt-BR" sz="1600" dirty="0">
                <a:solidFill>
                  <a:srgbClr val="2A00FF"/>
                </a:solidFill>
                <a:latin typeface="Consolas" panose="020B0609020204030204" pitchFamily="49" charset="0"/>
              </a:rPr>
              <a:t>"A conta de Fevereiro é maior do que a de Janeiro"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spcBef>
                <a:spcPts val="150"/>
              </a:spcBef>
              <a:spcAft>
                <a:spcPts val="150"/>
              </a:spcAft>
            </a:pP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pPr>
              <a:spcBef>
                <a:spcPts val="150"/>
              </a:spcBef>
              <a:spcAft>
                <a:spcPts val="150"/>
              </a:spcAft>
            </a:pPr>
            <a:r>
              <a:rPr lang="pt-BR" sz="1600" b="1" dirty="0">
                <a:solidFill>
                  <a:srgbClr val="7F0055"/>
                </a:solidFill>
                <a:latin typeface="Consolas" panose="020B0609020204030204" pitchFamily="49" charset="0"/>
              </a:rPr>
              <a:t>else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</a:p>
          <a:p>
            <a:pPr indent="457200">
              <a:spcBef>
                <a:spcPts val="150"/>
              </a:spcBef>
              <a:spcAft>
                <a:spcPts val="150"/>
              </a:spcAft>
            </a:pP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System.</a:t>
            </a:r>
            <a:r>
              <a:rPr lang="pt-BR" sz="1600" b="1" i="1" dirty="0">
                <a:solidFill>
                  <a:srgbClr val="0000C0"/>
                </a:solidFill>
                <a:latin typeface="Consolas" panose="020B0609020204030204" pitchFamily="49" charset="0"/>
              </a:rPr>
              <a:t>out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.println(</a:t>
            </a:r>
            <a:r>
              <a:rPr lang="pt-BR" sz="1600" dirty="0">
                <a:solidFill>
                  <a:srgbClr val="2A00FF"/>
                </a:solidFill>
                <a:latin typeface="Consolas" panose="020B0609020204030204" pitchFamily="49" charset="0"/>
              </a:rPr>
              <a:t>"Ambas as contas possuem o mesmo valor"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spcBef>
                <a:spcPts val="150"/>
              </a:spcBef>
              <a:spcAft>
                <a:spcPts val="150"/>
              </a:spcAft>
            </a:pP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2304210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3E6918-BC33-48FC-BE21-AF8AC13FBA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Explicação dos itens dentro da classe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50CC14F7-CC6C-442A-9DF6-D6ECD1F455FB}"/>
              </a:ext>
            </a:extLst>
          </p:cNvPr>
          <p:cNvSpPr/>
          <p:nvPr/>
        </p:nvSpPr>
        <p:spPr>
          <a:xfrm>
            <a:off x="2433637" y="2188753"/>
            <a:ext cx="7324726" cy="36420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150"/>
              </a:spcBef>
              <a:spcAft>
                <a:spcPts val="150"/>
              </a:spcAft>
            </a:pPr>
            <a:r>
              <a:rPr lang="pt-BR" sz="1600" b="1" dirty="0" err="1">
                <a:solidFill>
                  <a:srgbClr val="7F0055"/>
                </a:solidFill>
                <a:latin typeface="Consolas" panose="020B0609020204030204" pitchFamily="49" charset="0"/>
              </a:rPr>
              <a:t>package</a:t>
            </a:r>
            <a:r>
              <a:rPr lang="pt-BR" sz="1600" dirty="0"/>
              <a:t> 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Entidades</a:t>
            </a:r>
            <a:r>
              <a:rPr lang="pt-BR" sz="1600" dirty="0"/>
              <a:t>;</a:t>
            </a:r>
          </a:p>
          <a:p>
            <a:pPr>
              <a:spcBef>
                <a:spcPts val="150"/>
              </a:spcBef>
              <a:spcAft>
                <a:spcPts val="150"/>
              </a:spcAft>
            </a:pPr>
            <a:endParaRPr lang="pt-BR" sz="1600" b="1" dirty="0">
              <a:solidFill>
                <a:srgbClr val="7F0055"/>
              </a:solidFill>
              <a:latin typeface="Consolas" panose="020B0609020204030204" pitchFamily="49" charset="0"/>
            </a:endParaRPr>
          </a:p>
          <a:p>
            <a:pPr>
              <a:spcBef>
                <a:spcPts val="150"/>
              </a:spcBef>
              <a:spcAft>
                <a:spcPts val="150"/>
              </a:spcAft>
            </a:pPr>
            <a:r>
              <a:rPr lang="pt-BR" sz="1600" b="1" dirty="0" err="1">
                <a:solidFill>
                  <a:srgbClr val="7F0055"/>
                </a:solidFill>
                <a:latin typeface="Consolas" panose="020B0609020204030204" pitchFamily="49" charset="0"/>
              </a:rPr>
              <a:t>public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pt-BR" sz="1600" b="1" dirty="0" err="1">
                <a:solidFill>
                  <a:srgbClr val="7F0055"/>
                </a:solidFill>
                <a:latin typeface="Consolas" panose="020B0609020204030204" pitchFamily="49" charset="0"/>
              </a:rPr>
              <a:t>class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pt-B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ContaMes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</a:p>
          <a:p>
            <a:pPr indent="457200">
              <a:spcBef>
                <a:spcPts val="150"/>
              </a:spcBef>
              <a:spcAft>
                <a:spcPts val="150"/>
              </a:spcAft>
            </a:pPr>
            <a:r>
              <a:rPr lang="pt-BR" sz="1600" b="1" dirty="0" err="1">
                <a:solidFill>
                  <a:srgbClr val="7F0055"/>
                </a:solidFill>
                <a:latin typeface="Consolas" panose="020B0609020204030204" pitchFamily="49" charset="0"/>
              </a:rPr>
              <a:t>public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pt-BR" sz="1600" b="1" dirty="0">
                <a:solidFill>
                  <a:srgbClr val="7F0055"/>
                </a:solidFill>
                <a:latin typeface="Consolas" panose="020B0609020204030204" pitchFamily="49" charset="0"/>
              </a:rPr>
              <a:t>double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pt-BR" sz="1600" dirty="0" err="1">
                <a:solidFill>
                  <a:srgbClr val="0000C0"/>
                </a:solidFill>
                <a:latin typeface="Consolas" panose="020B0609020204030204" pitchFamily="49" charset="0"/>
              </a:rPr>
              <a:t>alimentacao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indent="457200">
              <a:spcBef>
                <a:spcPts val="150"/>
              </a:spcBef>
              <a:spcAft>
                <a:spcPts val="150"/>
              </a:spcAft>
            </a:pPr>
            <a:r>
              <a:rPr lang="pt-BR" sz="1600" b="1" dirty="0" err="1">
                <a:solidFill>
                  <a:srgbClr val="7F0055"/>
                </a:solidFill>
                <a:latin typeface="Consolas" panose="020B0609020204030204" pitchFamily="49" charset="0"/>
              </a:rPr>
              <a:t>public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pt-BR" sz="1600" b="1" dirty="0">
                <a:solidFill>
                  <a:srgbClr val="7F0055"/>
                </a:solidFill>
                <a:latin typeface="Consolas" panose="020B0609020204030204" pitchFamily="49" charset="0"/>
              </a:rPr>
              <a:t>double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pt-BR" sz="1600" dirty="0">
                <a:solidFill>
                  <a:srgbClr val="0000C0"/>
                </a:solidFill>
                <a:latin typeface="Consolas" panose="020B0609020204030204" pitchFamily="49" charset="0"/>
              </a:rPr>
              <a:t>agua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indent="457200">
              <a:spcBef>
                <a:spcPts val="150"/>
              </a:spcBef>
              <a:spcAft>
                <a:spcPts val="150"/>
              </a:spcAft>
            </a:pPr>
            <a:r>
              <a:rPr lang="pt-BR" sz="1600" b="1" dirty="0" err="1">
                <a:solidFill>
                  <a:srgbClr val="7F0055"/>
                </a:solidFill>
                <a:latin typeface="Consolas" panose="020B0609020204030204" pitchFamily="49" charset="0"/>
              </a:rPr>
              <a:t>public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pt-BR" sz="1600" b="1" dirty="0">
                <a:solidFill>
                  <a:srgbClr val="7F0055"/>
                </a:solidFill>
                <a:latin typeface="Consolas" panose="020B0609020204030204" pitchFamily="49" charset="0"/>
              </a:rPr>
              <a:t>double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pt-BR" sz="1600" dirty="0">
                <a:solidFill>
                  <a:srgbClr val="0000C0"/>
                </a:solidFill>
                <a:latin typeface="Consolas" panose="020B0609020204030204" pitchFamily="49" charset="0"/>
              </a:rPr>
              <a:t>energia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indent="457200">
              <a:spcBef>
                <a:spcPts val="150"/>
              </a:spcBef>
              <a:spcAft>
                <a:spcPts val="150"/>
              </a:spcAft>
            </a:pPr>
            <a:endParaRPr lang="pt-BR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indent="457200">
              <a:spcBef>
                <a:spcPts val="150"/>
              </a:spcBef>
              <a:spcAft>
                <a:spcPts val="150"/>
              </a:spcAft>
            </a:pPr>
            <a:r>
              <a:rPr lang="pt-BR" sz="1600" b="1" dirty="0" err="1">
                <a:solidFill>
                  <a:srgbClr val="7F0055"/>
                </a:solidFill>
                <a:latin typeface="Consolas" panose="020B0609020204030204" pitchFamily="49" charset="0"/>
              </a:rPr>
              <a:t>public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pt-BR" sz="1600" b="1" dirty="0">
                <a:solidFill>
                  <a:srgbClr val="7F0055"/>
                </a:solidFill>
                <a:latin typeface="Consolas" panose="020B0609020204030204" pitchFamily="49" charset="0"/>
              </a:rPr>
              <a:t>double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pt-BR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somaConta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() {</a:t>
            </a:r>
          </a:p>
          <a:p>
            <a:pPr indent="914400">
              <a:spcBef>
                <a:spcPts val="150"/>
              </a:spcBef>
              <a:spcAft>
                <a:spcPts val="150"/>
              </a:spcAft>
            </a:pPr>
            <a:r>
              <a:rPr lang="pt-BR" sz="1600" b="1" dirty="0">
                <a:solidFill>
                  <a:srgbClr val="7F0055"/>
                </a:solidFill>
                <a:latin typeface="Consolas" panose="020B0609020204030204" pitchFamily="49" charset="0"/>
              </a:rPr>
              <a:t>double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pt-BR" sz="1600" dirty="0" err="1">
                <a:solidFill>
                  <a:srgbClr val="6A3E3E"/>
                </a:solidFill>
                <a:latin typeface="Consolas" panose="020B0609020204030204" pitchFamily="49" charset="0"/>
              </a:rPr>
              <a:t>contaMes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pt-BR" sz="1600" dirty="0" err="1">
                <a:solidFill>
                  <a:srgbClr val="0000C0"/>
                </a:solidFill>
                <a:latin typeface="Consolas" panose="020B0609020204030204" pitchFamily="49" charset="0"/>
              </a:rPr>
              <a:t>alimentacao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pt-BR" sz="1600" dirty="0">
                <a:solidFill>
                  <a:srgbClr val="0000C0"/>
                </a:solidFill>
                <a:latin typeface="Consolas" panose="020B0609020204030204" pitchFamily="49" charset="0"/>
              </a:rPr>
              <a:t>agua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pt-BR" sz="1600" dirty="0">
                <a:solidFill>
                  <a:srgbClr val="0000C0"/>
                </a:solidFill>
                <a:latin typeface="Consolas" panose="020B0609020204030204" pitchFamily="49" charset="0"/>
              </a:rPr>
              <a:t>energia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indent="914400">
              <a:spcBef>
                <a:spcPts val="150"/>
              </a:spcBef>
              <a:spcAft>
                <a:spcPts val="150"/>
              </a:spcAft>
            </a:pPr>
            <a:r>
              <a:rPr lang="pt-BR" sz="1600" b="1" dirty="0" err="1">
                <a:solidFill>
                  <a:srgbClr val="7F0055"/>
                </a:solidFill>
                <a:latin typeface="Consolas" panose="020B0609020204030204" pitchFamily="49" charset="0"/>
              </a:rPr>
              <a:t>return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pt-BR" sz="1600" dirty="0" err="1">
                <a:solidFill>
                  <a:srgbClr val="6A3E3E"/>
                </a:solidFill>
                <a:latin typeface="Consolas" panose="020B0609020204030204" pitchFamily="49" charset="0"/>
              </a:rPr>
              <a:t>contaMes</a:t>
            </a: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indent="457200">
              <a:spcBef>
                <a:spcPts val="150"/>
              </a:spcBef>
              <a:spcAft>
                <a:spcPts val="150"/>
              </a:spcAft>
            </a:pP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pPr>
              <a:spcBef>
                <a:spcPts val="150"/>
              </a:spcBef>
              <a:spcAft>
                <a:spcPts val="150"/>
              </a:spcAft>
            </a:pPr>
            <a:r>
              <a:rPr lang="pt-BR" sz="16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cxnSp>
        <p:nvCxnSpPr>
          <p:cNvPr id="6" name="Conector de Seta Reta 5">
            <a:extLst>
              <a:ext uri="{FF2B5EF4-FFF2-40B4-BE49-F238E27FC236}">
                <a16:creationId xmlns:a16="http://schemas.microsoft.com/office/drawing/2014/main" id="{8C42539C-672F-451C-932B-D3E02000EF94}"/>
              </a:ext>
            </a:extLst>
          </p:cNvPr>
          <p:cNvCxnSpPr>
            <a:cxnSpLocks/>
            <a:endCxn id="16" idx="1"/>
          </p:cNvCxnSpPr>
          <p:nvPr/>
        </p:nvCxnSpPr>
        <p:spPr>
          <a:xfrm flipV="1">
            <a:off x="4426649" y="2358030"/>
            <a:ext cx="807893" cy="7553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C0BEB95E-4FA5-4BA9-B62A-C831A40817E9}"/>
              </a:ext>
            </a:extLst>
          </p:cNvPr>
          <p:cNvCxnSpPr>
            <a:cxnSpLocks/>
          </p:cNvCxnSpPr>
          <p:nvPr/>
        </p:nvCxnSpPr>
        <p:spPr>
          <a:xfrm flipH="1">
            <a:off x="1940949" y="2968336"/>
            <a:ext cx="492690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tângulo 8">
            <a:extLst>
              <a:ext uri="{FF2B5EF4-FFF2-40B4-BE49-F238E27FC236}">
                <a16:creationId xmlns:a16="http://schemas.microsoft.com/office/drawing/2014/main" id="{17A8244D-6D64-430C-B415-0DF8B66267B9}"/>
              </a:ext>
            </a:extLst>
          </p:cNvPr>
          <p:cNvSpPr/>
          <p:nvPr/>
        </p:nvSpPr>
        <p:spPr>
          <a:xfrm>
            <a:off x="3741420" y="3112655"/>
            <a:ext cx="2151380" cy="84050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11" name="Conector de Seta Reta 10">
            <a:extLst>
              <a:ext uri="{FF2B5EF4-FFF2-40B4-BE49-F238E27FC236}">
                <a16:creationId xmlns:a16="http://schemas.microsoft.com/office/drawing/2014/main" id="{7F6FF7A1-A7AD-4080-BD6A-021028B89247}"/>
              </a:ext>
            </a:extLst>
          </p:cNvPr>
          <p:cNvCxnSpPr>
            <a:cxnSpLocks/>
            <a:endCxn id="24" idx="1"/>
          </p:cNvCxnSpPr>
          <p:nvPr/>
        </p:nvCxnSpPr>
        <p:spPr>
          <a:xfrm>
            <a:off x="5892800" y="3527713"/>
            <a:ext cx="933450" cy="5195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tângulo 11">
            <a:extLst>
              <a:ext uri="{FF2B5EF4-FFF2-40B4-BE49-F238E27FC236}">
                <a16:creationId xmlns:a16="http://schemas.microsoft.com/office/drawing/2014/main" id="{0DBC0A78-2361-46AA-A110-D5A355FC1815}"/>
              </a:ext>
            </a:extLst>
          </p:cNvPr>
          <p:cNvSpPr/>
          <p:nvPr/>
        </p:nvSpPr>
        <p:spPr>
          <a:xfrm>
            <a:off x="2964872" y="4266784"/>
            <a:ext cx="5752408" cy="116627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14" name="Conector de Seta Reta 13">
            <a:extLst>
              <a:ext uri="{FF2B5EF4-FFF2-40B4-BE49-F238E27FC236}">
                <a16:creationId xmlns:a16="http://schemas.microsoft.com/office/drawing/2014/main" id="{6A1B9BF4-AAA0-426B-B915-455754E57D83}"/>
              </a:ext>
            </a:extLst>
          </p:cNvPr>
          <p:cNvCxnSpPr>
            <a:cxnSpLocks/>
            <a:endCxn id="27" idx="1"/>
          </p:cNvCxnSpPr>
          <p:nvPr/>
        </p:nvCxnSpPr>
        <p:spPr>
          <a:xfrm flipV="1">
            <a:off x="8717280" y="4844311"/>
            <a:ext cx="626803" cy="11222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F07994AD-A92A-4E2A-A1A1-F89CAE6FF113}"/>
              </a:ext>
            </a:extLst>
          </p:cNvPr>
          <p:cNvSpPr txBox="1"/>
          <p:nvPr/>
        </p:nvSpPr>
        <p:spPr>
          <a:xfrm>
            <a:off x="5234542" y="2188753"/>
            <a:ext cx="172291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Pacote da classe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35AD9186-D152-4A5D-974D-A9DD0A5DA74F}"/>
              </a:ext>
            </a:extLst>
          </p:cNvPr>
          <p:cNvSpPr txBox="1"/>
          <p:nvPr/>
        </p:nvSpPr>
        <p:spPr>
          <a:xfrm>
            <a:off x="424336" y="2799059"/>
            <a:ext cx="151661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Nome da classe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4E57FB11-0B8D-484A-9A61-804E32948307}"/>
              </a:ext>
            </a:extLst>
          </p:cNvPr>
          <p:cNvSpPr txBox="1"/>
          <p:nvPr/>
        </p:nvSpPr>
        <p:spPr>
          <a:xfrm>
            <a:off x="6826250" y="3363631"/>
            <a:ext cx="18910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Atributos da Classe</a:t>
            </a: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19A539E9-A1D9-4C5F-8692-0E246AA5751D}"/>
              </a:ext>
            </a:extLst>
          </p:cNvPr>
          <p:cNvSpPr txBox="1"/>
          <p:nvPr/>
        </p:nvSpPr>
        <p:spPr>
          <a:xfrm>
            <a:off x="9344083" y="4675034"/>
            <a:ext cx="18910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Método da Classe</a:t>
            </a:r>
          </a:p>
        </p:txBody>
      </p:sp>
      <p:sp>
        <p:nvSpPr>
          <p:cNvPr id="29" name="Retângulo 28">
            <a:extLst>
              <a:ext uri="{FF2B5EF4-FFF2-40B4-BE49-F238E27FC236}">
                <a16:creationId xmlns:a16="http://schemas.microsoft.com/office/drawing/2014/main" id="{927C1B83-50B7-429C-9D37-4C3C6F889196}"/>
              </a:ext>
            </a:extLst>
          </p:cNvPr>
          <p:cNvSpPr/>
          <p:nvPr/>
        </p:nvSpPr>
        <p:spPr>
          <a:xfrm>
            <a:off x="2964871" y="3112655"/>
            <a:ext cx="740353" cy="840507"/>
          </a:xfrm>
          <a:prstGeom prst="rect">
            <a:avLst/>
          </a:prstGeom>
          <a:noFill/>
          <a:ln>
            <a:solidFill>
              <a:srgbClr val="292A8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33" name="Conector de Seta Reta 32">
            <a:extLst>
              <a:ext uri="{FF2B5EF4-FFF2-40B4-BE49-F238E27FC236}">
                <a16:creationId xmlns:a16="http://schemas.microsoft.com/office/drawing/2014/main" id="{E4FA36AF-8427-4C3B-93F2-7E1FB2DA6796}"/>
              </a:ext>
            </a:extLst>
          </p:cNvPr>
          <p:cNvCxnSpPr>
            <a:cxnSpLocks/>
          </p:cNvCxnSpPr>
          <p:nvPr/>
        </p:nvCxnSpPr>
        <p:spPr>
          <a:xfrm flipH="1">
            <a:off x="1940949" y="3530600"/>
            <a:ext cx="1023923" cy="0"/>
          </a:xfrm>
          <a:prstGeom prst="straightConnector1">
            <a:avLst/>
          </a:prstGeom>
          <a:ln w="19050">
            <a:solidFill>
              <a:srgbClr val="292A8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CaixaDeTexto 34">
            <a:extLst>
              <a:ext uri="{FF2B5EF4-FFF2-40B4-BE49-F238E27FC236}">
                <a16:creationId xmlns:a16="http://schemas.microsoft.com/office/drawing/2014/main" id="{4A6386D0-D3ED-46B5-A5B7-A283DFC430E8}"/>
              </a:ext>
            </a:extLst>
          </p:cNvPr>
          <p:cNvSpPr txBox="1"/>
          <p:nvPr/>
        </p:nvSpPr>
        <p:spPr>
          <a:xfrm>
            <a:off x="424336" y="3363631"/>
            <a:ext cx="151661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 termo </a:t>
            </a:r>
            <a:r>
              <a:rPr lang="pt-BR" sz="1400" b="1" dirty="0" err="1">
                <a:solidFill>
                  <a:srgbClr val="7F0055"/>
                </a:solidFill>
                <a:latin typeface="Consolas" panose="020B0609020204030204" pitchFamily="49" charset="0"/>
              </a:rPr>
              <a:t>public</a:t>
            </a:r>
            <a:r>
              <a:rPr lang="pt-B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indica que um atributo/método pode ser acessado por outro arquivo.</a:t>
            </a:r>
            <a:endParaRPr lang="pt-BR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0" name="Conector de Seta Reta 39">
            <a:extLst>
              <a:ext uri="{FF2B5EF4-FFF2-40B4-BE49-F238E27FC236}">
                <a16:creationId xmlns:a16="http://schemas.microsoft.com/office/drawing/2014/main" id="{DB4251FE-D1DC-4E46-82F3-4F0849959C51}"/>
              </a:ext>
            </a:extLst>
          </p:cNvPr>
          <p:cNvCxnSpPr>
            <a:cxnSpLocks/>
            <a:endCxn id="35" idx="3"/>
          </p:cNvCxnSpPr>
          <p:nvPr/>
        </p:nvCxnSpPr>
        <p:spPr>
          <a:xfrm flipH="1" flipV="1">
            <a:off x="1940950" y="3948407"/>
            <a:ext cx="1023924" cy="496596"/>
          </a:xfrm>
          <a:prstGeom prst="straightConnector1">
            <a:avLst/>
          </a:prstGeom>
          <a:ln w="19050">
            <a:solidFill>
              <a:srgbClr val="292A8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69920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007610-197E-4834-AE90-EF4CC9C92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Projeto da Classe (UML)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4EC9216-BCE3-4920-9B42-0F3F192936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584325"/>
          </a:xfrm>
        </p:spPr>
        <p:txBody>
          <a:bodyPr/>
          <a:lstStyle/>
          <a:p>
            <a:r>
              <a:rPr lang="pt-BR" dirty="0"/>
              <a:t>O diagrama de classe UML (</a:t>
            </a:r>
            <a:r>
              <a:rPr lang="pt-BR" dirty="0" err="1"/>
              <a:t>Unified</a:t>
            </a:r>
            <a:r>
              <a:rPr lang="pt-BR" dirty="0"/>
              <a:t> </a:t>
            </a:r>
            <a:r>
              <a:rPr lang="pt-BR" dirty="0" err="1"/>
              <a:t>Modeling</a:t>
            </a:r>
            <a:r>
              <a:rPr lang="pt-BR" dirty="0"/>
              <a:t> </a:t>
            </a:r>
            <a:r>
              <a:rPr lang="pt-BR" dirty="0" err="1"/>
              <a:t>Language</a:t>
            </a:r>
            <a:r>
              <a:rPr lang="pt-BR" dirty="0"/>
              <a:t>) é uma representação visual que descreve a estrutura de um sistema, mostrando classes, seus atributos, métodos e os relacionamentos entre elas. Ele é usado para planejar, organizar e comunicar o design de software antes da implementação.</a:t>
            </a:r>
          </a:p>
        </p:txBody>
      </p:sp>
      <p:grpSp>
        <p:nvGrpSpPr>
          <p:cNvPr id="18" name="Agrupar 17">
            <a:extLst>
              <a:ext uri="{FF2B5EF4-FFF2-40B4-BE49-F238E27FC236}">
                <a16:creationId xmlns:a16="http://schemas.microsoft.com/office/drawing/2014/main" id="{C1D6B3A6-1C93-41D1-852D-0117A91FB172}"/>
              </a:ext>
            </a:extLst>
          </p:cNvPr>
          <p:cNvGrpSpPr/>
          <p:nvPr/>
        </p:nvGrpSpPr>
        <p:grpSpPr>
          <a:xfrm>
            <a:off x="592347" y="3797497"/>
            <a:ext cx="6209625" cy="2403622"/>
            <a:chOff x="1933991" y="3797497"/>
            <a:chExt cx="6209625" cy="2403622"/>
          </a:xfrm>
        </p:grpSpPr>
        <p:pic>
          <p:nvPicPr>
            <p:cNvPr id="4" name="Imagem 3">
              <a:extLst>
                <a:ext uri="{FF2B5EF4-FFF2-40B4-BE49-F238E27FC236}">
                  <a16:creationId xmlns:a16="http://schemas.microsoft.com/office/drawing/2014/main" id="{5F6BC550-AD41-4BD0-9C7D-1EE6C36FCEF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33991" y="3797497"/>
              <a:ext cx="3136773" cy="2403622"/>
            </a:xfrm>
            <a:prstGeom prst="rect">
              <a:avLst/>
            </a:prstGeom>
          </p:spPr>
        </p:pic>
        <p:cxnSp>
          <p:nvCxnSpPr>
            <p:cNvPr id="6" name="Conector de Seta Reta 5">
              <a:extLst>
                <a:ext uri="{FF2B5EF4-FFF2-40B4-BE49-F238E27FC236}">
                  <a16:creationId xmlns:a16="http://schemas.microsoft.com/office/drawing/2014/main" id="{AAD8C338-D1E0-4D5C-A8D8-805EBF4AD135}"/>
                </a:ext>
              </a:extLst>
            </p:cNvPr>
            <p:cNvCxnSpPr>
              <a:cxnSpLocks/>
            </p:cNvCxnSpPr>
            <p:nvPr/>
          </p:nvCxnSpPr>
          <p:spPr>
            <a:xfrm>
              <a:off x="5070764" y="4082473"/>
              <a:ext cx="1080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ector de Seta Reta 6">
              <a:extLst>
                <a:ext uri="{FF2B5EF4-FFF2-40B4-BE49-F238E27FC236}">
                  <a16:creationId xmlns:a16="http://schemas.microsoft.com/office/drawing/2014/main" id="{DB7E3871-FA40-42D5-B24D-9827BAB9E934}"/>
                </a:ext>
              </a:extLst>
            </p:cNvPr>
            <p:cNvCxnSpPr/>
            <p:nvPr/>
          </p:nvCxnSpPr>
          <p:spPr>
            <a:xfrm>
              <a:off x="5070764" y="5934364"/>
              <a:ext cx="1080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ector de Seta Reta 8">
              <a:extLst>
                <a:ext uri="{FF2B5EF4-FFF2-40B4-BE49-F238E27FC236}">
                  <a16:creationId xmlns:a16="http://schemas.microsoft.com/office/drawing/2014/main" id="{28058D4E-5A3C-46AA-A637-8B499C971C11}"/>
                </a:ext>
              </a:extLst>
            </p:cNvPr>
            <p:cNvCxnSpPr>
              <a:cxnSpLocks/>
            </p:cNvCxnSpPr>
            <p:nvPr/>
          </p:nvCxnSpPr>
          <p:spPr>
            <a:xfrm>
              <a:off x="5070764" y="4999308"/>
              <a:ext cx="1080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CaixaDeTexto 12">
              <a:extLst>
                <a:ext uri="{FF2B5EF4-FFF2-40B4-BE49-F238E27FC236}">
                  <a16:creationId xmlns:a16="http://schemas.microsoft.com/office/drawing/2014/main" id="{3E7CD3FD-2358-4C43-AC5D-38DC02E76131}"/>
                </a:ext>
              </a:extLst>
            </p:cNvPr>
            <p:cNvSpPr txBox="1"/>
            <p:nvPr/>
          </p:nvSpPr>
          <p:spPr>
            <a:xfrm>
              <a:off x="6150764" y="3897807"/>
              <a:ext cx="167545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Nome da Classe</a:t>
              </a:r>
            </a:p>
          </p:txBody>
        </p:sp>
        <p:sp>
          <p:nvSpPr>
            <p:cNvPr id="14" name="CaixaDeTexto 13">
              <a:extLst>
                <a:ext uri="{FF2B5EF4-FFF2-40B4-BE49-F238E27FC236}">
                  <a16:creationId xmlns:a16="http://schemas.microsoft.com/office/drawing/2014/main" id="{9FCA87AE-ACE8-45F5-BF3C-B767C0731E63}"/>
                </a:ext>
              </a:extLst>
            </p:cNvPr>
            <p:cNvSpPr txBox="1"/>
            <p:nvPr/>
          </p:nvSpPr>
          <p:spPr>
            <a:xfrm>
              <a:off x="6150763" y="4814642"/>
              <a:ext cx="199285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Atributos da Classe</a:t>
              </a:r>
            </a:p>
          </p:txBody>
        </p:sp>
        <p:sp>
          <p:nvSpPr>
            <p:cNvPr id="15" name="CaixaDeTexto 14">
              <a:extLst>
                <a:ext uri="{FF2B5EF4-FFF2-40B4-BE49-F238E27FC236}">
                  <a16:creationId xmlns:a16="http://schemas.microsoft.com/office/drawing/2014/main" id="{F14689F3-7C7A-497A-AF36-EA37D2D275D3}"/>
                </a:ext>
              </a:extLst>
            </p:cNvPr>
            <p:cNvSpPr txBox="1"/>
            <p:nvPr/>
          </p:nvSpPr>
          <p:spPr>
            <a:xfrm>
              <a:off x="6106943" y="5749698"/>
              <a:ext cx="19461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Métodos da Classe</a:t>
              </a:r>
            </a:p>
          </p:txBody>
        </p:sp>
      </p:grp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AF84375E-7770-4F75-9643-DBED0DDE5F16}"/>
              </a:ext>
            </a:extLst>
          </p:cNvPr>
          <p:cNvSpPr txBox="1"/>
          <p:nvPr/>
        </p:nvSpPr>
        <p:spPr>
          <a:xfrm>
            <a:off x="7945893" y="4147024"/>
            <a:ext cx="3008434" cy="17045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Os sinais representam a visibilidade:</a:t>
            </a:r>
          </a:p>
          <a:p>
            <a:pPr marL="43200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"-": Privado (</a:t>
            </a:r>
            <a:r>
              <a:rPr lang="pt-BR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private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  <a:p>
            <a:pPr marL="43200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"+": Público (</a:t>
            </a:r>
            <a:r>
              <a:rPr lang="pt-BR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public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365028298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4A44951-435E-405A-9B1C-FB9118DC3A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</p:spPr>
        <p:txBody>
          <a:bodyPr/>
          <a:lstStyle/>
          <a:p>
            <a:r>
              <a:rPr lang="pt-BR" dirty="0"/>
              <a:t>Desafio 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6A1F468-5CC3-4133-95DD-B88E34746E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Crie dois programas que resolvam o mesmo problema: calcular a média de três notas de um aluno e verificar se ele foi aprovado (média ≥ 7). O primeiro programa deve ser desenvolvido utilizando programação estruturada, enquanto o segundo deve ser criado utilizando programação orientada a objetos (POO). Ao final, para o programa em POO, crie o projeto da classe UML.</a:t>
            </a:r>
          </a:p>
          <a:p>
            <a:endParaRPr lang="pt-BR" dirty="0"/>
          </a:p>
          <a:p>
            <a:pPr marL="1028700" lvl="1" indent="-342900">
              <a:buFont typeface="+mj-lt"/>
              <a:buAutoNum type="arabicPeriod"/>
            </a:pPr>
            <a:r>
              <a:rPr lang="pt-BR" dirty="0"/>
              <a:t>Programação Estruturada</a:t>
            </a:r>
          </a:p>
          <a:p>
            <a:pPr marL="1028700" lvl="1" indent="-342900">
              <a:buFont typeface="+mj-lt"/>
              <a:buAutoNum type="arabicPeriod"/>
            </a:pPr>
            <a:r>
              <a:rPr lang="pt-BR" dirty="0"/>
              <a:t>Programação Orientada a Objetos</a:t>
            </a:r>
          </a:p>
          <a:p>
            <a:pPr marL="1028700" lvl="1" indent="-342900">
              <a:buFont typeface="+mj-lt"/>
              <a:buAutoNum type="arabicPeriod"/>
            </a:pPr>
            <a:r>
              <a:rPr lang="pt-BR" dirty="0"/>
              <a:t>Projeto de </a:t>
            </a:r>
            <a:r>
              <a:rPr lang="pt-BR"/>
              <a:t>Classe UML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70198348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2182</TotalTime>
  <Words>2064</Words>
  <Application>Microsoft Office PowerPoint</Application>
  <PresentationFormat>Widescreen</PresentationFormat>
  <Paragraphs>270</Paragraphs>
  <Slides>29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29</vt:i4>
      </vt:variant>
    </vt:vector>
  </HeadingPairs>
  <TitlesOfParts>
    <vt:vector size="35" baseType="lpstr">
      <vt:lpstr>Arial</vt:lpstr>
      <vt:lpstr>Calibri</vt:lpstr>
      <vt:lpstr>Calibri Light</vt:lpstr>
      <vt:lpstr>Consolas</vt:lpstr>
      <vt:lpstr>Times New Roman</vt:lpstr>
      <vt:lpstr>Tema do Office</vt:lpstr>
      <vt:lpstr>Introdução a Programação Orientada a Objetos (POO)</vt:lpstr>
      <vt:lpstr>O que é Programação Orientada a Objetos ?</vt:lpstr>
      <vt:lpstr>Evolução dos Paradigmas de Programação até chegar à POO</vt:lpstr>
      <vt:lpstr>Evolução dos Paradigmas de Programação até chegar à POO</vt:lpstr>
      <vt:lpstr>Evolução dos Paradigmas de Programação até chegar à POO</vt:lpstr>
      <vt:lpstr>Evolução dos Paradigmas de Programação até chegar à POO</vt:lpstr>
      <vt:lpstr>Evolução dos Paradigmas de Programação até chegar à POO</vt:lpstr>
      <vt:lpstr>Programação Estruturada x POO</vt:lpstr>
      <vt:lpstr>O que é um Objeto ?</vt:lpstr>
      <vt:lpstr>O que é uma classe ?</vt:lpstr>
      <vt:lpstr>Classe carro</vt:lpstr>
      <vt:lpstr>Instanciar uma classe</vt:lpstr>
      <vt:lpstr>Comportamento da Classe</vt:lpstr>
      <vt:lpstr>Classes em POO</vt:lpstr>
      <vt:lpstr>Instanciar uma Classe </vt:lpstr>
      <vt:lpstr>Entendo as Classes na Prática</vt:lpstr>
      <vt:lpstr>Resolução utilizando a Programação Estruturada</vt:lpstr>
      <vt:lpstr>Resolução utilizando a Programação Estruturada</vt:lpstr>
      <vt:lpstr>Entendo as Classes na Prática</vt:lpstr>
      <vt:lpstr>Resolução utilizando a Programação Orientada a Objetos</vt:lpstr>
      <vt:lpstr>Resolução utilizando a Programação Orientada a Objetos</vt:lpstr>
      <vt:lpstr>Variáveis x Objetos</vt:lpstr>
      <vt:lpstr>Variáveis x Objetos</vt:lpstr>
      <vt:lpstr>Resolução utilizando a Programação Orientada a Objetos</vt:lpstr>
      <vt:lpstr>Resolução utilizando a Programação Orientada a Objetos</vt:lpstr>
      <vt:lpstr>Resolução utilizando a Programação Orientada a Objetos</vt:lpstr>
      <vt:lpstr>Explicação dos itens dentro da classe</vt:lpstr>
      <vt:lpstr>Projeto da Classe (UML)</vt:lpstr>
      <vt:lpstr>Desafio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Lucas Tadeu Monteiro Guedes Fernandes Salomao</dc:creator>
  <cp:lastModifiedBy>Pedro Miho</cp:lastModifiedBy>
  <cp:revision>161</cp:revision>
  <dcterms:created xsi:type="dcterms:W3CDTF">2024-03-08T12:14:33Z</dcterms:created>
  <dcterms:modified xsi:type="dcterms:W3CDTF">2025-08-04T12:53:16Z</dcterms:modified>
</cp:coreProperties>
</file>