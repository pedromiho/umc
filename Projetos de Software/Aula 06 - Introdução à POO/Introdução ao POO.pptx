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1"/>
  </p:notesMasterIdLst>
  <p:sldIdLst>
    <p:sldId id="256" r:id="rId2"/>
    <p:sldId id="277" r:id="rId3"/>
    <p:sldId id="278" r:id="rId4"/>
    <p:sldId id="282" r:id="rId5"/>
    <p:sldId id="279" r:id="rId6"/>
    <p:sldId id="280" r:id="rId7"/>
    <p:sldId id="281" r:id="rId8"/>
    <p:sldId id="283" r:id="rId9"/>
    <p:sldId id="284" r:id="rId10"/>
    <p:sldId id="285" r:id="rId11"/>
    <p:sldId id="286" r:id="rId12"/>
    <p:sldId id="287" r:id="rId13"/>
    <p:sldId id="288" r:id="rId14"/>
    <p:sldId id="257" r:id="rId15"/>
    <p:sldId id="275" r:id="rId16"/>
    <p:sldId id="258" r:id="rId17"/>
    <p:sldId id="261" r:id="rId18"/>
    <p:sldId id="262" r:id="rId19"/>
    <p:sldId id="276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B8FC8-9D6D-4E3B-ABB7-9EF80D900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400" dirty="0"/>
              <a:t>Introdução a Programação Orientada a Objetos (POO)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3FF3E-842E-4C89-BED7-4C22AAAEF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6059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48A3D-BFC4-4F97-892D-646D424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Programação Orientada a Objetos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EAE2B-99CA-46C5-B263-09E7AB3E2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 Programação Orientada a Objetos (POO) é um </a:t>
            </a:r>
            <a:r>
              <a:rPr lang="pt-BR" b="1" dirty="0"/>
              <a:t>paradigma de programação</a:t>
            </a:r>
            <a:r>
              <a:rPr lang="pt-BR" dirty="0"/>
              <a:t> que organiza o código com base em </a:t>
            </a:r>
            <a:r>
              <a:rPr lang="pt-BR" b="1" dirty="0"/>
              <a:t>objetos</a:t>
            </a:r>
            <a:r>
              <a:rPr lang="pt-BR" dirty="0"/>
              <a:t>, que representam entidades do mundo real ou do sistema.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pPr lvl="1">
              <a:spcBef>
                <a:spcPts val="0"/>
              </a:spcBef>
            </a:pPr>
            <a:r>
              <a:rPr lang="pt-BR" dirty="0"/>
              <a:t>Exemplo do mundo real: um carro pode ser representado como um objeto com </a:t>
            </a:r>
            <a:r>
              <a:rPr lang="pt-BR" b="1" dirty="0"/>
              <a:t>atributos</a:t>
            </a:r>
            <a:r>
              <a:rPr lang="pt-BR" dirty="0"/>
              <a:t> (cor, modelo, ano) e </a:t>
            </a:r>
            <a:r>
              <a:rPr lang="pt-BR" b="1" dirty="0"/>
              <a:t>métodos</a:t>
            </a:r>
            <a:r>
              <a:rPr lang="pt-BR" dirty="0"/>
              <a:t> (acelerar, frear).</a:t>
            </a:r>
          </a:p>
          <a:p>
            <a:pPr lvl="1">
              <a:spcBef>
                <a:spcPts val="0"/>
              </a:spcBef>
            </a:pPr>
            <a:endParaRPr lang="pt-BR" dirty="0"/>
          </a:p>
          <a:p>
            <a:pPr marL="0" lvl="1" indent="0">
              <a:spcBef>
                <a:spcPts val="0"/>
              </a:spcBef>
              <a:buNone/>
            </a:pPr>
            <a:r>
              <a:rPr lang="pt-BR" sz="2000" dirty="0"/>
              <a:t>A </a:t>
            </a:r>
            <a:r>
              <a:rPr lang="pt-BR" sz="2000" b="1" dirty="0"/>
              <a:t>POO serve para organizar o código de forma mais clara, reutilizável e fácil de manter</a:t>
            </a:r>
            <a:r>
              <a:rPr lang="pt-BR" sz="2000" dirty="0"/>
              <a:t>, especialmente em projetos grandes e complexos. Ela permite </a:t>
            </a:r>
            <a:r>
              <a:rPr lang="pt-BR" sz="2000" b="1" dirty="0"/>
              <a:t>simular o mundo real</a:t>
            </a:r>
            <a:r>
              <a:rPr lang="pt-BR" sz="2000" dirty="0"/>
              <a:t>, representando entidades como objetos com características e comportamentos.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396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99A81-B335-4768-A302-E61E4E79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Paradigmas de Programação até chegar à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C8BEDE-0BC5-4C77-AB5E-F544BC1C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Programação de Baixo Nível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Programação de baixo nível é aquela mais próxima do hardware, escrita com instruções que a máquina entende diretamente, como: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Linguagem de Máquina (binário)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Assembly (linguagem de montagem)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Características: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Extremamente rápida e eficiente.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Altamente dependente do processador e da arquitetura.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Difícil de escrever, entender e manter. 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Importância: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Usada para desenvolver sistemas embarcados, drivers, sistemas operacionais.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Base para criação de compiladores e linguagens de alto nível.</a:t>
            </a:r>
          </a:p>
          <a:p>
            <a:pPr marL="1028700" lvl="1" indent="-34290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11353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99A81-B335-4768-A302-E61E4E79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Paradigmas de Programação até chegar à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C8BEDE-0BC5-4C77-AB5E-F544BC1C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Programação Linear ou Sequencial</a:t>
            </a:r>
          </a:p>
          <a:p>
            <a:pPr marL="1028700" lvl="1" indent="-342900"/>
            <a:r>
              <a:rPr lang="pt-BR" b="1" dirty="0"/>
              <a:t>Como funciona?</a:t>
            </a:r>
          </a:p>
          <a:p>
            <a:pPr lvl="2" indent="0">
              <a:buNone/>
            </a:pPr>
            <a:r>
              <a:rPr lang="pt-BR" dirty="0"/>
              <a:t>O código é executado linha por linha, do início ao fim.</a:t>
            </a:r>
          </a:p>
          <a:p>
            <a:pPr marL="1028700" lvl="1" indent="-342900"/>
            <a:r>
              <a:rPr lang="pt-BR" b="1" dirty="0"/>
              <a:t>Quando surgiu?</a:t>
            </a:r>
          </a:p>
          <a:p>
            <a:pPr lvl="2" indent="0">
              <a:buNone/>
            </a:pPr>
            <a:r>
              <a:rPr lang="pt-BR" dirty="0"/>
              <a:t>Nas primeiras linguagens, como Assembly ou BASIC.</a:t>
            </a:r>
          </a:p>
          <a:p>
            <a:pPr marL="1028700" lvl="1" indent="-342900"/>
            <a:r>
              <a:rPr lang="pt-BR" b="1" dirty="0"/>
              <a:t>Problemas: </a:t>
            </a:r>
          </a:p>
          <a:p>
            <a:pPr lvl="2" indent="0">
              <a:buNone/>
            </a:pPr>
            <a:r>
              <a:rPr lang="pt-BR" dirty="0"/>
              <a:t>Dificuldade para reutilizar e manter o código.</a:t>
            </a:r>
          </a:p>
          <a:p>
            <a:pPr lvl="2" indent="0">
              <a:buNone/>
            </a:pPr>
            <a:r>
              <a:rPr lang="pt-BR" dirty="0"/>
              <a:t>Códigos longos, repetitivos e difíceis de testar.</a:t>
            </a:r>
          </a:p>
          <a:p>
            <a:pPr marL="1028700" lvl="1" indent="-342900"/>
            <a:r>
              <a:rPr lang="pt-BR" b="1" dirty="0"/>
              <a:t>Exemplo: </a:t>
            </a:r>
            <a:r>
              <a:rPr lang="pt-BR" dirty="0"/>
              <a:t>Um programa que lê um número, soma com outro e imprime o resultado — tudo feito em sequência.</a:t>
            </a:r>
          </a:p>
        </p:txBody>
      </p:sp>
    </p:spTree>
    <p:extLst>
      <p:ext uri="{BB962C8B-B14F-4D97-AF65-F5344CB8AC3E}">
        <p14:creationId xmlns:p14="http://schemas.microsoft.com/office/powerpoint/2010/main" val="8645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691F5-710B-47A8-8F0C-2568E4A7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Paradigmas de Programação até chegar à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62A89E-06D5-493A-9226-3869B4B78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672666"/>
          </a:xfrm>
        </p:spPr>
        <p:txBody>
          <a:bodyPr/>
          <a:lstStyle/>
          <a:p>
            <a:r>
              <a:rPr lang="pt-BR" b="1" dirty="0"/>
              <a:t>Programação Estruturada</a:t>
            </a:r>
          </a:p>
          <a:p>
            <a:pPr lvl="1"/>
            <a:r>
              <a:rPr lang="pt-BR" b="1" dirty="0"/>
              <a:t>Como funciona? </a:t>
            </a:r>
          </a:p>
          <a:p>
            <a:pPr marL="914400" lvl="2" indent="0">
              <a:buNone/>
            </a:pPr>
            <a:r>
              <a:rPr lang="pt-BR" dirty="0"/>
              <a:t>O código é dividido em blocos lógicos, usando estruturas como </a:t>
            </a: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while</a:t>
            </a:r>
            <a:r>
              <a:rPr lang="pt-BR" dirty="0"/>
              <a:t>, for, e funções.</a:t>
            </a:r>
          </a:p>
          <a:p>
            <a:pPr lvl="1"/>
            <a:r>
              <a:rPr lang="pt-BR" b="1" dirty="0"/>
              <a:t>Exemplos de linguagens: </a:t>
            </a:r>
          </a:p>
          <a:p>
            <a:pPr marL="914400" lvl="2" indent="0">
              <a:buNone/>
            </a:pPr>
            <a:r>
              <a:rPr lang="pt-BR" dirty="0"/>
              <a:t>C, Pascal, Fortran (modernos)</a:t>
            </a:r>
          </a:p>
          <a:p>
            <a:pPr lvl="1"/>
            <a:r>
              <a:rPr lang="pt-BR" b="1" dirty="0"/>
              <a:t>Vantagens: </a:t>
            </a:r>
          </a:p>
          <a:p>
            <a:pPr marL="914400" lvl="2" indent="0">
              <a:buNone/>
            </a:pPr>
            <a:r>
              <a:rPr lang="pt-BR" dirty="0"/>
              <a:t>Melhor organização, reaproveitamento de código com funções, menor repetição.</a:t>
            </a:r>
          </a:p>
          <a:p>
            <a:pPr lvl="1"/>
            <a:r>
              <a:rPr lang="pt-BR" b="1" dirty="0"/>
              <a:t>Limitações:</a:t>
            </a:r>
          </a:p>
          <a:p>
            <a:pPr marL="914400" lvl="2" indent="0">
              <a:buNone/>
            </a:pPr>
            <a:r>
              <a:rPr lang="pt-BR" dirty="0"/>
              <a:t>Dificuldade de representar entidades do mundo real.</a:t>
            </a:r>
          </a:p>
          <a:p>
            <a:pPr marL="914400" lvl="2" indent="0">
              <a:buNone/>
            </a:pPr>
            <a:r>
              <a:rPr lang="pt-BR" dirty="0"/>
              <a:t>À medida que o sistema cresce, aumenta a complexidade de controlar dados espalhados.</a:t>
            </a:r>
          </a:p>
          <a:p>
            <a:pPr lvl="1"/>
            <a:r>
              <a:rPr lang="pt-BR" b="1" dirty="0"/>
              <a:t> Exemplo: </a:t>
            </a:r>
            <a:r>
              <a:rPr lang="pt-BR" dirty="0"/>
              <a:t>um sistema de cadastro com funções </a:t>
            </a:r>
            <a:r>
              <a:rPr lang="pt-BR" dirty="0" err="1"/>
              <a:t>cadastrarCliente</a:t>
            </a:r>
            <a:r>
              <a:rPr lang="pt-BR" dirty="0"/>
              <a:t>(), </a:t>
            </a:r>
            <a:r>
              <a:rPr lang="pt-BR" dirty="0" err="1"/>
              <a:t>exibirClientes</a:t>
            </a:r>
            <a:r>
              <a:rPr lang="pt-BR" dirty="0"/>
              <a:t>(), etc.</a:t>
            </a:r>
          </a:p>
        </p:txBody>
      </p:sp>
    </p:spTree>
    <p:extLst>
      <p:ext uri="{BB962C8B-B14F-4D97-AF65-F5344CB8AC3E}">
        <p14:creationId xmlns:p14="http://schemas.microsoft.com/office/powerpoint/2010/main" val="401000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E6641-2926-4745-8C3A-C057B3E2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Paradigmas de Programação até chegar à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1E8BEA-A9DF-4D70-B0A7-A656BF1D3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Programação Modular</a:t>
            </a:r>
          </a:p>
          <a:p>
            <a:pPr lvl="1"/>
            <a:r>
              <a:rPr lang="pt-BR" b="1" dirty="0"/>
              <a:t>Como funciona?</a:t>
            </a:r>
            <a:endParaRPr lang="pt-BR" dirty="0"/>
          </a:p>
          <a:p>
            <a:pPr marL="914400" lvl="2" indent="0">
              <a:buNone/>
            </a:pPr>
            <a:r>
              <a:rPr lang="pt-BR" dirty="0"/>
              <a:t>A lógica é dividida em </a:t>
            </a:r>
            <a:r>
              <a:rPr lang="pt-BR" b="1" dirty="0"/>
              <a:t>módulos independentes</a:t>
            </a:r>
            <a:r>
              <a:rPr lang="pt-BR" dirty="0"/>
              <a:t>, agrupando funções e dados relacionados.</a:t>
            </a:r>
          </a:p>
          <a:p>
            <a:pPr lvl="1"/>
            <a:r>
              <a:rPr lang="pt-BR" b="1" dirty="0"/>
              <a:t>Objetivo:</a:t>
            </a:r>
            <a:endParaRPr lang="pt-BR" dirty="0"/>
          </a:p>
          <a:p>
            <a:pPr marL="914400" lvl="2" indent="0">
              <a:buNone/>
            </a:pPr>
            <a:r>
              <a:rPr lang="pt-BR" dirty="0"/>
              <a:t>Aumentar a </a:t>
            </a:r>
            <a:r>
              <a:rPr lang="pt-BR" b="1" dirty="0"/>
              <a:t>separação de responsabilidades</a:t>
            </a:r>
            <a:r>
              <a:rPr lang="pt-BR" dirty="0"/>
              <a:t> e facilitar a </a:t>
            </a:r>
            <a:r>
              <a:rPr lang="pt-BR" b="1" dirty="0"/>
              <a:t>manutenção</a:t>
            </a:r>
            <a:r>
              <a:rPr lang="pt-BR" dirty="0"/>
              <a:t>.</a:t>
            </a:r>
          </a:p>
          <a:p>
            <a:pPr lvl="1"/>
            <a:r>
              <a:rPr lang="pt-BR" b="1" dirty="0"/>
              <a:t>Ainda não há objetos</a:t>
            </a:r>
            <a:r>
              <a:rPr lang="pt-BR" dirty="0"/>
              <a:t>, mas é um passo importante para chegar lá.</a:t>
            </a:r>
          </a:p>
          <a:p>
            <a:pPr lvl="1"/>
            <a:r>
              <a:rPr lang="pt-BR" b="1" dirty="0"/>
              <a:t>Limitações:</a:t>
            </a:r>
            <a:endParaRPr lang="pt-BR" dirty="0"/>
          </a:p>
          <a:p>
            <a:pPr marL="914400" lvl="2" indent="0">
              <a:buNone/>
            </a:pPr>
            <a:r>
              <a:rPr lang="pt-BR" dirty="0"/>
              <a:t>Os dados ainda ficam separados do comportamento (sem encapsulamento real).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7342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24446-0618-4C98-ABC0-6F464C3A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Paradigmas de Programação até chegar à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D376ED-464B-44E6-BAA6-F6103B428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Programação Orientada a Objetos (POO)</a:t>
            </a:r>
          </a:p>
          <a:p>
            <a:pPr marL="1028700" lvl="1" indent="-342900"/>
            <a:r>
              <a:rPr lang="pt-BR" b="1" dirty="0"/>
              <a:t>Como funciona?</a:t>
            </a:r>
          </a:p>
          <a:p>
            <a:pPr lvl="2" indent="0">
              <a:buNone/>
            </a:pPr>
            <a:r>
              <a:rPr lang="pt-BR" dirty="0"/>
              <a:t>Une </a:t>
            </a:r>
            <a:r>
              <a:rPr lang="pt-BR" b="1" dirty="0"/>
              <a:t>dados (atributos)</a:t>
            </a:r>
            <a:r>
              <a:rPr lang="pt-BR" dirty="0"/>
              <a:t> e </a:t>
            </a:r>
            <a:r>
              <a:rPr lang="pt-BR" b="1" dirty="0"/>
              <a:t>comportamentos (métodos)</a:t>
            </a:r>
            <a:r>
              <a:rPr lang="pt-BR" dirty="0"/>
              <a:t> em uma mesma unidade: o </a:t>
            </a:r>
            <a:r>
              <a:rPr lang="pt-BR" b="1" dirty="0"/>
              <a:t>objeto</a:t>
            </a:r>
            <a:r>
              <a:rPr lang="pt-BR" dirty="0"/>
              <a:t>.</a:t>
            </a:r>
          </a:p>
          <a:p>
            <a:pPr marL="1028700" lvl="1" indent="-342900"/>
            <a:r>
              <a:rPr lang="pt-BR" b="1" dirty="0"/>
              <a:t>Objetivo:</a:t>
            </a:r>
          </a:p>
          <a:p>
            <a:pPr lvl="2" indent="0">
              <a:buNone/>
            </a:pPr>
            <a:r>
              <a:rPr lang="pt-BR" dirty="0"/>
              <a:t>Tornar o código mais próximo do mundo real e mais fácil de </a:t>
            </a:r>
            <a:r>
              <a:rPr lang="pt-BR" b="1" dirty="0"/>
              <a:t>manter, escalar e testar</a:t>
            </a:r>
            <a:r>
              <a:rPr lang="pt-BR" dirty="0"/>
              <a:t>.</a:t>
            </a:r>
          </a:p>
          <a:p>
            <a:pPr marL="1028700" lvl="1" indent="-342900"/>
            <a:r>
              <a:rPr lang="pt-BR" b="1" dirty="0"/>
              <a:t>Exemplos de linguagens:</a:t>
            </a:r>
            <a:r>
              <a:rPr lang="pt-BR" dirty="0"/>
              <a:t> </a:t>
            </a:r>
          </a:p>
          <a:p>
            <a:pPr lvl="2" indent="0">
              <a:buNone/>
            </a:pPr>
            <a:r>
              <a:rPr lang="pt-BR" b="1" dirty="0"/>
              <a:t>Java, C++, Python, C#, Ruby, </a:t>
            </a:r>
            <a:r>
              <a:rPr lang="pt-BR" b="1" dirty="0" err="1"/>
              <a:t>Kotlin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704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2E481-D87F-4579-8D5B-78E0CDC0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Estruturada x POO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A7C769D-89CF-4884-852B-112CB6C8F52D}"/>
              </a:ext>
            </a:extLst>
          </p:cNvPr>
          <p:cNvSpPr/>
          <p:nvPr/>
        </p:nvSpPr>
        <p:spPr>
          <a:xfrm>
            <a:off x="749185" y="2752164"/>
            <a:ext cx="2339788" cy="3361765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Globais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671FA11-0933-4B6A-8FF4-2104CF4A5ED7}"/>
              </a:ext>
            </a:extLst>
          </p:cNvPr>
          <p:cNvSpPr/>
          <p:nvPr/>
        </p:nvSpPr>
        <p:spPr>
          <a:xfrm>
            <a:off x="3644785" y="2752164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3BDC205-D003-4EF1-8568-C6011DDCAADB}"/>
              </a:ext>
            </a:extLst>
          </p:cNvPr>
          <p:cNvSpPr/>
          <p:nvPr/>
        </p:nvSpPr>
        <p:spPr>
          <a:xfrm>
            <a:off x="3644785" y="3723228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EEBDFF2-AE4E-4B40-B059-809D6AEB9624}"/>
              </a:ext>
            </a:extLst>
          </p:cNvPr>
          <p:cNvSpPr/>
          <p:nvPr/>
        </p:nvSpPr>
        <p:spPr>
          <a:xfrm>
            <a:off x="3644785" y="4694292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6183C6-AB7A-4CE0-8506-EB63523E96B2}"/>
              </a:ext>
            </a:extLst>
          </p:cNvPr>
          <p:cNvSpPr/>
          <p:nvPr/>
        </p:nvSpPr>
        <p:spPr>
          <a:xfrm>
            <a:off x="3644785" y="5665355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715831DB-42DA-4D29-9C10-3F334FB87BBF}"/>
              </a:ext>
            </a:extLst>
          </p:cNvPr>
          <p:cNvCxnSpPr>
            <a:cxnSpLocks/>
            <a:stCxn id="5" idx="1"/>
            <a:endCxn id="8" idx="1"/>
          </p:cNvCxnSpPr>
          <p:nvPr/>
        </p:nvCxnSpPr>
        <p:spPr>
          <a:xfrm rot="10800000" flipV="1">
            <a:off x="3644785" y="2976450"/>
            <a:ext cx="12700" cy="2913191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AA2679A-C0B0-4A06-8CC1-10DF8CBC222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088973" y="4433047"/>
            <a:ext cx="32732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45396A5F-F7FD-406E-B65D-FBE7BE79728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416300" y="3947515"/>
            <a:ext cx="228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FA6D84F-EBA3-4CA5-BC41-505BB51678F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416300" y="4918579"/>
            <a:ext cx="228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971E83D-E347-4A8D-85C1-B6242E369739}"/>
              </a:ext>
            </a:extLst>
          </p:cNvPr>
          <p:cNvSpPr/>
          <p:nvPr/>
        </p:nvSpPr>
        <p:spPr>
          <a:xfrm>
            <a:off x="6426085" y="2752165"/>
            <a:ext cx="2339788" cy="1419638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do Objeto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19A57736-344E-463F-B2A4-E761CF84058A}"/>
              </a:ext>
            </a:extLst>
          </p:cNvPr>
          <p:cNvSpPr/>
          <p:nvPr/>
        </p:nvSpPr>
        <p:spPr>
          <a:xfrm>
            <a:off x="9321685" y="2752164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4D358A1-A572-4FE2-864D-63954C0158D9}"/>
              </a:ext>
            </a:extLst>
          </p:cNvPr>
          <p:cNvSpPr/>
          <p:nvPr/>
        </p:nvSpPr>
        <p:spPr>
          <a:xfrm>
            <a:off x="9321685" y="3723228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8F6C8F6E-5BFB-4812-9CAF-D764B222228C}"/>
              </a:ext>
            </a:extLst>
          </p:cNvPr>
          <p:cNvCxnSpPr>
            <a:cxnSpLocks/>
            <a:stCxn id="29" idx="1"/>
            <a:endCxn id="30" idx="1"/>
          </p:cNvCxnSpPr>
          <p:nvPr/>
        </p:nvCxnSpPr>
        <p:spPr>
          <a:xfrm rot="10800000" flipV="1">
            <a:off x="9321685" y="2976451"/>
            <a:ext cx="12700" cy="971064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FE79077-A1C1-4DCC-8B18-96958E46FA1E}"/>
              </a:ext>
            </a:extLst>
          </p:cNvPr>
          <p:cNvCxnSpPr>
            <a:cxnSpLocks/>
          </p:cNvCxnSpPr>
          <p:nvPr/>
        </p:nvCxnSpPr>
        <p:spPr>
          <a:xfrm>
            <a:off x="8748092" y="3461983"/>
            <a:ext cx="3451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3007219-22A7-4373-9742-33961F90135F}"/>
              </a:ext>
            </a:extLst>
          </p:cNvPr>
          <p:cNvSpPr/>
          <p:nvPr/>
        </p:nvSpPr>
        <p:spPr>
          <a:xfrm>
            <a:off x="6426085" y="4694292"/>
            <a:ext cx="2339788" cy="1419638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do Objeto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EE8F233F-7A3C-4376-AB3A-C70E7113C172}"/>
              </a:ext>
            </a:extLst>
          </p:cNvPr>
          <p:cNvSpPr/>
          <p:nvPr/>
        </p:nvSpPr>
        <p:spPr>
          <a:xfrm>
            <a:off x="9321685" y="4694291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28B848E6-844A-4A81-AD20-3591243DC287}"/>
              </a:ext>
            </a:extLst>
          </p:cNvPr>
          <p:cNvSpPr/>
          <p:nvPr/>
        </p:nvSpPr>
        <p:spPr>
          <a:xfrm>
            <a:off x="9321685" y="5665355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D12A4591-91E7-44A1-BACC-4FD74DADDF76}"/>
              </a:ext>
            </a:extLst>
          </p:cNvPr>
          <p:cNvCxnSpPr>
            <a:cxnSpLocks/>
            <a:stCxn id="42" idx="1"/>
            <a:endCxn id="43" idx="1"/>
          </p:cNvCxnSpPr>
          <p:nvPr/>
        </p:nvCxnSpPr>
        <p:spPr>
          <a:xfrm rot="10800000" flipV="1">
            <a:off x="9321685" y="4918578"/>
            <a:ext cx="12700" cy="971064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88705664-274B-45FF-BFAA-0922C8FFC1CE}"/>
              </a:ext>
            </a:extLst>
          </p:cNvPr>
          <p:cNvCxnSpPr>
            <a:cxnSpLocks/>
          </p:cNvCxnSpPr>
          <p:nvPr/>
        </p:nvCxnSpPr>
        <p:spPr>
          <a:xfrm>
            <a:off x="8748092" y="5404110"/>
            <a:ext cx="3451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49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3D7B6-7CB9-44D6-AA45-DDE53F87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Objeto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7BEF7-449C-4425-8473-5A0442F2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670050"/>
          </a:xfrm>
        </p:spPr>
        <p:txBody>
          <a:bodyPr/>
          <a:lstStyle/>
          <a:p>
            <a:r>
              <a:rPr lang="pt-BR" dirty="0"/>
              <a:t>Um </a:t>
            </a:r>
            <a:r>
              <a:rPr lang="pt-BR" b="1" dirty="0"/>
              <a:t>objeto</a:t>
            </a:r>
            <a:r>
              <a:rPr lang="pt-BR" dirty="0"/>
              <a:t>, em tecnologia e programação (especialmente na Programação Orientada a Objetos – POO), é uma </a:t>
            </a:r>
            <a:r>
              <a:rPr lang="pt-BR" b="1" dirty="0"/>
              <a:t>estrutura que representa uma entidade do mundo real</a:t>
            </a:r>
            <a:r>
              <a:rPr lang="pt-BR" dirty="0"/>
              <a:t> com suas </a:t>
            </a:r>
            <a:r>
              <a:rPr lang="pt-BR" b="1" dirty="0"/>
              <a:t>características (atributos)</a:t>
            </a:r>
            <a:r>
              <a:rPr lang="pt-BR" dirty="0"/>
              <a:t> e </a:t>
            </a:r>
            <a:r>
              <a:rPr lang="pt-BR" b="1" dirty="0"/>
              <a:t>ações (métodos)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3074" name="Picture 2" descr="Top 10 Melhores Carros Populares (Chevrolet e mais) | mybest">
            <a:extLst>
              <a:ext uri="{FF2B5EF4-FFF2-40B4-BE49-F238E27FC236}">
                <a16:creationId xmlns:a16="http://schemas.microsoft.com/office/drawing/2014/main" id="{CDBD4FFA-FC0A-4B02-B50E-CDDD02DDF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18" y="3781159"/>
            <a:ext cx="3486150" cy="22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CCBFED5-D431-4134-9AF2-A709C08B72AC}"/>
              </a:ext>
            </a:extLst>
          </p:cNvPr>
          <p:cNvSpPr/>
          <p:nvPr/>
        </p:nvSpPr>
        <p:spPr>
          <a:xfrm>
            <a:off x="5756786" y="3781158"/>
            <a:ext cx="2082289" cy="1305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F71735-16A2-48E7-8198-80F18A3B09C4}"/>
              </a:ext>
            </a:extLst>
          </p:cNvPr>
          <p:cNvSpPr/>
          <p:nvPr/>
        </p:nvSpPr>
        <p:spPr>
          <a:xfrm>
            <a:off x="8974393" y="3781158"/>
            <a:ext cx="2082289" cy="102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Ações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Andar()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Frear()</a:t>
            </a:r>
          </a:p>
        </p:txBody>
      </p:sp>
    </p:spTree>
    <p:extLst>
      <p:ext uri="{BB962C8B-B14F-4D97-AF65-F5344CB8AC3E}">
        <p14:creationId xmlns:p14="http://schemas.microsoft.com/office/powerpoint/2010/main" val="140663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408E1-F298-47F9-A295-107D46AE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classe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AC729-3129-4C09-AC00-0772392D4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41400"/>
          </a:xfrm>
        </p:spPr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classe</a:t>
            </a:r>
            <a:r>
              <a:rPr lang="pt-BR" dirty="0"/>
              <a:t> é um </a:t>
            </a:r>
            <a:r>
              <a:rPr lang="pt-BR" b="1" dirty="0"/>
              <a:t>molde</a:t>
            </a:r>
            <a:r>
              <a:rPr lang="pt-BR" dirty="0"/>
              <a:t> (ou </a:t>
            </a:r>
            <a:r>
              <a:rPr lang="pt-BR" b="1" dirty="0"/>
              <a:t>modelo</a:t>
            </a:r>
            <a:r>
              <a:rPr lang="pt-BR" dirty="0"/>
              <a:t>) que define como serão os objetos.</a:t>
            </a:r>
            <a:br>
              <a:rPr lang="pt-BR" dirty="0"/>
            </a:br>
            <a:r>
              <a:rPr lang="pt-BR" dirty="0"/>
              <a:t>Ela </a:t>
            </a:r>
            <a:r>
              <a:rPr lang="pt-BR" b="1" dirty="0"/>
              <a:t>organiza e agrupa dados (atributos)</a:t>
            </a:r>
            <a:r>
              <a:rPr lang="pt-BR" dirty="0"/>
              <a:t> e </a:t>
            </a:r>
            <a:r>
              <a:rPr lang="pt-BR" b="1" dirty="0"/>
              <a:t>ações (métodos)</a:t>
            </a:r>
            <a:r>
              <a:rPr lang="pt-BR" dirty="0"/>
              <a:t> relacionados a um tipo de entidade.</a:t>
            </a:r>
          </a:p>
        </p:txBody>
      </p:sp>
      <p:pic>
        <p:nvPicPr>
          <p:cNvPr id="5122" name="Picture 2" descr="Top 10 Melhores Carros Populares (Chevrolet e mais) | mybest">
            <a:extLst>
              <a:ext uri="{FF2B5EF4-FFF2-40B4-BE49-F238E27FC236}">
                <a16:creationId xmlns:a16="http://schemas.microsoft.com/office/drawing/2014/main" id="{5FFEC15B-86EA-4974-AFDE-F6A28D144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3" y="3668882"/>
            <a:ext cx="2823882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52DC6A-C6F6-456F-A00B-E4BE32EA0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68" y="3686174"/>
            <a:ext cx="2712373" cy="1498943"/>
          </a:xfrm>
          <a:prstGeom prst="rect">
            <a:avLst/>
          </a:prstGeom>
        </p:spPr>
      </p:pic>
      <p:pic>
        <p:nvPicPr>
          <p:cNvPr id="5124" name="Picture 4" descr="Polo lidera vendas de hatches compactos em janeiro com Onix no retrovisor -  Revista Carro">
            <a:extLst>
              <a:ext uri="{FF2B5EF4-FFF2-40B4-BE49-F238E27FC236}">
                <a16:creationId xmlns:a16="http://schemas.microsoft.com/office/drawing/2014/main" id="{0080B205-E415-4CD4-ABD3-2B897D89D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384" y="3668856"/>
            <a:ext cx="2695575" cy="151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43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80212-6C21-4A3A-B48C-8AE46322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carro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FA00C-4790-4B41-BA48-4FCBB1C2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331953" cy="4351338"/>
          </a:xfrm>
        </p:spPr>
        <p:txBody>
          <a:bodyPr/>
          <a:lstStyle/>
          <a:p>
            <a:r>
              <a:rPr lang="pt-BR" b="1" dirty="0"/>
              <a:t>Características</a:t>
            </a:r>
            <a:r>
              <a:rPr lang="pt-BR" dirty="0"/>
              <a:t> </a:t>
            </a:r>
            <a:r>
              <a:rPr lang="pt-BR" b="1" dirty="0"/>
              <a:t>(Atributos)</a:t>
            </a:r>
          </a:p>
          <a:p>
            <a:pPr lvl="1" indent="0">
              <a:buNone/>
            </a:pPr>
            <a:r>
              <a:rPr lang="pt-BR" dirty="0"/>
              <a:t>Cor </a:t>
            </a:r>
          </a:p>
          <a:p>
            <a:pPr lvl="1" indent="0">
              <a:buNone/>
            </a:pPr>
            <a:r>
              <a:rPr lang="pt-BR" dirty="0"/>
              <a:t>Modelo </a:t>
            </a:r>
          </a:p>
          <a:p>
            <a:pPr lvl="1" indent="0">
              <a:buNone/>
            </a:pPr>
            <a:r>
              <a:rPr lang="pt-BR" dirty="0"/>
              <a:t>Motor  </a:t>
            </a:r>
          </a:p>
          <a:p>
            <a:pPr marL="0" lvl="1" indent="0">
              <a:buNone/>
            </a:pPr>
            <a:r>
              <a:rPr lang="pt-BR" sz="2000" b="1" dirty="0"/>
              <a:t>Comportamentos (Métodos) </a:t>
            </a:r>
          </a:p>
          <a:p>
            <a:pPr lvl="1" indent="0">
              <a:buNone/>
            </a:pPr>
            <a:r>
              <a:rPr lang="pt-BR" dirty="0"/>
              <a:t>Andar()</a:t>
            </a:r>
          </a:p>
          <a:p>
            <a:pPr lvl="1" indent="0">
              <a:buNone/>
            </a:pPr>
            <a:r>
              <a:rPr lang="pt-BR" dirty="0"/>
              <a:t>Frear()</a:t>
            </a:r>
          </a:p>
          <a:p>
            <a:pPr lvl="1" indent="0">
              <a:buNone/>
            </a:pPr>
            <a:r>
              <a:rPr lang="pt-BR" dirty="0"/>
              <a:t> </a:t>
            </a:r>
          </a:p>
          <a:p>
            <a:pPr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447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5884C-9DB6-4490-AF46-5B44B34E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Instanciar uma classe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7E52D3A-8200-4B45-96CE-887FD0856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474828" cy="4351338"/>
          </a:xfrm>
        </p:spPr>
        <p:txBody>
          <a:bodyPr/>
          <a:lstStyle/>
          <a:p>
            <a:r>
              <a:rPr lang="pt-BR" b="1" dirty="0"/>
              <a:t>Características</a:t>
            </a:r>
            <a:r>
              <a:rPr lang="pt-BR" dirty="0"/>
              <a:t> </a:t>
            </a:r>
            <a:r>
              <a:rPr lang="pt-BR" b="1" dirty="0"/>
              <a:t>(Atributos)</a:t>
            </a:r>
          </a:p>
          <a:p>
            <a:pPr lvl="1" indent="0">
              <a:buNone/>
            </a:pPr>
            <a:r>
              <a:rPr lang="pt-BR" dirty="0"/>
              <a:t>Cor - Branco</a:t>
            </a:r>
          </a:p>
          <a:p>
            <a:pPr lvl="1" indent="0">
              <a:buNone/>
            </a:pPr>
            <a:r>
              <a:rPr lang="pt-BR" dirty="0"/>
              <a:t>Modelo - Polo</a:t>
            </a:r>
          </a:p>
          <a:p>
            <a:pPr lvl="1" indent="0">
              <a:buNone/>
            </a:pPr>
            <a:r>
              <a:rPr lang="pt-BR" dirty="0"/>
              <a:t>Motor  - 1.0 Turbo</a:t>
            </a:r>
          </a:p>
          <a:p>
            <a:pPr marL="0" lvl="1" indent="0">
              <a:buNone/>
            </a:pPr>
            <a:r>
              <a:rPr lang="pt-BR" sz="2000" b="1" dirty="0"/>
              <a:t>Comportamentos (Métodos) </a:t>
            </a:r>
          </a:p>
          <a:p>
            <a:pPr lvl="1" indent="0">
              <a:buNone/>
            </a:pPr>
            <a:r>
              <a:rPr lang="pt-BR" dirty="0"/>
              <a:t>Andar()</a:t>
            </a:r>
          </a:p>
          <a:p>
            <a:pPr lvl="1" indent="0">
              <a:buNone/>
            </a:pPr>
            <a:r>
              <a:rPr lang="pt-BR" dirty="0"/>
              <a:t>Frear()</a:t>
            </a:r>
          </a:p>
          <a:p>
            <a:pPr lvl="1" indent="0">
              <a:buNone/>
            </a:pPr>
            <a:r>
              <a:rPr lang="pt-BR" dirty="0"/>
              <a:t> </a:t>
            </a:r>
          </a:p>
          <a:p>
            <a:pPr lvl="1" indent="0">
              <a:buNone/>
            </a:pPr>
            <a:endParaRPr lang="pt-BR" dirty="0"/>
          </a:p>
        </p:txBody>
      </p:sp>
      <p:pic>
        <p:nvPicPr>
          <p:cNvPr id="6148" name="Picture 4" descr="VW Polo GTS 2021 com rodas de 18 polegadas vale a compra? - Revista  Fullpower | Notícias sobre carros, acessórios e customizações">
            <a:extLst>
              <a:ext uri="{FF2B5EF4-FFF2-40B4-BE49-F238E27FC236}">
                <a16:creationId xmlns:a16="http://schemas.microsoft.com/office/drawing/2014/main" id="{60C3299C-E556-4BA3-A6E8-67A5A150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339" y="2714625"/>
            <a:ext cx="4565314" cy="256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4A08249-01E3-4B89-979B-01FDFB6BA898}"/>
              </a:ext>
            </a:extLst>
          </p:cNvPr>
          <p:cNvCxnSpPr>
            <a:cxnSpLocks/>
          </p:cNvCxnSpPr>
          <p:nvPr/>
        </p:nvCxnSpPr>
        <p:spPr>
          <a:xfrm>
            <a:off x="4181475" y="4020344"/>
            <a:ext cx="27385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E70FAB87-53DE-4D5C-95D7-30FAD3A5CF55}"/>
              </a:ext>
            </a:extLst>
          </p:cNvPr>
          <p:cNvSpPr/>
          <p:nvPr/>
        </p:nvSpPr>
        <p:spPr>
          <a:xfrm>
            <a:off x="5001055" y="3330059"/>
            <a:ext cx="1099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Instanciar</a:t>
            </a:r>
          </a:p>
        </p:txBody>
      </p:sp>
    </p:spTree>
    <p:extLst>
      <p:ext uri="{BB962C8B-B14F-4D97-AF65-F5344CB8AC3E}">
        <p14:creationId xmlns:p14="http://schemas.microsoft.com/office/powerpoint/2010/main" val="252070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FC94F-F8C3-47D9-B2D6-5911FDFD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Comportamento da Classe</a:t>
            </a:r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0E79E216-A075-4C96-A3A3-9790A347A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74" y="2915444"/>
            <a:ext cx="3347295" cy="2799556"/>
          </a:xfr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62984C7-7551-47DA-AD2B-48DB2C3B3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2915444"/>
            <a:ext cx="3829050" cy="2799556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18A26949-B5AC-4FA8-92FA-00DB8B80A977}"/>
              </a:ext>
            </a:extLst>
          </p:cNvPr>
          <p:cNvSpPr txBox="1"/>
          <p:nvPr/>
        </p:nvSpPr>
        <p:spPr>
          <a:xfrm>
            <a:off x="2843213" y="2400300"/>
            <a:ext cx="96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Andar()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D946682-214A-4D7C-A6C0-6E6088DBFFB8}"/>
              </a:ext>
            </a:extLst>
          </p:cNvPr>
          <p:cNvSpPr txBox="1"/>
          <p:nvPr/>
        </p:nvSpPr>
        <p:spPr>
          <a:xfrm>
            <a:off x="8768394" y="2372519"/>
            <a:ext cx="879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Frear()</a:t>
            </a:r>
          </a:p>
        </p:txBody>
      </p:sp>
    </p:spTree>
    <p:extLst>
      <p:ext uri="{BB962C8B-B14F-4D97-AF65-F5344CB8AC3E}">
        <p14:creationId xmlns:p14="http://schemas.microsoft.com/office/powerpoint/2010/main" val="2483007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E4B8D-53F6-4AF5-8E4A-1C3E27B7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em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798C3C-991D-4DEB-B91B-2811E51F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Uma classe em Java é um modelo ou estrutura que define as propriedades (atributos) e comportamentos (métodos) de um objeto, funcionando como um molde para criar instâncias (objetos) no programa.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336A81-7BAA-4782-85A8-0434B4D5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82" y="3318164"/>
            <a:ext cx="10067636" cy="155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0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9DDAA-F296-4CE9-B774-48D70774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Instanciar uma Classe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FE15C-0BB0-485F-AA5F-9038D08C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sz="1800" dirty="0"/>
              <a:t>Instanciar uma classe significa criar um objeto a partir de uma classe. Em Java, isso é feito utilizando a palavra-chave new, seguida pelo nome da classe e seus parâmetros, caso existam. Quando um objeto é instanciado, ele tem sua própria cópia dos atributos e pode acessar os métodos definidos na classe.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1BDFC5-7154-474C-9438-41994DB22B53}"/>
              </a:ext>
            </a:extLst>
          </p:cNvPr>
          <p:cNvSpPr txBox="1"/>
          <p:nvPr/>
        </p:nvSpPr>
        <p:spPr>
          <a:xfrm>
            <a:off x="592347" y="4959927"/>
            <a:ext cx="8939580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NomeDaClasse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É o nome da classe que você deseja instanciar.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nomeDoObjeto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É o nome da variável que irá referenciar o objeto criado.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new: Palavras-chave usada para criar uma nova instância da classe.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NomeDaClasse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Chamada ao construtor da classe (se houver) para inicializar o objeto.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6DD26F1-C1AE-4BD5-8729-399B847A9B4F}"/>
              </a:ext>
            </a:extLst>
          </p:cNvPr>
          <p:cNvSpPr/>
          <p:nvPr/>
        </p:nvSpPr>
        <p:spPr>
          <a:xfrm>
            <a:off x="3027692" y="3640465"/>
            <a:ext cx="6136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NomeDaClasse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nomeDoObjeto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NomeDaClasse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428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BB48F-18EA-4DB0-8E9A-B1017EF4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Entendo as Classes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05951-202C-47B4-B423-DE67118B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577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/>
              <a:t>Desafio: Comparando Gastos Mensais – Estruturada </a:t>
            </a:r>
            <a:r>
              <a:rPr lang="pt-BR" b="1" dirty="0" err="1"/>
              <a:t>vs</a:t>
            </a:r>
            <a:r>
              <a:rPr lang="pt-BR" b="1" dirty="0"/>
              <a:t> Orientada a Objetos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Você deseja comparar os gastos de dois meses (Janeiro e Fevereiro) com Alimentação, Luz e Água. O objetivo é identificar qual mês teve o maior gasto total.</a:t>
            </a:r>
          </a:p>
          <a:p>
            <a:pPr marL="971550" lvl="1" indent="-285750">
              <a:spcBef>
                <a:spcPts val="0"/>
              </a:spcBef>
            </a:pPr>
            <a:r>
              <a:rPr lang="pt-BR" b="1" dirty="0"/>
              <a:t>Programação Estruturada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Crie um programa onde você armazena os valores gastos com </a:t>
            </a:r>
            <a:r>
              <a:rPr lang="pt-BR" b="1" dirty="0"/>
              <a:t>Alimentação</a:t>
            </a:r>
            <a:r>
              <a:rPr lang="pt-BR" dirty="0"/>
              <a:t>, </a:t>
            </a:r>
            <a:r>
              <a:rPr lang="pt-BR" b="1" dirty="0"/>
              <a:t>Luz</a:t>
            </a:r>
            <a:r>
              <a:rPr lang="pt-BR" dirty="0"/>
              <a:t> e </a:t>
            </a:r>
            <a:r>
              <a:rPr lang="pt-BR" b="1" dirty="0"/>
              <a:t>Água</a:t>
            </a:r>
            <a:r>
              <a:rPr lang="pt-BR" dirty="0"/>
              <a:t> para os meses de Janeiro e Fevereiro em variáveis separadas. Em seguida, calcule a soma total dos gastos de cada mês e compare os resultados para identificar qual mês apresentou o maior gasto total.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98319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Estruturada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Importar o Scanner e declarar as variáveis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9D726E2-45A4-46EC-ACAD-1C5853FD0F3B}"/>
              </a:ext>
            </a:extLst>
          </p:cNvPr>
          <p:cNvSpPr/>
          <p:nvPr/>
        </p:nvSpPr>
        <p:spPr>
          <a:xfrm>
            <a:off x="1842654" y="2564971"/>
            <a:ext cx="8506692" cy="636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E3DE0DC-F12F-4A35-856E-E4A3D6B03F64}"/>
              </a:ext>
            </a:extLst>
          </p:cNvPr>
          <p:cNvSpPr txBox="1">
            <a:spLocks/>
          </p:cNvSpPr>
          <p:nvPr/>
        </p:nvSpPr>
        <p:spPr>
          <a:xfrm>
            <a:off x="592347" y="3281432"/>
            <a:ext cx="11007306" cy="6399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Atribuir os valores as variáveis, a partir da entra de dados do usuário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CA5BD7F-F2E5-425C-8E29-7C2BD56FC1FD}"/>
              </a:ext>
            </a:extLst>
          </p:cNvPr>
          <p:cNvSpPr/>
          <p:nvPr/>
        </p:nvSpPr>
        <p:spPr>
          <a:xfrm>
            <a:off x="3062114" y="4001729"/>
            <a:ext cx="6067772" cy="2421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0657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Estruturada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pt-BR" dirty="0"/>
              <a:t>Somar os gastos no meses de Janeiro e Fevereiro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E3DE0DC-F12F-4A35-856E-E4A3D6B03F64}"/>
              </a:ext>
            </a:extLst>
          </p:cNvPr>
          <p:cNvSpPr txBox="1">
            <a:spLocks/>
          </p:cNvSpPr>
          <p:nvPr/>
        </p:nvSpPr>
        <p:spPr>
          <a:xfrm>
            <a:off x="592347" y="3186812"/>
            <a:ext cx="11007306" cy="6399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pt-BR" dirty="0"/>
              <a:t>Comparar os meses que tiveram maior gasto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E3F455-139F-4885-B0FC-3B384E3C8A76}"/>
              </a:ext>
            </a:extLst>
          </p:cNvPr>
          <p:cNvSpPr/>
          <p:nvPr/>
        </p:nvSpPr>
        <p:spPr>
          <a:xfrm>
            <a:off x="3249021" y="2517661"/>
            <a:ext cx="5693959" cy="636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F572520-6574-48C4-A192-6EF14F3CE69E}"/>
              </a:ext>
            </a:extLst>
          </p:cNvPr>
          <p:cNvSpPr/>
          <p:nvPr/>
        </p:nvSpPr>
        <p:spPr>
          <a:xfrm>
            <a:off x="1828800" y="3826719"/>
            <a:ext cx="8534400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Janeiro é maior do que a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Fevereiro é maior do que a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"Ambas as contas possuem o mesmo valor"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13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BB48F-18EA-4DB0-8E9A-B1017EF4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Entendo as Classes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05951-202C-47B4-B423-DE67118B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577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/>
              <a:t>Desafio: Comparando Gastos Mensais – Estruturada </a:t>
            </a:r>
            <a:r>
              <a:rPr lang="pt-BR" b="1" dirty="0" err="1"/>
              <a:t>vs</a:t>
            </a:r>
            <a:r>
              <a:rPr lang="pt-BR" b="1" dirty="0"/>
              <a:t> Orientada a Objetos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Você deseja comparar os gastos de dois meses (Janeiro e Fevereiro) com Alimentação, Luz e Água. O objetivo é identificar qual mês teve o maior gasto total.</a:t>
            </a:r>
          </a:p>
          <a:p>
            <a:pPr marL="971550" lvl="1" indent="-285750">
              <a:spcBef>
                <a:spcPts val="0"/>
              </a:spcBef>
            </a:pPr>
            <a:r>
              <a:rPr lang="pt-BR" b="1" dirty="0"/>
              <a:t>Programação Orientada a Objetos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 Crie um programa onde você implemente uma classe chamada </a:t>
            </a:r>
            <a:r>
              <a:rPr lang="pt-BR" dirty="0" err="1"/>
              <a:t>Mes</a:t>
            </a:r>
            <a:r>
              <a:rPr lang="pt-BR" dirty="0"/>
              <a:t> com atributos para armazenar os gastos de </a:t>
            </a:r>
            <a:r>
              <a:rPr lang="pt-BR" b="1" dirty="0"/>
              <a:t>Alimentação</a:t>
            </a:r>
            <a:r>
              <a:rPr lang="pt-BR" dirty="0"/>
              <a:t>, </a:t>
            </a:r>
            <a:r>
              <a:rPr lang="pt-BR" b="1" dirty="0"/>
              <a:t>Luz</a:t>
            </a:r>
            <a:r>
              <a:rPr lang="pt-BR" dirty="0"/>
              <a:t> e </a:t>
            </a:r>
            <a:r>
              <a:rPr lang="pt-BR" b="1" dirty="0"/>
              <a:t>Água</a:t>
            </a:r>
            <a:r>
              <a:rPr lang="pt-BR" dirty="0"/>
              <a:t>. Adicione um método na classe para calcular a soma total desses gastos. Depois, crie dois objetos da classe </a:t>
            </a:r>
            <a:r>
              <a:rPr lang="pt-BR" b="1" dirty="0" err="1"/>
              <a:t>Mes</a:t>
            </a:r>
            <a:r>
              <a:rPr lang="pt-BR" dirty="0"/>
              <a:t> representando os meses de Janeiro e Fevereiro, utilize o método para calcular os totais de cada mês e compare os resultados para identificar qual deles teve o maior gasto.</a:t>
            </a:r>
          </a:p>
        </p:txBody>
      </p:sp>
    </p:spTree>
    <p:extLst>
      <p:ext uri="{BB962C8B-B14F-4D97-AF65-F5344CB8AC3E}">
        <p14:creationId xmlns:p14="http://schemas.microsoft.com/office/powerpoint/2010/main" val="3045726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Criar uma classe </a:t>
            </a:r>
            <a:r>
              <a:rPr lang="pt-BR" b="1" dirty="0" err="1"/>
              <a:t>ContaMes</a:t>
            </a:r>
            <a:r>
              <a:rPr lang="pt-BR" dirty="0"/>
              <a:t>, dentro de um pacote </a:t>
            </a:r>
            <a:r>
              <a:rPr lang="pt-BR" b="1" dirty="0"/>
              <a:t>Entidades </a:t>
            </a:r>
            <a:r>
              <a:rPr lang="pt-BR" dirty="0"/>
              <a:t>e definir os </a:t>
            </a:r>
            <a:r>
              <a:rPr lang="pt-BR" b="1" dirty="0"/>
              <a:t>atributos</a:t>
            </a:r>
            <a:r>
              <a:rPr lang="pt-BR" dirty="0"/>
              <a:t> dessa classe.</a:t>
            </a:r>
            <a:r>
              <a:rPr lang="pt-BR" b="1" dirty="0"/>
              <a:t> 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B48FA7B-BADA-4180-ADAF-DC0F92ADC4C8}"/>
              </a:ext>
            </a:extLst>
          </p:cNvPr>
          <p:cNvSpPr/>
          <p:nvPr/>
        </p:nvSpPr>
        <p:spPr>
          <a:xfrm>
            <a:off x="4318000" y="2484582"/>
            <a:ext cx="355600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pt-BR" dirty="0"/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Entidades</a:t>
            </a:r>
            <a:r>
              <a:rPr lang="pt-BR" dirty="0"/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u="sn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21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/>
              <a:t>Crie um programa </a:t>
            </a:r>
            <a:r>
              <a:rPr lang="pt-BR" dirty="0"/>
              <a:t>chamado </a:t>
            </a:r>
            <a:r>
              <a:rPr lang="pt-BR" b="1" dirty="0" err="1"/>
              <a:t>Main</a:t>
            </a:r>
            <a:r>
              <a:rPr lang="pt-BR" dirty="0"/>
              <a:t> e, dentro dela, instancie objetos da classe </a:t>
            </a:r>
            <a:r>
              <a:rPr lang="pt-BR" b="1" dirty="0" err="1"/>
              <a:t>ContaMes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B8DDD7-F87F-4713-9CE0-DF6F1325CDBE}"/>
              </a:ext>
            </a:extLst>
          </p:cNvPr>
          <p:cNvSpPr/>
          <p:nvPr/>
        </p:nvSpPr>
        <p:spPr>
          <a:xfrm>
            <a:off x="3048000" y="2667245"/>
            <a:ext cx="6096000" cy="18261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(String[]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F6A3C2-8FD2-46FA-BAAD-35D0E4F21B20}"/>
              </a:ext>
            </a:extLst>
          </p:cNvPr>
          <p:cNvSpPr/>
          <p:nvPr/>
        </p:nvSpPr>
        <p:spPr>
          <a:xfrm>
            <a:off x="592348" y="4860714"/>
            <a:ext cx="11007305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Instanciar objetos de uma classe significa criar instâncias específicas (ou seja, objetos) baseadas no modelo definido pela classe. Em termos simples, é quando você usa a classe como um "molde" para criar objetos concretos com seus próprios valores de atributos.</a:t>
            </a:r>
          </a:p>
        </p:txBody>
      </p:sp>
    </p:spTree>
    <p:extLst>
      <p:ext uri="{BB962C8B-B14F-4D97-AF65-F5344CB8AC3E}">
        <p14:creationId xmlns:p14="http://schemas.microsoft.com/office/powerpoint/2010/main" val="1727405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3C62C-F884-4C15-B846-05696802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x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A322BD-C242-4113-8378-FC6084A7D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2489"/>
          </a:xfrm>
        </p:spPr>
        <p:txBody>
          <a:bodyPr/>
          <a:lstStyle/>
          <a:p>
            <a:r>
              <a:rPr lang="pt-BR" dirty="0"/>
              <a:t>Variáveis – São espaços na memória que armazenam valores simples, como números ou texto</a:t>
            </a:r>
          </a:p>
          <a:p>
            <a:pPr indent="457200">
              <a:spcBef>
                <a:spcPts val="0"/>
              </a:spcBef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BDA955-8E5D-4A90-87A3-0C78196A1F20}"/>
              </a:ext>
            </a:extLst>
          </p:cNvPr>
          <p:cNvSpPr/>
          <p:nvPr/>
        </p:nvSpPr>
        <p:spPr>
          <a:xfrm>
            <a:off x="3492296" y="3560837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DDED6D-53E2-4644-AC0A-FE51AA93179C}"/>
              </a:ext>
            </a:extLst>
          </p:cNvPr>
          <p:cNvSpPr/>
          <p:nvPr/>
        </p:nvSpPr>
        <p:spPr>
          <a:xfrm>
            <a:off x="5561900" y="3560837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802F6CF-45AE-4460-842E-B3C47584AB1A}"/>
              </a:ext>
            </a:extLst>
          </p:cNvPr>
          <p:cNvSpPr/>
          <p:nvPr/>
        </p:nvSpPr>
        <p:spPr>
          <a:xfrm>
            <a:off x="7631503" y="3560837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C30A57F-34F6-42ED-855E-A24586509678}"/>
              </a:ext>
            </a:extLst>
          </p:cNvPr>
          <p:cNvSpPr/>
          <p:nvPr/>
        </p:nvSpPr>
        <p:spPr>
          <a:xfrm>
            <a:off x="3492296" y="4818250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EE4E6D-6576-4132-9ED5-B91BED935E3F}"/>
              </a:ext>
            </a:extLst>
          </p:cNvPr>
          <p:cNvSpPr/>
          <p:nvPr/>
        </p:nvSpPr>
        <p:spPr>
          <a:xfrm>
            <a:off x="5561900" y="4818250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7CCC4B2-39A0-4EB3-9896-7F31481D2B76}"/>
              </a:ext>
            </a:extLst>
          </p:cNvPr>
          <p:cNvSpPr/>
          <p:nvPr/>
        </p:nvSpPr>
        <p:spPr>
          <a:xfrm>
            <a:off x="7631503" y="4818250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9F1E76E-E16F-45E8-A3C2-B70F66B9A382}"/>
              </a:ext>
            </a:extLst>
          </p:cNvPr>
          <p:cNvSpPr txBox="1"/>
          <p:nvPr/>
        </p:nvSpPr>
        <p:spPr>
          <a:xfrm>
            <a:off x="3492296" y="4402720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CBE1BF2-35C5-48AB-8E95-9ED1BB18D2A5}"/>
              </a:ext>
            </a:extLst>
          </p:cNvPr>
          <p:cNvSpPr txBox="1"/>
          <p:nvPr/>
        </p:nvSpPr>
        <p:spPr>
          <a:xfrm>
            <a:off x="5561900" y="440271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energiaJan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6B6154-2288-495A-B637-49FB9E09F169}"/>
              </a:ext>
            </a:extLst>
          </p:cNvPr>
          <p:cNvSpPr txBox="1"/>
          <p:nvPr/>
        </p:nvSpPr>
        <p:spPr>
          <a:xfrm>
            <a:off x="7631503" y="4411600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aguaJan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C43E9F-E189-4313-93BA-A342A8CD2133}"/>
              </a:ext>
            </a:extLst>
          </p:cNvPr>
          <p:cNvSpPr txBox="1"/>
          <p:nvPr/>
        </p:nvSpPr>
        <p:spPr>
          <a:xfrm>
            <a:off x="3492296" y="56288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305111C-C3E7-4113-AC6E-6E0CBA42D983}"/>
              </a:ext>
            </a:extLst>
          </p:cNvPr>
          <p:cNvSpPr txBox="1"/>
          <p:nvPr/>
        </p:nvSpPr>
        <p:spPr>
          <a:xfrm>
            <a:off x="5561900" y="5628847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energiaFev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5C19901-93C9-437A-8C61-92DBF9CB1DB7}"/>
              </a:ext>
            </a:extLst>
          </p:cNvPr>
          <p:cNvSpPr txBox="1"/>
          <p:nvPr/>
        </p:nvSpPr>
        <p:spPr>
          <a:xfrm>
            <a:off x="7631503" y="563772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aguaFev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97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3C62C-F884-4C15-B846-05696802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x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A322BD-C242-4113-8378-FC6084A7D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Objetos – São instâncias de uma classe que armazenam valores dos atributos, mantendo um estado único para cada instância.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FBB8DC7-C4DA-4F1A-B14B-D8C631942882}"/>
              </a:ext>
            </a:extLst>
          </p:cNvPr>
          <p:cNvSpPr/>
          <p:nvPr/>
        </p:nvSpPr>
        <p:spPr>
          <a:xfrm>
            <a:off x="560096" y="282019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457200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2947BDE9-800E-4A1E-BA5E-BD5872590B7D}"/>
              </a:ext>
            </a:extLst>
          </p:cNvPr>
          <p:cNvGrpSpPr/>
          <p:nvPr/>
        </p:nvGrpSpPr>
        <p:grpSpPr>
          <a:xfrm>
            <a:off x="3507647" y="3970682"/>
            <a:ext cx="5183919" cy="720000"/>
            <a:chOff x="3500434" y="3970682"/>
            <a:chExt cx="5183919" cy="720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BBDA955-8E5D-4A90-87A3-0C78196A1F20}"/>
                </a:ext>
              </a:extLst>
            </p:cNvPr>
            <p:cNvSpPr/>
            <p:nvPr/>
          </p:nvSpPr>
          <p:spPr>
            <a:xfrm>
              <a:off x="4364353" y="3970682"/>
              <a:ext cx="144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68DDED6D-53E2-4644-AC0A-FE51AA93179C}"/>
                </a:ext>
              </a:extLst>
            </p:cNvPr>
            <p:cNvSpPr/>
            <p:nvPr/>
          </p:nvSpPr>
          <p:spPr>
            <a:xfrm>
              <a:off x="5804353" y="3970682"/>
              <a:ext cx="144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200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A802F6CF-45AE-4460-842E-B3C47584AB1A}"/>
                </a:ext>
              </a:extLst>
            </p:cNvPr>
            <p:cNvSpPr/>
            <p:nvPr/>
          </p:nvSpPr>
          <p:spPr>
            <a:xfrm>
              <a:off x="7244353" y="3970682"/>
              <a:ext cx="144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4F29C462-48D5-42AA-8F80-FE4D5CE3FC64}"/>
                </a:ext>
              </a:extLst>
            </p:cNvPr>
            <p:cNvSpPr txBox="1"/>
            <p:nvPr/>
          </p:nvSpPr>
          <p:spPr>
            <a:xfrm>
              <a:off x="3500434" y="4130627"/>
              <a:ext cx="4972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jan</a:t>
              </a:r>
              <a:endParaRPr lang="pt-BR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033130A-57BD-4783-B9F3-9F46CB55B2EC}"/>
              </a:ext>
            </a:extLst>
          </p:cNvPr>
          <p:cNvGrpSpPr/>
          <p:nvPr/>
        </p:nvGrpSpPr>
        <p:grpSpPr>
          <a:xfrm>
            <a:off x="3500434" y="5323555"/>
            <a:ext cx="5191132" cy="720000"/>
            <a:chOff x="3238500" y="5423677"/>
            <a:chExt cx="5191132" cy="720000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69C54E0C-61E6-4217-B762-C0314D48A544}"/>
                </a:ext>
              </a:extLst>
            </p:cNvPr>
            <p:cNvGrpSpPr/>
            <p:nvPr/>
          </p:nvGrpSpPr>
          <p:grpSpPr>
            <a:xfrm>
              <a:off x="4109632" y="5423677"/>
              <a:ext cx="4320000" cy="720000"/>
              <a:chOff x="4262032" y="4210457"/>
              <a:chExt cx="4320000" cy="720000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6EBCE5F1-301C-4EF3-A4A0-EFADFF5114CE}"/>
                  </a:ext>
                </a:extLst>
              </p:cNvPr>
              <p:cNvSpPr/>
              <p:nvPr/>
            </p:nvSpPr>
            <p:spPr>
              <a:xfrm>
                <a:off x="4262032" y="4210457"/>
                <a:ext cx="1440000" cy="7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300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0356BD65-30EF-4287-BEFD-B83510B332E0}"/>
                  </a:ext>
                </a:extLst>
              </p:cNvPr>
              <p:cNvSpPr/>
              <p:nvPr/>
            </p:nvSpPr>
            <p:spPr>
              <a:xfrm>
                <a:off x="5702032" y="4210457"/>
                <a:ext cx="1440000" cy="7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8E1E1E8E-D73E-4780-9B02-CB1634611C3E}"/>
                  </a:ext>
                </a:extLst>
              </p:cNvPr>
              <p:cNvSpPr/>
              <p:nvPr/>
            </p:nvSpPr>
            <p:spPr>
              <a:xfrm>
                <a:off x="7142032" y="4210457"/>
                <a:ext cx="1440000" cy="7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</a:p>
            </p:txBody>
          </p:sp>
        </p:grp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BEA98F6C-F0CD-42BC-9127-397E17AFC215}"/>
                </a:ext>
              </a:extLst>
            </p:cNvPr>
            <p:cNvSpPr txBox="1"/>
            <p:nvPr/>
          </p:nvSpPr>
          <p:spPr>
            <a:xfrm>
              <a:off x="3238500" y="5583622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fev</a:t>
              </a:r>
              <a:endParaRPr lang="pt-BR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7F22129-89F9-4279-B239-C0AE39FCA609}"/>
              </a:ext>
            </a:extLst>
          </p:cNvPr>
          <p:cNvGrpSpPr/>
          <p:nvPr/>
        </p:nvGrpSpPr>
        <p:grpSpPr>
          <a:xfrm>
            <a:off x="4371566" y="4853230"/>
            <a:ext cx="4320000" cy="307777"/>
            <a:chOff x="4102419" y="4911630"/>
            <a:chExt cx="4320000" cy="307777"/>
          </a:xfrm>
        </p:grpSpPr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42F16D65-4246-4984-8511-545FE59910B3}"/>
                </a:ext>
              </a:extLst>
            </p:cNvPr>
            <p:cNvSpPr txBox="1"/>
            <p:nvPr/>
          </p:nvSpPr>
          <p:spPr>
            <a:xfrm>
              <a:off x="410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alimentação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05B81601-DF76-4F68-8D1F-C63903B0EF1A}"/>
                </a:ext>
              </a:extLst>
            </p:cNvPr>
            <p:cNvSpPr txBox="1"/>
            <p:nvPr/>
          </p:nvSpPr>
          <p:spPr>
            <a:xfrm>
              <a:off x="554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energia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E40F735F-829F-402D-8C2F-E1123C85EB32}"/>
                </a:ext>
              </a:extLst>
            </p:cNvPr>
            <p:cNvSpPr txBox="1"/>
            <p:nvPr/>
          </p:nvSpPr>
          <p:spPr>
            <a:xfrm>
              <a:off x="698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agua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1AB57F6-EDE2-49A6-84BD-0F7C7E16D8FD}"/>
              </a:ext>
            </a:extLst>
          </p:cNvPr>
          <p:cNvGrpSpPr/>
          <p:nvPr/>
        </p:nvGrpSpPr>
        <p:grpSpPr>
          <a:xfrm>
            <a:off x="4371566" y="6206103"/>
            <a:ext cx="4320000" cy="307777"/>
            <a:chOff x="4102419" y="4911630"/>
            <a:chExt cx="4320000" cy="307777"/>
          </a:xfrm>
        </p:grpSpPr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6FADC90-D64B-4C08-8394-0521FA14D24A}"/>
                </a:ext>
              </a:extLst>
            </p:cNvPr>
            <p:cNvSpPr txBox="1"/>
            <p:nvPr/>
          </p:nvSpPr>
          <p:spPr>
            <a:xfrm>
              <a:off x="410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alimentação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604558D8-6FC1-4E4B-B8CE-57E757AEA59C}"/>
                </a:ext>
              </a:extLst>
            </p:cNvPr>
            <p:cNvSpPr txBox="1"/>
            <p:nvPr/>
          </p:nvSpPr>
          <p:spPr>
            <a:xfrm>
              <a:off x="554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energia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EFAF1304-7A3A-4AE0-BD05-5CB4D47D3F34}"/>
                </a:ext>
              </a:extLst>
            </p:cNvPr>
            <p:cNvSpPr txBox="1"/>
            <p:nvPr/>
          </p:nvSpPr>
          <p:spPr>
            <a:xfrm>
              <a:off x="698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agua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4649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pt-BR" dirty="0"/>
              <a:t>Atribuir valores para cada atributo dentro do objeto</a:t>
            </a:r>
            <a:endParaRPr lang="pt-BR" b="1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77909A-ABB4-49A1-A03D-D47D451DCF47}"/>
              </a:ext>
            </a:extLst>
          </p:cNvPr>
          <p:cNvSpPr/>
          <p:nvPr/>
        </p:nvSpPr>
        <p:spPr>
          <a:xfrm>
            <a:off x="2728912" y="2589833"/>
            <a:ext cx="6734175" cy="2421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72111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pt-BR" dirty="0"/>
              <a:t>Para somar os valores dos atributos, primeiro devemos criar um </a:t>
            </a:r>
            <a:r>
              <a:rPr lang="pt-BR" b="1" dirty="0"/>
              <a:t>método</a:t>
            </a:r>
            <a:r>
              <a:rPr lang="pt-BR" dirty="0"/>
              <a:t>, dentro da classe </a:t>
            </a:r>
            <a:r>
              <a:rPr lang="pt-BR" b="1" dirty="0" err="1"/>
              <a:t>ContaMes</a:t>
            </a:r>
            <a:r>
              <a:rPr lang="pt-BR" dirty="0"/>
              <a:t>. </a:t>
            </a:r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BDF04D2-7D9A-493B-8E30-CD5E63D676B0}"/>
              </a:ext>
            </a:extLst>
          </p:cNvPr>
          <p:cNvSpPr/>
          <p:nvPr/>
        </p:nvSpPr>
        <p:spPr>
          <a:xfrm>
            <a:off x="2834440" y="2770644"/>
            <a:ext cx="73247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pt-BR" dirty="0"/>
              <a:t>E após isso devemos atribuir o valor somado dentro de uma variável no programa </a:t>
            </a:r>
            <a:r>
              <a:rPr lang="pt-BR" b="1" dirty="0" err="1"/>
              <a:t>Main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28D574-F95D-45B1-8E35-A6A5DAA836A0}"/>
              </a:ext>
            </a:extLst>
          </p:cNvPr>
          <p:cNvSpPr/>
          <p:nvPr/>
        </p:nvSpPr>
        <p:spPr>
          <a:xfrm>
            <a:off x="4114800" y="2520403"/>
            <a:ext cx="3962400" cy="636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6BE7F1B-7613-46F9-A06A-54E8C26004B5}"/>
              </a:ext>
            </a:extLst>
          </p:cNvPr>
          <p:cNvSpPr txBox="1">
            <a:spLocks/>
          </p:cNvSpPr>
          <p:nvPr/>
        </p:nvSpPr>
        <p:spPr>
          <a:xfrm>
            <a:off x="592347" y="3192296"/>
            <a:ext cx="11007306" cy="6399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6"/>
            </a:pPr>
            <a:r>
              <a:rPr lang="pt-BR" dirty="0"/>
              <a:t>Por fim comparar qual mês teve o maior gasto</a:t>
            </a:r>
            <a:endParaRPr lang="pt-BR" b="1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E147AD4-8D07-4AFC-AF93-34FB894A5173}"/>
              </a:ext>
            </a:extLst>
          </p:cNvPr>
          <p:cNvSpPr/>
          <p:nvPr/>
        </p:nvSpPr>
        <p:spPr>
          <a:xfrm>
            <a:off x="1685925" y="3868024"/>
            <a:ext cx="8820150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Janeiro é maior do que a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Fevereiro é maior do que a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"Ambas as contas possuem o mesmo valor"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042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E6918-BC33-48FC-BE21-AF8AC13F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itens dentro da classe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CC14F7-CC6C-442A-9DF6-D6ECD1F455FB}"/>
              </a:ext>
            </a:extLst>
          </p:cNvPr>
          <p:cNvSpPr/>
          <p:nvPr/>
        </p:nvSpPr>
        <p:spPr>
          <a:xfrm>
            <a:off x="2433637" y="2188753"/>
            <a:ext cx="7324726" cy="3642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pt-BR" sz="1600" dirty="0"/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Entidades</a:t>
            </a:r>
            <a:r>
              <a:rPr lang="pt-BR" sz="1600" dirty="0"/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C42539C-672F-451C-932B-D3E02000EF94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426649" y="2358030"/>
            <a:ext cx="807893" cy="75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0BEB95E-4FA5-4BA9-B62A-C831A40817E9}"/>
              </a:ext>
            </a:extLst>
          </p:cNvPr>
          <p:cNvCxnSpPr>
            <a:cxnSpLocks/>
          </p:cNvCxnSpPr>
          <p:nvPr/>
        </p:nvCxnSpPr>
        <p:spPr>
          <a:xfrm flipH="1">
            <a:off x="1940949" y="2968336"/>
            <a:ext cx="49269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17A8244D-6D64-430C-B415-0DF8B66267B9}"/>
              </a:ext>
            </a:extLst>
          </p:cNvPr>
          <p:cNvSpPr/>
          <p:nvPr/>
        </p:nvSpPr>
        <p:spPr>
          <a:xfrm>
            <a:off x="3741420" y="3112655"/>
            <a:ext cx="2151380" cy="840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F6FF7A1-A7AD-4080-BD6A-021028B8924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892800" y="3527713"/>
            <a:ext cx="933450" cy="51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BC0A78-2361-46AA-A110-D5A355FC1815}"/>
              </a:ext>
            </a:extLst>
          </p:cNvPr>
          <p:cNvSpPr/>
          <p:nvPr/>
        </p:nvSpPr>
        <p:spPr>
          <a:xfrm>
            <a:off x="2964872" y="4266784"/>
            <a:ext cx="5752408" cy="1166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6A1B9BF4-AAA0-426B-B915-455754E57D83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8717280" y="4844311"/>
            <a:ext cx="626803" cy="112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07994AD-A92A-4E2A-A1A1-F89CAE6FF113}"/>
              </a:ext>
            </a:extLst>
          </p:cNvPr>
          <p:cNvSpPr txBox="1"/>
          <p:nvPr/>
        </p:nvSpPr>
        <p:spPr>
          <a:xfrm>
            <a:off x="5234542" y="2188753"/>
            <a:ext cx="1722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Pacote da classe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AD9186-D152-4A5D-974D-A9DD0A5DA74F}"/>
              </a:ext>
            </a:extLst>
          </p:cNvPr>
          <p:cNvSpPr txBox="1"/>
          <p:nvPr/>
        </p:nvSpPr>
        <p:spPr>
          <a:xfrm>
            <a:off x="424336" y="2799059"/>
            <a:ext cx="1516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da classe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E57FB11-0B8D-484A-9A61-804E32948307}"/>
              </a:ext>
            </a:extLst>
          </p:cNvPr>
          <p:cNvSpPr txBox="1"/>
          <p:nvPr/>
        </p:nvSpPr>
        <p:spPr>
          <a:xfrm>
            <a:off x="6826250" y="3363631"/>
            <a:ext cx="1891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Atributos da Classe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9A539E9-A1D9-4C5F-8692-0E246AA5751D}"/>
              </a:ext>
            </a:extLst>
          </p:cNvPr>
          <p:cNvSpPr txBox="1"/>
          <p:nvPr/>
        </p:nvSpPr>
        <p:spPr>
          <a:xfrm>
            <a:off x="9344083" y="4675034"/>
            <a:ext cx="1891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 da Classe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27C1B83-50B7-429C-9D37-4C3C6F889196}"/>
              </a:ext>
            </a:extLst>
          </p:cNvPr>
          <p:cNvSpPr/>
          <p:nvPr/>
        </p:nvSpPr>
        <p:spPr>
          <a:xfrm>
            <a:off x="2964871" y="3112655"/>
            <a:ext cx="740353" cy="840507"/>
          </a:xfrm>
          <a:prstGeom prst="rect">
            <a:avLst/>
          </a:prstGeom>
          <a:noFill/>
          <a:ln>
            <a:solidFill>
              <a:srgbClr val="292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E4FA36AF-8427-4C3B-93F2-7E1FB2DA6796}"/>
              </a:ext>
            </a:extLst>
          </p:cNvPr>
          <p:cNvCxnSpPr>
            <a:cxnSpLocks/>
          </p:cNvCxnSpPr>
          <p:nvPr/>
        </p:nvCxnSpPr>
        <p:spPr>
          <a:xfrm flipH="1">
            <a:off x="1940949" y="3530600"/>
            <a:ext cx="1023923" cy="0"/>
          </a:xfrm>
          <a:prstGeom prst="straightConnector1">
            <a:avLst/>
          </a:prstGeom>
          <a:ln w="19050">
            <a:solidFill>
              <a:srgbClr val="292A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A6386D0-D3ED-46B5-A5B7-A283DFC430E8}"/>
              </a:ext>
            </a:extLst>
          </p:cNvPr>
          <p:cNvSpPr txBox="1"/>
          <p:nvPr/>
        </p:nvSpPr>
        <p:spPr>
          <a:xfrm>
            <a:off x="424336" y="3363631"/>
            <a:ext cx="15166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termo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 que um atributo/método pode ser acessado por outro arquivo.</a:t>
            </a:r>
            <a:endParaRPr lang="pt-B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DB4251FE-D1DC-4E46-82F3-4F0849959C51}"/>
              </a:ext>
            </a:extLst>
          </p:cNvPr>
          <p:cNvCxnSpPr>
            <a:cxnSpLocks/>
            <a:endCxn id="35" idx="3"/>
          </p:cNvCxnSpPr>
          <p:nvPr/>
        </p:nvCxnSpPr>
        <p:spPr>
          <a:xfrm flipH="1" flipV="1">
            <a:off x="1940950" y="3948407"/>
            <a:ext cx="1023924" cy="496596"/>
          </a:xfrm>
          <a:prstGeom prst="straightConnector1">
            <a:avLst/>
          </a:prstGeom>
          <a:ln w="19050">
            <a:solidFill>
              <a:srgbClr val="292A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992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07610-197E-4834-AE90-EF4CC9C9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da Classe (UML)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C9216-BCE3-4920-9B42-0F3F19293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 diagrama de classe 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é uma representação visual que descreve a estrutura de um sistema, mostrando classes, seus atributos, métodos e os relacionamentos entre elas. Ele é usado para planejar, organizar e comunicar o design de software antes da implementação.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1D6B3A6-1C93-41D1-852D-0117A91FB172}"/>
              </a:ext>
            </a:extLst>
          </p:cNvPr>
          <p:cNvGrpSpPr/>
          <p:nvPr/>
        </p:nvGrpSpPr>
        <p:grpSpPr>
          <a:xfrm>
            <a:off x="592347" y="3797497"/>
            <a:ext cx="6209625" cy="2403622"/>
            <a:chOff x="1933991" y="3797497"/>
            <a:chExt cx="6209625" cy="2403622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F6BC550-AD41-4BD0-9C7D-1EE6C36FC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3991" y="3797497"/>
              <a:ext cx="3136773" cy="2403622"/>
            </a:xfrm>
            <a:prstGeom prst="rect">
              <a:avLst/>
            </a:prstGeom>
          </p:spPr>
        </p:pic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AAD8C338-D1E0-4D5C-A8D8-805EBF4AD135}"/>
                </a:ext>
              </a:extLst>
            </p:cNvPr>
            <p:cNvCxnSpPr>
              <a:cxnSpLocks/>
            </p:cNvCxnSpPr>
            <p:nvPr/>
          </p:nvCxnSpPr>
          <p:spPr>
            <a:xfrm>
              <a:off x="5070764" y="4082473"/>
              <a:ext cx="108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DB7E3871-FA40-42D5-B24D-9827BAB9E934}"/>
                </a:ext>
              </a:extLst>
            </p:cNvPr>
            <p:cNvCxnSpPr/>
            <p:nvPr/>
          </p:nvCxnSpPr>
          <p:spPr>
            <a:xfrm>
              <a:off x="5070764" y="5934364"/>
              <a:ext cx="108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28058D4E-5A3C-46AA-A637-8B499C971C11}"/>
                </a:ext>
              </a:extLst>
            </p:cNvPr>
            <p:cNvCxnSpPr>
              <a:cxnSpLocks/>
            </p:cNvCxnSpPr>
            <p:nvPr/>
          </p:nvCxnSpPr>
          <p:spPr>
            <a:xfrm>
              <a:off x="5070764" y="4999308"/>
              <a:ext cx="108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E7CD3FD-2358-4C43-AC5D-38DC02E76131}"/>
                </a:ext>
              </a:extLst>
            </p:cNvPr>
            <p:cNvSpPr txBox="1"/>
            <p:nvPr/>
          </p:nvSpPr>
          <p:spPr>
            <a:xfrm>
              <a:off x="6150764" y="3897807"/>
              <a:ext cx="1675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Nome da Classe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FCA87AE-ACE8-45F5-BF3C-B767C0731E63}"/>
                </a:ext>
              </a:extLst>
            </p:cNvPr>
            <p:cNvSpPr txBox="1"/>
            <p:nvPr/>
          </p:nvSpPr>
          <p:spPr>
            <a:xfrm>
              <a:off x="6150763" y="4814642"/>
              <a:ext cx="1992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Atributos da Classe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14689F3-7C7A-497A-AF36-EA37D2D275D3}"/>
                </a:ext>
              </a:extLst>
            </p:cNvPr>
            <p:cNvSpPr txBox="1"/>
            <p:nvPr/>
          </p:nvSpPr>
          <p:spPr>
            <a:xfrm>
              <a:off x="6106943" y="5749698"/>
              <a:ext cx="1946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Métodos da Classe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F84375E-7770-4F75-9643-DBED0DDE5F16}"/>
              </a:ext>
            </a:extLst>
          </p:cNvPr>
          <p:cNvSpPr txBox="1"/>
          <p:nvPr/>
        </p:nvSpPr>
        <p:spPr>
          <a:xfrm>
            <a:off x="7945893" y="4147024"/>
            <a:ext cx="3008434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sinais representam a visibilidade:</a:t>
            </a:r>
          </a:p>
          <a:p>
            <a:pPr marL="4320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"-": Privado 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320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"+": Público 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50282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44951-435E-405A-9B1C-FB9118DC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Desafio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A1F468-5CC3-4133-95DD-B88E34746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dois programas que resolvam o mesmo problema: calcular a média de três notas de um aluno e verificar se ele foi aprovado (média ≥ 7). O primeiro programa deve ser desenvolvido utilizando programação estruturada, enquanto o segundo deve ser criado utilizando programação orientada a objetos (POO). Ao final, para o programa em POO, crie o projeto da classe UML.</a:t>
            </a:r>
          </a:p>
          <a:p>
            <a:endParaRPr lang="pt-BR" dirty="0"/>
          </a:p>
          <a:p>
            <a:pPr marL="1028700" lvl="1" indent="-342900">
              <a:buFont typeface="+mj-lt"/>
              <a:buAutoNum type="arabicPeriod"/>
            </a:pPr>
            <a:r>
              <a:rPr lang="pt-BR" dirty="0"/>
              <a:t>Programação Estruturada</a:t>
            </a:r>
          </a:p>
          <a:p>
            <a:pPr marL="1028700" lvl="1" indent="-342900">
              <a:buFont typeface="+mj-lt"/>
              <a:buAutoNum type="arabicPeriod"/>
            </a:pPr>
            <a:r>
              <a:rPr lang="pt-BR" dirty="0"/>
              <a:t>Programação Orientada a Objetos</a:t>
            </a:r>
          </a:p>
          <a:p>
            <a:pPr marL="1028700" lvl="1" indent="-342900">
              <a:buFont typeface="+mj-lt"/>
              <a:buAutoNum type="arabicPeriod"/>
            </a:pPr>
            <a:r>
              <a:rPr lang="pt-BR" dirty="0"/>
              <a:t>Projeto de </a:t>
            </a:r>
            <a:r>
              <a:rPr lang="pt-BR"/>
              <a:t>Classe UML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1983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2183</TotalTime>
  <Words>2064</Words>
  <Application>Microsoft Office PowerPoint</Application>
  <PresentationFormat>Widescreen</PresentationFormat>
  <Paragraphs>270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Times New Roman</vt:lpstr>
      <vt:lpstr>Tema do Office</vt:lpstr>
      <vt:lpstr>Introdução a Programação Orientada a Objetos (POO)</vt:lpstr>
      <vt:lpstr>O que é Programação Orientada a Objetos ?</vt:lpstr>
      <vt:lpstr>Evolução dos Paradigmas de Programação até chegar à POO</vt:lpstr>
      <vt:lpstr>Evolução dos Paradigmas de Programação até chegar à POO</vt:lpstr>
      <vt:lpstr>Evolução dos Paradigmas de Programação até chegar à POO</vt:lpstr>
      <vt:lpstr>Evolução dos Paradigmas de Programação até chegar à POO</vt:lpstr>
      <vt:lpstr>Evolução dos Paradigmas de Programação até chegar à POO</vt:lpstr>
      <vt:lpstr>Programação Estruturada x POO</vt:lpstr>
      <vt:lpstr>O que é um Objeto ?</vt:lpstr>
      <vt:lpstr>O que é uma classe ?</vt:lpstr>
      <vt:lpstr>Classe carro</vt:lpstr>
      <vt:lpstr>Instanciar uma classe</vt:lpstr>
      <vt:lpstr>Comportamento da Classe</vt:lpstr>
      <vt:lpstr>Classes em POO</vt:lpstr>
      <vt:lpstr>Instanciar uma Classe </vt:lpstr>
      <vt:lpstr>Entendo as Classes na Prática</vt:lpstr>
      <vt:lpstr>Resolução utilizando a Programação Estruturada</vt:lpstr>
      <vt:lpstr>Resolução utilizando a Programação Estruturada</vt:lpstr>
      <vt:lpstr>Entendo as Classes na Prática</vt:lpstr>
      <vt:lpstr>Resolução utilizando a Programação Orientada a Objetos</vt:lpstr>
      <vt:lpstr>Resolução utilizando a Programação Orientada a Objetos</vt:lpstr>
      <vt:lpstr>Variáveis x Objetos</vt:lpstr>
      <vt:lpstr>Variáveis x Objetos</vt:lpstr>
      <vt:lpstr>Resolução utilizando a Programação Orientada a Objetos</vt:lpstr>
      <vt:lpstr>Resolução utilizando a Programação Orientada a Objetos</vt:lpstr>
      <vt:lpstr>Resolução utilizando a Programação Orientada a Objetos</vt:lpstr>
      <vt:lpstr>Explicação dos itens dentro da classe</vt:lpstr>
      <vt:lpstr>Projeto da Classe (UML)</vt:lpstr>
      <vt:lpstr>Desafio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161</cp:revision>
  <dcterms:created xsi:type="dcterms:W3CDTF">2024-03-08T12:14:33Z</dcterms:created>
  <dcterms:modified xsi:type="dcterms:W3CDTF">2025-08-11T23:22:02Z</dcterms:modified>
</cp:coreProperties>
</file>