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68" r:id="rId3"/>
    <p:sldId id="257" r:id="rId4"/>
    <p:sldId id="258" r:id="rId5"/>
    <p:sldId id="259" r:id="rId6"/>
    <p:sldId id="260" r:id="rId7"/>
    <p:sldId id="270" r:id="rId8"/>
    <p:sldId id="264" r:id="rId9"/>
    <p:sldId id="275" r:id="rId10"/>
    <p:sldId id="276" r:id="rId11"/>
    <p:sldId id="277" r:id="rId12"/>
    <p:sldId id="278" r:id="rId13"/>
    <p:sldId id="272" r:id="rId14"/>
    <p:sldId id="273" r:id="rId15"/>
    <p:sldId id="274" r:id="rId16"/>
    <p:sldId id="261" r:id="rId17"/>
    <p:sldId id="262" r:id="rId18"/>
    <p:sldId id="263" r:id="rId19"/>
    <p:sldId id="265" r:id="rId20"/>
    <p:sldId id="267" r:id="rId21"/>
    <p:sldId id="266" r:id="rId2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92A8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111" d="100"/>
          <a:sy n="111" d="100"/>
        </p:scale>
        <p:origin x="594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9F73EA-414C-4929-B3E7-AD122EFFBF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52931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37FCEED-3F66-43BC-8B20-36021361A3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60550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dirty="0"/>
              <a:t>Clique para editar o estilo do subtítulo Mestre</a:t>
            </a:r>
          </a:p>
        </p:txBody>
      </p:sp>
    </p:spTree>
    <p:extLst>
      <p:ext uri="{BB962C8B-B14F-4D97-AF65-F5344CB8AC3E}">
        <p14:creationId xmlns:p14="http://schemas.microsoft.com/office/powerpoint/2010/main" val="26395079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5DFB8E-AD99-4A2B-8BE2-ED878F912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1BA61F7-989E-45C9-916D-42CE0B17B3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4351338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50000"/>
              </a:lnSpc>
              <a:spcBef>
                <a:spcPts val="0"/>
              </a:spcBef>
              <a:buNone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just">
              <a:lnSpc>
                <a:spcPct val="150000"/>
              </a:lnSpc>
              <a:spcBef>
                <a:spcPts val="0"/>
              </a:spcBef>
              <a:buNone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914400" indent="0" algn="just">
              <a:lnSpc>
                <a:spcPct val="150000"/>
              </a:lnSpc>
              <a:spcBef>
                <a:spcPts val="0"/>
              </a:spcBef>
              <a:buNone/>
              <a:defRPr sz="14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371600" indent="0" algn="just">
              <a:lnSpc>
                <a:spcPct val="150000"/>
              </a:lnSpc>
              <a:spcBef>
                <a:spcPts val="0"/>
              </a:spcBef>
              <a:buNone/>
              <a:defRPr sz="12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1828800" indent="0" algn="just">
              <a:lnSpc>
                <a:spcPct val="150000"/>
              </a:lnSpc>
              <a:spcBef>
                <a:spcPts val="0"/>
              </a:spcBef>
              <a:buNone/>
              <a:defRPr sz="10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907272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440976-951F-48E1-9F65-E2E7237C0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3F09C38-83BA-4379-9DE9-B52DAEE2D6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801F2F7-E203-4170-8B06-E39E4EF61B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28/08/2026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E2FDAB5-81C4-491B-B1DB-3E7A63996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F87684E-F6A9-4B10-B6C6-98901C57A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26914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21A5A9C-1616-4A2F-9897-2AA0D6A7B0E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28/08/2026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19E4B8E-0EE6-4C64-9500-F64ED0B84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FE3A651-93A6-476E-86D8-9380EB079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D3856C12-D3CA-9CE2-7861-13FBF02F4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9" name="Espaço Reservado para Conteúdo 2">
            <a:extLst>
              <a:ext uri="{FF2B5EF4-FFF2-40B4-BE49-F238E27FC236}">
                <a16:creationId xmlns:a16="http://schemas.microsoft.com/office/drawing/2014/main" id="{07102269-6BD9-547A-4740-3B8E3F48BF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25625"/>
            <a:ext cx="5181600" cy="4370388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50000"/>
              </a:lnSpc>
              <a:spcBef>
                <a:spcPts val="0"/>
              </a:spcBef>
              <a:buNone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just">
              <a:lnSpc>
                <a:spcPct val="150000"/>
              </a:lnSpc>
              <a:spcBef>
                <a:spcPts val="0"/>
              </a:spcBef>
              <a:buNone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914400" indent="0" algn="just">
              <a:lnSpc>
                <a:spcPct val="150000"/>
              </a:lnSpc>
              <a:spcBef>
                <a:spcPts val="0"/>
              </a:spcBef>
              <a:buNone/>
              <a:defRPr sz="14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371600" indent="0" algn="just">
              <a:lnSpc>
                <a:spcPct val="150000"/>
              </a:lnSpc>
              <a:spcBef>
                <a:spcPts val="0"/>
              </a:spcBef>
              <a:buNone/>
              <a:defRPr sz="12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1828800" indent="0" algn="just">
              <a:lnSpc>
                <a:spcPct val="150000"/>
              </a:lnSpc>
              <a:spcBef>
                <a:spcPts val="0"/>
              </a:spcBef>
              <a:buNone/>
              <a:defRPr sz="10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10" name="Espaço Reservado para Conteúdo 2">
            <a:extLst>
              <a:ext uri="{FF2B5EF4-FFF2-40B4-BE49-F238E27FC236}">
                <a16:creationId xmlns:a16="http://schemas.microsoft.com/office/drawing/2014/main" id="{CB7389AF-7009-AFBD-694C-4FEB5C402AF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096000" y="1844675"/>
            <a:ext cx="5181600" cy="4351338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50000"/>
              </a:lnSpc>
              <a:spcBef>
                <a:spcPts val="0"/>
              </a:spcBef>
              <a:buNone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just">
              <a:lnSpc>
                <a:spcPct val="150000"/>
              </a:lnSpc>
              <a:spcBef>
                <a:spcPts val="0"/>
              </a:spcBef>
              <a:buNone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914400" indent="0" algn="just">
              <a:lnSpc>
                <a:spcPct val="150000"/>
              </a:lnSpc>
              <a:spcBef>
                <a:spcPts val="0"/>
              </a:spcBef>
              <a:buNone/>
              <a:defRPr sz="14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371600" indent="0" algn="just">
              <a:lnSpc>
                <a:spcPct val="150000"/>
              </a:lnSpc>
              <a:spcBef>
                <a:spcPts val="0"/>
              </a:spcBef>
              <a:buNone/>
              <a:defRPr sz="12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1828800" indent="0" algn="just">
              <a:lnSpc>
                <a:spcPct val="150000"/>
              </a:lnSpc>
              <a:spcBef>
                <a:spcPts val="0"/>
              </a:spcBef>
              <a:buNone/>
              <a:defRPr sz="10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1180244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7207A11-9E53-4968-BFBB-FBA312D24C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E141C8A-81E9-4FD8-AF20-F5BD9DA313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B1C8E84-38D3-49F5-9A51-7C0AF548DF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95D1BB-221B-469A-A06C-FD406B207A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EAA33C3-5B87-4019-8743-8F9C2F9830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28/08/2026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0BDA0B8-E9EF-4477-9209-5DEC09732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FBCF0E10-CAD6-4E43-98B3-1AFB88B68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9AF65EF7-14AA-3189-A9E5-924E752AEF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26450592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20D39C8-444E-4546-80F5-D0180A75AF9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28/08/2026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1C134A4-BE1B-4962-9516-659CD4519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CE7749A-36AE-46D1-BE46-BE0E2F45B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6F8FEF21-0B4E-C030-F1F6-1E8EDC3D8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3457533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E43BC826-C9FB-472E-956F-F80F0568AE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28/08/2026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E154652-AECB-47CC-A9CD-8426C4D1A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7E24980-9E3E-413B-9621-9DCBCC5F4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337732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FF34EE3-79AE-487D-B73B-1A408180A0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844675"/>
            <a:ext cx="5256212" cy="43513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E5AF76A-9469-4EBF-8DAC-F6889FD7546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28/08/2026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B4ED122-B6B8-4D0E-98A8-D12057984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4136D5D-BD69-4CD2-A354-F8289DAAC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9566D364-0170-A389-F159-C7C9D62E4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9" name="Espaço Reservado para Conteúdo 2">
            <a:extLst>
              <a:ext uri="{FF2B5EF4-FFF2-40B4-BE49-F238E27FC236}">
                <a16:creationId xmlns:a16="http://schemas.microsoft.com/office/drawing/2014/main" id="{76796487-CD7B-89D5-C833-332E8D160F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39345" y="1844675"/>
            <a:ext cx="5060308" cy="4351338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50000"/>
              </a:lnSpc>
              <a:spcBef>
                <a:spcPts val="0"/>
              </a:spcBef>
              <a:buNone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just">
              <a:lnSpc>
                <a:spcPct val="150000"/>
              </a:lnSpc>
              <a:spcBef>
                <a:spcPts val="0"/>
              </a:spcBef>
              <a:buNone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914400" indent="0" algn="just">
              <a:lnSpc>
                <a:spcPct val="150000"/>
              </a:lnSpc>
              <a:spcBef>
                <a:spcPts val="0"/>
              </a:spcBef>
              <a:buNone/>
              <a:defRPr sz="14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371600" indent="0" algn="just">
              <a:lnSpc>
                <a:spcPct val="150000"/>
              </a:lnSpc>
              <a:spcBef>
                <a:spcPts val="0"/>
              </a:spcBef>
              <a:buNone/>
              <a:defRPr sz="12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1828800" indent="0" algn="just">
              <a:lnSpc>
                <a:spcPct val="150000"/>
              </a:lnSpc>
              <a:spcBef>
                <a:spcPts val="0"/>
              </a:spcBef>
              <a:buNone/>
              <a:defRPr sz="10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42814922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20F7117-B346-47D7-9DBC-5BBD02B232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773382"/>
            <a:ext cx="6172200" cy="408766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FDB8822-F4D3-4DE6-B130-D7308F116C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773382"/>
            <a:ext cx="3932237" cy="409560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370F3C1-6276-4A5F-B650-8B2E8FB0633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28/08/2026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142CF32-D9DD-42DF-9B63-B3207D85D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2A81DD0-CB02-442E-A173-AFA500CC7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E29F35F0-D02B-295C-BF50-6E6DC99813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85" y="854420"/>
            <a:ext cx="6953941" cy="448573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17764785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56E30110-E419-43DB-AEFA-3636065754B3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0" y="6762736"/>
            <a:ext cx="12192000" cy="95264"/>
          </a:xfrm>
          <a:prstGeom prst="rect">
            <a:avLst/>
          </a:prstGeom>
          <a:solidFill>
            <a:schemeClr val="bg1"/>
          </a:solidFill>
          <a:ln>
            <a:solidFill>
              <a:srgbClr val="292A86"/>
            </a:solidFill>
          </a:ln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4AAA702B-ED3B-45E1-8C71-1ACC187886AA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582422" y="635357"/>
            <a:ext cx="122428" cy="888712"/>
          </a:xfrm>
          <a:prstGeom prst="rect">
            <a:avLst/>
          </a:prstGeom>
          <a:solidFill>
            <a:srgbClr val="292A86"/>
          </a:solidFill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49B168A8-B937-4519-802D-8D1D90A0A0EA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10283716" y="719713"/>
            <a:ext cx="1273846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4958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3B5C3A-A09A-4259-AF3D-EF5302F61C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42536"/>
            <a:ext cx="9144000" cy="1828727"/>
          </a:xfrm>
        </p:spPr>
        <p:txBody>
          <a:bodyPr/>
          <a:lstStyle/>
          <a:p>
            <a:r>
              <a:rPr lang="pt-BR" dirty="0"/>
              <a:t>Implementando CRUD com requisições HTTP</a:t>
            </a:r>
            <a:endParaRPr lang="pt-BR" b="1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4FF2C9F-673D-46AD-83CF-B874F96C37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Prof. Esp. Pedro Miho</a:t>
            </a:r>
          </a:p>
        </p:txBody>
      </p:sp>
    </p:spTree>
    <p:extLst>
      <p:ext uri="{BB962C8B-B14F-4D97-AF65-F5344CB8AC3E}">
        <p14:creationId xmlns:p14="http://schemas.microsoft.com/office/powerpoint/2010/main" val="40469824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E63485-508B-C1C3-3D4B-A556E4894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Como mostrar os equipamentos registrados</a:t>
            </a:r>
          </a:p>
        </p:txBody>
      </p:sp>
      <p:grpSp>
        <p:nvGrpSpPr>
          <p:cNvPr id="10" name="Agrupar 9">
            <a:extLst>
              <a:ext uri="{FF2B5EF4-FFF2-40B4-BE49-F238E27FC236}">
                <a16:creationId xmlns:a16="http://schemas.microsoft.com/office/drawing/2014/main" id="{39FA6042-1511-7572-4085-62A1CE180370}"/>
              </a:ext>
            </a:extLst>
          </p:cNvPr>
          <p:cNvGrpSpPr/>
          <p:nvPr/>
        </p:nvGrpSpPr>
        <p:grpSpPr>
          <a:xfrm>
            <a:off x="749185" y="2320507"/>
            <a:ext cx="5139781" cy="3579557"/>
            <a:chOff x="499019" y="2135911"/>
            <a:chExt cx="4408828" cy="3105805"/>
          </a:xfrm>
        </p:grpSpPr>
        <p:pic>
          <p:nvPicPr>
            <p:cNvPr id="7" name="Imagem 6">
              <a:extLst>
                <a:ext uri="{FF2B5EF4-FFF2-40B4-BE49-F238E27FC236}">
                  <a16:creationId xmlns:a16="http://schemas.microsoft.com/office/drawing/2014/main" id="{7FB28246-6AAC-BB49-8A97-48DB955BAE4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99019" y="2135911"/>
              <a:ext cx="3240000" cy="1752245"/>
            </a:xfrm>
            <a:prstGeom prst="rect">
              <a:avLst/>
            </a:prstGeom>
          </p:spPr>
        </p:pic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C9DCCF41-6E4C-4CA0-7BE0-B7740FA1D3D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67847" y="3292934"/>
              <a:ext cx="3240000" cy="1948782"/>
            </a:xfrm>
            <a:prstGeom prst="rect">
              <a:avLst/>
            </a:prstGeom>
          </p:spPr>
        </p:pic>
      </p:grpSp>
      <p:cxnSp>
        <p:nvCxnSpPr>
          <p:cNvPr id="9" name="Conector de Seta Reta 8">
            <a:extLst>
              <a:ext uri="{FF2B5EF4-FFF2-40B4-BE49-F238E27FC236}">
                <a16:creationId xmlns:a16="http://schemas.microsoft.com/office/drawing/2014/main" id="{3E381279-5B1B-AEB3-F1F7-6FE4EF9399D2}"/>
              </a:ext>
            </a:extLst>
          </p:cNvPr>
          <p:cNvCxnSpPr>
            <a:cxnSpLocks/>
          </p:cNvCxnSpPr>
          <p:nvPr/>
        </p:nvCxnSpPr>
        <p:spPr>
          <a:xfrm>
            <a:off x="6029864" y="3899139"/>
            <a:ext cx="118757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66841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BBC94D-3630-498C-A00A-2202A6D60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é uma API 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3A9BF02-7583-49C1-ABA2-9069727D5F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1978388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pt-BR" dirty="0"/>
              <a:t>API (</a:t>
            </a:r>
            <a:r>
              <a:rPr lang="pt-BR" dirty="0" err="1"/>
              <a:t>Application</a:t>
            </a:r>
            <a:r>
              <a:rPr lang="pt-BR" dirty="0"/>
              <a:t> </a:t>
            </a:r>
            <a:r>
              <a:rPr lang="pt-BR" dirty="0" err="1"/>
              <a:t>Programming</a:t>
            </a:r>
            <a:r>
              <a:rPr lang="pt-BR" dirty="0"/>
              <a:t> Interface, ou Interface de Programação de Aplicações) é um conjunto de regras e definições que permite que diferentes sistemas e aplicações se comuniquem entre si.</a:t>
            </a:r>
          </a:p>
          <a:p>
            <a:pPr>
              <a:spcBef>
                <a:spcPts val="0"/>
              </a:spcBef>
            </a:pPr>
            <a:r>
              <a:rPr lang="pt-BR" dirty="0"/>
              <a:t>Ela funciona como um intermediário que recebe uma solicitação (</a:t>
            </a:r>
            <a:r>
              <a:rPr lang="pt-BR" dirty="0" err="1"/>
              <a:t>request</a:t>
            </a:r>
            <a:r>
              <a:rPr lang="pt-BR" dirty="0"/>
              <a:t>), processa essa solicitação e retorna uma resposta (response).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73AB85A0-3188-4586-8077-725E1EAA38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9402" y="4622379"/>
            <a:ext cx="1080000" cy="1080000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A9FF9E80-5371-4AD4-8C49-36EDFE84FD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2600" y="4622379"/>
            <a:ext cx="1080000" cy="1080000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A8F71259-1908-4EBE-B9C7-32A908EBAC4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6002" y="4622379"/>
            <a:ext cx="1080000" cy="1080000"/>
          </a:xfrm>
          <a:prstGeom prst="rect">
            <a:avLst/>
          </a:prstGeom>
        </p:spPr>
      </p:pic>
      <p:cxnSp>
        <p:nvCxnSpPr>
          <p:cNvPr id="15" name="Conector de Seta Reta 14">
            <a:extLst>
              <a:ext uri="{FF2B5EF4-FFF2-40B4-BE49-F238E27FC236}">
                <a16:creationId xmlns:a16="http://schemas.microsoft.com/office/drawing/2014/main" id="{E22AF104-2538-4BC5-9615-9E6115FFBCF8}"/>
              </a:ext>
            </a:extLst>
          </p:cNvPr>
          <p:cNvCxnSpPr>
            <a:cxnSpLocks/>
          </p:cNvCxnSpPr>
          <p:nvPr/>
        </p:nvCxnSpPr>
        <p:spPr>
          <a:xfrm>
            <a:off x="3207702" y="4979499"/>
            <a:ext cx="1980000" cy="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de Seta Reta 15">
            <a:extLst>
              <a:ext uri="{FF2B5EF4-FFF2-40B4-BE49-F238E27FC236}">
                <a16:creationId xmlns:a16="http://schemas.microsoft.com/office/drawing/2014/main" id="{14CBF28F-36D2-48EA-96BF-E50483F6A8B3}"/>
              </a:ext>
            </a:extLst>
          </p:cNvPr>
          <p:cNvCxnSpPr>
            <a:cxnSpLocks/>
          </p:cNvCxnSpPr>
          <p:nvPr/>
        </p:nvCxnSpPr>
        <p:spPr>
          <a:xfrm>
            <a:off x="6464302" y="4979499"/>
            <a:ext cx="1980000" cy="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>
            <a:extLst>
              <a:ext uri="{FF2B5EF4-FFF2-40B4-BE49-F238E27FC236}">
                <a16:creationId xmlns:a16="http://schemas.microsoft.com/office/drawing/2014/main" id="{3312B63D-245E-4FE5-8C4E-6AF242C59C49}"/>
              </a:ext>
            </a:extLst>
          </p:cNvPr>
          <p:cNvCxnSpPr>
            <a:cxnSpLocks/>
          </p:cNvCxnSpPr>
          <p:nvPr/>
        </p:nvCxnSpPr>
        <p:spPr>
          <a:xfrm flipH="1">
            <a:off x="3207702" y="5340905"/>
            <a:ext cx="1980000" cy="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de Seta Reta 17">
            <a:extLst>
              <a:ext uri="{FF2B5EF4-FFF2-40B4-BE49-F238E27FC236}">
                <a16:creationId xmlns:a16="http://schemas.microsoft.com/office/drawing/2014/main" id="{C65F895A-F8F6-43E4-9E3E-79FF545CA042}"/>
              </a:ext>
            </a:extLst>
          </p:cNvPr>
          <p:cNvCxnSpPr>
            <a:cxnSpLocks/>
          </p:cNvCxnSpPr>
          <p:nvPr/>
        </p:nvCxnSpPr>
        <p:spPr>
          <a:xfrm flipH="1">
            <a:off x="6464302" y="5340905"/>
            <a:ext cx="1980000" cy="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tângulo 18">
            <a:extLst>
              <a:ext uri="{FF2B5EF4-FFF2-40B4-BE49-F238E27FC236}">
                <a16:creationId xmlns:a16="http://schemas.microsoft.com/office/drawing/2014/main" id="{CA2DDDCF-DA35-42DE-B3C0-64207E632297}"/>
              </a:ext>
            </a:extLst>
          </p:cNvPr>
          <p:cNvSpPr/>
          <p:nvPr/>
        </p:nvSpPr>
        <p:spPr>
          <a:xfrm>
            <a:off x="3771945" y="4606205"/>
            <a:ext cx="8515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request</a:t>
            </a: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74D5C7F8-046F-4CD0-B826-D31D7F3903F9}"/>
              </a:ext>
            </a:extLst>
          </p:cNvPr>
          <p:cNvSpPr/>
          <p:nvPr/>
        </p:nvSpPr>
        <p:spPr>
          <a:xfrm>
            <a:off x="7028545" y="4606205"/>
            <a:ext cx="8515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request</a:t>
            </a: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58056D9D-3A95-449C-8D3F-73221A463C39}"/>
              </a:ext>
            </a:extLst>
          </p:cNvPr>
          <p:cNvSpPr/>
          <p:nvPr/>
        </p:nvSpPr>
        <p:spPr>
          <a:xfrm>
            <a:off x="3771945" y="5351927"/>
            <a:ext cx="90281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reponse</a:t>
            </a: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70AEF8D3-EA9C-42AD-8EB4-D296ADFE0F06}"/>
              </a:ext>
            </a:extLst>
          </p:cNvPr>
          <p:cNvSpPr/>
          <p:nvPr/>
        </p:nvSpPr>
        <p:spPr>
          <a:xfrm>
            <a:off x="7002897" y="5351927"/>
            <a:ext cx="90281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reponse</a:t>
            </a: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79806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BBC94D-3630-498C-A00A-2202A6D60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com o mundo real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73AB85A0-3188-4586-8077-725E1EAA38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9368" y="2521168"/>
            <a:ext cx="1080000" cy="1080000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A9FF9E80-5371-4AD4-8C49-36EDFE84FD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2566" y="2521168"/>
            <a:ext cx="1080000" cy="1080000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A8F71259-1908-4EBE-B9C7-32A908EBAC4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5966" y="2521168"/>
            <a:ext cx="1080000" cy="1080000"/>
          </a:xfrm>
          <a:prstGeom prst="rect">
            <a:avLst/>
          </a:prstGeom>
        </p:spPr>
      </p:pic>
      <p:grpSp>
        <p:nvGrpSpPr>
          <p:cNvPr id="34" name="Agrupar 33">
            <a:extLst>
              <a:ext uri="{FF2B5EF4-FFF2-40B4-BE49-F238E27FC236}">
                <a16:creationId xmlns:a16="http://schemas.microsoft.com/office/drawing/2014/main" id="{05A1C4F2-D6F1-45A3-84DE-369E348D11D1}"/>
              </a:ext>
            </a:extLst>
          </p:cNvPr>
          <p:cNvGrpSpPr/>
          <p:nvPr/>
        </p:nvGrpSpPr>
        <p:grpSpPr>
          <a:xfrm>
            <a:off x="3477667" y="2504994"/>
            <a:ext cx="1980000" cy="1115054"/>
            <a:chOff x="3477668" y="2089427"/>
            <a:chExt cx="1980000" cy="1115054"/>
          </a:xfrm>
        </p:grpSpPr>
        <p:cxnSp>
          <p:nvCxnSpPr>
            <p:cNvPr id="15" name="Conector de Seta Reta 14">
              <a:extLst>
                <a:ext uri="{FF2B5EF4-FFF2-40B4-BE49-F238E27FC236}">
                  <a16:creationId xmlns:a16="http://schemas.microsoft.com/office/drawing/2014/main" id="{E22AF104-2538-4BC5-9615-9E6115FFBCF8}"/>
                </a:ext>
              </a:extLst>
            </p:cNvPr>
            <p:cNvCxnSpPr>
              <a:cxnSpLocks/>
            </p:cNvCxnSpPr>
            <p:nvPr/>
          </p:nvCxnSpPr>
          <p:spPr>
            <a:xfrm>
              <a:off x="3477668" y="2462721"/>
              <a:ext cx="1980000" cy="0"/>
            </a:xfrm>
            <a:prstGeom prst="straightConnector1">
              <a:avLst/>
            </a:prstGeom>
            <a:ln w="28575"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de Seta Reta 16">
              <a:extLst>
                <a:ext uri="{FF2B5EF4-FFF2-40B4-BE49-F238E27FC236}">
                  <a16:creationId xmlns:a16="http://schemas.microsoft.com/office/drawing/2014/main" id="{3312B63D-245E-4FE5-8C4E-6AF242C59C4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477668" y="2824127"/>
              <a:ext cx="1980000" cy="0"/>
            </a:xfrm>
            <a:prstGeom prst="straightConnector1">
              <a:avLst/>
            </a:prstGeom>
            <a:ln w="28575"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Retângulo 18">
              <a:extLst>
                <a:ext uri="{FF2B5EF4-FFF2-40B4-BE49-F238E27FC236}">
                  <a16:creationId xmlns:a16="http://schemas.microsoft.com/office/drawing/2014/main" id="{CA2DDDCF-DA35-42DE-B3C0-64207E632297}"/>
                </a:ext>
              </a:extLst>
            </p:cNvPr>
            <p:cNvSpPr/>
            <p:nvPr/>
          </p:nvSpPr>
          <p:spPr>
            <a:xfrm>
              <a:off x="4041911" y="2089427"/>
              <a:ext cx="851515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BR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request</a:t>
              </a:r>
              <a:endParaRPr lang="pt-BR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Retângulo 20">
              <a:extLst>
                <a:ext uri="{FF2B5EF4-FFF2-40B4-BE49-F238E27FC236}">
                  <a16:creationId xmlns:a16="http://schemas.microsoft.com/office/drawing/2014/main" id="{58056D9D-3A95-449C-8D3F-73221A463C39}"/>
                </a:ext>
              </a:extLst>
            </p:cNvPr>
            <p:cNvSpPr/>
            <p:nvPr/>
          </p:nvSpPr>
          <p:spPr>
            <a:xfrm>
              <a:off x="3971379" y="2835149"/>
              <a:ext cx="992579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B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response</a:t>
              </a:r>
            </a:p>
          </p:txBody>
        </p:sp>
      </p:grpSp>
      <p:grpSp>
        <p:nvGrpSpPr>
          <p:cNvPr id="35" name="Agrupar 34">
            <a:extLst>
              <a:ext uri="{FF2B5EF4-FFF2-40B4-BE49-F238E27FC236}">
                <a16:creationId xmlns:a16="http://schemas.microsoft.com/office/drawing/2014/main" id="{DA600B1E-C020-4E5C-A226-F46501157864}"/>
              </a:ext>
            </a:extLst>
          </p:cNvPr>
          <p:cNvGrpSpPr/>
          <p:nvPr/>
        </p:nvGrpSpPr>
        <p:grpSpPr>
          <a:xfrm>
            <a:off x="6734265" y="2504994"/>
            <a:ext cx="1980000" cy="1115054"/>
            <a:chOff x="6734268" y="2089427"/>
            <a:chExt cx="1980000" cy="1115054"/>
          </a:xfrm>
        </p:grpSpPr>
        <p:cxnSp>
          <p:nvCxnSpPr>
            <p:cNvPr id="16" name="Conector de Seta Reta 15">
              <a:extLst>
                <a:ext uri="{FF2B5EF4-FFF2-40B4-BE49-F238E27FC236}">
                  <a16:creationId xmlns:a16="http://schemas.microsoft.com/office/drawing/2014/main" id="{14CBF28F-36D2-48EA-96BF-E50483F6A8B3}"/>
                </a:ext>
              </a:extLst>
            </p:cNvPr>
            <p:cNvCxnSpPr>
              <a:cxnSpLocks/>
            </p:cNvCxnSpPr>
            <p:nvPr/>
          </p:nvCxnSpPr>
          <p:spPr>
            <a:xfrm>
              <a:off x="6734268" y="2462721"/>
              <a:ext cx="1980000" cy="0"/>
            </a:xfrm>
            <a:prstGeom prst="straightConnector1">
              <a:avLst/>
            </a:prstGeom>
            <a:ln w="28575"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ector de Seta Reta 17">
              <a:extLst>
                <a:ext uri="{FF2B5EF4-FFF2-40B4-BE49-F238E27FC236}">
                  <a16:creationId xmlns:a16="http://schemas.microsoft.com/office/drawing/2014/main" id="{C65F895A-F8F6-43E4-9E3E-79FF545CA04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34268" y="2824127"/>
              <a:ext cx="1980000" cy="0"/>
            </a:xfrm>
            <a:prstGeom prst="straightConnector1">
              <a:avLst/>
            </a:prstGeom>
            <a:ln w="28575"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Retângulo 19">
              <a:extLst>
                <a:ext uri="{FF2B5EF4-FFF2-40B4-BE49-F238E27FC236}">
                  <a16:creationId xmlns:a16="http://schemas.microsoft.com/office/drawing/2014/main" id="{74D5C7F8-046F-4CD0-B826-D31D7F3903F9}"/>
                </a:ext>
              </a:extLst>
            </p:cNvPr>
            <p:cNvSpPr/>
            <p:nvPr/>
          </p:nvSpPr>
          <p:spPr>
            <a:xfrm>
              <a:off x="7298511" y="2089427"/>
              <a:ext cx="851515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BR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request</a:t>
              </a:r>
              <a:endParaRPr lang="pt-BR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Retângulo 21">
              <a:extLst>
                <a:ext uri="{FF2B5EF4-FFF2-40B4-BE49-F238E27FC236}">
                  <a16:creationId xmlns:a16="http://schemas.microsoft.com/office/drawing/2014/main" id="{70AEF8D3-EA9C-42AD-8EB4-D296ADFE0F06}"/>
                </a:ext>
              </a:extLst>
            </p:cNvPr>
            <p:cNvSpPr/>
            <p:nvPr/>
          </p:nvSpPr>
          <p:spPr>
            <a:xfrm>
              <a:off x="7272863" y="2835149"/>
              <a:ext cx="90281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BR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reponse</a:t>
              </a:r>
              <a:endParaRPr lang="pt-BR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7" name="Imagem 6">
            <a:extLst>
              <a:ext uri="{FF2B5EF4-FFF2-40B4-BE49-F238E27FC236}">
                <a16:creationId xmlns:a16="http://schemas.microsoft.com/office/drawing/2014/main" id="{5D738ADD-39E2-47D0-BE88-E3CA3EF34CB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9368" y="4454009"/>
            <a:ext cx="1080000" cy="1080000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CD784BB9-E261-4801-B8B1-615F8EBEA9A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5966" y="4454009"/>
            <a:ext cx="1080000" cy="1080000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EC14F329-561C-42C4-9E8D-2DDB1E60A94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2566" y="4454009"/>
            <a:ext cx="1080000" cy="1080000"/>
          </a:xfrm>
          <a:prstGeom prst="rect">
            <a:avLst/>
          </a:prstGeom>
        </p:spPr>
      </p:pic>
      <p:grpSp>
        <p:nvGrpSpPr>
          <p:cNvPr id="33" name="Agrupar 32">
            <a:extLst>
              <a:ext uri="{FF2B5EF4-FFF2-40B4-BE49-F238E27FC236}">
                <a16:creationId xmlns:a16="http://schemas.microsoft.com/office/drawing/2014/main" id="{9F2C79CE-06FE-4CD6-9ADC-E8BA6B79D26F}"/>
              </a:ext>
            </a:extLst>
          </p:cNvPr>
          <p:cNvGrpSpPr/>
          <p:nvPr/>
        </p:nvGrpSpPr>
        <p:grpSpPr>
          <a:xfrm>
            <a:off x="3477667" y="4478075"/>
            <a:ext cx="1980000" cy="1115054"/>
            <a:chOff x="3477668" y="4788155"/>
            <a:chExt cx="1980000" cy="1115054"/>
          </a:xfrm>
        </p:grpSpPr>
        <p:cxnSp>
          <p:nvCxnSpPr>
            <p:cNvPr id="23" name="Conector de Seta Reta 22">
              <a:extLst>
                <a:ext uri="{FF2B5EF4-FFF2-40B4-BE49-F238E27FC236}">
                  <a16:creationId xmlns:a16="http://schemas.microsoft.com/office/drawing/2014/main" id="{38C5F1E2-CD4C-4837-9917-FC9030EE1752}"/>
                </a:ext>
              </a:extLst>
            </p:cNvPr>
            <p:cNvCxnSpPr>
              <a:cxnSpLocks/>
            </p:cNvCxnSpPr>
            <p:nvPr/>
          </p:nvCxnSpPr>
          <p:spPr>
            <a:xfrm>
              <a:off x="3477668" y="5161449"/>
              <a:ext cx="1980000" cy="0"/>
            </a:xfrm>
            <a:prstGeom prst="straightConnector1">
              <a:avLst/>
            </a:prstGeom>
            <a:ln w="28575"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ector de Seta Reta 23">
              <a:extLst>
                <a:ext uri="{FF2B5EF4-FFF2-40B4-BE49-F238E27FC236}">
                  <a16:creationId xmlns:a16="http://schemas.microsoft.com/office/drawing/2014/main" id="{90577E20-0B9A-43F2-BFA4-78C0315C892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477668" y="5522855"/>
              <a:ext cx="1980000" cy="0"/>
            </a:xfrm>
            <a:prstGeom prst="straightConnector1">
              <a:avLst/>
            </a:prstGeom>
            <a:ln w="28575"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Retângulo 24">
              <a:extLst>
                <a:ext uri="{FF2B5EF4-FFF2-40B4-BE49-F238E27FC236}">
                  <a16:creationId xmlns:a16="http://schemas.microsoft.com/office/drawing/2014/main" id="{41143AFF-11C6-4F48-9C19-19D6B0BEC295}"/>
                </a:ext>
              </a:extLst>
            </p:cNvPr>
            <p:cNvSpPr/>
            <p:nvPr/>
          </p:nvSpPr>
          <p:spPr>
            <a:xfrm>
              <a:off x="4041911" y="4788155"/>
              <a:ext cx="851515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BR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request</a:t>
              </a:r>
              <a:endParaRPr lang="pt-BR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6" name="Retângulo 25">
              <a:extLst>
                <a:ext uri="{FF2B5EF4-FFF2-40B4-BE49-F238E27FC236}">
                  <a16:creationId xmlns:a16="http://schemas.microsoft.com/office/drawing/2014/main" id="{62B1EBE9-BFA5-4E97-BFCC-2B802F45D393}"/>
                </a:ext>
              </a:extLst>
            </p:cNvPr>
            <p:cNvSpPr/>
            <p:nvPr/>
          </p:nvSpPr>
          <p:spPr>
            <a:xfrm>
              <a:off x="3971379" y="5533877"/>
              <a:ext cx="992579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B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response</a:t>
              </a:r>
            </a:p>
          </p:txBody>
        </p:sp>
      </p:grpSp>
      <p:grpSp>
        <p:nvGrpSpPr>
          <p:cNvPr id="32" name="Agrupar 31">
            <a:extLst>
              <a:ext uri="{FF2B5EF4-FFF2-40B4-BE49-F238E27FC236}">
                <a16:creationId xmlns:a16="http://schemas.microsoft.com/office/drawing/2014/main" id="{1298BC37-51BC-4243-BD52-0A05AC90507A}"/>
              </a:ext>
            </a:extLst>
          </p:cNvPr>
          <p:cNvGrpSpPr/>
          <p:nvPr/>
        </p:nvGrpSpPr>
        <p:grpSpPr>
          <a:xfrm>
            <a:off x="6734265" y="4478075"/>
            <a:ext cx="1980000" cy="1115054"/>
            <a:chOff x="6832566" y="4788155"/>
            <a:chExt cx="1980000" cy="1115054"/>
          </a:xfrm>
        </p:grpSpPr>
        <p:cxnSp>
          <p:nvCxnSpPr>
            <p:cNvPr id="28" name="Conector de Seta Reta 27">
              <a:extLst>
                <a:ext uri="{FF2B5EF4-FFF2-40B4-BE49-F238E27FC236}">
                  <a16:creationId xmlns:a16="http://schemas.microsoft.com/office/drawing/2014/main" id="{12B6D63E-7A2F-488C-AE78-4F4C6E6BEBD1}"/>
                </a:ext>
              </a:extLst>
            </p:cNvPr>
            <p:cNvCxnSpPr>
              <a:cxnSpLocks/>
            </p:cNvCxnSpPr>
            <p:nvPr/>
          </p:nvCxnSpPr>
          <p:spPr>
            <a:xfrm>
              <a:off x="6832566" y="5161449"/>
              <a:ext cx="1980000" cy="0"/>
            </a:xfrm>
            <a:prstGeom prst="straightConnector1">
              <a:avLst/>
            </a:prstGeom>
            <a:ln w="28575"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ector de Seta Reta 28">
              <a:extLst>
                <a:ext uri="{FF2B5EF4-FFF2-40B4-BE49-F238E27FC236}">
                  <a16:creationId xmlns:a16="http://schemas.microsoft.com/office/drawing/2014/main" id="{464F244F-ECE2-4A1B-BEB5-6CF43160E51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32566" y="5522855"/>
              <a:ext cx="1980000" cy="0"/>
            </a:xfrm>
            <a:prstGeom prst="straightConnector1">
              <a:avLst/>
            </a:prstGeom>
            <a:ln w="28575"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Retângulo 29">
              <a:extLst>
                <a:ext uri="{FF2B5EF4-FFF2-40B4-BE49-F238E27FC236}">
                  <a16:creationId xmlns:a16="http://schemas.microsoft.com/office/drawing/2014/main" id="{F63735C2-FE40-4050-BD99-A2B775601892}"/>
                </a:ext>
              </a:extLst>
            </p:cNvPr>
            <p:cNvSpPr/>
            <p:nvPr/>
          </p:nvSpPr>
          <p:spPr>
            <a:xfrm>
              <a:off x="7396809" y="4788155"/>
              <a:ext cx="851515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BR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request</a:t>
              </a:r>
              <a:endParaRPr lang="pt-BR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" name="Retângulo 30">
              <a:extLst>
                <a:ext uri="{FF2B5EF4-FFF2-40B4-BE49-F238E27FC236}">
                  <a16:creationId xmlns:a16="http://schemas.microsoft.com/office/drawing/2014/main" id="{6B381306-6B39-4BB7-BA95-A85B4E61D15A}"/>
                </a:ext>
              </a:extLst>
            </p:cNvPr>
            <p:cNvSpPr/>
            <p:nvPr/>
          </p:nvSpPr>
          <p:spPr>
            <a:xfrm>
              <a:off x="7371161" y="5533877"/>
              <a:ext cx="90281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BR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reponse</a:t>
              </a:r>
              <a:endParaRPr lang="pt-BR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302515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8C1BD2-1860-4128-A38E-31FF7B7DDF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são GET, POST, PUT e DELETE?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B64F687-2EB1-4898-AF95-B06854DA8F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Essas palavras representam os métodos HTTP, que são usados para comunicação entre clientes (como navegadores ou aplicativos) e servidores. Cada um desses métodos define uma ação específica a ser realizada em um recurso da API.</a:t>
            </a:r>
          </a:p>
          <a:p>
            <a:pPr marL="1028700" lvl="1" indent="-342900"/>
            <a:r>
              <a:rPr lang="pt-BR" b="1" dirty="0"/>
              <a:t>GET  - </a:t>
            </a:r>
            <a:r>
              <a:rPr lang="pt-BR" dirty="0"/>
              <a:t>Busca dados em um servidor sem alterá-los, como ao consultar um CEP. </a:t>
            </a:r>
          </a:p>
          <a:p>
            <a:pPr marL="1028700" lvl="1" indent="-342900"/>
            <a:r>
              <a:rPr lang="pt-BR" b="1" dirty="0"/>
              <a:t>POST - </a:t>
            </a:r>
            <a:r>
              <a:rPr lang="pt-BR" dirty="0"/>
              <a:t>Envia informações para um servidor para criar um novo recurso, como cadastrar um usuário. </a:t>
            </a:r>
          </a:p>
          <a:p>
            <a:pPr marL="1028700" lvl="1" indent="-342900"/>
            <a:r>
              <a:rPr lang="pt-BR" b="1" dirty="0"/>
              <a:t>PUT - </a:t>
            </a:r>
            <a:r>
              <a:rPr lang="pt-BR" dirty="0"/>
              <a:t>Atualiza completamente um recurso existente, substituindo seus dados. </a:t>
            </a:r>
          </a:p>
          <a:p>
            <a:pPr marL="1028700" lvl="1" indent="-342900"/>
            <a:r>
              <a:rPr lang="pt-BR" b="1" dirty="0"/>
              <a:t>DELETE </a:t>
            </a:r>
            <a:r>
              <a:rPr lang="pt-BR" dirty="0"/>
              <a:t>- Remove um recurso de dentro de um servidor, como excluir uma conta. </a:t>
            </a:r>
          </a:p>
        </p:txBody>
      </p:sp>
    </p:spTree>
    <p:extLst>
      <p:ext uri="{BB962C8B-B14F-4D97-AF65-F5344CB8AC3E}">
        <p14:creationId xmlns:p14="http://schemas.microsoft.com/office/powerpoint/2010/main" val="33887804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B1D258-59A5-4810-A5FD-D0D7FB9E1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é JSON?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B448151-6978-4E43-BCC0-D82A5D1D6B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JSON (</a:t>
            </a:r>
            <a:r>
              <a:rPr lang="pt-BR" dirty="0" err="1"/>
              <a:t>JavaScript</a:t>
            </a:r>
            <a:r>
              <a:rPr lang="pt-BR" dirty="0"/>
              <a:t> </a:t>
            </a:r>
            <a:r>
              <a:rPr lang="pt-BR" dirty="0" err="1"/>
              <a:t>Object</a:t>
            </a:r>
            <a:r>
              <a:rPr lang="pt-BR" dirty="0"/>
              <a:t> </a:t>
            </a:r>
            <a:r>
              <a:rPr lang="pt-BR" dirty="0" err="1"/>
              <a:t>Notation</a:t>
            </a:r>
            <a:r>
              <a:rPr lang="pt-BR" dirty="0"/>
              <a:t>) é um formato leve para armazenar e transmitir dados, estruturado como um conjunto de pares chave: valor. Ele é amplamente utilizado para comunicação entre aplicações web e APIs, sendo usado em aplicações como: </a:t>
            </a:r>
          </a:p>
          <a:p>
            <a:pPr marL="1028700" lvl="1" indent="-342900"/>
            <a:r>
              <a:rPr lang="pt-BR" dirty="0"/>
              <a:t>Respostas de APIs (como </a:t>
            </a:r>
            <a:r>
              <a:rPr lang="pt-BR" dirty="0" err="1"/>
              <a:t>ViaCEP</a:t>
            </a:r>
            <a:r>
              <a:rPr lang="pt-BR" dirty="0"/>
              <a:t>, </a:t>
            </a:r>
            <a:r>
              <a:rPr lang="pt-BR" dirty="0" err="1"/>
              <a:t>OpenWeather</a:t>
            </a:r>
            <a:r>
              <a:rPr lang="pt-BR" dirty="0"/>
              <a:t>, etc.).</a:t>
            </a:r>
          </a:p>
          <a:p>
            <a:pPr marL="1028700" lvl="1" indent="-342900"/>
            <a:r>
              <a:rPr lang="pt-BR" dirty="0"/>
              <a:t>Armazenamento de configurações (ex.: </a:t>
            </a:r>
            <a:r>
              <a:rPr lang="pt-BR" dirty="0" err="1"/>
              <a:t>package.json</a:t>
            </a:r>
            <a:r>
              <a:rPr lang="pt-BR" dirty="0"/>
              <a:t> em projetos Node.js).</a:t>
            </a:r>
          </a:p>
          <a:p>
            <a:pPr marL="1028700" lvl="1" indent="-342900"/>
            <a:r>
              <a:rPr lang="pt-BR" dirty="0"/>
              <a:t>Troca de dados entre sistemas em aplicações web e móveis.</a:t>
            </a:r>
          </a:p>
        </p:txBody>
      </p:sp>
    </p:spTree>
    <p:extLst>
      <p:ext uri="{BB962C8B-B14F-4D97-AF65-F5344CB8AC3E}">
        <p14:creationId xmlns:p14="http://schemas.microsoft.com/office/powerpoint/2010/main" val="13833639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C53988-9CCA-5AF2-B6B9-ABB6C6CE7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JSON-Server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DB8CA1E-E052-2067-AEFD-99CB320D9E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1476495"/>
          </a:xfrm>
        </p:spPr>
        <p:txBody>
          <a:bodyPr/>
          <a:lstStyle/>
          <a:p>
            <a:r>
              <a:rPr lang="pt-BR" sz="1600" dirty="0"/>
              <a:t>O </a:t>
            </a:r>
            <a:r>
              <a:rPr lang="pt-BR" sz="1600" b="1" dirty="0"/>
              <a:t>JSON Server</a:t>
            </a:r>
            <a:r>
              <a:rPr lang="pt-BR" sz="1600" dirty="0"/>
              <a:t> é uma ferramenta que permite criar rapidamente uma API REST simulada a partir de um arquivo JSON. Ele funciona como um </a:t>
            </a:r>
            <a:r>
              <a:rPr lang="pt-BR" sz="1600" b="1" dirty="0" err="1"/>
              <a:t>back-end</a:t>
            </a:r>
            <a:r>
              <a:rPr lang="pt-BR" sz="1600" b="1" dirty="0"/>
              <a:t> fictício</a:t>
            </a:r>
            <a:r>
              <a:rPr lang="pt-BR" sz="1600" dirty="0"/>
              <a:t>, permitindo que o front-</a:t>
            </a:r>
            <a:r>
              <a:rPr lang="pt-BR" sz="1600" dirty="0" err="1"/>
              <a:t>end</a:t>
            </a:r>
            <a:r>
              <a:rPr lang="pt-BR" sz="1600" dirty="0"/>
              <a:t> faça requisições HTTP como GET, POST, PUT e DELETE. Nesta aula, vamos utilizá-lo para simular o gerenciamento de produtos da nossa loja sem precisar desenvolver um </a:t>
            </a:r>
            <a:r>
              <a:rPr lang="pt-BR" sz="1600" dirty="0" err="1"/>
              <a:t>back-end</a:t>
            </a:r>
            <a:r>
              <a:rPr lang="pt-BR" sz="1600" dirty="0"/>
              <a:t> real.</a:t>
            </a:r>
          </a:p>
          <a:p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982D238A-61CA-655A-C7F3-B3A661791B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3629" y="4048044"/>
            <a:ext cx="1080000" cy="1080000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C133673A-93C4-C20D-4AEB-BB43A726A3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6827" y="4048044"/>
            <a:ext cx="1080000" cy="1080000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26E50033-9BD6-AC99-6276-FF74998AF6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0227" y="4048044"/>
            <a:ext cx="1080000" cy="1080000"/>
          </a:xfrm>
          <a:prstGeom prst="rect">
            <a:avLst/>
          </a:prstGeom>
        </p:spPr>
      </p:pic>
      <p:grpSp>
        <p:nvGrpSpPr>
          <p:cNvPr id="7" name="Agrupar 6">
            <a:extLst>
              <a:ext uri="{FF2B5EF4-FFF2-40B4-BE49-F238E27FC236}">
                <a16:creationId xmlns:a16="http://schemas.microsoft.com/office/drawing/2014/main" id="{1CC3EFD7-D5E6-D220-1304-BFDB624A12EE}"/>
              </a:ext>
            </a:extLst>
          </p:cNvPr>
          <p:cNvGrpSpPr/>
          <p:nvPr/>
        </p:nvGrpSpPr>
        <p:grpSpPr>
          <a:xfrm>
            <a:off x="2571928" y="4031870"/>
            <a:ext cx="1980000" cy="1115054"/>
            <a:chOff x="3477668" y="2089427"/>
            <a:chExt cx="1980000" cy="1115054"/>
          </a:xfrm>
        </p:grpSpPr>
        <p:cxnSp>
          <p:nvCxnSpPr>
            <p:cNvPr id="8" name="Conector de Seta Reta 7">
              <a:extLst>
                <a:ext uri="{FF2B5EF4-FFF2-40B4-BE49-F238E27FC236}">
                  <a16:creationId xmlns:a16="http://schemas.microsoft.com/office/drawing/2014/main" id="{05E9777C-8DAE-4029-3839-2E0D60E9B4DF}"/>
                </a:ext>
              </a:extLst>
            </p:cNvPr>
            <p:cNvCxnSpPr>
              <a:cxnSpLocks/>
            </p:cNvCxnSpPr>
            <p:nvPr/>
          </p:nvCxnSpPr>
          <p:spPr>
            <a:xfrm>
              <a:off x="3477668" y="2462721"/>
              <a:ext cx="1980000" cy="0"/>
            </a:xfrm>
            <a:prstGeom prst="straightConnector1">
              <a:avLst/>
            </a:prstGeom>
            <a:ln w="28575"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ector de Seta Reta 8">
              <a:extLst>
                <a:ext uri="{FF2B5EF4-FFF2-40B4-BE49-F238E27FC236}">
                  <a16:creationId xmlns:a16="http://schemas.microsoft.com/office/drawing/2014/main" id="{BE7656D8-6F2D-073A-AFE4-7A7205BEA4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477668" y="2824127"/>
              <a:ext cx="1980000" cy="0"/>
            </a:xfrm>
            <a:prstGeom prst="straightConnector1">
              <a:avLst/>
            </a:prstGeom>
            <a:ln w="28575"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Retângulo 9">
              <a:extLst>
                <a:ext uri="{FF2B5EF4-FFF2-40B4-BE49-F238E27FC236}">
                  <a16:creationId xmlns:a16="http://schemas.microsoft.com/office/drawing/2014/main" id="{33FCD0A1-8C88-0612-F44B-9814F08A82F9}"/>
                </a:ext>
              </a:extLst>
            </p:cNvPr>
            <p:cNvSpPr/>
            <p:nvPr/>
          </p:nvSpPr>
          <p:spPr>
            <a:xfrm>
              <a:off x="4041911" y="2089427"/>
              <a:ext cx="851515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BR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request</a:t>
              </a:r>
              <a:endParaRPr lang="pt-BR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Retângulo 10">
              <a:extLst>
                <a:ext uri="{FF2B5EF4-FFF2-40B4-BE49-F238E27FC236}">
                  <a16:creationId xmlns:a16="http://schemas.microsoft.com/office/drawing/2014/main" id="{E4B777FA-A4FB-213F-19F4-DD5160707D63}"/>
                </a:ext>
              </a:extLst>
            </p:cNvPr>
            <p:cNvSpPr/>
            <p:nvPr/>
          </p:nvSpPr>
          <p:spPr>
            <a:xfrm>
              <a:off x="3971379" y="2835149"/>
              <a:ext cx="992579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B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response</a:t>
              </a:r>
            </a:p>
          </p:txBody>
        </p:sp>
      </p:grp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19BA9B52-0D02-13F2-4D66-F2F26801D8BD}"/>
              </a:ext>
            </a:extLst>
          </p:cNvPr>
          <p:cNvGrpSpPr/>
          <p:nvPr/>
        </p:nvGrpSpPr>
        <p:grpSpPr>
          <a:xfrm>
            <a:off x="5828526" y="4031870"/>
            <a:ext cx="1980000" cy="1115054"/>
            <a:chOff x="6734268" y="2089427"/>
            <a:chExt cx="1980000" cy="1115054"/>
          </a:xfrm>
        </p:grpSpPr>
        <p:cxnSp>
          <p:nvCxnSpPr>
            <p:cNvPr id="13" name="Conector de Seta Reta 12">
              <a:extLst>
                <a:ext uri="{FF2B5EF4-FFF2-40B4-BE49-F238E27FC236}">
                  <a16:creationId xmlns:a16="http://schemas.microsoft.com/office/drawing/2014/main" id="{6042E576-F89C-23B0-93BD-24915ED3C75E}"/>
                </a:ext>
              </a:extLst>
            </p:cNvPr>
            <p:cNvCxnSpPr>
              <a:cxnSpLocks/>
            </p:cNvCxnSpPr>
            <p:nvPr/>
          </p:nvCxnSpPr>
          <p:spPr>
            <a:xfrm>
              <a:off x="6734268" y="2462721"/>
              <a:ext cx="1980000" cy="0"/>
            </a:xfrm>
            <a:prstGeom prst="straightConnector1">
              <a:avLst/>
            </a:prstGeom>
            <a:ln w="28575"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ector de Seta Reta 13">
              <a:extLst>
                <a:ext uri="{FF2B5EF4-FFF2-40B4-BE49-F238E27FC236}">
                  <a16:creationId xmlns:a16="http://schemas.microsoft.com/office/drawing/2014/main" id="{2429B4CC-9FBF-0122-2B4F-34FCB04740E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34268" y="2824127"/>
              <a:ext cx="1980000" cy="0"/>
            </a:xfrm>
            <a:prstGeom prst="straightConnector1">
              <a:avLst/>
            </a:prstGeom>
            <a:ln w="28575"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Retângulo 14">
              <a:extLst>
                <a:ext uri="{FF2B5EF4-FFF2-40B4-BE49-F238E27FC236}">
                  <a16:creationId xmlns:a16="http://schemas.microsoft.com/office/drawing/2014/main" id="{5861BC04-FB6E-C1C0-0CDB-D0362C1B2E67}"/>
                </a:ext>
              </a:extLst>
            </p:cNvPr>
            <p:cNvSpPr/>
            <p:nvPr/>
          </p:nvSpPr>
          <p:spPr>
            <a:xfrm>
              <a:off x="7298511" y="2089427"/>
              <a:ext cx="851515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BR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request</a:t>
              </a:r>
              <a:endParaRPr lang="pt-BR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Retângulo 15">
              <a:extLst>
                <a:ext uri="{FF2B5EF4-FFF2-40B4-BE49-F238E27FC236}">
                  <a16:creationId xmlns:a16="http://schemas.microsoft.com/office/drawing/2014/main" id="{2F80BF28-B9E3-4AD2-9DD8-A21F2930DF6D}"/>
                </a:ext>
              </a:extLst>
            </p:cNvPr>
            <p:cNvSpPr/>
            <p:nvPr/>
          </p:nvSpPr>
          <p:spPr>
            <a:xfrm>
              <a:off x="7272863" y="2835149"/>
              <a:ext cx="90281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BR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reponse</a:t>
              </a:r>
              <a:endParaRPr lang="pt-BR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8" name="Retângulo 17">
            <a:extLst>
              <a:ext uri="{FF2B5EF4-FFF2-40B4-BE49-F238E27FC236}">
                <a16:creationId xmlns:a16="http://schemas.microsoft.com/office/drawing/2014/main" id="{35B6CCB1-7F4B-7812-2748-140008C80526}"/>
              </a:ext>
            </a:extLst>
          </p:cNvPr>
          <p:cNvSpPr/>
          <p:nvPr/>
        </p:nvSpPr>
        <p:spPr>
          <a:xfrm>
            <a:off x="9420884" y="4216536"/>
            <a:ext cx="139653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JSON Server</a:t>
            </a:r>
          </a:p>
          <a:p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db.json</a:t>
            </a: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51675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169926-66C9-E8D9-E88F-DF83CCC30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Como instalar o JSON-Server</a:t>
            </a:r>
          </a:p>
        </p:txBody>
      </p:sp>
      <p:sp>
        <p:nvSpPr>
          <p:cNvPr id="4" name="Espaço Reservado para Conteúdo 5">
            <a:extLst>
              <a:ext uri="{FF2B5EF4-FFF2-40B4-BE49-F238E27FC236}">
                <a16:creationId xmlns:a16="http://schemas.microsoft.com/office/drawing/2014/main" id="{B985A1DE-1C57-DBCF-90DE-766022BEF0FB}"/>
              </a:ext>
            </a:extLst>
          </p:cNvPr>
          <p:cNvSpPr txBox="1">
            <a:spLocks/>
          </p:cNvSpPr>
          <p:nvPr/>
        </p:nvSpPr>
        <p:spPr>
          <a:xfrm>
            <a:off x="592347" y="1890767"/>
            <a:ext cx="3815751" cy="366590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9144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3716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18288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pt-BR" dirty="0"/>
              <a:t>Verificar o Node.js:</a:t>
            </a:r>
          </a:p>
        </p:txBody>
      </p:sp>
      <p:grpSp>
        <p:nvGrpSpPr>
          <p:cNvPr id="5" name="Agrupar 4">
            <a:extLst>
              <a:ext uri="{FF2B5EF4-FFF2-40B4-BE49-F238E27FC236}">
                <a16:creationId xmlns:a16="http://schemas.microsoft.com/office/drawing/2014/main" id="{CFE8BC8B-B77C-EA18-385E-A8ADEC830A8A}"/>
              </a:ext>
            </a:extLst>
          </p:cNvPr>
          <p:cNvGrpSpPr/>
          <p:nvPr/>
        </p:nvGrpSpPr>
        <p:grpSpPr>
          <a:xfrm>
            <a:off x="749184" y="2456193"/>
            <a:ext cx="8907433" cy="638572"/>
            <a:chOff x="749185" y="2527734"/>
            <a:chExt cx="5284556" cy="638572"/>
          </a:xfrm>
        </p:grpSpPr>
        <p:sp>
          <p:nvSpPr>
            <p:cNvPr id="6" name="Shape 20">
              <a:extLst>
                <a:ext uri="{FF2B5EF4-FFF2-40B4-BE49-F238E27FC236}">
                  <a16:creationId xmlns:a16="http://schemas.microsoft.com/office/drawing/2014/main" id="{0792856E-ADEE-0B2B-C0D2-088D46F750EF}"/>
                </a:ext>
              </a:extLst>
            </p:cNvPr>
            <p:cNvSpPr/>
            <p:nvPr/>
          </p:nvSpPr>
          <p:spPr>
            <a:xfrm>
              <a:off x="749185" y="2527734"/>
              <a:ext cx="5284556" cy="638572"/>
            </a:xfrm>
            <a:prstGeom prst="roundRect">
              <a:avLst>
                <a:gd name="adj" fmla="val 8081"/>
              </a:avLst>
            </a:prstGeom>
            <a:solidFill>
              <a:srgbClr val="F2F2F2"/>
            </a:solidFill>
            <a:ln/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 21">
              <a:extLst>
                <a:ext uri="{FF2B5EF4-FFF2-40B4-BE49-F238E27FC236}">
                  <a16:creationId xmlns:a16="http://schemas.microsoft.com/office/drawing/2014/main" id="{34FCB611-6168-027F-8F72-D032DAAE9404}"/>
                </a:ext>
              </a:extLst>
            </p:cNvPr>
            <p:cNvSpPr/>
            <p:nvPr/>
          </p:nvSpPr>
          <p:spPr>
            <a:xfrm>
              <a:off x="896521" y="2712610"/>
              <a:ext cx="4989884" cy="2688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node --version</a:t>
              </a:r>
              <a:endParaRPr lang="en-US" dirty="0"/>
            </a:p>
          </p:txBody>
        </p:sp>
      </p:grpSp>
      <p:grpSp>
        <p:nvGrpSpPr>
          <p:cNvPr id="15" name="Agrupar 14">
            <a:extLst>
              <a:ext uri="{FF2B5EF4-FFF2-40B4-BE49-F238E27FC236}">
                <a16:creationId xmlns:a16="http://schemas.microsoft.com/office/drawing/2014/main" id="{C985975C-B049-A9C5-C7DE-8503FE04DD94}"/>
              </a:ext>
            </a:extLst>
          </p:cNvPr>
          <p:cNvGrpSpPr/>
          <p:nvPr/>
        </p:nvGrpSpPr>
        <p:grpSpPr>
          <a:xfrm>
            <a:off x="592347" y="3410557"/>
            <a:ext cx="9064270" cy="1203998"/>
            <a:chOff x="589474" y="3302621"/>
            <a:chExt cx="9064270" cy="1203998"/>
          </a:xfrm>
        </p:grpSpPr>
        <p:sp>
          <p:nvSpPr>
            <p:cNvPr id="3" name="Espaço Reservado para Conteúdo 5">
              <a:extLst>
                <a:ext uri="{FF2B5EF4-FFF2-40B4-BE49-F238E27FC236}">
                  <a16:creationId xmlns:a16="http://schemas.microsoft.com/office/drawing/2014/main" id="{247C2454-B9AB-204D-FAE4-B0C5692C5594}"/>
                </a:ext>
              </a:extLst>
            </p:cNvPr>
            <p:cNvSpPr txBox="1">
              <a:spLocks/>
            </p:cNvSpPr>
            <p:nvPr/>
          </p:nvSpPr>
          <p:spPr>
            <a:xfrm>
              <a:off x="589474" y="3302621"/>
              <a:ext cx="3815751" cy="366590"/>
            </a:xfrm>
            <a:prstGeom prst="rect">
              <a:avLst/>
            </a:prstGeom>
          </p:spPr>
          <p:txBody>
            <a:bodyPr/>
            <a:lstStyle>
              <a:lvl1pPr marL="0" indent="0" algn="just" defTabSz="914400" rtl="0" eaLnBrk="1" latinLnBrk="0" hangingPunct="1">
                <a:lnSpc>
                  <a:spcPct val="15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lvl1pPr>
              <a:lvl2pPr marL="457200" indent="0" algn="just" defTabSz="914400" rtl="0" eaLnBrk="1" latinLnBrk="0" hangingPunct="1">
                <a:lnSpc>
                  <a:spcPct val="15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lvl2pPr>
              <a:lvl3pPr marL="914400" indent="0" algn="just" defTabSz="914400" rtl="0" eaLnBrk="1" latinLnBrk="0" hangingPunct="1">
                <a:lnSpc>
                  <a:spcPct val="15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1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lvl3pPr>
              <a:lvl4pPr marL="1371600" indent="0" algn="just" defTabSz="914400" rtl="0" eaLnBrk="1" latinLnBrk="0" hangingPunct="1">
                <a:lnSpc>
                  <a:spcPct val="15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lvl4pPr>
              <a:lvl5pPr marL="1828800" indent="0" algn="just" defTabSz="914400" rtl="0" eaLnBrk="1" latinLnBrk="0" hangingPunct="1">
                <a:lnSpc>
                  <a:spcPct val="15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10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00000"/>
                </a:lnSpc>
              </a:pPr>
              <a:r>
                <a:rPr lang="pt-BR" dirty="0"/>
                <a:t>Verificar o Node.js:</a:t>
              </a:r>
            </a:p>
          </p:txBody>
        </p:sp>
        <p:grpSp>
          <p:nvGrpSpPr>
            <p:cNvPr id="12" name="Agrupar 11">
              <a:extLst>
                <a:ext uri="{FF2B5EF4-FFF2-40B4-BE49-F238E27FC236}">
                  <a16:creationId xmlns:a16="http://schemas.microsoft.com/office/drawing/2014/main" id="{6B80A611-6A3B-667C-AE87-0E8FC00F1226}"/>
                </a:ext>
              </a:extLst>
            </p:cNvPr>
            <p:cNvGrpSpPr/>
            <p:nvPr/>
          </p:nvGrpSpPr>
          <p:grpSpPr>
            <a:xfrm>
              <a:off x="746311" y="3868047"/>
              <a:ext cx="8907433" cy="638572"/>
              <a:chOff x="749185" y="2527734"/>
              <a:chExt cx="5284556" cy="638572"/>
            </a:xfrm>
          </p:grpSpPr>
          <p:sp>
            <p:nvSpPr>
              <p:cNvPr id="13" name="Shape 20">
                <a:extLst>
                  <a:ext uri="{FF2B5EF4-FFF2-40B4-BE49-F238E27FC236}">
                    <a16:creationId xmlns:a16="http://schemas.microsoft.com/office/drawing/2014/main" id="{89CC96E3-9D77-4CEB-CA67-F258C0EAA6CE}"/>
                  </a:ext>
                </a:extLst>
              </p:cNvPr>
              <p:cNvSpPr/>
              <p:nvPr/>
            </p:nvSpPr>
            <p:spPr>
              <a:xfrm>
                <a:off x="749185" y="2527734"/>
                <a:ext cx="5284556" cy="638572"/>
              </a:xfrm>
              <a:prstGeom prst="roundRect">
                <a:avLst>
                  <a:gd name="adj" fmla="val 8081"/>
                </a:avLst>
              </a:prstGeom>
              <a:solidFill>
                <a:srgbClr val="F2F2F2"/>
              </a:solidFill>
              <a:ln/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4" name="Text 21">
                <a:extLst>
                  <a:ext uri="{FF2B5EF4-FFF2-40B4-BE49-F238E27FC236}">
                    <a16:creationId xmlns:a16="http://schemas.microsoft.com/office/drawing/2014/main" id="{82079513-6889-2050-607D-74B0BBF86CDF}"/>
                  </a:ext>
                </a:extLst>
              </p:cNvPr>
              <p:cNvSpPr/>
              <p:nvPr/>
            </p:nvSpPr>
            <p:spPr>
              <a:xfrm>
                <a:off x="896521" y="2712610"/>
                <a:ext cx="4989884" cy="26882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>
                <a:noAutofit/>
              </a:bodyPr>
              <a:lstStyle/>
              <a:p>
                <a:pPr marL="0" indent="0" algn="l">
                  <a:buNone/>
                </a:pPr>
                <a:r>
                  <a:rPr lang="en-US" kern="0" spc="-19" dirty="0" err="1">
                    <a:solidFill>
                      <a:srgbClr val="D73A49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npm</a:t>
                </a:r>
                <a:r>
                  <a:rPr lang="en-US" kern="0" spc="-19" dirty="0">
                    <a:solidFill>
                      <a:srgbClr val="D73A49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 --version</a:t>
                </a:r>
                <a:endParaRPr lang="en-US" dirty="0"/>
              </a:p>
            </p:txBody>
          </p:sp>
        </p:grpSp>
      </p:grpSp>
      <p:sp>
        <p:nvSpPr>
          <p:cNvPr id="18" name="Espaço Reservado para Conteúdo 5">
            <a:extLst>
              <a:ext uri="{FF2B5EF4-FFF2-40B4-BE49-F238E27FC236}">
                <a16:creationId xmlns:a16="http://schemas.microsoft.com/office/drawing/2014/main" id="{973A8B69-E8B5-804B-DD0B-74DF76BDABF9}"/>
              </a:ext>
            </a:extLst>
          </p:cNvPr>
          <p:cNvSpPr txBox="1">
            <a:spLocks/>
          </p:cNvSpPr>
          <p:nvPr/>
        </p:nvSpPr>
        <p:spPr>
          <a:xfrm>
            <a:off x="592346" y="4930347"/>
            <a:ext cx="9257507" cy="448573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9144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3716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18288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pt-BR" dirty="0"/>
              <a:t>Se ambos retornarem uma versão, o ambiente está pronto.</a:t>
            </a:r>
          </a:p>
        </p:txBody>
      </p:sp>
    </p:spTree>
    <p:extLst>
      <p:ext uri="{BB962C8B-B14F-4D97-AF65-F5344CB8AC3E}">
        <p14:creationId xmlns:p14="http://schemas.microsoft.com/office/powerpoint/2010/main" val="18432937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5035EB-312D-3D0B-C028-05B5A6D39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170476-C401-6991-C8F0-6E2FD2129D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Instalar o JSON Server</a:t>
            </a:r>
          </a:p>
        </p:txBody>
      </p:sp>
      <p:sp>
        <p:nvSpPr>
          <p:cNvPr id="4" name="Espaço Reservado para Conteúdo 5">
            <a:extLst>
              <a:ext uri="{FF2B5EF4-FFF2-40B4-BE49-F238E27FC236}">
                <a16:creationId xmlns:a16="http://schemas.microsoft.com/office/drawing/2014/main" id="{E5450F55-75C0-BD48-905F-E35037EA5776}"/>
              </a:ext>
            </a:extLst>
          </p:cNvPr>
          <p:cNvSpPr txBox="1">
            <a:spLocks/>
          </p:cNvSpPr>
          <p:nvPr/>
        </p:nvSpPr>
        <p:spPr>
          <a:xfrm>
            <a:off x="592347" y="1890767"/>
            <a:ext cx="3815751" cy="366590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9144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3716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18288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pt-BR" dirty="0"/>
              <a:t>Podemos instalar globalmente:</a:t>
            </a:r>
          </a:p>
        </p:txBody>
      </p:sp>
      <p:grpSp>
        <p:nvGrpSpPr>
          <p:cNvPr id="5" name="Agrupar 4">
            <a:extLst>
              <a:ext uri="{FF2B5EF4-FFF2-40B4-BE49-F238E27FC236}">
                <a16:creationId xmlns:a16="http://schemas.microsoft.com/office/drawing/2014/main" id="{A71A1586-54F2-96B5-8F0A-5A5E999BD6B7}"/>
              </a:ext>
            </a:extLst>
          </p:cNvPr>
          <p:cNvGrpSpPr/>
          <p:nvPr/>
        </p:nvGrpSpPr>
        <p:grpSpPr>
          <a:xfrm>
            <a:off x="749184" y="2456193"/>
            <a:ext cx="8907433" cy="638572"/>
            <a:chOff x="749185" y="2527734"/>
            <a:chExt cx="5284556" cy="638572"/>
          </a:xfrm>
        </p:grpSpPr>
        <p:sp>
          <p:nvSpPr>
            <p:cNvPr id="6" name="Shape 20">
              <a:extLst>
                <a:ext uri="{FF2B5EF4-FFF2-40B4-BE49-F238E27FC236}">
                  <a16:creationId xmlns:a16="http://schemas.microsoft.com/office/drawing/2014/main" id="{B1C448F4-6A99-7510-2237-AA8DF04EFB0A}"/>
                </a:ext>
              </a:extLst>
            </p:cNvPr>
            <p:cNvSpPr/>
            <p:nvPr/>
          </p:nvSpPr>
          <p:spPr>
            <a:xfrm>
              <a:off x="749185" y="2527734"/>
              <a:ext cx="5284556" cy="638572"/>
            </a:xfrm>
            <a:prstGeom prst="roundRect">
              <a:avLst>
                <a:gd name="adj" fmla="val 8081"/>
              </a:avLst>
            </a:prstGeom>
            <a:solidFill>
              <a:srgbClr val="F2F2F2"/>
            </a:solidFill>
            <a:ln/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 21">
              <a:extLst>
                <a:ext uri="{FF2B5EF4-FFF2-40B4-BE49-F238E27FC236}">
                  <a16:creationId xmlns:a16="http://schemas.microsoft.com/office/drawing/2014/main" id="{57E4EE17-6A14-0BCD-0D70-19E4D8E5A736}"/>
                </a:ext>
              </a:extLst>
            </p:cNvPr>
            <p:cNvSpPr/>
            <p:nvPr/>
          </p:nvSpPr>
          <p:spPr>
            <a:xfrm>
              <a:off x="896521" y="2712610"/>
              <a:ext cx="4989884" cy="2688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kern="0" spc="-19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npm</a:t>
              </a:r>
              <a:r>
                <a:rPr lang="en-US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install -g </a:t>
              </a:r>
              <a:r>
                <a:rPr lang="en-US" kern="0" spc="-19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json</a:t>
              </a:r>
              <a:r>
                <a:rPr lang="en-US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-server</a:t>
              </a:r>
              <a:endParaRPr lang="en-US" dirty="0"/>
            </a:p>
          </p:txBody>
        </p:sp>
      </p:grpSp>
      <p:grpSp>
        <p:nvGrpSpPr>
          <p:cNvPr id="15" name="Agrupar 14">
            <a:extLst>
              <a:ext uri="{FF2B5EF4-FFF2-40B4-BE49-F238E27FC236}">
                <a16:creationId xmlns:a16="http://schemas.microsoft.com/office/drawing/2014/main" id="{9147B520-85D2-983D-A2CE-BB338031C2D7}"/>
              </a:ext>
            </a:extLst>
          </p:cNvPr>
          <p:cNvGrpSpPr/>
          <p:nvPr/>
        </p:nvGrpSpPr>
        <p:grpSpPr>
          <a:xfrm>
            <a:off x="592347" y="3410557"/>
            <a:ext cx="9064270" cy="1203998"/>
            <a:chOff x="589474" y="3302621"/>
            <a:chExt cx="9064270" cy="1203998"/>
          </a:xfrm>
        </p:grpSpPr>
        <p:sp>
          <p:nvSpPr>
            <p:cNvPr id="3" name="Espaço Reservado para Conteúdo 5">
              <a:extLst>
                <a:ext uri="{FF2B5EF4-FFF2-40B4-BE49-F238E27FC236}">
                  <a16:creationId xmlns:a16="http://schemas.microsoft.com/office/drawing/2014/main" id="{8434964C-FB74-6737-34DF-003AFA41F274}"/>
                </a:ext>
              </a:extLst>
            </p:cNvPr>
            <p:cNvSpPr txBox="1">
              <a:spLocks/>
            </p:cNvSpPr>
            <p:nvPr/>
          </p:nvSpPr>
          <p:spPr>
            <a:xfrm>
              <a:off x="589474" y="3302621"/>
              <a:ext cx="3815751" cy="366590"/>
            </a:xfrm>
            <a:prstGeom prst="rect">
              <a:avLst/>
            </a:prstGeom>
          </p:spPr>
          <p:txBody>
            <a:bodyPr/>
            <a:lstStyle>
              <a:lvl1pPr marL="0" indent="0" algn="just" defTabSz="914400" rtl="0" eaLnBrk="1" latinLnBrk="0" hangingPunct="1">
                <a:lnSpc>
                  <a:spcPct val="15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lvl1pPr>
              <a:lvl2pPr marL="457200" indent="0" algn="just" defTabSz="914400" rtl="0" eaLnBrk="1" latinLnBrk="0" hangingPunct="1">
                <a:lnSpc>
                  <a:spcPct val="15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lvl2pPr>
              <a:lvl3pPr marL="914400" indent="0" algn="just" defTabSz="914400" rtl="0" eaLnBrk="1" latinLnBrk="0" hangingPunct="1">
                <a:lnSpc>
                  <a:spcPct val="15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1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lvl3pPr>
              <a:lvl4pPr marL="1371600" indent="0" algn="just" defTabSz="914400" rtl="0" eaLnBrk="1" latinLnBrk="0" hangingPunct="1">
                <a:lnSpc>
                  <a:spcPct val="15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lvl4pPr>
              <a:lvl5pPr marL="1828800" indent="0" algn="just" defTabSz="914400" rtl="0" eaLnBrk="1" latinLnBrk="0" hangingPunct="1">
                <a:lnSpc>
                  <a:spcPct val="15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10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00000"/>
                </a:lnSpc>
              </a:pPr>
              <a:r>
                <a:rPr lang="pt-BR" dirty="0"/>
                <a:t>Depois verificamos:</a:t>
              </a:r>
            </a:p>
          </p:txBody>
        </p:sp>
        <p:grpSp>
          <p:nvGrpSpPr>
            <p:cNvPr id="12" name="Agrupar 11">
              <a:extLst>
                <a:ext uri="{FF2B5EF4-FFF2-40B4-BE49-F238E27FC236}">
                  <a16:creationId xmlns:a16="http://schemas.microsoft.com/office/drawing/2014/main" id="{DAD4CBD1-3A12-19AD-DC25-771641230CF1}"/>
                </a:ext>
              </a:extLst>
            </p:cNvPr>
            <p:cNvGrpSpPr/>
            <p:nvPr/>
          </p:nvGrpSpPr>
          <p:grpSpPr>
            <a:xfrm>
              <a:off x="746311" y="3868047"/>
              <a:ext cx="8907433" cy="638572"/>
              <a:chOff x="749185" y="2527734"/>
              <a:chExt cx="5284556" cy="638572"/>
            </a:xfrm>
          </p:grpSpPr>
          <p:sp>
            <p:nvSpPr>
              <p:cNvPr id="13" name="Shape 20">
                <a:extLst>
                  <a:ext uri="{FF2B5EF4-FFF2-40B4-BE49-F238E27FC236}">
                    <a16:creationId xmlns:a16="http://schemas.microsoft.com/office/drawing/2014/main" id="{FE6F9897-7F77-630E-1ED8-26AE63DB9D31}"/>
                  </a:ext>
                </a:extLst>
              </p:cNvPr>
              <p:cNvSpPr/>
              <p:nvPr/>
            </p:nvSpPr>
            <p:spPr>
              <a:xfrm>
                <a:off x="749185" y="2527734"/>
                <a:ext cx="5284556" cy="638572"/>
              </a:xfrm>
              <a:prstGeom prst="roundRect">
                <a:avLst>
                  <a:gd name="adj" fmla="val 8081"/>
                </a:avLst>
              </a:prstGeom>
              <a:solidFill>
                <a:srgbClr val="F2F2F2"/>
              </a:solidFill>
              <a:ln/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4" name="Text 21">
                <a:extLst>
                  <a:ext uri="{FF2B5EF4-FFF2-40B4-BE49-F238E27FC236}">
                    <a16:creationId xmlns:a16="http://schemas.microsoft.com/office/drawing/2014/main" id="{76C4C474-CB6C-49BC-C25C-ACEB7DD878DC}"/>
                  </a:ext>
                </a:extLst>
              </p:cNvPr>
              <p:cNvSpPr/>
              <p:nvPr/>
            </p:nvSpPr>
            <p:spPr>
              <a:xfrm>
                <a:off x="896521" y="2712610"/>
                <a:ext cx="4989884" cy="26882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>
                <a:noAutofit/>
              </a:bodyPr>
              <a:lstStyle/>
              <a:p>
                <a:pPr marL="0" indent="0" algn="l">
                  <a:buNone/>
                </a:pPr>
                <a:r>
                  <a:rPr lang="en-US" kern="0" spc="-19" dirty="0" err="1">
                    <a:solidFill>
                      <a:srgbClr val="D73A49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json</a:t>
                </a:r>
                <a:r>
                  <a:rPr lang="en-US" kern="0" spc="-19" dirty="0">
                    <a:solidFill>
                      <a:srgbClr val="D73A49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-server --version</a:t>
                </a:r>
                <a:endParaRPr lang="en-U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3760020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BB740B-70C0-8485-A450-4585879F8E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272F83-FECB-AFCA-AD53-7A7F5FA167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Criar o projeto</a:t>
            </a:r>
          </a:p>
        </p:txBody>
      </p:sp>
      <p:sp>
        <p:nvSpPr>
          <p:cNvPr id="4" name="Espaço Reservado para Conteúdo 5">
            <a:extLst>
              <a:ext uri="{FF2B5EF4-FFF2-40B4-BE49-F238E27FC236}">
                <a16:creationId xmlns:a16="http://schemas.microsoft.com/office/drawing/2014/main" id="{3290F7B8-7F16-99CB-32B3-DFD2C0FCCBDF}"/>
              </a:ext>
            </a:extLst>
          </p:cNvPr>
          <p:cNvSpPr txBox="1">
            <a:spLocks/>
          </p:cNvSpPr>
          <p:nvPr/>
        </p:nvSpPr>
        <p:spPr>
          <a:xfrm>
            <a:off x="592347" y="1890767"/>
            <a:ext cx="3815751" cy="366590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9144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3716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18288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pt-BR" dirty="0"/>
              <a:t>Dentro da pasta do projeto:</a:t>
            </a:r>
          </a:p>
        </p:txBody>
      </p:sp>
      <p:grpSp>
        <p:nvGrpSpPr>
          <p:cNvPr id="5" name="Agrupar 4">
            <a:extLst>
              <a:ext uri="{FF2B5EF4-FFF2-40B4-BE49-F238E27FC236}">
                <a16:creationId xmlns:a16="http://schemas.microsoft.com/office/drawing/2014/main" id="{CC8B7FA4-5037-B67A-64A5-F1AA40011401}"/>
              </a:ext>
            </a:extLst>
          </p:cNvPr>
          <p:cNvGrpSpPr/>
          <p:nvPr/>
        </p:nvGrpSpPr>
        <p:grpSpPr>
          <a:xfrm>
            <a:off x="749184" y="2456193"/>
            <a:ext cx="8907433" cy="1805256"/>
            <a:chOff x="749185" y="2527734"/>
            <a:chExt cx="5284556" cy="1805256"/>
          </a:xfrm>
        </p:grpSpPr>
        <p:sp>
          <p:nvSpPr>
            <p:cNvPr id="6" name="Shape 20">
              <a:extLst>
                <a:ext uri="{FF2B5EF4-FFF2-40B4-BE49-F238E27FC236}">
                  <a16:creationId xmlns:a16="http://schemas.microsoft.com/office/drawing/2014/main" id="{2FC2A2B6-4E61-EECC-C271-E93C0C8586EE}"/>
                </a:ext>
              </a:extLst>
            </p:cNvPr>
            <p:cNvSpPr/>
            <p:nvPr/>
          </p:nvSpPr>
          <p:spPr>
            <a:xfrm>
              <a:off x="749185" y="2527734"/>
              <a:ext cx="5284556" cy="1805256"/>
            </a:xfrm>
            <a:prstGeom prst="roundRect">
              <a:avLst>
                <a:gd name="adj" fmla="val 8081"/>
              </a:avLst>
            </a:prstGeom>
            <a:solidFill>
              <a:srgbClr val="F2F2F2"/>
            </a:solidFill>
            <a:ln/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 21">
              <a:extLst>
                <a:ext uri="{FF2B5EF4-FFF2-40B4-BE49-F238E27FC236}">
                  <a16:creationId xmlns:a16="http://schemas.microsoft.com/office/drawing/2014/main" id="{DB9E0A09-415B-32F3-A09C-62522C6558CB}"/>
                </a:ext>
              </a:extLst>
            </p:cNvPr>
            <p:cNvSpPr/>
            <p:nvPr/>
          </p:nvSpPr>
          <p:spPr>
            <a:xfrm>
              <a:off x="896521" y="2710750"/>
              <a:ext cx="4989884" cy="14392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tech-store/</a:t>
              </a:r>
            </a:p>
            <a:p>
              <a:pPr marL="0" indent="0" algn="l">
                <a:buNone/>
              </a:pPr>
              <a:r>
                <a:rPr lang="en-US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├── index.html</a:t>
              </a:r>
            </a:p>
            <a:p>
              <a:pPr marL="0" indent="0" algn="l">
                <a:buNone/>
              </a:pPr>
              <a:r>
                <a:rPr lang="en-US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├── </a:t>
              </a:r>
              <a:r>
                <a:rPr lang="en-US" kern="0" spc="-19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css</a:t>
              </a:r>
              <a:r>
                <a:rPr lang="en-US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/</a:t>
              </a:r>
            </a:p>
            <a:p>
              <a:pPr marL="0" indent="0" algn="l">
                <a:buNone/>
              </a:pPr>
              <a:r>
                <a:rPr lang="en-US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│      └── style.css</a:t>
              </a:r>
            </a:p>
            <a:p>
              <a:pPr marL="0" indent="0" algn="l">
                <a:buNone/>
              </a:pPr>
              <a:r>
                <a:rPr lang="en-US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└── </a:t>
              </a:r>
              <a:r>
                <a:rPr lang="en-US" kern="0" spc="-19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db.json</a:t>
              </a:r>
              <a:endParaRPr lang="en-US" dirty="0"/>
            </a:p>
          </p:txBody>
        </p:sp>
      </p:grpSp>
      <p:grpSp>
        <p:nvGrpSpPr>
          <p:cNvPr id="15" name="Agrupar 14">
            <a:extLst>
              <a:ext uri="{FF2B5EF4-FFF2-40B4-BE49-F238E27FC236}">
                <a16:creationId xmlns:a16="http://schemas.microsoft.com/office/drawing/2014/main" id="{54B90C01-25E1-5695-0428-4DC67F43ADB8}"/>
              </a:ext>
            </a:extLst>
          </p:cNvPr>
          <p:cNvGrpSpPr/>
          <p:nvPr/>
        </p:nvGrpSpPr>
        <p:grpSpPr>
          <a:xfrm>
            <a:off x="592347" y="4460285"/>
            <a:ext cx="9064270" cy="2087164"/>
            <a:chOff x="589474" y="3302621"/>
            <a:chExt cx="9064270" cy="2087164"/>
          </a:xfrm>
        </p:grpSpPr>
        <p:sp>
          <p:nvSpPr>
            <p:cNvPr id="3" name="Espaço Reservado para Conteúdo 5">
              <a:extLst>
                <a:ext uri="{FF2B5EF4-FFF2-40B4-BE49-F238E27FC236}">
                  <a16:creationId xmlns:a16="http://schemas.microsoft.com/office/drawing/2014/main" id="{E4EE7C42-64C6-0016-943B-6F122075F4B5}"/>
                </a:ext>
              </a:extLst>
            </p:cNvPr>
            <p:cNvSpPr txBox="1">
              <a:spLocks/>
            </p:cNvSpPr>
            <p:nvPr/>
          </p:nvSpPr>
          <p:spPr>
            <a:xfrm>
              <a:off x="589474" y="3302621"/>
              <a:ext cx="6584830" cy="366590"/>
            </a:xfrm>
            <a:prstGeom prst="rect">
              <a:avLst/>
            </a:prstGeom>
          </p:spPr>
          <p:txBody>
            <a:bodyPr/>
            <a:lstStyle>
              <a:lvl1pPr marL="0" indent="0" algn="just" defTabSz="914400" rtl="0" eaLnBrk="1" latinLnBrk="0" hangingPunct="1">
                <a:lnSpc>
                  <a:spcPct val="15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lvl1pPr>
              <a:lvl2pPr marL="457200" indent="0" algn="just" defTabSz="914400" rtl="0" eaLnBrk="1" latinLnBrk="0" hangingPunct="1">
                <a:lnSpc>
                  <a:spcPct val="15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lvl2pPr>
              <a:lvl3pPr marL="914400" indent="0" algn="just" defTabSz="914400" rtl="0" eaLnBrk="1" latinLnBrk="0" hangingPunct="1">
                <a:lnSpc>
                  <a:spcPct val="15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1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lvl3pPr>
              <a:lvl4pPr marL="1371600" indent="0" algn="just" defTabSz="914400" rtl="0" eaLnBrk="1" latinLnBrk="0" hangingPunct="1">
                <a:lnSpc>
                  <a:spcPct val="15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lvl4pPr>
              <a:lvl5pPr marL="1828800" indent="0" algn="just" defTabSz="914400" rtl="0" eaLnBrk="1" latinLnBrk="0" hangingPunct="1">
                <a:lnSpc>
                  <a:spcPct val="15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10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00000"/>
                </a:lnSpc>
              </a:pPr>
              <a:r>
                <a:rPr lang="pt-BR" dirty="0"/>
                <a:t>No </a:t>
              </a:r>
              <a:r>
                <a:rPr lang="pt-BR" dirty="0" err="1"/>
                <a:t>db.json</a:t>
              </a:r>
              <a:r>
                <a:rPr lang="pt-BR" dirty="0"/>
                <a:t>, inicialmente podemos deixar:</a:t>
              </a:r>
            </a:p>
          </p:txBody>
        </p:sp>
        <p:grpSp>
          <p:nvGrpSpPr>
            <p:cNvPr id="12" name="Agrupar 11">
              <a:extLst>
                <a:ext uri="{FF2B5EF4-FFF2-40B4-BE49-F238E27FC236}">
                  <a16:creationId xmlns:a16="http://schemas.microsoft.com/office/drawing/2014/main" id="{AFCE276F-A178-4778-8926-D64023E7E7D0}"/>
                </a:ext>
              </a:extLst>
            </p:cNvPr>
            <p:cNvGrpSpPr/>
            <p:nvPr/>
          </p:nvGrpSpPr>
          <p:grpSpPr>
            <a:xfrm>
              <a:off x="746311" y="3868047"/>
              <a:ext cx="8907433" cy="1521738"/>
              <a:chOff x="749185" y="2527734"/>
              <a:chExt cx="5284556" cy="1521738"/>
            </a:xfrm>
          </p:grpSpPr>
          <p:sp>
            <p:nvSpPr>
              <p:cNvPr id="13" name="Shape 20">
                <a:extLst>
                  <a:ext uri="{FF2B5EF4-FFF2-40B4-BE49-F238E27FC236}">
                    <a16:creationId xmlns:a16="http://schemas.microsoft.com/office/drawing/2014/main" id="{38ABB9DB-759C-34F8-EA79-C27A56F5AE22}"/>
                  </a:ext>
                </a:extLst>
              </p:cNvPr>
              <p:cNvSpPr/>
              <p:nvPr/>
            </p:nvSpPr>
            <p:spPr>
              <a:xfrm>
                <a:off x="749185" y="2527734"/>
                <a:ext cx="5284556" cy="1521738"/>
              </a:xfrm>
              <a:prstGeom prst="roundRect">
                <a:avLst>
                  <a:gd name="adj" fmla="val 8081"/>
                </a:avLst>
              </a:prstGeom>
              <a:solidFill>
                <a:srgbClr val="F2F2F2"/>
              </a:solidFill>
              <a:ln/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4" name="Text 21">
                <a:extLst>
                  <a:ext uri="{FF2B5EF4-FFF2-40B4-BE49-F238E27FC236}">
                    <a16:creationId xmlns:a16="http://schemas.microsoft.com/office/drawing/2014/main" id="{7DA2996A-BF5F-6AA3-45BE-5C13A5C08FC8}"/>
                  </a:ext>
                </a:extLst>
              </p:cNvPr>
              <p:cNvSpPr/>
              <p:nvPr/>
            </p:nvSpPr>
            <p:spPr>
              <a:xfrm>
                <a:off x="896521" y="2831519"/>
                <a:ext cx="4989884" cy="91416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>
                <a:noAutofit/>
              </a:bodyPr>
              <a:lstStyle/>
              <a:p>
                <a:r>
                  <a:rPr lang="en-US" kern="0" spc="-19" dirty="0">
                    <a:solidFill>
                      <a:srgbClr val="D73A49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{</a:t>
                </a:r>
              </a:p>
              <a:p>
                <a:r>
                  <a:rPr lang="en-US" kern="0" spc="-19" dirty="0">
                    <a:solidFill>
                      <a:srgbClr val="D73A49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  "</a:t>
                </a:r>
                <a:r>
                  <a:rPr lang="en-US" kern="0" spc="-19" dirty="0" err="1">
                    <a:solidFill>
                      <a:srgbClr val="D73A49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produtos</a:t>
                </a:r>
                <a:r>
                  <a:rPr lang="en-US" kern="0" spc="-19" dirty="0">
                    <a:solidFill>
                      <a:srgbClr val="D73A49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": []</a:t>
                </a:r>
              </a:p>
              <a:p>
                <a:r>
                  <a:rPr lang="en-US" kern="0" spc="-19" dirty="0">
                    <a:solidFill>
                      <a:srgbClr val="D73A49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}</a:t>
                </a:r>
                <a:endParaRPr lang="en-U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6811982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94E511-7937-0ABF-92CC-71A2F2FA1C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0D6A16-AC0A-7A8B-8C81-F26C51682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Instalar o JSON Server</a:t>
            </a:r>
          </a:p>
        </p:txBody>
      </p:sp>
      <p:grpSp>
        <p:nvGrpSpPr>
          <p:cNvPr id="8" name="Agrupar 7">
            <a:extLst>
              <a:ext uri="{FF2B5EF4-FFF2-40B4-BE49-F238E27FC236}">
                <a16:creationId xmlns:a16="http://schemas.microsoft.com/office/drawing/2014/main" id="{D68C9EE5-A3F3-053C-8209-8C766BCD27FF}"/>
              </a:ext>
            </a:extLst>
          </p:cNvPr>
          <p:cNvGrpSpPr/>
          <p:nvPr/>
        </p:nvGrpSpPr>
        <p:grpSpPr>
          <a:xfrm>
            <a:off x="592347" y="1890767"/>
            <a:ext cx="9064270" cy="1203998"/>
            <a:chOff x="592347" y="1890767"/>
            <a:chExt cx="9064270" cy="1203998"/>
          </a:xfrm>
        </p:grpSpPr>
        <p:sp>
          <p:nvSpPr>
            <p:cNvPr id="4" name="Espaço Reservado para Conteúdo 5">
              <a:extLst>
                <a:ext uri="{FF2B5EF4-FFF2-40B4-BE49-F238E27FC236}">
                  <a16:creationId xmlns:a16="http://schemas.microsoft.com/office/drawing/2014/main" id="{F56F8E27-63F6-509C-E034-7D6719458D60}"/>
                </a:ext>
              </a:extLst>
            </p:cNvPr>
            <p:cNvSpPr txBox="1">
              <a:spLocks/>
            </p:cNvSpPr>
            <p:nvPr/>
          </p:nvSpPr>
          <p:spPr>
            <a:xfrm>
              <a:off x="592347" y="1890767"/>
              <a:ext cx="5359879" cy="366590"/>
            </a:xfrm>
            <a:prstGeom prst="rect">
              <a:avLst/>
            </a:prstGeom>
          </p:spPr>
          <p:txBody>
            <a:bodyPr/>
            <a:lstStyle>
              <a:lvl1pPr marL="0" indent="0" algn="just" defTabSz="914400" rtl="0" eaLnBrk="1" latinLnBrk="0" hangingPunct="1">
                <a:lnSpc>
                  <a:spcPct val="15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lvl1pPr>
              <a:lvl2pPr marL="457200" indent="0" algn="just" defTabSz="914400" rtl="0" eaLnBrk="1" latinLnBrk="0" hangingPunct="1">
                <a:lnSpc>
                  <a:spcPct val="15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lvl2pPr>
              <a:lvl3pPr marL="914400" indent="0" algn="just" defTabSz="914400" rtl="0" eaLnBrk="1" latinLnBrk="0" hangingPunct="1">
                <a:lnSpc>
                  <a:spcPct val="15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1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lvl3pPr>
              <a:lvl4pPr marL="1371600" indent="0" algn="just" defTabSz="914400" rtl="0" eaLnBrk="1" latinLnBrk="0" hangingPunct="1">
                <a:lnSpc>
                  <a:spcPct val="15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lvl4pPr>
              <a:lvl5pPr marL="1828800" indent="0" algn="just" defTabSz="914400" rtl="0" eaLnBrk="1" latinLnBrk="0" hangingPunct="1">
                <a:lnSpc>
                  <a:spcPct val="15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10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00000"/>
                </a:lnSpc>
              </a:pPr>
              <a:r>
                <a:rPr lang="pt-BR" dirty="0"/>
                <a:t>No terminal, dentro da pasta do projeto:</a:t>
              </a:r>
            </a:p>
          </p:txBody>
        </p:sp>
        <p:grpSp>
          <p:nvGrpSpPr>
            <p:cNvPr id="5" name="Agrupar 4">
              <a:extLst>
                <a:ext uri="{FF2B5EF4-FFF2-40B4-BE49-F238E27FC236}">
                  <a16:creationId xmlns:a16="http://schemas.microsoft.com/office/drawing/2014/main" id="{7FE003AC-6737-0583-DB3E-3C34E08F85D4}"/>
                </a:ext>
              </a:extLst>
            </p:cNvPr>
            <p:cNvGrpSpPr/>
            <p:nvPr/>
          </p:nvGrpSpPr>
          <p:grpSpPr>
            <a:xfrm>
              <a:off x="749184" y="2456193"/>
              <a:ext cx="8907433" cy="638572"/>
              <a:chOff x="749185" y="2527734"/>
              <a:chExt cx="5284556" cy="638572"/>
            </a:xfrm>
          </p:grpSpPr>
          <p:sp>
            <p:nvSpPr>
              <p:cNvPr id="6" name="Shape 20">
                <a:extLst>
                  <a:ext uri="{FF2B5EF4-FFF2-40B4-BE49-F238E27FC236}">
                    <a16:creationId xmlns:a16="http://schemas.microsoft.com/office/drawing/2014/main" id="{FD882544-B419-6CCB-36E5-ED9AA3CED56C}"/>
                  </a:ext>
                </a:extLst>
              </p:cNvPr>
              <p:cNvSpPr/>
              <p:nvPr/>
            </p:nvSpPr>
            <p:spPr>
              <a:xfrm>
                <a:off x="749185" y="2527734"/>
                <a:ext cx="5284556" cy="638572"/>
              </a:xfrm>
              <a:prstGeom prst="roundRect">
                <a:avLst>
                  <a:gd name="adj" fmla="val 8081"/>
                </a:avLst>
              </a:prstGeom>
              <a:solidFill>
                <a:srgbClr val="F2F2F2"/>
              </a:solidFill>
              <a:ln/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7" name="Text 21">
                <a:extLst>
                  <a:ext uri="{FF2B5EF4-FFF2-40B4-BE49-F238E27FC236}">
                    <a16:creationId xmlns:a16="http://schemas.microsoft.com/office/drawing/2014/main" id="{19529696-B28E-DF9D-A943-EF09112D620C}"/>
                  </a:ext>
                </a:extLst>
              </p:cNvPr>
              <p:cNvSpPr/>
              <p:nvPr/>
            </p:nvSpPr>
            <p:spPr>
              <a:xfrm>
                <a:off x="896521" y="2712610"/>
                <a:ext cx="4989884" cy="26882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>
                <a:noAutofit/>
              </a:bodyPr>
              <a:lstStyle/>
              <a:p>
                <a:pPr marL="0" indent="0" algn="l">
                  <a:buNone/>
                </a:pPr>
                <a:r>
                  <a:rPr lang="en-US" kern="0" spc="-19" dirty="0" err="1">
                    <a:solidFill>
                      <a:srgbClr val="D73A49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json</a:t>
                </a:r>
                <a:r>
                  <a:rPr lang="en-US" kern="0" spc="-19" dirty="0">
                    <a:solidFill>
                      <a:srgbClr val="D73A49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-server --watch </a:t>
                </a:r>
                <a:r>
                  <a:rPr lang="en-US" kern="0" spc="-19" dirty="0" err="1">
                    <a:solidFill>
                      <a:srgbClr val="D73A49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db.json</a:t>
                </a:r>
                <a:endParaRPr lang="en-US" dirty="0"/>
              </a:p>
            </p:txBody>
          </p:sp>
        </p:grpSp>
      </p:grpSp>
      <p:grpSp>
        <p:nvGrpSpPr>
          <p:cNvPr id="15" name="Agrupar 14">
            <a:extLst>
              <a:ext uri="{FF2B5EF4-FFF2-40B4-BE49-F238E27FC236}">
                <a16:creationId xmlns:a16="http://schemas.microsoft.com/office/drawing/2014/main" id="{9C21C342-2796-0020-917E-1CE5FADE71EE}"/>
              </a:ext>
            </a:extLst>
          </p:cNvPr>
          <p:cNvGrpSpPr/>
          <p:nvPr/>
        </p:nvGrpSpPr>
        <p:grpSpPr>
          <a:xfrm>
            <a:off x="592347" y="3410557"/>
            <a:ext cx="9064270" cy="1203998"/>
            <a:chOff x="589474" y="3302621"/>
            <a:chExt cx="9064270" cy="1203998"/>
          </a:xfrm>
        </p:grpSpPr>
        <p:sp>
          <p:nvSpPr>
            <p:cNvPr id="3" name="Espaço Reservado para Conteúdo 5">
              <a:extLst>
                <a:ext uri="{FF2B5EF4-FFF2-40B4-BE49-F238E27FC236}">
                  <a16:creationId xmlns:a16="http://schemas.microsoft.com/office/drawing/2014/main" id="{22B769BE-6ED4-A35A-B6CB-87C13CE2F144}"/>
                </a:ext>
              </a:extLst>
            </p:cNvPr>
            <p:cNvSpPr txBox="1">
              <a:spLocks/>
            </p:cNvSpPr>
            <p:nvPr/>
          </p:nvSpPr>
          <p:spPr>
            <a:xfrm>
              <a:off x="589474" y="3302621"/>
              <a:ext cx="8189344" cy="366590"/>
            </a:xfrm>
            <a:prstGeom prst="rect">
              <a:avLst/>
            </a:prstGeom>
          </p:spPr>
          <p:txBody>
            <a:bodyPr/>
            <a:lstStyle>
              <a:lvl1pPr marL="0" indent="0" algn="just" defTabSz="914400" rtl="0" eaLnBrk="1" latinLnBrk="0" hangingPunct="1">
                <a:lnSpc>
                  <a:spcPct val="15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lvl1pPr>
              <a:lvl2pPr marL="457200" indent="0" algn="just" defTabSz="914400" rtl="0" eaLnBrk="1" latinLnBrk="0" hangingPunct="1">
                <a:lnSpc>
                  <a:spcPct val="15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lvl2pPr>
              <a:lvl3pPr marL="914400" indent="0" algn="just" defTabSz="914400" rtl="0" eaLnBrk="1" latinLnBrk="0" hangingPunct="1">
                <a:lnSpc>
                  <a:spcPct val="15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1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lvl3pPr>
              <a:lvl4pPr marL="1371600" indent="0" algn="just" defTabSz="914400" rtl="0" eaLnBrk="1" latinLnBrk="0" hangingPunct="1">
                <a:lnSpc>
                  <a:spcPct val="15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lvl4pPr>
              <a:lvl5pPr marL="1828800" indent="0" algn="just" defTabSz="914400" rtl="0" eaLnBrk="1" latinLnBrk="0" hangingPunct="1">
                <a:lnSpc>
                  <a:spcPct val="15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10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00000"/>
                </a:lnSpc>
              </a:pPr>
              <a:r>
                <a:rPr lang="pt-BR" dirty="0"/>
                <a:t>Dependendo da versão instalada, o comando pode ser simplesmente:</a:t>
              </a:r>
            </a:p>
          </p:txBody>
        </p:sp>
        <p:grpSp>
          <p:nvGrpSpPr>
            <p:cNvPr id="12" name="Agrupar 11">
              <a:extLst>
                <a:ext uri="{FF2B5EF4-FFF2-40B4-BE49-F238E27FC236}">
                  <a16:creationId xmlns:a16="http://schemas.microsoft.com/office/drawing/2014/main" id="{595A4B56-F037-DCF3-16EE-A4165B5533E8}"/>
                </a:ext>
              </a:extLst>
            </p:cNvPr>
            <p:cNvGrpSpPr/>
            <p:nvPr/>
          </p:nvGrpSpPr>
          <p:grpSpPr>
            <a:xfrm>
              <a:off x="746311" y="3868047"/>
              <a:ext cx="8907433" cy="638572"/>
              <a:chOff x="749185" y="2527734"/>
              <a:chExt cx="5284556" cy="638572"/>
            </a:xfrm>
          </p:grpSpPr>
          <p:sp>
            <p:nvSpPr>
              <p:cNvPr id="13" name="Shape 20">
                <a:extLst>
                  <a:ext uri="{FF2B5EF4-FFF2-40B4-BE49-F238E27FC236}">
                    <a16:creationId xmlns:a16="http://schemas.microsoft.com/office/drawing/2014/main" id="{A13364D6-119C-FA06-6826-F41BCE8811D2}"/>
                  </a:ext>
                </a:extLst>
              </p:cNvPr>
              <p:cNvSpPr/>
              <p:nvPr/>
            </p:nvSpPr>
            <p:spPr>
              <a:xfrm>
                <a:off x="749185" y="2527734"/>
                <a:ext cx="5284556" cy="638572"/>
              </a:xfrm>
              <a:prstGeom prst="roundRect">
                <a:avLst>
                  <a:gd name="adj" fmla="val 8081"/>
                </a:avLst>
              </a:prstGeom>
              <a:solidFill>
                <a:srgbClr val="F2F2F2"/>
              </a:solidFill>
              <a:ln/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4" name="Text 21">
                <a:extLst>
                  <a:ext uri="{FF2B5EF4-FFF2-40B4-BE49-F238E27FC236}">
                    <a16:creationId xmlns:a16="http://schemas.microsoft.com/office/drawing/2014/main" id="{C50D7F39-90DF-8E30-A0FC-9FD390C323A7}"/>
                  </a:ext>
                </a:extLst>
              </p:cNvPr>
              <p:cNvSpPr/>
              <p:nvPr/>
            </p:nvSpPr>
            <p:spPr>
              <a:xfrm>
                <a:off x="896521" y="2712610"/>
                <a:ext cx="4989884" cy="26882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>
                <a:noAutofit/>
              </a:bodyPr>
              <a:lstStyle/>
              <a:p>
                <a:pPr marL="0" indent="0" algn="l">
                  <a:buNone/>
                </a:pPr>
                <a:r>
                  <a:rPr lang="en-US" kern="0" spc="-19" dirty="0" err="1">
                    <a:solidFill>
                      <a:srgbClr val="D73A49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json</a:t>
                </a:r>
                <a:r>
                  <a:rPr lang="en-US" kern="0" spc="-19" dirty="0">
                    <a:solidFill>
                      <a:srgbClr val="D73A49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-server </a:t>
                </a:r>
                <a:r>
                  <a:rPr lang="en-US" kern="0" spc="-19" dirty="0" err="1">
                    <a:solidFill>
                      <a:srgbClr val="D73A49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db.json</a:t>
                </a:r>
                <a:endParaRPr lang="en-US" dirty="0"/>
              </a:p>
            </p:txBody>
          </p:sp>
        </p:grpSp>
      </p:grpSp>
      <p:grpSp>
        <p:nvGrpSpPr>
          <p:cNvPr id="9" name="Agrupar 8">
            <a:extLst>
              <a:ext uri="{FF2B5EF4-FFF2-40B4-BE49-F238E27FC236}">
                <a16:creationId xmlns:a16="http://schemas.microsoft.com/office/drawing/2014/main" id="{56C5FCB3-9707-872B-1AD8-09F0BC2358E1}"/>
              </a:ext>
            </a:extLst>
          </p:cNvPr>
          <p:cNvGrpSpPr/>
          <p:nvPr/>
        </p:nvGrpSpPr>
        <p:grpSpPr>
          <a:xfrm>
            <a:off x="592347" y="5029448"/>
            <a:ext cx="9064270" cy="1203998"/>
            <a:chOff x="589474" y="3302621"/>
            <a:chExt cx="9064270" cy="1203998"/>
          </a:xfrm>
        </p:grpSpPr>
        <p:sp>
          <p:nvSpPr>
            <p:cNvPr id="10" name="Espaço Reservado para Conteúdo 5">
              <a:extLst>
                <a:ext uri="{FF2B5EF4-FFF2-40B4-BE49-F238E27FC236}">
                  <a16:creationId xmlns:a16="http://schemas.microsoft.com/office/drawing/2014/main" id="{F1998665-258C-74E8-747F-3B6C72A9ACF5}"/>
                </a:ext>
              </a:extLst>
            </p:cNvPr>
            <p:cNvSpPr txBox="1">
              <a:spLocks/>
            </p:cNvSpPr>
            <p:nvPr/>
          </p:nvSpPr>
          <p:spPr>
            <a:xfrm>
              <a:off x="589474" y="3302621"/>
              <a:ext cx="8189344" cy="366590"/>
            </a:xfrm>
            <a:prstGeom prst="rect">
              <a:avLst/>
            </a:prstGeom>
          </p:spPr>
          <p:txBody>
            <a:bodyPr/>
            <a:lstStyle>
              <a:lvl1pPr marL="0" indent="0" algn="just" defTabSz="914400" rtl="0" eaLnBrk="1" latinLnBrk="0" hangingPunct="1">
                <a:lnSpc>
                  <a:spcPct val="15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lvl1pPr>
              <a:lvl2pPr marL="457200" indent="0" algn="just" defTabSz="914400" rtl="0" eaLnBrk="1" latinLnBrk="0" hangingPunct="1">
                <a:lnSpc>
                  <a:spcPct val="15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lvl2pPr>
              <a:lvl3pPr marL="914400" indent="0" algn="just" defTabSz="914400" rtl="0" eaLnBrk="1" latinLnBrk="0" hangingPunct="1">
                <a:lnSpc>
                  <a:spcPct val="15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1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lvl3pPr>
              <a:lvl4pPr marL="1371600" indent="0" algn="just" defTabSz="914400" rtl="0" eaLnBrk="1" latinLnBrk="0" hangingPunct="1">
                <a:lnSpc>
                  <a:spcPct val="15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lvl4pPr>
              <a:lvl5pPr marL="1828800" indent="0" algn="just" defTabSz="914400" rtl="0" eaLnBrk="1" latinLnBrk="0" hangingPunct="1">
                <a:lnSpc>
                  <a:spcPct val="15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10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00000"/>
                </a:lnSpc>
              </a:pPr>
              <a:r>
                <a:rPr lang="pt-BR" dirty="0"/>
                <a:t>O servidor disponibilizará nossa API localmente, normalmente em:</a:t>
              </a:r>
            </a:p>
          </p:txBody>
        </p:sp>
        <p:grpSp>
          <p:nvGrpSpPr>
            <p:cNvPr id="11" name="Agrupar 10">
              <a:extLst>
                <a:ext uri="{FF2B5EF4-FFF2-40B4-BE49-F238E27FC236}">
                  <a16:creationId xmlns:a16="http://schemas.microsoft.com/office/drawing/2014/main" id="{03640EE6-6F5E-7F74-45FB-6B17BF0007DB}"/>
                </a:ext>
              </a:extLst>
            </p:cNvPr>
            <p:cNvGrpSpPr/>
            <p:nvPr/>
          </p:nvGrpSpPr>
          <p:grpSpPr>
            <a:xfrm>
              <a:off x="746311" y="3868047"/>
              <a:ext cx="8907433" cy="638572"/>
              <a:chOff x="749185" y="2527734"/>
              <a:chExt cx="5284556" cy="638572"/>
            </a:xfrm>
          </p:grpSpPr>
          <p:sp>
            <p:nvSpPr>
              <p:cNvPr id="16" name="Shape 20">
                <a:extLst>
                  <a:ext uri="{FF2B5EF4-FFF2-40B4-BE49-F238E27FC236}">
                    <a16:creationId xmlns:a16="http://schemas.microsoft.com/office/drawing/2014/main" id="{38EA066D-D46A-8CC8-F6C6-8EF1E3E5506C}"/>
                  </a:ext>
                </a:extLst>
              </p:cNvPr>
              <p:cNvSpPr/>
              <p:nvPr/>
            </p:nvSpPr>
            <p:spPr>
              <a:xfrm>
                <a:off x="749185" y="2527734"/>
                <a:ext cx="5284556" cy="638572"/>
              </a:xfrm>
              <a:prstGeom prst="roundRect">
                <a:avLst>
                  <a:gd name="adj" fmla="val 8081"/>
                </a:avLst>
              </a:prstGeom>
              <a:solidFill>
                <a:srgbClr val="F2F2F2"/>
              </a:solidFill>
              <a:ln/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7" name="Text 21">
                <a:extLst>
                  <a:ext uri="{FF2B5EF4-FFF2-40B4-BE49-F238E27FC236}">
                    <a16:creationId xmlns:a16="http://schemas.microsoft.com/office/drawing/2014/main" id="{AC3E041D-3851-EDC2-8762-C170893C38B3}"/>
                  </a:ext>
                </a:extLst>
              </p:cNvPr>
              <p:cNvSpPr/>
              <p:nvPr/>
            </p:nvSpPr>
            <p:spPr>
              <a:xfrm>
                <a:off x="896521" y="2712610"/>
                <a:ext cx="4989884" cy="26882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>
                <a:noAutofit/>
              </a:bodyPr>
              <a:lstStyle/>
              <a:p>
                <a:pPr marL="0" indent="0" algn="l">
                  <a:buNone/>
                </a:pPr>
                <a:r>
                  <a:rPr lang="en-US" kern="0" spc="-19" dirty="0">
                    <a:solidFill>
                      <a:srgbClr val="D73A49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http://localhost:3000</a:t>
                </a:r>
                <a:endParaRPr lang="en-U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5673395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8C9BDA-8879-3C0C-5A20-6CC2C0962C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691AF7-B33A-17FB-3029-44CA37BBC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Instalar o JSON Server</a:t>
            </a:r>
          </a:p>
        </p:txBody>
      </p:sp>
      <p:grpSp>
        <p:nvGrpSpPr>
          <p:cNvPr id="8" name="Agrupar 7">
            <a:extLst>
              <a:ext uri="{FF2B5EF4-FFF2-40B4-BE49-F238E27FC236}">
                <a16:creationId xmlns:a16="http://schemas.microsoft.com/office/drawing/2014/main" id="{A58BDE5F-0413-9417-80EA-98C28F439376}"/>
              </a:ext>
            </a:extLst>
          </p:cNvPr>
          <p:cNvGrpSpPr/>
          <p:nvPr/>
        </p:nvGrpSpPr>
        <p:grpSpPr>
          <a:xfrm>
            <a:off x="592347" y="1890767"/>
            <a:ext cx="9064270" cy="1203998"/>
            <a:chOff x="592347" y="1890767"/>
            <a:chExt cx="9064270" cy="1203998"/>
          </a:xfrm>
        </p:grpSpPr>
        <p:sp>
          <p:nvSpPr>
            <p:cNvPr id="4" name="Espaço Reservado para Conteúdo 5">
              <a:extLst>
                <a:ext uri="{FF2B5EF4-FFF2-40B4-BE49-F238E27FC236}">
                  <a16:creationId xmlns:a16="http://schemas.microsoft.com/office/drawing/2014/main" id="{245E01CC-38BE-D54E-BD89-39D8F21CFE2F}"/>
                </a:ext>
              </a:extLst>
            </p:cNvPr>
            <p:cNvSpPr txBox="1">
              <a:spLocks/>
            </p:cNvSpPr>
            <p:nvPr/>
          </p:nvSpPr>
          <p:spPr>
            <a:xfrm>
              <a:off x="592347" y="1890767"/>
              <a:ext cx="5359879" cy="366590"/>
            </a:xfrm>
            <a:prstGeom prst="rect">
              <a:avLst/>
            </a:prstGeom>
          </p:spPr>
          <p:txBody>
            <a:bodyPr/>
            <a:lstStyle>
              <a:lvl1pPr marL="0" indent="0" algn="just" defTabSz="914400" rtl="0" eaLnBrk="1" latinLnBrk="0" hangingPunct="1">
                <a:lnSpc>
                  <a:spcPct val="15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lvl1pPr>
              <a:lvl2pPr marL="457200" indent="0" algn="just" defTabSz="914400" rtl="0" eaLnBrk="1" latinLnBrk="0" hangingPunct="1">
                <a:lnSpc>
                  <a:spcPct val="15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lvl2pPr>
              <a:lvl3pPr marL="914400" indent="0" algn="just" defTabSz="914400" rtl="0" eaLnBrk="1" latinLnBrk="0" hangingPunct="1">
                <a:lnSpc>
                  <a:spcPct val="15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1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lvl3pPr>
              <a:lvl4pPr marL="1371600" indent="0" algn="just" defTabSz="914400" rtl="0" eaLnBrk="1" latinLnBrk="0" hangingPunct="1">
                <a:lnSpc>
                  <a:spcPct val="15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lvl4pPr>
              <a:lvl5pPr marL="1828800" indent="0" algn="just" defTabSz="914400" rtl="0" eaLnBrk="1" latinLnBrk="0" hangingPunct="1">
                <a:lnSpc>
                  <a:spcPct val="15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10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00000"/>
                </a:lnSpc>
              </a:pPr>
              <a:r>
                <a:rPr lang="pt-BR" dirty="0"/>
                <a:t>E o recurso de produtos:</a:t>
              </a:r>
            </a:p>
          </p:txBody>
        </p:sp>
        <p:grpSp>
          <p:nvGrpSpPr>
            <p:cNvPr id="5" name="Agrupar 4">
              <a:extLst>
                <a:ext uri="{FF2B5EF4-FFF2-40B4-BE49-F238E27FC236}">
                  <a16:creationId xmlns:a16="http://schemas.microsoft.com/office/drawing/2014/main" id="{93B7829F-2A7E-FA26-2497-21B0D4400E2B}"/>
                </a:ext>
              </a:extLst>
            </p:cNvPr>
            <p:cNvGrpSpPr/>
            <p:nvPr/>
          </p:nvGrpSpPr>
          <p:grpSpPr>
            <a:xfrm>
              <a:off x="749184" y="2456193"/>
              <a:ext cx="8907433" cy="638572"/>
              <a:chOff x="749185" y="2527734"/>
              <a:chExt cx="5284556" cy="638572"/>
            </a:xfrm>
          </p:grpSpPr>
          <p:sp>
            <p:nvSpPr>
              <p:cNvPr id="6" name="Shape 20">
                <a:extLst>
                  <a:ext uri="{FF2B5EF4-FFF2-40B4-BE49-F238E27FC236}">
                    <a16:creationId xmlns:a16="http://schemas.microsoft.com/office/drawing/2014/main" id="{29E0572A-EB0F-D965-BC5F-379F125E32B3}"/>
                  </a:ext>
                </a:extLst>
              </p:cNvPr>
              <p:cNvSpPr/>
              <p:nvPr/>
            </p:nvSpPr>
            <p:spPr>
              <a:xfrm>
                <a:off x="749185" y="2527734"/>
                <a:ext cx="5284556" cy="638572"/>
              </a:xfrm>
              <a:prstGeom prst="roundRect">
                <a:avLst>
                  <a:gd name="adj" fmla="val 8081"/>
                </a:avLst>
              </a:prstGeom>
              <a:solidFill>
                <a:srgbClr val="F2F2F2"/>
              </a:solidFill>
              <a:ln/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7" name="Text 21">
                <a:extLst>
                  <a:ext uri="{FF2B5EF4-FFF2-40B4-BE49-F238E27FC236}">
                    <a16:creationId xmlns:a16="http://schemas.microsoft.com/office/drawing/2014/main" id="{4E30C9FA-076E-3BB3-E074-2845D1471A49}"/>
                  </a:ext>
                </a:extLst>
              </p:cNvPr>
              <p:cNvSpPr/>
              <p:nvPr/>
            </p:nvSpPr>
            <p:spPr>
              <a:xfrm>
                <a:off x="896521" y="2712610"/>
                <a:ext cx="4989884" cy="26882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>
                <a:noAutofit/>
              </a:bodyPr>
              <a:lstStyle/>
              <a:p>
                <a:pPr marL="0" indent="0" algn="l">
                  <a:buNone/>
                </a:pPr>
                <a:r>
                  <a:rPr lang="en-US" kern="0" spc="-19" dirty="0">
                    <a:solidFill>
                      <a:srgbClr val="D73A49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http://localhost:3000/produtos</a:t>
                </a:r>
                <a:endParaRPr lang="en-US" dirty="0"/>
              </a:p>
            </p:txBody>
          </p:sp>
        </p:grpSp>
      </p:grpSp>
      <p:sp>
        <p:nvSpPr>
          <p:cNvPr id="19" name="Espaço Reservado para Conteúdo 5">
            <a:extLst>
              <a:ext uri="{FF2B5EF4-FFF2-40B4-BE49-F238E27FC236}">
                <a16:creationId xmlns:a16="http://schemas.microsoft.com/office/drawing/2014/main" id="{70173FB5-BABC-0693-5CBF-647AA1D35DC4}"/>
              </a:ext>
            </a:extLst>
          </p:cNvPr>
          <p:cNvSpPr txBox="1">
            <a:spLocks/>
          </p:cNvSpPr>
          <p:nvPr/>
        </p:nvSpPr>
        <p:spPr>
          <a:xfrm>
            <a:off x="592347" y="3429000"/>
            <a:ext cx="11001555" cy="1039483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9144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3716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18288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pt-BR" b="1" dirty="0"/>
              <a:t>Para a aula</a:t>
            </a:r>
            <a:r>
              <a:rPr lang="pt-BR" dirty="0"/>
              <a:t>, eu faria primeiro essa instalação e mostraria aos alunos o </a:t>
            </a:r>
            <a:r>
              <a:rPr lang="pt-BR" dirty="0" err="1"/>
              <a:t>db.json</a:t>
            </a:r>
            <a:r>
              <a:rPr lang="pt-BR" dirty="0"/>
              <a:t> e a URL /produtos no navegador. Só depois entraria no GET com </a:t>
            </a:r>
            <a:r>
              <a:rPr lang="pt-BR" dirty="0" err="1"/>
              <a:t>JavaScript</a:t>
            </a:r>
            <a:r>
              <a:rPr lang="pt-B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265347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F13448-1EF9-501A-B4DD-E0A745A980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DEE8165-D787-E9F5-D06C-1A4A0788C6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006400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38858E-69E2-8A32-4D8D-61A4750C2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634CA0B-A520-9184-A9C1-803F863439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533240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615A30-6D2A-8B4E-AFAD-9F640740C0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BF74573-13EC-13DB-6F02-C3B13A606D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14214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226649-2914-4E1D-8077-540D4B09C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</p:spPr>
        <p:txBody>
          <a:bodyPr>
            <a:normAutofit/>
          </a:bodyPr>
          <a:lstStyle/>
          <a:p>
            <a:r>
              <a:rPr lang="pt-BR" sz="2600"/>
              <a:t>Por que uma API precisa retornar informações?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C449FD-0CCF-46E0-B734-7980847A40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25625"/>
            <a:ext cx="5181600" cy="4370388"/>
          </a:xfrm>
        </p:spPr>
        <p:txBody>
          <a:bodyPr>
            <a:normAutofit/>
          </a:bodyPr>
          <a:lstStyle/>
          <a:p>
            <a:r>
              <a:rPr lang="pt-BR" sz="1600" dirty="0"/>
              <a:t>Quando uma aplicação realiza uma requisição, ela precisa saber </a:t>
            </a:r>
            <a:r>
              <a:rPr lang="pt-BR" sz="1600" b="1" dirty="0"/>
              <a:t>qual foi o resultado da operação</a:t>
            </a:r>
            <a:r>
              <a:rPr lang="pt-BR" sz="1600" dirty="0"/>
              <a:t>.</a:t>
            </a:r>
          </a:p>
          <a:p>
            <a:endParaRPr lang="pt-BR" sz="1600" dirty="0"/>
          </a:p>
          <a:p>
            <a:r>
              <a:rPr lang="pt-BR" sz="1600" dirty="0"/>
              <a:t>Uma resposta adequada permite identificar:</a:t>
            </a:r>
          </a:p>
          <a:p>
            <a:pPr lvl="1"/>
            <a:endParaRPr lang="pt-BR" dirty="0"/>
          </a:p>
          <a:p>
            <a:pPr lvl="1"/>
            <a:r>
              <a:rPr lang="pt-BR" dirty="0"/>
              <a:t>✅ Se a operação foi realizada com sucesso</a:t>
            </a:r>
          </a:p>
          <a:p>
            <a:pPr lvl="1"/>
            <a:r>
              <a:rPr lang="pt-BR" dirty="0"/>
              <a:t>❌ Se houve algum erro</a:t>
            </a:r>
          </a:p>
          <a:p>
            <a:pPr lvl="1"/>
            <a:r>
              <a:rPr lang="pt-BR" dirty="0"/>
              <a:t>🔎 Se o recurso foi encontrado</a:t>
            </a:r>
          </a:p>
          <a:p>
            <a:pPr lvl="1"/>
            <a:r>
              <a:rPr lang="pt-BR" dirty="0"/>
              <a:t>🆕 Se um novo recurso foi criado</a:t>
            </a:r>
          </a:p>
          <a:p>
            <a:pPr lvl="1"/>
            <a:r>
              <a:rPr lang="pt-BR" dirty="0"/>
              <a:t>📭 Se não há conteúdo para retorna</a:t>
            </a:r>
          </a:p>
          <a:p>
            <a:endParaRPr lang="pt-BR" sz="1600" dirty="0"/>
          </a:p>
        </p:txBody>
      </p:sp>
      <p:pic>
        <p:nvPicPr>
          <p:cNvPr id="6" name="Gráfico 5" descr="Monitor com preenchimento sólido">
            <a:extLst>
              <a:ext uri="{FF2B5EF4-FFF2-40B4-BE49-F238E27FC236}">
                <a16:creationId xmlns:a16="http://schemas.microsoft.com/office/drawing/2014/main" id="{B26DEF2A-BEBF-4541-6E07-02927D879B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894113" y="1825625"/>
            <a:ext cx="1153102" cy="1153102"/>
          </a:xfrm>
          <a:prstGeom prst="rect">
            <a:avLst/>
          </a:prstGeom>
        </p:spPr>
      </p:pic>
      <p:pic>
        <p:nvPicPr>
          <p:cNvPr id="7" name="Gráfico 6" descr="Monitor com preenchimento sólido">
            <a:extLst>
              <a:ext uri="{FF2B5EF4-FFF2-40B4-BE49-F238E27FC236}">
                <a16:creationId xmlns:a16="http://schemas.microsoft.com/office/drawing/2014/main" id="{ADEE0CCC-935E-2912-DD49-F7599893F84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894113" y="5247698"/>
            <a:ext cx="1153102" cy="1153102"/>
          </a:xfrm>
          <a:prstGeom prst="rect">
            <a:avLst/>
          </a:prstGeom>
        </p:spPr>
      </p:pic>
      <p:pic>
        <p:nvPicPr>
          <p:cNvPr id="10" name="Gráfico 9" descr="Chefe feminina com preenchimento sólido">
            <a:extLst>
              <a:ext uri="{FF2B5EF4-FFF2-40B4-BE49-F238E27FC236}">
                <a16:creationId xmlns:a16="http://schemas.microsoft.com/office/drawing/2014/main" id="{2F00A95B-DB73-7177-A58E-7B433DCA169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13464" y="3656012"/>
            <a:ext cx="914400" cy="914400"/>
          </a:xfrm>
          <a:prstGeom prst="rect">
            <a:avLst/>
          </a:prstGeom>
        </p:spPr>
      </p:pic>
      <p:cxnSp>
        <p:nvCxnSpPr>
          <p:cNvPr id="12" name="Conector de Seta Reta 11">
            <a:extLst>
              <a:ext uri="{FF2B5EF4-FFF2-40B4-BE49-F238E27FC236}">
                <a16:creationId xmlns:a16="http://schemas.microsoft.com/office/drawing/2014/main" id="{F6FA832B-B5EB-0CA5-A064-02CA52BED239}"/>
              </a:ext>
            </a:extLst>
          </p:cNvPr>
          <p:cNvCxnSpPr>
            <a:cxnSpLocks/>
            <a:endCxn id="10" idx="0"/>
          </p:cNvCxnSpPr>
          <p:nvPr/>
        </p:nvCxnSpPr>
        <p:spPr>
          <a:xfrm>
            <a:off x="9470664" y="2978727"/>
            <a:ext cx="0" cy="677285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>
            <a:extLst>
              <a:ext uri="{FF2B5EF4-FFF2-40B4-BE49-F238E27FC236}">
                <a16:creationId xmlns:a16="http://schemas.microsoft.com/office/drawing/2014/main" id="{428E6CF2-2DBC-AABF-9CCE-77D187A28992}"/>
              </a:ext>
            </a:extLst>
          </p:cNvPr>
          <p:cNvCxnSpPr>
            <a:endCxn id="7" idx="0"/>
          </p:cNvCxnSpPr>
          <p:nvPr/>
        </p:nvCxnSpPr>
        <p:spPr>
          <a:xfrm>
            <a:off x="9470664" y="4570412"/>
            <a:ext cx="0" cy="677286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5DD823C0-96D7-318E-999D-ED50B2765369}"/>
              </a:ext>
            </a:extLst>
          </p:cNvPr>
          <p:cNvSpPr txBox="1"/>
          <p:nvPr/>
        </p:nvSpPr>
        <p:spPr>
          <a:xfrm>
            <a:off x="7044530" y="3148092"/>
            <a:ext cx="19689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DELETE /dentista/1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B5C479D0-7A90-99F0-65D3-3FAA83D20330}"/>
              </a:ext>
            </a:extLst>
          </p:cNvPr>
          <p:cNvSpPr txBox="1"/>
          <p:nvPr/>
        </p:nvSpPr>
        <p:spPr>
          <a:xfrm>
            <a:off x="7044530" y="4739778"/>
            <a:ext cx="17392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204 No </a:t>
            </a:r>
            <a:r>
              <a:rPr lang="pt-B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content</a:t>
            </a:r>
            <a:endParaRPr lang="pt-B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6CF21398-A554-377B-19F1-A11CA0A06C09}"/>
              </a:ext>
            </a:extLst>
          </p:cNvPr>
          <p:cNvSpPr txBox="1"/>
          <p:nvPr/>
        </p:nvSpPr>
        <p:spPr>
          <a:xfrm>
            <a:off x="10157547" y="4739778"/>
            <a:ext cx="11531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200 ok</a:t>
            </a:r>
          </a:p>
        </p:txBody>
      </p:sp>
    </p:spTree>
    <p:extLst>
      <p:ext uri="{BB962C8B-B14F-4D97-AF65-F5344CB8AC3E}">
        <p14:creationId xmlns:p14="http://schemas.microsoft.com/office/powerpoint/2010/main" val="3975453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4C794F55-4CFD-3395-272F-56DD2DB1DA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Por que não retornar sempre 200?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B398AE6-87A0-5B75-09C1-38A6451BA4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3854962" cy="934299"/>
          </a:xfrm>
        </p:spPr>
        <p:txBody>
          <a:bodyPr/>
          <a:lstStyle/>
          <a:p>
            <a:r>
              <a:rPr lang="pl-PL" dirty="0"/>
              <a:t>O problema do 200 OK</a:t>
            </a:r>
            <a:endParaRPr lang="pt-BR" dirty="0"/>
          </a:p>
          <a:p>
            <a:r>
              <a:rPr lang="pt-BR" dirty="0"/>
              <a:t>Imagine que a API sempre retorne:</a:t>
            </a:r>
          </a:p>
        </p:txBody>
      </p:sp>
      <p:grpSp>
        <p:nvGrpSpPr>
          <p:cNvPr id="9" name="Agrupar 8">
            <a:extLst>
              <a:ext uri="{FF2B5EF4-FFF2-40B4-BE49-F238E27FC236}">
                <a16:creationId xmlns:a16="http://schemas.microsoft.com/office/drawing/2014/main" id="{D68E81AC-D157-BA7D-9D04-357F11166B7F}"/>
              </a:ext>
            </a:extLst>
          </p:cNvPr>
          <p:cNvGrpSpPr/>
          <p:nvPr/>
        </p:nvGrpSpPr>
        <p:grpSpPr>
          <a:xfrm>
            <a:off x="749185" y="2929003"/>
            <a:ext cx="3744126" cy="638572"/>
            <a:chOff x="749185" y="2527734"/>
            <a:chExt cx="5284556" cy="638572"/>
          </a:xfrm>
        </p:grpSpPr>
        <p:sp>
          <p:nvSpPr>
            <p:cNvPr id="7" name="Shape 20">
              <a:extLst>
                <a:ext uri="{FF2B5EF4-FFF2-40B4-BE49-F238E27FC236}">
                  <a16:creationId xmlns:a16="http://schemas.microsoft.com/office/drawing/2014/main" id="{099A7046-6B53-424C-9D65-D39D7084A6C8}"/>
                </a:ext>
              </a:extLst>
            </p:cNvPr>
            <p:cNvSpPr/>
            <p:nvPr/>
          </p:nvSpPr>
          <p:spPr>
            <a:xfrm>
              <a:off x="749185" y="2527734"/>
              <a:ext cx="5284556" cy="638572"/>
            </a:xfrm>
            <a:prstGeom prst="roundRect">
              <a:avLst>
                <a:gd name="adj" fmla="val 8081"/>
              </a:avLst>
            </a:prstGeom>
            <a:solidFill>
              <a:srgbClr val="F2F2F2"/>
            </a:solidFill>
            <a:ln/>
          </p:spPr>
          <p:txBody>
            <a:bodyPr/>
            <a:lstStyle/>
            <a:p>
              <a:endParaRPr lang="pt-BR"/>
            </a:p>
          </p:txBody>
        </p:sp>
        <p:sp>
          <p:nvSpPr>
            <p:cNvPr id="8" name="Text 21">
              <a:extLst>
                <a:ext uri="{FF2B5EF4-FFF2-40B4-BE49-F238E27FC236}">
                  <a16:creationId xmlns:a16="http://schemas.microsoft.com/office/drawing/2014/main" id="{5F947C80-BA30-A56B-4289-9B84B915316C}"/>
                </a:ext>
              </a:extLst>
            </p:cNvPr>
            <p:cNvSpPr/>
            <p:nvPr/>
          </p:nvSpPr>
          <p:spPr>
            <a:xfrm>
              <a:off x="896521" y="2712610"/>
              <a:ext cx="4989884" cy="2688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sz="1600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200 ok</a:t>
              </a:r>
              <a:endParaRPr lang="en-US" sz="1600" dirty="0"/>
            </a:p>
          </p:txBody>
        </p:sp>
      </p:grp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758A7394-E2A5-22A7-2C5E-BCC8E1135833}"/>
              </a:ext>
            </a:extLst>
          </p:cNvPr>
          <p:cNvSpPr txBox="1"/>
          <p:nvPr/>
        </p:nvSpPr>
        <p:spPr>
          <a:xfrm>
            <a:off x="592347" y="3894361"/>
            <a:ext cx="610985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 qualquer situação.</a:t>
            </a:r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F54C0C7B-B09F-93CD-3DB5-29033A1F1068}"/>
              </a:ext>
            </a:extLst>
          </p:cNvPr>
          <p:cNvGrpSpPr/>
          <p:nvPr/>
        </p:nvGrpSpPr>
        <p:grpSpPr>
          <a:xfrm>
            <a:off x="749185" y="4520405"/>
            <a:ext cx="4418560" cy="1638537"/>
            <a:chOff x="749185" y="2527734"/>
            <a:chExt cx="5284556" cy="638572"/>
          </a:xfrm>
        </p:grpSpPr>
        <p:sp>
          <p:nvSpPr>
            <p:cNvPr id="13" name="Shape 20">
              <a:extLst>
                <a:ext uri="{FF2B5EF4-FFF2-40B4-BE49-F238E27FC236}">
                  <a16:creationId xmlns:a16="http://schemas.microsoft.com/office/drawing/2014/main" id="{47F4AB36-CAFD-8FB7-7A48-BB1581BF6DD0}"/>
                </a:ext>
              </a:extLst>
            </p:cNvPr>
            <p:cNvSpPr/>
            <p:nvPr/>
          </p:nvSpPr>
          <p:spPr>
            <a:xfrm>
              <a:off x="749185" y="2527734"/>
              <a:ext cx="5284556" cy="638572"/>
            </a:xfrm>
            <a:prstGeom prst="roundRect">
              <a:avLst>
                <a:gd name="adj" fmla="val 8081"/>
              </a:avLst>
            </a:prstGeom>
            <a:solidFill>
              <a:srgbClr val="F2F2F2"/>
            </a:solidFill>
            <a:ln/>
          </p:spPr>
          <p:txBody>
            <a:bodyPr/>
            <a:lstStyle/>
            <a:p>
              <a:endParaRPr lang="pt-BR"/>
            </a:p>
          </p:txBody>
        </p:sp>
        <p:sp>
          <p:nvSpPr>
            <p:cNvPr id="14" name="Text 21">
              <a:extLst>
                <a:ext uri="{FF2B5EF4-FFF2-40B4-BE49-F238E27FC236}">
                  <a16:creationId xmlns:a16="http://schemas.microsoft.com/office/drawing/2014/main" id="{3152C665-A472-A659-55B7-500A11DD6A77}"/>
                </a:ext>
              </a:extLst>
            </p:cNvPr>
            <p:cNvSpPr/>
            <p:nvPr/>
          </p:nvSpPr>
          <p:spPr>
            <a:xfrm>
              <a:off x="896521" y="2583345"/>
              <a:ext cx="4989884" cy="5273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sz="1600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DELETE /</a:t>
              </a:r>
              <a:r>
                <a:rPr lang="en-US" sz="1600" kern="0" spc="-19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dentistas</a:t>
              </a:r>
              <a:r>
                <a:rPr lang="en-US" sz="1600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/10</a:t>
              </a:r>
            </a:p>
            <a:p>
              <a:pPr marL="0" indent="0" algn="l">
                <a:buNone/>
              </a:pPr>
              <a:r>
                <a:rPr lang="en-US" sz="1600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→ 200 OK</a:t>
              </a:r>
            </a:p>
            <a:p>
              <a:pPr marL="0" indent="0" algn="l">
                <a:buNone/>
              </a:pPr>
              <a:endParaRPr lang="en-US" sz="1600" kern="0" spc="-19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endParaRPr>
            </a:p>
            <a:p>
              <a:pPr marL="0" indent="0" algn="l">
                <a:buNone/>
              </a:pPr>
              <a:r>
                <a:rPr lang="en-US" sz="1600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POST /</a:t>
              </a:r>
              <a:r>
                <a:rPr lang="en-US" sz="1600" kern="0" spc="-19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dentistas</a:t>
              </a:r>
              <a:endParaRPr lang="en-US" sz="1600" kern="0" spc="-19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endParaRPr>
            </a:p>
            <a:p>
              <a:pPr marL="0" indent="0" algn="l">
                <a:buNone/>
              </a:pPr>
              <a:r>
                <a:rPr lang="en-US" sz="1600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→ 200 OK</a:t>
              </a:r>
              <a:endParaRPr lang="en-US" sz="1600" dirty="0"/>
            </a:p>
          </p:txBody>
        </p:sp>
      </p:grpSp>
      <p:sp>
        <p:nvSpPr>
          <p:cNvPr id="16" name="Shape 4">
            <a:extLst>
              <a:ext uri="{FF2B5EF4-FFF2-40B4-BE49-F238E27FC236}">
                <a16:creationId xmlns:a16="http://schemas.microsoft.com/office/drawing/2014/main" id="{349BA34A-7609-7A9C-1F95-D40F3620CE79}"/>
              </a:ext>
            </a:extLst>
          </p:cNvPr>
          <p:cNvSpPr/>
          <p:nvPr/>
        </p:nvSpPr>
        <p:spPr>
          <a:xfrm>
            <a:off x="6096000" y="1844675"/>
            <a:ext cx="5503653" cy="4314267"/>
          </a:xfrm>
          <a:prstGeom prst="roundRect">
            <a:avLst>
              <a:gd name="adj" fmla="val 3224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5">
            <a:extLst>
              <a:ext uri="{FF2B5EF4-FFF2-40B4-BE49-F238E27FC236}">
                <a16:creationId xmlns:a16="http://schemas.microsoft.com/office/drawing/2014/main" id="{94C0EA91-E1E8-C87F-27C7-88A376B9674E}"/>
              </a:ext>
            </a:extLst>
          </p:cNvPr>
          <p:cNvSpPr/>
          <p:nvPr/>
        </p:nvSpPr>
        <p:spPr>
          <a:xfrm>
            <a:off x="6291357" y="2040037"/>
            <a:ext cx="567021" cy="567035"/>
          </a:xfrm>
          <a:prstGeom prst="ellipse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7">
            <a:extLst>
              <a:ext uri="{FF2B5EF4-FFF2-40B4-BE49-F238E27FC236}">
                <a16:creationId xmlns:a16="http://schemas.microsoft.com/office/drawing/2014/main" id="{0215E048-C979-F2A0-56E4-CA227D5EF056}"/>
              </a:ext>
            </a:extLst>
          </p:cNvPr>
          <p:cNvSpPr/>
          <p:nvPr/>
        </p:nvSpPr>
        <p:spPr>
          <a:xfrm>
            <a:off x="6291357" y="2833005"/>
            <a:ext cx="5151458" cy="3170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just"/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cliente não consegue saber claramente o que aconteceu.</a:t>
            </a:r>
          </a:p>
          <a:p>
            <a:pPr algn="just"/>
            <a:endParaRPr lang="pt-BR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Por isso, utilizamos diferentes códigos HTTP para representar diferentes resultados.</a:t>
            </a:r>
          </a:p>
          <a:p>
            <a:pPr algn="just"/>
            <a:endParaRPr lang="pt-BR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código HTTP faz parte do contrato da API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21" name="Gráfico 20" descr="Ponto de interrogação com preenchimento sólido">
            <a:extLst>
              <a:ext uri="{FF2B5EF4-FFF2-40B4-BE49-F238E27FC236}">
                <a16:creationId xmlns:a16="http://schemas.microsoft.com/office/drawing/2014/main" id="{3129B824-0F4C-7D8D-915E-E7C2D83B702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15554" y="2164241"/>
            <a:ext cx="318625" cy="318625"/>
          </a:xfrm>
          <a:prstGeom prst="rect">
            <a:avLst/>
          </a:prstGeom>
        </p:spPr>
      </p:pic>
      <p:sp>
        <p:nvSpPr>
          <p:cNvPr id="22" name="Título 4">
            <a:extLst>
              <a:ext uri="{FF2B5EF4-FFF2-40B4-BE49-F238E27FC236}">
                <a16:creationId xmlns:a16="http://schemas.microsoft.com/office/drawing/2014/main" id="{505775BE-BC99-D44A-DEDD-FB4F58227DE5}"/>
              </a:ext>
            </a:extLst>
          </p:cNvPr>
          <p:cNvSpPr txBox="1">
            <a:spLocks/>
          </p:cNvSpPr>
          <p:nvPr/>
        </p:nvSpPr>
        <p:spPr>
          <a:xfrm>
            <a:off x="7090020" y="2087537"/>
            <a:ext cx="4352796" cy="51953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pt-BR" dirty="0"/>
              <a:t>Será que deu certo ?</a:t>
            </a:r>
          </a:p>
        </p:txBody>
      </p:sp>
    </p:spTree>
    <p:extLst>
      <p:ext uri="{BB962C8B-B14F-4D97-AF65-F5344CB8AC3E}">
        <p14:creationId xmlns:p14="http://schemas.microsoft.com/office/powerpoint/2010/main" val="16862156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B4CEBC-29AA-0B64-6D86-B49A19BD51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</p:spPr>
        <p:txBody>
          <a:bodyPr>
            <a:normAutofit/>
          </a:bodyPr>
          <a:lstStyle/>
          <a:p>
            <a:r>
              <a:rPr lang="pt-BR" sz="2600" b="1" dirty="0"/>
              <a:t>Os principais métodos HTTP</a:t>
            </a:r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D5FD78D7-7ED8-1593-FC54-8D4E2A2ECF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4613956"/>
              </p:ext>
            </p:extLst>
          </p:nvPr>
        </p:nvGraphicFramePr>
        <p:xfrm>
          <a:off x="1795568" y="2176304"/>
          <a:ext cx="8600865" cy="3688080"/>
        </p:xfrm>
        <a:graphic>
          <a:graphicData uri="http://schemas.openxmlformats.org/drawingml/2006/table">
            <a:tbl>
              <a:tblPr/>
              <a:tblGrid>
                <a:gridCol w="2230544">
                  <a:extLst>
                    <a:ext uri="{9D8B030D-6E8A-4147-A177-3AD203B41FA5}">
                      <a16:colId xmlns:a16="http://schemas.microsoft.com/office/drawing/2014/main" val="4025802244"/>
                    </a:ext>
                  </a:extLst>
                </a:gridCol>
                <a:gridCol w="2370244">
                  <a:extLst>
                    <a:ext uri="{9D8B030D-6E8A-4147-A177-3AD203B41FA5}">
                      <a16:colId xmlns:a16="http://schemas.microsoft.com/office/drawing/2014/main" val="263985013"/>
                    </a:ext>
                  </a:extLst>
                </a:gridCol>
                <a:gridCol w="4000077">
                  <a:extLst>
                    <a:ext uri="{9D8B030D-6E8A-4147-A177-3AD203B41FA5}">
                      <a16:colId xmlns:a16="http://schemas.microsoft.com/office/drawing/2014/main" val="1048547562"/>
                    </a:ext>
                  </a:extLst>
                </a:gridCol>
              </a:tblGrid>
              <a:tr h="73761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33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Método</a:t>
                      </a:r>
                    </a:p>
                  </a:txBody>
                  <a:tcPr marL="167640" marR="167640" marT="83820" marB="838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A8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33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Objetivo</a:t>
                      </a:r>
                    </a:p>
                  </a:txBody>
                  <a:tcPr marL="167640" marR="167640" marT="83820" marB="838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A8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33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Exemplo</a:t>
                      </a:r>
                    </a:p>
                  </a:txBody>
                  <a:tcPr marL="167640" marR="167640" marT="83820" marB="838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A8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3813336"/>
                  </a:ext>
                </a:extLst>
              </a:tr>
              <a:tr h="73761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GET</a:t>
                      </a:r>
                    </a:p>
                  </a:txBody>
                  <a:tcPr marL="167640" marR="167640" marT="83820" marB="838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Consultar</a:t>
                      </a:r>
                    </a:p>
                  </a:txBody>
                  <a:tcPr marL="167640" marR="167640" marT="83820" marB="838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Buscar dentistas</a:t>
                      </a:r>
                    </a:p>
                  </a:txBody>
                  <a:tcPr marL="167640" marR="167640" marT="83820" marB="838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2003081"/>
                  </a:ext>
                </a:extLst>
              </a:tr>
              <a:tr h="73761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POST</a:t>
                      </a:r>
                    </a:p>
                  </a:txBody>
                  <a:tcPr marL="167640" marR="167640" marT="83820" marB="838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Criar</a:t>
                      </a:r>
                    </a:p>
                  </a:txBody>
                  <a:tcPr marL="167640" marR="167640" marT="83820" marB="838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Cadastrar dentista</a:t>
                      </a:r>
                    </a:p>
                  </a:txBody>
                  <a:tcPr marL="167640" marR="167640" marT="83820" marB="838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996890"/>
                  </a:ext>
                </a:extLst>
              </a:tr>
              <a:tr h="73761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PUT</a:t>
                      </a:r>
                    </a:p>
                  </a:txBody>
                  <a:tcPr marL="167640" marR="167640" marT="83820" marB="838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Atualizar</a:t>
                      </a:r>
                    </a:p>
                  </a:txBody>
                  <a:tcPr marL="167640" marR="167640" marT="83820" marB="838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Alterar dentista</a:t>
                      </a:r>
                    </a:p>
                  </a:txBody>
                  <a:tcPr marL="167640" marR="167640" marT="83820" marB="838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629347"/>
                  </a:ext>
                </a:extLst>
              </a:tr>
              <a:tr h="73761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DELETE</a:t>
                      </a:r>
                    </a:p>
                  </a:txBody>
                  <a:tcPr marL="167640" marR="167640" marT="83820" marB="838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Excluir</a:t>
                      </a:r>
                    </a:p>
                  </a:txBody>
                  <a:tcPr marL="167640" marR="167640" marT="83820" marB="838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Remover dentista</a:t>
                      </a:r>
                    </a:p>
                  </a:txBody>
                  <a:tcPr marL="167640" marR="167640" marT="83820" marB="838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62061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914003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DA52F6-A789-393D-0223-A390957C8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Colocando </a:t>
            </a:r>
            <a:r>
              <a:rPr lang="pt-BR"/>
              <a:t>em prática</a:t>
            </a:r>
          </a:p>
        </p:txBody>
      </p:sp>
      <p:pic>
        <p:nvPicPr>
          <p:cNvPr id="5" name="Imagem 4" descr="Tela de celular&#10;&#10;O conteúdo gerado por IA pode estar incorreto.">
            <a:extLst>
              <a:ext uri="{FF2B5EF4-FFF2-40B4-BE49-F238E27FC236}">
                <a16:creationId xmlns:a16="http://schemas.microsoft.com/office/drawing/2014/main" id="{F5DDB60E-DFAD-AB23-8357-1FFC1BD44B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3600" y="2207910"/>
            <a:ext cx="7344800" cy="1638529"/>
          </a:xfrm>
          <a:prstGeom prst="rect">
            <a:avLst/>
          </a:prstGeom>
        </p:spPr>
      </p:pic>
      <p:pic>
        <p:nvPicPr>
          <p:cNvPr id="7" name="Imagem 6" descr="Texto&#10;&#10;O conteúdo gerado por IA pode estar incorreto.">
            <a:extLst>
              <a:ext uri="{FF2B5EF4-FFF2-40B4-BE49-F238E27FC236}">
                <a16:creationId xmlns:a16="http://schemas.microsoft.com/office/drawing/2014/main" id="{73591627-856C-55F0-D6AE-196821AA1D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9448" y="4751356"/>
            <a:ext cx="5373105" cy="1538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08863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993DCA-E4E4-845E-D23E-82890D1A47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EE5BB9-3715-B5EC-AC01-0CA2A2F57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Colocando </a:t>
            </a:r>
            <a:r>
              <a:rPr lang="pt-BR"/>
              <a:t>em prática</a:t>
            </a:r>
          </a:p>
        </p:txBody>
      </p:sp>
      <p:pic>
        <p:nvPicPr>
          <p:cNvPr id="4" name="Imagem 3" descr="Tela de celular&#10;&#10;O conteúdo gerado por IA pode estar incorreto.">
            <a:extLst>
              <a:ext uri="{FF2B5EF4-FFF2-40B4-BE49-F238E27FC236}">
                <a16:creationId xmlns:a16="http://schemas.microsoft.com/office/drawing/2014/main" id="{5866078B-6D83-5864-0345-F6E1F5BBE7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6889" y="1849700"/>
            <a:ext cx="7678222" cy="1676634"/>
          </a:xfrm>
          <a:prstGeom prst="rect">
            <a:avLst/>
          </a:prstGeom>
        </p:spPr>
      </p:pic>
      <p:pic>
        <p:nvPicPr>
          <p:cNvPr id="8" name="Imagem 7" descr="Texto&#10;&#10;O conteúdo gerado por IA pode estar incorreto.">
            <a:extLst>
              <a:ext uri="{FF2B5EF4-FFF2-40B4-BE49-F238E27FC236}">
                <a16:creationId xmlns:a16="http://schemas.microsoft.com/office/drawing/2014/main" id="{6E381689-411A-EF00-0497-0440A52E8E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4165" y="4169983"/>
            <a:ext cx="7023670" cy="1968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45226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A13988-3FAB-3D91-E08A-F445845AD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88F25C0-AA25-02FF-5D54-55E6DFA4A6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7683220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118</TotalTime>
  <Words>740</Words>
  <Application>Microsoft Office PowerPoint</Application>
  <PresentationFormat>Widescreen</PresentationFormat>
  <Paragraphs>118</Paragraphs>
  <Slides>21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21</vt:i4>
      </vt:variant>
    </vt:vector>
  </HeadingPairs>
  <TitlesOfParts>
    <vt:vector size="25" baseType="lpstr">
      <vt:lpstr>Arial</vt:lpstr>
      <vt:lpstr>Consolas</vt:lpstr>
      <vt:lpstr>Times New Roman</vt:lpstr>
      <vt:lpstr>Tema do Office</vt:lpstr>
      <vt:lpstr>Implementando CRUD com requisições HTTP</vt:lpstr>
      <vt:lpstr>Como mostrar os equipamentos registrados</vt:lpstr>
      <vt:lpstr>O que é uma API ?</vt:lpstr>
      <vt:lpstr>Exemplo com o mundo real</vt:lpstr>
      <vt:lpstr>O que são GET, POST, PUT e DELETE?</vt:lpstr>
      <vt:lpstr>O que é JSON?</vt:lpstr>
      <vt:lpstr>JSON-Server</vt:lpstr>
      <vt:lpstr>Como instalar o JSON-Server</vt:lpstr>
      <vt:lpstr>Instalar o JSON Server</vt:lpstr>
      <vt:lpstr>Criar o projeto</vt:lpstr>
      <vt:lpstr>Instalar o JSON Server</vt:lpstr>
      <vt:lpstr>Instalar o JSON Server</vt:lpstr>
      <vt:lpstr>Apresentação do PowerPoint</vt:lpstr>
      <vt:lpstr>Apresentação do PowerPoint</vt:lpstr>
      <vt:lpstr>Apresentação do PowerPoint</vt:lpstr>
      <vt:lpstr>Por que uma API precisa retornar informações?</vt:lpstr>
      <vt:lpstr>Por que não retornar sempre 200?</vt:lpstr>
      <vt:lpstr>Os principais métodos HTTP</vt:lpstr>
      <vt:lpstr>Colocando em prática</vt:lpstr>
      <vt:lpstr>Colocando em prática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Lucas Tadeu Monteiro Guedes Fernandes Salomao</dc:creator>
  <cp:lastModifiedBy>Professor</cp:lastModifiedBy>
  <cp:revision>15</cp:revision>
  <dcterms:created xsi:type="dcterms:W3CDTF">2024-03-08T12:14:33Z</dcterms:created>
  <dcterms:modified xsi:type="dcterms:W3CDTF">2026-08-29T00:52:17Z</dcterms:modified>
</cp:coreProperties>
</file>