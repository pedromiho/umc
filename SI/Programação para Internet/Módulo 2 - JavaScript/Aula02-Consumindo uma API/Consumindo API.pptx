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</p:sldIdLst>
  <p:sldSz cx="12192000" cy="6858000"/>
  <p:notesSz cx="6888163" cy="100203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E7"/>
    <a:srgbClr val="043073"/>
    <a:srgbClr val="292A86"/>
    <a:srgbClr val="E44D26"/>
    <a:srgbClr val="004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61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0F28648D-752F-4D9E-8EC2-61293C3E9BC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67E822F-2664-47C4-8404-83B1D4D0E6EE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5F894BD-720E-4718-AD70-168A1A7602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12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1776069"/>
          </a:xfrm>
        </p:spPr>
        <p:txBody>
          <a:bodyPr/>
          <a:lstStyle/>
          <a:p>
            <a:r>
              <a:rPr lang="pt-BR" sz="5400" dirty="0"/>
              <a:t>Consumo de APIs com </a:t>
            </a:r>
            <a:r>
              <a:rPr lang="pt-BR" sz="5400" dirty="0" err="1"/>
              <a:t>JavaScript</a:t>
            </a:r>
            <a:endParaRPr lang="pt-BR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API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9BF02-7583-49C1-ABA2-9069727D5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9783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API (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Interface, ou Interface de Programação de Aplicações) é um conjunto de regras e definições que permite que diferentes sistemas e aplicações se comuniquem entre si.</a:t>
            </a:r>
          </a:p>
          <a:p>
            <a:pPr>
              <a:spcBef>
                <a:spcPts val="0"/>
              </a:spcBef>
            </a:pPr>
            <a:r>
              <a:rPr lang="pt-BR" dirty="0"/>
              <a:t>Ela funciona como um intermediário que recebe uma solicitação (</a:t>
            </a:r>
            <a:r>
              <a:rPr lang="pt-BR" dirty="0" err="1"/>
              <a:t>request</a:t>
            </a:r>
            <a:r>
              <a:rPr lang="pt-BR" dirty="0"/>
              <a:t>), processa essa solicitação e retorna uma resposta (response).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402" y="4622379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600" y="4622379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002" y="4622379"/>
            <a:ext cx="1080000" cy="108000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22AF104-2538-4BC5-9615-9E6115FFBCF8}"/>
              </a:ext>
            </a:extLst>
          </p:cNvPr>
          <p:cNvCxnSpPr>
            <a:cxnSpLocks/>
          </p:cNvCxnSpPr>
          <p:nvPr/>
        </p:nvCxnSpPr>
        <p:spPr>
          <a:xfrm>
            <a:off x="32077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4CBF28F-36D2-48EA-96BF-E50483F6A8B3}"/>
              </a:ext>
            </a:extLst>
          </p:cNvPr>
          <p:cNvCxnSpPr>
            <a:cxnSpLocks/>
          </p:cNvCxnSpPr>
          <p:nvPr/>
        </p:nvCxnSpPr>
        <p:spPr>
          <a:xfrm>
            <a:off x="64643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12B63D-245E-4FE5-8C4E-6AF242C59C49}"/>
              </a:ext>
            </a:extLst>
          </p:cNvPr>
          <p:cNvCxnSpPr>
            <a:cxnSpLocks/>
          </p:cNvCxnSpPr>
          <p:nvPr/>
        </p:nvCxnSpPr>
        <p:spPr>
          <a:xfrm flipH="1">
            <a:off x="32077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65F895A-F8F6-43E4-9E3E-79FF545CA042}"/>
              </a:ext>
            </a:extLst>
          </p:cNvPr>
          <p:cNvCxnSpPr>
            <a:cxnSpLocks/>
          </p:cNvCxnSpPr>
          <p:nvPr/>
        </p:nvCxnSpPr>
        <p:spPr>
          <a:xfrm flipH="1">
            <a:off x="64643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CA2DDDCF-DA35-42DE-B3C0-64207E632297}"/>
              </a:ext>
            </a:extLst>
          </p:cNvPr>
          <p:cNvSpPr/>
          <p:nvPr/>
        </p:nvSpPr>
        <p:spPr>
          <a:xfrm>
            <a:off x="37719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4D5C7F8-046F-4CD0-B826-D31D7F3903F9}"/>
              </a:ext>
            </a:extLst>
          </p:cNvPr>
          <p:cNvSpPr/>
          <p:nvPr/>
        </p:nvSpPr>
        <p:spPr>
          <a:xfrm>
            <a:off x="70285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056D9D-3A95-449C-8D3F-73221A463C39}"/>
              </a:ext>
            </a:extLst>
          </p:cNvPr>
          <p:cNvSpPr/>
          <p:nvPr/>
        </p:nvSpPr>
        <p:spPr>
          <a:xfrm>
            <a:off x="3771945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0AEF8D3-EA9C-42AD-8EB4-D296ADFE0F06}"/>
              </a:ext>
            </a:extLst>
          </p:cNvPr>
          <p:cNvSpPr/>
          <p:nvPr/>
        </p:nvSpPr>
        <p:spPr>
          <a:xfrm>
            <a:off x="7002897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8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 o mundo real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2521168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2521168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2521168"/>
            <a:ext cx="1080000" cy="1080000"/>
          </a:xfrm>
          <a:prstGeom prst="rect">
            <a:avLst/>
          </a:prstGeom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5A1C4F2-D6F1-45A3-84DE-369E348D11D1}"/>
              </a:ext>
            </a:extLst>
          </p:cNvPr>
          <p:cNvGrpSpPr/>
          <p:nvPr/>
        </p:nvGrpSpPr>
        <p:grpSpPr>
          <a:xfrm>
            <a:off x="3477667" y="2504994"/>
            <a:ext cx="1980000" cy="1115054"/>
            <a:chOff x="3477668" y="2089427"/>
            <a:chExt cx="1980000" cy="1115054"/>
          </a:xfrm>
        </p:grpSpPr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E22AF104-2538-4BC5-9615-9E6115FFBCF8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3312B63D-245E-4FE5-8C4E-6AF242C59C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A2DDDCF-DA35-42DE-B3C0-64207E632297}"/>
                </a:ext>
              </a:extLst>
            </p:cNvPr>
            <p:cNvSpPr/>
            <p:nvPr/>
          </p:nvSpPr>
          <p:spPr>
            <a:xfrm>
              <a:off x="40419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58056D9D-3A95-449C-8D3F-73221A463C39}"/>
                </a:ext>
              </a:extLst>
            </p:cNvPr>
            <p:cNvSpPr/>
            <p:nvPr/>
          </p:nvSpPr>
          <p:spPr>
            <a:xfrm>
              <a:off x="3971379" y="2835149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A600B1E-C020-4E5C-A226-F46501157864}"/>
              </a:ext>
            </a:extLst>
          </p:cNvPr>
          <p:cNvGrpSpPr/>
          <p:nvPr/>
        </p:nvGrpSpPr>
        <p:grpSpPr>
          <a:xfrm>
            <a:off x="6734265" y="2504994"/>
            <a:ext cx="1980000" cy="1115054"/>
            <a:chOff x="6734268" y="2089427"/>
            <a:chExt cx="1980000" cy="1115054"/>
          </a:xfrm>
        </p:grpSpPr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14CBF28F-36D2-48EA-96BF-E50483F6A8B3}"/>
                </a:ext>
              </a:extLst>
            </p:cNvPr>
            <p:cNvCxnSpPr>
              <a:cxnSpLocks/>
            </p:cNvCxnSpPr>
            <p:nvPr/>
          </p:nvCxnSpPr>
          <p:spPr>
            <a:xfrm>
              <a:off x="67342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C65F895A-F8F6-43E4-9E3E-79FF545CA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2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74D5C7F8-046F-4CD0-B826-D31D7F3903F9}"/>
                </a:ext>
              </a:extLst>
            </p:cNvPr>
            <p:cNvSpPr/>
            <p:nvPr/>
          </p:nvSpPr>
          <p:spPr>
            <a:xfrm>
              <a:off x="72985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70AEF8D3-EA9C-42AD-8EB4-D296ADFE0F06}"/>
                </a:ext>
              </a:extLst>
            </p:cNvPr>
            <p:cNvSpPr/>
            <p:nvPr/>
          </p:nvSpPr>
          <p:spPr>
            <a:xfrm>
              <a:off x="7272863" y="2835149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D738ADD-39E2-47D0-BE88-E3CA3EF34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4454009"/>
            <a:ext cx="1080000" cy="108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784BB9-E261-4801-B8B1-615F8EBEA9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4454009"/>
            <a:ext cx="1080000" cy="108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C14F329-561C-42C4-9E8D-2DDB1E60A9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4454009"/>
            <a:ext cx="1080000" cy="1080000"/>
          </a:xfrm>
          <a:prstGeom prst="rect">
            <a:avLst/>
          </a:prstGeom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F2C79CE-06FE-4CD6-9ADC-E8BA6B79D26F}"/>
              </a:ext>
            </a:extLst>
          </p:cNvPr>
          <p:cNvGrpSpPr/>
          <p:nvPr/>
        </p:nvGrpSpPr>
        <p:grpSpPr>
          <a:xfrm>
            <a:off x="3477667" y="4478075"/>
            <a:ext cx="1980000" cy="1115054"/>
            <a:chOff x="3477668" y="4788155"/>
            <a:chExt cx="1980000" cy="1115054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38C5F1E2-CD4C-4837-9917-FC9030EE1752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90577E20-0B9A-43F2-BFA4-78C0315C8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41143AFF-11C6-4F48-9C19-19D6B0BEC295}"/>
                </a:ext>
              </a:extLst>
            </p:cNvPr>
            <p:cNvSpPr/>
            <p:nvPr/>
          </p:nvSpPr>
          <p:spPr>
            <a:xfrm>
              <a:off x="4041911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2B1EBE9-BFA5-4E97-BFCC-2B802F45D393}"/>
                </a:ext>
              </a:extLst>
            </p:cNvPr>
            <p:cNvSpPr/>
            <p:nvPr/>
          </p:nvSpPr>
          <p:spPr>
            <a:xfrm>
              <a:off x="3971379" y="5533877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298BC37-51BC-4243-BD52-0A05AC90507A}"/>
              </a:ext>
            </a:extLst>
          </p:cNvPr>
          <p:cNvGrpSpPr/>
          <p:nvPr/>
        </p:nvGrpSpPr>
        <p:grpSpPr>
          <a:xfrm>
            <a:off x="6734265" y="4478075"/>
            <a:ext cx="1980000" cy="1115054"/>
            <a:chOff x="6832566" y="4788155"/>
            <a:chExt cx="1980000" cy="1115054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12B6D63E-7A2F-488C-AE78-4F4C6E6BEBD1}"/>
                </a:ext>
              </a:extLst>
            </p:cNvPr>
            <p:cNvCxnSpPr>
              <a:cxnSpLocks/>
            </p:cNvCxnSpPr>
            <p:nvPr/>
          </p:nvCxnSpPr>
          <p:spPr>
            <a:xfrm>
              <a:off x="6832566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464F244F-ECE2-4A1B-BEB5-6CF43160E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2566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F63735C2-FE40-4050-BD99-A2B775601892}"/>
                </a:ext>
              </a:extLst>
            </p:cNvPr>
            <p:cNvSpPr/>
            <p:nvPr/>
          </p:nvSpPr>
          <p:spPr>
            <a:xfrm>
              <a:off x="7396809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6B381306-6B39-4BB7-BA95-A85B4E61D15A}"/>
                </a:ext>
              </a:extLst>
            </p:cNvPr>
            <p:cNvSpPr/>
            <p:nvPr/>
          </p:nvSpPr>
          <p:spPr>
            <a:xfrm>
              <a:off x="7371161" y="5533877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025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C1BD2-1860-4128-A38E-31FF7B7D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GET, POST, PUT e DELETE?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64F687-2EB1-4898-AF95-B06854DA8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Essas palavras representam os métodos HTTP, que são usados para comunicação entre clientes (como navegadores ou aplicativos) e servidores. Cada um desses métodos define uma ação específica a ser realizada em um recurso da API.</a:t>
            </a:r>
          </a:p>
          <a:p>
            <a:pPr marL="1028700" lvl="1" indent="-342900"/>
            <a:r>
              <a:rPr lang="pt-BR" b="1" dirty="0"/>
              <a:t>GET  - </a:t>
            </a:r>
            <a:r>
              <a:rPr lang="pt-BR" dirty="0"/>
              <a:t>Busca dados em um servidor sem alterá-los, como ao consultar um CEP. </a:t>
            </a:r>
          </a:p>
          <a:p>
            <a:pPr marL="1028700" lvl="1" indent="-342900"/>
            <a:r>
              <a:rPr lang="pt-BR" b="1" dirty="0"/>
              <a:t>POST - </a:t>
            </a:r>
            <a:r>
              <a:rPr lang="pt-BR" dirty="0"/>
              <a:t>Envia informações para um servidor para criar um novo recurso, como cadastrar um usuário. </a:t>
            </a:r>
          </a:p>
          <a:p>
            <a:pPr marL="1028700" lvl="1" indent="-342900"/>
            <a:r>
              <a:rPr lang="pt-BR" b="1" dirty="0"/>
              <a:t>PUT - </a:t>
            </a:r>
            <a:r>
              <a:rPr lang="pt-BR" dirty="0"/>
              <a:t>Atualiza completamente um recurso existente, substituindo seus dados. </a:t>
            </a:r>
          </a:p>
          <a:p>
            <a:pPr marL="1028700" lvl="1" indent="-342900"/>
            <a:r>
              <a:rPr lang="pt-BR" b="1" dirty="0"/>
              <a:t>DELETE </a:t>
            </a:r>
            <a:r>
              <a:rPr lang="pt-BR" dirty="0"/>
              <a:t>- Remove um recurso de dentro de um servidor, como excluir uma conta. </a:t>
            </a:r>
          </a:p>
        </p:txBody>
      </p:sp>
    </p:spTree>
    <p:extLst>
      <p:ext uri="{BB962C8B-B14F-4D97-AF65-F5344CB8AC3E}">
        <p14:creationId xmlns:p14="http://schemas.microsoft.com/office/powerpoint/2010/main" val="338878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1D258-59A5-4810-A5FD-D0D7FB9E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JSON?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48151-6978-4E43-BCC0-D82A5D1D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JSON (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Notation</a:t>
            </a:r>
            <a:r>
              <a:rPr lang="pt-BR" dirty="0"/>
              <a:t>) é um formato leve para armazenar e transmitir dados, estruturado como um conjunto de pares chave: valor. Ele é amplamente utilizado para comunicação entre aplicações web e APIs, sendo usado em aplicações como: </a:t>
            </a:r>
          </a:p>
          <a:p>
            <a:pPr marL="1028700" lvl="1" indent="-342900"/>
            <a:r>
              <a:rPr lang="pt-BR" dirty="0"/>
              <a:t>Respostas de APIs (como </a:t>
            </a:r>
            <a:r>
              <a:rPr lang="pt-BR" dirty="0" err="1"/>
              <a:t>ViaCEP</a:t>
            </a:r>
            <a:r>
              <a:rPr lang="pt-BR" dirty="0"/>
              <a:t>, </a:t>
            </a:r>
            <a:r>
              <a:rPr lang="pt-BR" dirty="0" err="1"/>
              <a:t>OpenWeather</a:t>
            </a:r>
            <a:r>
              <a:rPr lang="pt-BR" dirty="0"/>
              <a:t>, etc.).</a:t>
            </a:r>
          </a:p>
          <a:p>
            <a:pPr marL="1028700" lvl="1" indent="-342900"/>
            <a:r>
              <a:rPr lang="pt-BR" dirty="0"/>
              <a:t>Armazenamento de configurações (ex.: </a:t>
            </a:r>
            <a:r>
              <a:rPr lang="pt-BR" dirty="0" err="1"/>
              <a:t>package.json</a:t>
            </a:r>
            <a:r>
              <a:rPr lang="pt-BR" dirty="0"/>
              <a:t> em projetos Node.js).</a:t>
            </a:r>
          </a:p>
          <a:p>
            <a:pPr marL="1028700" lvl="1" indent="-342900"/>
            <a:r>
              <a:rPr lang="pt-BR" dirty="0"/>
              <a:t>Troca de dados entre sistemas em aplicações web e móveis.</a:t>
            </a:r>
          </a:p>
        </p:txBody>
      </p:sp>
    </p:spTree>
    <p:extLst>
      <p:ext uri="{BB962C8B-B14F-4D97-AF65-F5344CB8AC3E}">
        <p14:creationId xmlns:p14="http://schemas.microsoft.com/office/powerpoint/2010/main" val="138336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2F159-DE43-47FD-9738-53C3B8DE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Assíncrono e Consumo de APIs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1D9F79-5563-4569-93E3-6EE930AAC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28917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 err="1"/>
              <a:t>JavaScript</a:t>
            </a:r>
            <a:r>
              <a:rPr lang="pt-BR" dirty="0"/>
              <a:t> é uma linguagem single-</a:t>
            </a:r>
            <a:r>
              <a:rPr lang="pt-BR" dirty="0" err="1"/>
              <a:t>threaded</a:t>
            </a:r>
            <a:r>
              <a:rPr lang="pt-BR" dirty="0"/>
              <a:t>, ou seja, executa uma instrução por vez. No entanto, ao lidar com operações demoradas, como requisições de APIs, precisamos evitar que o código fique travado esperando uma resposta.</a:t>
            </a:r>
          </a:p>
          <a:p>
            <a:pPr>
              <a:spcBef>
                <a:spcPts val="0"/>
              </a:spcBef>
            </a:pPr>
            <a:r>
              <a:rPr lang="pt-BR" dirty="0"/>
              <a:t>O </a:t>
            </a:r>
            <a:r>
              <a:rPr lang="pt-BR" dirty="0" err="1"/>
              <a:t>JavaScript</a:t>
            </a:r>
            <a:r>
              <a:rPr lang="pt-BR" dirty="0"/>
              <a:t> assíncrono permite que essas operações ocorram em segundo plano enquanto o restante do código continua sendo executado.</a:t>
            </a:r>
          </a:p>
        </p:txBody>
      </p:sp>
    </p:spTree>
    <p:extLst>
      <p:ext uri="{BB962C8B-B14F-4D97-AF65-F5344CB8AC3E}">
        <p14:creationId xmlns:p14="http://schemas.microsoft.com/office/powerpoint/2010/main" val="59218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2F159-DE43-47FD-9738-53C3B8DE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usamos </a:t>
            </a:r>
            <a:r>
              <a:rPr lang="pt-BR" dirty="0" err="1"/>
              <a:t>JavaScript</a:t>
            </a:r>
            <a:r>
              <a:rPr lang="pt-BR" dirty="0"/>
              <a:t> Assíncrono para consumir APIs?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1D9F79-5563-4569-93E3-6EE930AAC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28917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APIs estão hospedadas em servidores e podem demorar para responder devido a fatores como conexão lenta ou grande volume de dados. Se o código fosse síncrono, ele ficaria bloqueado aguardando a resposta. Com a programação assíncrona, evitamos esse problema e garantimos uma melhor experiência ao usuário.</a:t>
            </a:r>
          </a:p>
          <a:p>
            <a:pPr>
              <a:spcBef>
                <a:spcPts val="0"/>
              </a:spcBef>
            </a:pPr>
            <a:r>
              <a:rPr lang="pt-BR" dirty="0"/>
              <a:t>Sintaxe: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47E3F8-9B94-4EFB-8779-7D07AE295DB1}"/>
              </a:ext>
            </a:extLst>
          </p:cNvPr>
          <p:cNvSpPr/>
          <p:nvPr/>
        </p:nvSpPr>
        <p:spPr>
          <a:xfrm>
            <a:off x="4129087" y="4675532"/>
            <a:ext cx="39338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nomeFunção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40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FECBC-A724-4C8D-8D2C-CDCA5B8D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</a:t>
            </a:r>
            <a:r>
              <a:rPr lang="pt-BR" dirty="0" err="1"/>
              <a:t>Promises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624DC3-F541-454B-B0AF-B67A9C1B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2860675"/>
          </a:xfrm>
        </p:spPr>
        <p:txBody>
          <a:bodyPr/>
          <a:lstStyle/>
          <a:p>
            <a:r>
              <a:rPr lang="pt-BR" dirty="0"/>
              <a:t>Uma </a:t>
            </a:r>
            <a:r>
              <a:rPr lang="pt-BR" b="1" dirty="0" err="1"/>
              <a:t>Promise</a:t>
            </a:r>
            <a:r>
              <a:rPr lang="pt-BR" dirty="0"/>
              <a:t> é um objeto que representa </a:t>
            </a:r>
            <a:r>
              <a:rPr lang="pt-BR" b="1" dirty="0"/>
              <a:t>algo que ainda não aconteceu</a:t>
            </a:r>
            <a:r>
              <a:rPr lang="pt-BR" dirty="0"/>
              <a:t>, mas que pode acontecer no futuro, podendo estar em três estados:</a:t>
            </a:r>
          </a:p>
          <a:p>
            <a:pPr marL="1028700" lvl="1" indent="-342900"/>
            <a:r>
              <a:rPr lang="pt-BR" b="1" dirty="0"/>
              <a:t>Pendente</a:t>
            </a:r>
            <a:r>
              <a:rPr lang="pt-BR" dirty="0"/>
              <a:t> </a:t>
            </a:r>
            <a:r>
              <a:rPr lang="pt-BR" i="1" dirty="0"/>
              <a:t>(</a:t>
            </a:r>
            <a:r>
              <a:rPr lang="pt-BR" i="1" dirty="0" err="1"/>
              <a:t>pending</a:t>
            </a:r>
            <a:r>
              <a:rPr lang="pt-BR" i="1" dirty="0"/>
              <a:t>)</a:t>
            </a:r>
            <a:r>
              <a:rPr lang="pt-BR" dirty="0"/>
              <a:t> → A operação ainda está em andamento.</a:t>
            </a:r>
          </a:p>
          <a:p>
            <a:pPr marL="1028700" lvl="1" indent="-342900"/>
            <a:r>
              <a:rPr lang="pt-BR" b="1" dirty="0"/>
              <a:t>Resolvida</a:t>
            </a:r>
            <a:r>
              <a:rPr lang="pt-BR" dirty="0"/>
              <a:t> </a:t>
            </a:r>
            <a:r>
              <a:rPr lang="pt-BR" i="1" dirty="0"/>
              <a:t>(</a:t>
            </a:r>
            <a:r>
              <a:rPr lang="pt-BR" i="1" dirty="0" err="1"/>
              <a:t>fulfilled</a:t>
            </a:r>
            <a:r>
              <a:rPr lang="pt-BR" i="1" dirty="0"/>
              <a:t>)</a:t>
            </a:r>
            <a:r>
              <a:rPr lang="pt-BR" dirty="0"/>
              <a:t> → A operação foi concluída com sucesso.</a:t>
            </a:r>
          </a:p>
          <a:p>
            <a:pPr marL="1028700" lvl="1" indent="-342900"/>
            <a:r>
              <a:rPr lang="pt-BR" b="1" dirty="0"/>
              <a:t>Rejeitada</a:t>
            </a:r>
            <a:r>
              <a:rPr lang="pt-BR" dirty="0"/>
              <a:t> </a:t>
            </a:r>
            <a:r>
              <a:rPr lang="pt-BR" i="1" dirty="0"/>
              <a:t>(</a:t>
            </a:r>
            <a:r>
              <a:rPr lang="pt-BR" i="1" dirty="0" err="1"/>
              <a:t>rejected</a:t>
            </a:r>
            <a:r>
              <a:rPr lang="pt-BR" i="1" dirty="0"/>
              <a:t>)</a:t>
            </a:r>
            <a:r>
              <a:rPr lang="pt-BR" dirty="0"/>
              <a:t> → Algo deu errado.</a:t>
            </a:r>
          </a:p>
        </p:txBody>
      </p:sp>
    </p:spTree>
    <p:extLst>
      <p:ext uri="{BB962C8B-B14F-4D97-AF65-F5344CB8AC3E}">
        <p14:creationId xmlns:p14="http://schemas.microsoft.com/office/powerpoint/2010/main" val="469017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FECBC-A724-4C8D-8D2C-CDCA5B8D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Como funciona uma </a:t>
            </a:r>
            <a:r>
              <a:rPr lang="pt-BR" dirty="0" err="1"/>
              <a:t>Promisse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624DC3-F541-454B-B0AF-B67A9C1B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3771900"/>
            <a:ext cx="11007306" cy="2047875"/>
          </a:xfrm>
        </p:spPr>
        <p:txBody>
          <a:bodyPr/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 err="1"/>
              <a:t>fetch</a:t>
            </a:r>
            <a:r>
              <a:rPr lang="pt-BR" dirty="0"/>
              <a:t>() faz a requisição para a API do </a:t>
            </a:r>
            <a:r>
              <a:rPr lang="pt-BR" dirty="0" err="1"/>
              <a:t>ViaCEP</a:t>
            </a:r>
            <a:r>
              <a:rPr lang="pt-BR" dirty="0"/>
              <a:t>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Como a resposta demora um pouco, o </a:t>
            </a:r>
            <a:r>
              <a:rPr lang="pt-BR" dirty="0" err="1"/>
              <a:t>fetch</a:t>
            </a:r>
            <a:r>
              <a:rPr lang="pt-BR" dirty="0"/>
              <a:t>() retorna uma </a:t>
            </a:r>
            <a:r>
              <a:rPr lang="pt-BR" dirty="0" err="1"/>
              <a:t>Promise</a:t>
            </a:r>
            <a:r>
              <a:rPr lang="pt-BR" dirty="0"/>
              <a:t>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await</a:t>
            </a:r>
            <a:r>
              <a:rPr lang="pt-BR" dirty="0"/>
              <a:t> faz o código esperar até que a resposta chegue.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Quando a </a:t>
            </a:r>
            <a:r>
              <a:rPr lang="pt-BR" dirty="0" err="1"/>
              <a:t>Promise</a:t>
            </a:r>
            <a:r>
              <a:rPr lang="pt-BR" dirty="0"/>
              <a:t> for resolvida, a variável </a:t>
            </a:r>
            <a:r>
              <a:rPr lang="pt-BR" dirty="0" err="1"/>
              <a:t>consultaCEP</a:t>
            </a:r>
            <a:r>
              <a:rPr lang="pt-BR" dirty="0"/>
              <a:t> recebe a resposta da requisição.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760ADE6-25A3-49E3-8AEA-33FE51807C69}"/>
              </a:ext>
            </a:extLst>
          </p:cNvPr>
          <p:cNvSpPr/>
          <p:nvPr/>
        </p:nvSpPr>
        <p:spPr>
          <a:xfrm>
            <a:off x="1504950" y="2968110"/>
            <a:ext cx="9182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consultaCEP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fetch(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`https://viacep.com.br/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ws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cep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/json/`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9D0014F-9A90-479F-AD67-73FCECC084C6}"/>
              </a:ext>
            </a:extLst>
          </p:cNvPr>
          <p:cNvSpPr txBox="1">
            <a:spLocks/>
          </p:cNvSpPr>
          <p:nvPr/>
        </p:nvSpPr>
        <p:spPr>
          <a:xfrm>
            <a:off x="592347" y="1877497"/>
            <a:ext cx="11007306" cy="656154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dirty="0"/>
              <a:t>Sintaxe:</a:t>
            </a:r>
          </a:p>
        </p:txBody>
      </p:sp>
    </p:spTree>
    <p:extLst>
      <p:ext uri="{BB962C8B-B14F-4D97-AF65-F5344CB8AC3E}">
        <p14:creationId xmlns:p14="http://schemas.microsoft.com/office/powerpoint/2010/main" val="32005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F9065-5612-482D-AB9F-4C11F3C2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Convertendo uma </a:t>
            </a:r>
            <a:r>
              <a:rPr lang="pt-BR" dirty="0" err="1"/>
              <a:t>Promisse</a:t>
            </a:r>
            <a:r>
              <a:rPr lang="pt-BR" dirty="0"/>
              <a:t> para JSON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768B0-3F64-4EF9-BBB4-8B537812A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838804"/>
          </a:xfrm>
        </p:spPr>
        <p:txBody>
          <a:bodyPr/>
          <a:lstStyle/>
          <a:p>
            <a:r>
              <a:rPr lang="pt-BR" dirty="0"/>
              <a:t>Para converter uma </a:t>
            </a:r>
            <a:r>
              <a:rPr lang="pt-BR" dirty="0" err="1"/>
              <a:t>Promise</a:t>
            </a:r>
            <a:r>
              <a:rPr lang="pt-BR" dirty="0"/>
              <a:t> para JSON, utilizamos o método .</a:t>
            </a:r>
            <a:r>
              <a:rPr lang="pt-BR" dirty="0" err="1"/>
              <a:t>json</a:t>
            </a:r>
            <a:r>
              <a:rPr lang="pt-BR" dirty="0"/>
              <a:t>(), que transforma a resposta de uma requisição assíncrona em um objeto </a:t>
            </a:r>
            <a:r>
              <a:rPr lang="pt-BR" dirty="0" err="1"/>
              <a:t>JavaScript</a:t>
            </a:r>
            <a:r>
              <a:rPr lang="pt-BR" dirty="0"/>
              <a:t> manipulável. Como a conversão também é assíncrona, usamos </a:t>
            </a:r>
            <a:r>
              <a:rPr lang="pt-BR" dirty="0" err="1"/>
              <a:t>await</a:t>
            </a:r>
            <a:r>
              <a:rPr lang="pt-BR" dirty="0"/>
              <a:t> para garantir que os dados sejam processados antes de seguir com a execução do código.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D5A86E9-352D-43D7-95A2-C6671B86E06B}"/>
              </a:ext>
            </a:extLst>
          </p:cNvPr>
          <p:cNvSpPr/>
          <p:nvPr/>
        </p:nvSpPr>
        <p:spPr>
          <a:xfrm>
            <a:off x="1504950" y="3949185"/>
            <a:ext cx="9182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consultaCEP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fetch(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`https://viacep.com.br/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ws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cep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/json/`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resultadoCEP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await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consultaCEP.json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250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6C54C-9501-480D-B70D-C427F93A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O que é </a:t>
            </a:r>
            <a:r>
              <a:rPr lang="pt-BR" dirty="0" err="1"/>
              <a:t>try</a:t>
            </a:r>
            <a:r>
              <a:rPr lang="pt-BR" dirty="0"/>
              <a:t>...catch?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770214-B038-4AA3-A92D-CF996BDD0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32727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800" dirty="0"/>
              <a:t>Ao trabalhar com </a:t>
            </a:r>
            <a:r>
              <a:rPr lang="pt-BR" sz="1800" dirty="0" err="1"/>
              <a:t>Promises</a:t>
            </a:r>
            <a:r>
              <a:rPr lang="pt-BR" sz="1800" dirty="0"/>
              <a:t> e operações assíncronas, erros podem acontecer, e o </a:t>
            </a:r>
            <a:r>
              <a:rPr lang="pt-BR" sz="1800" dirty="0" err="1"/>
              <a:t>try</a:t>
            </a:r>
            <a:r>
              <a:rPr lang="pt-BR" sz="1800" dirty="0"/>
              <a:t>...catch nos ajuda a capturá-los, evitando que o programa quebre. Esse mecanismo de tratamento de erros permite "tentar" executar um bloco de código (</a:t>
            </a:r>
            <a:r>
              <a:rPr lang="pt-BR" sz="1800" dirty="0" err="1"/>
              <a:t>try</a:t>
            </a:r>
            <a:r>
              <a:rPr lang="pt-BR" sz="1800" dirty="0"/>
              <a:t>) e, caso ocorra um erro, capturá-lo (catch) para tratá-lo de forma adequada. Sem o </a:t>
            </a:r>
            <a:r>
              <a:rPr lang="pt-BR" sz="1800" dirty="0" err="1"/>
              <a:t>try</a:t>
            </a:r>
            <a:r>
              <a:rPr lang="pt-BR" sz="1800" dirty="0"/>
              <a:t>...catch, um erro pode interromper toda a execução do código, prejudicando a experiência do usuário e dificultando a depuração.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Sintaxe: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6625E7-0554-4546-B7FC-7F430E347D22}"/>
              </a:ext>
            </a:extLst>
          </p:cNvPr>
          <p:cNvSpPr/>
          <p:nvPr/>
        </p:nvSpPr>
        <p:spPr>
          <a:xfrm>
            <a:off x="4938712" y="4713632"/>
            <a:ext cx="2314575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(erro) { 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815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6C54C-9501-480D-B70D-C427F93A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 </a:t>
            </a:r>
            <a:r>
              <a:rPr lang="pt-BR" dirty="0" err="1"/>
              <a:t>Promisse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B81BB7B-6459-462A-BF50-A53A3DA34A04}"/>
              </a:ext>
            </a:extLst>
          </p:cNvPr>
          <p:cNvSpPr/>
          <p:nvPr/>
        </p:nvSpPr>
        <p:spPr>
          <a:xfrm>
            <a:off x="1188980" y="2138037"/>
            <a:ext cx="98140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buscaEndereco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(cep)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resposta =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fetch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`https://viacep.com.br/ws/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cep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json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/`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dados =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resposta.json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dados.erro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Error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"CEP inexistente"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console.log(dados);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}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(erro)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console.error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"Erro ao buscar o CEP:"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erro.message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563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41606-8D52-40E3-9E26-74BF33E6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throw</a:t>
            </a:r>
            <a:r>
              <a:rPr lang="pt-BR" dirty="0"/>
              <a:t> </a:t>
            </a:r>
            <a:r>
              <a:rPr lang="pt-BR" dirty="0" err="1"/>
              <a:t>Error</a:t>
            </a:r>
            <a:r>
              <a:rPr lang="pt-BR" dirty="0"/>
              <a:t> 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C57F1-A168-43A8-B1FD-4676008AA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throw</a:t>
            </a:r>
            <a:r>
              <a:rPr lang="pt-BR" dirty="0"/>
              <a:t> </a:t>
            </a:r>
            <a:r>
              <a:rPr lang="pt-BR" dirty="0" err="1"/>
              <a:t>Error</a:t>
            </a:r>
            <a:r>
              <a:rPr lang="pt-BR" dirty="0"/>
              <a:t> em </a:t>
            </a:r>
            <a:r>
              <a:rPr lang="pt-BR" dirty="0" err="1"/>
              <a:t>JavaScript</a:t>
            </a:r>
            <a:r>
              <a:rPr lang="pt-BR" dirty="0"/>
              <a:t> é usado para lançar um erro manualmente. Quando um erro é lançado, a execução do código é interrompida imediatamente, e o programa busca um bloco catch para lidar com esse erro.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FEC75F-F0AC-458C-A8CE-872EC947C6B9}"/>
              </a:ext>
            </a:extLst>
          </p:cNvPr>
          <p:cNvSpPr/>
          <p:nvPr/>
        </p:nvSpPr>
        <p:spPr>
          <a:xfrm>
            <a:off x="1019176" y="3348841"/>
            <a:ext cx="1029652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resposta =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fetch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`https://viacep.com.br/ws/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cep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json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/`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dados =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resposta.json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457200"/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dados.erro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indent="914400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Error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"CEP inexistente"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(erro)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console.error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"Erro ao buscar o CEP:"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erro.message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45549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2132</TotalTime>
  <Words>968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Tema do Office</vt:lpstr>
      <vt:lpstr>Consumo de APIs com JavaScript</vt:lpstr>
      <vt:lpstr>O que é uma API ?</vt:lpstr>
      <vt:lpstr>Exemplo com o mundo real</vt:lpstr>
      <vt:lpstr>O que são GET, POST, PUT e DELETE?</vt:lpstr>
      <vt:lpstr>O que é JSON?</vt:lpstr>
      <vt:lpstr>JavaScript Assíncrono e Consumo de APIs </vt:lpstr>
      <vt:lpstr>Por que usamos JavaScript Assíncrono para consumir APIs?</vt:lpstr>
      <vt:lpstr>O que são Promises ?</vt:lpstr>
      <vt:lpstr>Como funciona uma Promisse ?</vt:lpstr>
      <vt:lpstr>Convertendo uma Promisse para JSON </vt:lpstr>
      <vt:lpstr> O que é try...catch?</vt:lpstr>
      <vt:lpstr>Exemplo com Promisse</vt:lpstr>
      <vt:lpstr>O que é o throw Error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252</cp:revision>
  <dcterms:created xsi:type="dcterms:W3CDTF">2024-03-08T12:14:33Z</dcterms:created>
  <dcterms:modified xsi:type="dcterms:W3CDTF">2026-08-26T23:57:06Z</dcterms:modified>
</cp:coreProperties>
</file>