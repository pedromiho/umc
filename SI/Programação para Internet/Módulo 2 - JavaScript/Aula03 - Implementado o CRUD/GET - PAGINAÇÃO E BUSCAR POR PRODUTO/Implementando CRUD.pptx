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68" r:id="rId3"/>
    <p:sldId id="257" r:id="rId4"/>
    <p:sldId id="258" r:id="rId5"/>
    <p:sldId id="259" r:id="rId6"/>
    <p:sldId id="260" r:id="rId7"/>
    <p:sldId id="270" r:id="rId8"/>
    <p:sldId id="264" r:id="rId9"/>
    <p:sldId id="275" r:id="rId10"/>
    <p:sldId id="276" r:id="rId11"/>
    <p:sldId id="277" r:id="rId12"/>
    <p:sldId id="279" r:id="rId13"/>
    <p:sldId id="278" r:id="rId14"/>
    <p:sldId id="280" r:id="rId15"/>
    <p:sldId id="272" r:id="rId16"/>
    <p:sldId id="273" r:id="rId17"/>
    <p:sldId id="281" r:id="rId18"/>
    <p:sldId id="282" r:id="rId19"/>
    <p:sldId id="283" r:id="rId20"/>
    <p:sldId id="284" r:id="rId21"/>
    <p:sldId id="285" r:id="rId22"/>
    <p:sldId id="286" r:id="rId23"/>
    <p:sldId id="287" r:id="rId24"/>
    <p:sldId id="293" r:id="rId25"/>
    <p:sldId id="288" r:id="rId26"/>
    <p:sldId id="289" r:id="rId27"/>
    <p:sldId id="291" r:id="rId28"/>
    <p:sldId id="294" r:id="rId29"/>
    <p:sldId id="295" r:id="rId30"/>
    <p:sldId id="292" r:id="rId3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1E1E"/>
    <a:srgbClr val="F2F2F2"/>
    <a:srgbClr val="292A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93" d="100"/>
          <a:sy n="93" d="100"/>
        </p:scale>
        <p:origin x="302" y="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9F73EA-414C-4929-B3E7-AD122EFFBF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52931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37FCEED-3F66-43BC-8B20-36021361A3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60550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dirty="0"/>
              <a:t>Clique para editar o estilo do subtítulo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6395079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5DFB8E-AD99-4A2B-8BE2-ED878F912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1BA61F7-989E-45C9-916D-42CE0B17B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4351338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50000"/>
              </a:lnSpc>
              <a:spcBef>
                <a:spcPts val="0"/>
              </a:spcBef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just">
              <a:lnSpc>
                <a:spcPct val="150000"/>
              </a:lnSpc>
              <a:spcBef>
                <a:spcPts val="0"/>
              </a:spcBef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914400" indent="0" algn="just">
              <a:lnSpc>
                <a:spcPct val="150000"/>
              </a:lnSpc>
              <a:spcBef>
                <a:spcPts val="0"/>
              </a:spcBef>
              <a:buNone/>
              <a:defRPr sz="14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371600" indent="0" algn="just">
              <a:lnSpc>
                <a:spcPct val="150000"/>
              </a:lnSpc>
              <a:spcBef>
                <a:spcPts val="0"/>
              </a:spcBef>
              <a:buNone/>
              <a:defRPr sz="12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1828800" indent="0" algn="just">
              <a:lnSpc>
                <a:spcPct val="150000"/>
              </a:lnSpc>
              <a:spcBef>
                <a:spcPts val="0"/>
              </a:spcBef>
              <a:buNone/>
              <a:defRPr sz="10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907272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440976-951F-48E1-9F65-E2E7237C0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3F09C38-83BA-4379-9DE9-B52DAEE2D6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801F2F7-E203-4170-8B06-E39E4EF61B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02/09/2026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E2FDAB5-81C4-491B-B1DB-3E7A63996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F87684E-F6A9-4B10-B6C6-98901C57A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2691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21A5A9C-1616-4A2F-9897-2AA0D6A7B0E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02/09/2026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19E4B8E-0EE6-4C64-9500-F64ED0B84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FE3A651-93A6-476E-86D8-9380EB079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D3856C12-D3CA-9CE2-7861-13FBF02F4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9" name="Espaço Reservado para Conteúdo 2">
            <a:extLst>
              <a:ext uri="{FF2B5EF4-FFF2-40B4-BE49-F238E27FC236}">
                <a16:creationId xmlns:a16="http://schemas.microsoft.com/office/drawing/2014/main" id="{07102269-6BD9-547A-4740-3B8E3F48BF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25625"/>
            <a:ext cx="5181600" cy="4370388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50000"/>
              </a:lnSpc>
              <a:spcBef>
                <a:spcPts val="0"/>
              </a:spcBef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just">
              <a:lnSpc>
                <a:spcPct val="150000"/>
              </a:lnSpc>
              <a:spcBef>
                <a:spcPts val="0"/>
              </a:spcBef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914400" indent="0" algn="just">
              <a:lnSpc>
                <a:spcPct val="150000"/>
              </a:lnSpc>
              <a:spcBef>
                <a:spcPts val="0"/>
              </a:spcBef>
              <a:buNone/>
              <a:defRPr sz="14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371600" indent="0" algn="just">
              <a:lnSpc>
                <a:spcPct val="150000"/>
              </a:lnSpc>
              <a:spcBef>
                <a:spcPts val="0"/>
              </a:spcBef>
              <a:buNone/>
              <a:defRPr sz="12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1828800" indent="0" algn="just">
              <a:lnSpc>
                <a:spcPct val="150000"/>
              </a:lnSpc>
              <a:spcBef>
                <a:spcPts val="0"/>
              </a:spcBef>
              <a:buNone/>
              <a:defRPr sz="10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10" name="Espaço Reservado para Conteúdo 2">
            <a:extLst>
              <a:ext uri="{FF2B5EF4-FFF2-40B4-BE49-F238E27FC236}">
                <a16:creationId xmlns:a16="http://schemas.microsoft.com/office/drawing/2014/main" id="{CB7389AF-7009-AFBD-694C-4FEB5C402AF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0" y="1844675"/>
            <a:ext cx="5181600" cy="4351338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50000"/>
              </a:lnSpc>
              <a:spcBef>
                <a:spcPts val="0"/>
              </a:spcBef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just">
              <a:lnSpc>
                <a:spcPct val="150000"/>
              </a:lnSpc>
              <a:spcBef>
                <a:spcPts val="0"/>
              </a:spcBef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914400" indent="0" algn="just">
              <a:lnSpc>
                <a:spcPct val="150000"/>
              </a:lnSpc>
              <a:spcBef>
                <a:spcPts val="0"/>
              </a:spcBef>
              <a:buNone/>
              <a:defRPr sz="14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371600" indent="0" algn="just">
              <a:lnSpc>
                <a:spcPct val="150000"/>
              </a:lnSpc>
              <a:spcBef>
                <a:spcPts val="0"/>
              </a:spcBef>
              <a:buNone/>
              <a:defRPr sz="12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1828800" indent="0" algn="just">
              <a:lnSpc>
                <a:spcPct val="150000"/>
              </a:lnSpc>
              <a:spcBef>
                <a:spcPts val="0"/>
              </a:spcBef>
              <a:buNone/>
              <a:defRPr sz="10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118024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7207A11-9E53-4968-BFBB-FBA312D24C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E141C8A-81E9-4FD8-AF20-F5BD9DA313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B1C8E84-38D3-49F5-9A51-7C0AF548DF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95D1BB-221B-469A-A06C-FD406B207A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EAA33C3-5B87-4019-8743-8F9C2F9830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02/09/2026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0BDA0B8-E9EF-4477-9209-5DEC09732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BCF0E10-CAD6-4E43-98B3-1AFB88B68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9AF65EF7-14AA-3189-A9E5-924E752AE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645059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20D39C8-444E-4546-80F5-D0180A75AF9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02/09/2026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1C134A4-BE1B-4962-9516-659CD4519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CE7749A-36AE-46D1-BE46-BE0E2F45B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6F8FEF21-0B4E-C030-F1F6-1E8EDC3D8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3457533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43BC826-C9FB-472E-956F-F80F0568AE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02/09/2026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E154652-AECB-47CC-A9CD-8426C4D1A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7E24980-9E3E-413B-9621-9DCBCC5F4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37732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FF34EE3-79AE-487D-B73B-1A408180A0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844675"/>
            <a:ext cx="5256212" cy="43513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E5AF76A-9469-4EBF-8DAC-F6889FD7546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02/09/2026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B4ED122-B6B8-4D0E-98A8-D12057984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4136D5D-BD69-4CD2-A354-F8289DAAC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9566D364-0170-A389-F159-C7C9D62E4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9" name="Espaço Reservado para Conteúdo 2">
            <a:extLst>
              <a:ext uri="{FF2B5EF4-FFF2-40B4-BE49-F238E27FC236}">
                <a16:creationId xmlns:a16="http://schemas.microsoft.com/office/drawing/2014/main" id="{76796487-CD7B-89D5-C833-332E8D160F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9345" y="1844675"/>
            <a:ext cx="5060308" cy="4351338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50000"/>
              </a:lnSpc>
              <a:spcBef>
                <a:spcPts val="0"/>
              </a:spcBef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just">
              <a:lnSpc>
                <a:spcPct val="150000"/>
              </a:lnSpc>
              <a:spcBef>
                <a:spcPts val="0"/>
              </a:spcBef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914400" indent="0" algn="just">
              <a:lnSpc>
                <a:spcPct val="150000"/>
              </a:lnSpc>
              <a:spcBef>
                <a:spcPts val="0"/>
              </a:spcBef>
              <a:buNone/>
              <a:defRPr sz="14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371600" indent="0" algn="just">
              <a:lnSpc>
                <a:spcPct val="150000"/>
              </a:lnSpc>
              <a:spcBef>
                <a:spcPts val="0"/>
              </a:spcBef>
              <a:buNone/>
              <a:defRPr sz="12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1828800" indent="0" algn="just">
              <a:lnSpc>
                <a:spcPct val="150000"/>
              </a:lnSpc>
              <a:spcBef>
                <a:spcPts val="0"/>
              </a:spcBef>
              <a:buNone/>
              <a:defRPr sz="10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42814922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20F7117-B346-47D7-9DBC-5BBD02B232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773382"/>
            <a:ext cx="6172200" cy="408766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FDB8822-F4D3-4DE6-B130-D7308F116C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773382"/>
            <a:ext cx="3932237" cy="409560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370F3C1-6276-4A5F-B650-8B2E8FB0633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02/09/2026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142CF32-D9DD-42DF-9B63-B3207D85D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2A81DD0-CB02-442E-A173-AFA500CC7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E29F35F0-D02B-295C-BF50-6E6DC9981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6953941" cy="448573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776478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56E30110-E419-43DB-AEFA-3636065754B3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0" y="6762736"/>
            <a:ext cx="12192000" cy="95264"/>
          </a:xfrm>
          <a:prstGeom prst="rect">
            <a:avLst/>
          </a:prstGeom>
          <a:solidFill>
            <a:schemeClr val="bg1"/>
          </a:solidFill>
          <a:ln>
            <a:solidFill>
              <a:srgbClr val="292A86"/>
            </a:solidFill>
          </a:ln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4AAA702B-ED3B-45E1-8C71-1ACC187886AA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582422" y="635357"/>
            <a:ext cx="122428" cy="888712"/>
          </a:xfrm>
          <a:prstGeom prst="rect">
            <a:avLst/>
          </a:prstGeom>
          <a:solidFill>
            <a:srgbClr val="292A86"/>
          </a:solidFill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49B168A8-B937-4519-802D-8D1D90A0A0EA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10283716" y="719713"/>
            <a:ext cx="1273846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495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3B5C3A-A09A-4259-AF3D-EF5302F61C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79420"/>
            <a:ext cx="9144000" cy="1828727"/>
          </a:xfrm>
        </p:spPr>
        <p:txBody>
          <a:bodyPr/>
          <a:lstStyle/>
          <a:p>
            <a:r>
              <a:rPr lang="pt-BR" dirty="0"/>
              <a:t>Implementando CRUD com requisições HTTP</a:t>
            </a:r>
            <a:endParaRPr lang="pt-BR" b="1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4FF2C9F-673D-46AD-83CF-B874F96C37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Prof. Esp. Pedro Miho</a:t>
            </a:r>
          </a:p>
        </p:txBody>
      </p:sp>
    </p:spTree>
    <p:extLst>
      <p:ext uri="{BB962C8B-B14F-4D97-AF65-F5344CB8AC3E}">
        <p14:creationId xmlns:p14="http://schemas.microsoft.com/office/powerpoint/2010/main" val="40469824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E63485-508B-C1C3-3D4B-A556E4894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Como mostrar os equipamentos registrados</a:t>
            </a:r>
          </a:p>
        </p:txBody>
      </p:sp>
      <p:grpSp>
        <p:nvGrpSpPr>
          <p:cNvPr id="10" name="Agrupar 9">
            <a:extLst>
              <a:ext uri="{FF2B5EF4-FFF2-40B4-BE49-F238E27FC236}">
                <a16:creationId xmlns:a16="http://schemas.microsoft.com/office/drawing/2014/main" id="{39FA6042-1511-7572-4085-62A1CE180370}"/>
              </a:ext>
            </a:extLst>
          </p:cNvPr>
          <p:cNvGrpSpPr/>
          <p:nvPr/>
        </p:nvGrpSpPr>
        <p:grpSpPr>
          <a:xfrm>
            <a:off x="749185" y="2320507"/>
            <a:ext cx="5139781" cy="3579557"/>
            <a:chOff x="499019" y="2135911"/>
            <a:chExt cx="4408828" cy="3105805"/>
          </a:xfrm>
        </p:grpSpPr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7FB28246-6AAC-BB49-8A97-48DB955BAE4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99019" y="2135911"/>
              <a:ext cx="3240000" cy="1752245"/>
            </a:xfrm>
            <a:prstGeom prst="rect">
              <a:avLst/>
            </a:prstGeom>
          </p:spPr>
        </p:pic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C9DCCF41-6E4C-4CA0-7BE0-B7740FA1D3D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67847" y="3292934"/>
              <a:ext cx="3240000" cy="1948782"/>
            </a:xfrm>
            <a:prstGeom prst="rect">
              <a:avLst/>
            </a:prstGeom>
          </p:spPr>
        </p:pic>
      </p:grp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3E381279-5B1B-AEB3-F1F7-6FE4EF9399D2}"/>
              </a:ext>
            </a:extLst>
          </p:cNvPr>
          <p:cNvCxnSpPr>
            <a:cxnSpLocks/>
          </p:cNvCxnSpPr>
          <p:nvPr/>
        </p:nvCxnSpPr>
        <p:spPr>
          <a:xfrm>
            <a:off x="6029864" y="3899139"/>
            <a:ext cx="118757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66841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BBC94D-3630-498C-A00A-2202A6D60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é uma API 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3A9BF02-7583-49C1-ABA2-9069727D5F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978388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pt-BR" dirty="0"/>
              <a:t>API (</a:t>
            </a:r>
            <a:r>
              <a:rPr lang="pt-BR" dirty="0" err="1"/>
              <a:t>Application</a:t>
            </a:r>
            <a:r>
              <a:rPr lang="pt-BR" dirty="0"/>
              <a:t> </a:t>
            </a:r>
            <a:r>
              <a:rPr lang="pt-BR" dirty="0" err="1"/>
              <a:t>Programming</a:t>
            </a:r>
            <a:r>
              <a:rPr lang="pt-BR" dirty="0"/>
              <a:t> Interface, ou Interface de Programação de Aplicações) é um conjunto de regras e definições que permite que diferentes sistemas e aplicações se comuniquem entre si.</a:t>
            </a:r>
          </a:p>
          <a:p>
            <a:pPr>
              <a:spcBef>
                <a:spcPts val="0"/>
              </a:spcBef>
            </a:pPr>
            <a:r>
              <a:rPr lang="pt-BR" dirty="0"/>
              <a:t>Ela funciona como um intermediário que recebe uma solicitação (</a:t>
            </a:r>
            <a:r>
              <a:rPr lang="pt-BR" dirty="0" err="1"/>
              <a:t>request</a:t>
            </a:r>
            <a:r>
              <a:rPr lang="pt-BR" dirty="0"/>
              <a:t>), processa essa solicitação e retorna uma resposta (response).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73AB85A0-3188-4586-8077-725E1EAA38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9402" y="4622379"/>
            <a:ext cx="1080000" cy="1080000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A9FF9E80-5371-4AD4-8C49-36EDFE84FD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2600" y="4622379"/>
            <a:ext cx="1080000" cy="1080000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A8F71259-1908-4EBE-B9C7-32A908EBAC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6002" y="4622379"/>
            <a:ext cx="1080000" cy="1080000"/>
          </a:xfrm>
          <a:prstGeom prst="rect">
            <a:avLst/>
          </a:prstGeom>
        </p:spPr>
      </p:pic>
      <p:cxnSp>
        <p:nvCxnSpPr>
          <p:cNvPr id="15" name="Conector de Seta Reta 14">
            <a:extLst>
              <a:ext uri="{FF2B5EF4-FFF2-40B4-BE49-F238E27FC236}">
                <a16:creationId xmlns:a16="http://schemas.microsoft.com/office/drawing/2014/main" id="{E22AF104-2538-4BC5-9615-9E6115FFBCF8}"/>
              </a:ext>
            </a:extLst>
          </p:cNvPr>
          <p:cNvCxnSpPr>
            <a:cxnSpLocks/>
          </p:cNvCxnSpPr>
          <p:nvPr/>
        </p:nvCxnSpPr>
        <p:spPr>
          <a:xfrm>
            <a:off x="3207702" y="4979499"/>
            <a:ext cx="1980000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de Seta Reta 15">
            <a:extLst>
              <a:ext uri="{FF2B5EF4-FFF2-40B4-BE49-F238E27FC236}">
                <a16:creationId xmlns:a16="http://schemas.microsoft.com/office/drawing/2014/main" id="{14CBF28F-36D2-48EA-96BF-E50483F6A8B3}"/>
              </a:ext>
            </a:extLst>
          </p:cNvPr>
          <p:cNvCxnSpPr>
            <a:cxnSpLocks/>
          </p:cNvCxnSpPr>
          <p:nvPr/>
        </p:nvCxnSpPr>
        <p:spPr>
          <a:xfrm>
            <a:off x="6464302" y="4979499"/>
            <a:ext cx="1980000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3312B63D-245E-4FE5-8C4E-6AF242C59C49}"/>
              </a:ext>
            </a:extLst>
          </p:cNvPr>
          <p:cNvCxnSpPr>
            <a:cxnSpLocks/>
          </p:cNvCxnSpPr>
          <p:nvPr/>
        </p:nvCxnSpPr>
        <p:spPr>
          <a:xfrm flipH="1">
            <a:off x="3207702" y="5340905"/>
            <a:ext cx="1980000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de Seta Reta 17">
            <a:extLst>
              <a:ext uri="{FF2B5EF4-FFF2-40B4-BE49-F238E27FC236}">
                <a16:creationId xmlns:a16="http://schemas.microsoft.com/office/drawing/2014/main" id="{C65F895A-F8F6-43E4-9E3E-79FF545CA042}"/>
              </a:ext>
            </a:extLst>
          </p:cNvPr>
          <p:cNvCxnSpPr>
            <a:cxnSpLocks/>
          </p:cNvCxnSpPr>
          <p:nvPr/>
        </p:nvCxnSpPr>
        <p:spPr>
          <a:xfrm flipH="1">
            <a:off x="6464302" y="5340905"/>
            <a:ext cx="1980000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tângulo 18">
            <a:extLst>
              <a:ext uri="{FF2B5EF4-FFF2-40B4-BE49-F238E27FC236}">
                <a16:creationId xmlns:a16="http://schemas.microsoft.com/office/drawing/2014/main" id="{CA2DDDCF-DA35-42DE-B3C0-64207E632297}"/>
              </a:ext>
            </a:extLst>
          </p:cNvPr>
          <p:cNvSpPr/>
          <p:nvPr/>
        </p:nvSpPr>
        <p:spPr>
          <a:xfrm>
            <a:off x="3771945" y="4606205"/>
            <a:ext cx="8515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request</a:t>
            </a: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74D5C7F8-046F-4CD0-B826-D31D7F3903F9}"/>
              </a:ext>
            </a:extLst>
          </p:cNvPr>
          <p:cNvSpPr/>
          <p:nvPr/>
        </p:nvSpPr>
        <p:spPr>
          <a:xfrm>
            <a:off x="7028545" y="4606205"/>
            <a:ext cx="8515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request</a:t>
            </a: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58056D9D-3A95-449C-8D3F-73221A463C39}"/>
              </a:ext>
            </a:extLst>
          </p:cNvPr>
          <p:cNvSpPr/>
          <p:nvPr/>
        </p:nvSpPr>
        <p:spPr>
          <a:xfrm>
            <a:off x="3771945" y="5351927"/>
            <a:ext cx="9028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reponse</a:t>
            </a: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70AEF8D3-EA9C-42AD-8EB4-D296ADFE0F06}"/>
              </a:ext>
            </a:extLst>
          </p:cNvPr>
          <p:cNvSpPr/>
          <p:nvPr/>
        </p:nvSpPr>
        <p:spPr>
          <a:xfrm>
            <a:off x="7002897" y="5351927"/>
            <a:ext cx="9028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reponse</a:t>
            </a: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79806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BBC94D-3630-498C-A00A-2202A6D60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com o mundo real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73AB85A0-3188-4586-8077-725E1EAA38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9368" y="2521168"/>
            <a:ext cx="1080000" cy="1080000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A9FF9E80-5371-4AD4-8C49-36EDFE84FD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2566" y="2521168"/>
            <a:ext cx="1080000" cy="1080000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A8F71259-1908-4EBE-B9C7-32A908EBAC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5966" y="2521168"/>
            <a:ext cx="1080000" cy="1080000"/>
          </a:xfrm>
          <a:prstGeom prst="rect">
            <a:avLst/>
          </a:prstGeom>
        </p:spPr>
      </p:pic>
      <p:grpSp>
        <p:nvGrpSpPr>
          <p:cNvPr id="34" name="Agrupar 33">
            <a:extLst>
              <a:ext uri="{FF2B5EF4-FFF2-40B4-BE49-F238E27FC236}">
                <a16:creationId xmlns:a16="http://schemas.microsoft.com/office/drawing/2014/main" id="{05A1C4F2-D6F1-45A3-84DE-369E348D11D1}"/>
              </a:ext>
            </a:extLst>
          </p:cNvPr>
          <p:cNvGrpSpPr/>
          <p:nvPr/>
        </p:nvGrpSpPr>
        <p:grpSpPr>
          <a:xfrm>
            <a:off x="3477667" y="2504994"/>
            <a:ext cx="1980000" cy="1115054"/>
            <a:chOff x="3477668" y="2089427"/>
            <a:chExt cx="1980000" cy="1115054"/>
          </a:xfrm>
        </p:grpSpPr>
        <p:cxnSp>
          <p:nvCxnSpPr>
            <p:cNvPr id="15" name="Conector de Seta Reta 14">
              <a:extLst>
                <a:ext uri="{FF2B5EF4-FFF2-40B4-BE49-F238E27FC236}">
                  <a16:creationId xmlns:a16="http://schemas.microsoft.com/office/drawing/2014/main" id="{E22AF104-2538-4BC5-9615-9E6115FFBCF8}"/>
                </a:ext>
              </a:extLst>
            </p:cNvPr>
            <p:cNvCxnSpPr>
              <a:cxnSpLocks/>
            </p:cNvCxnSpPr>
            <p:nvPr/>
          </p:nvCxnSpPr>
          <p:spPr>
            <a:xfrm>
              <a:off x="3477668" y="2462721"/>
              <a:ext cx="1980000" cy="0"/>
            </a:xfrm>
            <a:prstGeom prst="straightConnector1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de Seta Reta 16">
              <a:extLst>
                <a:ext uri="{FF2B5EF4-FFF2-40B4-BE49-F238E27FC236}">
                  <a16:creationId xmlns:a16="http://schemas.microsoft.com/office/drawing/2014/main" id="{3312B63D-245E-4FE5-8C4E-6AF242C59C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77668" y="2824127"/>
              <a:ext cx="1980000" cy="0"/>
            </a:xfrm>
            <a:prstGeom prst="straightConnector1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Retângulo 18">
              <a:extLst>
                <a:ext uri="{FF2B5EF4-FFF2-40B4-BE49-F238E27FC236}">
                  <a16:creationId xmlns:a16="http://schemas.microsoft.com/office/drawing/2014/main" id="{CA2DDDCF-DA35-42DE-B3C0-64207E632297}"/>
                </a:ext>
              </a:extLst>
            </p:cNvPr>
            <p:cNvSpPr/>
            <p:nvPr/>
          </p:nvSpPr>
          <p:spPr>
            <a:xfrm>
              <a:off x="4041911" y="2089427"/>
              <a:ext cx="85151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BR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request</a:t>
              </a:r>
              <a:endParaRPr lang="pt-BR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Retângulo 20">
              <a:extLst>
                <a:ext uri="{FF2B5EF4-FFF2-40B4-BE49-F238E27FC236}">
                  <a16:creationId xmlns:a16="http://schemas.microsoft.com/office/drawing/2014/main" id="{58056D9D-3A95-449C-8D3F-73221A463C39}"/>
                </a:ext>
              </a:extLst>
            </p:cNvPr>
            <p:cNvSpPr/>
            <p:nvPr/>
          </p:nvSpPr>
          <p:spPr>
            <a:xfrm>
              <a:off x="3971379" y="2835149"/>
              <a:ext cx="99257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response</a:t>
              </a:r>
            </a:p>
          </p:txBody>
        </p:sp>
      </p:grpSp>
      <p:grpSp>
        <p:nvGrpSpPr>
          <p:cNvPr id="35" name="Agrupar 34">
            <a:extLst>
              <a:ext uri="{FF2B5EF4-FFF2-40B4-BE49-F238E27FC236}">
                <a16:creationId xmlns:a16="http://schemas.microsoft.com/office/drawing/2014/main" id="{DA600B1E-C020-4E5C-A226-F46501157864}"/>
              </a:ext>
            </a:extLst>
          </p:cNvPr>
          <p:cNvGrpSpPr/>
          <p:nvPr/>
        </p:nvGrpSpPr>
        <p:grpSpPr>
          <a:xfrm>
            <a:off x="6734265" y="2504994"/>
            <a:ext cx="1980000" cy="1115054"/>
            <a:chOff x="6734268" y="2089427"/>
            <a:chExt cx="1980000" cy="1115054"/>
          </a:xfrm>
        </p:grpSpPr>
        <p:cxnSp>
          <p:nvCxnSpPr>
            <p:cNvPr id="16" name="Conector de Seta Reta 15">
              <a:extLst>
                <a:ext uri="{FF2B5EF4-FFF2-40B4-BE49-F238E27FC236}">
                  <a16:creationId xmlns:a16="http://schemas.microsoft.com/office/drawing/2014/main" id="{14CBF28F-36D2-48EA-96BF-E50483F6A8B3}"/>
                </a:ext>
              </a:extLst>
            </p:cNvPr>
            <p:cNvCxnSpPr>
              <a:cxnSpLocks/>
            </p:cNvCxnSpPr>
            <p:nvPr/>
          </p:nvCxnSpPr>
          <p:spPr>
            <a:xfrm>
              <a:off x="6734268" y="2462721"/>
              <a:ext cx="1980000" cy="0"/>
            </a:xfrm>
            <a:prstGeom prst="straightConnector1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de Seta Reta 17">
              <a:extLst>
                <a:ext uri="{FF2B5EF4-FFF2-40B4-BE49-F238E27FC236}">
                  <a16:creationId xmlns:a16="http://schemas.microsoft.com/office/drawing/2014/main" id="{C65F895A-F8F6-43E4-9E3E-79FF545CA04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34268" y="2824127"/>
              <a:ext cx="1980000" cy="0"/>
            </a:xfrm>
            <a:prstGeom prst="straightConnector1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Retângulo 19">
              <a:extLst>
                <a:ext uri="{FF2B5EF4-FFF2-40B4-BE49-F238E27FC236}">
                  <a16:creationId xmlns:a16="http://schemas.microsoft.com/office/drawing/2014/main" id="{74D5C7F8-046F-4CD0-B826-D31D7F3903F9}"/>
                </a:ext>
              </a:extLst>
            </p:cNvPr>
            <p:cNvSpPr/>
            <p:nvPr/>
          </p:nvSpPr>
          <p:spPr>
            <a:xfrm>
              <a:off x="7298511" y="2089427"/>
              <a:ext cx="85151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BR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request</a:t>
              </a:r>
              <a:endParaRPr lang="pt-BR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Retângulo 21">
              <a:extLst>
                <a:ext uri="{FF2B5EF4-FFF2-40B4-BE49-F238E27FC236}">
                  <a16:creationId xmlns:a16="http://schemas.microsoft.com/office/drawing/2014/main" id="{70AEF8D3-EA9C-42AD-8EB4-D296ADFE0F06}"/>
                </a:ext>
              </a:extLst>
            </p:cNvPr>
            <p:cNvSpPr/>
            <p:nvPr/>
          </p:nvSpPr>
          <p:spPr>
            <a:xfrm>
              <a:off x="7272863" y="2835149"/>
              <a:ext cx="90281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BR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reponse</a:t>
              </a:r>
              <a:endParaRPr lang="pt-BR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7" name="Imagem 6">
            <a:extLst>
              <a:ext uri="{FF2B5EF4-FFF2-40B4-BE49-F238E27FC236}">
                <a16:creationId xmlns:a16="http://schemas.microsoft.com/office/drawing/2014/main" id="{5D738ADD-39E2-47D0-BE88-E3CA3EF34CB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9368" y="4454009"/>
            <a:ext cx="1080000" cy="1080000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CD784BB9-E261-4801-B8B1-615F8EBEA9A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5966" y="4454009"/>
            <a:ext cx="1080000" cy="1080000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EC14F329-561C-42C4-9E8D-2DDB1E60A94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2566" y="4454009"/>
            <a:ext cx="1080000" cy="1080000"/>
          </a:xfrm>
          <a:prstGeom prst="rect">
            <a:avLst/>
          </a:prstGeom>
        </p:spPr>
      </p:pic>
      <p:grpSp>
        <p:nvGrpSpPr>
          <p:cNvPr id="33" name="Agrupar 32">
            <a:extLst>
              <a:ext uri="{FF2B5EF4-FFF2-40B4-BE49-F238E27FC236}">
                <a16:creationId xmlns:a16="http://schemas.microsoft.com/office/drawing/2014/main" id="{9F2C79CE-06FE-4CD6-9ADC-E8BA6B79D26F}"/>
              </a:ext>
            </a:extLst>
          </p:cNvPr>
          <p:cNvGrpSpPr/>
          <p:nvPr/>
        </p:nvGrpSpPr>
        <p:grpSpPr>
          <a:xfrm>
            <a:off x="3477667" y="4478075"/>
            <a:ext cx="1980000" cy="1115054"/>
            <a:chOff x="3477668" y="4788155"/>
            <a:chExt cx="1980000" cy="1115054"/>
          </a:xfrm>
        </p:grpSpPr>
        <p:cxnSp>
          <p:nvCxnSpPr>
            <p:cNvPr id="23" name="Conector de Seta Reta 22">
              <a:extLst>
                <a:ext uri="{FF2B5EF4-FFF2-40B4-BE49-F238E27FC236}">
                  <a16:creationId xmlns:a16="http://schemas.microsoft.com/office/drawing/2014/main" id="{38C5F1E2-CD4C-4837-9917-FC9030EE1752}"/>
                </a:ext>
              </a:extLst>
            </p:cNvPr>
            <p:cNvCxnSpPr>
              <a:cxnSpLocks/>
            </p:cNvCxnSpPr>
            <p:nvPr/>
          </p:nvCxnSpPr>
          <p:spPr>
            <a:xfrm>
              <a:off x="3477668" y="5161449"/>
              <a:ext cx="1980000" cy="0"/>
            </a:xfrm>
            <a:prstGeom prst="straightConnector1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ector de Seta Reta 23">
              <a:extLst>
                <a:ext uri="{FF2B5EF4-FFF2-40B4-BE49-F238E27FC236}">
                  <a16:creationId xmlns:a16="http://schemas.microsoft.com/office/drawing/2014/main" id="{90577E20-0B9A-43F2-BFA4-78C0315C892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77668" y="5522855"/>
              <a:ext cx="1980000" cy="0"/>
            </a:xfrm>
            <a:prstGeom prst="straightConnector1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Retângulo 24">
              <a:extLst>
                <a:ext uri="{FF2B5EF4-FFF2-40B4-BE49-F238E27FC236}">
                  <a16:creationId xmlns:a16="http://schemas.microsoft.com/office/drawing/2014/main" id="{41143AFF-11C6-4F48-9C19-19D6B0BEC295}"/>
                </a:ext>
              </a:extLst>
            </p:cNvPr>
            <p:cNvSpPr/>
            <p:nvPr/>
          </p:nvSpPr>
          <p:spPr>
            <a:xfrm>
              <a:off x="4041911" y="4788155"/>
              <a:ext cx="85151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BR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request</a:t>
              </a:r>
              <a:endParaRPr lang="pt-BR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Retângulo 25">
              <a:extLst>
                <a:ext uri="{FF2B5EF4-FFF2-40B4-BE49-F238E27FC236}">
                  <a16:creationId xmlns:a16="http://schemas.microsoft.com/office/drawing/2014/main" id="{62B1EBE9-BFA5-4E97-BFCC-2B802F45D393}"/>
                </a:ext>
              </a:extLst>
            </p:cNvPr>
            <p:cNvSpPr/>
            <p:nvPr/>
          </p:nvSpPr>
          <p:spPr>
            <a:xfrm>
              <a:off x="3971379" y="5533877"/>
              <a:ext cx="99257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response</a:t>
              </a:r>
            </a:p>
          </p:txBody>
        </p:sp>
      </p:grpSp>
      <p:grpSp>
        <p:nvGrpSpPr>
          <p:cNvPr id="32" name="Agrupar 31">
            <a:extLst>
              <a:ext uri="{FF2B5EF4-FFF2-40B4-BE49-F238E27FC236}">
                <a16:creationId xmlns:a16="http://schemas.microsoft.com/office/drawing/2014/main" id="{1298BC37-51BC-4243-BD52-0A05AC90507A}"/>
              </a:ext>
            </a:extLst>
          </p:cNvPr>
          <p:cNvGrpSpPr/>
          <p:nvPr/>
        </p:nvGrpSpPr>
        <p:grpSpPr>
          <a:xfrm>
            <a:off x="6734265" y="4478075"/>
            <a:ext cx="1980000" cy="1115054"/>
            <a:chOff x="6832566" y="4788155"/>
            <a:chExt cx="1980000" cy="1115054"/>
          </a:xfrm>
        </p:grpSpPr>
        <p:cxnSp>
          <p:nvCxnSpPr>
            <p:cNvPr id="28" name="Conector de Seta Reta 27">
              <a:extLst>
                <a:ext uri="{FF2B5EF4-FFF2-40B4-BE49-F238E27FC236}">
                  <a16:creationId xmlns:a16="http://schemas.microsoft.com/office/drawing/2014/main" id="{12B6D63E-7A2F-488C-AE78-4F4C6E6BEBD1}"/>
                </a:ext>
              </a:extLst>
            </p:cNvPr>
            <p:cNvCxnSpPr>
              <a:cxnSpLocks/>
            </p:cNvCxnSpPr>
            <p:nvPr/>
          </p:nvCxnSpPr>
          <p:spPr>
            <a:xfrm>
              <a:off x="6832566" y="5161449"/>
              <a:ext cx="1980000" cy="0"/>
            </a:xfrm>
            <a:prstGeom prst="straightConnector1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ector de Seta Reta 28">
              <a:extLst>
                <a:ext uri="{FF2B5EF4-FFF2-40B4-BE49-F238E27FC236}">
                  <a16:creationId xmlns:a16="http://schemas.microsoft.com/office/drawing/2014/main" id="{464F244F-ECE2-4A1B-BEB5-6CF43160E51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32566" y="5522855"/>
              <a:ext cx="1980000" cy="0"/>
            </a:xfrm>
            <a:prstGeom prst="straightConnector1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Retângulo 29">
              <a:extLst>
                <a:ext uri="{FF2B5EF4-FFF2-40B4-BE49-F238E27FC236}">
                  <a16:creationId xmlns:a16="http://schemas.microsoft.com/office/drawing/2014/main" id="{F63735C2-FE40-4050-BD99-A2B775601892}"/>
                </a:ext>
              </a:extLst>
            </p:cNvPr>
            <p:cNvSpPr/>
            <p:nvPr/>
          </p:nvSpPr>
          <p:spPr>
            <a:xfrm>
              <a:off x="7396809" y="4788155"/>
              <a:ext cx="85151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BR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request</a:t>
              </a:r>
              <a:endParaRPr lang="pt-BR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Retângulo 30">
              <a:extLst>
                <a:ext uri="{FF2B5EF4-FFF2-40B4-BE49-F238E27FC236}">
                  <a16:creationId xmlns:a16="http://schemas.microsoft.com/office/drawing/2014/main" id="{6B381306-6B39-4BB7-BA95-A85B4E61D15A}"/>
                </a:ext>
              </a:extLst>
            </p:cNvPr>
            <p:cNvSpPr/>
            <p:nvPr/>
          </p:nvSpPr>
          <p:spPr>
            <a:xfrm>
              <a:off x="7371161" y="5533877"/>
              <a:ext cx="90281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BR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reponse</a:t>
              </a:r>
              <a:endParaRPr lang="pt-BR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302515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8C1BD2-1860-4128-A38E-31FF7B7DD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são GET, POST, PUT e DELETE?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B64F687-2EB1-4898-AF95-B06854DA8F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Essas palavras representam os métodos HTTP, que são usados para comunicação entre clientes (como navegadores ou aplicativos) e servidores. Cada um desses métodos define uma ação específica a ser realizada em um recurso da API.</a:t>
            </a:r>
          </a:p>
          <a:p>
            <a:pPr marL="1028700" lvl="1" indent="-342900"/>
            <a:r>
              <a:rPr lang="pt-BR" b="1" dirty="0"/>
              <a:t>GET  - </a:t>
            </a:r>
            <a:r>
              <a:rPr lang="pt-BR" dirty="0"/>
              <a:t>Busca dados em um servidor sem alterá-los, como ao consultar um CEP. </a:t>
            </a:r>
          </a:p>
          <a:p>
            <a:pPr marL="1028700" lvl="1" indent="-342900"/>
            <a:r>
              <a:rPr lang="pt-BR" b="1" dirty="0"/>
              <a:t>POST - </a:t>
            </a:r>
            <a:r>
              <a:rPr lang="pt-BR" dirty="0"/>
              <a:t>Envia informações para um servidor para criar um novo recurso, como cadastrar um usuário. </a:t>
            </a:r>
          </a:p>
          <a:p>
            <a:pPr marL="1028700" lvl="1" indent="-342900"/>
            <a:r>
              <a:rPr lang="pt-BR" b="1" dirty="0"/>
              <a:t>PUT - </a:t>
            </a:r>
            <a:r>
              <a:rPr lang="pt-BR" dirty="0"/>
              <a:t>Atualiza completamente um recurso existente, substituindo seus dados. </a:t>
            </a:r>
          </a:p>
          <a:p>
            <a:pPr marL="1028700" lvl="1" indent="-342900"/>
            <a:r>
              <a:rPr lang="pt-BR" b="1" dirty="0"/>
              <a:t>DELETE </a:t>
            </a:r>
            <a:r>
              <a:rPr lang="pt-BR" dirty="0"/>
              <a:t>- Remove um recurso de dentro de um servidor, como excluir uma conta. </a:t>
            </a:r>
          </a:p>
        </p:txBody>
      </p:sp>
    </p:spTree>
    <p:extLst>
      <p:ext uri="{BB962C8B-B14F-4D97-AF65-F5344CB8AC3E}">
        <p14:creationId xmlns:p14="http://schemas.microsoft.com/office/powerpoint/2010/main" val="33887804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B1D258-59A5-4810-A5FD-D0D7FB9E1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é JSON?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B448151-6978-4E43-BCC0-D82A5D1D6B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JSON (</a:t>
            </a:r>
            <a:r>
              <a:rPr lang="pt-BR" dirty="0" err="1"/>
              <a:t>JavaScript</a:t>
            </a:r>
            <a:r>
              <a:rPr lang="pt-BR" dirty="0"/>
              <a:t> </a:t>
            </a:r>
            <a:r>
              <a:rPr lang="pt-BR" dirty="0" err="1"/>
              <a:t>Object</a:t>
            </a:r>
            <a:r>
              <a:rPr lang="pt-BR" dirty="0"/>
              <a:t> </a:t>
            </a:r>
            <a:r>
              <a:rPr lang="pt-BR" dirty="0" err="1"/>
              <a:t>Notation</a:t>
            </a:r>
            <a:r>
              <a:rPr lang="pt-BR" dirty="0"/>
              <a:t>) é um formato leve para armazenar e transmitir dados, estruturado como um conjunto de pares chave: valor. Ele é amplamente utilizado para comunicação entre aplicações web e APIs, sendo usado em aplicações como: </a:t>
            </a:r>
          </a:p>
          <a:p>
            <a:pPr marL="1028700" lvl="1" indent="-342900"/>
            <a:r>
              <a:rPr lang="pt-BR" dirty="0"/>
              <a:t>Respostas de APIs (como </a:t>
            </a:r>
            <a:r>
              <a:rPr lang="pt-BR" dirty="0" err="1"/>
              <a:t>ViaCEP</a:t>
            </a:r>
            <a:r>
              <a:rPr lang="pt-BR" dirty="0"/>
              <a:t>, </a:t>
            </a:r>
            <a:r>
              <a:rPr lang="pt-BR" dirty="0" err="1"/>
              <a:t>OpenWeather</a:t>
            </a:r>
            <a:r>
              <a:rPr lang="pt-BR" dirty="0"/>
              <a:t>, etc.).</a:t>
            </a:r>
          </a:p>
          <a:p>
            <a:pPr marL="1028700" lvl="1" indent="-342900"/>
            <a:r>
              <a:rPr lang="pt-BR" dirty="0"/>
              <a:t>Armazenamento de configurações (ex.: </a:t>
            </a:r>
            <a:r>
              <a:rPr lang="pt-BR" dirty="0" err="1"/>
              <a:t>package.json</a:t>
            </a:r>
            <a:r>
              <a:rPr lang="pt-BR" dirty="0"/>
              <a:t> em projetos Node.js).</a:t>
            </a:r>
          </a:p>
          <a:p>
            <a:pPr marL="1028700" lvl="1" indent="-342900"/>
            <a:r>
              <a:rPr lang="pt-BR" dirty="0"/>
              <a:t>Troca de dados entre sistemas em aplicações web e móveis.</a:t>
            </a:r>
          </a:p>
        </p:txBody>
      </p:sp>
    </p:spTree>
    <p:extLst>
      <p:ext uri="{BB962C8B-B14F-4D97-AF65-F5344CB8AC3E}">
        <p14:creationId xmlns:p14="http://schemas.microsoft.com/office/powerpoint/2010/main" val="13833639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C53988-9CCA-5AF2-B6B9-ABB6C6CE7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JSON-Server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DB8CA1E-E052-2067-AEFD-99CB320D9E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476495"/>
          </a:xfrm>
        </p:spPr>
        <p:txBody>
          <a:bodyPr/>
          <a:lstStyle/>
          <a:p>
            <a:r>
              <a:rPr lang="pt-BR" sz="1600" dirty="0"/>
              <a:t>O </a:t>
            </a:r>
            <a:r>
              <a:rPr lang="pt-BR" sz="1600" b="1" dirty="0"/>
              <a:t>JSON Server</a:t>
            </a:r>
            <a:r>
              <a:rPr lang="pt-BR" sz="1600" dirty="0"/>
              <a:t> é uma ferramenta que permite criar rapidamente uma API REST simulada a partir de um arquivo JSON. Ele funciona como um </a:t>
            </a:r>
            <a:r>
              <a:rPr lang="pt-BR" sz="1600" b="1" dirty="0" err="1"/>
              <a:t>back-end</a:t>
            </a:r>
            <a:r>
              <a:rPr lang="pt-BR" sz="1600" b="1" dirty="0"/>
              <a:t> fictício</a:t>
            </a:r>
            <a:r>
              <a:rPr lang="pt-BR" sz="1600" dirty="0"/>
              <a:t>, permitindo que o front-</a:t>
            </a:r>
            <a:r>
              <a:rPr lang="pt-BR" sz="1600" dirty="0" err="1"/>
              <a:t>end</a:t>
            </a:r>
            <a:r>
              <a:rPr lang="pt-BR" sz="1600" dirty="0"/>
              <a:t> faça requisições HTTP como GET, POST, PUT e DELETE. Nesta aula, vamos utilizá-lo para simular o gerenciamento de produtos da nossa loja sem precisar desenvolver um </a:t>
            </a:r>
            <a:r>
              <a:rPr lang="pt-BR" sz="1600" dirty="0" err="1"/>
              <a:t>back-end</a:t>
            </a:r>
            <a:r>
              <a:rPr lang="pt-BR" sz="1600" dirty="0"/>
              <a:t> real.</a:t>
            </a:r>
          </a:p>
          <a:p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982D238A-61CA-655A-C7F3-B3A661791B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3629" y="4048044"/>
            <a:ext cx="1080000" cy="1080000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C133673A-93C4-C20D-4AEB-BB43A726A3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6827" y="4048044"/>
            <a:ext cx="1080000" cy="1080000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26E50033-9BD6-AC99-6276-FF74998AF6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0227" y="4048044"/>
            <a:ext cx="1080000" cy="1080000"/>
          </a:xfrm>
          <a:prstGeom prst="rect">
            <a:avLst/>
          </a:prstGeom>
        </p:spPr>
      </p:pic>
      <p:grpSp>
        <p:nvGrpSpPr>
          <p:cNvPr id="7" name="Agrupar 6">
            <a:extLst>
              <a:ext uri="{FF2B5EF4-FFF2-40B4-BE49-F238E27FC236}">
                <a16:creationId xmlns:a16="http://schemas.microsoft.com/office/drawing/2014/main" id="{1CC3EFD7-D5E6-D220-1304-BFDB624A12EE}"/>
              </a:ext>
            </a:extLst>
          </p:cNvPr>
          <p:cNvGrpSpPr/>
          <p:nvPr/>
        </p:nvGrpSpPr>
        <p:grpSpPr>
          <a:xfrm>
            <a:off x="2571928" y="4031870"/>
            <a:ext cx="1980000" cy="1115054"/>
            <a:chOff x="3477668" y="2089427"/>
            <a:chExt cx="1980000" cy="1115054"/>
          </a:xfrm>
        </p:grpSpPr>
        <p:cxnSp>
          <p:nvCxnSpPr>
            <p:cNvPr id="8" name="Conector de Seta Reta 7">
              <a:extLst>
                <a:ext uri="{FF2B5EF4-FFF2-40B4-BE49-F238E27FC236}">
                  <a16:creationId xmlns:a16="http://schemas.microsoft.com/office/drawing/2014/main" id="{05E9777C-8DAE-4029-3839-2E0D60E9B4DF}"/>
                </a:ext>
              </a:extLst>
            </p:cNvPr>
            <p:cNvCxnSpPr>
              <a:cxnSpLocks/>
            </p:cNvCxnSpPr>
            <p:nvPr/>
          </p:nvCxnSpPr>
          <p:spPr>
            <a:xfrm>
              <a:off x="3477668" y="2462721"/>
              <a:ext cx="1980000" cy="0"/>
            </a:xfrm>
            <a:prstGeom prst="straightConnector1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ector de Seta Reta 8">
              <a:extLst>
                <a:ext uri="{FF2B5EF4-FFF2-40B4-BE49-F238E27FC236}">
                  <a16:creationId xmlns:a16="http://schemas.microsoft.com/office/drawing/2014/main" id="{BE7656D8-6F2D-073A-AFE4-7A7205BEA4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77668" y="2824127"/>
              <a:ext cx="1980000" cy="0"/>
            </a:xfrm>
            <a:prstGeom prst="straightConnector1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33FCD0A1-8C88-0612-F44B-9814F08A82F9}"/>
                </a:ext>
              </a:extLst>
            </p:cNvPr>
            <p:cNvSpPr/>
            <p:nvPr/>
          </p:nvSpPr>
          <p:spPr>
            <a:xfrm>
              <a:off x="4041911" y="2089427"/>
              <a:ext cx="85151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BR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request</a:t>
              </a:r>
              <a:endParaRPr lang="pt-BR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Retângulo 10">
              <a:extLst>
                <a:ext uri="{FF2B5EF4-FFF2-40B4-BE49-F238E27FC236}">
                  <a16:creationId xmlns:a16="http://schemas.microsoft.com/office/drawing/2014/main" id="{E4B777FA-A4FB-213F-19F4-DD5160707D63}"/>
                </a:ext>
              </a:extLst>
            </p:cNvPr>
            <p:cNvSpPr/>
            <p:nvPr/>
          </p:nvSpPr>
          <p:spPr>
            <a:xfrm>
              <a:off x="3971379" y="2835149"/>
              <a:ext cx="99257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response</a:t>
              </a:r>
            </a:p>
          </p:txBody>
        </p:sp>
      </p:grp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19BA9B52-0D02-13F2-4D66-F2F26801D8BD}"/>
              </a:ext>
            </a:extLst>
          </p:cNvPr>
          <p:cNvGrpSpPr/>
          <p:nvPr/>
        </p:nvGrpSpPr>
        <p:grpSpPr>
          <a:xfrm>
            <a:off x="5828526" y="4031870"/>
            <a:ext cx="1980000" cy="1115054"/>
            <a:chOff x="6734268" y="2089427"/>
            <a:chExt cx="1980000" cy="1115054"/>
          </a:xfrm>
        </p:grpSpPr>
        <p:cxnSp>
          <p:nvCxnSpPr>
            <p:cNvPr id="13" name="Conector de Seta Reta 12">
              <a:extLst>
                <a:ext uri="{FF2B5EF4-FFF2-40B4-BE49-F238E27FC236}">
                  <a16:creationId xmlns:a16="http://schemas.microsoft.com/office/drawing/2014/main" id="{6042E576-F89C-23B0-93BD-24915ED3C75E}"/>
                </a:ext>
              </a:extLst>
            </p:cNvPr>
            <p:cNvCxnSpPr>
              <a:cxnSpLocks/>
            </p:cNvCxnSpPr>
            <p:nvPr/>
          </p:nvCxnSpPr>
          <p:spPr>
            <a:xfrm>
              <a:off x="6734268" y="2462721"/>
              <a:ext cx="1980000" cy="0"/>
            </a:xfrm>
            <a:prstGeom prst="straightConnector1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ector de Seta Reta 13">
              <a:extLst>
                <a:ext uri="{FF2B5EF4-FFF2-40B4-BE49-F238E27FC236}">
                  <a16:creationId xmlns:a16="http://schemas.microsoft.com/office/drawing/2014/main" id="{2429B4CC-9FBF-0122-2B4F-34FCB04740E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34268" y="2824127"/>
              <a:ext cx="1980000" cy="0"/>
            </a:xfrm>
            <a:prstGeom prst="straightConnector1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5861BC04-FB6E-C1C0-0CDB-D0362C1B2E67}"/>
                </a:ext>
              </a:extLst>
            </p:cNvPr>
            <p:cNvSpPr/>
            <p:nvPr/>
          </p:nvSpPr>
          <p:spPr>
            <a:xfrm>
              <a:off x="7298511" y="2089427"/>
              <a:ext cx="85151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BR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request</a:t>
              </a:r>
              <a:endParaRPr lang="pt-BR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id="{2F80BF28-B9E3-4AD2-9DD8-A21F2930DF6D}"/>
                </a:ext>
              </a:extLst>
            </p:cNvPr>
            <p:cNvSpPr/>
            <p:nvPr/>
          </p:nvSpPr>
          <p:spPr>
            <a:xfrm>
              <a:off x="7272863" y="2835149"/>
              <a:ext cx="90281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BR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reponse</a:t>
              </a:r>
              <a:endParaRPr lang="pt-BR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8" name="Retângulo 17">
            <a:extLst>
              <a:ext uri="{FF2B5EF4-FFF2-40B4-BE49-F238E27FC236}">
                <a16:creationId xmlns:a16="http://schemas.microsoft.com/office/drawing/2014/main" id="{35B6CCB1-7F4B-7812-2748-140008C80526}"/>
              </a:ext>
            </a:extLst>
          </p:cNvPr>
          <p:cNvSpPr/>
          <p:nvPr/>
        </p:nvSpPr>
        <p:spPr>
          <a:xfrm>
            <a:off x="9420884" y="4216536"/>
            <a:ext cx="139653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JSON Server</a:t>
            </a:r>
          </a:p>
          <a:p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db.json</a:t>
            </a: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51675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169926-66C9-E8D9-E88F-DF83CCC30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Como instalar o JSON-Server</a:t>
            </a:r>
          </a:p>
        </p:txBody>
      </p:sp>
      <p:sp>
        <p:nvSpPr>
          <p:cNvPr id="4" name="Espaço Reservado para Conteúdo 5">
            <a:extLst>
              <a:ext uri="{FF2B5EF4-FFF2-40B4-BE49-F238E27FC236}">
                <a16:creationId xmlns:a16="http://schemas.microsoft.com/office/drawing/2014/main" id="{B985A1DE-1C57-DBCF-90DE-766022BEF0FB}"/>
              </a:ext>
            </a:extLst>
          </p:cNvPr>
          <p:cNvSpPr txBox="1">
            <a:spLocks/>
          </p:cNvSpPr>
          <p:nvPr/>
        </p:nvSpPr>
        <p:spPr>
          <a:xfrm>
            <a:off x="592347" y="1890767"/>
            <a:ext cx="3815751" cy="366590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pt-BR" dirty="0"/>
              <a:t>Verificar o Node.js:</a:t>
            </a:r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id="{CFE8BC8B-B77C-EA18-385E-A8ADEC830A8A}"/>
              </a:ext>
            </a:extLst>
          </p:cNvPr>
          <p:cNvGrpSpPr/>
          <p:nvPr/>
        </p:nvGrpSpPr>
        <p:grpSpPr>
          <a:xfrm>
            <a:off x="749184" y="2456193"/>
            <a:ext cx="8907433" cy="638572"/>
            <a:chOff x="749185" y="2527734"/>
            <a:chExt cx="5284556" cy="638572"/>
          </a:xfrm>
        </p:grpSpPr>
        <p:sp>
          <p:nvSpPr>
            <p:cNvPr id="6" name="Shape 20">
              <a:extLst>
                <a:ext uri="{FF2B5EF4-FFF2-40B4-BE49-F238E27FC236}">
                  <a16:creationId xmlns:a16="http://schemas.microsoft.com/office/drawing/2014/main" id="{0792856E-ADEE-0B2B-C0D2-088D46F750EF}"/>
                </a:ext>
              </a:extLst>
            </p:cNvPr>
            <p:cNvSpPr/>
            <p:nvPr/>
          </p:nvSpPr>
          <p:spPr>
            <a:xfrm>
              <a:off x="749185" y="2527734"/>
              <a:ext cx="5284556" cy="638572"/>
            </a:xfrm>
            <a:prstGeom prst="roundRect">
              <a:avLst>
                <a:gd name="adj" fmla="val 8081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 21">
              <a:extLst>
                <a:ext uri="{FF2B5EF4-FFF2-40B4-BE49-F238E27FC236}">
                  <a16:creationId xmlns:a16="http://schemas.microsoft.com/office/drawing/2014/main" id="{34FCB611-6168-027F-8F72-D032DAAE9404}"/>
                </a:ext>
              </a:extLst>
            </p:cNvPr>
            <p:cNvSpPr/>
            <p:nvPr/>
          </p:nvSpPr>
          <p:spPr>
            <a:xfrm>
              <a:off x="896521" y="2712610"/>
              <a:ext cx="4989884" cy="2688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node --version</a:t>
              </a:r>
              <a:endParaRPr lang="en-US" dirty="0"/>
            </a:p>
          </p:txBody>
        </p:sp>
      </p:grp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C985975C-B049-A9C5-C7DE-8503FE04DD94}"/>
              </a:ext>
            </a:extLst>
          </p:cNvPr>
          <p:cNvGrpSpPr/>
          <p:nvPr/>
        </p:nvGrpSpPr>
        <p:grpSpPr>
          <a:xfrm>
            <a:off x="592347" y="3410557"/>
            <a:ext cx="9064270" cy="1203998"/>
            <a:chOff x="589474" y="3302621"/>
            <a:chExt cx="9064270" cy="1203998"/>
          </a:xfrm>
        </p:grpSpPr>
        <p:sp>
          <p:nvSpPr>
            <p:cNvPr id="3" name="Espaço Reservado para Conteúdo 5">
              <a:extLst>
                <a:ext uri="{FF2B5EF4-FFF2-40B4-BE49-F238E27FC236}">
                  <a16:creationId xmlns:a16="http://schemas.microsoft.com/office/drawing/2014/main" id="{247C2454-B9AB-204D-FAE4-B0C5692C5594}"/>
                </a:ext>
              </a:extLst>
            </p:cNvPr>
            <p:cNvSpPr txBox="1">
              <a:spLocks/>
            </p:cNvSpPr>
            <p:nvPr/>
          </p:nvSpPr>
          <p:spPr>
            <a:xfrm>
              <a:off x="589474" y="3302621"/>
              <a:ext cx="3815751" cy="366590"/>
            </a:xfrm>
            <a:prstGeom prst="rect">
              <a:avLst/>
            </a:prstGeom>
          </p:spPr>
          <p:txBody>
            <a:bodyPr/>
            <a:lstStyle>
              <a:lvl1pPr marL="0" indent="0" algn="just" defTabSz="914400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lvl1pPr>
              <a:lvl2pPr marL="457200" indent="0" algn="just" defTabSz="914400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lvl2pPr>
              <a:lvl3pPr marL="914400" indent="0" algn="just" defTabSz="914400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lvl3pPr>
              <a:lvl4pPr marL="1371600" indent="0" algn="just" defTabSz="914400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lvl4pPr>
              <a:lvl5pPr marL="1828800" indent="0" algn="just" defTabSz="914400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0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pt-BR" dirty="0"/>
                <a:t>Verificar o Node.js:</a:t>
              </a:r>
            </a:p>
          </p:txBody>
        </p:sp>
        <p:grpSp>
          <p:nvGrpSpPr>
            <p:cNvPr id="12" name="Agrupar 11">
              <a:extLst>
                <a:ext uri="{FF2B5EF4-FFF2-40B4-BE49-F238E27FC236}">
                  <a16:creationId xmlns:a16="http://schemas.microsoft.com/office/drawing/2014/main" id="{6B80A611-6A3B-667C-AE87-0E8FC00F1226}"/>
                </a:ext>
              </a:extLst>
            </p:cNvPr>
            <p:cNvGrpSpPr/>
            <p:nvPr/>
          </p:nvGrpSpPr>
          <p:grpSpPr>
            <a:xfrm>
              <a:off x="746311" y="3868047"/>
              <a:ext cx="8907433" cy="638572"/>
              <a:chOff x="749185" y="2527734"/>
              <a:chExt cx="5284556" cy="638572"/>
            </a:xfrm>
          </p:grpSpPr>
          <p:sp>
            <p:nvSpPr>
              <p:cNvPr id="13" name="Shape 20">
                <a:extLst>
                  <a:ext uri="{FF2B5EF4-FFF2-40B4-BE49-F238E27FC236}">
                    <a16:creationId xmlns:a16="http://schemas.microsoft.com/office/drawing/2014/main" id="{89CC96E3-9D77-4CEB-CA67-F258C0EAA6CE}"/>
                  </a:ext>
                </a:extLst>
              </p:cNvPr>
              <p:cNvSpPr/>
              <p:nvPr/>
            </p:nvSpPr>
            <p:spPr>
              <a:xfrm>
                <a:off x="749185" y="2527734"/>
                <a:ext cx="5284556" cy="638572"/>
              </a:xfrm>
              <a:prstGeom prst="roundRect">
                <a:avLst>
                  <a:gd name="adj" fmla="val 8081"/>
                </a:avLst>
              </a:prstGeom>
              <a:solidFill>
                <a:srgbClr val="F2F2F2"/>
              </a:solidFill>
              <a:ln/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4" name="Text 21">
                <a:extLst>
                  <a:ext uri="{FF2B5EF4-FFF2-40B4-BE49-F238E27FC236}">
                    <a16:creationId xmlns:a16="http://schemas.microsoft.com/office/drawing/2014/main" id="{82079513-6889-2050-607D-74B0BBF86CDF}"/>
                  </a:ext>
                </a:extLst>
              </p:cNvPr>
              <p:cNvSpPr/>
              <p:nvPr/>
            </p:nvSpPr>
            <p:spPr>
              <a:xfrm>
                <a:off x="896521" y="2712610"/>
                <a:ext cx="4989884" cy="2688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noAutofit/>
              </a:bodyPr>
              <a:lstStyle/>
              <a:p>
                <a:pPr marL="0" indent="0" algn="l">
                  <a:buNone/>
                </a:pPr>
                <a:r>
                  <a:rPr lang="en-US" kern="0" spc="-19" dirty="0" err="1">
                    <a:solidFill>
                      <a:srgbClr val="D73A49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npm</a:t>
                </a:r>
                <a:r>
                  <a:rPr lang="en-US" kern="0" spc="-19" dirty="0">
                    <a:solidFill>
                      <a:srgbClr val="D73A49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 --version</a:t>
                </a:r>
                <a:endParaRPr 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432937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035EB-312D-3D0B-C028-05B5A6D39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170476-C401-6991-C8F0-6E2FD2129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Instalar o JSON Server</a:t>
            </a:r>
          </a:p>
        </p:txBody>
      </p:sp>
      <p:sp>
        <p:nvSpPr>
          <p:cNvPr id="4" name="Espaço Reservado para Conteúdo 5">
            <a:extLst>
              <a:ext uri="{FF2B5EF4-FFF2-40B4-BE49-F238E27FC236}">
                <a16:creationId xmlns:a16="http://schemas.microsoft.com/office/drawing/2014/main" id="{E5450F55-75C0-BD48-905F-E35037EA5776}"/>
              </a:ext>
            </a:extLst>
          </p:cNvPr>
          <p:cNvSpPr txBox="1">
            <a:spLocks/>
          </p:cNvSpPr>
          <p:nvPr/>
        </p:nvSpPr>
        <p:spPr>
          <a:xfrm>
            <a:off x="592347" y="1890767"/>
            <a:ext cx="3815751" cy="366590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pt-BR" dirty="0"/>
              <a:t>Podemos instalar globalmente:</a:t>
            </a:r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id="{A71A1586-54F2-96B5-8F0A-5A5E999BD6B7}"/>
              </a:ext>
            </a:extLst>
          </p:cNvPr>
          <p:cNvGrpSpPr/>
          <p:nvPr/>
        </p:nvGrpSpPr>
        <p:grpSpPr>
          <a:xfrm>
            <a:off x="749184" y="2456193"/>
            <a:ext cx="8907433" cy="638572"/>
            <a:chOff x="749185" y="2527734"/>
            <a:chExt cx="5284556" cy="638572"/>
          </a:xfrm>
        </p:grpSpPr>
        <p:sp>
          <p:nvSpPr>
            <p:cNvPr id="6" name="Shape 20">
              <a:extLst>
                <a:ext uri="{FF2B5EF4-FFF2-40B4-BE49-F238E27FC236}">
                  <a16:creationId xmlns:a16="http://schemas.microsoft.com/office/drawing/2014/main" id="{B1C448F4-6A99-7510-2237-AA8DF04EFB0A}"/>
                </a:ext>
              </a:extLst>
            </p:cNvPr>
            <p:cNvSpPr/>
            <p:nvPr/>
          </p:nvSpPr>
          <p:spPr>
            <a:xfrm>
              <a:off x="749185" y="2527734"/>
              <a:ext cx="5284556" cy="638572"/>
            </a:xfrm>
            <a:prstGeom prst="roundRect">
              <a:avLst>
                <a:gd name="adj" fmla="val 8081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 21">
              <a:extLst>
                <a:ext uri="{FF2B5EF4-FFF2-40B4-BE49-F238E27FC236}">
                  <a16:creationId xmlns:a16="http://schemas.microsoft.com/office/drawing/2014/main" id="{57E4EE17-6A14-0BCD-0D70-19E4D8E5A736}"/>
                </a:ext>
              </a:extLst>
            </p:cNvPr>
            <p:cNvSpPr/>
            <p:nvPr/>
          </p:nvSpPr>
          <p:spPr>
            <a:xfrm>
              <a:off x="896521" y="2712610"/>
              <a:ext cx="4989884" cy="2688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kern="0" spc="-19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npm</a:t>
              </a:r>
              <a:r>
                <a:rPr lang="en-US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install -g </a:t>
              </a:r>
              <a:r>
                <a:rPr lang="en-US" kern="0" spc="-19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json</a:t>
              </a:r>
              <a:r>
                <a:rPr lang="en-US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-server</a:t>
              </a:r>
              <a:endParaRPr lang="en-US" dirty="0"/>
            </a:p>
          </p:txBody>
        </p:sp>
      </p:grp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9147B520-85D2-983D-A2CE-BB338031C2D7}"/>
              </a:ext>
            </a:extLst>
          </p:cNvPr>
          <p:cNvGrpSpPr/>
          <p:nvPr/>
        </p:nvGrpSpPr>
        <p:grpSpPr>
          <a:xfrm>
            <a:off x="592347" y="3410557"/>
            <a:ext cx="9064270" cy="1203998"/>
            <a:chOff x="589474" y="3302621"/>
            <a:chExt cx="9064270" cy="1203998"/>
          </a:xfrm>
        </p:grpSpPr>
        <p:sp>
          <p:nvSpPr>
            <p:cNvPr id="3" name="Espaço Reservado para Conteúdo 5">
              <a:extLst>
                <a:ext uri="{FF2B5EF4-FFF2-40B4-BE49-F238E27FC236}">
                  <a16:creationId xmlns:a16="http://schemas.microsoft.com/office/drawing/2014/main" id="{8434964C-FB74-6737-34DF-003AFA41F274}"/>
                </a:ext>
              </a:extLst>
            </p:cNvPr>
            <p:cNvSpPr txBox="1">
              <a:spLocks/>
            </p:cNvSpPr>
            <p:nvPr/>
          </p:nvSpPr>
          <p:spPr>
            <a:xfrm>
              <a:off x="589474" y="3302621"/>
              <a:ext cx="3815751" cy="366590"/>
            </a:xfrm>
            <a:prstGeom prst="rect">
              <a:avLst/>
            </a:prstGeom>
          </p:spPr>
          <p:txBody>
            <a:bodyPr/>
            <a:lstStyle>
              <a:lvl1pPr marL="0" indent="0" algn="just" defTabSz="914400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lvl1pPr>
              <a:lvl2pPr marL="457200" indent="0" algn="just" defTabSz="914400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lvl2pPr>
              <a:lvl3pPr marL="914400" indent="0" algn="just" defTabSz="914400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lvl3pPr>
              <a:lvl4pPr marL="1371600" indent="0" algn="just" defTabSz="914400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lvl4pPr>
              <a:lvl5pPr marL="1828800" indent="0" algn="just" defTabSz="914400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0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pt-BR" dirty="0"/>
                <a:t>Depois verificamos:</a:t>
              </a:r>
            </a:p>
          </p:txBody>
        </p:sp>
        <p:grpSp>
          <p:nvGrpSpPr>
            <p:cNvPr id="12" name="Agrupar 11">
              <a:extLst>
                <a:ext uri="{FF2B5EF4-FFF2-40B4-BE49-F238E27FC236}">
                  <a16:creationId xmlns:a16="http://schemas.microsoft.com/office/drawing/2014/main" id="{DAD4CBD1-3A12-19AD-DC25-771641230CF1}"/>
                </a:ext>
              </a:extLst>
            </p:cNvPr>
            <p:cNvGrpSpPr/>
            <p:nvPr/>
          </p:nvGrpSpPr>
          <p:grpSpPr>
            <a:xfrm>
              <a:off x="746311" y="3868047"/>
              <a:ext cx="8907433" cy="638572"/>
              <a:chOff x="749185" y="2527734"/>
              <a:chExt cx="5284556" cy="638572"/>
            </a:xfrm>
          </p:grpSpPr>
          <p:sp>
            <p:nvSpPr>
              <p:cNvPr id="13" name="Shape 20">
                <a:extLst>
                  <a:ext uri="{FF2B5EF4-FFF2-40B4-BE49-F238E27FC236}">
                    <a16:creationId xmlns:a16="http://schemas.microsoft.com/office/drawing/2014/main" id="{FE6F9897-7F77-630E-1ED8-26AE63DB9D31}"/>
                  </a:ext>
                </a:extLst>
              </p:cNvPr>
              <p:cNvSpPr/>
              <p:nvPr/>
            </p:nvSpPr>
            <p:spPr>
              <a:xfrm>
                <a:off x="749185" y="2527734"/>
                <a:ext cx="5284556" cy="638572"/>
              </a:xfrm>
              <a:prstGeom prst="roundRect">
                <a:avLst>
                  <a:gd name="adj" fmla="val 8081"/>
                </a:avLst>
              </a:prstGeom>
              <a:solidFill>
                <a:srgbClr val="F2F2F2"/>
              </a:solidFill>
              <a:ln/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4" name="Text 21">
                <a:extLst>
                  <a:ext uri="{FF2B5EF4-FFF2-40B4-BE49-F238E27FC236}">
                    <a16:creationId xmlns:a16="http://schemas.microsoft.com/office/drawing/2014/main" id="{76C4C474-CB6C-49BC-C25C-ACEB7DD878DC}"/>
                  </a:ext>
                </a:extLst>
              </p:cNvPr>
              <p:cNvSpPr/>
              <p:nvPr/>
            </p:nvSpPr>
            <p:spPr>
              <a:xfrm>
                <a:off x="896521" y="2712610"/>
                <a:ext cx="4989884" cy="2688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noAutofit/>
              </a:bodyPr>
              <a:lstStyle/>
              <a:p>
                <a:pPr marL="0" indent="0" algn="l">
                  <a:buNone/>
                </a:pPr>
                <a:r>
                  <a:rPr lang="en-US" kern="0" spc="-19" dirty="0" err="1">
                    <a:solidFill>
                      <a:srgbClr val="D73A49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json</a:t>
                </a:r>
                <a:r>
                  <a:rPr lang="en-US" kern="0" spc="-19" dirty="0">
                    <a:solidFill>
                      <a:srgbClr val="D73A49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-server --version</a:t>
                </a:r>
                <a:endParaRPr 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760020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BB740B-70C0-8485-A450-4585879F8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272F83-FECB-AFCA-AD53-7A7F5FA16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Criar o projeto</a:t>
            </a:r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B6832F4C-E25F-4917-82C9-763B1C3B2A50}"/>
              </a:ext>
            </a:extLst>
          </p:cNvPr>
          <p:cNvGrpSpPr/>
          <p:nvPr/>
        </p:nvGrpSpPr>
        <p:grpSpPr>
          <a:xfrm>
            <a:off x="1413954" y="1701522"/>
            <a:ext cx="4208253" cy="2754394"/>
            <a:chOff x="592347" y="1691931"/>
            <a:chExt cx="4208253" cy="2754394"/>
          </a:xfrm>
        </p:grpSpPr>
        <p:sp>
          <p:nvSpPr>
            <p:cNvPr id="4" name="Espaço Reservado para Conteúdo 5">
              <a:extLst>
                <a:ext uri="{FF2B5EF4-FFF2-40B4-BE49-F238E27FC236}">
                  <a16:creationId xmlns:a16="http://schemas.microsoft.com/office/drawing/2014/main" id="{3290F7B8-7F16-99CB-32B3-DFD2C0FCCBDF}"/>
                </a:ext>
              </a:extLst>
            </p:cNvPr>
            <p:cNvSpPr txBox="1">
              <a:spLocks/>
            </p:cNvSpPr>
            <p:nvPr/>
          </p:nvSpPr>
          <p:spPr>
            <a:xfrm>
              <a:off x="592347" y="1691931"/>
              <a:ext cx="3815751" cy="366590"/>
            </a:xfrm>
            <a:prstGeom prst="rect">
              <a:avLst/>
            </a:prstGeom>
          </p:spPr>
          <p:txBody>
            <a:bodyPr/>
            <a:lstStyle>
              <a:lvl1pPr marL="0" indent="0" algn="just" defTabSz="914400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lvl1pPr>
              <a:lvl2pPr marL="457200" indent="0" algn="just" defTabSz="914400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lvl2pPr>
              <a:lvl3pPr marL="914400" indent="0" algn="just" defTabSz="914400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lvl3pPr>
              <a:lvl4pPr marL="1371600" indent="0" algn="just" defTabSz="914400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lvl4pPr>
              <a:lvl5pPr marL="1828800" indent="0" algn="just" defTabSz="914400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0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pt-BR" dirty="0"/>
                <a:t>Dentro da pasta do projeto:</a:t>
              </a:r>
            </a:p>
          </p:txBody>
        </p:sp>
        <p:grpSp>
          <p:nvGrpSpPr>
            <p:cNvPr id="5" name="Agrupar 4">
              <a:extLst>
                <a:ext uri="{FF2B5EF4-FFF2-40B4-BE49-F238E27FC236}">
                  <a16:creationId xmlns:a16="http://schemas.microsoft.com/office/drawing/2014/main" id="{CC8B7FA4-5037-B67A-64A5-F1AA40011401}"/>
                </a:ext>
              </a:extLst>
            </p:cNvPr>
            <p:cNvGrpSpPr/>
            <p:nvPr/>
          </p:nvGrpSpPr>
          <p:grpSpPr>
            <a:xfrm>
              <a:off x="749184" y="2243397"/>
              <a:ext cx="4051416" cy="2202928"/>
              <a:chOff x="749185" y="2527734"/>
              <a:chExt cx="5284556" cy="1805256"/>
            </a:xfrm>
          </p:grpSpPr>
          <p:sp>
            <p:nvSpPr>
              <p:cNvPr id="6" name="Shape 20">
                <a:extLst>
                  <a:ext uri="{FF2B5EF4-FFF2-40B4-BE49-F238E27FC236}">
                    <a16:creationId xmlns:a16="http://schemas.microsoft.com/office/drawing/2014/main" id="{2FC2A2B6-4E61-EECC-C271-E93C0C8586EE}"/>
                  </a:ext>
                </a:extLst>
              </p:cNvPr>
              <p:cNvSpPr/>
              <p:nvPr/>
            </p:nvSpPr>
            <p:spPr>
              <a:xfrm>
                <a:off x="749185" y="2527734"/>
                <a:ext cx="5284556" cy="1805256"/>
              </a:xfrm>
              <a:prstGeom prst="roundRect">
                <a:avLst>
                  <a:gd name="adj" fmla="val 8081"/>
                </a:avLst>
              </a:prstGeom>
              <a:solidFill>
                <a:srgbClr val="F2F2F2"/>
              </a:solidFill>
              <a:ln/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7" name="Text 21">
                <a:extLst>
                  <a:ext uri="{FF2B5EF4-FFF2-40B4-BE49-F238E27FC236}">
                    <a16:creationId xmlns:a16="http://schemas.microsoft.com/office/drawing/2014/main" id="{DB9E0A09-415B-32F3-A09C-62522C6558CB}"/>
                  </a:ext>
                </a:extLst>
              </p:cNvPr>
              <p:cNvSpPr/>
              <p:nvPr/>
            </p:nvSpPr>
            <p:spPr>
              <a:xfrm>
                <a:off x="896521" y="2710750"/>
                <a:ext cx="4989884" cy="143922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noAutofit/>
              </a:bodyPr>
              <a:lstStyle/>
              <a:p>
                <a:pPr marL="0" indent="0" algn="l">
                  <a:buNone/>
                </a:pPr>
                <a:r>
                  <a:rPr lang="en-US" kern="0" spc="-19" dirty="0">
                    <a:solidFill>
                      <a:srgbClr val="D73A49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tech-store/</a:t>
                </a:r>
              </a:p>
              <a:p>
                <a:pPr marL="0" indent="0" algn="l">
                  <a:buNone/>
                </a:pPr>
                <a:r>
                  <a:rPr lang="en-US" kern="0" spc="-19" dirty="0">
                    <a:solidFill>
                      <a:srgbClr val="D73A49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├── index.html</a:t>
                </a:r>
              </a:p>
              <a:p>
                <a:pPr marL="0" indent="0" algn="l">
                  <a:buNone/>
                </a:pPr>
                <a:r>
                  <a:rPr lang="en-US" kern="0" spc="-19" dirty="0">
                    <a:solidFill>
                      <a:srgbClr val="D73A49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├── </a:t>
                </a:r>
                <a:r>
                  <a:rPr lang="en-US" kern="0" spc="-19" dirty="0" err="1">
                    <a:solidFill>
                      <a:srgbClr val="D73A49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css</a:t>
                </a:r>
                <a:r>
                  <a:rPr lang="en-US" kern="0" spc="-19" dirty="0">
                    <a:solidFill>
                      <a:srgbClr val="D73A49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/</a:t>
                </a:r>
              </a:p>
              <a:p>
                <a:pPr marL="0" indent="0" algn="l">
                  <a:buNone/>
                </a:pPr>
                <a:r>
                  <a:rPr lang="en-US" kern="0" spc="-19" dirty="0">
                    <a:solidFill>
                      <a:srgbClr val="D73A49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│      └── style.css</a:t>
                </a:r>
              </a:p>
              <a:p>
                <a:r>
                  <a:rPr lang="en-US" kern="0" spc="-19" dirty="0">
                    <a:solidFill>
                      <a:srgbClr val="D73A49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└── backend/</a:t>
                </a:r>
              </a:p>
              <a:p>
                <a:r>
                  <a:rPr lang="en-US" kern="0" spc="-19" dirty="0">
                    <a:solidFill>
                      <a:srgbClr val="D73A49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           └──</a:t>
                </a:r>
                <a:r>
                  <a:rPr lang="en-US" kern="0" spc="-19" dirty="0" err="1">
                    <a:solidFill>
                      <a:srgbClr val="D73A49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db.json</a:t>
                </a:r>
                <a:endParaRPr lang="en-US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endParaRPr>
              </a:p>
              <a:p>
                <a:pPr marL="0" indent="0" algn="l">
                  <a:buNone/>
                </a:pPr>
                <a:endParaRPr lang="en-US" dirty="0"/>
              </a:p>
            </p:txBody>
          </p:sp>
        </p:grpSp>
      </p:grp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75E56470-FCB5-4A47-BA1C-070E476FCEB9}"/>
              </a:ext>
            </a:extLst>
          </p:cNvPr>
          <p:cNvGrpSpPr/>
          <p:nvPr/>
        </p:nvGrpSpPr>
        <p:grpSpPr>
          <a:xfrm>
            <a:off x="6835430" y="1691931"/>
            <a:ext cx="3942616" cy="1203998"/>
            <a:chOff x="592347" y="1890767"/>
            <a:chExt cx="9554582" cy="1203998"/>
          </a:xfrm>
        </p:grpSpPr>
        <p:sp>
          <p:nvSpPr>
            <p:cNvPr id="17" name="Espaço Reservado para Conteúdo 5">
              <a:extLst>
                <a:ext uri="{FF2B5EF4-FFF2-40B4-BE49-F238E27FC236}">
                  <a16:creationId xmlns:a16="http://schemas.microsoft.com/office/drawing/2014/main" id="{A2240294-FB95-4793-A121-4E83F56963C6}"/>
                </a:ext>
              </a:extLst>
            </p:cNvPr>
            <p:cNvSpPr txBox="1">
              <a:spLocks/>
            </p:cNvSpPr>
            <p:nvPr/>
          </p:nvSpPr>
          <p:spPr>
            <a:xfrm>
              <a:off x="592347" y="1890767"/>
              <a:ext cx="9554582" cy="366590"/>
            </a:xfrm>
            <a:prstGeom prst="rect">
              <a:avLst/>
            </a:prstGeom>
          </p:spPr>
          <p:txBody>
            <a:bodyPr/>
            <a:lstStyle>
              <a:lvl1pPr marL="0" indent="0" algn="just" defTabSz="914400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lvl1pPr>
              <a:lvl2pPr marL="457200" indent="0" algn="just" defTabSz="914400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lvl2pPr>
              <a:lvl3pPr marL="914400" indent="0" algn="just" defTabSz="914400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lvl3pPr>
              <a:lvl4pPr marL="1371600" indent="0" algn="just" defTabSz="914400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lvl4pPr>
              <a:lvl5pPr marL="1828800" indent="0" algn="just" defTabSz="914400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0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pt-BR" dirty="0"/>
                <a:t>No terminal, acesse a pasta </a:t>
              </a:r>
              <a:r>
                <a:rPr lang="pt-BR" dirty="0" err="1"/>
                <a:t>backend</a:t>
              </a:r>
              <a:endParaRPr lang="pt-BR" dirty="0"/>
            </a:p>
          </p:txBody>
        </p:sp>
        <p:grpSp>
          <p:nvGrpSpPr>
            <p:cNvPr id="18" name="Agrupar 17">
              <a:extLst>
                <a:ext uri="{FF2B5EF4-FFF2-40B4-BE49-F238E27FC236}">
                  <a16:creationId xmlns:a16="http://schemas.microsoft.com/office/drawing/2014/main" id="{8BFCAD2B-9D5B-460F-929A-73E1BCD6B057}"/>
                </a:ext>
              </a:extLst>
            </p:cNvPr>
            <p:cNvGrpSpPr/>
            <p:nvPr/>
          </p:nvGrpSpPr>
          <p:grpSpPr>
            <a:xfrm>
              <a:off x="749184" y="2456193"/>
              <a:ext cx="8659089" cy="638572"/>
              <a:chOff x="749185" y="2527734"/>
              <a:chExt cx="5137220" cy="638572"/>
            </a:xfrm>
          </p:grpSpPr>
          <p:sp>
            <p:nvSpPr>
              <p:cNvPr id="19" name="Shape 20">
                <a:extLst>
                  <a:ext uri="{FF2B5EF4-FFF2-40B4-BE49-F238E27FC236}">
                    <a16:creationId xmlns:a16="http://schemas.microsoft.com/office/drawing/2014/main" id="{24585B29-6995-42D5-A15A-8164783B434B}"/>
                  </a:ext>
                </a:extLst>
              </p:cNvPr>
              <p:cNvSpPr/>
              <p:nvPr/>
            </p:nvSpPr>
            <p:spPr>
              <a:xfrm>
                <a:off x="749185" y="2527734"/>
                <a:ext cx="3819683" cy="638572"/>
              </a:xfrm>
              <a:prstGeom prst="roundRect">
                <a:avLst>
                  <a:gd name="adj" fmla="val 8081"/>
                </a:avLst>
              </a:prstGeom>
              <a:solidFill>
                <a:srgbClr val="F2F2F2"/>
              </a:solidFill>
              <a:ln/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0" name="Text 21">
                <a:extLst>
                  <a:ext uri="{FF2B5EF4-FFF2-40B4-BE49-F238E27FC236}">
                    <a16:creationId xmlns:a16="http://schemas.microsoft.com/office/drawing/2014/main" id="{87D49E68-85CF-4F1C-8E5D-24D09148A7B8}"/>
                  </a:ext>
                </a:extLst>
              </p:cNvPr>
              <p:cNvSpPr/>
              <p:nvPr/>
            </p:nvSpPr>
            <p:spPr>
              <a:xfrm>
                <a:off x="896521" y="2712610"/>
                <a:ext cx="4989884" cy="2688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noAutofit/>
              </a:bodyPr>
              <a:lstStyle/>
              <a:p>
                <a:pPr marL="0" indent="0" algn="l">
                  <a:buNone/>
                </a:pPr>
                <a:r>
                  <a:rPr lang="en-US" kern="0" spc="-19" dirty="0">
                    <a:solidFill>
                      <a:srgbClr val="D73A49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cd backend</a:t>
                </a:r>
              </a:p>
              <a:p>
                <a:pPr marL="0" indent="0" algn="l">
                  <a:buNone/>
                </a:pPr>
                <a:endParaRPr lang="en-US" dirty="0"/>
              </a:p>
            </p:txBody>
          </p:sp>
        </p:grpSp>
      </p:grpSp>
      <p:grpSp>
        <p:nvGrpSpPr>
          <p:cNvPr id="21" name="Agrupar 20">
            <a:extLst>
              <a:ext uri="{FF2B5EF4-FFF2-40B4-BE49-F238E27FC236}">
                <a16:creationId xmlns:a16="http://schemas.microsoft.com/office/drawing/2014/main" id="{2000BA31-84F0-4254-9B4B-F77BA5003186}"/>
              </a:ext>
            </a:extLst>
          </p:cNvPr>
          <p:cNvGrpSpPr/>
          <p:nvPr/>
        </p:nvGrpSpPr>
        <p:grpSpPr>
          <a:xfrm>
            <a:off x="1413954" y="5175249"/>
            <a:ext cx="9845446" cy="1203998"/>
            <a:chOff x="589474" y="3302621"/>
            <a:chExt cx="9064270" cy="1203998"/>
          </a:xfrm>
        </p:grpSpPr>
        <p:sp>
          <p:nvSpPr>
            <p:cNvPr id="22" name="Espaço Reservado para Conteúdo 5">
              <a:extLst>
                <a:ext uri="{FF2B5EF4-FFF2-40B4-BE49-F238E27FC236}">
                  <a16:creationId xmlns:a16="http://schemas.microsoft.com/office/drawing/2014/main" id="{71D99815-D17D-46E2-9E7E-FDDB4EE33FFF}"/>
                </a:ext>
              </a:extLst>
            </p:cNvPr>
            <p:cNvSpPr txBox="1">
              <a:spLocks/>
            </p:cNvSpPr>
            <p:nvPr/>
          </p:nvSpPr>
          <p:spPr>
            <a:xfrm>
              <a:off x="589474" y="3302621"/>
              <a:ext cx="8189344" cy="366590"/>
            </a:xfrm>
            <a:prstGeom prst="rect">
              <a:avLst/>
            </a:prstGeom>
          </p:spPr>
          <p:txBody>
            <a:bodyPr/>
            <a:lstStyle>
              <a:lvl1pPr marL="0" indent="0" algn="just" defTabSz="914400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lvl1pPr>
              <a:lvl2pPr marL="457200" indent="0" algn="just" defTabSz="914400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lvl2pPr>
              <a:lvl3pPr marL="914400" indent="0" algn="just" defTabSz="914400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lvl3pPr>
              <a:lvl4pPr marL="1371600" indent="0" algn="just" defTabSz="914400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lvl4pPr>
              <a:lvl5pPr marL="1828800" indent="0" algn="just" defTabSz="914400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0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pt-BR" dirty="0"/>
                <a:t>Depois instale o </a:t>
              </a:r>
              <a:r>
                <a:rPr lang="pt-BR" b="1" dirty="0"/>
                <a:t>documento de configuração do projeto</a:t>
              </a:r>
              <a:r>
                <a:rPr lang="pt-BR" dirty="0"/>
                <a:t>.</a:t>
              </a:r>
            </a:p>
          </p:txBody>
        </p:sp>
        <p:grpSp>
          <p:nvGrpSpPr>
            <p:cNvPr id="23" name="Agrupar 22">
              <a:extLst>
                <a:ext uri="{FF2B5EF4-FFF2-40B4-BE49-F238E27FC236}">
                  <a16:creationId xmlns:a16="http://schemas.microsoft.com/office/drawing/2014/main" id="{2670950E-94BA-4608-96F3-A48483F46F0B}"/>
                </a:ext>
              </a:extLst>
            </p:cNvPr>
            <p:cNvGrpSpPr/>
            <p:nvPr/>
          </p:nvGrpSpPr>
          <p:grpSpPr>
            <a:xfrm>
              <a:off x="746311" y="3868047"/>
              <a:ext cx="8907433" cy="638572"/>
              <a:chOff x="749185" y="2527734"/>
              <a:chExt cx="5284556" cy="638572"/>
            </a:xfrm>
          </p:grpSpPr>
          <p:sp>
            <p:nvSpPr>
              <p:cNvPr id="24" name="Shape 20">
                <a:extLst>
                  <a:ext uri="{FF2B5EF4-FFF2-40B4-BE49-F238E27FC236}">
                    <a16:creationId xmlns:a16="http://schemas.microsoft.com/office/drawing/2014/main" id="{BE01224C-A0A5-4DFB-90DF-A0F8B746FA75}"/>
                  </a:ext>
                </a:extLst>
              </p:cNvPr>
              <p:cNvSpPr/>
              <p:nvPr/>
            </p:nvSpPr>
            <p:spPr>
              <a:xfrm>
                <a:off x="749185" y="2527734"/>
                <a:ext cx="5284556" cy="638572"/>
              </a:xfrm>
              <a:prstGeom prst="roundRect">
                <a:avLst>
                  <a:gd name="adj" fmla="val 8081"/>
                </a:avLst>
              </a:prstGeom>
              <a:solidFill>
                <a:srgbClr val="F2F2F2"/>
              </a:solidFill>
              <a:ln/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5" name="Text 21">
                <a:extLst>
                  <a:ext uri="{FF2B5EF4-FFF2-40B4-BE49-F238E27FC236}">
                    <a16:creationId xmlns:a16="http://schemas.microsoft.com/office/drawing/2014/main" id="{D9289DD0-A9E3-4D47-8BB1-473BBCA2CA60}"/>
                  </a:ext>
                </a:extLst>
              </p:cNvPr>
              <p:cNvSpPr/>
              <p:nvPr/>
            </p:nvSpPr>
            <p:spPr>
              <a:xfrm>
                <a:off x="896521" y="2712610"/>
                <a:ext cx="4989884" cy="2688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noAutofit/>
              </a:bodyPr>
              <a:lstStyle/>
              <a:p>
                <a:pPr marL="0" indent="0" algn="l">
                  <a:buNone/>
                </a:pPr>
                <a:r>
                  <a:rPr lang="en-US" kern="0" spc="-19" dirty="0" err="1">
                    <a:solidFill>
                      <a:srgbClr val="D73A49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npm</a:t>
                </a:r>
                <a:r>
                  <a:rPr lang="en-US" kern="0" spc="-19" dirty="0">
                    <a:solidFill>
                      <a:srgbClr val="D73A49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 </a:t>
                </a:r>
                <a:r>
                  <a:rPr lang="en-US" kern="0" spc="-19" dirty="0" err="1">
                    <a:solidFill>
                      <a:srgbClr val="D73A49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init</a:t>
                </a:r>
                <a:r>
                  <a:rPr lang="en-US" kern="0" spc="-19" dirty="0">
                    <a:solidFill>
                      <a:srgbClr val="D73A49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 -y</a:t>
                </a:r>
                <a:endParaRPr lang="en-US" dirty="0"/>
              </a:p>
            </p:txBody>
          </p:sp>
        </p:grpSp>
      </p:grpSp>
      <p:sp>
        <p:nvSpPr>
          <p:cNvPr id="9" name="Elipse 8">
            <a:extLst>
              <a:ext uri="{FF2B5EF4-FFF2-40B4-BE49-F238E27FC236}">
                <a16:creationId xmlns:a16="http://schemas.microsoft.com/office/drawing/2014/main" id="{543F2ECD-114D-4B7A-A827-886F5F233B97}"/>
              </a:ext>
            </a:extLst>
          </p:cNvPr>
          <p:cNvSpPr/>
          <p:nvPr/>
        </p:nvSpPr>
        <p:spPr>
          <a:xfrm>
            <a:off x="748792" y="1691931"/>
            <a:ext cx="540000" cy="540000"/>
          </a:xfrm>
          <a:prstGeom prst="ellipse">
            <a:avLst/>
          </a:prstGeom>
          <a:solidFill>
            <a:srgbClr val="292A8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</a:t>
            </a:r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BBA979B6-84C2-47C9-8C81-E4BBAAFB888D}"/>
              </a:ext>
            </a:extLst>
          </p:cNvPr>
          <p:cNvSpPr/>
          <p:nvPr/>
        </p:nvSpPr>
        <p:spPr>
          <a:xfrm>
            <a:off x="6095220" y="1691931"/>
            <a:ext cx="540000" cy="540000"/>
          </a:xfrm>
          <a:prstGeom prst="ellipse">
            <a:avLst/>
          </a:prstGeom>
          <a:solidFill>
            <a:srgbClr val="292A8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2</a:t>
            </a:r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029CF1B9-A8C0-44E4-8397-0769E3A15F80}"/>
              </a:ext>
            </a:extLst>
          </p:cNvPr>
          <p:cNvSpPr/>
          <p:nvPr/>
        </p:nvSpPr>
        <p:spPr>
          <a:xfrm>
            <a:off x="748792" y="5088544"/>
            <a:ext cx="540000" cy="540000"/>
          </a:xfrm>
          <a:prstGeom prst="ellipse">
            <a:avLst/>
          </a:prstGeom>
          <a:solidFill>
            <a:srgbClr val="292A8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6811982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94E511-7937-0ABF-92CC-71A2F2FA1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0D6A16-AC0A-7A8B-8C81-F26C51682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Configuração do </a:t>
            </a:r>
            <a:r>
              <a:rPr lang="pt-BR" dirty="0" err="1"/>
              <a:t>package.json</a:t>
            </a:r>
            <a:endParaRPr lang="pt-BR" dirty="0"/>
          </a:p>
        </p:txBody>
      </p:sp>
      <p:sp>
        <p:nvSpPr>
          <p:cNvPr id="23" name="Espaço Reservado para Conteúdo 5">
            <a:extLst>
              <a:ext uri="{FF2B5EF4-FFF2-40B4-BE49-F238E27FC236}">
                <a16:creationId xmlns:a16="http://schemas.microsoft.com/office/drawing/2014/main" id="{78E8E083-DC26-4BFB-B75F-C3636775FAFC}"/>
              </a:ext>
            </a:extLst>
          </p:cNvPr>
          <p:cNvSpPr txBox="1">
            <a:spLocks/>
          </p:cNvSpPr>
          <p:nvPr/>
        </p:nvSpPr>
        <p:spPr>
          <a:xfrm>
            <a:off x="749185" y="1761067"/>
            <a:ext cx="10731615" cy="1430865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800" dirty="0"/>
              <a:t>Para facilitar a inicialização do nosso servidor </a:t>
            </a:r>
            <a:r>
              <a:rPr lang="pt-BR" sz="1800" dirty="0" err="1"/>
              <a:t>back-end</a:t>
            </a:r>
            <a:r>
              <a:rPr lang="pt-BR" sz="1800" dirty="0"/>
              <a:t> </a:t>
            </a:r>
            <a:r>
              <a:rPr lang="pt-BR" sz="1800" dirty="0" err="1"/>
              <a:t>fake</a:t>
            </a:r>
            <a:r>
              <a:rPr lang="pt-BR" sz="1800" dirty="0"/>
              <a:t>, podemos configurar um script no arquivo </a:t>
            </a:r>
            <a:r>
              <a:rPr lang="pt-BR" sz="1800" dirty="0" err="1"/>
              <a:t>package.json</a:t>
            </a:r>
            <a:r>
              <a:rPr lang="pt-BR" sz="1800" dirty="0"/>
              <a:t>. Dessa forma, o JSON Server será iniciado automaticamente utilizando o arquivo </a:t>
            </a:r>
            <a:r>
              <a:rPr lang="pt-BR" sz="1800" dirty="0" err="1"/>
              <a:t>db.json</a:t>
            </a:r>
            <a:r>
              <a:rPr lang="pt-BR" sz="1800" dirty="0"/>
              <a:t> como banco de dados e a porta 3000.</a:t>
            </a:r>
          </a:p>
        </p:txBody>
      </p:sp>
      <p:pic>
        <p:nvPicPr>
          <p:cNvPr id="25" name="Imagem 24">
            <a:extLst>
              <a:ext uri="{FF2B5EF4-FFF2-40B4-BE49-F238E27FC236}">
                <a16:creationId xmlns:a16="http://schemas.microsoft.com/office/drawing/2014/main" id="{B78A181D-F853-4FF1-8C59-07AD4451D7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5918" y="3268008"/>
            <a:ext cx="6240164" cy="3253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3395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534029-2BAB-46E2-95BC-AFFF21FA8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Configuração inicial do </a:t>
            </a:r>
            <a:r>
              <a:rPr lang="pt-BR" dirty="0" err="1"/>
              <a:t>db.json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00FCFAC-B3F2-4E88-9246-D433FCAFF7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651001"/>
            <a:ext cx="11007306" cy="762000"/>
          </a:xfrm>
        </p:spPr>
        <p:txBody>
          <a:bodyPr/>
          <a:lstStyle/>
          <a:p>
            <a:r>
              <a:rPr lang="pt-BR" dirty="0"/>
              <a:t>No nosso banco de dados iremos salvar as seguintes informações: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F9133996-F386-4D64-8F42-A159E675C2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5499" y="2599266"/>
            <a:ext cx="8461002" cy="3757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7056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C9BDA-8879-3C0C-5A20-6CC2C0962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691AF7-B33A-17FB-3029-44CA37BBC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Iniciando o projeto</a:t>
            </a:r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A58BDE5F-0413-9417-80EA-98C28F439376}"/>
              </a:ext>
            </a:extLst>
          </p:cNvPr>
          <p:cNvGrpSpPr/>
          <p:nvPr/>
        </p:nvGrpSpPr>
        <p:grpSpPr>
          <a:xfrm>
            <a:off x="749185" y="4247110"/>
            <a:ext cx="9064270" cy="1203998"/>
            <a:chOff x="592347" y="1890767"/>
            <a:chExt cx="9064270" cy="1203998"/>
          </a:xfrm>
        </p:grpSpPr>
        <p:sp>
          <p:nvSpPr>
            <p:cNvPr id="4" name="Espaço Reservado para Conteúdo 5">
              <a:extLst>
                <a:ext uri="{FF2B5EF4-FFF2-40B4-BE49-F238E27FC236}">
                  <a16:creationId xmlns:a16="http://schemas.microsoft.com/office/drawing/2014/main" id="{245E01CC-38BE-D54E-BD89-39D8F21CFE2F}"/>
                </a:ext>
              </a:extLst>
            </p:cNvPr>
            <p:cNvSpPr txBox="1">
              <a:spLocks/>
            </p:cNvSpPr>
            <p:nvPr/>
          </p:nvSpPr>
          <p:spPr>
            <a:xfrm>
              <a:off x="592347" y="1890767"/>
              <a:ext cx="5359879" cy="366590"/>
            </a:xfrm>
            <a:prstGeom prst="rect">
              <a:avLst/>
            </a:prstGeom>
          </p:spPr>
          <p:txBody>
            <a:bodyPr/>
            <a:lstStyle>
              <a:lvl1pPr marL="0" indent="0" algn="just" defTabSz="914400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lvl1pPr>
              <a:lvl2pPr marL="457200" indent="0" algn="just" defTabSz="914400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lvl2pPr>
              <a:lvl3pPr marL="914400" indent="0" algn="just" defTabSz="914400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lvl3pPr>
              <a:lvl4pPr marL="1371600" indent="0" algn="just" defTabSz="914400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lvl4pPr>
              <a:lvl5pPr marL="1828800" indent="0" algn="just" defTabSz="914400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0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pt-BR" dirty="0"/>
                <a:t>E para acessar o banco basta procurar pela URL:</a:t>
              </a:r>
            </a:p>
          </p:txBody>
        </p:sp>
        <p:grpSp>
          <p:nvGrpSpPr>
            <p:cNvPr id="5" name="Agrupar 4">
              <a:extLst>
                <a:ext uri="{FF2B5EF4-FFF2-40B4-BE49-F238E27FC236}">
                  <a16:creationId xmlns:a16="http://schemas.microsoft.com/office/drawing/2014/main" id="{93B7829F-2A7E-FA26-2497-21B0D4400E2B}"/>
                </a:ext>
              </a:extLst>
            </p:cNvPr>
            <p:cNvGrpSpPr/>
            <p:nvPr/>
          </p:nvGrpSpPr>
          <p:grpSpPr>
            <a:xfrm>
              <a:off x="749184" y="2456193"/>
              <a:ext cx="8907433" cy="638572"/>
              <a:chOff x="749185" y="2527734"/>
              <a:chExt cx="5284556" cy="638572"/>
            </a:xfrm>
          </p:grpSpPr>
          <p:sp>
            <p:nvSpPr>
              <p:cNvPr id="6" name="Shape 20">
                <a:extLst>
                  <a:ext uri="{FF2B5EF4-FFF2-40B4-BE49-F238E27FC236}">
                    <a16:creationId xmlns:a16="http://schemas.microsoft.com/office/drawing/2014/main" id="{29E0572A-EB0F-D965-BC5F-379F125E32B3}"/>
                  </a:ext>
                </a:extLst>
              </p:cNvPr>
              <p:cNvSpPr/>
              <p:nvPr/>
            </p:nvSpPr>
            <p:spPr>
              <a:xfrm>
                <a:off x="749185" y="2527734"/>
                <a:ext cx="5284556" cy="638572"/>
              </a:xfrm>
              <a:prstGeom prst="roundRect">
                <a:avLst>
                  <a:gd name="adj" fmla="val 8081"/>
                </a:avLst>
              </a:prstGeom>
              <a:solidFill>
                <a:srgbClr val="F2F2F2"/>
              </a:solidFill>
              <a:ln/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7" name="Text 21">
                <a:extLst>
                  <a:ext uri="{FF2B5EF4-FFF2-40B4-BE49-F238E27FC236}">
                    <a16:creationId xmlns:a16="http://schemas.microsoft.com/office/drawing/2014/main" id="{4E30C9FA-076E-3BB3-E074-2845D1471A49}"/>
                  </a:ext>
                </a:extLst>
              </p:cNvPr>
              <p:cNvSpPr/>
              <p:nvPr/>
            </p:nvSpPr>
            <p:spPr>
              <a:xfrm>
                <a:off x="896521" y="2712610"/>
                <a:ext cx="4989884" cy="2688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noAutofit/>
              </a:bodyPr>
              <a:lstStyle/>
              <a:p>
                <a:pPr marL="0" indent="0" algn="l">
                  <a:buNone/>
                </a:pPr>
                <a:r>
                  <a:rPr lang="en-US" kern="0" spc="-19" dirty="0">
                    <a:solidFill>
                      <a:srgbClr val="D73A49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http://localhost:3000/produtos</a:t>
                </a:r>
                <a:endParaRPr lang="en-US" dirty="0"/>
              </a:p>
            </p:txBody>
          </p:sp>
        </p:grpSp>
      </p:grpSp>
      <p:grpSp>
        <p:nvGrpSpPr>
          <p:cNvPr id="9" name="Agrupar 8">
            <a:extLst>
              <a:ext uri="{FF2B5EF4-FFF2-40B4-BE49-F238E27FC236}">
                <a16:creationId xmlns:a16="http://schemas.microsoft.com/office/drawing/2014/main" id="{5FBA01CA-469C-4F20-B04B-285E96972CF5}"/>
              </a:ext>
            </a:extLst>
          </p:cNvPr>
          <p:cNvGrpSpPr/>
          <p:nvPr/>
        </p:nvGrpSpPr>
        <p:grpSpPr>
          <a:xfrm>
            <a:off x="749185" y="2253637"/>
            <a:ext cx="9064270" cy="1203998"/>
            <a:chOff x="589474" y="3302621"/>
            <a:chExt cx="9064270" cy="1203998"/>
          </a:xfrm>
        </p:grpSpPr>
        <p:sp>
          <p:nvSpPr>
            <p:cNvPr id="10" name="Espaço Reservado para Conteúdo 5">
              <a:extLst>
                <a:ext uri="{FF2B5EF4-FFF2-40B4-BE49-F238E27FC236}">
                  <a16:creationId xmlns:a16="http://schemas.microsoft.com/office/drawing/2014/main" id="{D640FA5C-5F32-4A75-8E39-2789279D2D07}"/>
                </a:ext>
              </a:extLst>
            </p:cNvPr>
            <p:cNvSpPr txBox="1">
              <a:spLocks/>
            </p:cNvSpPr>
            <p:nvPr/>
          </p:nvSpPr>
          <p:spPr>
            <a:xfrm>
              <a:off x="589474" y="3302621"/>
              <a:ext cx="8189344" cy="366590"/>
            </a:xfrm>
            <a:prstGeom prst="rect">
              <a:avLst/>
            </a:prstGeom>
          </p:spPr>
          <p:txBody>
            <a:bodyPr/>
            <a:lstStyle>
              <a:lvl1pPr marL="0" indent="0" algn="just" defTabSz="914400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lvl1pPr>
              <a:lvl2pPr marL="457200" indent="0" algn="just" defTabSz="914400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lvl2pPr>
              <a:lvl3pPr marL="914400" indent="0" algn="just" defTabSz="914400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lvl3pPr>
              <a:lvl4pPr marL="1371600" indent="0" algn="just" defTabSz="914400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lvl4pPr>
              <a:lvl5pPr marL="1828800" indent="0" algn="just" defTabSz="914400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0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pt-BR" dirty="0"/>
                <a:t>Para iniciar o projeto, basta acessar a pasta e dar o seguinte comando:</a:t>
              </a:r>
            </a:p>
          </p:txBody>
        </p:sp>
        <p:grpSp>
          <p:nvGrpSpPr>
            <p:cNvPr id="11" name="Agrupar 10">
              <a:extLst>
                <a:ext uri="{FF2B5EF4-FFF2-40B4-BE49-F238E27FC236}">
                  <a16:creationId xmlns:a16="http://schemas.microsoft.com/office/drawing/2014/main" id="{E0DE6BA9-135B-4AD1-AC99-3834D8EFA737}"/>
                </a:ext>
              </a:extLst>
            </p:cNvPr>
            <p:cNvGrpSpPr/>
            <p:nvPr/>
          </p:nvGrpSpPr>
          <p:grpSpPr>
            <a:xfrm>
              <a:off x="746311" y="3868047"/>
              <a:ext cx="8907433" cy="638572"/>
              <a:chOff x="749185" y="2527734"/>
              <a:chExt cx="5284556" cy="638572"/>
            </a:xfrm>
          </p:grpSpPr>
          <p:sp>
            <p:nvSpPr>
              <p:cNvPr id="12" name="Shape 20">
                <a:extLst>
                  <a:ext uri="{FF2B5EF4-FFF2-40B4-BE49-F238E27FC236}">
                    <a16:creationId xmlns:a16="http://schemas.microsoft.com/office/drawing/2014/main" id="{D7AA632F-DC98-48A1-851E-FD8D563EB94E}"/>
                  </a:ext>
                </a:extLst>
              </p:cNvPr>
              <p:cNvSpPr/>
              <p:nvPr/>
            </p:nvSpPr>
            <p:spPr>
              <a:xfrm>
                <a:off x="749185" y="2527734"/>
                <a:ext cx="5284556" cy="638572"/>
              </a:xfrm>
              <a:prstGeom prst="roundRect">
                <a:avLst>
                  <a:gd name="adj" fmla="val 8081"/>
                </a:avLst>
              </a:prstGeom>
              <a:solidFill>
                <a:srgbClr val="F2F2F2"/>
              </a:solidFill>
              <a:ln/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3" name="Text 21">
                <a:extLst>
                  <a:ext uri="{FF2B5EF4-FFF2-40B4-BE49-F238E27FC236}">
                    <a16:creationId xmlns:a16="http://schemas.microsoft.com/office/drawing/2014/main" id="{4875F3F3-EE99-49E1-B3FA-2295864CD6D4}"/>
                  </a:ext>
                </a:extLst>
              </p:cNvPr>
              <p:cNvSpPr/>
              <p:nvPr/>
            </p:nvSpPr>
            <p:spPr>
              <a:xfrm>
                <a:off x="896521" y="2712610"/>
                <a:ext cx="4989884" cy="2688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noAutofit/>
              </a:bodyPr>
              <a:lstStyle/>
              <a:p>
                <a:pPr marL="0" indent="0" algn="l">
                  <a:buNone/>
                </a:pPr>
                <a:r>
                  <a:rPr lang="en-US" kern="0" spc="-19" dirty="0" err="1">
                    <a:solidFill>
                      <a:srgbClr val="D73A49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npm</a:t>
                </a:r>
                <a:r>
                  <a:rPr lang="en-US" kern="0" spc="-19" dirty="0">
                    <a:solidFill>
                      <a:srgbClr val="D73A49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 start</a:t>
                </a:r>
                <a:endParaRPr 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265347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F310ECD8-EF09-41C1-894E-F98C2F1480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Método GET</a:t>
            </a:r>
          </a:p>
        </p:txBody>
      </p:sp>
    </p:spTree>
    <p:extLst>
      <p:ext uri="{BB962C8B-B14F-4D97-AF65-F5344CB8AC3E}">
        <p14:creationId xmlns:p14="http://schemas.microsoft.com/office/powerpoint/2010/main" val="21151847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F13448-1EF9-501A-B4DD-E0A745A98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Método GET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DEE8165-D787-E9F5-D06C-1A4A0788C6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101725"/>
          </a:xfrm>
        </p:spPr>
        <p:txBody>
          <a:bodyPr/>
          <a:lstStyle/>
          <a:p>
            <a:r>
              <a:rPr lang="pt-BR" dirty="0"/>
              <a:t>O método </a:t>
            </a:r>
            <a:r>
              <a:rPr lang="pt-BR" b="1" dirty="0"/>
              <a:t>GET</a:t>
            </a:r>
            <a:r>
              <a:rPr lang="pt-BR" dirty="0"/>
              <a:t> é utilizado para </a:t>
            </a:r>
            <a:r>
              <a:rPr lang="pt-BR" b="1" dirty="0"/>
              <a:t>buscar ou consultar informações</a:t>
            </a:r>
            <a:r>
              <a:rPr lang="pt-BR" dirty="0"/>
              <a:t> em um servidor. Em uma API, uma requisição GET pode retornar todos os registros de um recurso ou apenas um registro específico.</a:t>
            </a:r>
          </a:p>
        </p:txBody>
      </p:sp>
      <p:sp>
        <p:nvSpPr>
          <p:cNvPr id="6" name="Espaço Reservado para Conteúdo 2">
            <a:extLst>
              <a:ext uri="{FF2B5EF4-FFF2-40B4-BE49-F238E27FC236}">
                <a16:creationId xmlns:a16="http://schemas.microsoft.com/office/drawing/2014/main" id="{0959664D-71FE-4DFA-83E9-FBB59C5BDC6C}"/>
              </a:ext>
            </a:extLst>
          </p:cNvPr>
          <p:cNvSpPr txBox="1">
            <a:spLocks/>
          </p:cNvSpPr>
          <p:nvPr/>
        </p:nvSpPr>
        <p:spPr>
          <a:xfrm>
            <a:off x="592347" y="3005667"/>
            <a:ext cx="11007306" cy="1101725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No </a:t>
            </a:r>
            <a:r>
              <a:rPr lang="pt-BR" dirty="0" err="1"/>
              <a:t>JavaScript</a:t>
            </a:r>
            <a:r>
              <a:rPr lang="pt-BR" dirty="0"/>
              <a:t>, fazemos uma busca com GET utilizando o </a:t>
            </a:r>
            <a:r>
              <a:rPr lang="pt-BR" dirty="0" err="1"/>
              <a:t>fetch</a:t>
            </a:r>
            <a:r>
              <a:rPr lang="pt-BR" dirty="0"/>
              <a:t>(). Como você já criou o api.js, podemos centralizar a requisição nele.</a:t>
            </a: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7DD36164-6D7E-40D4-9C4C-F0C09C5E96E1}"/>
              </a:ext>
            </a:extLst>
          </p:cNvPr>
          <p:cNvGrpSpPr/>
          <p:nvPr/>
        </p:nvGrpSpPr>
        <p:grpSpPr>
          <a:xfrm>
            <a:off x="1583017" y="4299718"/>
            <a:ext cx="9025966" cy="2151114"/>
            <a:chOff x="1472701" y="4452118"/>
            <a:chExt cx="9025966" cy="2151114"/>
          </a:xfrm>
        </p:grpSpPr>
        <p:sp>
          <p:nvSpPr>
            <p:cNvPr id="9" name="Shape 20">
              <a:extLst>
                <a:ext uri="{FF2B5EF4-FFF2-40B4-BE49-F238E27FC236}">
                  <a16:creationId xmlns:a16="http://schemas.microsoft.com/office/drawing/2014/main" id="{E12793E5-DFFD-4484-A175-7F29953135E9}"/>
                </a:ext>
              </a:extLst>
            </p:cNvPr>
            <p:cNvSpPr/>
            <p:nvPr/>
          </p:nvSpPr>
          <p:spPr>
            <a:xfrm>
              <a:off x="1472701" y="4452118"/>
              <a:ext cx="9025966" cy="2151114"/>
            </a:xfrm>
            <a:prstGeom prst="roundRect">
              <a:avLst>
                <a:gd name="adj" fmla="val 8081"/>
              </a:avLst>
            </a:prstGeom>
            <a:solidFill>
              <a:srgbClr val="1E1E1E"/>
            </a:solidFill>
            <a:ln>
              <a:solidFill>
                <a:srgbClr val="1E1E1E"/>
              </a:solidFill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F1911A2B-C213-4176-8F40-784C21E92A0F}"/>
                </a:ext>
              </a:extLst>
            </p:cNvPr>
            <p:cNvSpPr/>
            <p:nvPr/>
          </p:nvSpPr>
          <p:spPr>
            <a:xfrm>
              <a:off x="1667684" y="4789011"/>
              <a:ext cx="8636000" cy="147732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pt-BR" dirty="0" err="1">
                  <a:solidFill>
                    <a:srgbClr val="569CD6"/>
                  </a:solidFill>
                  <a:latin typeface="Consolas" panose="020B0609020204030204" pitchFamily="49" charset="0"/>
                </a:rPr>
                <a:t>async</a:t>
              </a:r>
              <a:r>
                <a:rPr lang="pt-BR" dirty="0">
                  <a:solidFill>
                    <a:srgbClr val="D4D4D4"/>
                  </a:solidFill>
                  <a:latin typeface="Consolas" panose="020B0609020204030204" pitchFamily="49" charset="0"/>
                </a:rPr>
                <a:t> </a:t>
              </a:r>
              <a:r>
                <a:rPr lang="pt-BR" dirty="0" err="1">
                  <a:solidFill>
                    <a:srgbClr val="D4D4D4"/>
                  </a:solidFill>
                  <a:latin typeface="Consolas" panose="020B0609020204030204" pitchFamily="49" charset="0"/>
                </a:rPr>
                <a:t>buscarProdutos</a:t>
              </a:r>
              <a:r>
                <a:rPr lang="pt-BR" dirty="0">
                  <a:solidFill>
                    <a:srgbClr val="D4D4D4"/>
                  </a:solidFill>
                  <a:latin typeface="Consolas" panose="020B0609020204030204" pitchFamily="49" charset="0"/>
                </a:rPr>
                <a:t>() {</a:t>
              </a:r>
            </a:p>
            <a:p>
              <a:r>
                <a:rPr lang="pt-BR" dirty="0">
                  <a:solidFill>
                    <a:srgbClr val="D4D4D4"/>
                  </a:solidFill>
                  <a:latin typeface="Consolas" panose="020B0609020204030204" pitchFamily="49" charset="0"/>
                </a:rPr>
                <a:t>    </a:t>
              </a:r>
              <a:r>
                <a:rPr lang="pt-BR" dirty="0" err="1">
                  <a:solidFill>
                    <a:srgbClr val="569CD6"/>
                  </a:solidFill>
                  <a:latin typeface="Consolas" panose="020B0609020204030204" pitchFamily="49" charset="0"/>
                </a:rPr>
                <a:t>const</a:t>
              </a:r>
              <a:r>
                <a:rPr lang="pt-BR" dirty="0">
                  <a:solidFill>
                    <a:srgbClr val="D4D4D4"/>
                  </a:solidFill>
                  <a:latin typeface="Consolas" panose="020B0609020204030204" pitchFamily="49" charset="0"/>
                </a:rPr>
                <a:t> response = </a:t>
              </a:r>
              <a:r>
                <a:rPr lang="pt-BR" dirty="0" err="1">
                  <a:solidFill>
                    <a:srgbClr val="569CD6"/>
                  </a:solidFill>
                  <a:latin typeface="Consolas" panose="020B0609020204030204" pitchFamily="49" charset="0"/>
                </a:rPr>
                <a:t>await</a:t>
              </a:r>
              <a:r>
                <a:rPr lang="pt-BR" dirty="0">
                  <a:solidFill>
                    <a:srgbClr val="D4D4D4"/>
                  </a:solidFill>
                  <a:latin typeface="Consolas" panose="020B0609020204030204" pitchFamily="49" charset="0"/>
                </a:rPr>
                <a:t> </a:t>
              </a:r>
              <a:r>
                <a:rPr lang="pt-BR" dirty="0" err="1">
                  <a:solidFill>
                    <a:srgbClr val="D4D4D4"/>
                  </a:solidFill>
                  <a:latin typeface="Consolas" panose="020B0609020204030204" pitchFamily="49" charset="0"/>
                </a:rPr>
                <a:t>fetch</a:t>
              </a:r>
              <a:r>
                <a:rPr lang="pt-BR" dirty="0">
                  <a:solidFill>
                    <a:srgbClr val="D4D4D4"/>
                  </a:solidFill>
                  <a:latin typeface="Consolas" panose="020B0609020204030204" pitchFamily="49" charset="0"/>
                </a:rPr>
                <a:t>(</a:t>
              </a:r>
              <a:r>
                <a:rPr lang="pt-BR" dirty="0">
                  <a:solidFill>
                    <a:srgbClr val="CE9178"/>
                  </a:solidFill>
                  <a:latin typeface="Consolas" panose="020B0609020204030204" pitchFamily="49" charset="0"/>
                </a:rPr>
                <a:t>"http://localhost:3000/produtos"</a:t>
              </a:r>
              <a:r>
                <a:rPr lang="pt-BR" dirty="0">
                  <a:solidFill>
                    <a:srgbClr val="D4D4D4"/>
                  </a:solidFill>
                  <a:latin typeface="Consolas" panose="020B0609020204030204" pitchFamily="49" charset="0"/>
                </a:rPr>
                <a:t>)</a:t>
              </a:r>
            </a:p>
            <a:p>
              <a:br>
                <a:rPr lang="pt-BR" dirty="0">
                  <a:solidFill>
                    <a:srgbClr val="D4D4D4"/>
                  </a:solidFill>
                  <a:latin typeface="Consolas" panose="020B0609020204030204" pitchFamily="49" charset="0"/>
                </a:rPr>
              </a:br>
              <a:r>
                <a:rPr lang="pt-BR" dirty="0">
                  <a:solidFill>
                    <a:srgbClr val="D4D4D4"/>
                  </a:solidFill>
                  <a:latin typeface="Consolas" panose="020B0609020204030204" pitchFamily="49" charset="0"/>
                </a:rPr>
                <a:t>    </a:t>
              </a:r>
              <a:r>
                <a:rPr lang="pt-BR" dirty="0" err="1">
                  <a:solidFill>
                    <a:srgbClr val="569CD6"/>
                  </a:solidFill>
                  <a:latin typeface="Consolas" panose="020B0609020204030204" pitchFamily="49" charset="0"/>
                </a:rPr>
                <a:t>return</a:t>
              </a:r>
              <a:r>
                <a:rPr lang="pt-BR" dirty="0">
                  <a:solidFill>
                    <a:srgbClr val="D4D4D4"/>
                  </a:solidFill>
                  <a:latin typeface="Consolas" panose="020B0609020204030204" pitchFamily="49" charset="0"/>
                </a:rPr>
                <a:t> </a:t>
              </a:r>
              <a:r>
                <a:rPr lang="pt-BR" dirty="0" err="1">
                  <a:solidFill>
                    <a:srgbClr val="569CD6"/>
                  </a:solidFill>
                  <a:latin typeface="Consolas" panose="020B0609020204030204" pitchFamily="49" charset="0"/>
                </a:rPr>
                <a:t>await</a:t>
              </a:r>
              <a:r>
                <a:rPr lang="pt-BR" dirty="0">
                  <a:solidFill>
                    <a:srgbClr val="D4D4D4"/>
                  </a:solidFill>
                  <a:latin typeface="Consolas" panose="020B0609020204030204" pitchFamily="49" charset="0"/>
                </a:rPr>
                <a:t> </a:t>
              </a:r>
              <a:r>
                <a:rPr lang="pt-BR" dirty="0" err="1">
                  <a:solidFill>
                    <a:srgbClr val="D4D4D4"/>
                  </a:solidFill>
                  <a:latin typeface="Consolas" panose="020B0609020204030204" pitchFamily="49" charset="0"/>
                </a:rPr>
                <a:t>response.json</a:t>
              </a:r>
              <a:r>
                <a:rPr lang="pt-BR" dirty="0">
                  <a:solidFill>
                    <a:srgbClr val="D4D4D4"/>
                  </a:solidFill>
                  <a:latin typeface="Consolas" panose="020B0609020204030204" pitchFamily="49" charset="0"/>
                </a:rPr>
                <a:t>() </a:t>
              </a:r>
            </a:p>
            <a:p>
              <a:r>
                <a:rPr lang="pt-BR" dirty="0">
                  <a:solidFill>
                    <a:srgbClr val="D4D4D4"/>
                  </a:solidFill>
                  <a:latin typeface="Consolas" panose="020B0609020204030204" pitchFamily="49" charset="0"/>
                </a:rPr>
                <a:t>}</a:t>
              </a:r>
              <a:endParaRPr lang="pt-B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006400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38858E-69E2-8A32-4D8D-61A4750C2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o Método GET no nosso programa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24F9431-18D8-4DC9-B9CC-1BCF1A71C18D}"/>
              </a:ext>
            </a:extLst>
          </p:cNvPr>
          <p:cNvSpPr txBox="1">
            <a:spLocks/>
          </p:cNvSpPr>
          <p:nvPr/>
        </p:nvSpPr>
        <p:spPr>
          <a:xfrm>
            <a:off x="918644" y="1701521"/>
            <a:ext cx="10354713" cy="1211012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Dentro da pasta do projeto, crie uma pasta chamada script. Em seguida, dentro dela, crie o arquivo api.js, que será responsável por realizar as requisições e consultas ao nosso </a:t>
            </a:r>
            <a:r>
              <a:rPr lang="pt-BR" dirty="0" err="1"/>
              <a:t>back</a:t>
            </a:r>
            <a:r>
              <a:rPr lang="pt-BR" dirty="0"/>
              <a:t>-end.</a:t>
            </a: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AB2F1E58-E11F-4542-BF18-E5EF56B5D910}"/>
              </a:ext>
            </a:extLst>
          </p:cNvPr>
          <p:cNvGrpSpPr/>
          <p:nvPr/>
        </p:nvGrpSpPr>
        <p:grpSpPr>
          <a:xfrm>
            <a:off x="2317965" y="3062478"/>
            <a:ext cx="7556071" cy="3142211"/>
            <a:chOff x="749185" y="2527734"/>
            <a:chExt cx="5284556" cy="1805256"/>
          </a:xfrm>
        </p:grpSpPr>
        <p:sp>
          <p:nvSpPr>
            <p:cNvPr id="8" name="Shape 20">
              <a:extLst>
                <a:ext uri="{FF2B5EF4-FFF2-40B4-BE49-F238E27FC236}">
                  <a16:creationId xmlns:a16="http://schemas.microsoft.com/office/drawing/2014/main" id="{5AEEA8AD-6718-413B-A391-B7D9E19E569D}"/>
                </a:ext>
              </a:extLst>
            </p:cNvPr>
            <p:cNvSpPr/>
            <p:nvPr/>
          </p:nvSpPr>
          <p:spPr>
            <a:xfrm>
              <a:off x="749185" y="2527734"/>
              <a:ext cx="5284556" cy="1805256"/>
            </a:xfrm>
            <a:prstGeom prst="roundRect">
              <a:avLst>
                <a:gd name="adj" fmla="val 8081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9" name="Text 21">
              <a:extLst>
                <a:ext uri="{FF2B5EF4-FFF2-40B4-BE49-F238E27FC236}">
                  <a16:creationId xmlns:a16="http://schemas.microsoft.com/office/drawing/2014/main" id="{C27D53AB-2C58-4E88-85BE-314FF8DE4F47}"/>
                </a:ext>
              </a:extLst>
            </p:cNvPr>
            <p:cNvSpPr/>
            <p:nvPr/>
          </p:nvSpPr>
          <p:spPr>
            <a:xfrm>
              <a:off x="896521" y="2710750"/>
              <a:ext cx="4989884" cy="14392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tech-store/</a:t>
              </a:r>
            </a:p>
            <a:p>
              <a:pPr marL="0" indent="0" algn="l">
                <a:buNone/>
              </a:pPr>
              <a:r>
                <a:rPr lang="en-US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├── index.html</a:t>
              </a:r>
            </a:p>
            <a:p>
              <a:pPr marL="0" indent="0" algn="l">
                <a:buNone/>
              </a:pPr>
              <a:r>
                <a:rPr lang="en-US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├── </a:t>
              </a:r>
              <a:r>
                <a:rPr lang="en-US" kern="0" spc="-19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css</a:t>
              </a:r>
              <a:r>
                <a:rPr lang="en-US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/</a:t>
              </a:r>
            </a:p>
            <a:p>
              <a:pPr marL="0" indent="0" algn="l">
                <a:buNone/>
              </a:pPr>
              <a:r>
                <a:rPr lang="en-US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│      └── style.css</a:t>
              </a:r>
            </a:p>
            <a:p>
              <a:r>
                <a:rPr lang="en-US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├── </a:t>
              </a:r>
              <a:r>
                <a:rPr lang="en-US" kern="0" spc="-19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js</a:t>
              </a:r>
              <a:r>
                <a:rPr lang="en-US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/</a:t>
              </a:r>
            </a:p>
            <a:p>
              <a:r>
                <a:rPr lang="en-US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│     └── api.js</a:t>
              </a:r>
            </a:p>
            <a:p>
              <a:r>
                <a:rPr lang="en-US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│</a:t>
              </a:r>
            </a:p>
            <a:p>
              <a:r>
                <a:rPr lang="en-US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└── backend/</a:t>
              </a:r>
            </a:p>
            <a:p>
              <a:r>
                <a:rPr lang="en-US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       └──</a:t>
              </a:r>
              <a:r>
                <a:rPr lang="en-US" kern="0" spc="-19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db.json</a:t>
              </a:r>
              <a:endParaRPr lang="en-US" kern="0" spc="-19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endParaRPr>
            </a:p>
            <a:p>
              <a:pPr marL="0" indent="0" algn="l">
                <a:buNone/>
              </a:pP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3533240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38858E-69E2-8A32-4D8D-61A4750C2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o Método GET no nosso programa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24F9431-18D8-4DC9-B9CC-1BCF1A71C18D}"/>
              </a:ext>
            </a:extLst>
          </p:cNvPr>
          <p:cNvSpPr txBox="1">
            <a:spLocks/>
          </p:cNvSpPr>
          <p:nvPr/>
        </p:nvSpPr>
        <p:spPr>
          <a:xfrm>
            <a:off x="1081373" y="1701521"/>
            <a:ext cx="10029255" cy="1465012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A primeira requisição do nosso projeto será responsável por buscar todos os produtos cadastrados no banco de dados. Para isso, utilizaremos o método GET e devemos adicionar o seguinte código ao arquivo api.js:</a:t>
            </a:r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id="{959DB256-760D-43FD-8554-746A3EF5433E}"/>
              </a:ext>
            </a:extLst>
          </p:cNvPr>
          <p:cNvGrpSpPr/>
          <p:nvPr/>
        </p:nvGrpSpPr>
        <p:grpSpPr>
          <a:xfrm>
            <a:off x="1468842" y="3335867"/>
            <a:ext cx="9254316" cy="3218682"/>
            <a:chOff x="1735418" y="3429000"/>
            <a:chExt cx="9254316" cy="3218682"/>
          </a:xfrm>
        </p:grpSpPr>
        <p:sp>
          <p:nvSpPr>
            <p:cNvPr id="11" name="Shape 20">
              <a:extLst>
                <a:ext uri="{FF2B5EF4-FFF2-40B4-BE49-F238E27FC236}">
                  <a16:creationId xmlns:a16="http://schemas.microsoft.com/office/drawing/2014/main" id="{EE383B37-7310-4563-9BC8-B173B5286B0D}"/>
                </a:ext>
              </a:extLst>
            </p:cNvPr>
            <p:cNvSpPr/>
            <p:nvPr/>
          </p:nvSpPr>
          <p:spPr>
            <a:xfrm>
              <a:off x="1735418" y="3429000"/>
              <a:ext cx="9254316" cy="3218682"/>
            </a:xfrm>
            <a:prstGeom prst="roundRect">
              <a:avLst>
                <a:gd name="adj" fmla="val 8081"/>
              </a:avLst>
            </a:prstGeom>
            <a:solidFill>
              <a:srgbClr val="1E1E1E"/>
            </a:solidFill>
            <a:ln>
              <a:solidFill>
                <a:srgbClr val="1E1E1E"/>
              </a:solidFill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3CE8AC7A-3364-4E97-BC2E-25CF018F1E04}"/>
                </a:ext>
              </a:extLst>
            </p:cNvPr>
            <p:cNvSpPr/>
            <p:nvPr/>
          </p:nvSpPr>
          <p:spPr>
            <a:xfrm>
              <a:off x="2408642" y="3591791"/>
              <a:ext cx="7907868" cy="289310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400" dirty="0">
                  <a:solidFill>
                    <a:srgbClr val="569CD6"/>
                  </a:solidFill>
                  <a:latin typeface="Consolas" panose="020B0609020204030204" pitchFamily="49" charset="0"/>
                </a:rPr>
                <a:t>const</a:t>
              </a:r>
              <a:r>
                <a:rPr lang="en-US" sz="1400" dirty="0">
                  <a:solidFill>
                    <a:srgbClr val="D4D4D4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400" dirty="0" err="1">
                  <a:solidFill>
                    <a:srgbClr val="D4D4D4"/>
                  </a:solidFill>
                  <a:latin typeface="Consolas" panose="020B0609020204030204" pitchFamily="49" charset="0"/>
                </a:rPr>
                <a:t>api</a:t>
              </a:r>
              <a:r>
                <a:rPr lang="en-US" sz="1400" dirty="0">
                  <a:solidFill>
                    <a:srgbClr val="D4D4D4"/>
                  </a:solidFill>
                  <a:latin typeface="Consolas" panose="020B0609020204030204" pitchFamily="49" charset="0"/>
                </a:rPr>
                <a:t> = {</a:t>
              </a:r>
            </a:p>
            <a:p>
              <a:r>
                <a:rPr lang="en-US" sz="1400" dirty="0">
                  <a:solidFill>
                    <a:srgbClr val="D4D4D4"/>
                  </a:solidFill>
                  <a:latin typeface="Consolas" panose="020B0609020204030204" pitchFamily="49" charset="0"/>
                </a:rPr>
                <a:t>    </a:t>
              </a:r>
              <a:r>
                <a:rPr lang="en-US" sz="1400" dirty="0">
                  <a:solidFill>
                    <a:srgbClr val="569CD6"/>
                  </a:solidFill>
                  <a:latin typeface="Consolas" panose="020B0609020204030204" pitchFamily="49" charset="0"/>
                </a:rPr>
                <a:t>async</a:t>
              </a:r>
              <a:r>
                <a:rPr lang="en-US" sz="1400" dirty="0">
                  <a:solidFill>
                    <a:srgbClr val="D4D4D4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400" dirty="0" err="1">
                  <a:solidFill>
                    <a:srgbClr val="D4D4D4"/>
                  </a:solidFill>
                  <a:latin typeface="Consolas" panose="020B0609020204030204" pitchFamily="49" charset="0"/>
                </a:rPr>
                <a:t>buscarProdutos</a:t>
              </a:r>
              <a:r>
                <a:rPr lang="en-US" sz="1400" dirty="0">
                  <a:solidFill>
                    <a:srgbClr val="D4D4D4"/>
                  </a:solidFill>
                  <a:latin typeface="Consolas" panose="020B0609020204030204" pitchFamily="49" charset="0"/>
                </a:rPr>
                <a:t>() {</a:t>
              </a:r>
            </a:p>
            <a:p>
              <a:r>
                <a:rPr lang="en-US" sz="1400" dirty="0">
                  <a:solidFill>
                    <a:srgbClr val="D4D4D4"/>
                  </a:solidFill>
                  <a:latin typeface="Consolas" panose="020B0609020204030204" pitchFamily="49" charset="0"/>
                </a:rPr>
                <a:t>        </a:t>
              </a:r>
              <a:r>
                <a:rPr lang="en-US" sz="1400" dirty="0">
                  <a:solidFill>
                    <a:srgbClr val="569CD6"/>
                  </a:solidFill>
                  <a:latin typeface="Consolas" panose="020B0609020204030204" pitchFamily="49" charset="0"/>
                </a:rPr>
                <a:t>try</a:t>
              </a:r>
              <a:r>
                <a:rPr lang="en-US" sz="1400" dirty="0">
                  <a:solidFill>
                    <a:srgbClr val="D4D4D4"/>
                  </a:solidFill>
                  <a:latin typeface="Consolas" panose="020B0609020204030204" pitchFamily="49" charset="0"/>
                </a:rPr>
                <a:t> {</a:t>
              </a:r>
            </a:p>
            <a:p>
              <a:r>
                <a:rPr lang="en-US" sz="1400" dirty="0">
                  <a:solidFill>
                    <a:srgbClr val="D4D4D4"/>
                  </a:solidFill>
                  <a:latin typeface="Consolas" panose="020B0609020204030204" pitchFamily="49" charset="0"/>
                </a:rPr>
                <a:t>            </a:t>
              </a:r>
              <a:r>
                <a:rPr lang="en-US" sz="1400" dirty="0">
                  <a:solidFill>
                    <a:srgbClr val="569CD6"/>
                  </a:solidFill>
                  <a:latin typeface="Consolas" panose="020B0609020204030204" pitchFamily="49" charset="0"/>
                </a:rPr>
                <a:t>const</a:t>
              </a:r>
              <a:r>
                <a:rPr lang="en-US" sz="1400" dirty="0">
                  <a:solidFill>
                    <a:srgbClr val="D4D4D4"/>
                  </a:solidFill>
                  <a:latin typeface="Consolas" panose="020B0609020204030204" pitchFamily="49" charset="0"/>
                </a:rPr>
                <a:t> response = </a:t>
              </a:r>
              <a:r>
                <a:rPr lang="en-US" sz="1400" dirty="0">
                  <a:solidFill>
                    <a:srgbClr val="569CD6"/>
                  </a:solidFill>
                  <a:latin typeface="Consolas" panose="020B0609020204030204" pitchFamily="49" charset="0"/>
                </a:rPr>
                <a:t>await</a:t>
              </a:r>
              <a:r>
                <a:rPr lang="en-US" sz="1400" dirty="0">
                  <a:solidFill>
                    <a:srgbClr val="D4D4D4"/>
                  </a:solidFill>
                  <a:latin typeface="Consolas" panose="020B0609020204030204" pitchFamily="49" charset="0"/>
                </a:rPr>
                <a:t> fetch(</a:t>
              </a:r>
              <a:r>
                <a:rPr lang="en-US" sz="1400" dirty="0">
                  <a:solidFill>
                    <a:srgbClr val="CE9178"/>
                  </a:solidFill>
                  <a:latin typeface="Consolas" panose="020B0609020204030204" pitchFamily="49" charset="0"/>
                </a:rPr>
                <a:t>"http://localhost:3000/</a:t>
              </a:r>
              <a:r>
                <a:rPr lang="en-US" sz="1400" dirty="0" err="1">
                  <a:solidFill>
                    <a:srgbClr val="CE9178"/>
                  </a:solidFill>
                  <a:latin typeface="Consolas" panose="020B0609020204030204" pitchFamily="49" charset="0"/>
                </a:rPr>
                <a:t>produtos</a:t>
              </a:r>
              <a:r>
                <a:rPr lang="en-US" sz="1400" dirty="0">
                  <a:solidFill>
                    <a:srgbClr val="CE9178"/>
                  </a:solidFill>
                  <a:latin typeface="Consolas" panose="020B0609020204030204" pitchFamily="49" charset="0"/>
                </a:rPr>
                <a:t>"</a:t>
              </a:r>
              <a:r>
                <a:rPr lang="en-US" sz="1400" dirty="0">
                  <a:solidFill>
                    <a:srgbClr val="D4D4D4"/>
                  </a:solidFill>
                  <a:latin typeface="Consolas" panose="020B0609020204030204" pitchFamily="49" charset="0"/>
                </a:rPr>
                <a:t>)</a:t>
              </a:r>
            </a:p>
            <a:p>
              <a:r>
                <a:rPr lang="en-US" sz="1400" dirty="0">
                  <a:solidFill>
                    <a:srgbClr val="D4D4D4"/>
                  </a:solidFill>
                  <a:latin typeface="Consolas" panose="020B0609020204030204" pitchFamily="49" charset="0"/>
                </a:rPr>
                <a:t>            </a:t>
              </a:r>
              <a:r>
                <a:rPr lang="en-US" sz="1400" dirty="0">
                  <a:solidFill>
                    <a:srgbClr val="569CD6"/>
                  </a:solidFill>
                  <a:latin typeface="Consolas" panose="020B0609020204030204" pitchFamily="49" charset="0"/>
                </a:rPr>
                <a:t>return</a:t>
              </a:r>
              <a:r>
                <a:rPr lang="en-US" sz="1400" dirty="0">
                  <a:solidFill>
                    <a:srgbClr val="D4D4D4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400" dirty="0">
                  <a:solidFill>
                    <a:srgbClr val="569CD6"/>
                  </a:solidFill>
                  <a:latin typeface="Consolas" panose="020B0609020204030204" pitchFamily="49" charset="0"/>
                </a:rPr>
                <a:t>await</a:t>
              </a:r>
              <a:r>
                <a:rPr lang="en-US" sz="1400" dirty="0">
                  <a:solidFill>
                    <a:srgbClr val="D4D4D4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400" dirty="0" err="1">
                  <a:solidFill>
                    <a:srgbClr val="D4D4D4"/>
                  </a:solidFill>
                  <a:latin typeface="Consolas" panose="020B0609020204030204" pitchFamily="49" charset="0"/>
                </a:rPr>
                <a:t>response.json</a:t>
              </a:r>
              <a:r>
                <a:rPr lang="en-US" sz="1400" dirty="0">
                  <a:solidFill>
                    <a:srgbClr val="D4D4D4"/>
                  </a:solidFill>
                  <a:latin typeface="Consolas" panose="020B0609020204030204" pitchFamily="49" charset="0"/>
                </a:rPr>
                <a:t>()</a:t>
              </a:r>
            </a:p>
            <a:p>
              <a:r>
                <a:rPr lang="en-US" sz="1400" dirty="0">
                  <a:solidFill>
                    <a:srgbClr val="D4D4D4"/>
                  </a:solidFill>
                  <a:latin typeface="Consolas" panose="020B0609020204030204" pitchFamily="49" charset="0"/>
                </a:rPr>
                <a:t>        } </a:t>
              </a:r>
              <a:r>
                <a:rPr lang="en-US" sz="1400" dirty="0">
                  <a:solidFill>
                    <a:srgbClr val="569CD6"/>
                  </a:solidFill>
                  <a:latin typeface="Consolas" panose="020B0609020204030204" pitchFamily="49" charset="0"/>
                </a:rPr>
                <a:t>catch</a:t>
              </a:r>
              <a:r>
                <a:rPr lang="en-US" sz="1400" dirty="0">
                  <a:solidFill>
                    <a:srgbClr val="D4D4D4"/>
                  </a:solidFill>
                  <a:latin typeface="Consolas" panose="020B0609020204030204" pitchFamily="49" charset="0"/>
                </a:rPr>
                <a:t> (error) {</a:t>
              </a:r>
            </a:p>
            <a:p>
              <a:r>
                <a:rPr lang="en-US" sz="1400" dirty="0">
                  <a:solidFill>
                    <a:srgbClr val="D4D4D4"/>
                  </a:solidFill>
                  <a:latin typeface="Consolas" panose="020B0609020204030204" pitchFamily="49" charset="0"/>
                </a:rPr>
                <a:t>            alert(</a:t>
              </a:r>
              <a:r>
                <a:rPr lang="en-US" sz="1400" dirty="0">
                  <a:solidFill>
                    <a:srgbClr val="CE9178"/>
                  </a:solidFill>
                  <a:latin typeface="Consolas" panose="020B0609020204030204" pitchFamily="49" charset="0"/>
                </a:rPr>
                <a:t>"</a:t>
              </a:r>
              <a:r>
                <a:rPr lang="en-US" sz="1400" dirty="0" err="1">
                  <a:solidFill>
                    <a:srgbClr val="CE9178"/>
                  </a:solidFill>
                  <a:latin typeface="Consolas" panose="020B0609020204030204" pitchFamily="49" charset="0"/>
                </a:rPr>
                <a:t>Erro</a:t>
              </a:r>
              <a:r>
                <a:rPr lang="en-US" sz="1400" dirty="0">
                  <a:solidFill>
                    <a:srgbClr val="CE9178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400" dirty="0" err="1">
                  <a:solidFill>
                    <a:srgbClr val="CE9178"/>
                  </a:solidFill>
                  <a:latin typeface="Consolas" panose="020B0609020204030204" pitchFamily="49" charset="0"/>
                </a:rPr>
                <a:t>ao</a:t>
              </a:r>
              <a:r>
                <a:rPr lang="en-US" sz="1400" dirty="0">
                  <a:solidFill>
                    <a:srgbClr val="CE9178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400" dirty="0" err="1">
                  <a:solidFill>
                    <a:srgbClr val="CE9178"/>
                  </a:solidFill>
                  <a:latin typeface="Consolas" panose="020B0609020204030204" pitchFamily="49" charset="0"/>
                </a:rPr>
                <a:t>buscar</a:t>
              </a:r>
              <a:r>
                <a:rPr lang="en-US" sz="1400" dirty="0">
                  <a:solidFill>
                    <a:srgbClr val="CE9178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400" dirty="0" err="1">
                  <a:solidFill>
                    <a:srgbClr val="CE9178"/>
                  </a:solidFill>
                  <a:latin typeface="Consolas" panose="020B0609020204030204" pitchFamily="49" charset="0"/>
                </a:rPr>
                <a:t>produtos</a:t>
              </a:r>
              <a:r>
                <a:rPr lang="en-US" sz="1400" dirty="0">
                  <a:solidFill>
                    <a:srgbClr val="CE9178"/>
                  </a:solidFill>
                  <a:latin typeface="Consolas" panose="020B0609020204030204" pitchFamily="49" charset="0"/>
                </a:rPr>
                <a:t>"</a:t>
              </a:r>
              <a:r>
                <a:rPr lang="en-US" sz="1400" dirty="0">
                  <a:solidFill>
                    <a:srgbClr val="D4D4D4"/>
                  </a:solidFill>
                  <a:latin typeface="Consolas" panose="020B0609020204030204" pitchFamily="49" charset="0"/>
                </a:rPr>
                <a:t>)</a:t>
              </a:r>
            </a:p>
            <a:p>
              <a:r>
                <a:rPr lang="en-US" sz="1400" dirty="0">
                  <a:solidFill>
                    <a:srgbClr val="D4D4D4"/>
                  </a:solidFill>
                  <a:latin typeface="Consolas" panose="020B0609020204030204" pitchFamily="49" charset="0"/>
                </a:rPr>
                <a:t>            </a:t>
              </a:r>
              <a:r>
                <a:rPr lang="en-US" sz="1400" dirty="0">
                  <a:solidFill>
                    <a:srgbClr val="569CD6"/>
                  </a:solidFill>
                  <a:latin typeface="Consolas" panose="020B0609020204030204" pitchFamily="49" charset="0"/>
                </a:rPr>
                <a:t>throw</a:t>
              </a:r>
              <a:r>
                <a:rPr lang="en-US" sz="1400" dirty="0">
                  <a:solidFill>
                    <a:srgbClr val="D4D4D4"/>
                  </a:solidFill>
                  <a:latin typeface="Consolas" panose="020B0609020204030204" pitchFamily="49" charset="0"/>
                </a:rPr>
                <a:t> error</a:t>
              </a:r>
            </a:p>
            <a:p>
              <a:r>
                <a:rPr lang="en-US" sz="1400" dirty="0">
                  <a:solidFill>
                    <a:srgbClr val="D4D4D4"/>
                  </a:solidFill>
                  <a:latin typeface="Consolas" panose="020B0609020204030204" pitchFamily="49" charset="0"/>
                </a:rPr>
                <a:t>        }</a:t>
              </a:r>
            </a:p>
            <a:p>
              <a:r>
                <a:rPr lang="en-US" sz="1400" dirty="0">
                  <a:solidFill>
                    <a:srgbClr val="D4D4D4"/>
                  </a:solidFill>
                  <a:latin typeface="Consolas" panose="020B0609020204030204" pitchFamily="49" charset="0"/>
                </a:rPr>
                <a:t>    }</a:t>
              </a:r>
            </a:p>
            <a:p>
              <a:r>
                <a:rPr lang="en-US" sz="1400" dirty="0">
                  <a:solidFill>
                    <a:srgbClr val="D4D4D4"/>
                  </a:solidFill>
                  <a:latin typeface="Consolas" panose="020B0609020204030204" pitchFamily="49" charset="0"/>
                </a:rPr>
                <a:t>}</a:t>
              </a:r>
            </a:p>
            <a:p>
              <a:br>
                <a:rPr lang="en-US" sz="1400" dirty="0">
                  <a:solidFill>
                    <a:srgbClr val="D4D4D4"/>
                  </a:solidFill>
                  <a:latin typeface="Consolas" panose="020B0609020204030204" pitchFamily="49" charset="0"/>
                </a:rPr>
              </a:br>
              <a:r>
                <a:rPr lang="en-US" sz="1400" dirty="0">
                  <a:solidFill>
                    <a:srgbClr val="569CD6"/>
                  </a:solidFill>
                  <a:latin typeface="Consolas" panose="020B0609020204030204" pitchFamily="49" charset="0"/>
                </a:rPr>
                <a:t>export</a:t>
              </a:r>
              <a:r>
                <a:rPr lang="en-US" sz="1400" dirty="0">
                  <a:solidFill>
                    <a:srgbClr val="D4D4D4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400" dirty="0">
                  <a:solidFill>
                    <a:srgbClr val="569CD6"/>
                  </a:solidFill>
                  <a:latin typeface="Consolas" panose="020B0609020204030204" pitchFamily="49" charset="0"/>
                </a:rPr>
                <a:t>default</a:t>
              </a:r>
              <a:r>
                <a:rPr lang="en-US" sz="1400" dirty="0">
                  <a:solidFill>
                    <a:srgbClr val="D4D4D4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400" dirty="0" err="1">
                  <a:solidFill>
                    <a:srgbClr val="D4D4D4"/>
                  </a:solidFill>
                  <a:latin typeface="Consolas" panose="020B0609020204030204" pitchFamily="49" charset="0"/>
                </a:rPr>
                <a:t>api</a:t>
              </a:r>
              <a:r>
                <a:rPr lang="en-US" sz="1400" dirty="0">
                  <a:solidFill>
                    <a:srgbClr val="D4D4D4"/>
                  </a:solidFill>
                  <a:latin typeface="Consolas" panose="020B0609020204030204" pitchFamily="49" charset="0"/>
                </a:rPr>
                <a:t> </a:t>
              </a:r>
              <a:endPara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69668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38858E-69E2-8A32-4D8D-61A4750C2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o Método GET no nosso programa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24F9431-18D8-4DC9-B9CC-1BCF1A71C18D}"/>
              </a:ext>
            </a:extLst>
          </p:cNvPr>
          <p:cNvSpPr txBox="1">
            <a:spLocks/>
          </p:cNvSpPr>
          <p:nvPr/>
        </p:nvSpPr>
        <p:spPr>
          <a:xfrm>
            <a:off x="749185" y="1600200"/>
            <a:ext cx="10858615" cy="1032933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Agora vamos criar um arquivo chamado de consultasAPI.js que será responsável por registrar todas as consultas que iremos fazer dentro do nosso programa.</a:t>
            </a: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E631E9BC-9E1D-472E-A50F-4405B6AE7C47}"/>
              </a:ext>
            </a:extLst>
          </p:cNvPr>
          <p:cNvGrpSpPr/>
          <p:nvPr/>
        </p:nvGrpSpPr>
        <p:grpSpPr>
          <a:xfrm>
            <a:off x="1468842" y="2697175"/>
            <a:ext cx="9254316" cy="3921416"/>
            <a:chOff x="1468842" y="2697175"/>
            <a:chExt cx="9254316" cy="3921416"/>
          </a:xfrm>
        </p:grpSpPr>
        <p:sp>
          <p:nvSpPr>
            <p:cNvPr id="11" name="Shape 20">
              <a:extLst>
                <a:ext uri="{FF2B5EF4-FFF2-40B4-BE49-F238E27FC236}">
                  <a16:creationId xmlns:a16="http://schemas.microsoft.com/office/drawing/2014/main" id="{EE383B37-7310-4563-9BC8-B173B5286B0D}"/>
                </a:ext>
              </a:extLst>
            </p:cNvPr>
            <p:cNvSpPr/>
            <p:nvPr/>
          </p:nvSpPr>
          <p:spPr>
            <a:xfrm>
              <a:off x="1468842" y="2697175"/>
              <a:ext cx="9254316" cy="3921416"/>
            </a:xfrm>
            <a:prstGeom prst="roundRect">
              <a:avLst>
                <a:gd name="adj" fmla="val 8081"/>
              </a:avLst>
            </a:prstGeom>
            <a:solidFill>
              <a:srgbClr val="1E1E1E"/>
            </a:solidFill>
            <a:ln>
              <a:solidFill>
                <a:srgbClr val="1E1E1E"/>
              </a:solidFill>
            </a:ln>
          </p:spPr>
          <p:txBody>
            <a:bodyPr/>
            <a:lstStyle/>
            <a:p>
              <a:endParaRPr lang="pt-BR" dirty="0"/>
            </a:p>
          </p:txBody>
        </p:sp>
        <p:sp>
          <p:nvSpPr>
            <p:cNvPr id="3" name="Retângulo 2">
              <a:extLst>
                <a:ext uri="{FF2B5EF4-FFF2-40B4-BE49-F238E27FC236}">
                  <a16:creationId xmlns:a16="http://schemas.microsoft.com/office/drawing/2014/main" id="{AC84D1EB-AB27-41AB-8D7E-1ED14BD299A4}"/>
                </a:ext>
              </a:extLst>
            </p:cNvPr>
            <p:cNvSpPr/>
            <p:nvPr/>
          </p:nvSpPr>
          <p:spPr>
            <a:xfrm>
              <a:off x="1866900" y="2888168"/>
              <a:ext cx="8458200" cy="35394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pt-BR" sz="1600" dirty="0" err="1">
                  <a:solidFill>
                    <a:srgbClr val="569CD6"/>
                  </a:solidFill>
                  <a:latin typeface="Consolas" panose="020B0609020204030204" pitchFamily="49" charset="0"/>
                </a:rPr>
                <a:t>import</a:t>
              </a:r>
              <a:r>
                <a:rPr lang="pt-BR" sz="1600" dirty="0">
                  <a:solidFill>
                    <a:srgbClr val="D4D4D4"/>
                  </a:solidFill>
                  <a:latin typeface="Consolas" panose="020B0609020204030204" pitchFamily="49" charset="0"/>
                </a:rPr>
                <a:t> </a:t>
              </a:r>
              <a:r>
                <a:rPr lang="pt-BR" sz="1600" dirty="0" err="1">
                  <a:solidFill>
                    <a:srgbClr val="D4D4D4"/>
                  </a:solidFill>
                  <a:latin typeface="Consolas" panose="020B0609020204030204" pitchFamily="49" charset="0"/>
                </a:rPr>
                <a:t>api</a:t>
              </a:r>
              <a:r>
                <a:rPr lang="pt-BR" sz="1600" dirty="0">
                  <a:solidFill>
                    <a:srgbClr val="D4D4D4"/>
                  </a:solidFill>
                  <a:latin typeface="Consolas" panose="020B0609020204030204" pitchFamily="49" charset="0"/>
                </a:rPr>
                <a:t> </a:t>
              </a:r>
              <a:r>
                <a:rPr lang="pt-BR" sz="1600" dirty="0" err="1">
                  <a:solidFill>
                    <a:srgbClr val="569CD6"/>
                  </a:solidFill>
                  <a:latin typeface="Consolas" panose="020B0609020204030204" pitchFamily="49" charset="0"/>
                </a:rPr>
                <a:t>from</a:t>
              </a:r>
              <a:r>
                <a:rPr lang="pt-BR" sz="1600" dirty="0">
                  <a:solidFill>
                    <a:srgbClr val="D4D4D4"/>
                  </a:solidFill>
                  <a:latin typeface="Consolas" panose="020B0609020204030204" pitchFamily="49" charset="0"/>
                </a:rPr>
                <a:t> </a:t>
              </a:r>
              <a:r>
                <a:rPr lang="pt-BR" sz="1600" dirty="0">
                  <a:solidFill>
                    <a:srgbClr val="CE9178"/>
                  </a:solidFill>
                  <a:latin typeface="Consolas" panose="020B0609020204030204" pitchFamily="49" charset="0"/>
                </a:rPr>
                <a:t>"./api.js"</a:t>
              </a:r>
              <a:endParaRPr lang="pt-BR" sz="1600" dirty="0">
                <a:solidFill>
                  <a:srgbClr val="D4D4D4"/>
                </a:solidFill>
                <a:latin typeface="Consolas" panose="020B0609020204030204" pitchFamily="49" charset="0"/>
              </a:endParaRPr>
            </a:p>
            <a:p>
              <a:r>
                <a:rPr lang="pt-BR" sz="1600" dirty="0" err="1">
                  <a:solidFill>
                    <a:srgbClr val="569CD6"/>
                  </a:solidFill>
                  <a:latin typeface="Consolas" panose="020B0609020204030204" pitchFamily="49" charset="0"/>
                </a:rPr>
                <a:t>const</a:t>
              </a:r>
              <a:r>
                <a:rPr lang="pt-BR" sz="1600" dirty="0">
                  <a:solidFill>
                    <a:srgbClr val="D4D4D4"/>
                  </a:solidFill>
                  <a:latin typeface="Consolas" panose="020B0609020204030204" pitchFamily="49" charset="0"/>
                </a:rPr>
                <a:t> consulta = {</a:t>
              </a:r>
            </a:p>
            <a:p>
              <a:r>
                <a:rPr lang="pt-BR" sz="1600" dirty="0">
                  <a:solidFill>
                    <a:srgbClr val="D4D4D4"/>
                  </a:solidFill>
                  <a:latin typeface="Consolas" panose="020B0609020204030204" pitchFamily="49" charset="0"/>
                </a:rPr>
                <a:t>    </a:t>
              </a:r>
              <a:r>
                <a:rPr lang="pt-BR" sz="1600" dirty="0" err="1">
                  <a:solidFill>
                    <a:srgbClr val="569CD6"/>
                  </a:solidFill>
                  <a:latin typeface="Consolas" panose="020B0609020204030204" pitchFamily="49" charset="0"/>
                </a:rPr>
                <a:t>async</a:t>
              </a:r>
              <a:r>
                <a:rPr lang="pt-BR" sz="1600" dirty="0">
                  <a:solidFill>
                    <a:srgbClr val="D4D4D4"/>
                  </a:solidFill>
                  <a:latin typeface="Consolas" panose="020B0609020204030204" pitchFamily="49" charset="0"/>
                </a:rPr>
                <a:t> </a:t>
              </a:r>
              <a:r>
                <a:rPr lang="pt-BR" sz="1600" dirty="0" err="1">
                  <a:solidFill>
                    <a:srgbClr val="D4D4D4"/>
                  </a:solidFill>
                  <a:latin typeface="Consolas" panose="020B0609020204030204" pitchFamily="49" charset="0"/>
                </a:rPr>
                <a:t>mostrarProdutos</a:t>
              </a:r>
              <a:r>
                <a:rPr lang="pt-BR" sz="1600" dirty="0">
                  <a:solidFill>
                    <a:srgbClr val="D4D4D4"/>
                  </a:solidFill>
                  <a:latin typeface="Consolas" panose="020B0609020204030204" pitchFamily="49" charset="0"/>
                </a:rPr>
                <a:t>() {</a:t>
              </a:r>
            </a:p>
            <a:p>
              <a:r>
                <a:rPr lang="pt-BR" sz="1600" dirty="0">
                  <a:solidFill>
                    <a:srgbClr val="D4D4D4"/>
                  </a:solidFill>
                  <a:latin typeface="Consolas" panose="020B0609020204030204" pitchFamily="49" charset="0"/>
                </a:rPr>
                <a:t>        </a:t>
              </a:r>
              <a:r>
                <a:rPr lang="pt-BR" sz="1600" dirty="0" err="1">
                  <a:solidFill>
                    <a:srgbClr val="569CD6"/>
                  </a:solidFill>
                  <a:latin typeface="Consolas" panose="020B0609020204030204" pitchFamily="49" charset="0"/>
                </a:rPr>
                <a:t>try</a:t>
              </a:r>
              <a:r>
                <a:rPr lang="pt-BR" sz="1600" dirty="0">
                  <a:solidFill>
                    <a:srgbClr val="D4D4D4"/>
                  </a:solidFill>
                  <a:latin typeface="Consolas" panose="020B0609020204030204" pitchFamily="49" charset="0"/>
                </a:rPr>
                <a:t> {</a:t>
              </a:r>
            </a:p>
            <a:p>
              <a:r>
                <a:rPr lang="pt-BR" sz="1600" dirty="0">
                  <a:solidFill>
                    <a:srgbClr val="D4D4D4"/>
                  </a:solidFill>
                  <a:latin typeface="Consolas" panose="020B0609020204030204" pitchFamily="49" charset="0"/>
                </a:rPr>
                <a:t>            </a:t>
              </a:r>
              <a:r>
                <a:rPr lang="pt-BR" sz="1600" dirty="0" err="1">
                  <a:solidFill>
                    <a:srgbClr val="569CD6"/>
                  </a:solidFill>
                  <a:latin typeface="Consolas" panose="020B0609020204030204" pitchFamily="49" charset="0"/>
                </a:rPr>
                <a:t>const</a:t>
              </a:r>
              <a:r>
                <a:rPr lang="pt-BR" sz="1600" dirty="0">
                  <a:solidFill>
                    <a:srgbClr val="D4D4D4"/>
                  </a:solidFill>
                  <a:latin typeface="Consolas" panose="020B0609020204030204" pitchFamily="49" charset="0"/>
                </a:rPr>
                <a:t> produtos = </a:t>
              </a:r>
              <a:r>
                <a:rPr lang="pt-BR" sz="1600" dirty="0" err="1">
                  <a:solidFill>
                    <a:srgbClr val="569CD6"/>
                  </a:solidFill>
                  <a:latin typeface="Consolas" panose="020B0609020204030204" pitchFamily="49" charset="0"/>
                </a:rPr>
                <a:t>await</a:t>
              </a:r>
              <a:r>
                <a:rPr lang="pt-BR" sz="1600" dirty="0">
                  <a:solidFill>
                    <a:srgbClr val="D4D4D4"/>
                  </a:solidFill>
                  <a:latin typeface="Consolas" panose="020B0609020204030204" pitchFamily="49" charset="0"/>
                </a:rPr>
                <a:t> </a:t>
              </a:r>
              <a:r>
                <a:rPr lang="pt-BR" sz="1600" dirty="0" err="1">
                  <a:solidFill>
                    <a:srgbClr val="D4D4D4"/>
                  </a:solidFill>
                  <a:latin typeface="Consolas" panose="020B0609020204030204" pitchFamily="49" charset="0"/>
                </a:rPr>
                <a:t>api.buscarProdutos</a:t>
              </a:r>
              <a:r>
                <a:rPr lang="pt-BR" sz="1600" dirty="0">
                  <a:solidFill>
                    <a:srgbClr val="D4D4D4"/>
                  </a:solidFill>
                  <a:latin typeface="Consolas" panose="020B0609020204030204" pitchFamily="49" charset="0"/>
                </a:rPr>
                <a:t>()</a:t>
              </a:r>
            </a:p>
            <a:p>
              <a:r>
                <a:rPr lang="pt-BR" sz="1600" dirty="0">
                  <a:solidFill>
                    <a:srgbClr val="D4D4D4"/>
                  </a:solidFill>
                  <a:latin typeface="Consolas" panose="020B0609020204030204" pitchFamily="49" charset="0"/>
                </a:rPr>
                <a:t>            console.log(produtos)</a:t>
              </a:r>
            </a:p>
            <a:p>
              <a:br>
                <a:rPr lang="pt-BR" sz="1600" dirty="0">
                  <a:solidFill>
                    <a:srgbClr val="D4D4D4"/>
                  </a:solidFill>
                  <a:latin typeface="Consolas" panose="020B0609020204030204" pitchFamily="49" charset="0"/>
                </a:rPr>
              </a:br>
              <a:r>
                <a:rPr lang="pt-BR" sz="1600" dirty="0">
                  <a:solidFill>
                    <a:srgbClr val="D4D4D4"/>
                  </a:solidFill>
                  <a:latin typeface="Consolas" panose="020B0609020204030204" pitchFamily="49" charset="0"/>
                </a:rPr>
                <a:t>        } </a:t>
              </a:r>
              <a:r>
                <a:rPr lang="pt-BR" sz="1600" dirty="0">
                  <a:solidFill>
                    <a:srgbClr val="569CD6"/>
                  </a:solidFill>
                  <a:latin typeface="Consolas" panose="020B0609020204030204" pitchFamily="49" charset="0"/>
                </a:rPr>
                <a:t>catch</a:t>
              </a:r>
              <a:r>
                <a:rPr lang="pt-BR" sz="1600" dirty="0">
                  <a:solidFill>
                    <a:srgbClr val="D4D4D4"/>
                  </a:solidFill>
                  <a:latin typeface="Consolas" panose="020B0609020204030204" pitchFamily="49" charset="0"/>
                </a:rPr>
                <a:t> (</a:t>
              </a:r>
              <a:r>
                <a:rPr lang="pt-BR" sz="1600" dirty="0" err="1">
                  <a:solidFill>
                    <a:srgbClr val="D4D4D4"/>
                  </a:solidFill>
                  <a:latin typeface="Consolas" panose="020B0609020204030204" pitchFamily="49" charset="0"/>
                </a:rPr>
                <a:t>error</a:t>
              </a:r>
              <a:r>
                <a:rPr lang="pt-BR" sz="1600" dirty="0">
                  <a:solidFill>
                    <a:srgbClr val="D4D4D4"/>
                  </a:solidFill>
                  <a:latin typeface="Consolas" panose="020B0609020204030204" pitchFamily="49" charset="0"/>
                </a:rPr>
                <a:t>) {</a:t>
              </a:r>
            </a:p>
            <a:p>
              <a:r>
                <a:rPr lang="pt-BR" sz="1600" dirty="0">
                  <a:solidFill>
                    <a:srgbClr val="D4D4D4"/>
                  </a:solidFill>
                  <a:latin typeface="Consolas" panose="020B0609020204030204" pitchFamily="49" charset="0"/>
                </a:rPr>
                <a:t>            </a:t>
              </a:r>
              <a:r>
                <a:rPr lang="pt-BR" sz="1600" dirty="0" err="1">
                  <a:solidFill>
                    <a:srgbClr val="D4D4D4"/>
                  </a:solidFill>
                  <a:latin typeface="Consolas" panose="020B0609020204030204" pitchFamily="49" charset="0"/>
                </a:rPr>
                <a:t>console.error</a:t>
              </a:r>
              <a:r>
                <a:rPr lang="pt-BR" sz="1600" dirty="0">
                  <a:solidFill>
                    <a:srgbClr val="D4D4D4"/>
                  </a:solidFill>
                  <a:latin typeface="Consolas" panose="020B0609020204030204" pitchFamily="49" charset="0"/>
                </a:rPr>
                <a:t>(</a:t>
              </a:r>
              <a:r>
                <a:rPr lang="pt-BR" sz="1600" dirty="0" err="1">
                  <a:solidFill>
                    <a:srgbClr val="D4D4D4"/>
                  </a:solidFill>
                  <a:latin typeface="Consolas" panose="020B0609020204030204" pitchFamily="49" charset="0"/>
                </a:rPr>
                <a:t>error</a:t>
              </a:r>
              <a:r>
                <a:rPr lang="pt-BR" sz="1600" dirty="0">
                  <a:solidFill>
                    <a:srgbClr val="D4D4D4"/>
                  </a:solidFill>
                  <a:latin typeface="Consolas" panose="020B0609020204030204" pitchFamily="49" charset="0"/>
                </a:rPr>
                <a:t>)</a:t>
              </a:r>
            </a:p>
            <a:p>
              <a:r>
                <a:rPr lang="pt-BR" sz="1600" dirty="0">
                  <a:solidFill>
                    <a:srgbClr val="D4D4D4"/>
                  </a:solidFill>
                  <a:latin typeface="Consolas" panose="020B0609020204030204" pitchFamily="49" charset="0"/>
                </a:rPr>
                <a:t>        }</a:t>
              </a:r>
            </a:p>
            <a:p>
              <a:r>
                <a:rPr lang="pt-BR" sz="1600" dirty="0">
                  <a:solidFill>
                    <a:srgbClr val="D4D4D4"/>
                  </a:solidFill>
                  <a:latin typeface="Consolas" panose="020B0609020204030204" pitchFamily="49" charset="0"/>
                </a:rPr>
                <a:t>    }</a:t>
              </a:r>
            </a:p>
            <a:p>
              <a:r>
                <a:rPr lang="pt-BR" sz="1600" dirty="0">
                  <a:solidFill>
                    <a:srgbClr val="D4D4D4"/>
                  </a:solidFill>
                  <a:latin typeface="Consolas" panose="020B0609020204030204" pitchFamily="49" charset="0"/>
                </a:rPr>
                <a:t>}</a:t>
              </a:r>
            </a:p>
            <a:p>
              <a:endParaRPr lang="pt-BR" sz="1600" dirty="0">
                <a:solidFill>
                  <a:srgbClr val="D4D4D4"/>
                </a:solidFill>
                <a:latin typeface="Consolas" panose="020B0609020204030204" pitchFamily="49" charset="0"/>
              </a:endParaRPr>
            </a:p>
            <a:p>
              <a:r>
                <a:rPr lang="pt-BR" sz="1600" dirty="0" err="1">
                  <a:solidFill>
                    <a:srgbClr val="D4D4D4"/>
                  </a:solidFill>
                  <a:latin typeface="Consolas" panose="020B0609020204030204" pitchFamily="49" charset="0"/>
                </a:rPr>
                <a:t>consulta.mostrarProdutos</a:t>
              </a:r>
              <a:r>
                <a:rPr lang="pt-BR" sz="1600" dirty="0">
                  <a:solidFill>
                    <a:srgbClr val="D4D4D4"/>
                  </a:solidFill>
                  <a:latin typeface="Consolas" panose="020B0609020204030204" pitchFamily="49" charset="0"/>
                </a:rPr>
                <a:t>()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276567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AED99B-FCD9-43F1-B948-D7213C641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o Método GET no nosso programa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686890E-9B9B-48A3-A84C-A9801F8D27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651000"/>
            <a:ext cx="11007306" cy="643467"/>
          </a:xfrm>
        </p:spPr>
        <p:txBody>
          <a:bodyPr/>
          <a:lstStyle/>
          <a:p>
            <a:r>
              <a:rPr lang="pt-BR" dirty="0"/>
              <a:t>Por fim adicione o seguinte comando para o </a:t>
            </a:r>
            <a:r>
              <a:rPr lang="pt-BR" dirty="0" err="1"/>
              <a:t>html</a:t>
            </a:r>
            <a:r>
              <a:rPr lang="pt-BR" dirty="0"/>
              <a:t> chamar o arquivo consultarAPI.js</a:t>
            </a:r>
          </a:p>
        </p:txBody>
      </p:sp>
      <p:grpSp>
        <p:nvGrpSpPr>
          <p:cNvPr id="6" name="Agrupar 5">
            <a:extLst>
              <a:ext uri="{FF2B5EF4-FFF2-40B4-BE49-F238E27FC236}">
                <a16:creationId xmlns:a16="http://schemas.microsoft.com/office/drawing/2014/main" id="{39122735-1407-4993-A2E1-FD2AC2764AE6}"/>
              </a:ext>
            </a:extLst>
          </p:cNvPr>
          <p:cNvGrpSpPr/>
          <p:nvPr/>
        </p:nvGrpSpPr>
        <p:grpSpPr>
          <a:xfrm>
            <a:off x="1468842" y="2714108"/>
            <a:ext cx="9254316" cy="2602959"/>
            <a:chOff x="1533162" y="2409308"/>
            <a:chExt cx="9254316" cy="2602959"/>
          </a:xfrm>
        </p:grpSpPr>
        <p:sp>
          <p:nvSpPr>
            <p:cNvPr id="5" name="Shape 20">
              <a:extLst>
                <a:ext uri="{FF2B5EF4-FFF2-40B4-BE49-F238E27FC236}">
                  <a16:creationId xmlns:a16="http://schemas.microsoft.com/office/drawing/2014/main" id="{65179D05-B3F6-44E6-B72A-98D48F0DA71E}"/>
                </a:ext>
              </a:extLst>
            </p:cNvPr>
            <p:cNvSpPr/>
            <p:nvPr/>
          </p:nvSpPr>
          <p:spPr>
            <a:xfrm>
              <a:off x="1533162" y="2409308"/>
              <a:ext cx="9254316" cy="2602959"/>
            </a:xfrm>
            <a:prstGeom prst="roundRect">
              <a:avLst>
                <a:gd name="adj" fmla="val 8081"/>
              </a:avLst>
            </a:prstGeom>
            <a:solidFill>
              <a:srgbClr val="1E1E1E"/>
            </a:solidFill>
            <a:ln>
              <a:solidFill>
                <a:srgbClr val="1E1E1E"/>
              </a:solidFill>
            </a:ln>
          </p:spPr>
          <p:txBody>
            <a:bodyPr/>
            <a:lstStyle/>
            <a:p>
              <a:endParaRPr lang="pt-BR" dirty="0"/>
            </a:p>
          </p:txBody>
        </p:sp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6CBD0A4E-90F1-4639-877E-3A27F5E69A51}"/>
                </a:ext>
              </a:extLst>
            </p:cNvPr>
            <p:cNvSpPr/>
            <p:nvPr/>
          </p:nvSpPr>
          <p:spPr>
            <a:xfrm>
              <a:off x="1728841" y="2695125"/>
              <a:ext cx="8862958" cy="203132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pt-BR" dirty="0">
                  <a:solidFill>
                    <a:srgbClr val="808080"/>
                  </a:solidFill>
                  <a:latin typeface="Consolas" panose="020B0609020204030204" pitchFamily="49" charset="0"/>
                </a:rPr>
                <a:t>&lt;</a:t>
              </a:r>
              <a:r>
                <a:rPr lang="pt-BR" dirty="0" err="1">
                  <a:solidFill>
                    <a:srgbClr val="569CD6"/>
                  </a:solidFill>
                  <a:latin typeface="Consolas" panose="020B0609020204030204" pitchFamily="49" charset="0"/>
                </a:rPr>
                <a:t>body</a:t>
              </a:r>
              <a:r>
                <a:rPr lang="pt-BR" dirty="0">
                  <a:solidFill>
                    <a:srgbClr val="808080"/>
                  </a:solidFill>
                  <a:latin typeface="Consolas" panose="020B0609020204030204" pitchFamily="49" charset="0"/>
                </a:rPr>
                <a:t>&gt;</a:t>
              </a:r>
              <a:endParaRPr lang="pt-BR" dirty="0">
                <a:solidFill>
                  <a:srgbClr val="D4D4D4"/>
                </a:solidFill>
                <a:latin typeface="Consolas" panose="020B0609020204030204" pitchFamily="49" charset="0"/>
              </a:endParaRPr>
            </a:p>
            <a:p>
              <a:br>
                <a:rPr lang="pt-BR" dirty="0">
                  <a:solidFill>
                    <a:srgbClr val="D4D4D4"/>
                  </a:solidFill>
                  <a:latin typeface="Consolas" panose="020B0609020204030204" pitchFamily="49" charset="0"/>
                </a:rPr>
              </a:br>
              <a:r>
                <a:rPr lang="pt-BR" dirty="0">
                  <a:solidFill>
                    <a:srgbClr val="D4D4D4"/>
                  </a:solidFill>
                  <a:latin typeface="Consolas" panose="020B0609020204030204" pitchFamily="49" charset="0"/>
                </a:rPr>
                <a:t>    </a:t>
              </a:r>
              <a:r>
                <a:rPr lang="pt-BR" dirty="0">
                  <a:solidFill>
                    <a:srgbClr val="808080"/>
                  </a:solidFill>
                  <a:latin typeface="Consolas" panose="020B0609020204030204" pitchFamily="49" charset="0"/>
                </a:rPr>
                <a:t>&lt;</a:t>
              </a:r>
              <a:r>
                <a:rPr lang="pt-BR" dirty="0">
                  <a:solidFill>
                    <a:srgbClr val="569CD6"/>
                  </a:solidFill>
                  <a:latin typeface="Consolas" panose="020B0609020204030204" pitchFamily="49" charset="0"/>
                </a:rPr>
                <a:t>script</a:t>
              </a:r>
              <a:r>
                <a:rPr lang="pt-BR" dirty="0">
                  <a:solidFill>
                    <a:srgbClr val="D4D4D4"/>
                  </a:solidFill>
                  <a:latin typeface="Consolas" panose="020B0609020204030204" pitchFamily="49" charset="0"/>
                </a:rPr>
                <a:t> </a:t>
              </a:r>
              <a:r>
                <a:rPr lang="pt-BR" dirty="0" err="1">
                  <a:solidFill>
                    <a:srgbClr val="9CDCFE"/>
                  </a:solidFill>
                  <a:latin typeface="Consolas" panose="020B0609020204030204" pitchFamily="49" charset="0"/>
                </a:rPr>
                <a:t>type</a:t>
              </a:r>
              <a:r>
                <a:rPr lang="pt-BR" dirty="0">
                  <a:solidFill>
                    <a:srgbClr val="D4D4D4"/>
                  </a:solidFill>
                  <a:latin typeface="Consolas" panose="020B0609020204030204" pitchFamily="49" charset="0"/>
                </a:rPr>
                <a:t>=</a:t>
              </a:r>
              <a:r>
                <a:rPr lang="pt-BR" dirty="0">
                  <a:solidFill>
                    <a:srgbClr val="CE9178"/>
                  </a:solidFill>
                  <a:latin typeface="Consolas" panose="020B0609020204030204" pitchFamily="49" charset="0"/>
                </a:rPr>
                <a:t>"module"</a:t>
              </a:r>
              <a:r>
                <a:rPr lang="pt-BR" dirty="0">
                  <a:solidFill>
                    <a:srgbClr val="D4D4D4"/>
                  </a:solidFill>
                  <a:latin typeface="Consolas" panose="020B0609020204030204" pitchFamily="49" charset="0"/>
                </a:rPr>
                <a:t> </a:t>
              </a:r>
              <a:r>
                <a:rPr lang="pt-BR" dirty="0" err="1">
                  <a:solidFill>
                    <a:srgbClr val="9CDCFE"/>
                  </a:solidFill>
                  <a:latin typeface="Consolas" panose="020B0609020204030204" pitchFamily="49" charset="0"/>
                </a:rPr>
                <a:t>src</a:t>
              </a:r>
              <a:r>
                <a:rPr lang="pt-BR" dirty="0">
                  <a:solidFill>
                    <a:srgbClr val="D4D4D4"/>
                  </a:solidFill>
                  <a:latin typeface="Consolas" panose="020B0609020204030204" pitchFamily="49" charset="0"/>
                </a:rPr>
                <a:t>=</a:t>
              </a:r>
              <a:r>
                <a:rPr lang="pt-BR" dirty="0">
                  <a:solidFill>
                    <a:srgbClr val="CE9178"/>
                  </a:solidFill>
                  <a:latin typeface="Consolas" panose="020B0609020204030204" pitchFamily="49" charset="0"/>
                </a:rPr>
                <a:t>"</a:t>
              </a:r>
              <a:r>
                <a:rPr lang="pt-BR" dirty="0" err="1">
                  <a:solidFill>
                    <a:srgbClr val="CE9178"/>
                  </a:solidFill>
                  <a:latin typeface="Consolas" panose="020B0609020204030204" pitchFamily="49" charset="0"/>
                </a:rPr>
                <a:t>js</a:t>
              </a:r>
              <a:r>
                <a:rPr lang="pt-BR" dirty="0">
                  <a:solidFill>
                    <a:srgbClr val="CE9178"/>
                  </a:solidFill>
                  <a:latin typeface="Consolas" panose="020B0609020204030204" pitchFamily="49" charset="0"/>
                </a:rPr>
                <a:t>/consultasAPI.js"</a:t>
              </a:r>
              <a:r>
                <a:rPr lang="pt-BR" dirty="0">
                  <a:solidFill>
                    <a:srgbClr val="808080"/>
                  </a:solidFill>
                  <a:latin typeface="Consolas" panose="020B0609020204030204" pitchFamily="49" charset="0"/>
                </a:rPr>
                <a:t>&gt;&lt;/</a:t>
              </a:r>
              <a:r>
                <a:rPr lang="pt-BR" dirty="0">
                  <a:solidFill>
                    <a:srgbClr val="569CD6"/>
                  </a:solidFill>
                  <a:latin typeface="Consolas" panose="020B0609020204030204" pitchFamily="49" charset="0"/>
                </a:rPr>
                <a:t>script</a:t>
              </a:r>
              <a:r>
                <a:rPr lang="pt-BR" dirty="0">
                  <a:solidFill>
                    <a:srgbClr val="808080"/>
                  </a:solidFill>
                  <a:latin typeface="Consolas" panose="020B0609020204030204" pitchFamily="49" charset="0"/>
                </a:rPr>
                <a:t>&gt;</a:t>
              </a:r>
              <a:endParaRPr lang="pt-BR" dirty="0">
                <a:solidFill>
                  <a:srgbClr val="D4D4D4"/>
                </a:solidFill>
                <a:latin typeface="Consolas" panose="020B0609020204030204" pitchFamily="49" charset="0"/>
              </a:endParaRPr>
            </a:p>
            <a:p>
              <a:r>
                <a:rPr lang="pt-BR" dirty="0">
                  <a:solidFill>
                    <a:srgbClr val="808080"/>
                  </a:solidFill>
                  <a:latin typeface="Consolas" panose="020B0609020204030204" pitchFamily="49" charset="0"/>
                </a:rPr>
                <a:t>&lt;/</a:t>
              </a:r>
              <a:r>
                <a:rPr lang="pt-BR" dirty="0" err="1">
                  <a:solidFill>
                    <a:srgbClr val="569CD6"/>
                  </a:solidFill>
                  <a:latin typeface="Consolas" panose="020B0609020204030204" pitchFamily="49" charset="0"/>
                </a:rPr>
                <a:t>body</a:t>
              </a:r>
              <a:r>
                <a:rPr lang="pt-BR" dirty="0">
                  <a:solidFill>
                    <a:srgbClr val="808080"/>
                  </a:solidFill>
                  <a:latin typeface="Consolas" panose="020B0609020204030204" pitchFamily="49" charset="0"/>
                </a:rPr>
                <a:t>&gt;</a:t>
              </a:r>
              <a:endParaRPr lang="pt-BR" dirty="0">
                <a:solidFill>
                  <a:srgbClr val="D4D4D4"/>
                </a:solidFill>
                <a:latin typeface="Consolas" panose="020B0609020204030204" pitchFamily="49" charset="0"/>
              </a:endParaRPr>
            </a:p>
            <a:p>
              <a:br>
                <a:rPr lang="pt-BR" dirty="0">
                  <a:solidFill>
                    <a:srgbClr val="D4D4D4"/>
                  </a:solidFill>
                  <a:latin typeface="Consolas" panose="020B0609020204030204" pitchFamily="49" charset="0"/>
                </a:rPr>
              </a:br>
              <a:br>
                <a:rPr lang="pt-BR" dirty="0">
                  <a:solidFill>
                    <a:srgbClr val="D4D4D4"/>
                  </a:solidFill>
                  <a:latin typeface="Consolas" panose="020B0609020204030204" pitchFamily="49" charset="0"/>
                </a:rPr>
              </a:br>
              <a:r>
                <a:rPr lang="pt-BR" dirty="0">
                  <a:solidFill>
                    <a:srgbClr val="808080"/>
                  </a:solidFill>
                  <a:latin typeface="Consolas" panose="020B0609020204030204" pitchFamily="49" charset="0"/>
                </a:rPr>
                <a:t>&lt;/</a:t>
              </a:r>
              <a:r>
                <a:rPr lang="pt-BR" dirty="0" err="1">
                  <a:solidFill>
                    <a:srgbClr val="569CD6"/>
                  </a:solidFill>
                  <a:latin typeface="Consolas" panose="020B0609020204030204" pitchFamily="49" charset="0"/>
                </a:rPr>
                <a:t>html</a:t>
              </a:r>
              <a:r>
                <a:rPr lang="pt-BR" dirty="0">
                  <a:solidFill>
                    <a:srgbClr val="808080"/>
                  </a:solidFill>
                  <a:latin typeface="Consolas" panose="020B0609020204030204" pitchFamily="49" charset="0"/>
                </a:rPr>
                <a:t>&gt;</a:t>
              </a:r>
              <a:endParaRPr lang="pt-B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59057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50ADB3-678B-467F-ACD2-15286043C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Validando produto no estoque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600FCB5-BDBF-48FD-B296-D9935A4ECE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083009"/>
          </a:xfrm>
        </p:spPr>
        <p:txBody>
          <a:bodyPr/>
          <a:lstStyle/>
          <a:p>
            <a:r>
              <a:rPr lang="pt-BR" dirty="0"/>
              <a:t>A primeira etapa do nosso programa é validar se existe algum produto no estoque, para removermos o ícone e o texto </a:t>
            </a:r>
            <a:r>
              <a:rPr lang="pt-BR" b="1" dirty="0"/>
              <a:t>NENHUM PRODUTO NO ESTOQUE</a:t>
            </a:r>
            <a:r>
              <a:rPr lang="pt-BR" dirty="0"/>
              <a:t>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CE64D309-2C6C-4864-A25C-854658A22E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027" y="3754774"/>
            <a:ext cx="4023709" cy="186706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FB920689-EE6B-DE69-E8B6-C5C9D0440E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9214" y="3202276"/>
            <a:ext cx="3825572" cy="2972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25063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A6209E-44D6-4DB2-98AC-F412A8357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Função JS – Verifica Produto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3DC8050-0D3F-4BE1-B110-2D84624694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091030"/>
          </a:xfrm>
        </p:spPr>
        <p:txBody>
          <a:bodyPr/>
          <a:lstStyle/>
          <a:p>
            <a:r>
              <a:rPr lang="pt-BR" dirty="0"/>
              <a:t>Para removermos esse campo no </a:t>
            </a:r>
            <a:r>
              <a:rPr lang="pt-BR" dirty="0" err="1"/>
              <a:t>html</a:t>
            </a:r>
            <a:r>
              <a:rPr lang="pt-BR" dirty="0"/>
              <a:t>, devemos manipular ele diretamente do nosso, </a:t>
            </a:r>
            <a:r>
              <a:rPr lang="pt-BR" dirty="0" err="1"/>
              <a:t>js</a:t>
            </a:r>
            <a:r>
              <a:rPr lang="pt-BR" dirty="0"/>
              <a:t>, para isso devemos adicionar o seguinte comando.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FA6ECA4-EA89-5A73-E45F-110C73A9D4C5}"/>
              </a:ext>
            </a:extLst>
          </p:cNvPr>
          <p:cNvSpPr txBox="1"/>
          <p:nvPr/>
        </p:nvSpPr>
        <p:spPr>
          <a:xfrm>
            <a:off x="2294021" y="3289709"/>
            <a:ext cx="7603957" cy="32893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pt-B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pt-B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verificarProdutosCadastrados</a:t>
            </a:r>
            <a:r>
              <a:rPr lang="pt-B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(produtos){</a:t>
            </a:r>
          </a:p>
          <a:p>
            <a:pPr>
              <a:lnSpc>
                <a:spcPct val="150000"/>
              </a:lnSpc>
              <a:buNone/>
            </a:pPr>
            <a:r>
              <a:rPr lang="pt-B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pt-B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produtosCadastrados</a:t>
            </a:r>
            <a:r>
              <a:rPr lang="pt-B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pt-B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produtos.length</a:t>
            </a:r>
            <a:endParaRPr lang="pt-B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pt-B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pt-B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removerNenhumProduto</a:t>
            </a:r>
            <a:r>
              <a:rPr lang="pt-B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pt-B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document.querySelector</a:t>
            </a:r>
            <a:r>
              <a:rPr lang="pt-B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"#</a:t>
            </a:r>
            <a:r>
              <a:rPr lang="pt-BR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verificaProduto</a:t>
            </a:r>
            <a:r>
              <a:rPr lang="pt-B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50000"/>
              </a:lnSpc>
              <a:buNone/>
            </a:pPr>
            <a:r>
              <a:rPr lang="pt-B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ct val="150000"/>
              </a:lnSpc>
              <a:buNone/>
            </a:pPr>
            <a:r>
              <a:rPr lang="pt-B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pt-B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pt-B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produtosCadastrados</a:t>
            </a:r>
            <a:r>
              <a:rPr lang="pt-B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 </a:t>
            </a:r>
            <a:r>
              <a:rPr lang="pt-B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pt-B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pPr>
              <a:lnSpc>
                <a:spcPct val="150000"/>
              </a:lnSpc>
              <a:buNone/>
            </a:pPr>
            <a:r>
              <a:rPr lang="pt-B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removerNenhumProduto.style.display</a:t>
            </a:r>
            <a:r>
              <a:rPr lang="pt-B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pt-B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pt-B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endParaRPr lang="pt-B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pt-B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 </a:t>
            </a:r>
            <a:r>
              <a:rPr lang="pt-B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pt-B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50000"/>
              </a:lnSpc>
              <a:buNone/>
            </a:pPr>
            <a:r>
              <a:rPr lang="pt-B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removerNenhumProduto.style.display</a:t>
            </a:r>
            <a:r>
              <a:rPr lang="pt-B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pt-B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table-cell</a:t>
            </a:r>
            <a:r>
              <a:rPr lang="pt-B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endParaRPr lang="pt-B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pt-B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ct val="150000"/>
              </a:lnSpc>
              <a:buNone/>
            </a:pPr>
            <a:r>
              <a:rPr lang="pt-B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053136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7D346A-7931-4E6A-9DF2-1EDDA2BCB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917" y="868458"/>
            <a:ext cx="9429250" cy="434535"/>
          </a:xfrm>
        </p:spPr>
        <p:txBody>
          <a:bodyPr/>
          <a:lstStyle/>
          <a:p>
            <a:r>
              <a:rPr lang="pt-BR" dirty="0"/>
              <a:t>Adicionar produtos a tabela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8F5E35-3249-4181-AAA2-D8E915A6A7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123114"/>
          </a:xfrm>
        </p:spPr>
        <p:txBody>
          <a:bodyPr/>
          <a:lstStyle/>
          <a:p>
            <a:r>
              <a:rPr lang="pt-BR" dirty="0"/>
              <a:t>Agora que removemos a informação, quando não possuímos produtos cadastrados, iremos adicionar as linhas caso tenhamos algum produto cadastrado.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464ED06-4896-18FA-F045-87617541CF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073" y="3868917"/>
            <a:ext cx="4170002" cy="2020362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B5E8D73C-DA34-0299-FF1D-8056AAA4FB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4148" y="3903654"/>
            <a:ext cx="3680779" cy="1950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7411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D14E3E-692E-B075-10DA-E9C8C39ED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a função Listar Produtos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7294703-9FB5-3055-0A97-3268698325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074988"/>
          </a:xfrm>
        </p:spPr>
        <p:txBody>
          <a:bodyPr/>
          <a:lstStyle/>
          <a:p>
            <a:r>
              <a:rPr lang="pt-BR" dirty="0"/>
              <a:t>A primeira etapa é desenvolver uma função que será responsável por selecionar a tabela e depois recuperar seu conteúdo.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C8E13B48-9E35-4A8B-FB3E-66DFE51F15DC}"/>
              </a:ext>
            </a:extLst>
          </p:cNvPr>
          <p:cNvSpPr txBox="1"/>
          <p:nvPr/>
        </p:nvSpPr>
        <p:spPr>
          <a:xfrm>
            <a:off x="2103522" y="3603742"/>
            <a:ext cx="7984957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buNone/>
            </a:pPr>
            <a:r>
              <a:rPr lang="pt-BR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listarProdutos</a:t>
            </a: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(produtos){</a:t>
            </a:r>
          </a:p>
          <a:p>
            <a:pPr>
              <a:lnSpc>
                <a:spcPts val="2100"/>
              </a:lnSpc>
              <a:buNone/>
            </a:pP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tabela = </a:t>
            </a:r>
            <a:r>
              <a:rPr lang="pt-B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document.querySelector</a:t>
            </a: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"#</a:t>
            </a:r>
            <a:r>
              <a:rPr lang="pt-B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mostrarProdutos</a:t>
            </a:r>
            <a:r>
              <a:rPr lang="pt-B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2100"/>
              </a:lnSpc>
              <a:buNone/>
            </a:pP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693071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9BD99D-391B-4EA6-CD0E-5B0F95C71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24612F-AD54-6112-8280-E5B58F3F4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a função Listar Produtos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248229D-42E3-4E52-1A0B-576158B6EF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074988"/>
          </a:xfrm>
        </p:spPr>
        <p:txBody>
          <a:bodyPr/>
          <a:lstStyle/>
          <a:p>
            <a:r>
              <a:rPr lang="pt-BR" dirty="0"/>
              <a:t>A primeira etapa é desenvolver uma função que será responsável por selecionar a tabela e depois recuperar seu conteúdo.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954F78A-20C4-9715-7F90-10BD0C07E6FD}"/>
              </a:ext>
            </a:extLst>
          </p:cNvPr>
          <p:cNvSpPr txBox="1"/>
          <p:nvPr/>
        </p:nvSpPr>
        <p:spPr>
          <a:xfrm>
            <a:off x="2103522" y="3603742"/>
            <a:ext cx="7984957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buNone/>
            </a:pPr>
            <a:r>
              <a:rPr lang="pt-BR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listarProdutos</a:t>
            </a: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(produtos){</a:t>
            </a:r>
          </a:p>
          <a:p>
            <a:pPr>
              <a:lnSpc>
                <a:spcPts val="2100"/>
              </a:lnSpc>
              <a:buNone/>
            </a:pP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tabela = </a:t>
            </a:r>
            <a:r>
              <a:rPr lang="pt-B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document.querySelector</a:t>
            </a: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"#</a:t>
            </a:r>
            <a:r>
              <a:rPr lang="pt-B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mostrarProdutos</a:t>
            </a:r>
            <a:r>
              <a:rPr lang="pt-B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2100"/>
              </a:lnSpc>
              <a:buNone/>
            </a:pP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068551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EBE513-E8B6-17E0-77CE-CD6904CD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Percorrendo a lista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360001D-644E-4C78-11FF-57A117A33A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139157"/>
          </a:xfrm>
        </p:spPr>
        <p:txBody>
          <a:bodyPr/>
          <a:lstStyle/>
          <a:p>
            <a:r>
              <a:rPr lang="pt-BR" dirty="0"/>
              <a:t>Agora devemos percorrer a lista para inserir cada linha que foi retornada do </a:t>
            </a:r>
            <a:r>
              <a:rPr lang="pt-BR" dirty="0" err="1"/>
              <a:t>array</a:t>
            </a:r>
            <a:r>
              <a:rPr lang="pt-BR" dirty="0"/>
              <a:t>, para isso usamos o </a:t>
            </a:r>
            <a:r>
              <a:rPr lang="pt-BR" dirty="0" err="1"/>
              <a:t>forEach</a:t>
            </a:r>
            <a:r>
              <a:rPr lang="pt-BR" dirty="0"/>
              <a:t>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A029A5B4-EBF9-C928-1C27-7388D20171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364" y="2983832"/>
            <a:ext cx="10059272" cy="3254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5284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140470-2246-434A-0606-3C4B955BD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os elementos na tabela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6E609FD-81A0-4763-6A1B-7331D07D60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155199"/>
          </a:xfrm>
        </p:spPr>
        <p:txBody>
          <a:bodyPr/>
          <a:lstStyle/>
          <a:p>
            <a:r>
              <a:rPr lang="pt-BR" dirty="0"/>
              <a:t>Para a criação dos elementos na tabela, devemos utilizar o </a:t>
            </a:r>
            <a:r>
              <a:rPr lang="pt-BR" sz="1800" kern="0" spc="-19" dirty="0" err="1">
                <a:solidFill>
                  <a:srgbClr val="D73A49"/>
                </a:solidFill>
                <a:latin typeface="Consolas" pitchFamily="34" charset="0"/>
              </a:rPr>
              <a:t>createElement</a:t>
            </a:r>
            <a:r>
              <a:rPr lang="pt-BR" sz="1800" kern="0" spc="-19" dirty="0">
                <a:solidFill>
                  <a:srgbClr val="D73A49"/>
                </a:solidFill>
                <a:latin typeface="Consolas" pitchFamily="34" charset="0"/>
              </a:rPr>
              <a:t>()</a:t>
            </a:r>
            <a:r>
              <a:rPr lang="pt-BR" dirty="0"/>
              <a:t>, ele é o responsável por criar todos as </a:t>
            </a:r>
            <a:r>
              <a:rPr lang="pt-BR" dirty="0" err="1"/>
              <a:t>tags</a:t>
            </a:r>
            <a:r>
              <a:rPr lang="pt-BR" dirty="0"/>
              <a:t> diretamente do </a:t>
            </a:r>
            <a:r>
              <a:rPr lang="pt-BR" dirty="0" err="1"/>
              <a:t>js</a:t>
            </a:r>
            <a:r>
              <a:rPr lang="pt-BR" dirty="0"/>
              <a:t>.</a:t>
            </a:r>
          </a:p>
        </p:txBody>
      </p:sp>
      <p:sp>
        <p:nvSpPr>
          <p:cNvPr id="5" name="Espaço Reservado para Conteúdo 5">
            <a:extLst>
              <a:ext uri="{FF2B5EF4-FFF2-40B4-BE49-F238E27FC236}">
                <a16:creationId xmlns:a16="http://schemas.microsoft.com/office/drawing/2014/main" id="{4A1E6A79-63C2-8596-900A-3141C0024F79}"/>
              </a:ext>
            </a:extLst>
          </p:cNvPr>
          <p:cNvSpPr txBox="1">
            <a:spLocks/>
          </p:cNvSpPr>
          <p:nvPr/>
        </p:nvSpPr>
        <p:spPr>
          <a:xfrm>
            <a:off x="592347" y="4967376"/>
            <a:ext cx="5359879" cy="366590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pt-BR" sz="1600" dirty="0"/>
              <a:t>Exemplo:</a:t>
            </a:r>
          </a:p>
        </p:txBody>
      </p:sp>
      <p:grpSp>
        <p:nvGrpSpPr>
          <p:cNvPr id="6" name="Agrupar 5">
            <a:extLst>
              <a:ext uri="{FF2B5EF4-FFF2-40B4-BE49-F238E27FC236}">
                <a16:creationId xmlns:a16="http://schemas.microsoft.com/office/drawing/2014/main" id="{51696414-F518-1EE4-FAF7-626FC308E65A}"/>
              </a:ext>
            </a:extLst>
          </p:cNvPr>
          <p:cNvGrpSpPr/>
          <p:nvPr/>
        </p:nvGrpSpPr>
        <p:grpSpPr>
          <a:xfrm>
            <a:off x="749184" y="5654746"/>
            <a:ext cx="8907433" cy="638572"/>
            <a:chOff x="749185" y="2527734"/>
            <a:chExt cx="5284556" cy="638572"/>
          </a:xfrm>
        </p:grpSpPr>
        <p:sp>
          <p:nvSpPr>
            <p:cNvPr id="7" name="Shape 20">
              <a:extLst>
                <a:ext uri="{FF2B5EF4-FFF2-40B4-BE49-F238E27FC236}">
                  <a16:creationId xmlns:a16="http://schemas.microsoft.com/office/drawing/2014/main" id="{7EADE318-399D-5A94-5FCA-E984D943012A}"/>
                </a:ext>
              </a:extLst>
            </p:cNvPr>
            <p:cNvSpPr/>
            <p:nvPr/>
          </p:nvSpPr>
          <p:spPr>
            <a:xfrm>
              <a:off x="749185" y="2527734"/>
              <a:ext cx="5284556" cy="638572"/>
            </a:xfrm>
            <a:prstGeom prst="roundRect">
              <a:avLst>
                <a:gd name="adj" fmla="val 8081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8" name="Text 21">
              <a:extLst>
                <a:ext uri="{FF2B5EF4-FFF2-40B4-BE49-F238E27FC236}">
                  <a16:creationId xmlns:a16="http://schemas.microsoft.com/office/drawing/2014/main" id="{96033345-14B6-CD6B-2964-B4A5E56C4CAF}"/>
                </a:ext>
              </a:extLst>
            </p:cNvPr>
            <p:cNvSpPr/>
            <p:nvPr/>
          </p:nvSpPr>
          <p:spPr>
            <a:xfrm>
              <a:off x="896521" y="2712610"/>
              <a:ext cx="4989884" cy="2688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const tr = </a:t>
              </a:r>
              <a:r>
                <a:rPr lang="en-US" kern="0" spc="-19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document.createElement</a:t>
              </a:r>
              <a:r>
                <a:rPr lang="en-US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("tr")</a:t>
              </a:r>
              <a:endParaRPr lang="en-US" dirty="0"/>
            </a:p>
          </p:txBody>
        </p:sp>
      </p:grpSp>
      <p:sp>
        <p:nvSpPr>
          <p:cNvPr id="10" name="Espaço Reservado para Conteúdo 5">
            <a:extLst>
              <a:ext uri="{FF2B5EF4-FFF2-40B4-BE49-F238E27FC236}">
                <a16:creationId xmlns:a16="http://schemas.microsoft.com/office/drawing/2014/main" id="{3B00C422-7545-2A33-6D79-2286B0980992}"/>
              </a:ext>
            </a:extLst>
          </p:cNvPr>
          <p:cNvSpPr txBox="1">
            <a:spLocks/>
          </p:cNvSpPr>
          <p:nvPr/>
        </p:nvSpPr>
        <p:spPr>
          <a:xfrm>
            <a:off x="592347" y="3320654"/>
            <a:ext cx="8189344" cy="366590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pt-BR" sz="1600" dirty="0"/>
              <a:t>Sintaxe:</a:t>
            </a:r>
          </a:p>
        </p:txBody>
      </p:sp>
      <p:grpSp>
        <p:nvGrpSpPr>
          <p:cNvPr id="11" name="Agrupar 10">
            <a:extLst>
              <a:ext uri="{FF2B5EF4-FFF2-40B4-BE49-F238E27FC236}">
                <a16:creationId xmlns:a16="http://schemas.microsoft.com/office/drawing/2014/main" id="{35C40B54-B3A5-6ED0-79FD-DCB20D882BD4}"/>
              </a:ext>
            </a:extLst>
          </p:cNvPr>
          <p:cNvGrpSpPr/>
          <p:nvPr/>
        </p:nvGrpSpPr>
        <p:grpSpPr>
          <a:xfrm>
            <a:off x="749184" y="4008024"/>
            <a:ext cx="8907433" cy="638572"/>
            <a:chOff x="749185" y="2527734"/>
            <a:chExt cx="5284556" cy="638572"/>
          </a:xfrm>
        </p:grpSpPr>
        <p:sp>
          <p:nvSpPr>
            <p:cNvPr id="12" name="Shape 20">
              <a:extLst>
                <a:ext uri="{FF2B5EF4-FFF2-40B4-BE49-F238E27FC236}">
                  <a16:creationId xmlns:a16="http://schemas.microsoft.com/office/drawing/2014/main" id="{503FDCF3-5F65-21F4-E3B8-5C0EC866BF2A}"/>
                </a:ext>
              </a:extLst>
            </p:cNvPr>
            <p:cNvSpPr/>
            <p:nvPr/>
          </p:nvSpPr>
          <p:spPr>
            <a:xfrm>
              <a:off x="749185" y="2527734"/>
              <a:ext cx="5284556" cy="638572"/>
            </a:xfrm>
            <a:prstGeom prst="roundRect">
              <a:avLst>
                <a:gd name="adj" fmla="val 8081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13" name="Text 21">
              <a:extLst>
                <a:ext uri="{FF2B5EF4-FFF2-40B4-BE49-F238E27FC236}">
                  <a16:creationId xmlns:a16="http://schemas.microsoft.com/office/drawing/2014/main" id="{9001C0AB-B6BE-8BD4-CAD0-1CFAB67C033C}"/>
                </a:ext>
              </a:extLst>
            </p:cNvPr>
            <p:cNvSpPr/>
            <p:nvPr/>
          </p:nvSpPr>
          <p:spPr>
            <a:xfrm>
              <a:off x="896521" y="2712610"/>
              <a:ext cx="4989884" cy="2688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r>
                <a:rPr lang="en-US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const tag = </a:t>
              </a:r>
              <a:r>
                <a:rPr lang="en-US" kern="0" spc="-19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document.createElement</a:t>
              </a:r>
              <a:r>
                <a:rPr lang="en-US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("tag")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4307398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9BDF4-D721-FB84-9856-A1346ABC2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A3F8C8-8792-147B-447C-0F213A1D8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Adicionando valores nas células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8F81503-A5AA-5447-EEAA-83283C9FB0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155199"/>
          </a:xfrm>
        </p:spPr>
        <p:txBody>
          <a:bodyPr/>
          <a:lstStyle/>
          <a:p>
            <a:r>
              <a:rPr lang="pt-BR" dirty="0"/>
              <a:t>Para adicionar os valores nos elementos </a:t>
            </a:r>
            <a:r>
              <a:rPr lang="pt-BR" dirty="0" err="1"/>
              <a:t>html</a:t>
            </a:r>
            <a:r>
              <a:rPr lang="pt-BR" dirty="0"/>
              <a:t>, devemos utilizar o </a:t>
            </a:r>
            <a:r>
              <a:rPr lang="pt-BR" sz="1800" kern="0" spc="-19" dirty="0" err="1">
                <a:solidFill>
                  <a:srgbClr val="D73A49"/>
                </a:solidFill>
                <a:latin typeface="Consolas" pitchFamily="34" charset="0"/>
              </a:rPr>
              <a:t>textContent</a:t>
            </a:r>
            <a:r>
              <a:rPr lang="pt-BR" dirty="0"/>
              <a:t>, ele é o responsável por adicionar texto na </a:t>
            </a:r>
            <a:r>
              <a:rPr lang="pt-BR" dirty="0" err="1"/>
              <a:t>tag</a:t>
            </a:r>
            <a:r>
              <a:rPr lang="pt-BR" dirty="0"/>
              <a:t> diretamente do </a:t>
            </a:r>
            <a:r>
              <a:rPr lang="pt-BR" dirty="0" err="1"/>
              <a:t>js</a:t>
            </a:r>
            <a:r>
              <a:rPr lang="pt-BR" dirty="0"/>
              <a:t>.</a:t>
            </a:r>
          </a:p>
        </p:txBody>
      </p:sp>
      <p:sp>
        <p:nvSpPr>
          <p:cNvPr id="5" name="Espaço Reservado para Conteúdo 5">
            <a:extLst>
              <a:ext uri="{FF2B5EF4-FFF2-40B4-BE49-F238E27FC236}">
                <a16:creationId xmlns:a16="http://schemas.microsoft.com/office/drawing/2014/main" id="{E5D7D8E8-DCD9-B3CB-B2CF-6D4047B44A23}"/>
              </a:ext>
            </a:extLst>
          </p:cNvPr>
          <p:cNvSpPr txBox="1">
            <a:spLocks/>
          </p:cNvSpPr>
          <p:nvPr/>
        </p:nvSpPr>
        <p:spPr>
          <a:xfrm>
            <a:off x="592347" y="4967376"/>
            <a:ext cx="5359879" cy="366590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pt-BR" sz="1600" dirty="0"/>
              <a:t>Exemplo:</a:t>
            </a:r>
          </a:p>
        </p:txBody>
      </p:sp>
      <p:grpSp>
        <p:nvGrpSpPr>
          <p:cNvPr id="6" name="Agrupar 5">
            <a:extLst>
              <a:ext uri="{FF2B5EF4-FFF2-40B4-BE49-F238E27FC236}">
                <a16:creationId xmlns:a16="http://schemas.microsoft.com/office/drawing/2014/main" id="{EDCD73C5-8E46-76AB-4902-BE7560AEA881}"/>
              </a:ext>
            </a:extLst>
          </p:cNvPr>
          <p:cNvGrpSpPr/>
          <p:nvPr/>
        </p:nvGrpSpPr>
        <p:grpSpPr>
          <a:xfrm>
            <a:off x="749184" y="5654746"/>
            <a:ext cx="8907433" cy="638572"/>
            <a:chOff x="749185" y="2527734"/>
            <a:chExt cx="5284556" cy="638572"/>
          </a:xfrm>
        </p:grpSpPr>
        <p:sp>
          <p:nvSpPr>
            <p:cNvPr id="7" name="Shape 20">
              <a:extLst>
                <a:ext uri="{FF2B5EF4-FFF2-40B4-BE49-F238E27FC236}">
                  <a16:creationId xmlns:a16="http://schemas.microsoft.com/office/drawing/2014/main" id="{E15CF89C-C26D-BE59-052F-8EF6ABEC0446}"/>
                </a:ext>
              </a:extLst>
            </p:cNvPr>
            <p:cNvSpPr/>
            <p:nvPr/>
          </p:nvSpPr>
          <p:spPr>
            <a:xfrm>
              <a:off x="749185" y="2527734"/>
              <a:ext cx="5284556" cy="638572"/>
            </a:xfrm>
            <a:prstGeom prst="roundRect">
              <a:avLst>
                <a:gd name="adj" fmla="val 8081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8" name="Text 21">
              <a:extLst>
                <a:ext uri="{FF2B5EF4-FFF2-40B4-BE49-F238E27FC236}">
                  <a16:creationId xmlns:a16="http://schemas.microsoft.com/office/drawing/2014/main" id="{C4D1ED42-6724-DDDE-2A93-7147BF3F148F}"/>
                </a:ext>
              </a:extLst>
            </p:cNvPr>
            <p:cNvSpPr/>
            <p:nvPr/>
          </p:nvSpPr>
          <p:spPr>
            <a:xfrm>
              <a:off x="896521" y="2712610"/>
              <a:ext cx="4989884" cy="2688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kern="0" spc="-19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tdNome.textContent</a:t>
              </a:r>
              <a:r>
                <a:rPr lang="en-US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= </a:t>
              </a:r>
              <a:r>
                <a:rPr lang="en-US" kern="0" spc="-19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produto.nome</a:t>
              </a:r>
              <a:r>
                <a:rPr lang="en-US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	</a:t>
              </a:r>
              <a:endParaRPr lang="en-US" dirty="0"/>
            </a:p>
          </p:txBody>
        </p:sp>
      </p:grpSp>
      <p:sp>
        <p:nvSpPr>
          <p:cNvPr id="10" name="Espaço Reservado para Conteúdo 5">
            <a:extLst>
              <a:ext uri="{FF2B5EF4-FFF2-40B4-BE49-F238E27FC236}">
                <a16:creationId xmlns:a16="http://schemas.microsoft.com/office/drawing/2014/main" id="{D7F8D6B8-02BF-737F-9D68-366A92142C61}"/>
              </a:ext>
            </a:extLst>
          </p:cNvPr>
          <p:cNvSpPr txBox="1">
            <a:spLocks/>
          </p:cNvSpPr>
          <p:nvPr/>
        </p:nvSpPr>
        <p:spPr>
          <a:xfrm>
            <a:off x="592347" y="3320654"/>
            <a:ext cx="8189344" cy="366590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pt-BR" sz="1600" dirty="0"/>
              <a:t>Sintaxe:</a:t>
            </a:r>
          </a:p>
        </p:txBody>
      </p:sp>
      <p:grpSp>
        <p:nvGrpSpPr>
          <p:cNvPr id="11" name="Agrupar 10">
            <a:extLst>
              <a:ext uri="{FF2B5EF4-FFF2-40B4-BE49-F238E27FC236}">
                <a16:creationId xmlns:a16="http://schemas.microsoft.com/office/drawing/2014/main" id="{062A48D2-A59A-8D22-9A25-98F163DF1C4D}"/>
              </a:ext>
            </a:extLst>
          </p:cNvPr>
          <p:cNvGrpSpPr/>
          <p:nvPr/>
        </p:nvGrpSpPr>
        <p:grpSpPr>
          <a:xfrm>
            <a:off x="749184" y="4008024"/>
            <a:ext cx="8907433" cy="638572"/>
            <a:chOff x="749185" y="2527734"/>
            <a:chExt cx="5284556" cy="638572"/>
          </a:xfrm>
        </p:grpSpPr>
        <p:sp>
          <p:nvSpPr>
            <p:cNvPr id="12" name="Shape 20">
              <a:extLst>
                <a:ext uri="{FF2B5EF4-FFF2-40B4-BE49-F238E27FC236}">
                  <a16:creationId xmlns:a16="http://schemas.microsoft.com/office/drawing/2014/main" id="{CE0132AC-6070-9186-0C54-9A2D76DCFAB6}"/>
                </a:ext>
              </a:extLst>
            </p:cNvPr>
            <p:cNvSpPr/>
            <p:nvPr/>
          </p:nvSpPr>
          <p:spPr>
            <a:xfrm>
              <a:off x="749185" y="2527734"/>
              <a:ext cx="5284556" cy="638572"/>
            </a:xfrm>
            <a:prstGeom prst="roundRect">
              <a:avLst>
                <a:gd name="adj" fmla="val 8081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13" name="Text 21">
              <a:extLst>
                <a:ext uri="{FF2B5EF4-FFF2-40B4-BE49-F238E27FC236}">
                  <a16:creationId xmlns:a16="http://schemas.microsoft.com/office/drawing/2014/main" id="{D40A0AAA-746D-A802-D5F4-5EDD767EBDF2}"/>
                </a:ext>
              </a:extLst>
            </p:cNvPr>
            <p:cNvSpPr/>
            <p:nvPr/>
          </p:nvSpPr>
          <p:spPr>
            <a:xfrm>
              <a:off x="896521" y="2712610"/>
              <a:ext cx="4989884" cy="2688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r>
                <a:rPr lang="en-US" kern="0" spc="-19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variavel.textContent</a:t>
              </a:r>
              <a:r>
                <a:rPr lang="en-US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= </a:t>
              </a:r>
              <a:r>
                <a:rPr lang="en-US" kern="0" spc="-19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produto.nome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623530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04A92C-9604-81A4-AB55-6A35E8822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37DFEF-536B-24E9-7409-FD18BB435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o botão de editar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983BC96-4734-4F4E-9FB2-FEAFB82169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074988"/>
          </a:xfrm>
        </p:spPr>
        <p:txBody>
          <a:bodyPr/>
          <a:lstStyle/>
          <a:p>
            <a:r>
              <a:rPr lang="pt-BR" dirty="0"/>
              <a:t>Para criar o botão de editar, precisamos primeiro criar o elemento botão, adicionar um </a:t>
            </a:r>
            <a:r>
              <a:rPr lang="pt-BR" dirty="0" err="1"/>
              <a:t>style</a:t>
            </a:r>
            <a:r>
              <a:rPr lang="pt-BR" dirty="0"/>
              <a:t> </a:t>
            </a:r>
            <a:r>
              <a:rPr lang="pt-BR" dirty="0" err="1"/>
              <a:t>css</a:t>
            </a:r>
            <a:r>
              <a:rPr lang="pt-BR" dirty="0"/>
              <a:t> e por fim adicionar a função responsável por fazer a edição do botão.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3A2F1A9-DFC3-61B2-34BE-D52580D9AC93}"/>
              </a:ext>
            </a:extLst>
          </p:cNvPr>
          <p:cNvSpPr txBox="1"/>
          <p:nvPr/>
        </p:nvSpPr>
        <p:spPr>
          <a:xfrm>
            <a:off x="1878226" y="3429000"/>
            <a:ext cx="8435547" cy="2657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50"/>
              </a:lnSpc>
              <a:buNone/>
            </a:pPr>
            <a:r>
              <a:rPr lang="pt-B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BOTÃO EDITAR</a:t>
            </a:r>
            <a:endParaRPr lang="pt-B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950"/>
              </a:lnSpc>
              <a:buNone/>
            </a:pPr>
            <a:r>
              <a:rPr lang="pt-BR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botaoEditar</a:t>
            </a: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pt-B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document.createElement</a:t>
            </a: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pt-B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950"/>
              </a:lnSpc>
              <a:buNone/>
            </a:pPr>
            <a:endParaRPr lang="pt-B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950"/>
              </a:lnSpc>
              <a:buNone/>
            </a:pPr>
            <a:r>
              <a:rPr lang="pt-B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botaoEditar.textContent</a:t>
            </a: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pt-B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"Editar"</a:t>
            </a:r>
            <a:b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pt-B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950"/>
              </a:lnSpc>
              <a:buNone/>
            </a:pPr>
            <a:r>
              <a:rPr lang="pt-B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botaoEditar.classList.add</a:t>
            </a: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btn</a:t>
            </a:r>
            <a:r>
              <a:rPr lang="pt-B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btn-warning</a:t>
            </a:r>
            <a:r>
              <a:rPr lang="pt-B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btn-sm</a:t>
            </a:r>
            <a:r>
              <a:rPr lang="pt-B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"me-2"</a:t>
            </a: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950"/>
              </a:lnSpc>
              <a:buNone/>
            </a:pPr>
            <a:endParaRPr lang="pt-B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950"/>
              </a:lnSpc>
              <a:buNone/>
            </a:pPr>
            <a:r>
              <a:rPr lang="pt-B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botaoEditar.addEventListener</a:t>
            </a: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"click"</a:t>
            </a: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async</a:t>
            </a: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() </a:t>
            </a:r>
            <a:r>
              <a:rPr lang="pt-B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950"/>
              </a:lnSpc>
              <a:buNone/>
            </a:pP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editarProduto</a:t>
            </a: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(produto)</a:t>
            </a:r>
          </a:p>
          <a:p>
            <a:pPr>
              <a:lnSpc>
                <a:spcPts val="1950"/>
              </a:lnSpc>
              <a:buNone/>
            </a:pP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</a:t>
            </a:r>
          </a:p>
        </p:txBody>
      </p:sp>
    </p:spTree>
    <p:extLst>
      <p:ext uri="{BB962C8B-B14F-4D97-AF65-F5344CB8AC3E}">
        <p14:creationId xmlns:p14="http://schemas.microsoft.com/office/powerpoint/2010/main" val="2982048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65411-EAB1-0837-7135-8D58E9178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A27600-ED78-92C0-7537-2F0E50A2D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o botão de excluir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9C7F75B-EB40-AF4C-C74E-716CDEB559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074988"/>
          </a:xfrm>
        </p:spPr>
        <p:txBody>
          <a:bodyPr/>
          <a:lstStyle/>
          <a:p>
            <a:r>
              <a:rPr lang="pt-BR" dirty="0"/>
              <a:t>Para criar o botão de excluir, precisamos primeiro criar o elemento botão, adicionar um </a:t>
            </a:r>
            <a:r>
              <a:rPr lang="pt-BR" dirty="0" err="1"/>
              <a:t>style</a:t>
            </a:r>
            <a:r>
              <a:rPr lang="pt-BR" dirty="0"/>
              <a:t> </a:t>
            </a:r>
            <a:r>
              <a:rPr lang="pt-BR" dirty="0" err="1"/>
              <a:t>css</a:t>
            </a:r>
            <a:r>
              <a:rPr lang="pt-BR" dirty="0"/>
              <a:t> e por fim adicionar a função responsável por fazer a edição do botão.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42EBC23C-57D5-20D4-81B5-A62208235D98}"/>
              </a:ext>
            </a:extLst>
          </p:cNvPr>
          <p:cNvSpPr txBox="1"/>
          <p:nvPr/>
        </p:nvSpPr>
        <p:spPr>
          <a:xfrm>
            <a:off x="2346546" y="3199749"/>
            <a:ext cx="7498907" cy="30198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50"/>
              </a:lnSpc>
              <a:buNone/>
            </a:pPr>
            <a:r>
              <a:rPr lang="pt-B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BOTÃO EXCLUIR</a:t>
            </a:r>
            <a:endParaRPr lang="pt-B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950"/>
              </a:lnSpc>
              <a:buNone/>
            </a:pPr>
            <a:r>
              <a:rPr lang="pt-BR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botaoExcluir</a:t>
            </a: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pt-B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document.createElement</a:t>
            </a: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pt-B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950"/>
              </a:lnSpc>
              <a:buNone/>
            </a:pPr>
            <a:endParaRPr lang="pt-B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950"/>
              </a:lnSpc>
              <a:buNone/>
            </a:pPr>
            <a:r>
              <a:rPr lang="pt-B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botaoExcluir.textContent</a:t>
            </a: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pt-B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"Excluir"</a:t>
            </a:r>
            <a:endParaRPr lang="pt-B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950"/>
              </a:lnSpc>
              <a:buNone/>
            </a:pPr>
            <a:endParaRPr lang="pt-B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950"/>
              </a:lnSpc>
              <a:buNone/>
            </a:pPr>
            <a:r>
              <a:rPr lang="pt-B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botaoExcluir.classList.add</a:t>
            </a: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btn</a:t>
            </a:r>
            <a:r>
              <a:rPr lang="pt-B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btn-danger</a:t>
            </a:r>
            <a:r>
              <a:rPr lang="pt-B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btn-sm</a:t>
            </a:r>
            <a:r>
              <a:rPr lang="pt-B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950"/>
              </a:lnSpc>
              <a:buNone/>
            </a:pPr>
            <a:b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pt-B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950"/>
              </a:lnSpc>
              <a:buNone/>
            </a:pPr>
            <a:r>
              <a:rPr lang="pt-B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botaoExcluir.addEventListener</a:t>
            </a: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"click"</a:t>
            </a: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async</a:t>
            </a: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() </a:t>
            </a:r>
            <a:r>
              <a:rPr lang="pt-B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950"/>
              </a:lnSpc>
              <a:buNone/>
            </a:pP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  </a:t>
            </a:r>
            <a:r>
              <a:rPr lang="pt-BR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excluirProduto</a:t>
            </a: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(produto.id)</a:t>
            </a:r>
          </a:p>
          <a:p>
            <a:pPr>
              <a:lnSpc>
                <a:spcPts val="1950"/>
              </a:lnSpc>
              <a:buNone/>
            </a:pP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</a:t>
            </a:r>
          </a:p>
        </p:txBody>
      </p:sp>
    </p:spTree>
    <p:extLst>
      <p:ext uri="{BB962C8B-B14F-4D97-AF65-F5344CB8AC3E}">
        <p14:creationId xmlns:p14="http://schemas.microsoft.com/office/powerpoint/2010/main" val="14880689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59C8B-9B64-058A-DE34-061193F04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C03748-B3FE-5A75-07F2-4B31CC896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Adicionando as células nas colunas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E1407A3-C4DA-6769-E2AC-5371461DD9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155199"/>
          </a:xfrm>
        </p:spPr>
        <p:txBody>
          <a:bodyPr/>
          <a:lstStyle/>
          <a:p>
            <a:r>
              <a:rPr lang="pt-BR" dirty="0"/>
              <a:t>Por fim devemos adicionar as </a:t>
            </a:r>
            <a:r>
              <a:rPr lang="pt-BR" dirty="0" err="1"/>
              <a:t>tag</a:t>
            </a:r>
            <a:r>
              <a:rPr lang="pt-BR" dirty="0"/>
              <a:t> filhas dentro das </a:t>
            </a:r>
            <a:r>
              <a:rPr lang="pt-BR" dirty="0" err="1"/>
              <a:t>tags</a:t>
            </a:r>
            <a:r>
              <a:rPr lang="pt-BR" dirty="0"/>
              <a:t> pais, </a:t>
            </a:r>
            <a:r>
              <a:rPr lang="pt-BR" dirty="0" err="1"/>
              <a:t>tbody</a:t>
            </a:r>
            <a:r>
              <a:rPr lang="pt-BR" dirty="0"/>
              <a:t> &gt; </a:t>
            </a:r>
            <a:r>
              <a:rPr lang="pt-BR" dirty="0" err="1"/>
              <a:t>tr</a:t>
            </a:r>
            <a:r>
              <a:rPr lang="pt-BR" dirty="0"/>
              <a:t> &gt; </a:t>
            </a:r>
            <a:r>
              <a:rPr lang="pt-BR" dirty="0" err="1"/>
              <a:t>td</a:t>
            </a:r>
            <a:r>
              <a:rPr lang="pt-BR" dirty="0"/>
              <a:t>, para isso devemos utilizar o </a:t>
            </a:r>
            <a:r>
              <a:rPr lang="pt-BR" sz="1800" kern="0" spc="-19" dirty="0" err="1">
                <a:solidFill>
                  <a:srgbClr val="D73A49"/>
                </a:solidFill>
                <a:latin typeface="Consolas" pitchFamily="34" charset="0"/>
              </a:rPr>
              <a:t>appendChild</a:t>
            </a:r>
            <a:r>
              <a:rPr lang="pt-BR" sz="1800" kern="0" spc="-19" dirty="0">
                <a:solidFill>
                  <a:srgbClr val="D73A49"/>
                </a:solidFill>
                <a:latin typeface="Consolas" pitchFamily="34" charset="0"/>
              </a:rPr>
              <a:t>()</a:t>
            </a:r>
            <a:r>
              <a:rPr lang="pt-BR" dirty="0"/>
              <a:t>.	</a:t>
            </a:r>
          </a:p>
        </p:txBody>
      </p:sp>
      <p:sp>
        <p:nvSpPr>
          <p:cNvPr id="5" name="Espaço Reservado para Conteúdo 5">
            <a:extLst>
              <a:ext uri="{FF2B5EF4-FFF2-40B4-BE49-F238E27FC236}">
                <a16:creationId xmlns:a16="http://schemas.microsoft.com/office/drawing/2014/main" id="{8BC496D7-1D18-2864-B668-BE9FD7000371}"/>
              </a:ext>
            </a:extLst>
          </p:cNvPr>
          <p:cNvSpPr txBox="1">
            <a:spLocks/>
          </p:cNvSpPr>
          <p:nvPr/>
        </p:nvSpPr>
        <p:spPr>
          <a:xfrm>
            <a:off x="592347" y="4967376"/>
            <a:ext cx="5359879" cy="366590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pt-BR" sz="1600" dirty="0"/>
              <a:t>Exemplo:</a:t>
            </a:r>
          </a:p>
        </p:txBody>
      </p:sp>
      <p:grpSp>
        <p:nvGrpSpPr>
          <p:cNvPr id="6" name="Agrupar 5">
            <a:extLst>
              <a:ext uri="{FF2B5EF4-FFF2-40B4-BE49-F238E27FC236}">
                <a16:creationId xmlns:a16="http://schemas.microsoft.com/office/drawing/2014/main" id="{9BC394B3-A903-B554-42B9-9C5B04B0237A}"/>
              </a:ext>
            </a:extLst>
          </p:cNvPr>
          <p:cNvGrpSpPr/>
          <p:nvPr/>
        </p:nvGrpSpPr>
        <p:grpSpPr>
          <a:xfrm>
            <a:off x="749184" y="5654746"/>
            <a:ext cx="8907433" cy="638572"/>
            <a:chOff x="749185" y="2527734"/>
            <a:chExt cx="5284556" cy="638572"/>
          </a:xfrm>
        </p:grpSpPr>
        <p:sp>
          <p:nvSpPr>
            <p:cNvPr id="7" name="Shape 20">
              <a:extLst>
                <a:ext uri="{FF2B5EF4-FFF2-40B4-BE49-F238E27FC236}">
                  <a16:creationId xmlns:a16="http://schemas.microsoft.com/office/drawing/2014/main" id="{CD72BC75-58AF-193F-C5B6-AAB608FD901A}"/>
                </a:ext>
              </a:extLst>
            </p:cNvPr>
            <p:cNvSpPr/>
            <p:nvPr/>
          </p:nvSpPr>
          <p:spPr>
            <a:xfrm>
              <a:off x="749185" y="2527734"/>
              <a:ext cx="5284556" cy="638572"/>
            </a:xfrm>
            <a:prstGeom prst="roundRect">
              <a:avLst>
                <a:gd name="adj" fmla="val 8081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8" name="Text 21">
              <a:extLst>
                <a:ext uri="{FF2B5EF4-FFF2-40B4-BE49-F238E27FC236}">
                  <a16:creationId xmlns:a16="http://schemas.microsoft.com/office/drawing/2014/main" id="{29FD1182-1F14-030B-73C1-48D8B70AB029}"/>
                </a:ext>
              </a:extLst>
            </p:cNvPr>
            <p:cNvSpPr/>
            <p:nvPr/>
          </p:nvSpPr>
          <p:spPr>
            <a:xfrm>
              <a:off x="896521" y="2712610"/>
              <a:ext cx="4989884" cy="2688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</a:t>
              </a:r>
              <a:r>
                <a:rPr lang="en-US" kern="0" spc="-19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tr.appendChild</a:t>
              </a:r>
              <a:r>
                <a:rPr lang="en-US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(</a:t>
              </a:r>
              <a:r>
                <a:rPr lang="en-US" kern="0" spc="-19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tdAcoes</a:t>
              </a:r>
              <a:r>
                <a:rPr lang="en-US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)</a:t>
              </a:r>
              <a:endParaRPr lang="en-US" dirty="0"/>
            </a:p>
          </p:txBody>
        </p:sp>
      </p:grpSp>
      <p:sp>
        <p:nvSpPr>
          <p:cNvPr id="10" name="Espaço Reservado para Conteúdo 5">
            <a:extLst>
              <a:ext uri="{FF2B5EF4-FFF2-40B4-BE49-F238E27FC236}">
                <a16:creationId xmlns:a16="http://schemas.microsoft.com/office/drawing/2014/main" id="{36AF3A33-C816-E8BB-1506-18EBF065D805}"/>
              </a:ext>
            </a:extLst>
          </p:cNvPr>
          <p:cNvSpPr txBox="1">
            <a:spLocks/>
          </p:cNvSpPr>
          <p:nvPr/>
        </p:nvSpPr>
        <p:spPr>
          <a:xfrm>
            <a:off x="592347" y="3320654"/>
            <a:ext cx="8189344" cy="366590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pt-BR" sz="1600" dirty="0"/>
              <a:t>Sintaxe:</a:t>
            </a:r>
          </a:p>
        </p:txBody>
      </p:sp>
      <p:grpSp>
        <p:nvGrpSpPr>
          <p:cNvPr id="11" name="Agrupar 10">
            <a:extLst>
              <a:ext uri="{FF2B5EF4-FFF2-40B4-BE49-F238E27FC236}">
                <a16:creationId xmlns:a16="http://schemas.microsoft.com/office/drawing/2014/main" id="{8F07803E-551B-3418-319F-46D89A4488DD}"/>
              </a:ext>
            </a:extLst>
          </p:cNvPr>
          <p:cNvGrpSpPr/>
          <p:nvPr/>
        </p:nvGrpSpPr>
        <p:grpSpPr>
          <a:xfrm>
            <a:off x="749184" y="4008024"/>
            <a:ext cx="8907433" cy="638572"/>
            <a:chOff x="749185" y="2527734"/>
            <a:chExt cx="5284556" cy="638572"/>
          </a:xfrm>
        </p:grpSpPr>
        <p:sp>
          <p:nvSpPr>
            <p:cNvPr id="12" name="Shape 20">
              <a:extLst>
                <a:ext uri="{FF2B5EF4-FFF2-40B4-BE49-F238E27FC236}">
                  <a16:creationId xmlns:a16="http://schemas.microsoft.com/office/drawing/2014/main" id="{76866694-27FE-B835-FDB0-D569EF59E333}"/>
                </a:ext>
              </a:extLst>
            </p:cNvPr>
            <p:cNvSpPr/>
            <p:nvPr/>
          </p:nvSpPr>
          <p:spPr>
            <a:xfrm>
              <a:off x="749185" y="2527734"/>
              <a:ext cx="5284556" cy="638572"/>
            </a:xfrm>
            <a:prstGeom prst="roundRect">
              <a:avLst>
                <a:gd name="adj" fmla="val 8081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13" name="Text 21">
              <a:extLst>
                <a:ext uri="{FF2B5EF4-FFF2-40B4-BE49-F238E27FC236}">
                  <a16:creationId xmlns:a16="http://schemas.microsoft.com/office/drawing/2014/main" id="{BB61A435-1458-DF1D-EB02-83B84886875D}"/>
                </a:ext>
              </a:extLst>
            </p:cNvPr>
            <p:cNvSpPr/>
            <p:nvPr/>
          </p:nvSpPr>
          <p:spPr>
            <a:xfrm>
              <a:off x="896521" y="2712610"/>
              <a:ext cx="4989884" cy="2688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r>
                <a:rPr lang="en-US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</a:t>
              </a:r>
              <a:r>
                <a:rPr lang="en-US" kern="0" spc="-19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tagPai.appendChild</a:t>
              </a:r>
              <a:r>
                <a:rPr lang="en-US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(</a:t>
              </a:r>
              <a:r>
                <a:rPr lang="en-US" kern="0" spc="-19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tagFilha</a:t>
              </a:r>
              <a:r>
                <a:rPr lang="en-US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)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61335405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261</TotalTime>
  <Words>1568</Words>
  <Application>Microsoft Office PowerPoint</Application>
  <PresentationFormat>Widescreen</PresentationFormat>
  <Paragraphs>195</Paragraphs>
  <Slides>30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30</vt:i4>
      </vt:variant>
    </vt:vector>
  </HeadingPairs>
  <TitlesOfParts>
    <vt:vector size="34" baseType="lpstr">
      <vt:lpstr>Arial</vt:lpstr>
      <vt:lpstr>Consolas</vt:lpstr>
      <vt:lpstr>Times New Roman</vt:lpstr>
      <vt:lpstr>Tema do Office</vt:lpstr>
      <vt:lpstr>Implementando CRUD com requisições HTTP</vt:lpstr>
      <vt:lpstr>Como mostrar os equipamentos registrados</vt:lpstr>
      <vt:lpstr>O que é uma API ?</vt:lpstr>
      <vt:lpstr>Exemplo com o mundo real</vt:lpstr>
      <vt:lpstr>O que são GET, POST, PUT e DELETE?</vt:lpstr>
      <vt:lpstr>O que é JSON?</vt:lpstr>
      <vt:lpstr>JSON-Server</vt:lpstr>
      <vt:lpstr>Como instalar o JSON-Server</vt:lpstr>
      <vt:lpstr>Instalar o JSON Server</vt:lpstr>
      <vt:lpstr>Criar o projeto</vt:lpstr>
      <vt:lpstr>Configuração do package.json</vt:lpstr>
      <vt:lpstr>Configuração inicial do db.json</vt:lpstr>
      <vt:lpstr>Iniciando o projeto</vt:lpstr>
      <vt:lpstr>Método GET</vt:lpstr>
      <vt:lpstr>Método GET</vt:lpstr>
      <vt:lpstr>Criando o Método GET no nosso programa</vt:lpstr>
      <vt:lpstr>Criando o Método GET no nosso programa</vt:lpstr>
      <vt:lpstr>Criando o Método GET no nosso programa</vt:lpstr>
      <vt:lpstr>Criando o Método GET no nosso programa</vt:lpstr>
      <vt:lpstr>Validando produto no estoque</vt:lpstr>
      <vt:lpstr>Função JS – Verifica Produto</vt:lpstr>
      <vt:lpstr>Adicionar produtos a tabela</vt:lpstr>
      <vt:lpstr>Criando a função Listar Produtos</vt:lpstr>
      <vt:lpstr>Criando a função Listar Produtos</vt:lpstr>
      <vt:lpstr>Percorrendo a lista</vt:lpstr>
      <vt:lpstr>Criando os elementos na tabela</vt:lpstr>
      <vt:lpstr>Adicionando valores nas células </vt:lpstr>
      <vt:lpstr>Criando o botão de editar </vt:lpstr>
      <vt:lpstr>Criando o botão de excluir </vt:lpstr>
      <vt:lpstr>Adicionando as células nas colunas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Lucas Tadeu Monteiro Guedes Fernandes Salomao</dc:creator>
  <cp:lastModifiedBy>Pedro Miho</cp:lastModifiedBy>
  <cp:revision>33</cp:revision>
  <dcterms:created xsi:type="dcterms:W3CDTF">2024-03-08T12:14:33Z</dcterms:created>
  <dcterms:modified xsi:type="dcterms:W3CDTF">2026-09-02T23:59:25Z</dcterms:modified>
</cp:coreProperties>
</file>