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70" r:id="rId8"/>
    <p:sldId id="264" r:id="rId9"/>
    <p:sldId id="275" r:id="rId10"/>
    <p:sldId id="276" r:id="rId11"/>
    <p:sldId id="277" r:id="rId12"/>
    <p:sldId id="279" r:id="rId13"/>
    <p:sldId id="278" r:id="rId14"/>
    <p:sldId id="280" r:id="rId15"/>
    <p:sldId id="272" r:id="rId16"/>
    <p:sldId id="273" r:id="rId17"/>
    <p:sldId id="281" r:id="rId18"/>
    <p:sldId id="282" r:id="rId19"/>
    <p:sldId id="283" r:id="rId20"/>
    <p:sldId id="284" r:id="rId21"/>
    <p:sldId id="285" r:id="rId22"/>
    <p:sldId id="286" r:id="rId23"/>
    <p:sldId id="261" r:id="rId24"/>
    <p:sldId id="262" r:id="rId25"/>
    <p:sldId id="263" r:id="rId26"/>
    <p:sldId id="265" r:id="rId27"/>
    <p:sldId id="267" r:id="rId28"/>
    <p:sldId id="266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F2F2F2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2536"/>
            <a:ext cx="9144000" cy="1828727"/>
          </a:xfrm>
        </p:spPr>
        <p:txBody>
          <a:bodyPr/>
          <a:lstStyle/>
          <a:p>
            <a:r>
              <a:rPr lang="pt-BR" dirty="0"/>
              <a:t>Implementando CRUD com requisições HTTP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63485-508B-C1C3-3D4B-A556E489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mostrar os equipamentos registrados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FA6042-1511-7572-4085-62A1CE180370}"/>
              </a:ext>
            </a:extLst>
          </p:cNvPr>
          <p:cNvGrpSpPr/>
          <p:nvPr/>
        </p:nvGrpSpPr>
        <p:grpSpPr>
          <a:xfrm>
            <a:off x="749185" y="2320507"/>
            <a:ext cx="5139781" cy="3579557"/>
            <a:chOff x="499019" y="2135911"/>
            <a:chExt cx="4408828" cy="310580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7FB28246-6AAC-BB49-8A97-48DB955BA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9019" y="2135911"/>
              <a:ext cx="3240000" cy="1752245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9DCCF41-6E4C-4CA0-7BE0-B7740FA1D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7847" y="3292934"/>
              <a:ext cx="3240000" cy="1948782"/>
            </a:xfrm>
            <a:prstGeom prst="rect">
              <a:avLst/>
            </a:prstGeom>
          </p:spPr>
        </p:pic>
      </p:grp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E381279-5B1B-AEB3-F1F7-6FE4EF9399D2}"/>
              </a:ext>
            </a:extLst>
          </p:cNvPr>
          <p:cNvCxnSpPr>
            <a:cxnSpLocks/>
          </p:cNvCxnSpPr>
          <p:nvPr/>
        </p:nvCxnSpPr>
        <p:spPr>
          <a:xfrm>
            <a:off x="6029864" y="3899139"/>
            <a:ext cx="11875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68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API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9BF02-7583-49C1-ABA2-9069727D5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9783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API (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Interface, ou Interface de Programação de Aplicações) é um conjunto de regras e definições que permite que diferentes sistemas e aplicações se comuniquem entre si.</a:t>
            </a:r>
          </a:p>
          <a:p>
            <a:pPr>
              <a:spcBef>
                <a:spcPts val="0"/>
              </a:spcBef>
            </a:pPr>
            <a:r>
              <a:rPr lang="pt-BR" dirty="0"/>
              <a:t>Ela funciona como um intermediário que recebe uma solicitação (</a:t>
            </a:r>
            <a:r>
              <a:rPr lang="pt-BR" dirty="0" err="1"/>
              <a:t>request</a:t>
            </a:r>
            <a:r>
              <a:rPr lang="pt-BR" dirty="0"/>
              <a:t>), processa essa solicitação e retorna uma resposta (response).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402" y="4622379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600" y="4622379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002" y="4622379"/>
            <a:ext cx="1080000" cy="108000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22AF104-2538-4BC5-9615-9E6115FFBCF8}"/>
              </a:ext>
            </a:extLst>
          </p:cNvPr>
          <p:cNvCxnSpPr>
            <a:cxnSpLocks/>
          </p:cNvCxnSpPr>
          <p:nvPr/>
        </p:nvCxnSpPr>
        <p:spPr>
          <a:xfrm>
            <a:off x="32077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4CBF28F-36D2-48EA-96BF-E50483F6A8B3}"/>
              </a:ext>
            </a:extLst>
          </p:cNvPr>
          <p:cNvCxnSpPr>
            <a:cxnSpLocks/>
          </p:cNvCxnSpPr>
          <p:nvPr/>
        </p:nvCxnSpPr>
        <p:spPr>
          <a:xfrm>
            <a:off x="64643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12B63D-245E-4FE5-8C4E-6AF242C59C49}"/>
              </a:ext>
            </a:extLst>
          </p:cNvPr>
          <p:cNvCxnSpPr>
            <a:cxnSpLocks/>
          </p:cNvCxnSpPr>
          <p:nvPr/>
        </p:nvCxnSpPr>
        <p:spPr>
          <a:xfrm flipH="1">
            <a:off x="32077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65F895A-F8F6-43E4-9E3E-79FF545CA042}"/>
              </a:ext>
            </a:extLst>
          </p:cNvPr>
          <p:cNvCxnSpPr>
            <a:cxnSpLocks/>
          </p:cNvCxnSpPr>
          <p:nvPr/>
        </p:nvCxnSpPr>
        <p:spPr>
          <a:xfrm flipH="1">
            <a:off x="64643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CA2DDDCF-DA35-42DE-B3C0-64207E632297}"/>
              </a:ext>
            </a:extLst>
          </p:cNvPr>
          <p:cNvSpPr/>
          <p:nvPr/>
        </p:nvSpPr>
        <p:spPr>
          <a:xfrm>
            <a:off x="37719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4D5C7F8-046F-4CD0-B826-D31D7F3903F9}"/>
              </a:ext>
            </a:extLst>
          </p:cNvPr>
          <p:cNvSpPr/>
          <p:nvPr/>
        </p:nvSpPr>
        <p:spPr>
          <a:xfrm>
            <a:off x="70285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056D9D-3A95-449C-8D3F-73221A463C39}"/>
              </a:ext>
            </a:extLst>
          </p:cNvPr>
          <p:cNvSpPr/>
          <p:nvPr/>
        </p:nvSpPr>
        <p:spPr>
          <a:xfrm>
            <a:off x="3771945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0AEF8D3-EA9C-42AD-8EB4-D296ADFE0F06}"/>
              </a:ext>
            </a:extLst>
          </p:cNvPr>
          <p:cNvSpPr/>
          <p:nvPr/>
        </p:nvSpPr>
        <p:spPr>
          <a:xfrm>
            <a:off x="7002897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8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 o mundo real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2521168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2521168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2521168"/>
            <a:ext cx="1080000" cy="1080000"/>
          </a:xfrm>
          <a:prstGeom prst="rect">
            <a:avLst/>
          </a:prstGeom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5A1C4F2-D6F1-45A3-84DE-369E348D11D1}"/>
              </a:ext>
            </a:extLst>
          </p:cNvPr>
          <p:cNvGrpSpPr/>
          <p:nvPr/>
        </p:nvGrpSpPr>
        <p:grpSpPr>
          <a:xfrm>
            <a:off x="3477667" y="2504994"/>
            <a:ext cx="1980000" cy="1115054"/>
            <a:chOff x="3477668" y="2089427"/>
            <a:chExt cx="1980000" cy="1115054"/>
          </a:xfrm>
        </p:grpSpPr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E22AF104-2538-4BC5-9615-9E6115FFBCF8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3312B63D-245E-4FE5-8C4E-6AF242C59C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A2DDDCF-DA35-42DE-B3C0-64207E632297}"/>
                </a:ext>
              </a:extLst>
            </p:cNvPr>
            <p:cNvSpPr/>
            <p:nvPr/>
          </p:nvSpPr>
          <p:spPr>
            <a:xfrm>
              <a:off x="40419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58056D9D-3A95-449C-8D3F-73221A463C39}"/>
                </a:ext>
              </a:extLst>
            </p:cNvPr>
            <p:cNvSpPr/>
            <p:nvPr/>
          </p:nvSpPr>
          <p:spPr>
            <a:xfrm>
              <a:off x="3971379" y="2835149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A600B1E-C020-4E5C-A226-F46501157864}"/>
              </a:ext>
            </a:extLst>
          </p:cNvPr>
          <p:cNvGrpSpPr/>
          <p:nvPr/>
        </p:nvGrpSpPr>
        <p:grpSpPr>
          <a:xfrm>
            <a:off x="6734265" y="2504994"/>
            <a:ext cx="1980000" cy="1115054"/>
            <a:chOff x="6734268" y="2089427"/>
            <a:chExt cx="1980000" cy="1115054"/>
          </a:xfrm>
        </p:grpSpPr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14CBF28F-36D2-48EA-96BF-E50483F6A8B3}"/>
                </a:ext>
              </a:extLst>
            </p:cNvPr>
            <p:cNvCxnSpPr>
              <a:cxnSpLocks/>
            </p:cNvCxnSpPr>
            <p:nvPr/>
          </p:nvCxnSpPr>
          <p:spPr>
            <a:xfrm>
              <a:off x="67342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C65F895A-F8F6-43E4-9E3E-79FF545CA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2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74D5C7F8-046F-4CD0-B826-D31D7F3903F9}"/>
                </a:ext>
              </a:extLst>
            </p:cNvPr>
            <p:cNvSpPr/>
            <p:nvPr/>
          </p:nvSpPr>
          <p:spPr>
            <a:xfrm>
              <a:off x="72985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70AEF8D3-EA9C-42AD-8EB4-D296ADFE0F06}"/>
                </a:ext>
              </a:extLst>
            </p:cNvPr>
            <p:cNvSpPr/>
            <p:nvPr/>
          </p:nvSpPr>
          <p:spPr>
            <a:xfrm>
              <a:off x="7272863" y="2835149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D738ADD-39E2-47D0-BE88-E3CA3EF34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4454009"/>
            <a:ext cx="1080000" cy="108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784BB9-E261-4801-B8B1-615F8EBEA9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4454009"/>
            <a:ext cx="1080000" cy="108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C14F329-561C-42C4-9E8D-2DDB1E60A9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4454009"/>
            <a:ext cx="1080000" cy="1080000"/>
          </a:xfrm>
          <a:prstGeom prst="rect">
            <a:avLst/>
          </a:prstGeom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F2C79CE-06FE-4CD6-9ADC-E8BA6B79D26F}"/>
              </a:ext>
            </a:extLst>
          </p:cNvPr>
          <p:cNvGrpSpPr/>
          <p:nvPr/>
        </p:nvGrpSpPr>
        <p:grpSpPr>
          <a:xfrm>
            <a:off x="3477667" y="4478075"/>
            <a:ext cx="1980000" cy="1115054"/>
            <a:chOff x="3477668" y="4788155"/>
            <a:chExt cx="1980000" cy="1115054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38C5F1E2-CD4C-4837-9917-FC9030EE1752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90577E20-0B9A-43F2-BFA4-78C0315C8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41143AFF-11C6-4F48-9C19-19D6B0BEC295}"/>
                </a:ext>
              </a:extLst>
            </p:cNvPr>
            <p:cNvSpPr/>
            <p:nvPr/>
          </p:nvSpPr>
          <p:spPr>
            <a:xfrm>
              <a:off x="4041911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2B1EBE9-BFA5-4E97-BFCC-2B802F45D393}"/>
                </a:ext>
              </a:extLst>
            </p:cNvPr>
            <p:cNvSpPr/>
            <p:nvPr/>
          </p:nvSpPr>
          <p:spPr>
            <a:xfrm>
              <a:off x="3971379" y="5533877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298BC37-51BC-4243-BD52-0A05AC90507A}"/>
              </a:ext>
            </a:extLst>
          </p:cNvPr>
          <p:cNvGrpSpPr/>
          <p:nvPr/>
        </p:nvGrpSpPr>
        <p:grpSpPr>
          <a:xfrm>
            <a:off x="6734265" y="4478075"/>
            <a:ext cx="1980000" cy="1115054"/>
            <a:chOff x="6832566" y="4788155"/>
            <a:chExt cx="1980000" cy="1115054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12B6D63E-7A2F-488C-AE78-4F4C6E6BEBD1}"/>
                </a:ext>
              </a:extLst>
            </p:cNvPr>
            <p:cNvCxnSpPr>
              <a:cxnSpLocks/>
            </p:cNvCxnSpPr>
            <p:nvPr/>
          </p:nvCxnSpPr>
          <p:spPr>
            <a:xfrm>
              <a:off x="6832566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464F244F-ECE2-4A1B-BEB5-6CF43160E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2566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F63735C2-FE40-4050-BD99-A2B775601892}"/>
                </a:ext>
              </a:extLst>
            </p:cNvPr>
            <p:cNvSpPr/>
            <p:nvPr/>
          </p:nvSpPr>
          <p:spPr>
            <a:xfrm>
              <a:off x="7396809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6B381306-6B39-4BB7-BA95-A85B4E61D15A}"/>
                </a:ext>
              </a:extLst>
            </p:cNvPr>
            <p:cNvSpPr/>
            <p:nvPr/>
          </p:nvSpPr>
          <p:spPr>
            <a:xfrm>
              <a:off x="7371161" y="5533877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025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C1BD2-1860-4128-A38E-31FF7B7D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GET, POST, PUT e DELETE?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64F687-2EB1-4898-AF95-B06854DA8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Essas palavras representam os métodos HTTP, que são usados para comunicação entre clientes (como navegadores ou aplicativos) e servidores. Cada um desses métodos define uma ação específica a ser realizada em um recurso da API.</a:t>
            </a:r>
          </a:p>
          <a:p>
            <a:pPr marL="1028700" lvl="1" indent="-342900"/>
            <a:r>
              <a:rPr lang="pt-BR" b="1" dirty="0"/>
              <a:t>GET  - </a:t>
            </a:r>
            <a:r>
              <a:rPr lang="pt-BR" dirty="0"/>
              <a:t>Busca dados em um servidor sem alterá-los, como ao consultar um CEP. </a:t>
            </a:r>
          </a:p>
          <a:p>
            <a:pPr marL="1028700" lvl="1" indent="-342900"/>
            <a:r>
              <a:rPr lang="pt-BR" b="1" dirty="0"/>
              <a:t>POST - </a:t>
            </a:r>
            <a:r>
              <a:rPr lang="pt-BR" dirty="0"/>
              <a:t>Envia informações para um servidor para criar um novo recurso, como cadastrar um usuário. </a:t>
            </a:r>
          </a:p>
          <a:p>
            <a:pPr marL="1028700" lvl="1" indent="-342900"/>
            <a:r>
              <a:rPr lang="pt-BR" b="1" dirty="0"/>
              <a:t>PUT - </a:t>
            </a:r>
            <a:r>
              <a:rPr lang="pt-BR" dirty="0"/>
              <a:t>Atualiza completamente um recurso existente, substituindo seus dados. </a:t>
            </a:r>
          </a:p>
          <a:p>
            <a:pPr marL="1028700" lvl="1" indent="-342900"/>
            <a:r>
              <a:rPr lang="pt-BR" b="1" dirty="0"/>
              <a:t>DELETE </a:t>
            </a:r>
            <a:r>
              <a:rPr lang="pt-BR" dirty="0"/>
              <a:t>- Remove um recurso de dentro de um servidor, como excluir uma conta. </a:t>
            </a:r>
          </a:p>
        </p:txBody>
      </p:sp>
    </p:spTree>
    <p:extLst>
      <p:ext uri="{BB962C8B-B14F-4D97-AF65-F5344CB8AC3E}">
        <p14:creationId xmlns:p14="http://schemas.microsoft.com/office/powerpoint/2010/main" val="338878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1D258-59A5-4810-A5FD-D0D7FB9E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JSON?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48151-6978-4E43-BCC0-D82A5D1D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JSON (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Notation</a:t>
            </a:r>
            <a:r>
              <a:rPr lang="pt-BR" dirty="0"/>
              <a:t>) é um formato leve para armazenar e transmitir dados, estruturado como um conjunto de pares chave: valor. Ele é amplamente utilizado para comunicação entre aplicações web e APIs, sendo usado em aplicações como: </a:t>
            </a:r>
          </a:p>
          <a:p>
            <a:pPr marL="1028700" lvl="1" indent="-342900"/>
            <a:r>
              <a:rPr lang="pt-BR" dirty="0"/>
              <a:t>Respostas de APIs (como </a:t>
            </a:r>
            <a:r>
              <a:rPr lang="pt-BR" dirty="0" err="1"/>
              <a:t>ViaCEP</a:t>
            </a:r>
            <a:r>
              <a:rPr lang="pt-BR" dirty="0"/>
              <a:t>, </a:t>
            </a:r>
            <a:r>
              <a:rPr lang="pt-BR" dirty="0" err="1"/>
              <a:t>OpenWeather</a:t>
            </a:r>
            <a:r>
              <a:rPr lang="pt-BR" dirty="0"/>
              <a:t>, etc.).</a:t>
            </a:r>
          </a:p>
          <a:p>
            <a:pPr marL="1028700" lvl="1" indent="-342900"/>
            <a:r>
              <a:rPr lang="pt-BR" dirty="0"/>
              <a:t>Armazenamento de configurações (ex.: </a:t>
            </a:r>
            <a:r>
              <a:rPr lang="pt-BR" dirty="0" err="1"/>
              <a:t>package.json</a:t>
            </a:r>
            <a:r>
              <a:rPr lang="pt-BR" dirty="0"/>
              <a:t> em projetos Node.js).</a:t>
            </a:r>
          </a:p>
          <a:p>
            <a:pPr marL="1028700" lvl="1" indent="-342900"/>
            <a:r>
              <a:rPr lang="pt-BR" dirty="0"/>
              <a:t>Troca de dados entre sistemas em aplicações web e móveis.</a:t>
            </a:r>
          </a:p>
        </p:txBody>
      </p:sp>
    </p:spTree>
    <p:extLst>
      <p:ext uri="{BB962C8B-B14F-4D97-AF65-F5344CB8AC3E}">
        <p14:creationId xmlns:p14="http://schemas.microsoft.com/office/powerpoint/2010/main" val="138336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53988-9CCA-5AF2-B6B9-ABB6C6CE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JSON-Server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B8CA1E-E052-2067-AEFD-99CB320D9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76495"/>
          </a:xfrm>
        </p:spPr>
        <p:txBody>
          <a:bodyPr/>
          <a:lstStyle/>
          <a:p>
            <a:r>
              <a:rPr lang="pt-BR" sz="1600" dirty="0"/>
              <a:t>O </a:t>
            </a:r>
            <a:r>
              <a:rPr lang="pt-BR" sz="1600" b="1" dirty="0"/>
              <a:t>JSON Server</a:t>
            </a:r>
            <a:r>
              <a:rPr lang="pt-BR" sz="1600" dirty="0"/>
              <a:t> é uma ferramenta que permite criar rapidamente uma API REST simulada a partir de um arquivo JSON. Ele funciona como um </a:t>
            </a:r>
            <a:r>
              <a:rPr lang="pt-BR" sz="1600" b="1" dirty="0" err="1"/>
              <a:t>back-end</a:t>
            </a:r>
            <a:r>
              <a:rPr lang="pt-BR" sz="1600" b="1" dirty="0"/>
              <a:t> fictício</a:t>
            </a:r>
            <a:r>
              <a:rPr lang="pt-BR" sz="1600" dirty="0"/>
              <a:t>, permitindo que o front-</a:t>
            </a:r>
            <a:r>
              <a:rPr lang="pt-BR" sz="1600" dirty="0" err="1"/>
              <a:t>end</a:t>
            </a:r>
            <a:r>
              <a:rPr lang="pt-BR" sz="1600" dirty="0"/>
              <a:t> faça requisições HTTP como GET, POST, PUT e DELETE. Nesta aula, vamos utilizá-lo para simular o gerenciamento de produtos da nossa loja sem precisar desenvolver um </a:t>
            </a:r>
            <a:r>
              <a:rPr lang="pt-BR" sz="1600" dirty="0" err="1"/>
              <a:t>back-end</a:t>
            </a:r>
            <a:r>
              <a:rPr lang="pt-BR" sz="1600" dirty="0"/>
              <a:t> real.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2D238A-61CA-655A-C7F3-B3A661791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29" y="4048044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33673A-93C4-C20D-4AEB-BB43A726A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827" y="4048044"/>
            <a:ext cx="1080000" cy="108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6E50033-9BD6-AC99-6276-FF74998AF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227" y="4048044"/>
            <a:ext cx="1080000" cy="1080000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1CC3EFD7-D5E6-D220-1304-BFDB624A12EE}"/>
              </a:ext>
            </a:extLst>
          </p:cNvPr>
          <p:cNvGrpSpPr/>
          <p:nvPr/>
        </p:nvGrpSpPr>
        <p:grpSpPr>
          <a:xfrm>
            <a:off x="2571928" y="4031870"/>
            <a:ext cx="1980000" cy="1115054"/>
            <a:chOff x="3477668" y="2089427"/>
            <a:chExt cx="1980000" cy="1115054"/>
          </a:xfrm>
        </p:grpSpPr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5E9777C-8DAE-4029-3839-2E0D60E9B4DF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BE7656D8-6F2D-073A-AFE4-7A7205BEA4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3FCD0A1-8C88-0612-F44B-9814F08A82F9}"/>
                </a:ext>
              </a:extLst>
            </p:cNvPr>
            <p:cNvSpPr/>
            <p:nvPr/>
          </p:nvSpPr>
          <p:spPr>
            <a:xfrm>
              <a:off x="40419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4B777FA-A4FB-213F-19F4-DD5160707D63}"/>
                </a:ext>
              </a:extLst>
            </p:cNvPr>
            <p:cNvSpPr/>
            <p:nvPr/>
          </p:nvSpPr>
          <p:spPr>
            <a:xfrm>
              <a:off x="3971379" y="2835149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9BA9B52-0D02-13F2-4D66-F2F26801D8BD}"/>
              </a:ext>
            </a:extLst>
          </p:cNvPr>
          <p:cNvGrpSpPr/>
          <p:nvPr/>
        </p:nvGrpSpPr>
        <p:grpSpPr>
          <a:xfrm>
            <a:off x="5828526" y="4031870"/>
            <a:ext cx="1980000" cy="1115054"/>
            <a:chOff x="6734268" y="2089427"/>
            <a:chExt cx="1980000" cy="1115054"/>
          </a:xfrm>
        </p:grpSpPr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6042E576-F89C-23B0-93BD-24915ED3C75E}"/>
                </a:ext>
              </a:extLst>
            </p:cNvPr>
            <p:cNvCxnSpPr>
              <a:cxnSpLocks/>
            </p:cNvCxnSpPr>
            <p:nvPr/>
          </p:nvCxnSpPr>
          <p:spPr>
            <a:xfrm>
              <a:off x="67342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2429B4CC-9FBF-0122-2B4F-34FCB0474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2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861BC04-FB6E-C1C0-0CDB-D0362C1B2E67}"/>
                </a:ext>
              </a:extLst>
            </p:cNvPr>
            <p:cNvSpPr/>
            <p:nvPr/>
          </p:nvSpPr>
          <p:spPr>
            <a:xfrm>
              <a:off x="72985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2F80BF28-B9E3-4AD2-9DD8-A21F2930DF6D}"/>
                </a:ext>
              </a:extLst>
            </p:cNvPr>
            <p:cNvSpPr/>
            <p:nvPr/>
          </p:nvSpPr>
          <p:spPr>
            <a:xfrm>
              <a:off x="7272863" y="2835149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35B6CCB1-7F4B-7812-2748-140008C80526}"/>
              </a:ext>
            </a:extLst>
          </p:cNvPr>
          <p:cNvSpPr/>
          <p:nvPr/>
        </p:nvSpPr>
        <p:spPr>
          <a:xfrm>
            <a:off x="9420884" y="4216536"/>
            <a:ext cx="13965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Server</a:t>
            </a:r>
          </a:p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db.json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6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69926-66C9-E8D9-E88F-DF83CCC3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instalar o JSON-Server</a:t>
            </a:r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B985A1DE-1C57-DBCF-90DE-766022BEF0FB}"/>
              </a:ext>
            </a:extLst>
          </p:cNvPr>
          <p:cNvSpPr txBox="1">
            <a:spLocks/>
          </p:cNvSpPr>
          <p:nvPr/>
        </p:nvSpPr>
        <p:spPr>
          <a:xfrm>
            <a:off x="592347" y="1890767"/>
            <a:ext cx="3815751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Verificar o Node.js: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FE8BC8B-B77C-EA18-385E-A8ADEC830A8A}"/>
              </a:ext>
            </a:extLst>
          </p:cNvPr>
          <p:cNvGrpSpPr/>
          <p:nvPr/>
        </p:nvGrpSpPr>
        <p:grpSpPr>
          <a:xfrm>
            <a:off x="749184" y="2456193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0792856E-ADEE-0B2B-C0D2-088D46F750EF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4FCB611-6168-027F-8F72-D032DAAE9404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node --version</a:t>
              </a:r>
              <a:endParaRPr lang="en-US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985975C-B049-A9C5-C7DE-8503FE04DD94}"/>
              </a:ext>
            </a:extLst>
          </p:cNvPr>
          <p:cNvGrpSpPr/>
          <p:nvPr/>
        </p:nvGrpSpPr>
        <p:grpSpPr>
          <a:xfrm>
            <a:off x="592347" y="3410557"/>
            <a:ext cx="9064270" cy="1203998"/>
            <a:chOff x="589474" y="3302621"/>
            <a:chExt cx="9064270" cy="1203998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247C2454-B9AB-204D-FAE4-B0C5692C5594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Verificar o Node.js: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6B80A611-6A3B-667C-AE87-0E8FC00F1226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89CC96E3-9D77-4CEB-CA67-F258C0EAA6CE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82079513-6889-2050-607D-74B0BBF86CDF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npm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--version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29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35EB-312D-3D0B-C028-05B5A6D3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0476-C401-6991-C8F0-6E2FD212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Instalar o JSON Server</a:t>
            </a:r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E5450F55-75C0-BD48-905F-E35037EA5776}"/>
              </a:ext>
            </a:extLst>
          </p:cNvPr>
          <p:cNvSpPr txBox="1">
            <a:spLocks/>
          </p:cNvSpPr>
          <p:nvPr/>
        </p:nvSpPr>
        <p:spPr>
          <a:xfrm>
            <a:off x="592347" y="1890767"/>
            <a:ext cx="3815751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Podemos instalar globalmente: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71A1586-54F2-96B5-8F0A-5A5E999BD6B7}"/>
              </a:ext>
            </a:extLst>
          </p:cNvPr>
          <p:cNvGrpSpPr/>
          <p:nvPr/>
        </p:nvGrpSpPr>
        <p:grpSpPr>
          <a:xfrm>
            <a:off x="749184" y="2456193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B1C448F4-6A99-7510-2237-AA8DF04EFB0A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57E4EE17-6A14-0BCD-0D70-19E4D8E5A736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npm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install -g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json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-server</a:t>
              </a:r>
              <a:endParaRPr lang="en-US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147B520-85D2-983D-A2CE-BB338031C2D7}"/>
              </a:ext>
            </a:extLst>
          </p:cNvPr>
          <p:cNvGrpSpPr/>
          <p:nvPr/>
        </p:nvGrpSpPr>
        <p:grpSpPr>
          <a:xfrm>
            <a:off x="592347" y="3410557"/>
            <a:ext cx="9064270" cy="1203998"/>
            <a:chOff x="589474" y="3302621"/>
            <a:chExt cx="9064270" cy="1203998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8434964C-FB74-6737-34DF-003AFA41F274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Depois verificamos: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DAD4CBD1-3A12-19AD-DC25-771641230CF1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FE6F9897-7F77-630E-1ED8-26AE63DB9D31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76C4C474-CB6C-49BC-C25C-ACEB7DD878DC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json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-server --version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600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740B-70C0-8485-A450-4585879F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72F83-FECB-AFCA-AD53-7A7F5FA1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o projeto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6832F4C-E25F-4917-82C9-763B1C3B2A50}"/>
              </a:ext>
            </a:extLst>
          </p:cNvPr>
          <p:cNvGrpSpPr/>
          <p:nvPr/>
        </p:nvGrpSpPr>
        <p:grpSpPr>
          <a:xfrm>
            <a:off x="1413954" y="1701522"/>
            <a:ext cx="4208253" cy="2754394"/>
            <a:chOff x="592347" y="1691931"/>
            <a:chExt cx="4208253" cy="2754394"/>
          </a:xfrm>
        </p:grpSpPr>
        <p:sp>
          <p:nvSpPr>
            <p:cNvPr id="4" name="Espaço Reservado para Conteúdo 5">
              <a:extLst>
                <a:ext uri="{FF2B5EF4-FFF2-40B4-BE49-F238E27FC236}">
                  <a16:creationId xmlns:a16="http://schemas.microsoft.com/office/drawing/2014/main" id="{3290F7B8-7F16-99CB-32B3-DFD2C0FCCBDF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69193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Dentro da pasta do projeto: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CC8B7FA4-5037-B67A-64A5-F1AA40011401}"/>
                </a:ext>
              </a:extLst>
            </p:cNvPr>
            <p:cNvGrpSpPr/>
            <p:nvPr/>
          </p:nvGrpSpPr>
          <p:grpSpPr>
            <a:xfrm>
              <a:off x="749184" y="2243397"/>
              <a:ext cx="4051416" cy="2202928"/>
              <a:chOff x="749185" y="2527734"/>
              <a:chExt cx="5284556" cy="1805256"/>
            </a:xfrm>
          </p:grpSpPr>
          <p:sp>
            <p:nvSpPr>
              <p:cNvPr id="6" name="Shape 20">
                <a:extLst>
                  <a:ext uri="{FF2B5EF4-FFF2-40B4-BE49-F238E27FC236}">
                    <a16:creationId xmlns:a16="http://schemas.microsoft.com/office/drawing/2014/main" id="{2FC2A2B6-4E61-EECC-C271-E93C0C8586EE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1805256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 21">
                <a:extLst>
                  <a:ext uri="{FF2B5EF4-FFF2-40B4-BE49-F238E27FC236}">
                    <a16:creationId xmlns:a16="http://schemas.microsoft.com/office/drawing/2014/main" id="{DB9E0A09-415B-32F3-A09C-62522C6558CB}"/>
                  </a:ext>
                </a:extLst>
              </p:cNvPr>
              <p:cNvSpPr/>
              <p:nvPr/>
            </p:nvSpPr>
            <p:spPr>
              <a:xfrm>
                <a:off x="896521" y="2710750"/>
                <a:ext cx="4989884" cy="14392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tech-store/</a:t>
                </a:r>
              </a:p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├── index.html</a:t>
                </a:r>
              </a:p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├── 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css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/</a:t>
                </a:r>
              </a:p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│      └── style.css</a:t>
                </a:r>
              </a:p>
              <a:p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└── backend/</a:t>
                </a:r>
              </a:p>
              <a:p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        └──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db.json</a:t>
                </a:r>
                <a:endPara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0" indent="0" algn="l">
                  <a:buNone/>
                </a:pPr>
                <a:endParaRPr lang="en-US" dirty="0"/>
              </a:p>
            </p:txBody>
          </p:sp>
        </p:grp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5E56470-FCB5-4A47-BA1C-070E476FCEB9}"/>
              </a:ext>
            </a:extLst>
          </p:cNvPr>
          <p:cNvGrpSpPr/>
          <p:nvPr/>
        </p:nvGrpSpPr>
        <p:grpSpPr>
          <a:xfrm>
            <a:off x="6835430" y="1691931"/>
            <a:ext cx="3942616" cy="1203998"/>
            <a:chOff x="592347" y="1890767"/>
            <a:chExt cx="9554582" cy="1203998"/>
          </a:xfrm>
        </p:grpSpPr>
        <p:sp>
          <p:nvSpPr>
            <p:cNvPr id="17" name="Espaço Reservado para Conteúdo 5">
              <a:extLst>
                <a:ext uri="{FF2B5EF4-FFF2-40B4-BE49-F238E27FC236}">
                  <a16:creationId xmlns:a16="http://schemas.microsoft.com/office/drawing/2014/main" id="{A2240294-FB95-4793-A121-4E83F56963C6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890767"/>
              <a:ext cx="9554582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No terminal, acesse a pasta </a:t>
              </a:r>
              <a:r>
                <a:rPr lang="pt-BR" dirty="0" err="1"/>
                <a:t>backend</a:t>
              </a:r>
              <a:endParaRPr lang="pt-BR" dirty="0"/>
            </a:p>
          </p:txBody>
        </p: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8BFCAD2B-9D5B-460F-929A-73E1BCD6B057}"/>
                </a:ext>
              </a:extLst>
            </p:cNvPr>
            <p:cNvGrpSpPr/>
            <p:nvPr/>
          </p:nvGrpSpPr>
          <p:grpSpPr>
            <a:xfrm>
              <a:off x="749184" y="2456193"/>
              <a:ext cx="8659089" cy="638572"/>
              <a:chOff x="749185" y="2527734"/>
              <a:chExt cx="5137220" cy="638572"/>
            </a:xfrm>
          </p:grpSpPr>
          <p:sp>
            <p:nvSpPr>
              <p:cNvPr id="19" name="Shape 20">
                <a:extLst>
                  <a:ext uri="{FF2B5EF4-FFF2-40B4-BE49-F238E27FC236}">
                    <a16:creationId xmlns:a16="http://schemas.microsoft.com/office/drawing/2014/main" id="{24585B29-6995-42D5-A15A-8164783B434B}"/>
                  </a:ext>
                </a:extLst>
              </p:cNvPr>
              <p:cNvSpPr/>
              <p:nvPr/>
            </p:nvSpPr>
            <p:spPr>
              <a:xfrm>
                <a:off x="749185" y="2527734"/>
                <a:ext cx="3819683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 21">
                <a:extLst>
                  <a:ext uri="{FF2B5EF4-FFF2-40B4-BE49-F238E27FC236}">
                    <a16:creationId xmlns:a16="http://schemas.microsoft.com/office/drawing/2014/main" id="{87D49E68-85CF-4F1C-8E5D-24D09148A7B8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cd backend</a:t>
                </a:r>
              </a:p>
              <a:p>
                <a:pPr marL="0" indent="0" algn="l">
                  <a:buNone/>
                </a:pPr>
                <a:endParaRPr lang="en-US" dirty="0"/>
              </a:p>
            </p:txBody>
          </p:sp>
        </p:grp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000BA31-84F0-4254-9B4B-F77BA5003186}"/>
              </a:ext>
            </a:extLst>
          </p:cNvPr>
          <p:cNvGrpSpPr/>
          <p:nvPr/>
        </p:nvGrpSpPr>
        <p:grpSpPr>
          <a:xfrm>
            <a:off x="1413954" y="5175249"/>
            <a:ext cx="9845446" cy="1203998"/>
            <a:chOff x="589474" y="3302621"/>
            <a:chExt cx="9064270" cy="1203998"/>
          </a:xfrm>
        </p:grpSpPr>
        <p:sp>
          <p:nvSpPr>
            <p:cNvPr id="22" name="Espaço Reservado para Conteúdo 5">
              <a:extLst>
                <a:ext uri="{FF2B5EF4-FFF2-40B4-BE49-F238E27FC236}">
                  <a16:creationId xmlns:a16="http://schemas.microsoft.com/office/drawing/2014/main" id="{71D99815-D17D-46E2-9E7E-FDDB4EE33FFF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8189344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Depois instale o </a:t>
              </a:r>
              <a:r>
                <a:rPr lang="pt-BR" b="1" dirty="0"/>
                <a:t>documento de configuração do projeto</a:t>
              </a:r>
              <a:r>
                <a:rPr lang="pt-BR" dirty="0"/>
                <a:t>.</a:t>
              </a:r>
            </a:p>
          </p:txBody>
        </p: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670950E-94BA-4608-96F3-A48483F46F0B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24" name="Shape 20">
                <a:extLst>
                  <a:ext uri="{FF2B5EF4-FFF2-40B4-BE49-F238E27FC236}">
                    <a16:creationId xmlns:a16="http://schemas.microsoft.com/office/drawing/2014/main" id="{BE01224C-A0A5-4DFB-90DF-A0F8B746FA75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Text 21">
                <a:extLst>
                  <a:ext uri="{FF2B5EF4-FFF2-40B4-BE49-F238E27FC236}">
                    <a16:creationId xmlns:a16="http://schemas.microsoft.com/office/drawing/2014/main" id="{D9289DD0-A9E3-4D47-8BB1-473BBCA2CA60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npm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init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-y</a:t>
                </a:r>
                <a:endParaRPr lang="en-US" dirty="0"/>
              </a:p>
            </p:txBody>
          </p:sp>
        </p:grpSp>
      </p:grpSp>
      <p:sp>
        <p:nvSpPr>
          <p:cNvPr id="9" name="Elipse 8">
            <a:extLst>
              <a:ext uri="{FF2B5EF4-FFF2-40B4-BE49-F238E27FC236}">
                <a16:creationId xmlns:a16="http://schemas.microsoft.com/office/drawing/2014/main" id="{543F2ECD-114D-4B7A-A827-886F5F233B97}"/>
              </a:ext>
            </a:extLst>
          </p:cNvPr>
          <p:cNvSpPr/>
          <p:nvPr/>
        </p:nvSpPr>
        <p:spPr>
          <a:xfrm>
            <a:off x="748792" y="1691931"/>
            <a:ext cx="540000" cy="540000"/>
          </a:xfrm>
          <a:prstGeom prst="ellipse">
            <a:avLst/>
          </a:prstGeom>
          <a:solidFill>
            <a:srgbClr val="292A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BA979B6-84C2-47C9-8C81-E4BBAAFB888D}"/>
              </a:ext>
            </a:extLst>
          </p:cNvPr>
          <p:cNvSpPr/>
          <p:nvPr/>
        </p:nvSpPr>
        <p:spPr>
          <a:xfrm>
            <a:off x="6095220" y="1691931"/>
            <a:ext cx="540000" cy="540000"/>
          </a:xfrm>
          <a:prstGeom prst="ellipse">
            <a:avLst/>
          </a:prstGeom>
          <a:solidFill>
            <a:srgbClr val="292A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29CF1B9-A8C0-44E4-8397-0769E3A15F80}"/>
              </a:ext>
            </a:extLst>
          </p:cNvPr>
          <p:cNvSpPr/>
          <p:nvPr/>
        </p:nvSpPr>
        <p:spPr>
          <a:xfrm>
            <a:off x="748792" y="5088544"/>
            <a:ext cx="540000" cy="540000"/>
          </a:xfrm>
          <a:prstGeom prst="ellipse">
            <a:avLst/>
          </a:prstGeom>
          <a:solidFill>
            <a:srgbClr val="292A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119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E511-7937-0ABF-92CC-71A2F2FA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D6A16-AC0A-7A8B-8C81-F26C5168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Configuração do </a:t>
            </a:r>
            <a:r>
              <a:rPr lang="pt-BR" dirty="0" err="1"/>
              <a:t>package.json</a:t>
            </a:r>
            <a:endParaRPr lang="pt-BR" dirty="0"/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78E8E083-DC26-4BFB-B75F-C3636775FAFC}"/>
              </a:ext>
            </a:extLst>
          </p:cNvPr>
          <p:cNvSpPr txBox="1">
            <a:spLocks/>
          </p:cNvSpPr>
          <p:nvPr/>
        </p:nvSpPr>
        <p:spPr>
          <a:xfrm>
            <a:off x="749185" y="1761067"/>
            <a:ext cx="10731615" cy="14308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Para facilitar a inicialização do nosso servidor </a:t>
            </a:r>
            <a:r>
              <a:rPr lang="pt-BR" sz="1800" dirty="0" err="1"/>
              <a:t>back-end</a:t>
            </a:r>
            <a:r>
              <a:rPr lang="pt-BR" sz="1800" dirty="0"/>
              <a:t> </a:t>
            </a:r>
            <a:r>
              <a:rPr lang="pt-BR" sz="1800" dirty="0" err="1"/>
              <a:t>fake</a:t>
            </a:r>
            <a:r>
              <a:rPr lang="pt-BR" sz="1800" dirty="0"/>
              <a:t>, podemos configurar um script no arquivo </a:t>
            </a:r>
            <a:r>
              <a:rPr lang="pt-BR" sz="1800" dirty="0" err="1"/>
              <a:t>package.json</a:t>
            </a:r>
            <a:r>
              <a:rPr lang="pt-BR" sz="1800" dirty="0"/>
              <a:t>. Dessa forma, o JSON Server será iniciado automaticamente utilizando o arquivo </a:t>
            </a:r>
            <a:r>
              <a:rPr lang="pt-BR" sz="1800" dirty="0" err="1"/>
              <a:t>db.json</a:t>
            </a:r>
            <a:r>
              <a:rPr lang="pt-BR" sz="1800" dirty="0"/>
              <a:t> como banco de dados e a porta 3000.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B78A181D-F853-4FF1-8C59-07AD4451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918" y="3268008"/>
            <a:ext cx="6240164" cy="325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3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34029-2BAB-46E2-95BC-AFFF21FA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Configuração inicial do </a:t>
            </a:r>
            <a:r>
              <a:rPr lang="pt-BR" dirty="0" err="1"/>
              <a:t>db.json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0FCFAC-B3F2-4E88-9246-D433FCAFF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651001"/>
            <a:ext cx="11007306" cy="762000"/>
          </a:xfrm>
        </p:spPr>
        <p:txBody>
          <a:bodyPr/>
          <a:lstStyle/>
          <a:p>
            <a:r>
              <a:rPr lang="pt-BR" dirty="0"/>
              <a:t>No nosso banco de dados iremos salvar as seguintes informações: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33996-F386-4D64-8F42-A159E675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499" y="2599266"/>
            <a:ext cx="8461002" cy="375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05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9BDA-8879-3C0C-5A20-6CC2C096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91AF7-B33A-17FB-3029-44CA37B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Iniciando o projeto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58BDE5F-0413-9417-80EA-98C28F439376}"/>
              </a:ext>
            </a:extLst>
          </p:cNvPr>
          <p:cNvGrpSpPr/>
          <p:nvPr/>
        </p:nvGrpSpPr>
        <p:grpSpPr>
          <a:xfrm>
            <a:off x="749185" y="4247110"/>
            <a:ext cx="9064270" cy="1203998"/>
            <a:chOff x="592347" y="1890767"/>
            <a:chExt cx="9064270" cy="1203998"/>
          </a:xfrm>
        </p:grpSpPr>
        <p:sp>
          <p:nvSpPr>
            <p:cNvPr id="4" name="Espaço Reservado para Conteúdo 5">
              <a:extLst>
                <a:ext uri="{FF2B5EF4-FFF2-40B4-BE49-F238E27FC236}">
                  <a16:creationId xmlns:a16="http://schemas.microsoft.com/office/drawing/2014/main" id="{245E01CC-38BE-D54E-BD89-39D8F21CFE2F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890767"/>
              <a:ext cx="5359879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E para acessar o banco basta procurar pela URL: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3B7829F-2A7E-FA26-2497-21B0D4400E2B}"/>
                </a:ext>
              </a:extLst>
            </p:cNvPr>
            <p:cNvGrpSpPr/>
            <p:nvPr/>
          </p:nvGrpSpPr>
          <p:grpSpPr>
            <a:xfrm>
              <a:off x="749184" y="2456193"/>
              <a:ext cx="8907433" cy="638572"/>
              <a:chOff x="749185" y="2527734"/>
              <a:chExt cx="5284556" cy="638572"/>
            </a:xfrm>
          </p:grpSpPr>
          <p:sp>
            <p:nvSpPr>
              <p:cNvPr id="6" name="Shape 20">
                <a:extLst>
                  <a:ext uri="{FF2B5EF4-FFF2-40B4-BE49-F238E27FC236}">
                    <a16:creationId xmlns:a16="http://schemas.microsoft.com/office/drawing/2014/main" id="{29E0572A-EB0F-D965-BC5F-379F125E32B3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 21">
                <a:extLst>
                  <a:ext uri="{FF2B5EF4-FFF2-40B4-BE49-F238E27FC236}">
                    <a16:creationId xmlns:a16="http://schemas.microsoft.com/office/drawing/2014/main" id="{4E30C9FA-076E-3BB3-E074-2845D1471A49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http://localhost:3000/produtos</a:t>
                </a:r>
                <a:endParaRPr lang="en-US" dirty="0"/>
              </a:p>
            </p:txBody>
          </p:sp>
        </p:grp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FBA01CA-469C-4F20-B04B-285E96972CF5}"/>
              </a:ext>
            </a:extLst>
          </p:cNvPr>
          <p:cNvGrpSpPr/>
          <p:nvPr/>
        </p:nvGrpSpPr>
        <p:grpSpPr>
          <a:xfrm>
            <a:off x="749185" y="2253637"/>
            <a:ext cx="9064270" cy="1203998"/>
            <a:chOff x="589474" y="3302621"/>
            <a:chExt cx="9064270" cy="1203998"/>
          </a:xfrm>
        </p:grpSpPr>
        <p:sp>
          <p:nvSpPr>
            <p:cNvPr id="10" name="Espaço Reservado para Conteúdo 5">
              <a:extLst>
                <a:ext uri="{FF2B5EF4-FFF2-40B4-BE49-F238E27FC236}">
                  <a16:creationId xmlns:a16="http://schemas.microsoft.com/office/drawing/2014/main" id="{D640FA5C-5F32-4A75-8E39-2789279D2D07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8189344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Para iniciar o projeto, basta acessar a pasta e dar o seguinte comando:</a:t>
              </a:r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E0DE6BA9-135B-4AD1-AC99-3834D8EFA737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2" name="Shape 20">
                <a:extLst>
                  <a:ext uri="{FF2B5EF4-FFF2-40B4-BE49-F238E27FC236}">
                    <a16:creationId xmlns:a16="http://schemas.microsoft.com/office/drawing/2014/main" id="{D7AA632F-DC98-48A1-851E-FD8D563EB94E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 21">
                <a:extLst>
                  <a:ext uri="{FF2B5EF4-FFF2-40B4-BE49-F238E27FC236}">
                    <a16:creationId xmlns:a16="http://schemas.microsoft.com/office/drawing/2014/main" id="{4875F3F3-EE99-49E1-B3FA-2295864CD6D4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npm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start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653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310ECD8-EF09-41C1-894E-F98C2F148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GET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167C996-46CA-4208-9C55-B86889EFB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518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13448-1EF9-501A-B4DD-E0A745A9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GET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EE8165-D787-E9F5-D06C-1A4A0788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01725"/>
          </a:xfrm>
        </p:spPr>
        <p:txBody>
          <a:bodyPr/>
          <a:lstStyle/>
          <a:p>
            <a:r>
              <a:rPr lang="pt-BR" dirty="0"/>
              <a:t>O método </a:t>
            </a:r>
            <a:r>
              <a:rPr lang="pt-BR" b="1" dirty="0"/>
              <a:t>GET</a:t>
            </a:r>
            <a:r>
              <a:rPr lang="pt-BR" dirty="0"/>
              <a:t> é utilizado para </a:t>
            </a:r>
            <a:r>
              <a:rPr lang="pt-BR" b="1" dirty="0"/>
              <a:t>buscar ou consultar informações</a:t>
            </a:r>
            <a:r>
              <a:rPr lang="pt-BR" dirty="0"/>
              <a:t> em um servidor. Em uma API, uma requisição GET pode retornar todos os registros de um recurso ou apenas um registro específico.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959664D-71FE-4DFA-83E9-FBB59C5BDC6C}"/>
              </a:ext>
            </a:extLst>
          </p:cNvPr>
          <p:cNvSpPr txBox="1">
            <a:spLocks/>
          </p:cNvSpPr>
          <p:nvPr/>
        </p:nvSpPr>
        <p:spPr>
          <a:xfrm>
            <a:off x="592347" y="3005667"/>
            <a:ext cx="11007306" cy="11017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No </a:t>
            </a:r>
            <a:r>
              <a:rPr lang="pt-BR" dirty="0" err="1"/>
              <a:t>JavaScript</a:t>
            </a:r>
            <a:r>
              <a:rPr lang="pt-BR" dirty="0"/>
              <a:t>, fazemos uma busca com GET utilizando o </a:t>
            </a:r>
            <a:r>
              <a:rPr lang="pt-BR" dirty="0" err="1"/>
              <a:t>fetch</a:t>
            </a:r>
            <a:r>
              <a:rPr lang="pt-BR" dirty="0"/>
              <a:t>(). Como você já criou o api.js, podemos centralizar a requisição nele.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DD36164-6D7E-40D4-9C4C-F0C09C5E96E1}"/>
              </a:ext>
            </a:extLst>
          </p:cNvPr>
          <p:cNvGrpSpPr/>
          <p:nvPr/>
        </p:nvGrpSpPr>
        <p:grpSpPr>
          <a:xfrm>
            <a:off x="1583017" y="4299718"/>
            <a:ext cx="9025966" cy="2151114"/>
            <a:chOff x="1472701" y="4452118"/>
            <a:chExt cx="9025966" cy="2151114"/>
          </a:xfrm>
        </p:grpSpPr>
        <p:sp>
          <p:nvSpPr>
            <p:cNvPr id="9" name="Shape 20">
              <a:extLst>
                <a:ext uri="{FF2B5EF4-FFF2-40B4-BE49-F238E27FC236}">
                  <a16:creationId xmlns:a16="http://schemas.microsoft.com/office/drawing/2014/main" id="{E12793E5-DFFD-4484-A175-7F29953135E9}"/>
                </a:ext>
              </a:extLst>
            </p:cNvPr>
            <p:cNvSpPr/>
            <p:nvPr/>
          </p:nvSpPr>
          <p:spPr>
            <a:xfrm>
              <a:off x="1472701" y="4452118"/>
              <a:ext cx="9025966" cy="2151114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1911A2B-C213-4176-8F40-784C21E92A0F}"/>
                </a:ext>
              </a:extLst>
            </p:cNvPr>
            <p:cNvSpPr/>
            <p:nvPr/>
          </p:nvSpPr>
          <p:spPr>
            <a:xfrm>
              <a:off x="1667684" y="4789011"/>
              <a:ext cx="8636000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async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buscarProdutos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response =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fetch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(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"http://localhost:3000/produtos"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return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response.json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</a:t>
              </a:r>
            </a:p>
            <a:p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}</a:t>
              </a:r>
              <a:endPara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0640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8858E-69E2-8A32-4D8D-61A4750C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4F9431-18D8-4DC9-B9CC-1BCF1A71C18D}"/>
              </a:ext>
            </a:extLst>
          </p:cNvPr>
          <p:cNvSpPr txBox="1">
            <a:spLocks/>
          </p:cNvSpPr>
          <p:nvPr/>
        </p:nvSpPr>
        <p:spPr>
          <a:xfrm>
            <a:off x="918644" y="1701521"/>
            <a:ext cx="10354713" cy="121101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Dentro da pasta do projeto, crie uma pasta chamada script. Em seguida, dentro dela, crie o arquivo api.js, que será responsável por realizar as requisições e consultas ao nosso </a:t>
            </a:r>
            <a:r>
              <a:rPr lang="pt-BR" dirty="0" err="1"/>
              <a:t>back</a:t>
            </a:r>
            <a:r>
              <a:rPr lang="pt-BR" dirty="0"/>
              <a:t>-end.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B2F1E58-E11F-4542-BF18-E5EF56B5D910}"/>
              </a:ext>
            </a:extLst>
          </p:cNvPr>
          <p:cNvGrpSpPr/>
          <p:nvPr/>
        </p:nvGrpSpPr>
        <p:grpSpPr>
          <a:xfrm>
            <a:off x="2317965" y="3062478"/>
            <a:ext cx="7556071" cy="3142211"/>
            <a:chOff x="749185" y="2527734"/>
            <a:chExt cx="5284556" cy="1805256"/>
          </a:xfrm>
        </p:grpSpPr>
        <p:sp>
          <p:nvSpPr>
            <p:cNvPr id="8" name="Shape 20">
              <a:extLst>
                <a:ext uri="{FF2B5EF4-FFF2-40B4-BE49-F238E27FC236}">
                  <a16:creationId xmlns:a16="http://schemas.microsoft.com/office/drawing/2014/main" id="{5AEEA8AD-6718-413B-A391-B7D9E19E569D}"/>
                </a:ext>
              </a:extLst>
            </p:cNvPr>
            <p:cNvSpPr/>
            <p:nvPr/>
          </p:nvSpPr>
          <p:spPr>
            <a:xfrm>
              <a:off x="749185" y="2527734"/>
              <a:ext cx="5284556" cy="1805256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C27D53AB-2C58-4E88-85BE-314FF8DE4F47}"/>
                </a:ext>
              </a:extLst>
            </p:cNvPr>
            <p:cNvSpPr/>
            <p:nvPr/>
          </p:nvSpPr>
          <p:spPr>
            <a:xfrm>
              <a:off x="896521" y="2710750"/>
              <a:ext cx="4989884" cy="1439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tech-store/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index.html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css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│      └── style.css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│     └── api.js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│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└── backend/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└──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db.json</a:t>
              </a:r>
              <a:endParaRPr lang="en-US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3324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8858E-69E2-8A32-4D8D-61A4750C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4F9431-18D8-4DC9-B9CC-1BCF1A71C18D}"/>
              </a:ext>
            </a:extLst>
          </p:cNvPr>
          <p:cNvSpPr txBox="1">
            <a:spLocks/>
          </p:cNvSpPr>
          <p:nvPr/>
        </p:nvSpPr>
        <p:spPr>
          <a:xfrm>
            <a:off x="1081373" y="1701521"/>
            <a:ext cx="10029255" cy="146501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 primeira requisição do nosso projeto será responsável por buscar todos os produtos cadastrados no banco de dados. Para isso, utilizaremos o método GET e devemos adicionar o seguinte código ao arquivo api.js: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59DB256-760D-43FD-8554-746A3EF5433E}"/>
              </a:ext>
            </a:extLst>
          </p:cNvPr>
          <p:cNvGrpSpPr/>
          <p:nvPr/>
        </p:nvGrpSpPr>
        <p:grpSpPr>
          <a:xfrm>
            <a:off x="1468842" y="3335867"/>
            <a:ext cx="9254316" cy="3218682"/>
            <a:chOff x="1735418" y="3429000"/>
            <a:chExt cx="9254316" cy="3218682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EE383B37-7310-4563-9BC8-B173B5286B0D}"/>
                </a:ext>
              </a:extLst>
            </p:cNvPr>
            <p:cNvSpPr/>
            <p:nvPr/>
          </p:nvSpPr>
          <p:spPr>
            <a:xfrm>
              <a:off x="1735418" y="3429000"/>
              <a:ext cx="9254316" cy="3218682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CE8AC7A-3364-4E97-BC2E-25CF018F1E04}"/>
                </a:ext>
              </a:extLst>
            </p:cNvPr>
            <p:cNvSpPr/>
            <p:nvPr/>
          </p:nvSpPr>
          <p:spPr>
            <a:xfrm>
              <a:off x="2408642" y="3591791"/>
              <a:ext cx="7907868" cy="289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=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async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buscarProdutos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try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response =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fetch(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"http://localhost:3000/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produtos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response.json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catch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(error)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alert(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Erro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ao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buscar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produtos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throw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error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}</a:t>
              </a:r>
            </a:p>
            <a:p>
              <a:b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export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default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endPara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966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8858E-69E2-8A32-4D8D-61A4750C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4F9431-18D8-4DC9-B9CC-1BCF1A71C18D}"/>
              </a:ext>
            </a:extLst>
          </p:cNvPr>
          <p:cNvSpPr txBox="1">
            <a:spLocks/>
          </p:cNvSpPr>
          <p:nvPr/>
        </p:nvSpPr>
        <p:spPr>
          <a:xfrm>
            <a:off x="749185" y="1600200"/>
            <a:ext cx="10858615" cy="103293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Agora vamos criar um arquivo chamado de consultasAPI.js que será responsável por registrar todas as consultas que iremos fazer dentro do nosso programa.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631E9BC-9E1D-472E-A50F-4405B6AE7C47}"/>
              </a:ext>
            </a:extLst>
          </p:cNvPr>
          <p:cNvGrpSpPr/>
          <p:nvPr/>
        </p:nvGrpSpPr>
        <p:grpSpPr>
          <a:xfrm>
            <a:off x="1468842" y="2697175"/>
            <a:ext cx="9254316" cy="3921416"/>
            <a:chOff x="1468842" y="2697175"/>
            <a:chExt cx="9254316" cy="3921416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EE383B37-7310-4563-9BC8-B173B5286B0D}"/>
                </a:ext>
              </a:extLst>
            </p:cNvPr>
            <p:cNvSpPr/>
            <p:nvPr/>
          </p:nvSpPr>
          <p:spPr>
            <a:xfrm>
              <a:off x="1468842" y="2697175"/>
              <a:ext cx="9254316" cy="3921416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AC84D1EB-AB27-41AB-8D7E-1ED14BD299A4}"/>
                </a:ext>
              </a:extLst>
            </p:cNvPr>
            <p:cNvSpPr/>
            <p:nvPr/>
          </p:nvSpPr>
          <p:spPr>
            <a:xfrm>
              <a:off x="1866900" y="2888168"/>
              <a:ext cx="8458200" cy="35394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import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from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"./api.js"</a:t>
              </a:r>
              <a:endParaRPr lang="pt-BR" sz="1600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consulta =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async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mostrarProdutos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try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produtos =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api.buscarProdutos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console.log(produtos)</a:t>
              </a:r>
            </a:p>
            <a:p>
              <a:b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 </a:t>
              </a:r>
              <a:r>
                <a:rPr lang="pt-BR" sz="16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catch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(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error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console.error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error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pt-BR" sz="1600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consulta.mostrarProdutos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765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ED99B-FCD9-43F1-B948-D7213C64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86890E-9B9B-48A3-A84C-A9801F8D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651000"/>
            <a:ext cx="11007306" cy="643467"/>
          </a:xfrm>
        </p:spPr>
        <p:txBody>
          <a:bodyPr/>
          <a:lstStyle/>
          <a:p>
            <a:r>
              <a:rPr lang="pt-BR" dirty="0"/>
              <a:t>Por fim adicione o seguinte comando para o </a:t>
            </a:r>
            <a:r>
              <a:rPr lang="pt-BR" dirty="0" err="1"/>
              <a:t>html</a:t>
            </a:r>
            <a:r>
              <a:rPr lang="pt-BR" dirty="0"/>
              <a:t> chamar o arquivo consultarAPI.js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9122735-1407-4993-A2E1-FD2AC2764AE6}"/>
              </a:ext>
            </a:extLst>
          </p:cNvPr>
          <p:cNvGrpSpPr/>
          <p:nvPr/>
        </p:nvGrpSpPr>
        <p:grpSpPr>
          <a:xfrm>
            <a:off x="1468842" y="2714108"/>
            <a:ext cx="9254316" cy="2602959"/>
            <a:chOff x="1533162" y="2409308"/>
            <a:chExt cx="9254316" cy="2602959"/>
          </a:xfrm>
        </p:grpSpPr>
        <p:sp>
          <p:nvSpPr>
            <p:cNvPr id="5" name="Shape 20">
              <a:extLst>
                <a:ext uri="{FF2B5EF4-FFF2-40B4-BE49-F238E27FC236}">
                  <a16:creationId xmlns:a16="http://schemas.microsoft.com/office/drawing/2014/main" id="{65179D05-B3F6-44E6-B72A-98D48F0DA71E}"/>
                </a:ext>
              </a:extLst>
            </p:cNvPr>
            <p:cNvSpPr/>
            <p:nvPr/>
          </p:nvSpPr>
          <p:spPr>
            <a:xfrm>
              <a:off x="1533162" y="2409308"/>
              <a:ext cx="9254316" cy="2602959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CBD0A4E-90F1-4639-877E-3A27F5E69A51}"/>
                </a:ext>
              </a:extLst>
            </p:cNvPr>
            <p:cNvSpPr/>
            <p:nvPr/>
          </p:nvSpPr>
          <p:spPr>
            <a:xfrm>
              <a:off x="1728841" y="2695125"/>
              <a:ext cx="8862958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body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</a:t>
              </a:r>
              <a:r>
                <a:rPr lang="pt-BR" dirty="0">
                  <a:solidFill>
                    <a:srgbClr val="569CD6"/>
                  </a:solidFill>
                  <a:latin typeface="Consolas" panose="020B0609020204030204" pitchFamily="49" charset="0"/>
                </a:rPr>
                <a:t>script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9CDCFE"/>
                  </a:solidFill>
                  <a:latin typeface="Consolas" panose="020B0609020204030204" pitchFamily="49" charset="0"/>
                </a:rPr>
                <a:t>type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=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"module"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9CDCFE"/>
                  </a:solidFill>
                  <a:latin typeface="Consolas" panose="020B0609020204030204" pitchFamily="49" charset="0"/>
                </a:rPr>
                <a:t>src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=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pt-BR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js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/consultasAPI.js"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&gt;&lt;/</a:t>
              </a:r>
              <a:r>
                <a:rPr lang="pt-BR" dirty="0">
                  <a:solidFill>
                    <a:srgbClr val="569CD6"/>
                  </a:solidFill>
                  <a:latin typeface="Consolas" panose="020B0609020204030204" pitchFamily="49" charset="0"/>
                </a:rPr>
                <a:t>script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&lt;/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body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&lt;/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html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905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0ADB3-678B-467F-ACD2-15286043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0FCB5-BDBF-48FD-B296-D9935A4EC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50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6209E-44D6-4DB2-98AC-F412A835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DC8050-0D3F-4BE1-B110-2D8462469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313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D346A-7931-4E6A-9DF2-1EDDA2BCB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F5E35-3249-4181-AAA2-D8E915A6A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741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/>
              <a:t>Por que uma API precisa retornar informações?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</p:spPr>
        <p:txBody>
          <a:bodyPr>
            <a:normAutofit/>
          </a:bodyPr>
          <a:lstStyle/>
          <a:p>
            <a:r>
              <a:rPr lang="pt-BR" sz="1600" dirty="0"/>
              <a:t>Quando uma aplicação realiza uma requisição, ela precisa saber </a:t>
            </a:r>
            <a:r>
              <a:rPr lang="pt-BR" sz="1600" b="1" dirty="0"/>
              <a:t>qual foi o resultado da operação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dirty="0"/>
              <a:t>Uma resposta adequada permite identificar: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✅ Se a operação foi realizada com sucesso</a:t>
            </a:r>
          </a:p>
          <a:p>
            <a:pPr lvl="1"/>
            <a:r>
              <a:rPr lang="pt-BR" dirty="0"/>
              <a:t>❌ Se houve algum erro</a:t>
            </a:r>
          </a:p>
          <a:p>
            <a:pPr lvl="1"/>
            <a:r>
              <a:rPr lang="pt-BR" dirty="0"/>
              <a:t>🔎 Se o recurso foi encontrado</a:t>
            </a:r>
          </a:p>
          <a:p>
            <a:pPr lvl="1"/>
            <a:r>
              <a:rPr lang="pt-BR" dirty="0"/>
              <a:t>🆕 Se um novo recurso foi criado</a:t>
            </a:r>
          </a:p>
          <a:p>
            <a:pPr lvl="1"/>
            <a:r>
              <a:rPr lang="pt-BR" dirty="0"/>
              <a:t>📭 Se não há conteúdo para retorna</a:t>
            </a:r>
          </a:p>
          <a:p>
            <a:endParaRPr lang="pt-BR" sz="1600" dirty="0"/>
          </a:p>
        </p:txBody>
      </p:sp>
      <p:pic>
        <p:nvPicPr>
          <p:cNvPr id="6" name="Gráfico 5" descr="Monitor com preenchimento sólido">
            <a:extLst>
              <a:ext uri="{FF2B5EF4-FFF2-40B4-BE49-F238E27FC236}">
                <a16:creationId xmlns:a16="http://schemas.microsoft.com/office/drawing/2014/main" id="{B26DEF2A-BEBF-4541-6E07-02927D879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113" y="1825625"/>
            <a:ext cx="1153102" cy="1153102"/>
          </a:xfrm>
          <a:prstGeom prst="rect">
            <a:avLst/>
          </a:prstGeom>
        </p:spPr>
      </p:pic>
      <p:pic>
        <p:nvPicPr>
          <p:cNvPr id="7" name="Gráfico 6" descr="Monitor com preenchimento sólido">
            <a:extLst>
              <a:ext uri="{FF2B5EF4-FFF2-40B4-BE49-F238E27FC236}">
                <a16:creationId xmlns:a16="http://schemas.microsoft.com/office/drawing/2014/main" id="{ADEE0CCC-935E-2912-DD49-F7599893F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113" y="5247698"/>
            <a:ext cx="1153102" cy="1153102"/>
          </a:xfrm>
          <a:prstGeom prst="rect">
            <a:avLst/>
          </a:prstGeom>
        </p:spPr>
      </p:pic>
      <p:pic>
        <p:nvPicPr>
          <p:cNvPr id="10" name="Gráfico 9" descr="Chefe feminina com preenchimento sólido">
            <a:extLst>
              <a:ext uri="{FF2B5EF4-FFF2-40B4-BE49-F238E27FC236}">
                <a16:creationId xmlns:a16="http://schemas.microsoft.com/office/drawing/2014/main" id="{2F00A95B-DB73-7177-A58E-7B433DCA1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3464" y="3656012"/>
            <a:ext cx="914400" cy="914400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6FA832B-B5EB-0CA5-A064-02CA52BED23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470664" y="2978727"/>
            <a:ext cx="0" cy="67728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28E6CF2-2DBC-AABF-9CCE-77D187A28992}"/>
              </a:ext>
            </a:extLst>
          </p:cNvPr>
          <p:cNvCxnSpPr>
            <a:endCxn id="7" idx="0"/>
          </p:cNvCxnSpPr>
          <p:nvPr/>
        </p:nvCxnSpPr>
        <p:spPr>
          <a:xfrm>
            <a:off x="9470664" y="4570412"/>
            <a:ext cx="0" cy="67728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D823C0-96D7-318E-999D-ED50B2765369}"/>
              </a:ext>
            </a:extLst>
          </p:cNvPr>
          <p:cNvSpPr txBox="1"/>
          <p:nvPr/>
        </p:nvSpPr>
        <p:spPr>
          <a:xfrm>
            <a:off x="7044530" y="3148092"/>
            <a:ext cx="19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/dentista/1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5C479D0-7A90-99F0-65D3-3FAA83D20330}"/>
              </a:ext>
            </a:extLst>
          </p:cNvPr>
          <p:cNvSpPr txBox="1"/>
          <p:nvPr/>
        </p:nvSpPr>
        <p:spPr>
          <a:xfrm>
            <a:off x="7044530" y="4739778"/>
            <a:ext cx="173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 No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CF21398-A554-377B-19F1-A11CA0A06C09}"/>
              </a:ext>
            </a:extLst>
          </p:cNvPr>
          <p:cNvSpPr txBox="1"/>
          <p:nvPr/>
        </p:nvSpPr>
        <p:spPr>
          <a:xfrm>
            <a:off x="10157547" y="4739778"/>
            <a:ext cx="1153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794F55-4CFD-3395-272F-56DD2DB1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não retornar sempre 200?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398AE6-87A0-5B75-09C1-38A6451B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854962" cy="934299"/>
          </a:xfrm>
        </p:spPr>
        <p:txBody>
          <a:bodyPr/>
          <a:lstStyle/>
          <a:p>
            <a:r>
              <a:rPr lang="pl-PL" dirty="0"/>
              <a:t>O problema do 200 OK</a:t>
            </a:r>
            <a:endParaRPr lang="pt-BR" dirty="0"/>
          </a:p>
          <a:p>
            <a:r>
              <a:rPr lang="pt-BR" dirty="0"/>
              <a:t>Imagine que a API sempre retorne: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8E81AC-D157-BA7D-9D04-357F11166B7F}"/>
              </a:ext>
            </a:extLst>
          </p:cNvPr>
          <p:cNvGrpSpPr/>
          <p:nvPr/>
        </p:nvGrpSpPr>
        <p:grpSpPr>
          <a:xfrm>
            <a:off x="749185" y="2929003"/>
            <a:ext cx="3744126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099A7046-6B53-424C-9D65-D39D7084A6C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5F947C80-BA30-A56B-4289-9B84B915316C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200 ok</a:t>
              </a:r>
              <a:endParaRPr lang="en-US" sz="1600" dirty="0"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8A7394-E2A5-22A7-2C5E-BCC8E1135833}"/>
              </a:ext>
            </a:extLst>
          </p:cNvPr>
          <p:cNvSpPr txBox="1"/>
          <p:nvPr/>
        </p:nvSpPr>
        <p:spPr>
          <a:xfrm>
            <a:off x="592347" y="3894361"/>
            <a:ext cx="6109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qualquer situação.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54C0C7B-B09F-93CD-3DB5-29033A1F1068}"/>
              </a:ext>
            </a:extLst>
          </p:cNvPr>
          <p:cNvGrpSpPr/>
          <p:nvPr/>
        </p:nvGrpSpPr>
        <p:grpSpPr>
          <a:xfrm>
            <a:off x="749185" y="4520405"/>
            <a:ext cx="4418560" cy="1638537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47F4AB36-CAFD-8FB7-7A48-BB1581BF6DD0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3152C665-A472-A659-55B7-500A11DD6A77}"/>
                </a:ext>
              </a:extLst>
            </p:cNvPr>
            <p:cNvSpPr/>
            <p:nvPr/>
          </p:nvSpPr>
          <p:spPr>
            <a:xfrm>
              <a:off x="896521" y="2583345"/>
              <a:ext cx="4989884" cy="527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DELETE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/10</a:t>
              </a: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</a:p>
            <a:p>
              <a:pPr marL="0" indent="0" algn="l">
                <a:buNone/>
              </a:pP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  <a:endParaRPr lang="en-US" sz="1600" dirty="0"/>
            </a:p>
          </p:txBody>
        </p:sp>
      </p:grpSp>
      <p:sp>
        <p:nvSpPr>
          <p:cNvPr id="16" name="Shape 4">
            <a:extLst>
              <a:ext uri="{FF2B5EF4-FFF2-40B4-BE49-F238E27FC236}">
                <a16:creationId xmlns:a16="http://schemas.microsoft.com/office/drawing/2014/main" id="{349BA34A-7609-7A9C-1F95-D40F3620CE79}"/>
              </a:ext>
            </a:extLst>
          </p:cNvPr>
          <p:cNvSpPr/>
          <p:nvPr/>
        </p:nvSpPr>
        <p:spPr>
          <a:xfrm>
            <a:off x="6096000" y="1844675"/>
            <a:ext cx="5503653" cy="4314267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94C0EA91-E1E8-C87F-27C7-88A376B9674E}"/>
              </a:ext>
            </a:extLst>
          </p:cNvPr>
          <p:cNvSpPr/>
          <p:nvPr/>
        </p:nvSpPr>
        <p:spPr>
          <a:xfrm>
            <a:off x="6291357" y="204003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215E048-C979-F2A0-56E4-CA227D5EF056}"/>
              </a:ext>
            </a:extLst>
          </p:cNvPr>
          <p:cNvSpPr/>
          <p:nvPr/>
        </p:nvSpPr>
        <p:spPr>
          <a:xfrm>
            <a:off x="6291357" y="2833005"/>
            <a:ext cx="5151458" cy="317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cliente não consegue saber claramente o que aconteceu.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isso, utilizamos diferentes códigos HTTP para representar diferentes resultados.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código HTTP faz parte do contrato da API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Gráfico 20" descr="Ponto de interrogação com preenchimento sólido">
            <a:extLst>
              <a:ext uri="{FF2B5EF4-FFF2-40B4-BE49-F238E27FC236}">
                <a16:creationId xmlns:a16="http://schemas.microsoft.com/office/drawing/2014/main" id="{3129B824-0F4C-7D8D-915E-E7C2D83B7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5554" y="2164241"/>
            <a:ext cx="318625" cy="318625"/>
          </a:xfrm>
          <a:prstGeom prst="rect">
            <a:avLst/>
          </a:prstGeom>
        </p:spPr>
      </p:pic>
      <p:sp>
        <p:nvSpPr>
          <p:cNvPr id="22" name="Título 4">
            <a:extLst>
              <a:ext uri="{FF2B5EF4-FFF2-40B4-BE49-F238E27FC236}">
                <a16:creationId xmlns:a16="http://schemas.microsoft.com/office/drawing/2014/main" id="{505775BE-BC99-D44A-DEDD-FB4F58227DE5}"/>
              </a:ext>
            </a:extLst>
          </p:cNvPr>
          <p:cNvSpPr txBox="1">
            <a:spLocks/>
          </p:cNvSpPr>
          <p:nvPr/>
        </p:nvSpPr>
        <p:spPr>
          <a:xfrm>
            <a:off x="7090020" y="2087537"/>
            <a:ext cx="4352796" cy="5195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Será que deu certo ?</a:t>
            </a:r>
          </a:p>
        </p:txBody>
      </p:sp>
    </p:spTree>
    <p:extLst>
      <p:ext uri="{BB962C8B-B14F-4D97-AF65-F5344CB8AC3E}">
        <p14:creationId xmlns:p14="http://schemas.microsoft.com/office/powerpoint/2010/main" val="1686215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4CEBC-29AA-0B64-6D86-B49A19BD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 b="1" dirty="0"/>
              <a:t>Os principais métodos HTTP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5FD78D7-7ED8-1593-FC54-8D4E2A2EC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13956"/>
              </p:ext>
            </p:extLst>
          </p:nvPr>
        </p:nvGraphicFramePr>
        <p:xfrm>
          <a:off x="1795568" y="2176304"/>
          <a:ext cx="8600865" cy="3688080"/>
        </p:xfrm>
        <a:graphic>
          <a:graphicData uri="http://schemas.openxmlformats.org/drawingml/2006/table">
            <a:tbl>
              <a:tblPr/>
              <a:tblGrid>
                <a:gridCol w="2230544">
                  <a:extLst>
                    <a:ext uri="{9D8B030D-6E8A-4147-A177-3AD203B41FA5}">
                      <a16:colId xmlns:a16="http://schemas.microsoft.com/office/drawing/2014/main" val="4025802244"/>
                    </a:ext>
                  </a:extLst>
                </a:gridCol>
                <a:gridCol w="2370244">
                  <a:extLst>
                    <a:ext uri="{9D8B030D-6E8A-4147-A177-3AD203B41FA5}">
                      <a16:colId xmlns:a16="http://schemas.microsoft.com/office/drawing/2014/main" val="263985013"/>
                    </a:ext>
                  </a:extLst>
                </a:gridCol>
                <a:gridCol w="4000077">
                  <a:extLst>
                    <a:ext uri="{9D8B030D-6E8A-4147-A177-3AD203B41FA5}">
                      <a16:colId xmlns:a16="http://schemas.microsoft.com/office/drawing/2014/main" val="1048547562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Método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81333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Consultar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Buscar dentistas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0308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9689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Atualizar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2934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Excluir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20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400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A52F6-A789-393D-0223-A390957C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</a:t>
            </a:r>
            <a:r>
              <a:rPr lang="pt-BR"/>
              <a:t>em prática</a:t>
            </a:r>
          </a:p>
        </p:txBody>
      </p:sp>
      <p:pic>
        <p:nvPicPr>
          <p:cNvPr id="5" name="Imagem 4" descr="Tela de celular&#10;&#10;O conteúdo gerado por IA pode estar incorreto.">
            <a:extLst>
              <a:ext uri="{FF2B5EF4-FFF2-40B4-BE49-F238E27FC236}">
                <a16:creationId xmlns:a16="http://schemas.microsoft.com/office/drawing/2014/main" id="{F5DDB60E-DFAD-AB23-8357-1FFC1BD4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207910"/>
            <a:ext cx="7344800" cy="1638529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73591627-856C-55F0-D6AE-196821AA1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48" y="4751356"/>
            <a:ext cx="5373105" cy="153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86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DCA-E4E4-845E-D23E-82890D1A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E5BB9-3715-B5EC-AC01-0CA2A2F5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</a:t>
            </a:r>
            <a:r>
              <a:rPr lang="pt-BR"/>
              <a:t>em prática</a:t>
            </a:r>
          </a:p>
        </p:txBody>
      </p:sp>
      <p:pic>
        <p:nvPicPr>
          <p:cNvPr id="4" name="Imagem 3" descr="Tela de celular&#10;&#10;O conteúdo gerado por IA pode estar incorreto.">
            <a:extLst>
              <a:ext uri="{FF2B5EF4-FFF2-40B4-BE49-F238E27FC236}">
                <a16:creationId xmlns:a16="http://schemas.microsoft.com/office/drawing/2014/main" id="{5866078B-6D83-5864-0345-F6E1F5BB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1849700"/>
            <a:ext cx="7678222" cy="1676634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6E381689-411A-EF00-0497-0440A52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65" y="4169983"/>
            <a:ext cx="7023670" cy="19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22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13988-3FAB-3D91-E08A-F445845A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F25C0-AA25-02FF-5D54-55E6DFA4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832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1306</Words>
  <Application>Microsoft Office PowerPoint</Application>
  <PresentationFormat>Widescreen</PresentationFormat>
  <Paragraphs>173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Times New Roman</vt:lpstr>
      <vt:lpstr>Tema do Office</vt:lpstr>
      <vt:lpstr>Implementando CRUD com requisições HTTP</vt:lpstr>
      <vt:lpstr>Como mostrar os equipamentos registrados</vt:lpstr>
      <vt:lpstr>O que é uma API ?</vt:lpstr>
      <vt:lpstr>Exemplo com o mundo real</vt:lpstr>
      <vt:lpstr>O que são GET, POST, PUT e DELETE?</vt:lpstr>
      <vt:lpstr>O que é JSON?</vt:lpstr>
      <vt:lpstr>JSON-Server</vt:lpstr>
      <vt:lpstr>Como instalar o JSON-Server</vt:lpstr>
      <vt:lpstr>Instalar o JSON Server</vt:lpstr>
      <vt:lpstr>Criar o projeto</vt:lpstr>
      <vt:lpstr>Configuração do package.json</vt:lpstr>
      <vt:lpstr>Configuração inicial do db.json</vt:lpstr>
      <vt:lpstr>Iniciando o projeto</vt:lpstr>
      <vt:lpstr>Método GET</vt:lpstr>
      <vt:lpstr>Método GET</vt:lpstr>
      <vt:lpstr>Criando o Método GET no nosso programa</vt:lpstr>
      <vt:lpstr>Criando o Método GET no nosso programa</vt:lpstr>
      <vt:lpstr>Criando o Método GET no nosso programa</vt:lpstr>
      <vt:lpstr>Criando o Método GET no nosso programa</vt:lpstr>
      <vt:lpstr>Apresentação do PowerPoint</vt:lpstr>
      <vt:lpstr>Apresentação do PowerPoint</vt:lpstr>
      <vt:lpstr>Apresentação do PowerPoint</vt:lpstr>
      <vt:lpstr>Por que uma API precisa retornar informações?</vt:lpstr>
      <vt:lpstr>Por que não retornar sempre 200?</vt:lpstr>
      <vt:lpstr>Os principais métodos HTTP</vt:lpstr>
      <vt:lpstr>Colocando em prática</vt:lpstr>
      <vt:lpstr>Colocando em prática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Henrique Miho de Souza</cp:lastModifiedBy>
  <cp:revision>23</cp:revision>
  <dcterms:created xsi:type="dcterms:W3CDTF">2024-03-08T12:14:33Z</dcterms:created>
  <dcterms:modified xsi:type="dcterms:W3CDTF">2026-09-01T20:52:58Z</dcterms:modified>
</cp:coreProperties>
</file>