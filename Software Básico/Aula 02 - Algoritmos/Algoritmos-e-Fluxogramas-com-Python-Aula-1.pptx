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5402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Algoritmos e Fluxogramas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92814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aula passada, vocês aprenderam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analisar um problema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Mas depois que entendemos o problema… o que fazemos?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745607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4013299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981847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programar, precisamos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pensar na solução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É aí que entram os algoritmos.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39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10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um Algoritmo?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51372"/>
            <a:ext cx="5221851" cy="947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</a:t>
            </a:r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</a:t>
            </a:r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um conjunto de passos </a:t>
            </a:r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ordenados</a:t>
            </a:r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claros</a:t>
            </a:r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com um </a:t>
            </a:r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 definido</a:t>
            </a:r>
            <a:pPr algn="l" indent="0" marL="0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resolver um problema.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já usa algoritmos no dia a dia — sem perceber!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314719" y="1487487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41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14719" y="1764605"/>
            <a:ext cx="522185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314719" y="188982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Pegar água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14719" y="245328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41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14719" y="2730401"/>
            <a:ext cx="522185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6314719" y="2855615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Ferver a água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14719" y="3419078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41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14719" y="3696196"/>
            <a:ext cx="522185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6314719" y="382141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Colocar café no filtro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4719" y="438487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41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14719" y="4661991"/>
            <a:ext cx="522185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6314719" y="4787205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Colocar água e esperar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14719" y="5350669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41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14719" y="5627787"/>
            <a:ext cx="522185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6314719" y="5753001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Servir o café 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☕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 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i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não é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código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10868745" cy="4694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023" y="4448710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255023" y="4826252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Entender requisitos e casos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398903" y="4272350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Fluxograma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398903" y="4649892"/>
            <a:ext cx="1613822" cy="529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Visualizar sequência e decisões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88227" y="1333170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88227" y="1710712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objetivo e dados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404137" y="1333170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Programa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404137" y="1710712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a lógica em código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52682" y="1333170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52682" y="1710712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Descrever lógica passo a passo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70468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 (lógica)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1475" y="5899547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1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Receber duas notas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Somar as notas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Dividir por 2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a média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217487" y="570468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Código Python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487" y="5905401"/>
            <a:ext cx="5319083" cy="793750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6330891" y="5999857"/>
            <a:ext cx="50922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nota1 = 7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nota2 = 9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(nota1 + nota2) / 2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spc="-1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print(media)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61475" y="6805315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DADBF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9" y="6876157"/>
            <a:ext cx="118067" cy="94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68450" y="6876157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lógica permanece a mesma — a linguagem pode mudar.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719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7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 → Processamento → Saída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060" y="1077119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3987060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3834217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3987060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61475" y="4953099"/>
            <a:ext cx="10868745" cy="1361182"/>
          </a:xfrm>
          <a:prstGeom prst="roundRect">
            <a:avLst>
              <a:gd name="adj" fmla="val 373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1475" y="5227241"/>
            <a:ext cx="10868745" cy="75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5498207"/>
            <a:ext cx="10868745" cy="75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5769173"/>
            <a:ext cx="10868745" cy="75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6040140"/>
            <a:ext cx="10868745" cy="75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89067" y="5012333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503029" y="5012333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16991" y="5012333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930952" y="5012333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9067" y="5283299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Somar dois números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503029" y="5283299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n1, n2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16991" y="5283299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n1 + n2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930952" y="5283299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89067" y="5554266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média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503029" y="5554266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nota1, nota2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216991" y="5554266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(n1+n2)/2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930952" y="5554266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89067" y="5825232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Área do retângulo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503029" y="5825232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base, altura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216991" y="5825232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* altura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930952" y="5825232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área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89067" y="6096198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Converter °C → °F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503029" y="6096198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celsius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216991" y="6096198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C*9/5 + 32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930952" y="6096198"/>
            <a:ext cx="308145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fahrenheit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95313"/>
            <a:ext cx="6296860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spc="-6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Dados em Python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5233360" y="1060450"/>
            <a:ext cx="6296860" cy="1106388"/>
          </a:xfrm>
          <a:prstGeom prst="roundRect">
            <a:avLst>
              <a:gd name="adj" fmla="val 43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54801" y="1181894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54801" y="1403846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Números inteiros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354801" y="1630958"/>
            <a:ext cx="6053978" cy="414437"/>
          </a:xfrm>
          <a:prstGeom prst="roundRect">
            <a:avLst>
              <a:gd name="adj" fmla="val 11673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5493009" y="1746052"/>
            <a:ext cx="577756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-18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= 25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233360" y="2236986"/>
            <a:ext cx="6296860" cy="1106388"/>
          </a:xfrm>
          <a:prstGeom prst="roundRect">
            <a:avLst>
              <a:gd name="adj" fmla="val 43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54801" y="2358430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float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54801" y="2580382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Números decimais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54801" y="2807494"/>
            <a:ext cx="6053978" cy="414437"/>
          </a:xfrm>
          <a:prstGeom prst="roundRect">
            <a:avLst>
              <a:gd name="adj" fmla="val 11673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5493009" y="2922588"/>
            <a:ext cx="577756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-18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altura = 1.75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33360" y="3413522"/>
            <a:ext cx="6296860" cy="1106388"/>
          </a:xfrm>
          <a:prstGeom prst="roundRect">
            <a:avLst>
              <a:gd name="adj" fmla="val 43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54801" y="3534966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54801" y="3756918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(entre aspas)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54801" y="3984030"/>
            <a:ext cx="6053978" cy="414437"/>
          </a:xfrm>
          <a:prstGeom prst="roundRect">
            <a:avLst>
              <a:gd name="adj" fmla="val 11673"/>
            </a:avLst>
          </a:prstGeom>
          <a:solidFill>
            <a:srgbClr val="F2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5493009" y="4099123"/>
            <a:ext cx="577756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-18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"Pedro"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233360" y="4590058"/>
            <a:ext cx="6296860" cy="1106388"/>
          </a:xfrm>
          <a:prstGeom prst="roundRect">
            <a:avLst>
              <a:gd name="adj" fmla="val 43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54801" y="4711502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54801" y="4933454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 ou Falso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54801" y="5160566"/>
            <a:ext cx="6053978" cy="414437"/>
          </a:xfrm>
          <a:prstGeom prst="roundRect">
            <a:avLst>
              <a:gd name="adj" fmla="val 11673"/>
            </a:avLst>
          </a:prstGeom>
          <a:solidFill>
            <a:srgbClr val="F2F2F2"/>
          </a:solidFill>
          <a:ln/>
        </p:spPr>
      </p:sp>
      <p:sp>
        <p:nvSpPr>
          <p:cNvPr id="23" name="Text 20"/>
          <p:cNvSpPr/>
          <p:nvPr/>
        </p:nvSpPr>
        <p:spPr>
          <a:xfrm>
            <a:off x="5493009" y="5275659"/>
            <a:ext cx="577756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-18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 = True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233360" y="5775325"/>
            <a:ext cx="6296860" cy="487263"/>
          </a:xfrm>
          <a:prstGeom prst="roundRect">
            <a:avLst>
              <a:gd name="adj" fmla="val 9928"/>
            </a:avLst>
          </a:prstGeom>
          <a:solidFill>
            <a:srgbClr val="B6D6FC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451" y="5875139"/>
            <a:ext cx="143963" cy="11509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607505" y="5874246"/>
            <a:ext cx="5807624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Atenção: </a:t>
            </a:r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(int) é diferente de </a:t>
            </a:r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"25"</a:t>
            </a:r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(str)! Use </a:t>
            </a:r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int(input(...))</a:t>
            </a:r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float(input(...))</a:t>
            </a:r>
            <a:pPr algn="l" indent="0" marL="0">
              <a:lnSpc>
                <a:spcPct val="107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converter a entrada do usuário.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568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9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Operadores Aritméticos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495127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795" y="1682452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  Adição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48795" y="2095401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+ 3 =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50930" y="1495127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8251" y="1682452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  Subtração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538251" y="2095401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5 - 3 =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2687241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8795" y="2874566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*  Multiplicação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48795" y="3287514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* 3 = 15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50930" y="2687241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251" y="2874566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  Divisão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538251" y="3287514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 / 2 = 3.5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3879354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795" y="4066679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// Divisão inteira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8795" y="4479627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 // 2 =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50930" y="3879354"/>
            <a:ext cx="2539540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251" y="4066679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  Resto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538251" y="4479627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7 % 2 = 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475" y="5071467"/>
            <a:ext cx="5228995" cy="1042194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795" y="5258792"/>
            <a:ext cx="4854354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** Potência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48795" y="5671741"/>
            <a:ext cx="4854354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 ** 3 = 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7575" y="1476375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Destaque: operador %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307575" y="1889323"/>
            <a:ext cx="522899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retorna o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resto</a:t>
            </a:r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uma divisão. Muito útil para verificar se um número é par ou ímpar: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7575" y="2567186"/>
            <a:ext cx="5228995" cy="875308"/>
          </a:xfrm>
          <a:prstGeom prst="roundRect">
            <a:avLst>
              <a:gd name="adj" fmla="val 8078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/>
          <p:nvPr/>
        </p:nvSpPr>
        <p:spPr>
          <a:xfrm>
            <a:off x="6509579" y="2735461"/>
            <a:ext cx="4824986" cy="538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 % 2 == 0  # par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 % 2 != 0  # ímpar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7575" y="3611166"/>
            <a:ext cx="522899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operadores aritméticos são o coração do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</a:t>
            </a:r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algoritmo.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8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Operadores Relacionais e Lógicos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79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Relacionais → produzem True ou False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095897"/>
            <a:ext cx="5203794" cy="1890117"/>
          </a:xfrm>
          <a:prstGeom prst="roundRect">
            <a:avLst>
              <a:gd name="adj" fmla="val 42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88283" y="2284909"/>
            <a:ext cx="475017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&gt;= 18   # maior ou igual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== 10    # igual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!= y        # diferente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 b         # maior que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&lt; b         # menor que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15879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Lógicos → combinam condições</a:t>
            </a:r>
            <a:endParaRPr lang="en-US" sz="1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2776" y="2095897"/>
            <a:ext cx="5203794" cy="12155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48780" y="2310309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48780" y="2794595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as condições devem ser verdadeiras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3500437"/>
            <a:ext cx="5203794" cy="12155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48780" y="3714849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648780" y="4199136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Pelo menos uma condição verdadeira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2776" y="4904978"/>
            <a:ext cx="5203794" cy="12155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48780" y="5119390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6648780" y="5603677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Inverte o resultado da condição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01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Introdução ao Fluxograma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886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fluxograma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representação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 algoritmo, usando símbolos padronizados.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93913"/>
            <a:ext cx="378014" cy="378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Terminal (oval)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 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início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fim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algoritmo →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início / fim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893913"/>
            <a:ext cx="378014" cy="378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77383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Paralelogramo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977383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 ou saída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 / print()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893913"/>
            <a:ext cx="378014" cy="3780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79042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Retângulo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679042" y="3367484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cálculos e atribuições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56695"/>
            <a:ext cx="378014" cy="3780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442158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Losango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275723" y="4830266"/>
            <a:ext cx="2851178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uma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decisão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356695"/>
            <a:ext cx="378014" cy="3780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77383" y="442158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Setas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4977383" y="4830266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Indicam 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execução entre os passos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6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Completo: Soma de Dois Números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7798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72084"/>
            <a:ext cx="350421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Ler o número 1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Ler o número 2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soma = n1 + n2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a soma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739852"/>
            <a:ext cx="3504219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4025106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Código Python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61475" y="4533007"/>
            <a:ext cx="3504219" cy="158769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88283" y="4722019"/>
            <a:ext cx="305060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n1 = float(input("Número 1: "))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n2 = float(input("Número 2: "))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n1 + n2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print("Soma:", soma)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2375098"/>
            <a:ext cx="6903269" cy="2981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80488" y="4548325"/>
            <a:ext cx="1025018" cy="18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Ler número 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280488" y="4788120"/>
            <a:ext cx="1025018" cy="298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spc="-3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do primeiro valor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12471" y="4697678"/>
            <a:ext cx="1025018" cy="18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Calcular soma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912471" y="4937474"/>
            <a:ext cx="1025018" cy="149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spc="-3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 = n1 + n2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967764" y="2644168"/>
            <a:ext cx="1025018" cy="18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INÍCIO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967764" y="2883964"/>
            <a:ext cx="1025018" cy="149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spc="-3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Início do algoritmo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186094" y="2644168"/>
            <a:ext cx="1025019" cy="18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Mostrar soma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186094" y="2883964"/>
            <a:ext cx="1025019" cy="149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spc="-3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Exibir o resultado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612815" y="2644168"/>
            <a:ext cx="1025019" cy="18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Ler número 2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612815" y="2883964"/>
            <a:ext cx="1025019" cy="298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spc="-3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do segundo valor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468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com Decisão: Maior ou Menor de Idade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76053"/>
            <a:ext cx="6928470" cy="34059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51754" y="2381829"/>
            <a:ext cx="1584470" cy="198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Maior de idade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051754" y="2636231"/>
            <a:ext cx="3204151" cy="14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Saída: maior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051754" y="3177604"/>
            <a:ext cx="1584470" cy="198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idade &gt;= 18?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1754" y="3432006"/>
            <a:ext cx="3204151" cy="14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 relacional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051754" y="3973381"/>
            <a:ext cx="1584470" cy="198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Ler idade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51754" y="4227782"/>
            <a:ext cx="3204151" cy="14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do usuário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58796" y="4769156"/>
            <a:ext cx="1584470" cy="198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INÍCIO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58796" y="5023558"/>
            <a:ext cx="3204151" cy="14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Início do fluxo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985421" y="1372195"/>
            <a:ext cx="355104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Código Python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985421" y="1772642"/>
            <a:ext cx="3551049" cy="1594346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8176710" y="1932087"/>
            <a:ext cx="3168472" cy="1275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spc="-2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= int(input("Informe a idade: "))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spc="-2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idade &gt;= 18: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spc="-2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print("Maior de idade")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spc="-2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spc="-25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print("Menor de idade")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85421" y="3558084"/>
            <a:ext cx="3551049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5150" y="3773091"/>
            <a:ext cx="239210" cy="2392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503628" y="3768229"/>
            <a:ext cx="30328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Losango no fluxograma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8503628" y="4151908"/>
            <a:ext cx="303284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decisão</a:t>
            </a:r>
            <a:endParaRPr lang="en-US" sz="12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5150" y="4660999"/>
            <a:ext cx="239210" cy="239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03628" y="4656138"/>
            <a:ext cx="30328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Operador relacional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503628" y="5039816"/>
            <a:ext cx="3032843" cy="24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retorna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True ou False</a:t>
            </a:r>
            <a:endParaRPr lang="en-US" sz="12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5150" y="5555258"/>
            <a:ext cx="239210" cy="2392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03628" y="5550396"/>
            <a:ext cx="30328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 if/else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503628" y="5934075"/>
            <a:ext cx="303284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 caminhos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diferentes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código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2026-08-24T01:16:08Z</dcterms:created>
  <dcterms:modified xsi:type="dcterms:W3CDTF">2026-08-24T01:16:08Z</dcterms:modified>
</cp:coreProperties>
</file>