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fntdata" ContentType="application/x-fontdata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51" r:id="rId1"/>
  </p:sldMasterIdLst>
  <p:notesMasterIdLst>
    <p:notesMasterId r:id="rId18"/>
  </p:notesMasterIdLst>
  <p:sldIdLst>
    <p:sldId id="266" r:id="rId2"/>
    <p:sldId id="256" r:id="rId3"/>
    <p:sldId id="257" r:id="rId4"/>
    <p:sldId id="258" r:id="rId5"/>
    <p:sldId id="259" r:id="rId6"/>
    <p:sldId id="260" r:id="rId7"/>
    <p:sldId id="311" r:id="rId8"/>
    <p:sldId id="267" r:id="rId9"/>
    <p:sldId id="313" r:id="rId10"/>
    <p:sldId id="261" r:id="rId11"/>
    <p:sldId id="263" r:id="rId12"/>
    <p:sldId id="326" r:id="rId13"/>
    <p:sldId id="327" r:id="rId14"/>
    <p:sldId id="323" r:id="rId15"/>
    <p:sldId id="324" r:id="rId16"/>
    <p:sldId id="325" r:id="rId17"/>
  </p:sldIdLst>
  <p:sldSz cx="12192000" cy="6858000"/>
  <p:notesSz cx="6858000" cy="12192000"/>
  <p:embeddedFontLst>
    <p:embeddedFont>
      <p:font typeface="Calibri" panose="020F0502020204030204" pitchFamily="34" charset="0"/>
      <p:regular r:id="rId19"/>
      <p:bold r:id="rId20"/>
      <p:italic r:id="rId21"/>
      <p:boldItalic r:id="rId22"/>
    </p:embeddedFont>
    <p:embeddedFont>
      <p:font typeface="Consolas" panose="020B0609020204030204" pitchFamily="49" charset="0"/>
      <p:regular r:id="rId23"/>
      <p:bold r:id="rId24"/>
      <p:italic r:id="rId25"/>
      <p:boldItalic r:id="rId26"/>
    </p:embeddedFont>
    <p:embeddedFont>
      <p:font typeface="Inter" panose="020B0604020202020204" charset="0"/>
      <p:regular r:id="rId27"/>
    </p:embeddedFont>
    <p:embeddedFont>
      <p:font typeface="Inter Bold" panose="020B0604020202020204" charset="0"/>
      <p:regular r:id="rId28"/>
    </p:embeddedFont>
    <p:embeddedFont>
      <p:font typeface="Tahoma" panose="020B0604030504040204" pitchFamily="34" charset="0"/>
      <p:regular r:id="rId29"/>
      <p:bold r:id="rId3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4307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3" d="100"/>
          <a:sy n="113" d="100"/>
        </p:scale>
        <p:origin x="47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26" Type="http://schemas.openxmlformats.org/officeDocument/2006/relationships/font" Target="fonts/font8.fntdata"/><Relationship Id="rId3" Type="http://schemas.openxmlformats.org/officeDocument/2006/relationships/slide" Target="slides/slide2.xml"/><Relationship Id="rId21" Type="http://schemas.openxmlformats.org/officeDocument/2006/relationships/font" Target="fonts/font3.fntdata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7.fntdata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2.fntdata"/><Relationship Id="rId29" Type="http://schemas.openxmlformats.org/officeDocument/2006/relationships/font" Target="fonts/font11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6.fntdata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5.fntdata"/><Relationship Id="rId28" Type="http://schemas.openxmlformats.org/officeDocument/2006/relationships/font" Target="fonts/font10.fntdata"/><Relationship Id="rId10" Type="http://schemas.openxmlformats.org/officeDocument/2006/relationships/slide" Target="slides/slide9.xml"/><Relationship Id="rId19" Type="http://schemas.openxmlformats.org/officeDocument/2006/relationships/font" Target="fonts/font1.fntdata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4.fntdata"/><Relationship Id="rId27" Type="http://schemas.openxmlformats.org/officeDocument/2006/relationships/font" Target="fonts/font9.fntdata"/><Relationship Id="rId30" Type="http://schemas.openxmlformats.org/officeDocument/2006/relationships/font" Target="fonts/font12.fntdata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325345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6FAB89-DDCC-796D-EFEB-5EF70D4E14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FD43768-5D0F-EB7C-21FB-7FDB4703718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9A9879B-550B-2D6A-630B-3849C264EE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4BA838-3DC3-E0AC-3DC7-3F9C493CC01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781871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de Título" type="title">
  <p:cSld name="Slide de Título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2"/>
          <p:cNvSpPr txBox="1">
            <a:spLocks noGrp="1"/>
          </p:cNvSpPr>
          <p:nvPr>
            <p:ph type="ctrTitle"/>
          </p:nvPr>
        </p:nvSpPr>
        <p:spPr>
          <a:xfrm>
            <a:off x="1524000" y="1652931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imes New Roman"/>
              <a:buNone/>
              <a:defRPr sz="6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r>
              <a:rPr lang="pt-BR"/>
              <a:t>Clique para editar o título Mestre</a:t>
            </a:r>
            <a:endParaRPr/>
          </a:p>
        </p:txBody>
      </p:sp>
      <p:sp>
        <p:nvSpPr>
          <p:cNvPr id="15" name="Google Shape;15;p2"/>
          <p:cNvSpPr txBox="1">
            <a:spLocks noGrp="1"/>
          </p:cNvSpPr>
          <p:nvPr>
            <p:ph type="subTitle" idx="1"/>
          </p:nvPr>
        </p:nvSpPr>
        <p:spPr>
          <a:xfrm>
            <a:off x="1524000" y="4260550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lang="pt-BR"/>
              <a:t>Clique para editar o estilo do subtítulo Mestre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3813591231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2FB9411-69F7-EFE2-E8A8-43455A05CD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defRPr>
            </a:lvl1pPr>
          </a:lstStyle>
          <a:p>
            <a:r>
              <a:rPr lang="pt-BR"/>
              <a:t>Clique para editar o título Mestre</a:t>
            </a:r>
            <a:endParaRPr lang="pt-BR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8A187DA8-D59F-5DFA-55C8-48BC1BA604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5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1pPr>
            <a:lvl2pPr marL="685800" indent="-2286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2pPr>
            <a:lvl3pPr marL="1143000" indent="-2286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3pPr>
            <a:lvl4pPr marL="1600200" indent="-2286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4pPr>
            <a:lvl5pPr marL="2057400" indent="-2286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pt-BR" dirty="0"/>
              <a:t>Clique para editar os estilos de texto Mestres</a:t>
            </a:r>
          </a:p>
          <a:p>
            <a:pPr lvl="1"/>
            <a:r>
              <a:rPr lang="pt-BR" dirty="0"/>
              <a:t>Segundo nível</a:t>
            </a:r>
          </a:p>
          <a:p>
            <a:pPr lvl="2"/>
            <a:r>
              <a:rPr lang="pt-BR" dirty="0"/>
              <a:t>Terceiro nível</a:t>
            </a:r>
          </a:p>
          <a:p>
            <a:pPr lvl="3"/>
            <a:r>
              <a:rPr lang="pt-BR" dirty="0"/>
              <a:t>Quarto nível</a:t>
            </a:r>
          </a:p>
          <a:p>
            <a:pPr lvl="4"/>
            <a:r>
              <a:rPr lang="pt-BR" dirty="0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AF99D26-DA4B-D0AF-3054-103CA613A8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200" b="0" i="0" u="none" strike="noStrike" cap="none">
                <a:solidFill>
                  <a:schemeClr val="tx1">
                    <a:tint val="82000"/>
                  </a:schemeClr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F81AA659-8FD3-461F-8FBC-BDBF8F913D9D}" type="datetimeFigureOut">
              <a:rPr lang="pt-BR" smtClean="0"/>
              <a:pPr/>
              <a:t>24/08/2026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7596EC41-5B15-2A4A-34B9-2E8C0BCEEA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200" b="0" i="0" u="none" strike="noStrike" cap="none">
                <a:solidFill>
                  <a:schemeClr val="tx1">
                    <a:tint val="82000"/>
                  </a:schemeClr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7514FFF6-E682-D349-81F9-96FA3093F4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200" b="0" i="0" u="none" strike="noStrike" cap="none">
                <a:solidFill>
                  <a:schemeClr val="tx1">
                    <a:tint val="82000"/>
                  </a:schemeClr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950E8CF1-C835-4717-86DC-68B0F0260540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88868531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beçalho da Seção" type="secHead">
  <p:cSld name="Cabeçalho da Seção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4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 b="0" i="0" u="none" strike="noStrike" cap="none">
                <a:solidFill>
                  <a:schemeClr val="dk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r>
              <a:rPr lang="pt-BR"/>
              <a:t>Clique para editar o título Mestre</a:t>
            </a:r>
            <a:endParaRPr/>
          </a:p>
        </p:txBody>
      </p:sp>
      <p:sp>
        <p:nvSpPr>
          <p:cNvPr id="21" name="Google Shape;21;p4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sz="20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22" name="Google Shape;22;p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marR="0" lvl="0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274264667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uas Partes de Conteúdo" type="twoObj">
  <p:cSld name="Duas Partes de Conteúdo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r>
              <a:rPr lang="pt-BR"/>
              <a:t>Clique para editar o título Mestre</a:t>
            </a:r>
            <a:endParaRPr dirty="0"/>
          </a:p>
        </p:txBody>
      </p:sp>
      <p:sp>
        <p:nvSpPr>
          <p:cNvPr id="27" name="Google Shape;27;p5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28" name="Google Shape;28;p5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29" name="Google Shape;29;p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 lang="pt-BR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0" name="Google Shape;30;p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 lang="pt-BR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1" name="Google Shape;31;p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marR="0" lvl="0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defRPr>
            </a:lvl1pPr>
            <a:lvl2pPr marL="0" marR="0" lvl="1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fld id="{00000000-1234-1234-1234-123412341234}" type="slidenum">
              <a:rPr lang="pt-BR" smtClean="0"/>
              <a:pPr/>
              <a:t>‹nº›</a:t>
            </a:fld>
            <a:endParaRPr lang="pt-BR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49906840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ação" type="twoTxTwoObj">
  <p:cSld name="Comparação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6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r>
              <a:rPr lang="pt-BR"/>
              <a:t>Clique para editar o título Mestre</a:t>
            </a:r>
            <a:endParaRPr dirty="0"/>
          </a:p>
        </p:txBody>
      </p:sp>
      <p:sp>
        <p:nvSpPr>
          <p:cNvPr id="34" name="Google Shape;34;p6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1" i="0" u="none" strike="noStrike" cap="none">
                <a:solidFill>
                  <a:schemeClr val="dk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1" i="0" u="none" strike="noStrike" cap="none">
                <a:solidFill>
                  <a:schemeClr val="dk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37" name="Google Shape;37;p6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38" name="Google Shape;38;p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 lang="pt-BR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9" name="Google Shape;39;p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 lang="pt-BR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0" name="Google Shape;40;p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marR="0" lvl="0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defRPr>
            </a:lvl1pPr>
            <a:lvl2pPr marL="0" marR="0" lvl="1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fld id="{00000000-1234-1234-1234-123412341234}" type="slidenum">
              <a:rPr lang="pt-BR" smtClean="0"/>
              <a:pPr/>
              <a:t>‹nº›</a:t>
            </a:fld>
            <a:endParaRPr lang="pt-BR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87707365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omente Título" type="titleOnly">
  <p:cSld name="Somente Título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r>
              <a:rPr lang="pt-BR"/>
              <a:t>Clique para editar o título Mestre</a:t>
            </a:r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marR="0" lvl="0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234341879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m Branco" type="blank">
  <p:cSld name="Em Branco"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8" name="Google Shape;48;p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9" name="Google Shape;49;p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marR="0" lvl="0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10414090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údo com Legenda" type="objTx">
  <p:cSld name="Conteúdo com Legenda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9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r>
              <a:rPr lang="pt-BR"/>
              <a:t>Clique para editar o título Mestre</a:t>
            </a:r>
            <a:endParaRPr/>
          </a:p>
        </p:txBody>
      </p:sp>
      <p:sp>
        <p:nvSpPr>
          <p:cNvPr id="52" name="Google Shape;52;p9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4318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3" name="Google Shape;53;p9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4" name="Google Shape;54;p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5" name="Google Shape;55;p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marR="0" lvl="0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507093625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master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689069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2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pn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1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0" y="6762736"/>
            <a:ext cx="12192000" cy="95264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rgbClr val="292A86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11" name="Google Shape;11;p1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582422" y="635357"/>
            <a:ext cx="122428" cy="888712"/>
          </a:xfrm>
          <a:prstGeom prst="rect">
            <a:avLst/>
          </a:prstGeom>
          <a:solidFill>
            <a:srgbClr val="292A86"/>
          </a:solidFill>
          <a:ln>
            <a:noFill/>
          </a:ln>
        </p:spPr>
      </p:pic>
      <p:pic>
        <p:nvPicPr>
          <p:cNvPr id="12" name="Google Shape;12;p1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10283716" y="719713"/>
            <a:ext cx="1273846" cy="7200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975156523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52" r:id="rId1"/>
    <p:sldLayoutId id="2147483653" r:id="rId2"/>
    <p:sldLayoutId id="2147483654" r:id="rId3"/>
    <p:sldLayoutId id="2147483655" r:id="rId4"/>
    <p:sldLayoutId id="2147483656" r:id="rId5"/>
    <p:sldLayoutId id="2147483657" r:id="rId6"/>
    <p:sldLayoutId id="2147483658" r:id="rId7"/>
    <p:sldLayoutId id="2147483659" r:id="rId8"/>
    <p:sldLayoutId id="2147483660" r:id="rId9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9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9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9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9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2867B25-BC0F-8242-8D31-3A145B121EB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t-BR" sz="4400" dirty="0"/>
              <a:t>Introdução à Lógica de Programação: Pensando como um Programador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7FE6AFBF-4C86-4557-83B0-AF907C1EE48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pt-BR" dirty="0"/>
              <a:t>Prof. Esp. Pedro Miho</a:t>
            </a:r>
          </a:p>
        </p:txBody>
      </p:sp>
    </p:spTree>
    <p:extLst>
      <p:ext uri="{BB962C8B-B14F-4D97-AF65-F5344CB8AC3E}">
        <p14:creationId xmlns:p14="http://schemas.microsoft.com/office/powerpoint/2010/main" val="276900559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5301" y="1427748"/>
            <a:ext cx="3539719" cy="530971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61475" y="2054027"/>
            <a:ext cx="6296860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b="1" kern="0" spc="-112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Algoritmos e Fluxogramas</a:t>
            </a:r>
            <a:endParaRPr lang="en-US" sz="3700" dirty="0"/>
          </a:p>
        </p:txBody>
      </p:sp>
      <p:sp>
        <p:nvSpPr>
          <p:cNvPr id="4" name="Text 1"/>
          <p:cNvSpPr/>
          <p:nvPr/>
        </p:nvSpPr>
        <p:spPr>
          <a:xfrm>
            <a:off x="661475" y="2928144"/>
            <a:ext cx="6296860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kern="0" spc="-3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 aula passada, vocês aprenderam a </a:t>
            </a:r>
            <a:r>
              <a:rPr lang="en-US" sz="1450" b="1" kern="0" spc="-30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analisar um problema</a:t>
            </a:r>
            <a:r>
              <a:rPr lang="en-US" sz="1450" kern="0" spc="-3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 Mas depois que entendemos o problema… o que fazemos?</a:t>
            </a:r>
            <a:endParaRPr lang="en-US" sz="1450" dirty="0"/>
          </a:p>
        </p:txBody>
      </p:sp>
      <p:grpSp>
        <p:nvGrpSpPr>
          <p:cNvPr id="8" name="Agrupar 7">
            <a:extLst>
              <a:ext uri="{FF2B5EF4-FFF2-40B4-BE49-F238E27FC236}">
                <a16:creationId xmlns:a16="http://schemas.microsoft.com/office/drawing/2014/main" id="{A7DB2432-6D5C-AD48-8539-8FA497F1F4C0}"/>
              </a:ext>
            </a:extLst>
          </p:cNvPr>
          <p:cNvGrpSpPr/>
          <p:nvPr/>
        </p:nvGrpSpPr>
        <p:grpSpPr>
          <a:xfrm>
            <a:off x="661475" y="3745607"/>
            <a:ext cx="6296860" cy="1058366"/>
            <a:chOff x="661475" y="3745607"/>
            <a:chExt cx="6296860" cy="1058366"/>
          </a:xfrm>
        </p:grpSpPr>
        <p:sp>
          <p:nvSpPr>
            <p:cNvPr id="5" name="Shape 2"/>
            <p:cNvSpPr/>
            <p:nvPr/>
          </p:nvSpPr>
          <p:spPr>
            <a:xfrm>
              <a:off x="661475" y="3745607"/>
              <a:ext cx="6296860" cy="1058366"/>
            </a:xfrm>
            <a:prstGeom prst="roundRect">
              <a:avLst>
                <a:gd name="adj" fmla="val 7501"/>
              </a:avLst>
            </a:prstGeom>
            <a:solidFill>
              <a:srgbClr val="DADBF1"/>
            </a:solidFill>
            <a:ln/>
          </p:spPr>
          <p:txBody>
            <a:bodyPr/>
            <a:lstStyle/>
            <a:p>
              <a:endParaRPr lang="pt-BR"/>
            </a:p>
          </p:txBody>
        </p:sp>
        <p:pic>
          <p:nvPicPr>
            <p:cNvPr id="6" name="Image 1" descr="preencoded.pn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850482" y="4013299"/>
              <a:ext cx="236234" cy="189012"/>
            </a:xfrm>
            <a:prstGeom prst="rect">
              <a:avLst/>
            </a:prstGeom>
          </p:spPr>
        </p:pic>
        <p:sp>
          <p:nvSpPr>
            <p:cNvPr id="7" name="Text 3"/>
            <p:cNvSpPr/>
            <p:nvPr/>
          </p:nvSpPr>
          <p:spPr>
            <a:xfrm>
              <a:off x="1275723" y="3981847"/>
              <a:ext cx="5493605" cy="60483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>
              <a:normAutofit/>
            </a:bodyPr>
            <a:lstStyle/>
            <a:p>
              <a:pPr marL="0" indent="0" algn="l">
                <a:lnSpc>
                  <a:spcPct val="133000"/>
                </a:lnSpc>
                <a:buNone/>
              </a:pPr>
              <a:r>
                <a:rPr lang="en-US" sz="1450" kern="0" spc="-30" dirty="0">
                  <a:solidFill>
                    <a:srgbClr val="000000"/>
                  </a:solidFill>
                  <a:latin typeface="Inter" pitchFamily="34" charset="0"/>
                  <a:ea typeface="Inter" pitchFamily="34" charset="-122"/>
                  <a:cs typeface="Inter" pitchFamily="34" charset="-120"/>
                </a:rPr>
                <a:t>Antes de programar, precisamos </a:t>
              </a:r>
              <a:r>
                <a:rPr lang="en-US" sz="1450" b="1" kern="0" spc="-30" dirty="0">
                  <a:solidFill>
                    <a:srgbClr val="000000"/>
                  </a:solidFill>
                  <a:latin typeface="Inter Bold" pitchFamily="34" charset="0"/>
                  <a:ea typeface="Inter Bold" pitchFamily="34" charset="-122"/>
                  <a:cs typeface="Inter Bold" pitchFamily="34" charset="-120"/>
                </a:rPr>
                <a:t>pensar na solução</a:t>
              </a:r>
              <a:r>
                <a:rPr lang="en-US" sz="1450" kern="0" spc="-30" dirty="0">
                  <a:solidFill>
                    <a:srgbClr val="000000"/>
                  </a:solidFill>
                  <a:latin typeface="Inter" pitchFamily="34" charset="0"/>
                  <a:ea typeface="Inter" pitchFamily="34" charset="-122"/>
                  <a:cs typeface="Inter" pitchFamily="34" charset="-120"/>
                </a:rPr>
                <a:t>. É aí que entram os algoritmos.</a:t>
              </a:r>
              <a:endParaRPr lang="en-US" sz="1450" dirty="0"/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80346" y="822571"/>
            <a:ext cx="10868745" cy="5445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400" b="1" kern="0" spc="-103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O que é um Algoritmo?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55430" y="1817119"/>
            <a:ext cx="5063581" cy="351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8000"/>
              </a:lnSpc>
              <a:spcAft>
                <a:spcPts val="1100"/>
              </a:spcAft>
              <a:buNone/>
            </a:pPr>
            <a:r>
              <a:rPr lang="en-US" sz="1600" kern="0" spc="-27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Um </a:t>
            </a:r>
            <a:r>
              <a:rPr lang="en-US" sz="1600" b="1" kern="0" spc="-27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algoritmo</a:t>
            </a:r>
            <a:r>
              <a:rPr lang="en-US" sz="1600" kern="0" spc="-27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é um conjunto de passos </a:t>
            </a:r>
            <a:r>
              <a:rPr lang="en-US" sz="1600" b="1" kern="0" spc="-27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ordenados</a:t>
            </a:r>
            <a:r>
              <a:rPr lang="en-US" sz="1600" kern="0" spc="-27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, </a:t>
            </a:r>
            <a:r>
              <a:rPr lang="en-US" sz="1600" b="1" kern="0" spc="-27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claros</a:t>
            </a:r>
            <a:r>
              <a:rPr lang="en-US" sz="1600" kern="0" spc="-27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e com um </a:t>
            </a:r>
            <a:r>
              <a:rPr lang="en-US" sz="1600" b="1" kern="0" spc="-27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objetivo definido</a:t>
            </a:r>
            <a:r>
              <a:rPr lang="en-US" sz="1600" kern="0" spc="-27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para resolver um problema.</a:t>
            </a:r>
            <a:endParaRPr lang="en-US" sz="1600" dirty="0"/>
          </a:p>
          <a:p>
            <a:pPr marL="0" indent="0" algn="l">
              <a:lnSpc>
                <a:spcPct val="128000"/>
              </a:lnSpc>
              <a:buNone/>
            </a:pPr>
            <a:r>
              <a:rPr lang="en-US" sz="1600" kern="0" spc="-27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Você já usa algoritmos no dia a dia — sem perceber!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314719" y="1487487"/>
            <a:ext cx="348448" cy="217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50" kern="0" spc="-41" dirty="0">
                <a:solidFill>
                  <a:srgbClr val="272525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01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314719" y="1764605"/>
            <a:ext cx="5221851" cy="19050"/>
          </a:xfrm>
          <a:prstGeom prst="rect">
            <a:avLst/>
          </a:prstGeom>
          <a:solidFill>
            <a:srgbClr val="4950BC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6" name="Text 4"/>
          <p:cNvSpPr/>
          <p:nvPr/>
        </p:nvSpPr>
        <p:spPr>
          <a:xfrm>
            <a:off x="6314719" y="1889820"/>
            <a:ext cx="5221851" cy="27215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00" b="1" kern="0" spc="-5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Pegar água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314719" y="2453283"/>
            <a:ext cx="348448" cy="217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50" kern="0" spc="-41" dirty="0">
                <a:solidFill>
                  <a:srgbClr val="272525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02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314719" y="2730401"/>
            <a:ext cx="5221851" cy="19050"/>
          </a:xfrm>
          <a:prstGeom prst="rect">
            <a:avLst/>
          </a:prstGeom>
          <a:solidFill>
            <a:srgbClr val="4950BC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9" name="Text 7"/>
          <p:cNvSpPr/>
          <p:nvPr/>
        </p:nvSpPr>
        <p:spPr>
          <a:xfrm>
            <a:off x="6314719" y="2855615"/>
            <a:ext cx="5221851" cy="27215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00" b="1" kern="0" spc="-5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Ferver a água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6314719" y="3419078"/>
            <a:ext cx="348448" cy="217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50" kern="0" spc="-41" dirty="0">
                <a:solidFill>
                  <a:srgbClr val="272525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03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6314719" y="3696196"/>
            <a:ext cx="5221851" cy="19050"/>
          </a:xfrm>
          <a:prstGeom prst="rect">
            <a:avLst/>
          </a:prstGeom>
          <a:solidFill>
            <a:srgbClr val="4950BC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2" name="Text 10"/>
          <p:cNvSpPr/>
          <p:nvPr/>
        </p:nvSpPr>
        <p:spPr>
          <a:xfrm>
            <a:off x="6314719" y="3821410"/>
            <a:ext cx="5221851" cy="27215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00" b="1" kern="0" spc="-5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Colocar café no filtro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6314719" y="4384873"/>
            <a:ext cx="348448" cy="217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50" kern="0" spc="-41" dirty="0">
                <a:solidFill>
                  <a:srgbClr val="272525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04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6314719" y="4661991"/>
            <a:ext cx="5221851" cy="19050"/>
          </a:xfrm>
          <a:prstGeom prst="rect">
            <a:avLst/>
          </a:prstGeom>
          <a:solidFill>
            <a:srgbClr val="4950BC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5" name="Text 13"/>
          <p:cNvSpPr/>
          <p:nvPr/>
        </p:nvSpPr>
        <p:spPr>
          <a:xfrm>
            <a:off x="6314719" y="4787205"/>
            <a:ext cx="5221851" cy="27215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00" b="1" kern="0" spc="-5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Colocar água e esperar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6314719" y="5350669"/>
            <a:ext cx="348448" cy="217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50" kern="0" spc="-41" dirty="0">
                <a:solidFill>
                  <a:srgbClr val="272525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05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6314719" y="5627787"/>
            <a:ext cx="5221851" cy="19050"/>
          </a:xfrm>
          <a:prstGeom prst="rect">
            <a:avLst/>
          </a:prstGeom>
          <a:solidFill>
            <a:srgbClr val="4950BC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8" name="Text 16"/>
          <p:cNvSpPr/>
          <p:nvPr/>
        </p:nvSpPr>
        <p:spPr>
          <a:xfrm>
            <a:off x="6314719" y="5753001"/>
            <a:ext cx="5221851" cy="27215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00" b="1" kern="0" spc="-5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Servir o café </a:t>
            </a:r>
            <a:r>
              <a:rPr lang="en-US" sz="1700" b="1" kern="0" spc="-51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☕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4963" y="910977"/>
            <a:ext cx="8938638" cy="48149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800" b="1" kern="0" spc="-56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Algoritmo </a:t>
            </a:r>
            <a:r>
              <a:rPr lang="en-US" sz="2800" b="1" i="1" kern="0" spc="-56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não é</a:t>
            </a:r>
            <a:r>
              <a:rPr lang="en-US" sz="2800" b="1" kern="0" spc="-56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 código</a:t>
            </a:r>
            <a:endParaRPr lang="en-US" sz="28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475" y="2398295"/>
            <a:ext cx="10868745" cy="2398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255023" y="3793958"/>
            <a:ext cx="1613822" cy="3128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850" b="1" kern="0" spc="-56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Análise</a:t>
            </a:r>
            <a:endParaRPr lang="en-US" sz="1850" dirty="0"/>
          </a:p>
        </p:txBody>
      </p:sp>
      <p:sp>
        <p:nvSpPr>
          <p:cNvPr id="5" name="Text 2"/>
          <p:cNvSpPr/>
          <p:nvPr/>
        </p:nvSpPr>
        <p:spPr>
          <a:xfrm>
            <a:off x="3255023" y="4223368"/>
            <a:ext cx="1613822" cy="4458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78000"/>
              </a:lnSpc>
              <a:buNone/>
            </a:pPr>
            <a:r>
              <a:rPr lang="en-US" sz="1200" kern="0" spc="-24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Entender requisitos e casos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7398903" y="3711843"/>
            <a:ext cx="1613822" cy="15634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850" b="1" kern="0" spc="-56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Fluxograma</a:t>
            </a:r>
            <a:endParaRPr lang="en-US" sz="1850" dirty="0"/>
          </a:p>
        </p:txBody>
      </p:sp>
      <p:sp>
        <p:nvSpPr>
          <p:cNvPr id="7" name="Text 4"/>
          <p:cNvSpPr/>
          <p:nvPr/>
        </p:nvSpPr>
        <p:spPr>
          <a:xfrm>
            <a:off x="7398903" y="4045709"/>
            <a:ext cx="1613822" cy="6234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60000"/>
              </a:lnSpc>
              <a:buNone/>
            </a:pPr>
            <a:r>
              <a:rPr lang="en-US" sz="1200" kern="0" spc="-24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Visualizar sequência e decisões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1188227" y="1846249"/>
            <a:ext cx="1613822" cy="15634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850" b="1" kern="0" spc="-56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Problema</a:t>
            </a:r>
            <a:endParaRPr lang="en-US" sz="1850" dirty="0"/>
          </a:p>
        </p:txBody>
      </p:sp>
      <p:sp>
        <p:nvSpPr>
          <p:cNvPr id="9" name="Text 6"/>
          <p:cNvSpPr/>
          <p:nvPr/>
        </p:nvSpPr>
        <p:spPr>
          <a:xfrm>
            <a:off x="1188227" y="2144533"/>
            <a:ext cx="1699352" cy="33051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85000" lnSpcReduction="10000"/>
          </a:bodyPr>
          <a:lstStyle/>
          <a:p>
            <a:pPr marL="0" indent="0" algn="ctr">
              <a:lnSpc>
                <a:spcPct val="160000"/>
              </a:lnSpc>
              <a:buNone/>
            </a:pPr>
            <a:r>
              <a:rPr lang="en-US" kern="0" spc="-24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Definir objetivo e dados</a:t>
            </a:r>
            <a:endParaRPr lang="en-US" dirty="0"/>
          </a:p>
        </p:txBody>
      </p:sp>
      <p:sp>
        <p:nvSpPr>
          <p:cNvPr id="10" name="Text 7"/>
          <p:cNvSpPr/>
          <p:nvPr/>
        </p:nvSpPr>
        <p:spPr>
          <a:xfrm>
            <a:off x="9389951" y="1618742"/>
            <a:ext cx="1613822" cy="2681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850" b="1" kern="0" spc="-56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Programa</a:t>
            </a:r>
            <a:endParaRPr lang="en-US" sz="1850" dirty="0"/>
          </a:p>
        </p:txBody>
      </p:sp>
      <p:sp>
        <p:nvSpPr>
          <p:cNvPr id="11" name="Text 8"/>
          <p:cNvSpPr/>
          <p:nvPr/>
        </p:nvSpPr>
        <p:spPr>
          <a:xfrm>
            <a:off x="9201082" y="1907055"/>
            <a:ext cx="1991559" cy="53183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ctr">
              <a:lnSpc>
                <a:spcPct val="170000"/>
              </a:lnSpc>
              <a:buNone/>
            </a:pPr>
            <a:r>
              <a:rPr lang="en-US" sz="1200" kern="0" spc="-24" dirty="0" err="1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Implementar</a:t>
            </a:r>
            <a:r>
              <a:rPr lang="en-US" sz="1200" kern="0" spc="-24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a </a:t>
            </a:r>
            <a:r>
              <a:rPr lang="en-US" sz="1200" kern="0" spc="-24" dirty="0" err="1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lógica</a:t>
            </a:r>
            <a:r>
              <a:rPr lang="en-US" sz="1200" kern="0" spc="-24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en-US" sz="1200" kern="0" spc="-24" dirty="0" err="1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em</a:t>
            </a:r>
            <a:r>
              <a:rPr lang="en-US" sz="1200" kern="0" spc="-24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en-US" sz="1200" kern="0" spc="-24" dirty="0" err="1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código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5352682" y="1628094"/>
            <a:ext cx="1613822" cy="3327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850" b="1" kern="0" spc="-56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Algoritmo</a:t>
            </a:r>
            <a:endParaRPr lang="en-US" sz="1850" dirty="0"/>
          </a:p>
        </p:txBody>
      </p:sp>
      <p:sp>
        <p:nvSpPr>
          <p:cNvPr id="13" name="Text 10"/>
          <p:cNvSpPr/>
          <p:nvPr/>
        </p:nvSpPr>
        <p:spPr>
          <a:xfrm>
            <a:off x="5352682" y="1889644"/>
            <a:ext cx="1613822" cy="52219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200" kern="0" spc="-24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Descrever lógica passo a passo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661474" y="4912932"/>
            <a:ext cx="5319083" cy="3169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00" b="1" kern="0" spc="-28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Algoritmo (lógica)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6211137" y="4885732"/>
            <a:ext cx="5319083" cy="4572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00" b="1" kern="0" spc="-28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Código Python</a:t>
            </a:r>
            <a:endParaRPr lang="en-US" sz="1800" dirty="0"/>
          </a:p>
        </p:txBody>
      </p:sp>
      <p:grpSp>
        <p:nvGrpSpPr>
          <p:cNvPr id="26" name="Agrupar 25">
            <a:extLst>
              <a:ext uri="{FF2B5EF4-FFF2-40B4-BE49-F238E27FC236}">
                <a16:creationId xmlns:a16="http://schemas.microsoft.com/office/drawing/2014/main" id="{793FEAC3-3AA9-F93C-461A-C79BE3052E77}"/>
              </a:ext>
            </a:extLst>
          </p:cNvPr>
          <p:cNvGrpSpPr/>
          <p:nvPr/>
        </p:nvGrpSpPr>
        <p:grpSpPr>
          <a:xfrm>
            <a:off x="6217487" y="5339950"/>
            <a:ext cx="5319083" cy="1295033"/>
            <a:chOff x="6217487" y="5404118"/>
            <a:chExt cx="5319083" cy="1295033"/>
          </a:xfrm>
        </p:grpSpPr>
        <p:sp>
          <p:nvSpPr>
            <p:cNvPr id="17" name="Shape 14"/>
            <p:cNvSpPr/>
            <p:nvPr/>
          </p:nvSpPr>
          <p:spPr>
            <a:xfrm>
              <a:off x="6217487" y="5404118"/>
              <a:ext cx="5319083" cy="1295033"/>
            </a:xfrm>
            <a:prstGeom prst="roundRect">
              <a:avLst>
                <a:gd name="adj" fmla="val 5001"/>
              </a:avLst>
            </a:prstGeom>
            <a:solidFill>
              <a:srgbClr val="F2F2F2"/>
            </a:solidFill>
            <a:ln/>
          </p:spPr>
          <p:txBody>
            <a:bodyPr/>
            <a:lstStyle/>
            <a:p>
              <a:endParaRPr lang="pt-BR"/>
            </a:p>
          </p:txBody>
        </p:sp>
        <p:sp>
          <p:nvSpPr>
            <p:cNvPr id="18" name="Text 15"/>
            <p:cNvSpPr/>
            <p:nvPr/>
          </p:nvSpPr>
          <p:spPr>
            <a:xfrm>
              <a:off x="6330891" y="5493506"/>
              <a:ext cx="5092275" cy="11162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>
              <a:normAutofit/>
            </a:bodyPr>
            <a:lstStyle/>
            <a:p>
              <a:pPr marL="0" indent="0" algn="l">
                <a:lnSpc>
                  <a:spcPct val="133000"/>
                </a:lnSpc>
                <a:buNone/>
              </a:pPr>
              <a:r>
                <a:rPr lang="en-US" kern="0" spc="-15" dirty="0">
                  <a:solidFill>
                    <a:srgbClr val="24292E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nota1 = 7</a:t>
              </a:r>
              <a:endParaRPr lang="en-US" dirty="0"/>
            </a:p>
            <a:p>
              <a:pPr marL="0" indent="0" algn="l">
                <a:lnSpc>
                  <a:spcPct val="133000"/>
                </a:lnSpc>
                <a:buNone/>
              </a:pPr>
              <a:r>
                <a:rPr lang="en-US" kern="0" spc="-15" dirty="0">
                  <a:solidFill>
                    <a:srgbClr val="24292E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nota2 = 9</a:t>
              </a:r>
              <a:endParaRPr lang="en-US" dirty="0"/>
            </a:p>
            <a:p>
              <a:pPr marL="0" indent="0" algn="l">
                <a:lnSpc>
                  <a:spcPct val="133000"/>
                </a:lnSpc>
                <a:buNone/>
              </a:pPr>
              <a:r>
                <a:rPr lang="en-US" kern="0" spc="-15" dirty="0">
                  <a:solidFill>
                    <a:srgbClr val="24292E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media = (nota1 + nota2) / 2</a:t>
              </a:r>
              <a:endParaRPr lang="en-US" dirty="0"/>
            </a:p>
            <a:p>
              <a:pPr marL="0" indent="0" algn="l">
                <a:lnSpc>
                  <a:spcPct val="133000"/>
                </a:lnSpc>
                <a:buNone/>
              </a:pPr>
              <a:r>
                <a:rPr lang="en-US" kern="0" spc="-15" dirty="0">
                  <a:solidFill>
                    <a:srgbClr val="24292E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print(media)</a:t>
              </a:r>
              <a:endParaRPr lang="en-US" dirty="0"/>
            </a:p>
          </p:txBody>
        </p:sp>
      </p:grpSp>
      <p:pic>
        <p:nvPicPr>
          <p:cNvPr id="2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5929" y="6876157"/>
            <a:ext cx="118067" cy="94456"/>
          </a:xfrm>
          <a:prstGeom prst="rect">
            <a:avLst/>
          </a:prstGeom>
        </p:spPr>
      </p:pic>
      <p:sp>
        <p:nvSpPr>
          <p:cNvPr id="25" name="Text 12"/>
          <p:cNvSpPr/>
          <p:nvPr/>
        </p:nvSpPr>
        <p:spPr>
          <a:xfrm>
            <a:off x="655430" y="5333231"/>
            <a:ext cx="5319083" cy="12275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42240" indent="-142240" algn="l">
              <a:lnSpc>
                <a:spcPct val="170000"/>
              </a:lnSpc>
              <a:buSzPct val="100000"/>
              <a:buFont typeface="+mj-lt"/>
              <a:buAutoNum type="arabicPeriod"/>
            </a:pPr>
            <a:r>
              <a:rPr lang="en-US" sz="1200" kern="0" spc="-15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Receber duas notas</a:t>
            </a:r>
            <a:endParaRPr lang="en-US" sz="1200" dirty="0"/>
          </a:p>
          <a:p>
            <a:pPr marL="142240" indent="-142240" algn="l">
              <a:lnSpc>
                <a:spcPct val="170000"/>
              </a:lnSpc>
              <a:buSzPct val="100000"/>
              <a:buFont typeface="+mj-lt"/>
              <a:buAutoNum type="arabicPeriod" startAt="2"/>
            </a:pPr>
            <a:r>
              <a:rPr lang="en-US" sz="1200" kern="0" spc="-15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Somar as notas</a:t>
            </a:r>
            <a:endParaRPr lang="en-US" sz="1200" dirty="0"/>
          </a:p>
          <a:p>
            <a:pPr marL="142240" indent="-142240" algn="l">
              <a:lnSpc>
                <a:spcPct val="170000"/>
              </a:lnSpc>
              <a:buSzPct val="100000"/>
              <a:buFont typeface="+mj-lt"/>
              <a:buAutoNum type="arabicPeriod" startAt="3"/>
            </a:pPr>
            <a:r>
              <a:rPr lang="en-US" sz="1200" kern="0" spc="-15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Dividir por 2</a:t>
            </a:r>
            <a:endParaRPr lang="en-US" sz="1200" dirty="0"/>
          </a:p>
          <a:p>
            <a:pPr marL="142240" indent="-142240" algn="l">
              <a:lnSpc>
                <a:spcPct val="170000"/>
              </a:lnSpc>
              <a:buSzPct val="100000"/>
              <a:buFont typeface="+mj-lt"/>
              <a:buAutoNum type="arabicPeriod" startAt="4"/>
            </a:pPr>
            <a:r>
              <a:rPr lang="en-US" sz="1200" kern="0" spc="-15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Mostrar a média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432" y="856164"/>
            <a:ext cx="10868745" cy="3783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350" b="1" kern="0" spc="-72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Entrada → Processamento → Saída</a:t>
            </a:r>
            <a:endParaRPr lang="en-US" sz="2350" dirty="0"/>
          </a:p>
        </p:txBody>
      </p:sp>
      <p:grpSp>
        <p:nvGrpSpPr>
          <p:cNvPr id="32" name="Agrupar 31">
            <a:extLst>
              <a:ext uri="{FF2B5EF4-FFF2-40B4-BE49-F238E27FC236}">
                <a16:creationId xmlns:a16="http://schemas.microsoft.com/office/drawing/2014/main" id="{526BD7DA-151D-7669-3DE6-57D16FD5A83F}"/>
              </a:ext>
            </a:extLst>
          </p:cNvPr>
          <p:cNvGrpSpPr/>
          <p:nvPr/>
        </p:nvGrpSpPr>
        <p:grpSpPr>
          <a:xfrm>
            <a:off x="2914875" y="1653381"/>
            <a:ext cx="6383575" cy="3788767"/>
            <a:chOff x="2904060" y="1077119"/>
            <a:chExt cx="6383575" cy="3788767"/>
          </a:xfrm>
        </p:grpSpPr>
        <p:pic>
          <p:nvPicPr>
            <p:cNvPr id="3" name="Image 0" descr="preencoded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904060" y="1077119"/>
              <a:ext cx="6383575" cy="3788767"/>
            </a:xfrm>
            <a:prstGeom prst="rect">
              <a:avLst/>
            </a:prstGeom>
          </p:spPr>
        </p:pic>
        <p:sp>
          <p:nvSpPr>
            <p:cNvPr id="4" name="Text 1"/>
            <p:cNvSpPr/>
            <p:nvPr/>
          </p:nvSpPr>
          <p:spPr>
            <a:xfrm>
              <a:off x="7347124" y="3461238"/>
              <a:ext cx="1586812" cy="30568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ctr">
                <a:lnSpc>
                  <a:spcPct val="104000"/>
                </a:lnSpc>
                <a:buNone/>
              </a:pPr>
              <a:r>
                <a:rPr lang="en-US" sz="1900" b="1" kern="0" spc="-58" dirty="0">
                  <a:solidFill>
                    <a:srgbClr val="272525"/>
                  </a:solidFill>
                  <a:latin typeface="Inter Bold" pitchFamily="34" charset="0"/>
                  <a:ea typeface="Inter Bold" pitchFamily="34" charset="-122"/>
                  <a:cs typeface="Inter Bold" pitchFamily="34" charset="-120"/>
                </a:rPr>
                <a:t>Saída</a:t>
              </a:r>
              <a:endParaRPr lang="en-US" sz="1900" dirty="0"/>
            </a:p>
          </p:txBody>
        </p:sp>
        <p:sp>
          <p:nvSpPr>
            <p:cNvPr id="5" name="Text 2"/>
            <p:cNvSpPr/>
            <p:nvPr/>
          </p:nvSpPr>
          <p:spPr>
            <a:xfrm>
              <a:off x="5301223" y="3461238"/>
              <a:ext cx="1831535" cy="61137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>
              <a:normAutofit/>
            </a:bodyPr>
            <a:lstStyle/>
            <a:p>
              <a:pPr marL="0" indent="0" algn="ctr">
                <a:lnSpc>
                  <a:spcPct val="104000"/>
                </a:lnSpc>
                <a:buNone/>
              </a:pPr>
              <a:r>
                <a:rPr lang="en-US" sz="1900" b="1" kern="0" spc="-58" dirty="0">
                  <a:solidFill>
                    <a:srgbClr val="272525"/>
                  </a:solidFill>
                  <a:latin typeface="Inter Bold" pitchFamily="34" charset="0"/>
                  <a:ea typeface="Inter Bold" pitchFamily="34" charset="-122"/>
                  <a:cs typeface="Inter Bold" pitchFamily="34" charset="-120"/>
                </a:rPr>
                <a:t>Processamento</a:t>
              </a:r>
              <a:endParaRPr lang="en-US" sz="1900" dirty="0"/>
            </a:p>
          </p:txBody>
        </p:sp>
        <p:sp>
          <p:nvSpPr>
            <p:cNvPr id="6" name="Text 3"/>
            <p:cNvSpPr/>
            <p:nvPr/>
          </p:nvSpPr>
          <p:spPr>
            <a:xfrm>
              <a:off x="3250715" y="3429000"/>
              <a:ext cx="1586812" cy="30568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ctr">
                <a:lnSpc>
                  <a:spcPct val="104000"/>
                </a:lnSpc>
                <a:buNone/>
              </a:pPr>
              <a:r>
                <a:rPr lang="en-US" sz="1900" b="1" kern="0" spc="-58" dirty="0">
                  <a:solidFill>
                    <a:srgbClr val="272525"/>
                  </a:solidFill>
                  <a:latin typeface="Inter Bold" pitchFamily="34" charset="0"/>
                  <a:ea typeface="Inter Bold" pitchFamily="34" charset="-122"/>
                  <a:cs typeface="Inter Bold" pitchFamily="34" charset="-120"/>
                </a:rPr>
                <a:t>Entrada</a:t>
              </a:r>
              <a:endParaRPr lang="en-US" sz="1900" dirty="0"/>
            </a:p>
          </p:txBody>
        </p:sp>
      </p:grpSp>
      <p:grpSp>
        <p:nvGrpSpPr>
          <p:cNvPr id="33" name="Agrupar 32">
            <a:extLst>
              <a:ext uri="{FF2B5EF4-FFF2-40B4-BE49-F238E27FC236}">
                <a16:creationId xmlns:a16="http://schemas.microsoft.com/office/drawing/2014/main" id="{0E992A71-88D9-267A-434C-47FFE47234D7}"/>
              </a:ext>
            </a:extLst>
          </p:cNvPr>
          <p:cNvGrpSpPr/>
          <p:nvPr/>
        </p:nvGrpSpPr>
        <p:grpSpPr>
          <a:xfrm>
            <a:off x="661475" y="4779231"/>
            <a:ext cx="11350936" cy="1361182"/>
            <a:chOff x="661475" y="4953099"/>
            <a:chExt cx="11350936" cy="1361182"/>
          </a:xfrm>
        </p:grpSpPr>
        <p:sp>
          <p:nvSpPr>
            <p:cNvPr id="7" name="Shape 4"/>
            <p:cNvSpPr/>
            <p:nvPr/>
          </p:nvSpPr>
          <p:spPr>
            <a:xfrm>
              <a:off x="661475" y="4953099"/>
              <a:ext cx="10868745" cy="1361182"/>
            </a:xfrm>
            <a:prstGeom prst="roundRect">
              <a:avLst>
                <a:gd name="adj" fmla="val 3736"/>
              </a:avLst>
            </a:prstGeom>
            <a:noFill/>
            <a:ln w="6350">
              <a:solidFill>
                <a:srgbClr val="000000">
                  <a:alpha val="8000"/>
                </a:srgbClr>
              </a:solidFill>
              <a:prstDash val="solid"/>
            </a:ln>
          </p:spPr>
          <p:txBody>
            <a:bodyPr/>
            <a:lstStyle/>
            <a:p>
              <a:endParaRPr lang="pt-BR" sz="1600"/>
            </a:p>
          </p:txBody>
        </p:sp>
        <p:sp>
          <p:nvSpPr>
            <p:cNvPr id="8" name="Shape 5"/>
            <p:cNvSpPr/>
            <p:nvPr/>
          </p:nvSpPr>
          <p:spPr>
            <a:xfrm>
              <a:off x="661475" y="5227241"/>
              <a:ext cx="10868745" cy="7568"/>
            </a:xfrm>
            <a:prstGeom prst="rect">
              <a:avLst/>
            </a:prstGeom>
            <a:solidFill>
              <a:srgbClr val="000000">
                <a:alpha val="8000"/>
              </a:srgbClr>
            </a:solidFill>
            <a:ln/>
          </p:spPr>
          <p:txBody>
            <a:bodyPr/>
            <a:lstStyle/>
            <a:p>
              <a:endParaRPr lang="pt-BR" sz="1600"/>
            </a:p>
          </p:txBody>
        </p:sp>
        <p:sp>
          <p:nvSpPr>
            <p:cNvPr id="9" name="Shape 6"/>
            <p:cNvSpPr/>
            <p:nvPr/>
          </p:nvSpPr>
          <p:spPr>
            <a:xfrm>
              <a:off x="661475" y="5498207"/>
              <a:ext cx="10868745" cy="7568"/>
            </a:xfrm>
            <a:prstGeom prst="rect">
              <a:avLst/>
            </a:prstGeom>
            <a:solidFill>
              <a:srgbClr val="000000">
                <a:alpha val="8000"/>
              </a:srgbClr>
            </a:solidFill>
            <a:ln/>
          </p:spPr>
          <p:txBody>
            <a:bodyPr/>
            <a:lstStyle/>
            <a:p>
              <a:endParaRPr lang="pt-BR" sz="1600"/>
            </a:p>
          </p:txBody>
        </p:sp>
        <p:sp>
          <p:nvSpPr>
            <p:cNvPr id="10" name="Shape 7"/>
            <p:cNvSpPr/>
            <p:nvPr/>
          </p:nvSpPr>
          <p:spPr>
            <a:xfrm>
              <a:off x="661475" y="5769173"/>
              <a:ext cx="10868745" cy="7568"/>
            </a:xfrm>
            <a:prstGeom prst="rect">
              <a:avLst/>
            </a:prstGeom>
            <a:solidFill>
              <a:srgbClr val="000000">
                <a:alpha val="8000"/>
              </a:srgbClr>
            </a:solidFill>
            <a:ln/>
          </p:spPr>
          <p:txBody>
            <a:bodyPr/>
            <a:lstStyle/>
            <a:p>
              <a:endParaRPr lang="pt-BR" sz="1600"/>
            </a:p>
          </p:txBody>
        </p:sp>
        <p:sp>
          <p:nvSpPr>
            <p:cNvPr id="11" name="Shape 8"/>
            <p:cNvSpPr/>
            <p:nvPr/>
          </p:nvSpPr>
          <p:spPr>
            <a:xfrm>
              <a:off x="661475" y="6040140"/>
              <a:ext cx="10868745" cy="7568"/>
            </a:xfrm>
            <a:prstGeom prst="rect">
              <a:avLst/>
            </a:prstGeom>
            <a:solidFill>
              <a:srgbClr val="000000">
                <a:alpha val="8000"/>
              </a:srgbClr>
            </a:solidFill>
            <a:ln/>
          </p:spPr>
          <p:txBody>
            <a:bodyPr/>
            <a:lstStyle/>
            <a:p>
              <a:endParaRPr lang="pt-BR" sz="1600"/>
            </a:p>
          </p:txBody>
        </p:sp>
        <p:sp>
          <p:nvSpPr>
            <p:cNvPr id="12" name="Text 9"/>
            <p:cNvSpPr/>
            <p:nvPr/>
          </p:nvSpPr>
          <p:spPr>
            <a:xfrm>
              <a:off x="789067" y="5012333"/>
              <a:ext cx="3081459" cy="158849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ct val="109000"/>
                </a:lnSpc>
                <a:buNone/>
              </a:pPr>
              <a:r>
                <a:rPr lang="en-US" sz="1200" b="1" kern="0" spc="-19" dirty="0">
                  <a:solidFill>
                    <a:srgbClr val="272525"/>
                  </a:solidFill>
                  <a:latin typeface="Inter Bold" pitchFamily="34" charset="0"/>
                  <a:ea typeface="Inter Bold" pitchFamily="34" charset="-122"/>
                  <a:cs typeface="Inter Bold" pitchFamily="34" charset="-120"/>
                </a:rPr>
                <a:t>Problema</a:t>
              </a:r>
              <a:endParaRPr lang="en-US" sz="1200" dirty="0"/>
            </a:p>
          </p:txBody>
        </p:sp>
        <p:sp>
          <p:nvSpPr>
            <p:cNvPr id="13" name="Text 10"/>
            <p:cNvSpPr/>
            <p:nvPr/>
          </p:nvSpPr>
          <p:spPr>
            <a:xfrm>
              <a:off x="3503029" y="5012333"/>
              <a:ext cx="3081459" cy="158849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ct val="109000"/>
                </a:lnSpc>
                <a:buNone/>
              </a:pPr>
              <a:r>
                <a:rPr lang="en-US" sz="1200" b="1" kern="0" spc="-19" dirty="0">
                  <a:solidFill>
                    <a:srgbClr val="272525"/>
                  </a:solidFill>
                  <a:latin typeface="Inter Bold" pitchFamily="34" charset="0"/>
                  <a:ea typeface="Inter Bold" pitchFamily="34" charset="-122"/>
                  <a:cs typeface="Inter Bold" pitchFamily="34" charset="-120"/>
                </a:rPr>
                <a:t>Entrada</a:t>
              </a:r>
              <a:endParaRPr lang="en-US" sz="1200" dirty="0"/>
            </a:p>
          </p:txBody>
        </p:sp>
        <p:sp>
          <p:nvSpPr>
            <p:cNvPr id="14" name="Text 11"/>
            <p:cNvSpPr/>
            <p:nvPr/>
          </p:nvSpPr>
          <p:spPr>
            <a:xfrm>
              <a:off x="6216991" y="5012333"/>
              <a:ext cx="3081459" cy="158849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ct val="109000"/>
                </a:lnSpc>
                <a:buNone/>
              </a:pPr>
              <a:r>
                <a:rPr lang="en-US" sz="1200" b="1" kern="0" spc="-19" dirty="0">
                  <a:solidFill>
                    <a:srgbClr val="272525"/>
                  </a:solidFill>
                  <a:latin typeface="Inter Bold" pitchFamily="34" charset="0"/>
                  <a:ea typeface="Inter Bold" pitchFamily="34" charset="-122"/>
                  <a:cs typeface="Inter Bold" pitchFamily="34" charset="-120"/>
                </a:rPr>
                <a:t>Processamento</a:t>
              </a:r>
              <a:endParaRPr lang="en-US" sz="1200" dirty="0"/>
            </a:p>
          </p:txBody>
        </p:sp>
        <p:sp>
          <p:nvSpPr>
            <p:cNvPr id="15" name="Text 12"/>
            <p:cNvSpPr/>
            <p:nvPr/>
          </p:nvSpPr>
          <p:spPr>
            <a:xfrm>
              <a:off x="8930952" y="5012333"/>
              <a:ext cx="3081459" cy="158849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ct val="109000"/>
                </a:lnSpc>
                <a:buNone/>
              </a:pPr>
              <a:r>
                <a:rPr lang="en-US" sz="1200" b="1" kern="0" spc="-19" dirty="0">
                  <a:solidFill>
                    <a:srgbClr val="272525"/>
                  </a:solidFill>
                  <a:latin typeface="Inter Bold" pitchFamily="34" charset="0"/>
                  <a:ea typeface="Inter Bold" pitchFamily="34" charset="-122"/>
                  <a:cs typeface="Inter Bold" pitchFamily="34" charset="-120"/>
                </a:rPr>
                <a:t>Saída</a:t>
              </a:r>
              <a:endParaRPr lang="en-US" sz="1200" dirty="0"/>
            </a:p>
          </p:txBody>
        </p:sp>
        <p:sp>
          <p:nvSpPr>
            <p:cNvPr id="16" name="Text 13"/>
            <p:cNvSpPr/>
            <p:nvPr/>
          </p:nvSpPr>
          <p:spPr>
            <a:xfrm>
              <a:off x="789067" y="5283299"/>
              <a:ext cx="3081459" cy="158849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ct val="109000"/>
                </a:lnSpc>
                <a:buNone/>
              </a:pPr>
              <a:r>
                <a:rPr lang="en-US" sz="1200" kern="0" spc="-19" dirty="0">
                  <a:solidFill>
                    <a:srgbClr val="272525"/>
                  </a:solidFill>
                  <a:latin typeface="Inter" pitchFamily="34" charset="0"/>
                  <a:ea typeface="Inter" pitchFamily="34" charset="-122"/>
                  <a:cs typeface="Inter" pitchFamily="34" charset="-120"/>
                </a:rPr>
                <a:t>Somar dois números</a:t>
              </a:r>
              <a:endParaRPr lang="en-US" sz="1200" dirty="0"/>
            </a:p>
          </p:txBody>
        </p:sp>
        <p:sp>
          <p:nvSpPr>
            <p:cNvPr id="17" name="Text 14"/>
            <p:cNvSpPr/>
            <p:nvPr/>
          </p:nvSpPr>
          <p:spPr>
            <a:xfrm>
              <a:off x="3503029" y="5283299"/>
              <a:ext cx="3081459" cy="158849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ct val="109000"/>
                </a:lnSpc>
                <a:buNone/>
              </a:pPr>
              <a:r>
                <a:rPr lang="en-US" sz="1200" kern="0" spc="-19" dirty="0">
                  <a:solidFill>
                    <a:srgbClr val="272525"/>
                  </a:solidFill>
                  <a:latin typeface="Inter" pitchFamily="34" charset="0"/>
                  <a:ea typeface="Inter" pitchFamily="34" charset="-122"/>
                  <a:cs typeface="Inter" pitchFamily="34" charset="-120"/>
                </a:rPr>
                <a:t>n1, n2</a:t>
              </a:r>
              <a:endParaRPr lang="en-US" sz="1200" dirty="0"/>
            </a:p>
          </p:txBody>
        </p:sp>
        <p:sp>
          <p:nvSpPr>
            <p:cNvPr id="18" name="Text 15"/>
            <p:cNvSpPr/>
            <p:nvPr/>
          </p:nvSpPr>
          <p:spPr>
            <a:xfrm>
              <a:off x="6216991" y="5283299"/>
              <a:ext cx="3081459" cy="158849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ct val="109000"/>
                </a:lnSpc>
                <a:buNone/>
              </a:pPr>
              <a:r>
                <a:rPr lang="en-US" sz="1200" kern="0" spc="-19" dirty="0">
                  <a:solidFill>
                    <a:srgbClr val="272525"/>
                  </a:solidFill>
                  <a:latin typeface="Inter" pitchFamily="34" charset="0"/>
                  <a:ea typeface="Inter" pitchFamily="34" charset="-122"/>
                  <a:cs typeface="Inter" pitchFamily="34" charset="-120"/>
                </a:rPr>
                <a:t>n1 + n2</a:t>
              </a:r>
              <a:endParaRPr lang="en-US" sz="1200" dirty="0"/>
            </a:p>
          </p:txBody>
        </p:sp>
        <p:sp>
          <p:nvSpPr>
            <p:cNvPr id="19" name="Text 16"/>
            <p:cNvSpPr/>
            <p:nvPr/>
          </p:nvSpPr>
          <p:spPr>
            <a:xfrm>
              <a:off x="8930952" y="5283299"/>
              <a:ext cx="3081459" cy="158849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ct val="109000"/>
                </a:lnSpc>
                <a:buNone/>
              </a:pPr>
              <a:r>
                <a:rPr lang="en-US" sz="1200" kern="0" spc="-19" dirty="0">
                  <a:solidFill>
                    <a:srgbClr val="272525"/>
                  </a:solidFill>
                  <a:latin typeface="Inter" pitchFamily="34" charset="0"/>
                  <a:ea typeface="Inter" pitchFamily="34" charset="-122"/>
                  <a:cs typeface="Inter" pitchFamily="34" charset="-120"/>
                </a:rPr>
                <a:t>soma</a:t>
              </a:r>
              <a:endParaRPr lang="en-US" sz="1200" dirty="0"/>
            </a:p>
          </p:txBody>
        </p:sp>
        <p:sp>
          <p:nvSpPr>
            <p:cNvPr id="20" name="Text 17"/>
            <p:cNvSpPr/>
            <p:nvPr/>
          </p:nvSpPr>
          <p:spPr>
            <a:xfrm>
              <a:off x="789067" y="5554266"/>
              <a:ext cx="3081459" cy="158849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ct val="109000"/>
                </a:lnSpc>
                <a:buNone/>
              </a:pPr>
              <a:r>
                <a:rPr lang="en-US" sz="1200" kern="0" spc="-19" dirty="0">
                  <a:solidFill>
                    <a:srgbClr val="272525"/>
                  </a:solidFill>
                  <a:latin typeface="Inter" pitchFamily="34" charset="0"/>
                  <a:ea typeface="Inter" pitchFamily="34" charset="-122"/>
                  <a:cs typeface="Inter" pitchFamily="34" charset="-120"/>
                </a:rPr>
                <a:t>Calcular média</a:t>
              </a:r>
              <a:endParaRPr lang="en-US" sz="1200" dirty="0"/>
            </a:p>
          </p:txBody>
        </p:sp>
        <p:sp>
          <p:nvSpPr>
            <p:cNvPr id="21" name="Text 18"/>
            <p:cNvSpPr/>
            <p:nvPr/>
          </p:nvSpPr>
          <p:spPr>
            <a:xfrm>
              <a:off x="3503029" y="5554266"/>
              <a:ext cx="3081459" cy="158849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ct val="109000"/>
                </a:lnSpc>
                <a:buNone/>
              </a:pPr>
              <a:r>
                <a:rPr lang="en-US" sz="1200" kern="0" spc="-19" dirty="0">
                  <a:solidFill>
                    <a:srgbClr val="272525"/>
                  </a:solidFill>
                  <a:latin typeface="Inter" pitchFamily="34" charset="0"/>
                  <a:ea typeface="Inter" pitchFamily="34" charset="-122"/>
                  <a:cs typeface="Inter" pitchFamily="34" charset="-120"/>
                </a:rPr>
                <a:t>nota1, nota2</a:t>
              </a:r>
              <a:endParaRPr lang="en-US" sz="1200" dirty="0"/>
            </a:p>
          </p:txBody>
        </p:sp>
        <p:sp>
          <p:nvSpPr>
            <p:cNvPr id="22" name="Text 19"/>
            <p:cNvSpPr/>
            <p:nvPr/>
          </p:nvSpPr>
          <p:spPr>
            <a:xfrm>
              <a:off x="6216991" y="5554266"/>
              <a:ext cx="3081459" cy="158849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ct val="109000"/>
                </a:lnSpc>
                <a:buNone/>
              </a:pPr>
              <a:r>
                <a:rPr lang="en-US" sz="1200" kern="0" spc="-19" dirty="0">
                  <a:solidFill>
                    <a:srgbClr val="272525"/>
                  </a:solidFill>
                  <a:latin typeface="Inter" pitchFamily="34" charset="0"/>
                  <a:ea typeface="Inter" pitchFamily="34" charset="-122"/>
                  <a:cs typeface="Inter" pitchFamily="34" charset="-120"/>
                </a:rPr>
                <a:t>(n1+n2)/2</a:t>
              </a:r>
              <a:endParaRPr lang="en-US" sz="1200" dirty="0"/>
            </a:p>
          </p:txBody>
        </p:sp>
        <p:sp>
          <p:nvSpPr>
            <p:cNvPr id="23" name="Text 20"/>
            <p:cNvSpPr/>
            <p:nvPr/>
          </p:nvSpPr>
          <p:spPr>
            <a:xfrm>
              <a:off x="8930952" y="5554266"/>
              <a:ext cx="3081459" cy="158849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ct val="109000"/>
                </a:lnSpc>
                <a:buNone/>
              </a:pPr>
              <a:r>
                <a:rPr lang="en-US" sz="1200" kern="0" spc="-19" dirty="0">
                  <a:solidFill>
                    <a:srgbClr val="272525"/>
                  </a:solidFill>
                  <a:latin typeface="Inter" pitchFamily="34" charset="0"/>
                  <a:ea typeface="Inter" pitchFamily="34" charset="-122"/>
                  <a:cs typeface="Inter" pitchFamily="34" charset="-120"/>
                </a:rPr>
                <a:t>média</a:t>
              </a:r>
              <a:endParaRPr lang="en-US" sz="1200" dirty="0"/>
            </a:p>
          </p:txBody>
        </p:sp>
        <p:sp>
          <p:nvSpPr>
            <p:cNvPr id="24" name="Text 21"/>
            <p:cNvSpPr/>
            <p:nvPr/>
          </p:nvSpPr>
          <p:spPr>
            <a:xfrm>
              <a:off x="789067" y="5825232"/>
              <a:ext cx="3081459" cy="158849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ct val="109000"/>
                </a:lnSpc>
                <a:buNone/>
              </a:pPr>
              <a:r>
                <a:rPr lang="en-US" sz="1200" kern="0" spc="-19" dirty="0">
                  <a:solidFill>
                    <a:srgbClr val="272525"/>
                  </a:solidFill>
                  <a:latin typeface="Inter" pitchFamily="34" charset="0"/>
                  <a:ea typeface="Inter" pitchFamily="34" charset="-122"/>
                  <a:cs typeface="Inter" pitchFamily="34" charset="-120"/>
                </a:rPr>
                <a:t>Área do retângulo</a:t>
              </a:r>
              <a:endParaRPr lang="en-US" sz="1200" dirty="0"/>
            </a:p>
          </p:txBody>
        </p:sp>
        <p:sp>
          <p:nvSpPr>
            <p:cNvPr id="25" name="Text 22"/>
            <p:cNvSpPr/>
            <p:nvPr/>
          </p:nvSpPr>
          <p:spPr>
            <a:xfrm>
              <a:off x="3503029" y="5825232"/>
              <a:ext cx="3081459" cy="158849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ct val="109000"/>
                </a:lnSpc>
                <a:buNone/>
              </a:pPr>
              <a:r>
                <a:rPr lang="en-US" sz="1200" kern="0" spc="-19" dirty="0">
                  <a:solidFill>
                    <a:srgbClr val="272525"/>
                  </a:solidFill>
                  <a:latin typeface="Inter" pitchFamily="34" charset="0"/>
                  <a:ea typeface="Inter" pitchFamily="34" charset="-122"/>
                  <a:cs typeface="Inter" pitchFamily="34" charset="-120"/>
                </a:rPr>
                <a:t>base, altura</a:t>
              </a:r>
              <a:endParaRPr lang="en-US" sz="1200" dirty="0"/>
            </a:p>
          </p:txBody>
        </p:sp>
        <p:sp>
          <p:nvSpPr>
            <p:cNvPr id="26" name="Text 23"/>
            <p:cNvSpPr/>
            <p:nvPr/>
          </p:nvSpPr>
          <p:spPr>
            <a:xfrm>
              <a:off x="6216991" y="5825232"/>
              <a:ext cx="3081459" cy="158849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ct val="109000"/>
                </a:lnSpc>
                <a:buNone/>
              </a:pPr>
              <a:r>
                <a:rPr lang="en-US" sz="1200" kern="0" spc="-19" dirty="0">
                  <a:solidFill>
                    <a:srgbClr val="272525"/>
                  </a:solidFill>
                  <a:latin typeface="Inter" pitchFamily="34" charset="0"/>
                  <a:ea typeface="Inter" pitchFamily="34" charset="-122"/>
                  <a:cs typeface="Inter" pitchFamily="34" charset="-120"/>
                </a:rPr>
                <a:t>base * altura</a:t>
              </a:r>
              <a:endParaRPr lang="en-US" sz="1200" dirty="0"/>
            </a:p>
          </p:txBody>
        </p:sp>
        <p:sp>
          <p:nvSpPr>
            <p:cNvPr id="27" name="Text 24"/>
            <p:cNvSpPr/>
            <p:nvPr/>
          </p:nvSpPr>
          <p:spPr>
            <a:xfrm>
              <a:off x="8930952" y="5825232"/>
              <a:ext cx="3081459" cy="158849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ct val="109000"/>
                </a:lnSpc>
                <a:buNone/>
              </a:pPr>
              <a:r>
                <a:rPr lang="en-US" sz="1200" kern="0" spc="-19" dirty="0">
                  <a:solidFill>
                    <a:srgbClr val="272525"/>
                  </a:solidFill>
                  <a:latin typeface="Inter" pitchFamily="34" charset="0"/>
                  <a:ea typeface="Inter" pitchFamily="34" charset="-122"/>
                  <a:cs typeface="Inter" pitchFamily="34" charset="-120"/>
                </a:rPr>
                <a:t>área</a:t>
              </a:r>
              <a:endParaRPr lang="en-US" sz="1200" dirty="0"/>
            </a:p>
          </p:txBody>
        </p:sp>
        <p:sp>
          <p:nvSpPr>
            <p:cNvPr id="28" name="Text 25"/>
            <p:cNvSpPr/>
            <p:nvPr/>
          </p:nvSpPr>
          <p:spPr>
            <a:xfrm>
              <a:off x="789067" y="6096198"/>
              <a:ext cx="3081459" cy="158849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ct val="109000"/>
                </a:lnSpc>
                <a:buNone/>
              </a:pPr>
              <a:r>
                <a:rPr lang="en-US" sz="1200" kern="0" spc="-19" dirty="0">
                  <a:solidFill>
                    <a:srgbClr val="272525"/>
                  </a:solidFill>
                  <a:latin typeface="Inter" pitchFamily="34" charset="0"/>
                  <a:ea typeface="Inter" pitchFamily="34" charset="-122"/>
                  <a:cs typeface="Inter" pitchFamily="34" charset="-120"/>
                </a:rPr>
                <a:t>Converter °C → °F</a:t>
              </a:r>
              <a:endParaRPr lang="en-US" sz="1200" dirty="0"/>
            </a:p>
          </p:txBody>
        </p:sp>
        <p:sp>
          <p:nvSpPr>
            <p:cNvPr id="29" name="Text 26"/>
            <p:cNvSpPr/>
            <p:nvPr/>
          </p:nvSpPr>
          <p:spPr>
            <a:xfrm>
              <a:off x="3503029" y="6096198"/>
              <a:ext cx="3081459" cy="158849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ct val="109000"/>
                </a:lnSpc>
                <a:buNone/>
              </a:pPr>
              <a:r>
                <a:rPr lang="en-US" sz="1200" kern="0" spc="-19" dirty="0">
                  <a:solidFill>
                    <a:srgbClr val="272525"/>
                  </a:solidFill>
                  <a:latin typeface="Inter" pitchFamily="34" charset="0"/>
                  <a:ea typeface="Inter" pitchFamily="34" charset="-122"/>
                  <a:cs typeface="Inter" pitchFamily="34" charset="-120"/>
                </a:rPr>
                <a:t>celsius</a:t>
              </a:r>
              <a:endParaRPr lang="en-US" sz="1200" dirty="0"/>
            </a:p>
          </p:txBody>
        </p:sp>
        <p:sp>
          <p:nvSpPr>
            <p:cNvPr id="30" name="Text 27"/>
            <p:cNvSpPr/>
            <p:nvPr/>
          </p:nvSpPr>
          <p:spPr>
            <a:xfrm>
              <a:off x="6216991" y="6096198"/>
              <a:ext cx="3081459" cy="158849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ct val="109000"/>
                </a:lnSpc>
                <a:buNone/>
              </a:pPr>
              <a:r>
                <a:rPr lang="en-US" sz="1200" kern="0" spc="-19" dirty="0">
                  <a:solidFill>
                    <a:srgbClr val="272525"/>
                  </a:solidFill>
                  <a:latin typeface="Inter" pitchFamily="34" charset="0"/>
                  <a:ea typeface="Inter" pitchFamily="34" charset="-122"/>
                  <a:cs typeface="Inter" pitchFamily="34" charset="-120"/>
                </a:rPr>
                <a:t>C*9/5 + 32</a:t>
              </a:r>
              <a:endParaRPr lang="en-US" sz="1200" dirty="0"/>
            </a:p>
          </p:txBody>
        </p:sp>
        <p:sp>
          <p:nvSpPr>
            <p:cNvPr id="31" name="Text 28"/>
            <p:cNvSpPr/>
            <p:nvPr/>
          </p:nvSpPr>
          <p:spPr>
            <a:xfrm>
              <a:off x="8930952" y="6096198"/>
              <a:ext cx="3081459" cy="158849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ct val="109000"/>
                </a:lnSpc>
                <a:buNone/>
              </a:pPr>
              <a:r>
                <a:rPr lang="en-US" sz="1200" kern="0" spc="-19" dirty="0">
                  <a:solidFill>
                    <a:srgbClr val="272525"/>
                  </a:solidFill>
                  <a:latin typeface="Inter" pitchFamily="34" charset="0"/>
                  <a:ea typeface="Inter" pitchFamily="34" charset="-122"/>
                  <a:cs typeface="Inter" pitchFamily="34" charset="-120"/>
                </a:rPr>
                <a:t>fahrenheit</a:t>
              </a:r>
              <a:endParaRPr lang="en-US" sz="1200" dirty="0"/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845844" y="865721"/>
            <a:ext cx="6296860" cy="3598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250" b="1" kern="0" spc="-68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Tipos de Dados em Python</a:t>
            </a:r>
            <a:endParaRPr lang="en-US" sz="2250" dirty="0"/>
          </a:p>
        </p:txBody>
      </p:sp>
      <p:grpSp>
        <p:nvGrpSpPr>
          <p:cNvPr id="2" name="Agrupar 1">
            <a:extLst>
              <a:ext uri="{FF2B5EF4-FFF2-40B4-BE49-F238E27FC236}">
                <a16:creationId xmlns:a16="http://schemas.microsoft.com/office/drawing/2014/main" id="{C3F97F5B-EB53-E75B-AC85-21CB3F1D55E5}"/>
              </a:ext>
            </a:extLst>
          </p:cNvPr>
          <p:cNvGrpSpPr/>
          <p:nvPr/>
        </p:nvGrpSpPr>
        <p:grpSpPr>
          <a:xfrm>
            <a:off x="1664000" y="2168394"/>
            <a:ext cx="3600000" cy="1800000"/>
            <a:chOff x="945840" y="1628973"/>
            <a:chExt cx="6296860" cy="1106388"/>
          </a:xfrm>
        </p:grpSpPr>
        <p:sp>
          <p:nvSpPr>
            <p:cNvPr id="4" name="Shape 1"/>
            <p:cNvSpPr/>
            <p:nvPr/>
          </p:nvSpPr>
          <p:spPr>
            <a:xfrm>
              <a:off x="945840" y="1628973"/>
              <a:ext cx="6296860" cy="1106388"/>
            </a:xfrm>
            <a:prstGeom prst="roundRect">
              <a:avLst>
                <a:gd name="adj" fmla="val 4373"/>
              </a:avLst>
            </a:prstGeom>
            <a:solidFill>
              <a:srgbClr val="DADBF1"/>
            </a:solidFill>
            <a:ln w="6350">
              <a:solidFill>
                <a:srgbClr val="C0C1D7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5" name="Text 2"/>
            <p:cNvSpPr/>
            <p:nvPr/>
          </p:nvSpPr>
          <p:spPr>
            <a:xfrm>
              <a:off x="1067281" y="1750417"/>
              <a:ext cx="6053978" cy="17988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ct val="104000"/>
                </a:lnSpc>
                <a:buNone/>
              </a:pPr>
              <a:r>
                <a:rPr lang="en-US" b="1" kern="0" spc="-34" dirty="0">
                  <a:solidFill>
                    <a:srgbClr val="272525"/>
                  </a:solidFill>
                  <a:latin typeface="Inter Bold" pitchFamily="34" charset="0"/>
                  <a:ea typeface="Inter Bold" pitchFamily="34" charset="-122"/>
                  <a:cs typeface="Inter Bold" pitchFamily="34" charset="-120"/>
                </a:rPr>
                <a:t>int</a:t>
              </a:r>
              <a:endParaRPr lang="en-US" dirty="0"/>
            </a:p>
          </p:txBody>
        </p:sp>
        <p:sp>
          <p:nvSpPr>
            <p:cNvPr id="6" name="Text 3"/>
            <p:cNvSpPr/>
            <p:nvPr/>
          </p:nvSpPr>
          <p:spPr>
            <a:xfrm>
              <a:off x="1067281" y="1972369"/>
              <a:ext cx="6053978" cy="148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ct val="107000"/>
                </a:lnSpc>
                <a:buNone/>
              </a:pPr>
              <a:r>
                <a:rPr lang="en-US" kern="0" spc="-18" dirty="0">
                  <a:solidFill>
                    <a:srgbClr val="272525"/>
                  </a:solidFill>
                  <a:latin typeface="Inter" pitchFamily="34" charset="0"/>
                  <a:ea typeface="Inter" pitchFamily="34" charset="-122"/>
                  <a:cs typeface="Inter" pitchFamily="34" charset="-120"/>
                </a:rPr>
                <a:t>Números inteiros</a:t>
              </a:r>
              <a:endParaRPr lang="en-US" dirty="0"/>
            </a:p>
          </p:txBody>
        </p:sp>
        <p:grpSp>
          <p:nvGrpSpPr>
            <p:cNvPr id="27" name="Agrupar 26">
              <a:extLst>
                <a:ext uri="{FF2B5EF4-FFF2-40B4-BE49-F238E27FC236}">
                  <a16:creationId xmlns:a16="http://schemas.microsoft.com/office/drawing/2014/main" id="{7A111956-94EE-A7B1-D73E-744D9335BBC0}"/>
                </a:ext>
              </a:extLst>
            </p:cNvPr>
            <p:cNvGrpSpPr/>
            <p:nvPr/>
          </p:nvGrpSpPr>
          <p:grpSpPr>
            <a:xfrm>
              <a:off x="1067281" y="2236057"/>
              <a:ext cx="6053978" cy="414437"/>
              <a:chOff x="5354801" y="2236057"/>
              <a:chExt cx="6053978" cy="414437"/>
            </a:xfrm>
          </p:grpSpPr>
          <p:sp>
            <p:nvSpPr>
              <p:cNvPr id="7" name="Shape 4"/>
              <p:cNvSpPr/>
              <p:nvPr/>
            </p:nvSpPr>
            <p:spPr>
              <a:xfrm>
                <a:off x="5354801" y="2236057"/>
                <a:ext cx="6053978" cy="414437"/>
              </a:xfrm>
              <a:prstGeom prst="roundRect">
                <a:avLst>
                  <a:gd name="adj" fmla="val 11673"/>
                </a:avLst>
              </a:prstGeom>
              <a:solidFill>
                <a:srgbClr val="F2F2F2"/>
              </a:solidFill>
              <a:ln/>
            </p:spPr>
            <p:txBody>
              <a:bodyPr/>
              <a:lstStyle/>
              <a:p>
                <a:endParaRPr lang="pt-BR"/>
              </a:p>
            </p:txBody>
          </p:sp>
          <p:sp>
            <p:nvSpPr>
              <p:cNvPr id="8" name="Text 5"/>
              <p:cNvSpPr/>
              <p:nvPr/>
            </p:nvSpPr>
            <p:spPr>
              <a:xfrm>
                <a:off x="5493009" y="2351151"/>
                <a:ext cx="5777562" cy="184249"/>
              </a:xfrm>
              <a:prstGeom prst="rect">
                <a:avLst/>
              </a:prstGeom>
              <a:noFill/>
              <a:ln/>
            </p:spPr>
            <p:txBody>
              <a:bodyPr wrap="none" lIns="0" tIns="0" rIns="0" bIns="0" rtlCol="0" anchor="t"/>
              <a:lstStyle/>
              <a:p>
                <a:pPr marL="0" indent="0" algn="l">
                  <a:lnSpc>
                    <a:spcPct val="133000"/>
                  </a:lnSpc>
                  <a:buNone/>
                </a:pPr>
                <a:r>
                  <a:rPr lang="en-US" sz="1050" kern="0" spc="-18" dirty="0">
                    <a:solidFill>
                      <a:srgbClr val="24292E"/>
                    </a:solidFill>
                    <a:latin typeface="Consolas" pitchFamily="34" charset="0"/>
                    <a:ea typeface="Consolas" pitchFamily="34" charset="-122"/>
                    <a:cs typeface="Consolas" pitchFamily="34" charset="-120"/>
                  </a:rPr>
                  <a:t>idade = 25</a:t>
                </a:r>
                <a:endParaRPr lang="en-US" sz="1050" dirty="0"/>
              </a:p>
            </p:txBody>
          </p:sp>
        </p:grpSp>
      </p:grpSp>
      <p:grpSp>
        <p:nvGrpSpPr>
          <p:cNvPr id="24" name="Agrupar 23">
            <a:extLst>
              <a:ext uri="{FF2B5EF4-FFF2-40B4-BE49-F238E27FC236}">
                <a16:creationId xmlns:a16="http://schemas.microsoft.com/office/drawing/2014/main" id="{74036BBD-5788-7429-E26C-C7C4993AA046}"/>
              </a:ext>
            </a:extLst>
          </p:cNvPr>
          <p:cNvGrpSpPr/>
          <p:nvPr/>
        </p:nvGrpSpPr>
        <p:grpSpPr>
          <a:xfrm>
            <a:off x="6928000" y="4336295"/>
            <a:ext cx="3600000" cy="1800000"/>
            <a:chOff x="945840" y="2805509"/>
            <a:chExt cx="6296860" cy="1106388"/>
          </a:xfrm>
        </p:grpSpPr>
        <p:sp>
          <p:nvSpPr>
            <p:cNvPr id="9" name="Shape 6"/>
            <p:cNvSpPr/>
            <p:nvPr/>
          </p:nvSpPr>
          <p:spPr>
            <a:xfrm>
              <a:off x="945840" y="2805509"/>
              <a:ext cx="6296860" cy="1106388"/>
            </a:xfrm>
            <a:prstGeom prst="roundRect">
              <a:avLst>
                <a:gd name="adj" fmla="val 4373"/>
              </a:avLst>
            </a:prstGeom>
            <a:solidFill>
              <a:srgbClr val="DADBF1"/>
            </a:solidFill>
            <a:ln w="6350">
              <a:solidFill>
                <a:srgbClr val="C0C1D7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10" name="Text 7"/>
            <p:cNvSpPr/>
            <p:nvPr/>
          </p:nvSpPr>
          <p:spPr>
            <a:xfrm>
              <a:off x="1067281" y="2926953"/>
              <a:ext cx="6053978" cy="17988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ct val="104000"/>
                </a:lnSpc>
                <a:buNone/>
              </a:pPr>
              <a:r>
                <a:rPr lang="en-US" b="1" kern="0" spc="-34" dirty="0">
                  <a:solidFill>
                    <a:srgbClr val="272525"/>
                  </a:solidFill>
                  <a:latin typeface="Inter Bold" pitchFamily="34" charset="0"/>
                  <a:ea typeface="Inter Bold" pitchFamily="34" charset="-122"/>
                  <a:cs typeface="Inter Bold" pitchFamily="34" charset="-120"/>
                </a:rPr>
                <a:t>float</a:t>
              </a:r>
              <a:endParaRPr lang="en-US" dirty="0"/>
            </a:p>
          </p:txBody>
        </p:sp>
        <p:sp>
          <p:nvSpPr>
            <p:cNvPr id="11" name="Text 8"/>
            <p:cNvSpPr/>
            <p:nvPr/>
          </p:nvSpPr>
          <p:spPr>
            <a:xfrm>
              <a:off x="1067281" y="3148905"/>
              <a:ext cx="6053978" cy="148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ct val="107000"/>
                </a:lnSpc>
                <a:buNone/>
              </a:pPr>
              <a:r>
                <a:rPr lang="en-US" kern="0" spc="-18" dirty="0">
                  <a:solidFill>
                    <a:srgbClr val="272525"/>
                  </a:solidFill>
                  <a:latin typeface="Inter" pitchFamily="34" charset="0"/>
                  <a:ea typeface="Inter" pitchFamily="34" charset="-122"/>
                  <a:cs typeface="Inter" pitchFamily="34" charset="-120"/>
                </a:rPr>
                <a:t>Números decimais</a:t>
              </a:r>
              <a:endParaRPr lang="en-US" dirty="0"/>
            </a:p>
          </p:txBody>
        </p:sp>
        <p:grpSp>
          <p:nvGrpSpPr>
            <p:cNvPr id="28" name="Agrupar 27">
              <a:extLst>
                <a:ext uri="{FF2B5EF4-FFF2-40B4-BE49-F238E27FC236}">
                  <a16:creationId xmlns:a16="http://schemas.microsoft.com/office/drawing/2014/main" id="{C981F597-CD2A-234F-0E3E-80BEDB432F38}"/>
                </a:ext>
              </a:extLst>
            </p:cNvPr>
            <p:cNvGrpSpPr/>
            <p:nvPr/>
          </p:nvGrpSpPr>
          <p:grpSpPr>
            <a:xfrm>
              <a:off x="1067281" y="3424785"/>
              <a:ext cx="6053978" cy="414437"/>
              <a:chOff x="5354801" y="3424785"/>
              <a:chExt cx="6053978" cy="414437"/>
            </a:xfrm>
          </p:grpSpPr>
          <p:sp>
            <p:nvSpPr>
              <p:cNvPr id="12" name="Shape 9"/>
              <p:cNvSpPr/>
              <p:nvPr/>
            </p:nvSpPr>
            <p:spPr>
              <a:xfrm>
                <a:off x="5354801" y="3424785"/>
                <a:ext cx="6053978" cy="414437"/>
              </a:xfrm>
              <a:prstGeom prst="roundRect">
                <a:avLst>
                  <a:gd name="adj" fmla="val 11673"/>
                </a:avLst>
              </a:prstGeom>
              <a:solidFill>
                <a:srgbClr val="F2F2F2"/>
              </a:solidFill>
              <a:ln/>
            </p:spPr>
            <p:txBody>
              <a:bodyPr/>
              <a:lstStyle/>
              <a:p>
                <a:endParaRPr lang="pt-BR"/>
              </a:p>
            </p:txBody>
          </p:sp>
          <p:sp>
            <p:nvSpPr>
              <p:cNvPr id="13" name="Text 10"/>
              <p:cNvSpPr/>
              <p:nvPr/>
            </p:nvSpPr>
            <p:spPr>
              <a:xfrm>
                <a:off x="5493009" y="3539879"/>
                <a:ext cx="5777562" cy="184249"/>
              </a:xfrm>
              <a:prstGeom prst="rect">
                <a:avLst/>
              </a:prstGeom>
              <a:noFill/>
              <a:ln/>
            </p:spPr>
            <p:txBody>
              <a:bodyPr wrap="none" lIns="0" tIns="0" rIns="0" bIns="0" rtlCol="0" anchor="t"/>
              <a:lstStyle/>
              <a:p>
                <a:pPr marL="0" indent="0" algn="l">
                  <a:lnSpc>
                    <a:spcPct val="133000"/>
                  </a:lnSpc>
                  <a:buNone/>
                </a:pPr>
                <a:r>
                  <a:rPr lang="en-US" sz="1050" kern="0" spc="-18" dirty="0">
                    <a:solidFill>
                      <a:srgbClr val="24292E"/>
                    </a:solidFill>
                    <a:latin typeface="Consolas" pitchFamily="34" charset="0"/>
                    <a:ea typeface="Consolas" pitchFamily="34" charset="-122"/>
                    <a:cs typeface="Consolas" pitchFamily="34" charset="-120"/>
                  </a:rPr>
                  <a:t>altura = 1.75</a:t>
                </a:r>
                <a:endParaRPr lang="en-US" sz="1050" dirty="0"/>
              </a:p>
            </p:txBody>
          </p:sp>
        </p:grpSp>
      </p:grpSp>
      <p:grpSp>
        <p:nvGrpSpPr>
          <p:cNvPr id="25" name="Agrupar 24">
            <a:extLst>
              <a:ext uri="{FF2B5EF4-FFF2-40B4-BE49-F238E27FC236}">
                <a16:creationId xmlns:a16="http://schemas.microsoft.com/office/drawing/2014/main" id="{6015F665-B29F-D558-5D60-3EEDEF14A9AA}"/>
              </a:ext>
            </a:extLst>
          </p:cNvPr>
          <p:cNvGrpSpPr/>
          <p:nvPr/>
        </p:nvGrpSpPr>
        <p:grpSpPr>
          <a:xfrm>
            <a:off x="1664000" y="4336295"/>
            <a:ext cx="3600000" cy="1800000"/>
            <a:chOff x="945840" y="3982045"/>
            <a:chExt cx="6296860" cy="1106388"/>
          </a:xfrm>
        </p:grpSpPr>
        <p:sp>
          <p:nvSpPr>
            <p:cNvPr id="14" name="Shape 11"/>
            <p:cNvSpPr/>
            <p:nvPr/>
          </p:nvSpPr>
          <p:spPr>
            <a:xfrm>
              <a:off x="945840" y="3982045"/>
              <a:ext cx="6296860" cy="1106388"/>
            </a:xfrm>
            <a:prstGeom prst="roundRect">
              <a:avLst>
                <a:gd name="adj" fmla="val 4373"/>
              </a:avLst>
            </a:prstGeom>
            <a:solidFill>
              <a:srgbClr val="DADBF1"/>
            </a:solidFill>
            <a:ln w="6350">
              <a:solidFill>
                <a:srgbClr val="C0C1D7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15" name="Text 12"/>
            <p:cNvSpPr/>
            <p:nvPr/>
          </p:nvSpPr>
          <p:spPr>
            <a:xfrm>
              <a:off x="1067281" y="4103489"/>
              <a:ext cx="6053978" cy="17988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ct val="104000"/>
                </a:lnSpc>
                <a:buNone/>
              </a:pPr>
              <a:r>
                <a:rPr lang="en-US" b="1" kern="0" spc="-34" dirty="0">
                  <a:solidFill>
                    <a:srgbClr val="272525"/>
                  </a:solidFill>
                  <a:latin typeface="Inter Bold" pitchFamily="34" charset="0"/>
                  <a:ea typeface="Inter Bold" pitchFamily="34" charset="-122"/>
                  <a:cs typeface="Inter Bold" pitchFamily="34" charset="-120"/>
                </a:rPr>
                <a:t>str</a:t>
              </a:r>
              <a:endParaRPr lang="en-US" dirty="0"/>
            </a:p>
          </p:txBody>
        </p:sp>
        <p:sp>
          <p:nvSpPr>
            <p:cNvPr id="16" name="Text 13"/>
            <p:cNvSpPr/>
            <p:nvPr/>
          </p:nvSpPr>
          <p:spPr>
            <a:xfrm>
              <a:off x="1067281" y="4325441"/>
              <a:ext cx="6053978" cy="148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ct val="107000"/>
                </a:lnSpc>
                <a:buNone/>
              </a:pPr>
              <a:r>
                <a:rPr lang="en-US" kern="0" spc="-18" dirty="0">
                  <a:solidFill>
                    <a:srgbClr val="272525"/>
                  </a:solidFill>
                  <a:latin typeface="Inter" pitchFamily="34" charset="0"/>
                  <a:ea typeface="Inter" pitchFamily="34" charset="-122"/>
                  <a:cs typeface="Inter" pitchFamily="34" charset="-120"/>
                </a:rPr>
                <a:t>Texto (entre aspas)</a:t>
              </a:r>
              <a:endParaRPr lang="en-US" dirty="0"/>
            </a:p>
          </p:txBody>
        </p:sp>
        <p:grpSp>
          <p:nvGrpSpPr>
            <p:cNvPr id="29" name="Agrupar 28">
              <a:extLst>
                <a:ext uri="{FF2B5EF4-FFF2-40B4-BE49-F238E27FC236}">
                  <a16:creationId xmlns:a16="http://schemas.microsoft.com/office/drawing/2014/main" id="{F3BC2522-7FDA-D140-0426-156B3F76FEEE}"/>
                </a:ext>
              </a:extLst>
            </p:cNvPr>
            <p:cNvGrpSpPr/>
            <p:nvPr/>
          </p:nvGrpSpPr>
          <p:grpSpPr>
            <a:xfrm>
              <a:off x="1067281" y="4607417"/>
              <a:ext cx="6053978" cy="414437"/>
              <a:chOff x="5354801" y="4552553"/>
              <a:chExt cx="6053978" cy="414437"/>
            </a:xfrm>
          </p:grpSpPr>
          <p:sp>
            <p:nvSpPr>
              <p:cNvPr id="17" name="Shape 14"/>
              <p:cNvSpPr/>
              <p:nvPr/>
            </p:nvSpPr>
            <p:spPr>
              <a:xfrm>
                <a:off x="5354801" y="4552553"/>
                <a:ext cx="6053978" cy="414437"/>
              </a:xfrm>
              <a:prstGeom prst="roundRect">
                <a:avLst>
                  <a:gd name="adj" fmla="val 11673"/>
                </a:avLst>
              </a:prstGeom>
              <a:solidFill>
                <a:srgbClr val="F2F2F2"/>
              </a:solidFill>
              <a:ln/>
            </p:spPr>
            <p:txBody>
              <a:bodyPr/>
              <a:lstStyle/>
              <a:p>
                <a:endParaRPr lang="pt-BR"/>
              </a:p>
            </p:txBody>
          </p:sp>
          <p:sp>
            <p:nvSpPr>
              <p:cNvPr id="18" name="Text 15"/>
              <p:cNvSpPr/>
              <p:nvPr/>
            </p:nvSpPr>
            <p:spPr>
              <a:xfrm>
                <a:off x="5493009" y="4667646"/>
                <a:ext cx="5777562" cy="184249"/>
              </a:xfrm>
              <a:prstGeom prst="rect">
                <a:avLst/>
              </a:prstGeom>
              <a:noFill/>
              <a:ln/>
            </p:spPr>
            <p:txBody>
              <a:bodyPr wrap="none" lIns="0" tIns="0" rIns="0" bIns="0" rtlCol="0" anchor="t"/>
              <a:lstStyle/>
              <a:p>
                <a:pPr marL="0" indent="0" algn="l">
                  <a:lnSpc>
                    <a:spcPct val="133000"/>
                  </a:lnSpc>
                  <a:buNone/>
                </a:pPr>
                <a:r>
                  <a:rPr lang="en-US" sz="1050" kern="0" spc="-18" dirty="0">
                    <a:solidFill>
                      <a:srgbClr val="24292E"/>
                    </a:solidFill>
                    <a:latin typeface="Consolas" pitchFamily="34" charset="0"/>
                    <a:ea typeface="Consolas" pitchFamily="34" charset="-122"/>
                    <a:cs typeface="Consolas" pitchFamily="34" charset="-120"/>
                  </a:rPr>
                  <a:t>nome = "Pedro"</a:t>
                </a:r>
                <a:endParaRPr lang="en-US" sz="1050" dirty="0"/>
              </a:p>
            </p:txBody>
          </p:sp>
        </p:grpSp>
      </p:grpSp>
      <p:grpSp>
        <p:nvGrpSpPr>
          <p:cNvPr id="26" name="Agrupar 25">
            <a:extLst>
              <a:ext uri="{FF2B5EF4-FFF2-40B4-BE49-F238E27FC236}">
                <a16:creationId xmlns:a16="http://schemas.microsoft.com/office/drawing/2014/main" id="{A5622ED8-1B7B-23C1-1832-D48C0604A14F}"/>
              </a:ext>
            </a:extLst>
          </p:cNvPr>
          <p:cNvGrpSpPr/>
          <p:nvPr/>
        </p:nvGrpSpPr>
        <p:grpSpPr>
          <a:xfrm>
            <a:off x="6928000" y="2120602"/>
            <a:ext cx="3600000" cy="1800000"/>
            <a:chOff x="945840" y="5158581"/>
            <a:chExt cx="6296860" cy="1106388"/>
          </a:xfrm>
        </p:grpSpPr>
        <p:sp>
          <p:nvSpPr>
            <p:cNvPr id="19" name="Shape 16"/>
            <p:cNvSpPr/>
            <p:nvPr/>
          </p:nvSpPr>
          <p:spPr>
            <a:xfrm>
              <a:off x="945840" y="5158581"/>
              <a:ext cx="6296860" cy="1106388"/>
            </a:xfrm>
            <a:prstGeom prst="roundRect">
              <a:avLst>
                <a:gd name="adj" fmla="val 4373"/>
              </a:avLst>
            </a:prstGeom>
            <a:solidFill>
              <a:srgbClr val="DADBF1"/>
            </a:solidFill>
            <a:ln w="6350">
              <a:solidFill>
                <a:srgbClr val="C0C1D7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20" name="Text 17"/>
            <p:cNvSpPr/>
            <p:nvPr/>
          </p:nvSpPr>
          <p:spPr>
            <a:xfrm>
              <a:off x="1067281" y="5280025"/>
              <a:ext cx="6053978" cy="17988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ct val="104000"/>
                </a:lnSpc>
                <a:buNone/>
              </a:pPr>
              <a:r>
                <a:rPr lang="en-US" b="1" kern="0" spc="-34" dirty="0">
                  <a:solidFill>
                    <a:srgbClr val="272525"/>
                  </a:solidFill>
                  <a:latin typeface="Inter Bold" pitchFamily="34" charset="0"/>
                  <a:ea typeface="Inter Bold" pitchFamily="34" charset="-122"/>
                  <a:cs typeface="Inter Bold" pitchFamily="34" charset="-120"/>
                </a:rPr>
                <a:t>bool</a:t>
              </a:r>
              <a:endParaRPr lang="en-US" sz="1100" dirty="0"/>
            </a:p>
          </p:txBody>
        </p:sp>
        <p:sp>
          <p:nvSpPr>
            <p:cNvPr id="21" name="Text 18"/>
            <p:cNvSpPr/>
            <p:nvPr/>
          </p:nvSpPr>
          <p:spPr>
            <a:xfrm>
              <a:off x="1067281" y="5501977"/>
              <a:ext cx="6053978" cy="148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ct val="107000"/>
                </a:lnSpc>
                <a:buNone/>
              </a:pPr>
              <a:r>
                <a:rPr lang="en-US" kern="0" spc="-18" dirty="0">
                  <a:solidFill>
                    <a:srgbClr val="272525"/>
                  </a:solidFill>
                  <a:latin typeface="Inter" pitchFamily="34" charset="0"/>
                  <a:ea typeface="Inter" pitchFamily="34" charset="-122"/>
                  <a:cs typeface="Inter" pitchFamily="34" charset="-120"/>
                </a:rPr>
                <a:t>Verdadeiro ou Falso</a:t>
              </a:r>
              <a:endParaRPr lang="en-US" dirty="0"/>
            </a:p>
          </p:txBody>
        </p:sp>
        <p:grpSp>
          <p:nvGrpSpPr>
            <p:cNvPr id="30" name="Agrupar 29">
              <a:extLst>
                <a:ext uri="{FF2B5EF4-FFF2-40B4-BE49-F238E27FC236}">
                  <a16:creationId xmlns:a16="http://schemas.microsoft.com/office/drawing/2014/main" id="{028AB7B7-459C-EF41-71D5-B31250AA4647}"/>
                </a:ext>
              </a:extLst>
            </p:cNvPr>
            <p:cNvGrpSpPr/>
            <p:nvPr/>
          </p:nvGrpSpPr>
          <p:grpSpPr>
            <a:xfrm>
              <a:off x="1067281" y="5759569"/>
              <a:ext cx="6053978" cy="414437"/>
              <a:chOff x="5354801" y="5729089"/>
              <a:chExt cx="6053978" cy="414437"/>
            </a:xfrm>
          </p:grpSpPr>
          <p:sp>
            <p:nvSpPr>
              <p:cNvPr id="22" name="Shape 19"/>
              <p:cNvSpPr/>
              <p:nvPr/>
            </p:nvSpPr>
            <p:spPr>
              <a:xfrm>
                <a:off x="5354801" y="5729089"/>
                <a:ext cx="6053978" cy="414437"/>
              </a:xfrm>
              <a:prstGeom prst="roundRect">
                <a:avLst>
                  <a:gd name="adj" fmla="val 11673"/>
                </a:avLst>
              </a:prstGeom>
              <a:solidFill>
                <a:srgbClr val="F2F2F2"/>
              </a:solidFill>
              <a:ln/>
            </p:spPr>
            <p:txBody>
              <a:bodyPr/>
              <a:lstStyle/>
              <a:p>
                <a:endParaRPr lang="pt-BR"/>
              </a:p>
            </p:txBody>
          </p:sp>
          <p:sp>
            <p:nvSpPr>
              <p:cNvPr id="23" name="Text 20"/>
              <p:cNvSpPr/>
              <p:nvPr/>
            </p:nvSpPr>
            <p:spPr>
              <a:xfrm>
                <a:off x="5493009" y="5844182"/>
                <a:ext cx="5777562" cy="184249"/>
              </a:xfrm>
              <a:prstGeom prst="rect">
                <a:avLst/>
              </a:prstGeom>
              <a:noFill/>
              <a:ln/>
            </p:spPr>
            <p:txBody>
              <a:bodyPr wrap="none" lIns="0" tIns="0" rIns="0" bIns="0" rtlCol="0" anchor="t"/>
              <a:lstStyle/>
              <a:p>
                <a:pPr marL="0" indent="0" algn="l">
                  <a:lnSpc>
                    <a:spcPct val="133000"/>
                  </a:lnSpc>
                  <a:buNone/>
                </a:pPr>
                <a:r>
                  <a:rPr lang="en-US" sz="1050" kern="0" spc="-18" dirty="0">
                    <a:solidFill>
                      <a:srgbClr val="24292E"/>
                    </a:solidFill>
                    <a:latin typeface="Consolas" pitchFamily="34" charset="0"/>
                    <a:ea typeface="Consolas" pitchFamily="34" charset="-122"/>
                    <a:cs typeface="Consolas" pitchFamily="34" charset="-120"/>
                  </a:rPr>
                  <a:t>aprovado = True</a:t>
                </a:r>
                <a:endParaRPr lang="en-US" sz="1050" dirty="0"/>
              </a:p>
            </p:txBody>
          </p:sp>
        </p:grp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F4F4A5B-820D-4A3B-A096-910A555B50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lnSpc>
                <a:spcPct val="104000"/>
              </a:lnSpc>
              <a:spcBef>
                <a:spcPts val="0"/>
              </a:spcBef>
            </a:pPr>
            <a:r>
              <a:rPr lang="pt-BR" sz="2350" b="1" kern="0" spc="-72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</a:rPr>
              <a:t>Variáveis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565AE52-2386-410D-87CF-93C688A6A5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347" y="1844675"/>
            <a:ext cx="11007306" cy="1212561"/>
          </a:xfrm>
        </p:spPr>
        <p:txBody>
          <a:bodyPr>
            <a:normAutofit/>
          </a:bodyPr>
          <a:lstStyle/>
          <a:p>
            <a:pPr marL="0" indent="0">
              <a:lnSpc>
                <a:spcPct val="133000"/>
              </a:lnSpc>
              <a:spcBef>
                <a:spcPts val="0"/>
              </a:spcBef>
            </a:pPr>
            <a:r>
              <a:rPr lang="pt-BR" sz="2000" kern="0" spc="-30" dirty="0">
                <a:solidFill>
                  <a:srgbClr val="272525"/>
                </a:solidFill>
                <a:latin typeface="Inter" pitchFamily="34" charset="0"/>
                <a:ea typeface="Inter" pitchFamily="34" charset="-122"/>
              </a:rPr>
              <a:t>Variáveis são espaços na memória RAM do computador usados para armazenar valores que podem mudar durante a execução de um programa. </a:t>
            </a: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D38A8377-0F0F-42EB-95FF-CC11B03B9CFD}"/>
              </a:ext>
            </a:extLst>
          </p:cNvPr>
          <p:cNvSpPr txBox="1"/>
          <p:nvPr/>
        </p:nvSpPr>
        <p:spPr>
          <a:xfrm>
            <a:off x="7018780" y="4291771"/>
            <a:ext cx="923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pt-BR" dirty="0"/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A24B0819-30ED-43BA-A55E-0BA876FA9C76}"/>
              </a:ext>
            </a:extLst>
          </p:cNvPr>
          <p:cNvSpPr txBox="1"/>
          <p:nvPr/>
        </p:nvSpPr>
        <p:spPr>
          <a:xfrm>
            <a:off x="593982" y="3318164"/>
            <a:ext cx="5346815" cy="3268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pt-BR" sz="20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Sintaxe: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2000" dirty="0">
                <a:solidFill>
                  <a:schemeClr val="accent2">
                    <a:lumMod val="75000"/>
                  </a:schemeClr>
                </a:solidFill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nome</a:t>
            </a:r>
            <a:r>
              <a:rPr lang="pt-BR" sz="20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= </a:t>
            </a:r>
            <a:r>
              <a:rPr lang="pt-BR" sz="2000" dirty="0">
                <a:solidFill>
                  <a:srgbClr val="FF0000"/>
                </a:solidFill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valor</a:t>
            </a:r>
            <a:r>
              <a:rPr lang="pt-BR" sz="20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;</a:t>
            </a:r>
          </a:p>
          <a:p>
            <a:pPr>
              <a:lnSpc>
                <a:spcPct val="150000"/>
              </a:lnSpc>
            </a:pPr>
            <a:r>
              <a:rPr lang="pt-BR" sz="20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Exemplo: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2000" dirty="0">
                <a:solidFill>
                  <a:schemeClr val="accent1">
                    <a:lumMod val="50000"/>
                  </a:schemeClr>
                </a:solidFill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int</a:t>
            </a:r>
            <a:r>
              <a:rPr lang="pt-BR" sz="20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pt-BR" sz="2000" dirty="0">
                <a:solidFill>
                  <a:schemeClr val="accent2">
                    <a:lumMod val="75000"/>
                  </a:schemeClr>
                </a:solidFill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idade</a:t>
            </a:r>
            <a:r>
              <a:rPr lang="pt-BR" sz="20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= </a:t>
            </a:r>
            <a:r>
              <a:rPr lang="pt-BR" sz="2000" dirty="0">
                <a:solidFill>
                  <a:srgbClr val="FF0000"/>
                </a:solidFill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50</a:t>
            </a:r>
            <a:r>
              <a:rPr lang="pt-BR" sz="20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;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2000" dirty="0">
                <a:solidFill>
                  <a:schemeClr val="accent2">
                    <a:lumMod val="75000"/>
                  </a:schemeClr>
                </a:solidFill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peso</a:t>
            </a:r>
            <a:r>
              <a:rPr lang="pt-BR" sz="20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= </a:t>
            </a:r>
            <a:r>
              <a:rPr lang="pt-BR" sz="2000" dirty="0">
                <a:solidFill>
                  <a:srgbClr val="FF0000"/>
                </a:solidFill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80.5</a:t>
            </a:r>
            <a:r>
              <a:rPr lang="pt-BR" sz="20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;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2000" dirty="0" err="1">
                <a:solidFill>
                  <a:schemeClr val="accent2">
                    <a:lumMod val="75000"/>
                  </a:schemeClr>
                </a:solidFill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genero</a:t>
            </a:r>
            <a:r>
              <a:rPr lang="pt-BR" sz="20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= </a:t>
            </a:r>
            <a:r>
              <a:rPr lang="pt-BR" sz="2000" dirty="0">
                <a:solidFill>
                  <a:srgbClr val="FF0000"/>
                </a:solidFill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“F”</a:t>
            </a:r>
            <a:r>
              <a:rPr lang="pt-BR" sz="20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;</a:t>
            </a:r>
          </a:p>
          <a:p>
            <a:pPr>
              <a:lnSpc>
                <a:spcPct val="150000"/>
              </a:lnSpc>
            </a:pPr>
            <a:endParaRPr lang="pt-BR" sz="2000" dirty="0">
              <a:latin typeface="Times New Roman" panose="02020603050405020304" pitchFamily="18" charset="0"/>
              <a:ea typeface="Tahoma" panose="020B0604030504040204" pitchFamily="34" charset="0"/>
              <a:cs typeface="Times New Roman" panose="02020603050405020304" pitchFamily="18" charset="0"/>
            </a:endParaRPr>
          </a:p>
        </p:txBody>
      </p:sp>
      <p:grpSp>
        <p:nvGrpSpPr>
          <p:cNvPr id="21" name="Agrupar 20">
            <a:extLst>
              <a:ext uri="{FF2B5EF4-FFF2-40B4-BE49-F238E27FC236}">
                <a16:creationId xmlns:a16="http://schemas.microsoft.com/office/drawing/2014/main" id="{E22F6C3E-FD74-4EA3-934A-BC2241BC79A5}"/>
              </a:ext>
            </a:extLst>
          </p:cNvPr>
          <p:cNvGrpSpPr/>
          <p:nvPr/>
        </p:nvGrpSpPr>
        <p:grpSpPr>
          <a:xfrm>
            <a:off x="6464961" y="3890305"/>
            <a:ext cx="5134692" cy="2124371"/>
            <a:chOff x="6464961" y="3598918"/>
            <a:chExt cx="5134692" cy="2124371"/>
          </a:xfrm>
        </p:grpSpPr>
        <p:pic>
          <p:nvPicPr>
            <p:cNvPr id="16" name="Imagem 15">
              <a:extLst>
                <a:ext uri="{FF2B5EF4-FFF2-40B4-BE49-F238E27FC236}">
                  <a16:creationId xmlns:a16="http://schemas.microsoft.com/office/drawing/2014/main" id="{F853FF01-9978-40FC-B520-CCB207FD5B6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64961" y="3598918"/>
              <a:ext cx="5134692" cy="2124371"/>
            </a:xfrm>
            <a:prstGeom prst="rect">
              <a:avLst/>
            </a:prstGeom>
          </p:spPr>
        </p:pic>
        <p:grpSp>
          <p:nvGrpSpPr>
            <p:cNvPr id="17" name="Agrupar 16">
              <a:extLst>
                <a:ext uri="{FF2B5EF4-FFF2-40B4-BE49-F238E27FC236}">
                  <a16:creationId xmlns:a16="http://schemas.microsoft.com/office/drawing/2014/main" id="{B214EEC5-44A2-483E-AAE3-D3905781A569}"/>
                </a:ext>
              </a:extLst>
            </p:cNvPr>
            <p:cNvGrpSpPr/>
            <p:nvPr/>
          </p:nvGrpSpPr>
          <p:grpSpPr>
            <a:xfrm>
              <a:off x="7122689" y="4145558"/>
              <a:ext cx="3819236" cy="661758"/>
              <a:chOff x="4082473" y="4145558"/>
              <a:chExt cx="3819236" cy="661758"/>
            </a:xfrm>
          </p:grpSpPr>
          <p:sp>
            <p:nvSpPr>
              <p:cNvPr id="18" name="Retângulo 17">
                <a:extLst>
                  <a:ext uri="{FF2B5EF4-FFF2-40B4-BE49-F238E27FC236}">
                    <a16:creationId xmlns:a16="http://schemas.microsoft.com/office/drawing/2014/main" id="{55B3CAC1-7E01-4C30-8E3C-B1F8956256CA}"/>
                  </a:ext>
                </a:extLst>
              </p:cNvPr>
              <p:cNvSpPr/>
              <p:nvPr/>
            </p:nvSpPr>
            <p:spPr>
              <a:xfrm>
                <a:off x="4082473" y="4145558"/>
                <a:ext cx="923636" cy="661758"/>
              </a:xfrm>
              <a:prstGeom prst="rect">
                <a:avLst/>
              </a:prstGeom>
              <a:solidFill>
                <a:schemeClr val="bg1"/>
              </a:soli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pt-BR" dirty="0">
                    <a:solidFill>
                      <a:schemeClr val="tx1"/>
                    </a:solidFill>
                  </a:rPr>
                  <a:t>peso</a:t>
                </a:r>
              </a:p>
            </p:txBody>
          </p:sp>
          <p:sp>
            <p:nvSpPr>
              <p:cNvPr id="19" name="Retângulo 18">
                <a:extLst>
                  <a:ext uri="{FF2B5EF4-FFF2-40B4-BE49-F238E27FC236}">
                    <a16:creationId xmlns:a16="http://schemas.microsoft.com/office/drawing/2014/main" id="{7010807D-D2AA-42CE-A1E6-19865620C6FB}"/>
                  </a:ext>
                </a:extLst>
              </p:cNvPr>
              <p:cNvSpPr/>
              <p:nvPr/>
            </p:nvSpPr>
            <p:spPr>
              <a:xfrm>
                <a:off x="5530273" y="4145558"/>
                <a:ext cx="923636" cy="661758"/>
              </a:xfrm>
              <a:prstGeom prst="rect">
                <a:avLst/>
              </a:prstGeom>
              <a:solidFill>
                <a:schemeClr val="bg1"/>
              </a:soli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pt-BR" dirty="0">
                    <a:solidFill>
                      <a:schemeClr val="tx1"/>
                    </a:solidFill>
                  </a:rPr>
                  <a:t>idade</a:t>
                </a:r>
              </a:p>
            </p:txBody>
          </p:sp>
          <p:sp>
            <p:nvSpPr>
              <p:cNvPr id="20" name="Retângulo 19">
                <a:extLst>
                  <a:ext uri="{FF2B5EF4-FFF2-40B4-BE49-F238E27FC236}">
                    <a16:creationId xmlns:a16="http://schemas.microsoft.com/office/drawing/2014/main" id="{8E7D9336-81D0-405D-94DC-FA796E028661}"/>
                  </a:ext>
                </a:extLst>
              </p:cNvPr>
              <p:cNvSpPr/>
              <p:nvPr/>
            </p:nvSpPr>
            <p:spPr>
              <a:xfrm>
                <a:off x="6978073" y="4145558"/>
                <a:ext cx="923636" cy="661758"/>
              </a:xfrm>
              <a:prstGeom prst="rect">
                <a:avLst/>
              </a:prstGeom>
              <a:solidFill>
                <a:schemeClr val="bg1"/>
              </a:soli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genero</a:t>
                </a:r>
                <a:endParaRPr lang="pt-BR" dirty="0">
                  <a:solidFill>
                    <a:schemeClr val="tx1"/>
                  </a:solidFill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55491979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D0B9142-A693-42C9-996E-FDC78EBC39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347" y="1844676"/>
            <a:ext cx="11007306" cy="786382"/>
          </a:xfrm>
        </p:spPr>
        <p:txBody>
          <a:bodyPr>
            <a:normAutofit/>
          </a:bodyPr>
          <a:lstStyle/>
          <a:p>
            <a:pPr marL="0" indent="0" algn="just">
              <a:buNone/>
            </a:pPr>
            <a:r>
              <a:rPr lang="pt-BR" sz="1600" dirty="0"/>
              <a:t>A escolha do estilo de escrita para variáveis, funções e outros elementos do código é principalmente uma questão de convenção, impactando diretamente a legibilidade, manutenção e colaboração em projetos. Aqui estão algumas formas de declarar variáveis.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034EA972-E191-44CB-AC3A-542EA73B6CD4}"/>
              </a:ext>
            </a:extLst>
          </p:cNvPr>
          <p:cNvSpPr txBox="1"/>
          <p:nvPr/>
        </p:nvSpPr>
        <p:spPr>
          <a:xfrm>
            <a:off x="592345" y="2716427"/>
            <a:ext cx="1099385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Camel Case – </a:t>
            </a: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 Camel Case a primeira palavra toda fica no formato minúsculo e as primeiras letras subsequentes de palavras adicionais em maiúscula.</a:t>
            </a:r>
            <a:endParaRPr lang="pt-BR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8A1C014D-255C-4684-A6CE-E10513D4F6AC}"/>
              </a:ext>
            </a:extLst>
          </p:cNvPr>
          <p:cNvSpPr txBox="1"/>
          <p:nvPr/>
        </p:nvSpPr>
        <p:spPr>
          <a:xfrm>
            <a:off x="4274570" y="3668450"/>
            <a:ext cx="304483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4800" b="1" dirty="0" err="1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</a:t>
            </a:r>
            <a:r>
              <a:rPr lang="pt-BR" sz="4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amel</a:t>
            </a:r>
            <a:r>
              <a:rPr lang="pt-BR" sz="4800" b="1" dirty="0" err="1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</a:t>
            </a:r>
            <a:r>
              <a:rPr lang="pt-BR" sz="4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ase</a:t>
            </a:r>
            <a:endParaRPr lang="pt-BR" sz="4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75883BB3-FFE9-4B18-BDE5-88C284C26FE5}"/>
              </a:ext>
            </a:extLst>
          </p:cNvPr>
          <p:cNvSpPr txBox="1"/>
          <p:nvPr/>
        </p:nvSpPr>
        <p:spPr>
          <a:xfrm>
            <a:off x="592346" y="4805139"/>
            <a:ext cx="109938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Snake Case – </a:t>
            </a: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 Snake Case a todas as letras minúsculas e as palavras são separadas por </a:t>
            </a:r>
            <a:r>
              <a:rPr lang="pt-BR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underline</a:t>
            </a: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50705B9B-627A-4CA3-B389-586867518A5C}"/>
              </a:ext>
            </a:extLst>
          </p:cNvPr>
          <p:cNvSpPr txBox="1"/>
          <p:nvPr/>
        </p:nvSpPr>
        <p:spPr>
          <a:xfrm>
            <a:off x="4190751" y="5480162"/>
            <a:ext cx="324311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4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snake</a:t>
            </a:r>
            <a:r>
              <a:rPr lang="pt-BR" sz="4800" b="1" dirty="0" err="1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_</a:t>
            </a:r>
            <a:r>
              <a:rPr lang="pt-BR" sz="4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case</a:t>
            </a:r>
            <a:endParaRPr lang="pt-BR" sz="4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ítulo 1">
            <a:extLst>
              <a:ext uri="{FF2B5EF4-FFF2-40B4-BE49-F238E27FC236}">
                <a16:creationId xmlns:a16="http://schemas.microsoft.com/office/drawing/2014/main" id="{2C006A50-C8D8-F19C-D669-025FE805AE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76378"/>
            <a:ext cx="10515600" cy="577970"/>
          </a:xfrm>
        </p:spPr>
        <p:txBody>
          <a:bodyPr>
            <a:normAutofit/>
          </a:bodyPr>
          <a:lstStyle/>
          <a:p>
            <a:pPr>
              <a:lnSpc>
                <a:spcPct val="104000"/>
              </a:lnSpc>
              <a:spcBef>
                <a:spcPts val="0"/>
              </a:spcBef>
            </a:pPr>
            <a:r>
              <a:rPr lang="pt-BR" sz="2350" b="1" kern="0" spc="-72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</a:rPr>
              <a:t>Maneiras de declarar Classes</a:t>
            </a:r>
          </a:p>
        </p:txBody>
      </p:sp>
    </p:spTree>
    <p:extLst>
      <p:ext uri="{BB962C8B-B14F-4D97-AF65-F5344CB8AC3E}">
        <p14:creationId xmlns:p14="http://schemas.microsoft.com/office/powerpoint/2010/main" val="160579478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6123EEF-917F-4D43-A87E-1445E5C8B3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76378"/>
            <a:ext cx="10515600" cy="577970"/>
          </a:xfrm>
        </p:spPr>
        <p:txBody>
          <a:bodyPr>
            <a:normAutofit/>
          </a:bodyPr>
          <a:lstStyle/>
          <a:p>
            <a:pPr>
              <a:lnSpc>
                <a:spcPct val="104000"/>
              </a:lnSpc>
              <a:spcBef>
                <a:spcPts val="0"/>
              </a:spcBef>
            </a:pPr>
            <a:r>
              <a:rPr lang="pt-BR" sz="2400" b="1" kern="0" spc="-72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</a:rPr>
              <a:t>Maneiras de declarar Classes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034EA972-E191-44CB-AC3A-542EA73B6CD4}"/>
              </a:ext>
            </a:extLst>
          </p:cNvPr>
          <p:cNvSpPr txBox="1"/>
          <p:nvPr/>
        </p:nvSpPr>
        <p:spPr>
          <a:xfrm>
            <a:off x="599070" y="1907982"/>
            <a:ext cx="1099385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Pascal Case – </a:t>
            </a: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O Pascal Case é um padrão de nomenclatura em que cada palavra começa com uma letra maiúscula, sem espaços ou separadores entre elas. </a:t>
            </a:r>
            <a:endParaRPr lang="pt-BR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8A1C014D-255C-4684-A6CE-E10513D4F6AC}"/>
              </a:ext>
            </a:extLst>
          </p:cNvPr>
          <p:cNvSpPr txBox="1"/>
          <p:nvPr/>
        </p:nvSpPr>
        <p:spPr>
          <a:xfrm>
            <a:off x="4577015" y="2692448"/>
            <a:ext cx="30379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4800" b="1" dirty="0" err="1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</a:t>
            </a:r>
            <a:r>
              <a:rPr lang="pt-BR" sz="4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ascal</a:t>
            </a:r>
            <a:r>
              <a:rPr lang="pt-BR" sz="4800" b="1" dirty="0" err="1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</a:t>
            </a:r>
            <a:r>
              <a:rPr lang="pt-BR" sz="4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ase</a:t>
            </a:r>
            <a:endParaRPr lang="pt-BR" sz="4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13B855BB-4C61-1029-501B-AD5FF0E54A48}"/>
              </a:ext>
            </a:extLst>
          </p:cNvPr>
          <p:cNvSpPr txBox="1"/>
          <p:nvPr/>
        </p:nvSpPr>
        <p:spPr>
          <a:xfrm>
            <a:off x="599070" y="3742533"/>
            <a:ext cx="1099385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Constantes – </a:t>
            </a: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Na linguagem </a:t>
            </a:r>
            <a:r>
              <a:rPr lang="pt-BR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python</a:t>
            </a: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costumamos a utilizar todas as letras em maiúsculas para declarar constantes.</a:t>
            </a:r>
            <a:endParaRPr lang="pt-BR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068134DF-1E3A-83A9-0DC4-08713412D5D7}"/>
              </a:ext>
            </a:extLst>
          </p:cNvPr>
          <p:cNvSpPr txBox="1"/>
          <p:nvPr/>
        </p:nvSpPr>
        <p:spPr>
          <a:xfrm>
            <a:off x="3867141" y="4526999"/>
            <a:ext cx="445771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4800" b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CONSTANTES</a:t>
            </a:r>
            <a:endParaRPr lang="pt-BR" sz="4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977180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42446" y="787418"/>
            <a:ext cx="5458780" cy="5260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4000"/>
              </a:lnSpc>
            </a:pPr>
            <a:r>
              <a:rPr lang="en-US" sz="2350" b="1" spc="-72" dirty="0" err="1">
                <a:latin typeface="Inter Bold" pitchFamily="34" charset="0"/>
                <a:ea typeface="Inter Bold" pitchFamily="34" charset="-122"/>
              </a:rPr>
              <a:t>Operadores</a:t>
            </a:r>
            <a:r>
              <a:rPr lang="en-US" sz="2350" b="1" spc="-72" dirty="0">
                <a:latin typeface="Inter Bold" pitchFamily="34" charset="0"/>
                <a:ea typeface="Inter Bold" pitchFamily="34" charset="-122"/>
              </a:rPr>
              <a:t> </a:t>
            </a:r>
            <a:r>
              <a:rPr lang="en-US" sz="2350" b="1" spc="-72" dirty="0" err="1">
                <a:latin typeface="Inter Bold" pitchFamily="34" charset="0"/>
                <a:ea typeface="Inter Bold" pitchFamily="34" charset="-122"/>
              </a:rPr>
              <a:t>Aritméticos</a:t>
            </a:r>
            <a:endParaRPr lang="en-US" sz="2350" b="1" spc="-72" dirty="0">
              <a:latin typeface="Inter Bold" pitchFamily="34" charset="0"/>
              <a:ea typeface="Inter Bold" pitchFamily="34" charset="-122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55125" y="1661434"/>
            <a:ext cx="2539540" cy="1042194"/>
          </a:xfrm>
          <a:prstGeom prst="roundRect">
            <a:avLst>
              <a:gd name="adj" fmla="val 6784"/>
            </a:avLst>
          </a:prstGeom>
          <a:solidFill>
            <a:srgbClr val="FFFFFF"/>
          </a:solidFill>
          <a:ln w="19050">
            <a:solidFill>
              <a:srgbClr val="C0C1D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" name="Text 2"/>
          <p:cNvSpPr/>
          <p:nvPr/>
        </p:nvSpPr>
        <p:spPr>
          <a:xfrm>
            <a:off x="842445" y="1848759"/>
            <a:ext cx="2164899" cy="26302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50" b="1" kern="0" spc="-50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+  Adição</a:t>
            </a:r>
            <a:endParaRPr lang="en-US" sz="1650" dirty="0"/>
          </a:p>
        </p:txBody>
      </p:sp>
      <p:sp>
        <p:nvSpPr>
          <p:cNvPr id="5" name="Text 3"/>
          <p:cNvSpPr/>
          <p:nvPr/>
        </p:nvSpPr>
        <p:spPr>
          <a:xfrm>
            <a:off x="842445" y="2261708"/>
            <a:ext cx="2164899" cy="2545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6000"/>
              </a:lnSpc>
              <a:buNone/>
            </a:pPr>
            <a:r>
              <a:rPr lang="en-US" sz="1300" kern="0" spc="-27" dirty="0">
                <a:solidFill>
                  <a:srgbClr val="272525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5 + 3 = 8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344580" y="1661434"/>
            <a:ext cx="2539540" cy="1042194"/>
          </a:xfrm>
          <a:prstGeom prst="roundRect">
            <a:avLst>
              <a:gd name="adj" fmla="val 6784"/>
            </a:avLst>
          </a:prstGeom>
          <a:solidFill>
            <a:srgbClr val="FFFFFF"/>
          </a:solidFill>
          <a:ln w="19050">
            <a:solidFill>
              <a:srgbClr val="C0C1D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" name="Text 5"/>
          <p:cNvSpPr/>
          <p:nvPr/>
        </p:nvSpPr>
        <p:spPr>
          <a:xfrm>
            <a:off x="3531901" y="1848759"/>
            <a:ext cx="2164899" cy="26302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50" b="1" kern="0" spc="-50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-  Subtração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3531901" y="2261708"/>
            <a:ext cx="2164899" cy="2545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6000"/>
              </a:lnSpc>
              <a:buNone/>
            </a:pPr>
            <a:r>
              <a:rPr lang="en-US" sz="1300" kern="0" spc="-27" dirty="0">
                <a:solidFill>
                  <a:srgbClr val="272525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5 - 3 = 2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55125" y="2853548"/>
            <a:ext cx="2539540" cy="1042194"/>
          </a:xfrm>
          <a:prstGeom prst="roundRect">
            <a:avLst>
              <a:gd name="adj" fmla="val 6784"/>
            </a:avLst>
          </a:prstGeom>
          <a:solidFill>
            <a:srgbClr val="FFFFFF"/>
          </a:solidFill>
          <a:ln w="19050">
            <a:solidFill>
              <a:srgbClr val="C0C1D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" name="Text 8"/>
          <p:cNvSpPr/>
          <p:nvPr/>
        </p:nvSpPr>
        <p:spPr>
          <a:xfrm>
            <a:off x="842445" y="3040873"/>
            <a:ext cx="2164899" cy="26302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50" b="1" kern="0" spc="-50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*  Multiplicação</a:t>
            </a:r>
            <a:endParaRPr lang="en-US" sz="1650" dirty="0"/>
          </a:p>
        </p:txBody>
      </p:sp>
      <p:sp>
        <p:nvSpPr>
          <p:cNvPr id="11" name="Text 9"/>
          <p:cNvSpPr/>
          <p:nvPr/>
        </p:nvSpPr>
        <p:spPr>
          <a:xfrm>
            <a:off x="842445" y="3453821"/>
            <a:ext cx="2164899" cy="2545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6000"/>
              </a:lnSpc>
              <a:buNone/>
            </a:pPr>
            <a:r>
              <a:rPr lang="en-US" sz="1300" kern="0" spc="-27" dirty="0">
                <a:solidFill>
                  <a:srgbClr val="272525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5 * 3 = 15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344580" y="2853548"/>
            <a:ext cx="2539540" cy="1042194"/>
          </a:xfrm>
          <a:prstGeom prst="roundRect">
            <a:avLst>
              <a:gd name="adj" fmla="val 6784"/>
            </a:avLst>
          </a:prstGeom>
          <a:solidFill>
            <a:srgbClr val="FFFFFF"/>
          </a:solidFill>
          <a:ln w="19050">
            <a:solidFill>
              <a:srgbClr val="C0C1D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3" name="Text 11"/>
          <p:cNvSpPr/>
          <p:nvPr/>
        </p:nvSpPr>
        <p:spPr>
          <a:xfrm>
            <a:off x="3531901" y="3040873"/>
            <a:ext cx="2164899" cy="26302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50" b="1" kern="0" spc="-50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/  Divisão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3531901" y="3453821"/>
            <a:ext cx="2164899" cy="2545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6000"/>
              </a:lnSpc>
              <a:buNone/>
            </a:pPr>
            <a:r>
              <a:rPr lang="en-US" sz="1300" kern="0" spc="-27" dirty="0">
                <a:solidFill>
                  <a:srgbClr val="272525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7 / 2 = 3.5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55125" y="4045661"/>
            <a:ext cx="2539540" cy="1042194"/>
          </a:xfrm>
          <a:prstGeom prst="roundRect">
            <a:avLst>
              <a:gd name="adj" fmla="val 6784"/>
            </a:avLst>
          </a:prstGeom>
          <a:solidFill>
            <a:srgbClr val="FFFFFF"/>
          </a:solidFill>
          <a:ln w="19050">
            <a:solidFill>
              <a:srgbClr val="C0C1D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6" name="Text 14"/>
          <p:cNvSpPr/>
          <p:nvPr/>
        </p:nvSpPr>
        <p:spPr>
          <a:xfrm>
            <a:off x="842445" y="4232986"/>
            <a:ext cx="2164899" cy="26302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50" b="1" kern="0" spc="-50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// Divisão inteira</a:t>
            </a:r>
            <a:endParaRPr lang="en-US" sz="1650" dirty="0"/>
          </a:p>
        </p:txBody>
      </p:sp>
      <p:sp>
        <p:nvSpPr>
          <p:cNvPr id="17" name="Text 15"/>
          <p:cNvSpPr/>
          <p:nvPr/>
        </p:nvSpPr>
        <p:spPr>
          <a:xfrm>
            <a:off x="842445" y="4645934"/>
            <a:ext cx="2164899" cy="2545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6000"/>
              </a:lnSpc>
              <a:buNone/>
            </a:pPr>
            <a:r>
              <a:rPr lang="en-US" sz="1300" kern="0" spc="-27" dirty="0">
                <a:solidFill>
                  <a:srgbClr val="272525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7 // 2 = 3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3344580" y="4045661"/>
            <a:ext cx="2539540" cy="1042194"/>
          </a:xfrm>
          <a:prstGeom prst="roundRect">
            <a:avLst>
              <a:gd name="adj" fmla="val 6784"/>
            </a:avLst>
          </a:prstGeom>
          <a:solidFill>
            <a:srgbClr val="FFFFFF"/>
          </a:solidFill>
          <a:ln w="19050">
            <a:solidFill>
              <a:srgbClr val="C0C1D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9" name="Text 17"/>
          <p:cNvSpPr/>
          <p:nvPr/>
        </p:nvSpPr>
        <p:spPr>
          <a:xfrm>
            <a:off x="3531901" y="4232986"/>
            <a:ext cx="2164899" cy="26302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50" b="1" kern="0" spc="-50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%  Resto</a:t>
            </a:r>
            <a:endParaRPr lang="en-US" sz="1650" dirty="0"/>
          </a:p>
        </p:txBody>
      </p:sp>
      <p:sp>
        <p:nvSpPr>
          <p:cNvPr id="20" name="Text 18"/>
          <p:cNvSpPr/>
          <p:nvPr/>
        </p:nvSpPr>
        <p:spPr>
          <a:xfrm>
            <a:off x="3531901" y="4645934"/>
            <a:ext cx="2164899" cy="2545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6000"/>
              </a:lnSpc>
              <a:buNone/>
            </a:pPr>
            <a:r>
              <a:rPr lang="en-US" sz="1300" kern="0" spc="-27" dirty="0">
                <a:solidFill>
                  <a:srgbClr val="272525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7 % 2 = 1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55125" y="5237774"/>
            <a:ext cx="5228995" cy="1042194"/>
          </a:xfrm>
          <a:prstGeom prst="roundRect">
            <a:avLst>
              <a:gd name="adj" fmla="val 6784"/>
            </a:avLst>
          </a:prstGeom>
          <a:solidFill>
            <a:srgbClr val="FFFFFF"/>
          </a:solidFill>
          <a:ln w="19050">
            <a:solidFill>
              <a:srgbClr val="C0C1D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2" name="Text 20"/>
          <p:cNvSpPr/>
          <p:nvPr/>
        </p:nvSpPr>
        <p:spPr>
          <a:xfrm>
            <a:off x="842445" y="5425099"/>
            <a:ext cx="4854354" cy="26302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50" b="1" kern="0" spc="-50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** Potência</a:t>
            </a:r>
            <a:endParaRPr lang="en-US" sz="1650" dirty="0"/>
          </a:p>
        </p:txBody>
      </p:sp>
      <p:sp>
        <p:nvSpPr>
          <p:cNvPr id="23" name="Text 21"/>
          <p:cNvSpPr/>
          <p:nvPr/>
        </p:nvSpPr>
        <p:spPr>
          <a:xfrm>
            <a:off x="842445" y="5838048"/>
            <a:ext cx="4854354" cy="2545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6000"/>
              </a:lnSpc>
              <a:buNone/>
            </a:pPr>
            <a:r>
              <a:rPr lang="en-US" sz="1300" kern="0" spc="-27" dirty="0">
                <a:solidFill>
                  <a:srgbClr val="272525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2 ** 3 = 8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301225" y="1642682"/>
            <a:ext cx="5228995" cy="26302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50" b="1" kern="0" spc="-50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Destaque: operador %</a:t>
            </a:r>
            <a:endParaRPr lang="en-US" sz="1650" dirty="0"/>
          </a:p>
        </p:txBody>
      </p:sp>
      <p:sp>
        <p:nvSpPr>
          <p:cNvPr id="25" name="Text 23"/>
          <p:cNvSpPr/>
          <p:nvPr/>
        </p:nvSpPr>
        <p:spPr>
          <a:xfrm>
            <a:off x="6301225" y="2055630"/>
            <a:ext cx="5228995" cy="5091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6000"/>
              </a:lnSpc>
              <a:buNone/>
            </a:pPr>
            <a:r>
              <a:rPr lang="en-US" sz="1300" kern="0" spc="-27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 </a:t>
            </a:r>
            <a:r>
              <a:rPr lang="en-US" sz="1300" kern="0" spc="-27" dirty="0">
                <a:solidFill>
                  <a:srgbClr val="272525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%</a:t>
            </a:r>
            <a:r>
              <a:rPr lang="en-US" sz="1300" kern="0" spc="-27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retorna o </a:t>
            </a:r>
            <a:r>
              <a:rPr lang="en-US" sz="1300" b="1" kern="0" spc="-27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resto</a:t>
            </a:r>
            <a:r>
              <a:rPr lang="en-US" sz="1300" kern="0" spc="-27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de uma divisão. Muito útil para verificar se um número é par ou ímpar: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301225" y="2733493"/>
            <a:ext cx="5228995" cy="875308"/>
          </a:xfrm>
          <a:prstGeom prst="roundRect">
            <a:avLst>
              <a:gd name="adj" fmla="val 8078"/>
            </a:avLst>
          </a:prstGeom>
          <a:solidFill>
            <a:srgbClr val="F2F2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7" name="Text 25"/>
          <p:cNvSpPr/>
          <p:nvPr/>
        </p:nvSpPr>
        <p:spPr>
          <a:xfrm>
            <a:off x="6503229" y="2901768"/>
            <a:ext cx="4824986" cy="5387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300" kern="0" spc="-27" dirty="0">
                <a:solidFill>
                  <a:srgbClr val="032F6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numero % 2 == 0  # par</a:t>
            </a:r>
            <a:endParaRPr lang="en-US" sz="130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300" kern="0" spc="-27" dirty="0">
                <a:solidFill>
                  <a:srgbClr val="032F6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numero % 2 != 0  # ímpar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301225" y="3777473"/>
            <a:ext cx="5228995" cy="5091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6000"/>
              </a:lnSpc>
              <a:buNone/>
            </a:pPr>
            <a:r>
              <a:rPr lang="en-US" sz="1300" kern="0" spc="-27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Os operadores aritméticos são o coração do </a:t>
            </a:r>
            <a:r>
              <a:rPr lang="en-US" sz="1300" b="1" kern="0" spc="-27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processamento</a:t>
            </a:r>
            <a:r>
              <a:rPr lang="en-US" sz="1300" kern="0" spc="-27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no algoritmo.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66267" y="832247"/>
            <a:ext cx="10868745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b="1" kern="0" spc="-112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Introdução ao Fluxograma</a:t>
            </a:r>
            <a:endParaRPr lang="en-US" sz="3700" dirty="0"/>
          </a:p>
        </p:txBody>
      </p:sp>
      <p:sp>
        <p:nvSpPr>
          <p:cNvPr id="3" name="Text 1"/>
          <p:cNvSpPr/>
          <p:nvPr/>
        </p:nvSpPr>
        <p:spPr>
          <a:xfrm>
            <a:off x="661475" y="1855985"/>
            <a:ext cx="10727885" cy="3780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800" kern="0" spc="-3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 </a:t>
            </a:r>
            <a:r>
              <a:rPr lang="en-US" sz="1800" b="1" kern="0" spc="-30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fluxograma</a:t>
            </a:r>
            <a:r>
              <a:rPr lang="en-US" sz="1800" kern="0" spc="-3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é a representação </a:t>
            </a:r>
            <a:r>
              <a:rPr lang="en-US" sz="1800" b="1" kern="0" spc="-30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visual</a:t>
            </a:r>
            <a:r>
              <a:rPr lang="en-US" sz="1800" kern="0" spc="-3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de um algoritmo, usando símbolos padronizados.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2367964" y="2958802"/>
            <a:ext cx="2851178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b="1" kern="0" spc="-56" dirty="0" err="1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In</a:t>
            </a:r>
            <a:r>
              <a:rPr lang="en-US" sz="1850" b="1" spc="-56" dirty="0" err="1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ício</a:t>
            </a:r>
            <a:r>
              <a:rPr lang="en-US" sz="1850" b="1" spc="-56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 </a:t>
            </a:r>
            <a:r>
              <a:rPr lang="en-US" sz="1850" b="1" spc="-56" dirty="0" err="1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ou</a:t>
            </a:r>
            <a:r>
              <a:rPr lang="en-US" sz="1850" b="1" spc="-56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 Fim</a:t>
            </a:r>
            <a:endParaRPr lang="en-US" sz="1850" dirty="0"/>
          </a:p>
        </p:txBody>
      </p:sp>
      <p:sp>
        <p:nvSpPr>
          <p:cNvPr id="6" name="Text 3"/>
          <p:cNvSpPr/>
          <p:nvPr/>
        </p:nvSpPr>
        <p:spPr>
          <a:xfrm>
            <a:off x="2367964" y="3367484"/>
            <a:ext cx="2851178" cy="6111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kern="0" spc="-3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Marca o </a:t>
            </a:r>
            <a:r>
              <a:rPr lang="en-US" sz="1450" b="1" kern="0" spc="-30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início</a:t>
            </a:r>
            <a:r>
              <a:rPr lang="en-US" sz="1450" kern="0" spc="-3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ou </a:t>
            </a:r>
            <a:r>
              <a:rPr lang="en-US" sz="1450" b="1" kern="0" spc="-30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fim</a:t>
            </a:r>
            <a:r>
              <a:rPr lang="en-US" sz="1450" kern="0" spc="-3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do algoritmo → </a:t>
            </a:r>
            <a:r>
              <a:rPr lang="en-US" sz="1450" kern="0" spc="-30" dirty="0">
                <a:solidFill>
                  <a:srgbClr val="272525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início / fim</a:t>
            </a:r>
            <a:endParaRPr lang="en-US" sz="1450" dirty="0"/>
          </a:p>
        </p:txBody>
      </p:sp>
      <p:sp>
        <p:nvSpPr>
          <p:cNvPr id="8" name="Text 4"/>
          <p:cNvSpPr/>
          <p:nvPr/>
        </p:nvSpPr>
        <p:spPr>
          <a:xfrm>
            <a:off x="7587106" y="2958802"/>
            <a:ext cx="2851178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b="1" kern="0" spc="-56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Entrada/</a:t>
            </a:r>
            <a:r>
              <a:rPr lang="en-US" sz="1850" b="1" kern="0" spc="-56" dirty="0" err="1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Saída</a:t>
            </a:r>
            <a:endParaRPr lang="en-US" sz="1850" dirty="0"/>
          </a:p>
        </p:txBody>
      </p:sp>
      <p:sp>
        <p:nvSpPr>
          <p:cNvPr id="9" name="Text 5"/>
          <p:cNvSpPr/>
          <p:nvPr/>
        </p:nvSpPr>
        <p:spPr>
          <a:xfrm>
            <a:off x="7587106" y="3367484"/>
            <a:ext cx="2851178" cy="6111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kern="0" spc="-30" dirty="0" err="1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Operação</a:t>
            </a:r>
            <a:r>
              <a:rPr lang="en-US" sz="1450" kern="0" spc="-3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de entrada </a:t>
            </a:r>
            <a:r>
              <a:rPr lang="en-US" sz="1450" kern="0" spc="-30" dirty="0" err="1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ou</a:t>
            </a:r>
            <a:r>
              <a:rPr lang="en-US" sz="1450" kern="0" spc="-3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en-US" sz="1450" kern="0" spc="-30" dirty="0" err="1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saída</a:t>
            </a:r>
            <a:r>
              <a:rPr lang="en-US" sz="1450" kern="0" spc="-3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de dados, </a:t>
            </a:r>
            <a:r>
              <a:rPr lang="en-US" sz="1450" spc="-30" dirty="0">
                <a:solidFill>
                  <a:srgbClr val="272525"/>
                </a:solidFill>
                <a:highlight>
                  <a:srgbClr val="F2F2F2"/>
                </a:highlight>
                <a:latin typeface="Consolas" pitchFamily="34" charset="0"/>
              </a:rPr>
              <a:t>input()/print()</a:t>
            </a:r>
          </a:p>
        </p:txBody>
      </p:sp>
      <p:sp>
        <p:nvSpPr>
          <p:cNvPr id="14" name="Text 8"/>
          <p:cNvSpPr/>
          <p:nvPr/>
        </p:nvSpPr>
        <p:spPr>
          <a:xfrm>
            <a:off x="2367964" y="5000704"/>
            <a:ext cx="2851178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b="1" kern="0" spc="-56" dirty="0" err="1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Decisão</a:t>
            </a:r>
            <a:endParaRPr lang="en-US" sz="1850" dirty="0"/>
          </a:p>
        </p:txBody>
      </p:sp>
      <p:sp>
        <p:nvSpPr>
          <p:cNvPr id="15" name="Text 9"/>
          <p:cNvSpPr/>
          <p:nvPr/>
        </p:nvSpPr>
        <p:spPr>
          <a:xfrm>
            <a:off x="2367964" y="5409386"/>
            <a:ext cx="2851178" cy="6175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kern="0" spc="-30" dirty="0" err="1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Permite</a:t>
            </a:r>
            <a:r>
              <a:rPr lang="en-US" sz="1450" kern="0" spc="-3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en-US" sz="1450" kern="0" spc="-30" dirty="0" err="1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executar</a:t>
            </a:r>
            <a:r>
              <a:rPr lang="en-US" sz="1450" kern="0" spc="-3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en-US" sz="1450" kern="0" spc="-30" dirty="0" err="1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diferentes</a:t>
            </a:r>
            <a:r>
              <a:rPr lang="en-US" sz="1450" kern="0" spc="-3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en-US" sz="1450" kern="0" spc="-30" dirty="0" err="1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fluxos</a:t>
            </a:r>
            <a:r>
              <a:rPr lang="en-US" sz="1450" kern="0" spc="-3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en-US" sz="1450" kern="0" spc="-30" dirty="0" err="1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dentro</a:t>
            </a:r>
            <a:r>
              <a:rPr lang="en-US" sz="1450" kern="0" spc="-3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do </a:t>
            </a:r>
            <a:r>
              <a:rPr lang="en-US" sz="1450" kern="0" spc="-30" dirty="0" err="1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seu</a:t>
            </a:r>
            <a:r>
              <a:rPr lang="en-US" sz="1450" kern="0" spc="-3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en-US" sz="1450" kern="0" spc="-30" dirty="0" err="1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código</a:t>
            </a:r>
            <a:r>
              <a:rPr lang="en-US" sz="1450" kern="0" spc="-3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en-US" sz="1600" spc="-30" dirty="0">
                <a:solidFill>
                  <a:srgbClr val="272525"/>
                </a:solidFill>
                <a:highlight>
                  <a:srgbClr val="F2F2F2"/>
                </a:highlight>
                <a:latin typeface="Consolas" pitchFamily="34" charset="0"/>
              </a:rPr>
              <a:t>if/else</a:t>
            </a:r>
          </a:p>
        </p:txBody>
      </p:sp>
      <p:sp>
        <p:nvSpPr>
          <p:cNvPr id="17" name="Text 10"/>
          <p:cNvSpPr/>
          <p:nvPr/>
        </p:nvSpPr>
        <p:spPr>
          <a:xfrm>
            <a:off x="7587106" y="5000704"/>
            <a:ext cx="2851178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b="1" kern="0" spc="-56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Setas</a:t>
            </a:r>
            <a:endParaRPr lang="en-US" sz="1850" dirty="0"/>
          </a:p>
        </p:txBody>
      </p:sp>
      <p:sp>
        <p:nvSpPr>
          <p:cNvPr id="18" name="Text 11"/>
          <p:cNvSpPr/>
          <p:nvPr/>
        </p:nvSpPr>
        <p:spPr>
          <a:xfrm>
            <a:off x="7587106" y="5409386"/>
            <a:ext cx="2851178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kern="0" spc="-3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Indicam o </a:t>
            </a:r>
            <a:r>
              <a:rPr lang="en-US" sz="1450" b="1" kern="0" spc="-30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fluxo</a:t>
            </a:r>
            <a:r>
              <a:rPr lang="en-US" sz="1450" kern="0" spc="-3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de execução entre os passos</a:t>
            </a:r>
            <a:endParaRPr lang="en-US" sz="1450" dirty="0"/>
          </a:p>
        </p:txBody>
      </p:sp>
      <p:sp>
        <p:nvSpPr>
          <p:cNvPr id="24" name="Retângulo: Cantos Arredondados 23">
            <a:extLst>
              <a:ext uri="{FF2B5EF4-FFF2-40B4-BE49-F238E27FC236}">
                <a16:creationId xmlns:a16="http://schemas.microsoft.com/office/drawing/2014/main" id="{43B9EB9E-7B88-9CED-DE42-84412B7FAE01}"/>
              </a:ext>
            </a:extLst>
          </p:cNvPr>
          <p:cNvSpPr/>
          <p:nvPr/>
        </p:nvSpPr>
        <p:spPr>
          <a:xfrm>
            <a:off x="759125" y="2913304"/>
            <a:ext cx="1311215" cy="681545"/>
          </a:xfrm>
          <a:prstGeom prst="roundRect">
            <a:avLst>
              <a:gd name="adj" fmla="val 50000"/>
            </a:avLst>
          </a:prstGeom>
          <a:noFill/>
          <a:ln>
            <a:solidFill>
              <a:srgbClr val="04307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5" name="Fluxograma: Dados 24">
            <a:extLst>
              <a:ext uri="{FF2B5EF4-FFF2-40B4-BE49-F238E27FC236}">
                <a16:creationId xmlns:a16="http://schemas.microsoft.com/office/drawing/2014/main" id="{398F8665-0C70-C522-1A02-5F67DF2EBD85}"/>
              </a:ext>
            </a:extLst>
          </p:cNvPr>
          <p:cNvSpPr/>
          <p:nvPr/>
        </p:nvSpPr>
        <p:spPr>
          <a:xfrm>
            <a:off x="5531856" y="2913303"/>
            <a:ext cx="1742536" cy="681545"/>
          </a:xfrm>
          <a:prstGeom prst="flowChartInputOutput">
            <a:avLst/>
          </a:prstGeom>
          <a:noFill/>
          <a:ln>
            <a:solidFill>
              <a:srgbClr val="04307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cxnSp>
        <p:nvCxnSpPr>
          <p:cNvPr id="27" name="Conector de Seta Reta 26">
            <a:extLst>
              <a:ext uri="{FF2B5EF4-FFF2-40B4-BE49-F238E27FC236}">
                <a16:creationId xmlns:a16="http://schemas.microsoft.com/office/drawing/2014/main" id="{03601595-800A-0371-1466-BDCE3A3A458E}"/>
              </a:ext>
            </a:extLst>
          </p:cNvPr>
          <p:cNvCxnSpPr>
            <a:cxnSpLocks/>
          </p:cNvCxnSpPr>
          <p:nvPr/>
        </p:nvCxnSpPr>
        <p:spPr>
          <a:xfrm>
            <a:off x="5932098" y="5252847"/>
            <a:ext cx="1178392" cy="0"/>
          </a:xfrm>
          <a:prstGeom prst="straightConnector1">
            <a:avLst/>
          </a:prstGeom>
          <a:ln w="28575">
            <a:solidFill>
              <a:srgbClr val="04307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Fluxograma: Decisão 27">
            <a:extLst>
              <a:ext uri="{FF2B5EF4-FFF2-40B4-BE49-F238E27FC236}">
                <a16:creationId xmlns:a16="http://schemas.microsoft.com/office/drawing/2014/main" id="{5ADF2DB0-3F65-DFCD-8745-82AB4F13B97A}"/>
              </a:ext>
            </a:extLst>
          </p:cNvPr>
          <p:cNvSpPr/>
          <p:nvPr/>
        </p:nvSpPr>
        <p:spPr>
          <a:xfrm>
            <a:off x="759124" y="5000704"/>
            <a:ext cx="1311215" cy="617538"/>
          </a:xfrm>
          <a:prstGeom prst="flowChartDecision">
            <a:avLst/>
          </a:prstGeom>
          <a:noFill/>
          <a:ln>
            <a:solidFill>
              <a:srgbClr val="04307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37EDB8-7624-B7DF-1D41-E5598A972E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F4761F26-C30A-D039-D032-16158E279FE6}"/>
              </a:ext>
            </a:extLst>
          </p:cNvPr>
          <p:cNvSpPr/>
          <p:nvPr/>
        </p:nvSpPr>
        <p:spPr>
          <a:xfrm>
            <a:off x="966267" y="832247"/>
            <a:ext cx="10868745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b="1" kern="0" spc="-112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Introdução ao Fluxograma</a:t>
            </a:r>
            <a:endParaRPr lang="en-US" sz="37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291761EB-8CF5-8989-1613-C8D54EC57D59}"/>
              </a:ext>
            </a:extLst>
          </p:cNvPr>
          <p:cNvSpPr/>
          <p:nvPr/>
        </p:nvSpPr>
        <p:spPr>
          <a:xfrm>
            <a:off x="661475" y="1855985"/>
            <a:ext cx="10727885" cy="3780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800" kern="0" spc="-3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 </a:t>
            </a:r>
            <a:r>
              <a:rPr lang="en-US" sz="1800" b="1" kern="0" spc="-30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fluxograma</a:t>
            </a:r>
            <a:r>
              <a:rPr lang="en-US" sz="1800" kern="0" spc="-3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é a representação </a:t>
            </a:r>
            <a:r>
              <a:rPr lang="en-US" sz="1800" b="1" kern="0" spc="-30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visual</a:t>
            </a:r>
            <a:r>
              <a:rPr lang="en-US" sz="1800" kern="0" spc="-3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de um algoritmo, usando símbolos padronizados.</a:t>
            </a:r>
            <a:endParaRPr lang="en-US" sz="1800" dirty="0"/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72F9AEE3-3A7C-AE87-F435-8C273AFBD574}"/>
              </a:ext>
            </a:extLst>
          </p:cNvPr>
          <p:cNvSpPr/>
          <p:nvPr/>
        </p:nvSpPr>
        <p:spPr>
          <a:xfrm>
            <a:off x="2367964" y="2958802"/>
            <a:ext cx="2851178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b="1" spc="-56" dirty="0" err="1">
                <a:solidFill>
                  <a:srgbClr val="272525"/>
                </a:solidFill>
                <a:latin typeface="Inter Bold" pitchFamily="34" charset="0"/>
                <a:ea typeface="Inter Bold" pitchFamily="34" charset="-122"/>
              </a:rPr>
              <a:t>Desvio</a:t>
            </a:r>
            <a:r>
              <a:rPr lang="en-US" sz="1850" b="1" spc="-56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</a:rPr>
              <a:t> (</a:t>
            </a:r>
            <a:r>
              <a:rPr lang="en-US" sz="1850" b="1" spc="-56" dirty="0" err="1">
                <a:solidFill>
                  <a:srgbClr val="272525"/>
                </a:solidFill>
                <a:latin typeface="Inter Bold" pitchFamily="34" charset="0"/>
                <a:ea typeface="Inter Bold" pitchFamily="34" charset="-122"/>
              </a:rPr>
              <a:t>Conector</a:t>
            </a:r>
            <a:r>
              <a:rPr lang="en-US" sz="1850" b="1" spc="-56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</a:rPr>
              <a:t>)</a:t>
            </a:r>
            <a:endParaRPr lang="en-US" sz="1850" dirty="0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EF2636FC-22CC-F6F7-C981-3272057D51CF}"/>
              </a:ext>
            </a:extLst>
          </p:cNvPr>
          <p:cNvSpPr/>
          <p:nvPr/>
        </p:nvSpPr>
        <p:spPr>
          <a:xfrm>
            <a:off x="2367964" y="3367484"/>
            <a:ext cx="2851178" cy="6111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kern="0" spc="-30" dirty="0" err="1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Conecta</a:t>
            </a:r>
            <a:r>
              <a:rPr lang="en-US" sz="1450" kern="0" spc="-3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partes do </a:t>
            </a:r>
            <a:r>
              <a:rPr lang="en-US" sz="1450" kern="0" spc="-30" dirty="0" err="1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fluxograma</a:t>
            </a:r>
            <a:r>
              <a:rPr lang="en-US" sz="1450" kern="0" spc="-3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, </a:t>
            </a:r>
            <a:r>
              <a:rPr lang="en-US" sz="1450" kern="0" spc="-30" dirty="0" err="1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indicando</a:t>
            </a:r>
            <a:r>
              <a:rPr lang="en-US" sz="1450" kern="0" spc="-3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en-US" sz="1450" kern="0" spc="-30" dirty="0" err="1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que</a:t>
            </a:r>
            <a:r>
              <a:rPr lang="en-US" sz="1450" kern="0" spc="-3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o </a:t>
            </a:r>
            <a:r>
              <a:rPr lang="en-US" sz="1450" kern="0" spc="-30" dirty="0" err="1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fluxo</a:t>
            </a:r>
            <a:r>
              <a:rPr lang="en-US" sz="1450" kern="0" spc="-3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continua</a:t>
            </a:r>
          </a:p>
        </p:txBody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61BBE490-C4C6-13F7-3D62-F76D18835090}"/>
              </a:ext>
            </a:extLst>
          </p:cNvPr>
          <p:cNvSpPr/>
          <p:nvPr/>
        </p:nvSpPr>
        <p:spPr>
          <a:xfrm>
            <a:off x="7587106" y="2958802"/>
            <a:ext cx="2851178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b="1" kern="0" spc="-56" dirty="0" err="1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Processamento</a:t>
            </a:r>
            <a:endParaRPr lang="en-US" sz="1850" dirty="0"/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BD6F375C-D0F5-CFE0-9152-23E5F0DF28BF}"/>
              </a:ext>
            </a:extLst>
          </p:cNvPr>
          <p:cNvSpPr/>
          <p:nvPr/>
        </p:nvSpPr>
        <p:spPr>
          <a:xfrm>
            <a:off x="7587106" y="3367484"/>
            <a:ext cx="2851178" cy="6111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kern="0" spc="-30" dirty="0" err="1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Processamento</a:t>
            </a:r>
            <a:r>
              <a:rPr lang="en-US" sz="1450" kern="0" spc="-3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en-US" sz="1450" kern="0" spc="-30" dirty="0" err="1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em</a:t>
            </a:r>
            <a:r>
              <a:rPr lang="en-US" sz="1450" kern="0" spc="-3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en-US" sz="1450" kern="0" spc="-30" dirty="0" err="1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geral</a:t>
            </a:r>
            <a:r>
              <a:rPr lang="en-US" sz="1450" kern="0" spc="-3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, </a:t>
            </a:r>
            <a:r>
              <a:rPr lang="en-US" sz="1450" kern="0" spc="-30" dirty="0" err="1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como</a:t>
            </a:r>
            <a:r>
              <a:rPr lang="en-US" sz="1450" kern="0" spc="-3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en-US" sz="1450" kern="0" spc="-30" dirty="0" err="1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cálculos</a:t>
            </a:r>
            <a:endParaRPr lang="en-US" sz="1450" spc="-30" dirty="0">
              <a:solidFill>
                <a:srgbClr val="272525"/>
              </a:solidFill>
              <a:highlight>
                <a:srgbClr val="F2F2F2"/>
              </a:highlight>
              <a:latin typeface="Consolas" pitchFamily="34" charset="0"/>
            </a:endParaRPr>
          </a:p>
        </p:txBody>
      </p:sp>
      <p:sp>
        <p:nvSpPr>
          <p:cNvPr id="14" name="Text 8">
            <a:extLst>
              <a:ext uri="{FF2B5EF4-FFF2-40B4-BE49-F238E27FC236}">
                <a16:creationId xmlns:a16="http://schemas.microsoft.com/office/drawing/2014/main" id="{03B93C0D-13CE-3703-616E-C8786CDCF2BA}"/>
              </a:ext>
            </a:extLst>
          </p:cNvPr>
          <p:cNvSpPr/>
          <p:nvPr/>
        </p:nvSpPr>
        <p:spPr>
          <a:xfrm>
            <a:off x="2367964" y="5000704"/>
            <a:ext cx="2851178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b="1" kern="0" spc="-56" dirty="0" err="1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Exibir</a:t>
            </a:r>
            <a:r>
              <a:rPr lang="en-US" sz="1850" b="1" kern="0" spc="-56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/</a:t>
            </a:r>
            <a:r>
              <a:rPr lang="en-US" sz="1850" b="1" kern="0" spc="-56" dirty="0" err="1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Saída</a:t>
            </a:r>
            <a:endParaRPr lang="en-US" sz="1850" dirty="0"/>
          </a:p>
        </p:txBody>
      </p:sp>
      <p:sp>
        <p:nvSpPr>
          <p:cNvPr id="15" name="Text 9">
            <a:extLst>
              <a:ext uri="{FF2B5EF4-FFF2-40B4-BE49-F238E27FC236}">
                <a16:creationId xmlns:a16="http://schemas.microsoft.com/office/drawing/2014/main" id="{BD912384-2BE6-70C9-76A7-ABBAF6183B50}"/>
              </a:ext>
            </a:extLst>
          </p:cNvPr>
          <p:cNvSpPr/>
          <p:nvPr/>
        </p:nvSpPr>
        <p:spPr>
          <a:xfrm>
            <a:off x="2367964" y="5409386"/>
            <a:ext cx="2851178" cy="6175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kern="0" spc="-30" dirty="0" err="1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Mostra</a:t>
            </a:r>
            <a:r>
              <a:rPr lang="en-US" sz="1450" kern="0" spc="-3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as </a:t>
            </a:r>
            <a:r>
              <a:rPr lang="en-US" sz="1450" kern="0" spc="-30" dirty="0" err="1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informações</a:t>
            </a:r>
            <a:r>
              <a:rPr lang="en-US" sz="1450" kern="0" spc="-3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en-US" sz="1450" kern="0" spc="-30" dirty="0" err="1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ou</a:t>
            </a:r>
            <a:r>
              <a:rPr lang="en-US" sz="1450" kern="0" spc="-3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en-US" sz="1450" kern="0" spc="-30" dirty="0" err="1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resultados</a:t>
            </a:r>
            <a:r>
              <a:rPr lang="en-US" sz="1450" spc="-3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</a:t>
            </a:r>
            <a:endParaRPr lang="en-US" sz="1600" spc="-30" dirty="0">
              <a:solidFill>
                <a:srgbClr val="272525"/>
              </a:solidFill>
              <a:highlight>
                <a:srgbClr val="F2F2F2"/>
              </a:highlight>
              <a:latin typeface="Consolas" pitchFamily="34" charset="0"/>
            </a:endParaRPr>
          </a:p>
        </p:txBody>
      </p:sp>
      <p:sp>
        <p:nvSpPr>
          <p:cNvPr id="4" name="Elipse 3">
            <a:extLst>
              <a:ext uri="{FF2B5EF4-FFF2-40B4-BE49-F238E27FC236}">
                <a16:creationId xmlns:a16="http://schemas.microsoft.com/office/drawing/2014/main" id="{349D4396-E0A7-3603-CD2C-68EF39545ED4}"/>
              </a:ext>
            </a:extLst>
          </p:cNvPr>
          <p:cNvSpPr/>
          <p:nvPr/>
        </p:nvSpPr>
        <p:spPr>
          <a:xfrm>
            <a:off x="1056789" y="2913302"/>
            <a:ext cx="715884" cy="681545"/>
          </a:xfrm>
          <a:prstGeom prst="ellipse">
            <a:avLst/>
          </a:prstGeom>
          <a:noFill/>
          <a:ln>
            <a:solidFill>
              <a:srgbClr val="04307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A333A369-FA3C-B470-ED48-B0DE40032F61}"/>
              </a:ext>
            </a:extLst>
          </p:cNvPr>
          <p:cNvSpPr/>
          <p:nvPr/>
        </p:nvSpPr>
        <p:spPr>
          <a:xfrm>
            <a:off x="5932098" y="2913302"/>
            <a:ext cx="1178392" cy="611184"/>
          </a:xfrm>
          <a:prstGeom prst="rect">
            <a:avLst/>
          </a:prstGeom>
          <a:noFill/>
          <a:ln>
            <a:solidFill>
              <a:srgbClr val="04307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0" name="Fluxograma: Documento 9">
            <a:extLst>
              <a:ext uri="{FF2B5EF4-FFF2-40B4-BE49-F238E27FC236}">
                <a16:creationId xmlns:a16="http://schemas.microsoft.com/office/drawing/2014/main" id="{3BBF096D-4E09-569A-BFE8-2D79BE46D7F3}"/>
              </a:ext>
            </a:extLst>
          </p:cNvPr>
          <p:cNvSpPr/>
          <p:nvPr/>
        </p:nvSpPr>
        <p:spPr>
          <a:xfrm>
            <a:off x="759126" y="5009980"/>
            <a:ext cx="1311214" cy="744317"/>
          </a:xfrm>
          <a:prstGeom prst="flowChartDocument">
            <a:avLst/>
          </a:prstGeom>
          <a:noFill/>
          <a:ln>
            <a:solidFill>
              <a:srgbClr val="04307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1" name="Text 4">
            <a:extLst>
              <a:ext uri="{FF2B5EF4-FFF2-40B4-BE49-F238E27FC236}">
                <a16:creationId xmlns:a16="http://schemas.microsoft.com/office/drawing/2014/main" id="{3C74A996-DD1B-6047-F36C-637FEBA5BB86}"/>
              </a:ext>
            </a:extLst>
          </p:cNvPr>
          <p:cNvSpPr/>
          <p:nvPr/>
        </p:nvSpPr>
        <p:spPr>
          <a:xfrm>
            <a:off x="7587106" y="5040021"/>
            <a:ext cx="2851178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b="1" kern="0" spc="-56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Entrada de Dados</a:t>
            </a:r>
            <a:endParaRPr lang="en-US" sz="1850" dirty="0"/>
          </a:p>
        </p:txBody>
      </p:sp>
      <p:sp>
        <p:nvSpPr>
          <p:cNvPr id="12" name="Text 5">
            <a:extLst>
              <a:ext uri="{FF2B5EF4-FFF2-40B4-BE49-F238E27FC236}">
                <a16:creationId xmlns:a16="http://schemas.microsoft.com/office/drawing/2014/main" id="{7D731653-762D-03E7-81E2-56FB550F4AE0}"/>
              </a:ext>
            </a:extLst>
          </p:cNvPr>
          <p:cNvSpPr/>
          <p:nvPr/>
        </p:nvSpPr>
        <p:spPr>
          <a:xfrm>
            <a:off x="7587106" y="5448703"/>
            <a:ext cx="2851178" cy="6111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kern="0" spc="-3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Entrada manual dos dados.</a:t>
            </a:r>
            <a:endParaRPr lang="en-US" sz="1450" spc="-30" dirty="0">
              <a:solidFill>
                <a:srgbClr val="272525"/>
              </a:solidFill>
              <a:highlight>
                <a:srgbClr val="F2F2F2"/>
              </a:highlight>
              <a:latin typeface="Consolas" pitchFamily="34" charset="0"/>
            </a:endParaRPr>
          </a:p>
        </p:txBody>
      </p:sp>
      <p:sp>
        <p:nvSpPr>
          <p:cNvPr id="22" name="Retângulo: Único Canto Recortado 21">
            <a:extLst>
              <a:ext uri="{FF2B5EF4-FFF2-40B4-BE49-F238E27FC236}">
                <a16:creationId xmlns:a16="http://schemas.microsoft.com/office/drawing/2014/main" id="{4E0DFE9C-755A-DBBD-1B8D-EDD57E9AF081}"/>
              </a:ext>
            </a:extLst>
          </p:cNvPr>
          <p:cNvSpPr/>
          <p:nvPr/>
        </p:nvSpPr>
        <p:spPr>
          <a:xfrm flipH="1">
            <a:off x="5932098" y="4889089"/>
            <a:ext cx="1178392" cy="744317"/>
          </a:xfrm>
          <a:prstGeom prst="snip1Rect">
            <a:avLst/>
          </a:prstGeom>
          <a:noFill/>
          <a:ln>
            <a:solidFill>
              <a:srgbClr val="04307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4777226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BE4B5228-FDB0-4B99-AD42-46792D5ED3E8}"/>
              </a:ext>
            </a:extLst>
          </p:cNvPr>
          <p:cNvSpPr/>
          <p:nvPr/>
        </p:nvSpPr>
        <p:spPr>
          <a:xfrm>
            <a:off x="966267" y="832247"/>
            <a:ext cx="10868745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b="1" kern="0" spc="-112" dirty="0" err="1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Exemplos</a:t>
            </a:r>
            <a:r>
              <a:rPr lang="en-US" sz="3700" b="1" kern="0" spc="-112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 de Fluxograma</a:t>
            </a:r>
            <a:endParaRPr lang="en-US" sz="3700" dirty="0"/>
          </a:p>
        </p:txBody>
      </p:sp>
      <p:sp>
        <p:nvSpPr>
          <p:cNvPr id="3" name="Retângulo: Cantos Arredondados 2">
            <a:extLst>
              <a:ext uri="{FF2B5EF4-FFF2-40B4-BE49-F238E27FC236}">
                <a16:creationId xmlns:a16="http://schemas.microsoft.com/office/drawing/2014/main" id="{963BFA04-F680-3DDA-D8E0-5D40DFF767B4}"/>
              </a:ext>
            </a:extLst>
          </p:cNvPr>
          <p:cNvSpPr/>
          <p:nvPr/>
        </p:nvSpPr>
        <p:spPr>
          <a:xfrm>
            <a:off x="5172975" y="1718865"/>
            <a:ext cx="1331342" cy="540000"/>
          </a:xfrm>
          <a:prstGeom prst="roundRect">
            <a:avLst>
              <a:gd name="adj" fmla="val 50000"/>
            </a:avLst>
          </a:prstGeom>
          <a:noFill/>
          <a:ln>
            <a:solidFill>
              <a:srgbClr val="04307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>
                <a:solidFill>
                  <a:schemeClr val="tx1"/>
                </a:solidFill>
              </a:rPr>
              <a:t>Início</a:t>
            </a:r>
          </a:p>
        </p:txBody>
      </p:sp>
      <p:sp>
        <p:nvSpPr>
          <p:cNvPr id="4" name="Retângulo: Único Canto Recortado 3">
            <a:extLst>
              <a:ext uri="{FF2B5EF4-FFF2-40B4-BE49-F238E27FC236}">
                <a16:creationId xmlns:a16="http://schemas.microsoft.com/office/drawing/2014/main" id="{167AC403-CF3F-3906-2F0B-580F3900409E}"/>
              </a:ext>
            </a:extLst>
          </p:cNvPr>
          <p:cNvSpPr/>
          <p:nvPr/>
        </p:nvSpPr>
        <p:spPr>
          <a:xfrm flipH="1">
            <a:off x="5249450" y="2580243"/>
            <a:ext cx="1178392" cy="540000"/>
          </a:xfrm>
          <a:prstGeom prst="snip1Rect">
            <a:avLst/>
          </a:prstGeom>
          <a:noFill/>
          <a:ln>
            <a:solidFill>
              <a:srgbClr val="04307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>
                <a:solidFill>
                  <a:schemeClr val="tx1"/>
                </a:solidFill>
              </a:rPr>
              <a:t>nota1</a:t>
            </a:r>
          </a:p>
        </p:txBody>
      </p:sp>
      <p:sp>
        <p:nvSpPr>
          <p:cNvPr id="5" name="Retângulo: Único Canto Recortado 4">
            <a:extLst>
              <a:ext uri="{FF2B5EF4-FFF2-40B4-BE49-F238E27FC236}">
                <a16:creationId xmlns:a16="http://schemas.microsoft.com/office/drawing/2014/main" id="{AE1BE86C-5719-E087-AEC9-60A082B77F03}"/>
              </a:ext>
            </a:extLst>
          </p:cNvPr>
          <p:cNvSpPr/>
          <p:nvPr/>
        </p:nvSpPr>
        <p:spPr>
          <a:xfrm flipH="1">
            <a:off x="5249450" y="3441621"/>
            <a:ext cx="1178392" cy="540000"/>
          </a:xfrm>
          <a:prstGeom prst="snip1Rect">
            <a:avLst/>
          </a:prstGeom>
          <a:noFill/>
          <a:ln>
            <a:solidFill>
              <a:srgbClr val="04307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>
                <a:solidFill>
                  <a:schemeClr val="tx1"/>
                </a:solidFill>
              </a:rPr>
              <a:t>nota2</a:t>
            </a:r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A40BE134-973E-6A33-E3E2-D2C4F88C2FFF}"/>
              </a:ext>
            </a:extLst>
          </p:cNvPr>
          <p:cNvSpPr/>
          <p:nvPr/>
        </p:nvSpPr>
        <p:spPr>
          <a:xfrm>
            <a:off x="4607363" y="4235237"/>
            <a:ext cx="2462565" cy="540000"/>
          </a:xfrm>
          <a:prstGeom prst="rect">
            <a:avLst/>
          </a:prstGeom>
          <a:noFill/>
          <a:ln>
            <a:solidFill>
              <a:srgbClr val="04307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>
                <a:solidFill>
                  <a:schemeClr val="tx1"/>
                </a:solidFill>
              </a:rPr>
              <a:t>media &lt;- (nota1+nota2) / 2</a:t>
            </a:r>
          </a:p>
        </p:txBody>
      </p:sp>
      <p:sp>
        <p:nvSpPr>
          <p:cNvPr id="7" name="Fluxograma: Documento 6">
            <a:extLst>
              <a:ext uri="{FF2B5EF4-FFF2-40B4-BE49-F238E27FC236}">
                <a16:creationId xmlns:a16="http://schemas.microsoft.com/office/drawing/2014/main" id="{17F9DE5F-C906-9C62-28E1-FE85F1E1B21B}"/>
              </a:ext>
            </a:extLst>
          </p:cNvPr>
          <p:cNvSpPr/>
          <p:nvPr/>
        </p:nvSpPr>
        <p:spPr>
          <a:xfrm>
            <a:off x="5249450" y="5164377"/>
            <a:ext cx="1178392" cy="540000"/>
          </a:xfrm>
          <a:prstGeom prst="flowChartDocument">
            <a:avLst/>
          </a:prstGeom>
          <a:noFill/>
          <a:ln>
            <a:solidFill>
              <a:srgbClr val="04307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>
                <a:solidFill>
                  <a:schemeClr val="tx1"/>
                </a:solidFill>
              </a:rPr>
              <a:t>media</a:t>
            </a:r>
          </a:p>
        </p:txBody>
      </p:sp>
      <p:sp>
        <p:nvSpPr>
          <p:cNvPr id="9" name="Retângulo: Cantos Arredondados 8">
            <a:extLst>
              <a:ext uri="{FF2B5EF4-FFF2-40B4-BE49-F238E27FC236}">
                <a16:creationId xmlns:a16="http://schemas.microsoft.com/office/drawing/2014/main" id="{EDBDA0FB-8365-DB3C-BA31-FFB94F165D43}"/>
              </a:ext>
            </a:extLst>
          </p:cNvPr>
          <p:cNvSpPr/>
          <p:nvPr/>
        </p:nvSpPr>
        <p:spPr>
          <a:xfrm>
            <a:off x="5172975" y="6025753"/>
            <a:ext cx="1331342" cy="540000"/>
          </a:xfrm>
          <a:prstGeom prst="roundRect">
            <a:avLst>
              <a:gd name="adj" fmla="val 50000"/>
            </a:avLst>
          </a:prstGeom>
          <a:noFill/>
          <a:ln>
            <a:solidFill>
              <a:srgbClr val="04307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>
                <a:solidFill>
                  <a:schemeClr val="tx1"/>
                </a:solidFill>
              </a:rPr>
              <a:t>Fim</a:t>
            </a:r>
          </a:p>
        </p:txBody>
      </p:sp>
      <p:cxnSp>
        <p:nvCxnSpPr>
          <p:cNvPr id="11" name="Conector de Seta Reta 10">
            <a:extLst>
              <a:ext uri="{FF2B5EF4-FFF2-40B4-BE49-F238E27FC236}">
                <a16:creationId xmlns:a16="http://schemas.microsoft.com/office/drawing/2014/main" id="{8CF6E099-04FB-6615-5F9D-995D91D1C0BD}"/>
              </a:ext>
            </a:extLst>
          </p:cNvPr>
          <p:cNvCxnSpPr>
            <a:stCxn id="3" idx="2"/>
            <a:endCxn id="4" idx="3"/>
          </p:cNvCxnSpPr>
          <p:nvPr/>
        </p:nvCxnSpPr>
        <p:spPr>
          <a:xfrm>
            <a:off x="5838646" y="2258865"/>
            <a:ext cx="0" cy="321378"/>
          </a:xfrm>
          <a:prstGeom prst="straightConnector1">
            <a:avLst/>
          </a:prstGeom>
          <a:ln w="28575">
            <a:solidFill>
              <a:srgbClr val="04307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ector de Seta Reta 12">
            <a:extLst>
              <a:ext uri="{FF2B5EF4-FFF2-40B4-BE49-F238E27FC236}">
                <a16:creationId xmlns:a16="http://schemas.microsoft.com/office/drawing/2014/main" id="{DBD5E73B-2542-AA7A-997F-DF1A5B34767B}"/>
              </a:ext>
            </a:extLst>
          </p:cNvPr>
          <p:cNvCxnSpPr>
            <a:stCxn id="4" idx="1"/>
            <a:endCxn id="5" idx="3"/>
          </p:cNvCxnSpPr>
          <p:nvPr/>
        </p:nvCxnSpPr>
        <p:spPr>
          <a:xfrm>
            <a:off x="5838646" y="3120243"/>
            <a:ext cx="0" cy="321378"/>
          </a:xfrm>
          <a:prstGeom prst="straightConnector1">
            <a:avLst/>
          </a:prstGeom>
          <a:ln w="28575">
            <a:solidFill>
              <a:srgbClr val="04307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ector de Seta Reta 14">
            <a:extLst>
              <a:ext uri="{FF2B5EF4-FFF2-40B4-BE49-F238E27FC236}">
                <a16:creationId xmlns:a16="http://schemas.microsoft.com/office/drawing/2014/main" id="{2C972798-EB83-6EFA-D25D-1A9A174B3E6E}"/>
              </a:ext>
            </a:extLst>
          </p:cNvPr>
          <p:cNvCxnSpPr>
            <a:stCxn id="5" idx="1"/>
            <a:endCxn id="6" idx="0"/>
          </p:cNvCxnSpPr>
          <p:nvPr/>
        </p:nvCxnSpPr>
        <p:spPr>
          <a:xfrm>
            <a:off x="5838646" y="3981621"/>
            <a:ext cx="0" cy="253616"/>
          </a:xfrm>
          <a:prstGeom prst="straightConnector1">
            <a:avLst/>
          </a:prstGeom>
          <a:ln w="28575">
            <a:solidFill>
              <a:srgbClr val="04307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ector de Seta Reta 16">
            <a:extLst>
              <a:ext uri="{FF2B5EF4-FFF2-40B4-BE49-F238E27FC236}">
                <a16:creationId xmlns:a16="http://schemas.microsoft.com/office/drawing/2014/main" id="{1BEF6DBB-8AEE-B1C0-89C9-8CF85F791C13}"/>
              </a:ext>
            </a:extLst>
          </p:cNvPr>
          <p:cNvCxnSpPr>
            <a:stCxn id="6" idx="2"/>
            <a:endCxn id="7" idx="0"/>
          </p:cNvCxnSpPr>
          <p:nvPr/>
        </p:nvCxnSpPr>
        <p:spPr>
          <a:xfrm>
            <a:off x="5838646" y="4775237"/>
            <a:ext cx="0" cy="389140"/>
          </a:xfrm>
          <a:prstGeom prst="straightConnector1">
            <a:avLst/>
          </a:prstGeom>
          <a:ln w="28575">
            <a:solidFill>
              <a:srgbClr val="04307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ector de Seta Reta 18">
            <a:extLst>
              <a:ext uri="{FF2B5EF4-FFF2-40B4-BE49-F238E27FC236}">
                <a16:creationId xmlns:a16="http://schemas.microsoft.com/office/drawing/2014/main" id="{BE2D7967-45AA-155E-D6D9-B2A431A01F0B}"/>
              </a:ext>
            </a:extLst>
          </p:cNvPr>
          <p:cNvCxnSpPr>
            <a:stCxn id="7" idx="2"/>
            <a:endCxn id="9" idx="0"/>
          </p:cNvCxnSpPr>
          <p:nvPr/>
        </p:nvCxnSpPr>
        <p:spPr>
          <a:xfrm>
            <a:off x="5838646" y="5668677"/>
            <a:ext cx="0" cy="357076"/>
          </a:xfrm>
          <a:prstGeom prst="straightConnector1">
            <a:avLst/>
          </a:prstGeom>
          <a:ln w="28575">
            <a:solidFill>
              <a:srgbClr val="04307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Chave Direita 19">
            <a:extLst>
              <a:ext uri="{FF2B5EF4-FFF2-40B4-BE49-F238E27FC236}">
                <a16:creationId xmlns:a16="http://schemas.microsoft.com/office/drawing/2014/main" id="{0F0FC1EC-6140-2FC9-11C2-40384CDF6412}"/>
              </a:ext>
            </a:extLst>
          </p:cNvPr>
          <p:cNvSpPr/>
          <p:nvPr/>
        </p:nvSpPr>
        <p:spPr>
          <a:xfrm>
            <a:off x="6823494" y="2580243"/>
            <a:ext cx="270018" cy="1401378"/>
          </a:xfrm>
          <a:prstGeom prst="rightBrace">
            <a:avLst/>
          </a:prstGeom>
          <a:ln w="38100">
            <a:solidFill>
              <a:srgbClr val="04307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1" name="Chave Direita 20">
            <a:extLst>
              <a:ext uri="{FF2B5EF4-FFF2-40B4-BE49-F238E27FC236}">
                <a16:creationId xmlns:a16="http://schemas.microsoft.com/office/drawing/2014/main" id="{C2C75EEF-ACA9-2A2D-53FC-17780FCDBC12}"/>
              </a:ext>
            </a:extLst>
          </p:cNvPr>
          <p:cNvSpPr/>
          <p:nvPr/>
        </p:nvSpPr>
        <p:spPr>
          <a:xfrm>
            <a:off x="7354155" y="4235237"/>
            <a:ext cx="270018" cy="540000"/>
          </a:xfrm>
          <a:prstGeom prst="rightBrace">
            <a:avLst/>
          </a:prstGeom>
          <a:ln w="38100">
            <a:solidFill>
              <a:srgbClr val="04307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3" name="Chave Direita 22">
            <a:extLst>
              <a:ext uri="{FF2B5EF4-FFF2-40B4-BE49-F238E27FC236}">
                <a16:creationId xmlns:a16="http://schemas.microsoft.com/office/drawing/2014/main" id="{A6E5D85D-AB38-9378-3AC1-30E41C44F646}"/>
              </a:ext>
            </a:extLst>
          </p:cNvPr>
          <p:cNvSpPr/>
          <p:nvPr/>
        </p:nvSpPr>
        <p:spPr>
          <a:xfrm>
            <a:off x="6823494" y="5164377"/>
            <a:ext cx="270018" cy="540000"/>
          </a:xfrm>
          <a:prstGeom prst="rightBrace">
            <a:avLst/>
          </a:prstGeom>
          <a:ln w="38100">
            <a:solidFill>
              <a:srgbClr val="04307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4" name="CaixaDeTexto 23">
            <a:extLst>
              <a:ext uri="{FF2B5EF4-FFF2-40B4-BE49-F238E27FC236}">
                <a16:creationId xmlns:a16="http://schemas.microsoft.com/office/drawing/2014/main" id="{F2FEB1A4-5E82-374D-6778-F31EACCF44BC}"/>
              </a:ext>
            </a:extLst>
          </p:cNvPr>
          <p:cNvSpPr txBox="1"/>
          <p:nvPr/>
        </p:nvSpPr>
        <p:spPr>
          <a:xfrm>
            <a:off x="7264674" y="3120243"/>
            <a:ext cx="162736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Entrada de Dados</a:t>
            </a:r>
          </a:p>
        </p:txBody>
      </p:sp>
      <p:sp>
        <p:nvSpPr>
          <p:cNvPr id="26" name="CaixaDeTexto 25">
            <a:extLst>
              <a:ext uri="{FF2B5EF4-FFF2-40B4-BE49-F238E27FC236}">
                <a16:creationId xmlns:a16="http://schemas.microsoft.com/office/drawing/2014/main" id="{B9145E94-A789-4A80-3DAE-912C4582A6F6}"/>
              </a:ext>
            </a:extLst>
          </p:cNvPr>
          <p:cNvSpPr txBox="1"/>
          <p:nvPr/>
        </p:nvSpPr>
        <p:spPr>
          <a:xfrm>
            <a:off x="7908400" y="4351348"/>
            <a:ext cx="142859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Processamento</a:t>
            </a:r>
          </a:p>
        </p:txBody>
      </p:sp>
      <p:sp>
        <p:nvSpPr>
          <p:cNvPr id="27" name="CaixaDeTexto 26">
            <a:extLst>
              <a:ext uri="{FF2B5EF4-FFF2-40B4-BE49-F238E27FC236}">
                <a16:creationId xmlns:a16="http://schemas.microsoft.com/office/drawing/2014/main" id="{7AD159C1-E21E-3102-BDE6-BFB2E2058530}"/>
              </a:ext>
            </a:extLst>
          </p:cNvPr>
          <p:cNvSpPr txBox="1"/>
          <p:nvPr/>
        </p:nvSpPr>
        <p:spPr>
          <a:xfrm>
            <a:off x="7264673" y="5283760"/>
            <a:ext cx="65274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Saída</a:t>
            </a:r>
          </a:p>
        </p:txBody>
      </p:sp>
    </p:spTree>
    <p:extLst>
      <p:ext uri="{BB962C8B-B14F-4D97-AF65-F5344CB8AC3E}">
        <p14:creationId xmlns:p14="http://schemas.microsoft.com/office/powerpoint/2010/main" val="109439188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4426DBD-91D2-4E14-872C-762773E61F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lnSpc>
                <a:spcPct val="104000"/>
              </a:lnSpc>
              <a:spcBef>
                <a:spcPts val="0"/>
              </a:spcBef>
            </a:pPr>
            <a:r>
              <a:rPr lang="pt-BR" sz="3600" b="1" spc="-72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Arial"/>
              </a:rPr>
              <a:t>Desafios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FDE2030-B321-4A4C-98C4-115C0FE1D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347" y="1744663"/>
            <a:ext cx="11007306" cy="1005057"/>
          </a:xfrm>
        </p:spPr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pt-BR" b="1" dirty="0"/>
              <a:t>Desafio 01 - Conversão de Temperatura</a:t>
            </a:r>
          </a:p>
          <a:p>
            <a:pPr marL="457200" lvl="1" indent="0">
              <a:buNone/>
            </a:pPr>
            <a:r>
              <a:rPr lang="pt-BR" dirty="0"/>
              <a:t>Solicite ao usuário uma temperatura em Celsius (tipo </a:t>
            </a:r>
            <a:r>
              <a:rPr lang="pt-BR" dirty="0" err="1"/>
              <a:t>double</a:t>
            </a:r>
            <a:r>
              <a:rPr lang="pt-BR" dirty="0"/>
              <a:t>) e converta para Fahrenheit (F) e Kelvin(K). A fórmula é:</a:t>
            </a:r>
          </a:p>
        </p:txBody>
      </p:sp>
      <p:sp>
        <p:nvSpPr>
          <p:cNvPr id="5" name="Espaço Reservado para Conteúdo 2">
            <a:extLst>
              <a:ext uri="{FF2B5EF4-FFF2-40B4-BE49-F238E27FC236}">
                <a16:creationId xmlns:a16="http://schemas.microsoft.com/office/drawing/2014/main" id="{D442037C-7E9F-444F-A87A-BFED3ED34744}"/>
              </a:ext>
            </a:extLst>
          </p:cNvPr>
          <p:cNvSpPr txBox="1">
            <a:spLocks/>
          </p:cNvSpPr>
          <p:nvPr/>
        </p:nvSpPr>
        <p:spPr>
          <a:xfrm>
            <a:off x="592347" y="3708174"/>
            <a:ext cx="11007306" cy="1438583"/>
          </a:xfrm>
          <a:prstGeom prst="rect">
            <a:avLst/>
          </a:prstGeom>
        </p:spPr>
        <p:txBody>
          <a:bodyPr/>
          <a:lstStyle>
            <a:lvl1pPr marL="0" indent="0" algn="just" defTabSz="914400" rtl="0" eaLnBrk="1" latinLnBrk="0" hangingPunct="1">
              <a:lnSpc>
                <a:spcPct val="15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1pPr>
            <a:lvl2pPr marL="685800" indent="-228600" algn="just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2pPr>
            <a:lvl3pPr marL="1143000" indent="-228600" algn="just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3pPr>
            <a:lvl4pPr marL="1600200" indent="-228600" algn="just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4pPr>
            <a:lvl5pPr marL="2057400" indent="-228600" algn="just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b="1" dirty="0"/>
              <a:t>Desafio 02 - Calculando Juros Compostos</a:t>
            </a:r>
          </a:p>
          <a:p>
            <a:pPr marL="457200" lvl="1" indent="0">
              <a:buNone/>
            </a:pPr>
            <a:r>
              <a:rPr lang="pt-BR" dirty="0"/>
              <a:t>Implemente um programa que solicite o capital inicial, a taxa de juros (em % ao mês) e o número de meses. Calcule e exiba o montante total com base na fórmula de juros compostos:</a:t>
            </a:r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3215C524-60E0-4A24-8CF9-E8DB22B300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9594" y="2905052"/>
            <a:ext cx="2800741" cy="523948"/>
          </a:xfrm>
          <a:prstGeom prst="rect">
            <a:avLst/>
          </a:prstGeom>
        </p:spPr>
      </p:pic>
      <p:pic>
        <p:nvPicPr>
          <p:cNvPr id="7" name="Imagem 6">
            <a:extLst>
              <a:ext uri="{FF2B5EF4-FFF2-40B4-BE49-F238E27FC236}">
                <a16:creationId xmlns:a16="http://schemas.microsoft.com/office/drawing/2014/main" id="{E1897DEA-BF5A-4227-ADC2-D30E34CF11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929" y="3028894"/>
            <a:ext cx="2162477" cy="276264"/>
          </a:xfrm>
          <a:prstGeom prst="rect">
            <a:avLst/>
          </a:prstGeom>
        </p:spPr>
      </p:pic>
      <p:pic>
        <p:nvPicPr>
          <p:cNvPr id="8" name="Imagem 7">
            <a:extLst>
              <a:ext uri="{FF2B5EF4-FFF2-40B4-BE49-F238E27FC236}">
                <a16:creationId xmlns:a16="http://schemas.microsoft.com/office/drawing/2014/main" id="{22933227-E1EE-4436-BDDA-AD67684D4AF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97470" y="5457383"/>
            <a:ext cx="3178402" cy="647828"/>
          </a:xfrm>
          <a:prstGeom prst="rect">
            <a:avLst/>
          </a:prstGeom>
        </p:spPr>
      </p:pic>
      <p:pic>
        <p:nvPicPr>
          <p:cNvPr id="9" name="Imagem 8">
            <a:extLst>
              <a:ext uri="{FF2B5EF4-FFF2-40B4-BE49-F238E27FC236}">
                <a16:creationId xmlns:a16="http://schemas.microsoft.com/office/drawing/2014/main" id="{FD3678FC-9AFD-4823-9261-A6176C2C4C1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65836" y="5284694"/>
            <a:ext cx="2698859" cy="9908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643604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4426DBD-91D2-4E14-872C-762773E61F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lnSpc>
                <a:spcPct val="104000"/>
              </a:lnSpc>
              <a:spcBef>
                <a:spcPts val="0"/>
              </a:spcBef>
            </a:pPr>
            <a:r>
              <a:rPr lang="pt-BR" sz="3600" b="1" spc="-72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Arial"/>
              </a:rPr>
              <a:t>Desafios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FDE2030-B321-4A4C-98C4-115C0FE1D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347" y="1744663"/>
            <a:ext cx="11007306" cy="1405163"/>
          </a:xfrm>
        </p:spPr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pt-BR" sz="2900" b="1" dirty="0"/>
              <a:t>Desafio 03 – Média de Aluno</a:t>
            </a:r>
          </a:p>
          <a:p>
            <a:pPr marL="457200" lvl="1" indent="0">
              <a:buNone/>
            </a:pPr>
            <a:r>
              <a:rPr lang="pt-BR" dirty="0"/>
              <a:t>Faça um programa que leia três notas de um aluno e calcule a média final. Ao final, exiba a média formatada.</a:t>
            </a:r>
          </a:p>
          <a:p>
            <a:pPr marL="457200" lvl="1" indent="0">
              <a:buNone/>
            </a:pPr>
            <a:r>
              <a:rPr lang="pt-BR" b="1" dirty="0"/>
              <a:t>Exemplo de Saída</a:t>
            </a:r>
            <a:r>
              <a:rPr lang="pt-BR" dirty="0"/>
              <a:t>: “A média final do aluno é 7.0”</a:t>
            </a:r>
          </a:p>
        </p:txBody>
      </p:sp>
      <p:sp>
        <p:nvSpPr>
          <p:cNvPr id="5" name="Espaço Reservado para Conteúdo 2">
            <a:extLst>
              <a:ext uri="{FF2B5EF4-FFF2-40B4-BE49-F238E27FC236}">
                <a16:creationId xmlns:a16="http://schemas.microsoft.com/office/drawing/2014/main" id="{D442037C-7E9F-444F-A87A-BFED3ED34744}"/>
              </a:ext>
            </a:extLst>
          </p:cNvPr>
          <p:cNvSpPr txBox="1">
            <a:spLocks/>
          </p:cNvSpPr>
          <p:nvPr/>
        </p:nvSpPr>
        <p:spPr>
          <a:xfrm>
            <a:off x="592347" y="3473732"/>
            <a:ext cx="11007306" cy="1438583"/>
          </a:xfrm>
          <a:prstGeom prst="rect">
            <a:avLst/>
          </a:prstGeom>
        </p:spPr>
        <p:txBody>
          <a:bodyPr/>
          <a:lstStyle>
            <a:lvl1pPr marL="0" indent="0" algn="just" defTabSz="914400" rtl="0" eaLnBrk="1" latinLnBrk="0" hangingPunct="1">
              <a:lnSpc>
                <a:spcPct val="15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1pPr>
            <a:lvl2pPr marL="685800" indent="-228600" algn="just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2pPr>
            <a:lvl3pPr marL="1143000" indent="-228600" algn="just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3pPr>
            <a:lvl4pPr marL="1600200" indent="-228600" algn="just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4pPr>
            <a:lvl5pPr marL="2057400" indent="-228600" algn="just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b="1" dirty="0"/>
              <a:t>Desafio 04 - Calculadora de Juros Simples</a:t>
            </a:r>
          </a:p>
          <a:p>
            <a:pPr marL="457200" lvl="1" indent="0">
              <a:buNone/>
            </a:pPr>
            <a:r>
              <a:rPr lang="pt-BR" dirty="0"/>
              <a:t>Crie um programa que leia o capital inicial, a taxa de juros mensal (%) e o tempo (em meses). Calcule os juros simples e mostre os valores dos juros e do montante total ao final do período.</a:t>
            </a:r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2783F312-A659-4D3D-A42C-EF86BB561B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4891" y="5470663"/>
            <a:ext cx="1695687" cy="381053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0B6A7C83-89A8-49DC-A205-0411EF50AE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01422" y="4985610"/>
            <a:ext cx="3292047" cy="13511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279100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4426DBD-91D2-4E14-872C-762773E61F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lnSpc>
                <a:spcPct val="104000"/>
              </a:lnSpc>
              <a:spcBef>
                <a:spcPts val="0"/>
              </a:spcBef>
            </a:pPr>
            <a:r>
              <a:rPr lang="pt-BR" sz="3600" b="1" spc="-72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Arial"/>
              </a:rPr>
              <a:t>Desafios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FDE2030-B321-4A4C-98C4-115C0FE1D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347" y="1744664"/>
            <a:ext cx="11007306" cy="111861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sz="2000" b="1" dirty="0"/>
              <a:t>Desafio 05 – Área e Perímetro de um Círculo</a:t>
            </a:r>
          </a:p>
          <a:p>
            <a:pPr marL="457200" lvl="1" indent="0">
              <a:buNone/>
            </a:pPr>
            <a:r>
              <a:rPr lang="pt-BR" sz="2000" dirty="0"/>
              <a:t>Crie um programa que leia o raio de um círculo e calcule:</a:t>
            </a:r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B509FF2E-4AAC-40A4-BDB9-FA28F435B1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0623" y="2863274"/>
            <a:ext cx="3038899" cy="952633"/>
          </a:xfrm>
          <a:prstGeom prst="rect">
            <a:avLst/>
          </a:prstGeom>
        </p:spPr>
      </p:pic>
      <p:sp>
        <p:nvSpPr>
          <p:cNvPr id="7" name="CaixaDeTexto 6">
            <a:extLst>
              <a:ext uri="{FF2B5EF4-FFF2-40B4-BE49-F238E27FC236}">
                <a16:creationId xmlns:a16="http://schemas.microsoft.com/office/drawing/2014/main" id="{FD5E7A3F-70A6-4700-9D44-B2905DDB1F74}"/>
              </a:ext>
            </a:extLst>
          </p:cNvPr>
          <p:cNvSpPr txBox="1"/>
          <p:nvPr/>
        </p:nvSpPr>
        <p:spPr>
          <a:xfrm>
            <a:off x="592347" y="3994727"/>
            <a:ext cx="466314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/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Utilize a biblioteca </a:t>
            </a:r>
            <a:r>
              <a:rPr lang="pt-BR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Math</a:t>
            </a:r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para o valor de </a:t>
            </a:r>
            <a:r>
              <a:rPr lang="el-G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π</a:t>
            </a:r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756181208"/>
      </p:ext>
    </p:extLst>
  </p:cSld>
  <p:clrMapOvr>
    <a:masterClrMapping/>
  </p:clrMapOvr>
</p:sld>
</file>

<file path=ppt/theme/theme1.xml><?xml version="1.0" encoding="utf-8"?>
<a:theme xmlns:a="http://schemas.openxmlformats.org/drawingml/2006/main" name="Tema2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ema2" id="{F00C9D64-B4F3-4CB8-9DF2-59685944CDDB}" vid="{148A88D6-2EA5-4E01-8808-5075C10EAE98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Tema2</Template>
  <TotalTime>81</TotalTime>
  <Words>926</Words>
  <Application>Microsoft Office PowerPoint</Application>
  <PresentationFormat>Widescreen</PresentationFormat>
  <Paragraphs>171</Paragraphs>
  <Slides>16</Slides>
  <Notes>8</Notes>
  <HiddenSlides>0</HiddenSlides>
  <MMClips>0</MMClips>
  <ScaleCrop>false</ScaleCrop>
  <HeadingPairs>
    <vt:vector size="6" baseType="variant">
      <vt:variant>
        <vt:lpstr>Fontes usadas</vt:lpstr>
      </vt:variant>
      <vt:variant>
        <vt:i4>10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16</vt:i4>
      </vt:variant>
    </vt:vector>
  </HeadingPairs>
  <TitlesOfParts>
    <vt:vector size="27" baseType="lpstr">
      <vt:lpstr>Inter</vt:lpstr>
      <vt:lpstr>Inter Light</vt:lpstr>
      <vt:lpstr>Inter Bold</vt:lpstr>
      <vt:lpstr>Arial</vt:lpstr>
      <vt:lpstr>Times New Roman</vt:lpstr>
      <vt:lpstr>Calibri</vt:lpstr>
      <vt:lpstr>Aptos</vt:lpstr>
      <vt:lpstr>Tahoma</vt:lpstr>
      <vt:lpstr>Consolas</vt:lpstr>
      <vt:lpstr>Twemoji Mozilla</vt:lpstr>
      <vt:lpstr>Tema2</vt:lpstr>
      <vt:lpstr>Introdução à Lógica de Programação: Pensando como um Programador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Variáveis</vt:lpstr>
      <vt:lpstr>Maneiras de declarar Classes</vt:lpstr>
      <vt:lpstr>Maneiras de declarar Classes</vt:lpstr>
      <vt:lpstr>Apresentação do PowerPoint</vt:lpstr>
      <vt:lpstr>Apresentação do PowerPoint</vt:lpstr>
      <vt:lpstr>Apresentação do PowerPoint</vt:lpstr>
      <vt:lpstr>Apresentação do PowerPoint</vt:lpstr>
      <vt:lpstr>Desafios</vt:lpstr>
      <vt:lpstr>Desafios</vt:lpstr>
      <vt:lpstr>Desafios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Introdução à Lógica de Programação: Pensando como um Programador</dc:title>
  <dc:subject/>
  <dc:creator/>
  <cp:lastModifiedBy>Pedro Henrique Miho de Souza</cp:lastModifiedBy>
  <cp:revision>5</cp:revision>
  <dcterms:created xsi:type="dcterms:W3CDTF">2026-08-24T01:16:08Z</dcterms:created>
  <dcterms:modified xsi:type="dcterms:W3CDTF">2026-08-24T21:14:31Z</dcterms:modified>
</cp:coreProperties>
</file>