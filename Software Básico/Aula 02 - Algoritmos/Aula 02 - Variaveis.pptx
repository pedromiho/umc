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8"/>
  </p:notesMasterIdLst>
  <p:sldIdLst>
    <p:sldId id="266" r:id="rId2"/>
    <p:sldId id="256" r:id="rId3"/>
    <p:sldId id="257" r:id="rId4"/>
    <p:sldId id="258" r:id="rId5"/>
    <p:sldId id="259" r:id="rId6"/>
    <p:sldId id="260" r:id="rId7"/>
    <p:sldId id="311" r:id="rId8"/>
    <p:sldId id="267" r:id="rId9"/>
    <p:sldId id="313" r:id="rId10"/>
    <p:sldId id="261" r:id="rId11"/>
    <p:sldId id="263" r:id="rId12"/>
    <p:sldId id="326" r:id="rId13"/>
    <p:sldId id="327" r:id="rId14"/>
    <p:sldId id="323" r:id="rId15"/>
    <p:sldId id="324" r:id="rId16"/>
    <p:sldId id="325" r:id="rId17"/>
  </p:sldIdLst>
  <p:sldSz cx="12192000" cy="6858000"/>
  <p:notesSz cx="6858000" cy="12192000"/>
  <p:embeddedFontLs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Inter" panose="020B0604020202020204" charset="0"/>
      <p:regular r:id="rId23"/>
    </p:embeddedFont>
    <p:embeddedFont>
      <p:font typeface="Inter Bold" panose="020B060402020202020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0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2534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AB89-DDCC-796D-EFEB-5EF70D4E1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D43768-5D0F-EB7C-21FB-7FDB47037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9879B-550B-2D6A-630B-3849C264E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BA838-3DC3-E0AC-3DC7-3F9C493CC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18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Slide de Título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  <a:defRPr sz="6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pt-BR"/>
              <a:t>Clique para editar o estilo do subtítulo Mestre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1359123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FB9411-69F7-EFE2-E8A8-43455A05C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87DA8-D59F-5DFA-55C8-48BC1BA60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F99D26-DA4B-D0AF-3054-103CA613A8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F81AA659-8FD3-461F-8FBC-BDBF8F913D9D}" type="datetimeFigureOut">
              <a:rPr lang="pt-BR" smtClean="0"/>
              <a:pPr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596EC41-5B15-2A4A-34B9-2E8C0BCEE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14FFF6-E682-D349-81F9-96FA3093F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950E8CF1-C835-4717-86DC-68B0F0260540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86853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Cabeçalho da Seção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42646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Duas Partes de Conteúdo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Google Shape;30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9068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Comparação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 dirty="0"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70736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Somente Títul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43418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Em Branco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41409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Conteúdo com Legenda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4" name="Google Shape;5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709362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8906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292A86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  <a:ln>
            <a:noFill/>
          </a:ln>
        </p:spPr>
      </p:pic>
      <p:pic>
        <p:nvPicPr>
          <p:cNvPr id="12" name="Google Shape;12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283716" y="719713"/>
            <a:ext cx="1273846" cy="72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515652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867B25-BC0F-8242-8D31-3A145B121E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4400" dirty="0"/>
              <a:t>Introdução à Lógica de Programação: Pensando como um Programador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E6AFBF-4C86-4557-83B0-AF907C1EE4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2769005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301" y="1427748"/>
            <a:ext cx="3539719" cy="53097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054027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Algoritmos e Fluxogramas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928144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aula passada, vocês aprenderam a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analisar um problema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Mas depois que entendemos o problema… o que fazemos?</a:t>
            </a:r>
            <a:endParaRPr lang="en-US" sz="145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A7DB2432-6D5C-AD48-8539-8FA497F1F4C0}"/>
              </a:ext>
            </a:extLst>
          </p:cNvPr>
          <p:cNvGrpSpPr/>
          <p:nvPr/>
        </p:nvGrpSpPr>
        <p:grpSpPr>
          <a:xfrm>
            <a:off x="661475" y="3745607"/>
            <a:ext cx="6296860" cy="1058366"/>
            <a:chOff x="661475" y="3745607"/>
            <a:chExt cx="6296860" cy="1058366"/>
          </a:xfrm>
        </p:grpSpPr>
        <p:sp>
          <p:nvSpPr>
            <p:cNvPr id="5" name="Shape 2"/>
            <p:cNvSpPr/>
            <p:nvPr/>
          </p:nvSpPr>
          <p:spPr>
            <a:xfrm>
              <a:off x="661475" y="3745607"/>
              <a:ext cx="6296860" cy="1058366"/>
            </a:xfrm>
            <a:prstGeom prst="roundRect">
              <a:avLst>
                <a:gd name="adj" fmla="val 7501"/>
              </a:avLst>
            </a:prstGeom>
            <a:solidFill>
              <a:srgbClr val="DADBF1"/>
            </a:solidFill>
            <a:ln/>
          </p:spPr>
          <p:txBody>
            <a:bodyPr/>
            <a:lstStyle/>
            <a:p>
              <a:endParaRPr lang="pt-BR"/>
            </a:p>
          </p:txBody>
        </p:sp>
        <p:pic>
          <p:nvPicPr>
            <p:cNvPr id="6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0482" y="4013299"/>
              <a:ext cx="236234" cy="189012"/>
            </a:xfrm>
            <a:prstGeom prst="rect">
              <a:avLst/>
            </a:prstGeom>
          </p:spPr>
        </p:pic>
        <p:sp>
          <p:nvSpPr>
            <p:cNvPr id="7" name="Text 3"/>
            <p:cNvSpPr/>
            <p:nvPr/>
          </p:nvSpPr>
          <p:spPr>
            <a:xfrm>
              <a:off x="1275723" y="3981847"/>
              <a:ext cx="5493605" cy="6048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450" kern="0" spc="-30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Antes de programar, precisamos </a:t>
              </a:r>
              <a:r>
                <a:rPr lang="en-US" sz="1450" b="1" kern="0" spc="-30" dirty="0">
                  <a:solidFill>
                    <a:srgbClr val="000000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pensar na solução</a:t>
              </a:r>
              <a:r>
                <a:rPr lang="en-US" sz="1450" kern="0" spc="-30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. É aí que entram os algoritmos.</a:t>
              </a:r>
              <a:endParaRPr lang="en-US" sz="145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0346" y="822571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b="1" kern="0" spc="-10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que é um Algoritmo?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5430" y="1817119"/>
            <a:ext cx="5063581" cy="351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spcAft>
                <a:spcPts val="1100"/>
              </a:spcAft>
              <a:buNone/>
            </a:pP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um conjunto de passos 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ordenados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claros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com um 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objetivo definido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para resolver um problema.</a:t>
            </a:r>
            <a:endParaRPr lang="en-US" sz="1600" dirty="0"/>
          </a:p>
          <a:p>
            <a:pPr marL="0" indent="0" algn="l">
              <a:lnSpc>
                <a:spcPct val="128000"/>
              </a:lnSpc>
              <a:buNone/>
            </a:pP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já usa algoritmos no dia a dia — sem perceber!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314719" y="1487487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314719" y="1764605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314719" y="1889820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Pegar água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14719" y="2453283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02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14719" y="2730401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14719" y="2855615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Ferver a água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314719" y="3419078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03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14719" y="3696196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314719" y="3821410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Colocar café no filtro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14719" y="4384873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04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14719" y="4661991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14719" y="4787205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Colocar água e esperar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14719" y="5350669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05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14719" y="5627787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314719" y="5753001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Servir o café </a:t>
            </a:r>
            <a:r>
              <a:rPr lang="en-US" sz="1700" b="1" kern="0" spc="-5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☕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4963" y="910977"/>
            <a:ext cx="8938638" cy="481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 </a:t>
            </a:r>
            <a:r>
              <a:rPr lang="en-US" sz="2800" b="1" i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não é</a:t>
            </a:r>
            <a:r>
              <a:rPr lang="en-US" sz="280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código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398295"/>
            <a:ext cx="10868745" cy="2398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55023" y="3793958"/>
            <a:ext cx="1613822" cy="312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Análise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3255023" y="4223368"/>
            <a:ext cx="1613822" cy="445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Entender requisitos e casos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98903" y="3711843"/>
            <a:ext cx="1613822" cy="156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Fluxograma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7398903" y="4045709"/>
            <a:ext cx="1613822" cy="6234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Visualizar sequência e decisões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88227" y="1846249"/>
            <a:ext cx="1613822" cy="156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Problema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188227" y="2144533"/>
            <a:ext cx="1699352" cy="3305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Definir objetivo e dados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9389951" y="1618742"/>
            <a:ext cx="1613822" cy="268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Programa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9201082" y="1907055"/>
            <a:ext cx="1991559" cy="5318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sz="1200" kern="0" spc="-24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Implementar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</a:t>
            </a:r>
            <a:r>
              <a:rPr lang="en-US" sz="1200" kern="0" spc="-24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lógica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kern="0" spc="-24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kern="0" spc="-24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52682" y="1628094"/>
            <a:ext cx="1613822" cy="332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5352682" y="1889644"/>
            <a:ext cx="1613822" cy="5221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Descrever lógica passo a passo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1474" y="4912932"/>
            <a:ext cx="5319083" cy="316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2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 (lógica)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11137" y="4885732"/>
            <a:ext cx="5319083" cy="457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2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Código Python</a:t>
            </a:r>
            <a:endParaRPr lang="en-US" sz="1800" dirty="0"/>
          </a:p>
        </p:txBody>
      </p: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793FEAC3-3AA9-F93C-461A-C79BE3052E77}"/>
              </a:ext>
            </a:extLst>
          </p:cNvPr>
          <p:cNvGrpSpPr/>
          <p:nvPr/>
        </p:nvGrpSpPr>
        <p:grpSpPr>
          <a:xfrm>
            <a:off x="6217487" y="5339950"/>
            <a:ext cx="5319083" cy="1295033"/>
            <a:chOff x="6217487" y="5404118"/>
            <a:chExt cx="5319083" cy="1295033"/>
          </a:xfrm>
        </p:grpSpPr>
        <p:sp>
          <p:nvSpPr>
            <p:cNvPr id="17" name="Shape 14"/>
            <p:cNvSpPr/>
            <p:nvPr/>
          </p:nvSpPr>
          <p:spPr>
            <a:xfrm>
              <a:off x="6217487" y="5404118"/>
              <a:ext cx="5319083" cy="1295033"/>
            </a:xfrm>
            <a:prstGeom prst="roundRect">
              <a:avLst>
                <a:gd name="adj" fmla="val 500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8" name="Text 15"/>
            <p:cNvSpPr/>
            <p:nvPr/>
          </p:nvSpPr>
          <p:spPr>
            <a:xfrm>
              <a:off x="6330891" y="5493506"/>
              <a:ext cx="5092275" cy="1116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kern="0" spc="-15" dirty="0">
                  <a:solidFill>
                    <a:srgbClr val="24292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nota1 = 7</a:t>
              </a:r>
              <a:endParaRPr lang="en-US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kern="0" spc="-15" dirty="0">
                  <a:solidFill>
                    <a:srgbClr val="24292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nota2 = 9</a:t>
              </a:r>
              <a:endParaRPr lang="en-US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kern="0" spc="-15" dirty="0">
                  <a:solidFill>
                    <a:srgbClr val="24292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media = (nota1 + nota2) / 2</a:t>
              </a:r>
              <a:endParaRPr lang="en-US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kern="0" spc="-15" dirty="0">
                  <a:solidFill>
                    <a:srgbClr val="24292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print(media)</a:t>
              </a:r>
              <a:endParaRPr lang="en-US" dirty="0"/>
            </a:p>
          </p:txBody>
        </p:sp>
      </p:grp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29" y="6876157"/>
            <a:ext cx="118067" cy="94456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655430" y="5333231"/>
            <a:ext cx="5319083" cy="1227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2240" indent="-142240" algn="l">
              <a:lnSpc>
                <a:spcPct val="170000"/>
              </a:lnSpc>
              <a:buSzPct val="100000"/>
              <a:buFont typeface="+mj-lt"/>
              <a:buAutoNum type="arabicPeriod"/>
            </a:pPr>
            <a:r>
              <a:rPr lang="en-US" sz="12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Receber duas notas</a:t>
            </a:r>
            <a:endParaRPr lang="en-US" sz="1200" dirty="0"/>
          </a:p>
          <a:p>
            <a:pPr marL="142240" indent="-142240" algn="l">
              <a:lnSpc>
                <a:spcPct val="170000"/>
              </a:lnSpc>
              <a:buSzPct val="100000"/>
              <a:buFont typeface="+mj-lt"/>
              <a:buAutoNum type="arabicPeriod" startAt="2"/>
            </a:pPr>
            <a:r>
              <a:rPr lang="en-US" sz="12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Somar as notas</a:t>
            </a:r>
            <a:endParaRPr lang="en-US" sz="1200" dirty="0"/>
          </a:p>
          <a:p>
            <a:pPr marL="142240" indent="-142240" algn="l">
              <a:lnSpc>
                <a:spcPct val="170000"/>
              </a:lnSpc>
              <a:buSzPct val="100000"/>
              <a:buFont typeface="+mj-lt"/>
              <a:buAutoNum type="arabicPeriod" startAt="3"/>
            </a:pPr>
            <a:r>
              <a:rPr lang="en-US" sz="12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Dividir por 2</a:t>
            </a:r>
            <a:endParaRPr lang="en-US" sz="1200" dirty="0"/>
          </a:p>
          <a:p>
            <a:pPr marL="142240" indent="-142240" algn="l">
              <a:lnSpc>
                <a:spcPct val="170000"/>
              </a:lnSpc>
              <a:buSzPct val="100000"/>
              <a:buFont typeface="+mj-lt"/>
              <a:buAutoNum type="arabicPeriod" startAt="4"/>
            </a:pPr>
            <a:r>
              <a:rPr lang="en-US" sz="12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Mostrar a média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432" y="856164"/>
            <a:ext cx="10868745" cy="378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kern="0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Entrada → Processamento → Saída</a:t>
            </a:r>
            <a:endParaRPr lang="en-US" sz="2350" dirty="0"/>
          </a:p>
        </p:txBody>
      </p:sp>
      <p:sp>
        <p:nvSpPr>
          <p:cNvPr id="4" name="Text 1"/>
          <p:cNvSpPr/>
          <p:nvPr/>
        </p:nvSpPr>
        <p:spPr>
          <a:xfrm>
            <a:off x="7357939" y="4037500"/>
            <a:ext cx="1586812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Saída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312038" y="4037500"/>
            <a:ext cx="1831535" cy="611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Processamento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3261530" y="4005262"/>
            <a:ext cx="1586812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Entrada</a:t>
            </a:r>
            <a:endParaRPr lang="en-US" sz="1900" dirty="0"/>
          </a:p>
        </p:txBody>
      </p: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0E992A71-88D9-267A-434C-47FFE47234D7}"/>
              </a:ext>
            </a:extLst>
          </p:cNvPr>
          <p:cNvGrpSpPr/>
          <p:nvPr/>
        </p:nvGrpSpPr>
        <p:grpSpPr>
          <a:xfrm>
            <a:off x="661475" y="4779231"/>
            <a:ext cx="11350936" cy="1361182"/>
            <a:chOff x="661475" y="4953099"/>
            <a:chExt cx="11350936" cy="1361182"/>
          </a:xfrm>
        </p:grpSpPr>
        <p:sp>
          <p:nvSpPr>
            <p:cNvPr id="7" name="Shape 4"/>
            <p:cNvSpPr/>
            <p:nvPr/>
          </p:nvSpPr>
          <p:spPr>
            <a:xfrm>
              <a:off x="661475" y="4953099"/>
              <a:ext cx="10868745" cy="1361182"/>
            </a:xfrm>
            <a:prstGeom prst="roundRect">
              <a:avLst>
                <a:gd name="adj" fmla="val 3736"/>
              </a:avLst>
            </a:prstGeom>
            <a:noFill/>
            <a:ln w="6350">
              <a:solidFill>
                <a:srgbClr val="000000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8" name="Shape 5"/>
            <p:cNvSpPr/>
            <p:nvPr/>
          </p:nvSpPr>
          <p:spPr>
            <a:xfrm>
              <a:off x="661475" y="5227241"/>
              <a:ext cx="10868745" cy="7568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9" name="Shape 6"/>
            <p:cNvSpPr/>
            <p:nvPr/>
          </p:nvSpPr>
          <p:spPr>
            <a:xfrm>
              <a:off x="661475" y="5498207"/>
              <a:ext cx="10868745" cy="7568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10" name="Shape 7"/>
            <p:cNvSpPr/>
            <p:nvPr/>
          </p:nvSpPr>
          <p:spPr>
            <a:xfrm>
              <a:off x="661475" y="5769173"/>
              <a:ext cx="10868745" cy="7568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11" name="Shape 8"/>
            <p:cNvSpPr/>
            <p:nvPr/>
          </p:nvSpPr>
          <p:spPr>
            <a:xfrm>
              <a:off x="661475" y="6040140"/>
              <a:ext cx="10868745" cy="7568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12" name="Text 9"/>
            <p:cNvSpPr/>
            <p:nvPr/>
          </p:nvSpPr>
          <p:spPr>
            <a:xfrm>
              <a:off x="789067" y="5012333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b="1" kern="0" spc="-19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Problema</a:t>
              </a:r>
              <a:endParaRPr lang="en-US" sz="12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3503029" y="5012333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b="1" kern="0" spc="-19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Entrada</a:t>
              </a:r>
              <a:endParaRPr lang="en-US" sz="1200" dirty="0"/>
            </a:p>
          </p:txBody>
        </p:sp>
        <p:sp>
          <p:nvSpPr>
            <p:cNvPr id="14" name="Text 11"/>
            <p:cNvSpPr/>
            <p:nvPr/>
          </p:nvSpPr>
          <p:spPr>
            <a:xfrm>
              <a:off x="6216991" y="5012333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b="1" kern="0" spc="-19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Processamento</a:t>
              </a:r>
              <a:endParaRPr lang="en-US" sz="1200" dirty="0"/>
            </a:p>
          </p:txBody>
        </p:sp>
        <p:sp>
          <p:nvSpPr>
            <p:cNvPr id="15" name="Text 12"/>
            <p:cNvSpPr/>
            <p:nvPr/>
          </p:nvSpPr>
          <p:spPr>
            <a:xfrm>
              <a:off x="8930952" y="5012333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b="1" kern="0" spc="-19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Saída</a:t>
              </a:r>
              <a:endParaRPr lang="en-US" sz="12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789067" y="5283299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Somar dois números</a:t>
              </a:r>
              <a:endParaRPr lang="en-US" sz="12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3503029" y="5283299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n1, n2</a:t>
              </a:r>
              <a:endParaRPr lang="en-US" sz="1200" dirty="0"/>
            </a:p>
          </p:txBody>
        </p:sp>
        <p:sp>
          <p:nvSpPr>
            <p:cNvPr id="18" name="Text 15"/>
            <p:cNvSpPr/>
            <p:nvPr/>
          </p:nvSpPr>
          <p:spPr>
            <a:xfrm>
              <a:off x="6216991" y="5283299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n1 + n2</a:t>
              </a:r>
              <a:endParaRPr lang="en-US" sz="1200" dirty="0"/>
            </a:p>
          </p:txBody>
        </p:sp>
        <p:sp>
          <p:nvSpPr>
            <p:cNvPr id="19" name="Text 16"/>
            <p:cNvSpPr/>
            <p:nvPr/>
          </p:nvSpPr>
          <p:spPr>
            <a:xfrm>
              <a:off x="8930952" y="5283299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soma</a:t>
              </a:r>
              <a:endParaRPr lang="en-US" sz="1200" dirty="0"/>
            </a:p>
          </p:txBody>
        </p:sp>
        <p:sp>
          <p:nvSpPr>
            <p:cNvPr id="20" name="Text 17"/>
            <p:cNvSpPr/>
            <p:nvPr/>
          </p:nvSpPr>
          <p:spPr>
            <a:xfrm>
              <a:off x="789067" y="5554266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Calcular média</a:t>
              </a:r>
              <a:endParaRPr lang="en-US" sz="1200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3503029" y="5554266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nota1, nota2</a:t>
              </a:r>
              <a:endParaRPr lang="en-US" sz="12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6216991" y="5554266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(n1+n2)/2</a:t>
              </a:r>
              <a:endParaRPr lang="en-US" sz="12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8930952" y="5554266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média</a:t>
              </a:r>
              <a:endParaRPr lang="en-US" sz="1200" dirty="0"/>
            </a:p>
          </p:txBody>
        </p:sp>
        <p:sp>
          <p:nvSpPr>
            <p:cNvPr id="24" name="Text 21"/>
            <p:cNvSpPr/>
            <p:nvPr/>
          </p:nvSpPr>
          <p:spPr>
            <a:xfrm>
              <a:off x="789067" y="5825232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Área do retângulo</a:t>
              </a:r>
              <a:endParaRPr lang="en-US" sz="1200" dirty="0"/>
            </a:p>
          </p:txBody>
        </p:sp>
        <p:sp>
          <p:nvSpPr>
            <p:cNvPr id="25" name="Text 22"/>
            <p:cNvSpPr/>
            <p:nvPr/>
          </p:nvSpPr>
          <p:spPr>
            <a:xfrm>
              <a:off x="3503029" y="5825232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base, altura</a:t>
              </a:r>
              <a:endParaRPr lang="en-US" sz="12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6216991" y="5825232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base * altura</a:t>
              </a:r>
              <a:endParaRPr lang="en-US" sz="120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8930952" y="5825232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área</a:t>
              </a:r>
              <a:endParaRPr lang="en-US" sz="1200" dirty="0"/>
            </a:p>
          </p:txBody>
        </p:sp>
        <p:sp>
          <p:nvSpPr>
            <p:cNvPr id="28" name="Text 25"/>
            <p:cNvSpPr/>
            <p:nvPr/>
          </p:nvSpPr>
          <p:spPr>
            <a:xfrm>
              <a:off x="789067" y="6096198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Converter °C → °F</a:t>
              </a:r>
              <a:endParaRPr lang="en-US" sz="1200" dirty="0"/>
            </a:p>
          </p:txBody>
        </p:sp>
        <p:sp>
          <p:nvSpPr>
            <p:cNvPr id="29" name="Text 26"/>
            <p:cNvSpPr/>
            <p:nvPr/>
          </p:nvSpPr>
          <p:spPr>
            <a:xfrm>
              <a:off x="3503029" y="6096198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celsius</a:t>
              </a:r>
              <a:endParaRPr lang="en-US" sz="1200" dirty="0"/>
            </a:p>
          </p:txBody>
        </p:sp>
        <p:sp>
          <p:nvSpPr>
            <p:cNvPr id="30" name="Text 27"/>
            <p:cNvSpPr/>
            <p:nvPr/>
          </p:nvSpPr>
          <p:spPr>
            <a:xfrm>
              <a:off x="6216991" y="6096198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C*9/5 + 32</a:t>
              </a:r>
              <a:endParaRPr lang="en-US" sz="1200" dirty="0"/>
            </a:p>
          </p:txBody>
        </p:sp>
        <p:sp>
          <p:nvSpPr>
            <p:cNvPr id="31" name="Text 28"/>
            <p:cNvSpPr/>
            <p:nvPr/>
          </p:nvSpPr>
          <p:spPr>
            <a:xfrm>
              <a:off x="8930952" y="6096198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fahrenheit</a:t>
              </a:r>
              <a:endParaRPr lang="en-US" sz="1200" dirty="0"/>
            </a:p>
          </p:txBody>
        </p:sp>
      </p:grpSp>
      <p:pic>
        <p:nvPicPr>
          <p:cNvPr id="35" name="Imagem 34">
            <a:extLst>
              <a:ext uri="{FF2B5EF4-FFF2-40B4-BE49-F238E27FC236}">
                <a16:creationId xmlns:a16="http://schemas.microsoft.com/office/drawing/2014/main" id="{B02992DF-6BF0-941E-6AEB-A955747BD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876" y="1730745"/>
            <a:ext cx="6027942" cy="217950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45844" y="865721"/>
            <a:ext cx="6296860" cy="359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b="1" kern="0" spc="-6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Tipos de Dados em Python</a:t>
            </a:r>
            <a:endParaRPr lang="en-US" sz="2250" dirty="0"/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C3F97F5B-EB53-E75B-AC85-21CB3F1D55E5}"/>
              </a:ext>
            </a:extLst>
          </p:cNvPr>
          <p:cNvGrpSpPr/>
          <p:nvPr/>
        </p:nvGrpSpPr>
        <p:grpSpPr>
          <a:xfrm>
            <a:off x="1664000" y="2168394"/>
            <a:ext cx="3600000" cy="1800000"/>
            <a:chOff x="945840" y="1628973"/>
            <a:chExt cx="6296860" cy="1106388"/>
          </a:xfrm>
        </p:grpSpPr>
        <p:sp>
          <p:nvSpPr>
            <p:cNvPr id="4" name="Shape 1"/>
            <p:cNvSpPr/>
            <p:nvPr/>
          </p:nvSpPr>
          <p:spPr>
            <a:xfrm>
              <a:off x="945840" y="1628973"/>
              <a:ext cx="6296860" cy="1106388"/>
            </a:xfrm>
            <a:prstGeom prst="roundRect">
              <a:avLst>
                <a:gd name="adj" fmla="val 4373"/>
              </a:avLst>
            </a:prstGeom>
            <a:solidFill>
              <a:srgbClr val="DADBF1"/>
            </a:solidFill>
            <a:ln w="635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 2"/>
            <p:cNvSpPr/>
            <p:nvPr/>
          </p:nvSpPr>
          <p:spPr>
            <a:xfrm>
              <a:off x="1067281" y="1750417"/>
              <a:ext cx="6053978" cy="1798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kern="0" spc="-3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int</a:t>
              </a:r>
              <a:endParaRPr lang="en-US" dirty="0"/>
            </a:p>
          </p:txBody>
        </p:sp>
        <p:sp>
          <p:nvSpPr>
            <p:cNvPr id="6" name="Text 3"/>
            <p:cNvSpPr/>
            <p:nvPr/>
          </p:nvSpPr>
          <p:spPr>
            <a:xfrm>
              <a:off x="1067281" y="1972369"/>
              <a:ext cx="6053978" cy="148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7000"/>
                </a:lnSpc>
                <a:buNone/>
              </a:pPr>
              <a:r>
                <a:rPr lang="en-US" kern="0" spc="-18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Números inteiros</a:t>
              </a:r>
              <a:endParaRPr lang="en-US" dirty="0"/>
            </a:p>
          </p:txBody>
        </p:sp>
        <p:grpSp>
          <p:nvGrpSpPr>
            <p:cNvPr id="27" name="Agrupar 26">
              <a:extLst>
                <a:ext uri="{FF2B5EF4-FFF2-40B4-BE49-F238E27FC236}">
                  <a16:creationId xmlns:a16="http://schemas.microsoft.com/office/drawing/2014/main" id="{7A111956-94EE-A7B1-D73E-744D9335BBC0}"/>
                </a:ext>
              </a:extLst>
            </p:cNvPr>
            <p:cNvGrpSpPr/>
            <p:nvPr/>
          </p:nvGrpSpPr>
          <p:grpSpPr>
            <a:xfrm>
              <a:off x="1067281" y="2236057"/>
              <a:ext cx="6053978" cy="414437"/>
              <a:chOff x="5354801" y="2236057"/>
              <a:chExt cx="6053978" cy="414437"/>
            </a:xfrm>
          </p:grpSpPr>
          <p:sp>
            <p:nvSpPr>
              <p:cNvPr id="7" name="Shape 4"/>
              <p:cNvSpPr/>
              <p:nvPr/>
            </p:nvSpPr>
            <p:spPr>
              <a:xfrm>
                <a:off x="5354801" y="2236057"/>
                <a:ext cx="6053978" cy="414437"/>
              </a:xfrm>
              <a:prstGeom prst="roundRect">
                <a:avLst>
                  <a:gd name="adj" fmla="val 1167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8" name="Text 5"/>
              <p:cNvSpPr/>
              <p:nvPr/>
            </p:nvSpPr>
            <p:spPr>
              <a:xfrm>
                <a:off x="5493009" y="2351151"/>
                <a:ext cx="5777562" cy="18424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050" kern="0" spc="-18" dirty="0">
                    <a:solidFill>
                      <a:srgbClr val="24292E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idade = 25</a:t>
                </a:r>
                <a:endParaRPr lang="en-US" sz="1050" dirty="0"/>
              </a:p>
            </p:txBody>
          </p:sp>
        </p:grpSp>
      </p:grp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74036BBD-5788-7429-E26C-C7C4993AA046}"/>
              </a:ext>
            </a:extLst>
          </p:cNvPr>
          <p:cNvGrpSpPr/>
          <p:nvPr/>
        </p:nvGrpSpPr>
        <p:grpSpPr>
          <a:xfrm>
            <a:off x="6928000" y="4336295"/>
            <a:ext cx="3600000" cy="1800000"/>
            <a:chOff x="945840" y="2805509"/>
            <a:chExt cx="6296860" cy="1106388"/>
          </a:xfrm>
        </p:grpSpPr>
        <p:sp>
          <p:nvSpPr>
            <p:cNvPr id="9" name="Shape 6"/>
            <p:cNvSpPr/>
            <p:nvPr/>
          </p:nvSpPr>
          <p:spPr>
            <a:xfrm>
              <a:off x="945840" y="2805509"/>
              <a:ext cx="6296860" cy="1106388"/>
            </a:xfrm>
            <a:prstGeom prst="roundRect">
              <a:avLst>
                <a:gd name="adj" fmla="val 4373"/>
              </a:avLst>
            </a:prstGeom>
            <a:solidFill>
              <a:srgbClr val="DADBF1"/>
            </a:solidFill>
            <a:ln w="635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7"/>
            <p:cNvSpPr/>
            <p:nvPr/>
          </p:nvSpPr>
          <p:spPr>
            <a:xfrm>
              <a:off x="1067281" y="2926953"/>
              <a:ext cx="6053978" cy="1798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kern="0" spc="-3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float</a:t>
              </a:r>
              <a:endParaRPr lang="en-US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1067281" y="3148905"/>
              <a:ext cx="6053978" cy="148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7000"/>
                </a:lnSpc>
                <a:buNone/>
              </a:pPr>
              <a:r>
                <a:rPr lang="en-US" kern="0" spc="-18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Números decimais</a:t>
              </a:r>
              <a:endParaRPr lang="en-US" dirty="0"/>
            </a:p>
          </p:txBody>
        </p:sp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C981F597-CD2A-234F-0E3E-80BEDB432F38}"/>
                </a:ext>
              </a:extLst>
            </p:cNvPr>
            <p:cNvGrpSpPr/>
            <p:nvPr/>
          </p:nvGrpSpPr>
          <p:grpSpPr>
            <a:xfrm>
              <a:off x="1067281" y="3424785"/>
              <a:ext cx="6053978" cy="414437"/>
              <a:chOff x="5354801" y="3424785"/>
              <a:chExt cx="6053978" cy="414437"/>
            </a:xfrm>
          </p:grpSpPr>
          <p:sp>
            <p:nvSpPr>
              <p:cNvPr id="12" name="Shape 9"/>
              <p:cNvSpPr/>
              <p:nvPr/>
            </p:nvSpPr>
            <p:spPr>
              <a:xfrm>
                <a:off x="5354801" y="3424785"/>
                <a:ext cx="6053978" cy="414437"/>
              </a:xfrm>
              <a:prstGeom prst="roundRect">
                <a:avLst>
                  <a:gd name="adj" fmla="val 1167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Text 10"/>
              <p:cNvSpPr/>
              <p:nvPr/>
            </p:nvSpPr>
            <p:spPr>
              <a:xfrm>
                <a:off x="5493009" y="3539879"/>
                <a:ext cx="5777562" cy="18424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050" kern="0" spc="-18" dirty="0">
                    <a:solidFill>
                      <a:srgbClr val="24292E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altura = 1.75</a:t>
                </a:r>
                <a:endParaRPr lang="en-US" sz="1050" dirty="0"/>
              </a:p>
            </p:txBody>
          </p:sp>
        </p:grp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6015F665-B29F-D558-5D60-3EEDEF14A9AA}"/>
              </a:ext>
            </a:extLst>
          </p:cNvPr>
          <p:cNvGrpSpPr/>
          <p:nvPr/>
        </p:nvGrpSpPr>
        <p:grpSpPr>
          <a:xfrm>
            <a:off x="1664000" y="4336295"/>
            <a:ext cx="3600000" cy="1800000"/>
            <a:chOff x="945840" y="3982045"/>
            <a:chExt cx="6296860" cy="1106388"/>
          </a:xfrm>
        </p:grpSpPr>
        <p:sp>
          <p:nvSpPr>
            <p:cNvPr id="14" name="Shape 11"/>
            <p:cNvSpPr/>
            <p:nvPr/>
          </p:nvSpPr>
          <p:spPr>
            <a:xfrm>
              <a:off x="945840" y="3982045"/>
              <a:ext cx="6296860" cy="1106388"/>
            </a:xfrm>
            <a:prstGeom prst="roundRect">
              <a:avLst>
                <a:gd name="adj" fmla="val 4373"/>
              </a:avLst>
            </a:prstGeom>
            <a:solidFill>
              <a:srgbClr val="DADBF1"/>
            </a:solidFill>
            <a:ln w="635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 12"/>
            <p:cNvSpPr/>
            <p:nvPr/>
          </p:nvSpPr>
          <p:spPr>
            <a:xfrm>
              <a:off x="1067281" y="4103489"/>
              <a:ext cx="6053978" cy="1798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kern="0" spc="-3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str</a:t>
              </a:r>
              <a:endParaRPr lang="en-US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1067281" y="4325441"/>
              <a:ext cx="6053978" cy="148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7000"/>
                </a:lnSpc>
                <a:buNone/>
              </a:pPr>
              <a:r>
                <a:rPr lang="en-US" kern="0" spc="-18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Texto (entre aspas)</a:t>
              </a:r>
              <a:endParaRPr lang="en-US" dirty="0"/>
            </a:p>
          </p:txBody>
        </p:sp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F3BC2522-7FDA-D140-0426-156B3F76FEEE}"/>
                </a:ext>
              </a:extLst>
            </p:cNvPr>
            <p:cNvGrpSpPr/>
            <p:nvPr/>
          </p:nvGrpSpPr>
          <p:grpSpPr>
            <a:xfrm>
              <a:off x="1067281" y="4607417"/>
              <a:ext cx="6053978" cy="414437"/>
              <a:chOff x="5354801" y="4552553"/>
              <a:chExt cx="6053978" cy="414437"/>
            </a:xfrm>
          </p:grpSpPr>
          <p:sp>
            <p:nvSpPr>
              <p:cNvPr id="17" name="Shape 14"/>
              <p:cNvSpPr/>
              <p:nvPr/>
            </p:nvSpPr>
            <p:spPr>
              <a:xfrm>
                <a:off x="5354801" y="4552553"/>
                <a:ext cx="6053978" cy="414437"/>
              </a:xfrm>
              <a:prstGeom prst="roundRect">
                <a:avLst>
                  <a:gd name="adj" fmla="val 1167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Text 15"/>
              <p:cNvSpPr/>
              <p:nvPr/>
            </p:nvSpPr>
            <p:spPr>
              <a:xfrm>
                <a:off x="5493009" y="4667646"/>
                <a:ext cx="5777562" cy="18424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050" kern="0" spc="-18" dirty="0">
                    <a:solidFill>
                      <a:srgbClr val="24292E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nome = "Pedro"</a:t>
                </a:r>
                <a:endParaRPr lang="en-US" sz="1050" dirty="0"/>
              </a:p>
            </p:txBody>
          </p:sp>
        </p:grp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A5622ED8-1B7B-23C1-1832-D48C0604A14F}"/>
              </a:ext>
            </a:extLst>
          </p:cNvPr>
          <p:cNvGrpSpPr/>
          <p:nvPr/>
        </p:nvGrpSpPr>
        <p:grpSpPr>
          <a:xfrm>
            <a:off x="6928000" y="2120602"/>
            <a:ext cx="3600000" cy="1800000"/>
            <a:chOff x="945840" y="5158581"/>
            <a:chExt cx="6296860" cy="1106388"/>
          </a:xfrm>
        </p:grpSpPr>
        <p:sp>
          <p:nvSpPr>
            <p:cNvPr id="19" name="Shape 16"/>
            <p:cNvSpPr/>
            <p:nvPr/>
          </p:nvSpPr>
          <p:spPr>
            <a:xfrm>
              <a:off x="945840" y="5158581"/>
              <a:ext cx="6296860" cy="1106388"/>
            </a:xfrm>
            <a:prstGeom prst="roundRect">
              <a:avLst>
                <a:gd name="adj" fmla="val 4373"/>
              </a:avLst>
            </a:prstGeom>
            <a:solidFill>
              <a:srgbClr val="DADBF1"/>
            </a:solidFill>
            <a:ln w="635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0" name="Text 17"/>
            <p:cNvSpPr/>
            <p:nvPr/>
          </p:nvSpPr>
          <p:spPr>
            <a:xfrm>
              <a:off x="1067281" y="5280025"/>
              <a:ext cx="6053978" cy="1798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kern="0" spc="-3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bool</a:t>
              </a:r>
              <a:endParaRPr lang="en-US" sz="1100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1067281" y="5501977"/>
              <a:ext cx="6053978" cy="148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7000"/>
                </a:lnSpc>
                <a:buNone/>
              </a:pPr>
              <a:r>
                <a:rPr lang="en-US" kern="0" spc="-18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Verdadeiro ou Falso</a:t>
              </a:r>
              <a:endParaRPr lang="en-US" dirty="0"/>
            </a:p>
          </p:txBody>
        </p:sp>
        <p:grpSp>
          <p:nvGrpSpPr>
            <p:cNvPr id="30" name="Agrupar 29">
              <a:extLst>
                <a:ext uri="{FF2B5EF4-FFF2-40B4-BE49-F238E27FC236}">
                  <a16:creationId xmlns:a16="http://schemas.microsoft.com/office/drawing/2014/main" id="{028AB7B7-459C-EF41-71D5-B31250AA4647}"/>
                </a:ext>
              </a:extLst>
            </p:cNvPr>
            <p:cNvGrpSpPr/>
            <p:nvPr/>
          </p:nvGrpSpPr>
          <p:grpSpPr>
            <a:xfrm>
              <a:off x="1067281" y="5759569"/>
              <a:ext cx="6053978" cy="414437"/>
              <a:chOff x="5354801" y="5729089"/>
              <a:chExt cx="6053978" cy="414437"/>
            </a:xfrm>
          </p:grpSpPr>
          <p:sp>
            <p:nvSpPr>
              <p:cNvPr id="22" name="Shape 19"/>
              <p:cNvSpPr/>
              <p:nvPr/>
            </p:nvSpPr>
            <p:spPr>
              <a:xfrm>
                <a:off x="5354801" y="5729089"/>
                <a:ext cx="6053978" cy="414437"/>
              </a:xfrm>
              <a:prstGeom prst="roundRect">
                <a:avLst>
                  <a:gd name="adj" fmla="val 1167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3" name="Text 20"/>
              <p:cNvSpPr/>
              <p:nvPr/>
            </p:nvSpPr>
            <p:spPr>
              <a:xfrm>
                <a:off x="5493009" y="5844182"/>
                <a:ext cx="5777562" cy="18424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050" kern="0" spc="-18" dirty="0">
                    <a:solidFill>
                      <a:srgbClr val="24292E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aprovado = True</a:t>
                </a:r>
                <a:endParaRPr lang="en-US" sz="1050" dirty="0"/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4F4A5B-820D-4A3B-A096-910A555B5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350" b="1" kern="0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65AE52-2386-410D-87CF-93C688A6A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212561"/>
          </a:xfrm>
        </p:spPr>
        <p:txBody>
          <a:bodyPr>
            <a:normAutofit/>
          </a:bodyPr>
          <a:lstStyle/>
          <a:p>
            <a:pPr marL="0" indent="0">
              <a:lnSpc>
                <a:spcPct val="133000"/>
              </a:lnSpc>
              <a:spcBef>
                <a:spcPts val="0"/>
              </a:spcBef>
            </a:pPr>
            <a:r>
              <a:rPr lang="pt-BR" sz="20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Variáveis são espaços na memória RAM do computador usados para armazenar valores que podem mudar durante a execução de um programa.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38A8377-0F0F-42EB-95FF-CC11B03B9CFD}"/>
              </a:ext>
            </a:extLst>
          </p:cNvPr>
          <p:cNvSpPr txBox="1"/>
          <p:nvPr/>
        </p:nvSpPr>
        <p:spPr>
          <a:xfrm>
            <a:off x="7018780" y="4291771"/>
            <a:ext cx="923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24B0819-30ED-43BA-A55E-0BA876FA9C76}"/>
              </a:ext>
            </a:extLst>
          </p:cNvPr>
          <p:cNvSpPr txBox="1"/>
          <p:nvPr/>
        </p:nvSpPr>
        <p:spPr>
          <a:xfrm>
            <a:off x="593982" y="3318164"/>
            <a:ext cx="5346815" cy="3268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Sintaxe: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nome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valor</a:t>
            </a:r>
            <a:endParaRPr lang="pt-BR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Exemplo: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idade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50</a:t>
            </a:r>
            <a:endParaRPr lang="pt-BR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peso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80.5</a:t>
            </a:r>
            <a:endParaRPr lang="pt-BR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 err="1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genero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“F”</a:t>
            </a:r>
            <a:endParaRPr lang="pt-BR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pt-BR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E22F6C3E-FD74-4EA3-934A-BC2241BC79A5}"/>
              </a:ext>
            </a:extLst>
          </p:cNvPr>
          <p:cNvGrpSpPr/>
          <p:nvPr/>
        </p:nvGrpSpPr>
        <p:grpSpPr>
          <a:xfrm>
            <a:off x="6464961" y="3890305"/>
            <a:ext cx="5134692" cy="2124371"/>
            <a:chOff x="6464961" y="3598918"/>
            <a:chExt cx="5134692" cy="2124371"/>
          </a:xfrm>
        </p:grpSpPr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F853FF01-9978-40FC-B520-CCB207FD5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64961" y="3598918"/>
              <a:ext cx="5134692" cy="2124371"/>
            </a:xfrm>
            <a:prstGeom prst="rect">
              <a:avLst/>
            </a:prstGeom>
          </p:spPr>
        </p:pic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B214EEC5-44A2-483E-AAE3-D3905781A569}"/>
                </a:ext>
              </a:extLst>
            </p:cNvPr>
            <p:cNvGrpSpPr/>
            <p:nvPr/>
          </p:nvGrpSpPr>
          <p:grpSpPr>
            <a:xfrm>
              <a:off x="7122689" y="4145558"/>
              <a:ext cx="3819236" cy="661758"/>
              <a:chOff x="4082473" y="4145558"/>
              <a:chExt cx="3819236" cy="661758"/>
            </a:xfrm>
          </p:grpSpPr>
          <p:sp>
            <p:nvSpPr>
              <p:cNvPr id="18" name="Retângulo 17">
                <a:extLst>
                  <a:ext uri="{FF2B5EF4-FFF2-40B4-BE49-F238E27FC236}">
                    <a16:creationId xmlns:a16="http://schemas.microsoft.com/office/drawing/2014/main" id="{55B3CAC1-7E01-4C30-8E3C-B1F8956256CA}"/>
                  </a:ext>
                </a:extLst>
              </p:cNvPr>
              <p:cNvSpPr/>
              <p:nvPr/>
            </p:nvSpPr>
            <p:spPr>
              <a:xfrm>
                <a:off x="40824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peso</a:t>
                </a:r>
              </a:p>
            </p:txBody>
          </p:sp>
          <p:sp>
            <p:nvSpPr>
              <p:cNvPr id="19" name="Retângulo 18">
                <a:extLst>
                  <a:ext uri="{FF2B5EF4-FFF2-40B4-BE49-F238E27FC236}">
                    <a16:creationId xmlns:a16="http://schemas.microsoft.com/office/drawing/2014/main" id="{7010807D-D2AA-42CE-A1E6-19865620C6FB}"/>
                  </a:ext>
                </a:extLst>
              </p:cNvPr>
              <p:cNvSpPr/>
              <p:nvPr/>
            </p:nvSpPr>
            <p:spPr>
              <a:xfrm>
                <a:off x="55302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idade</a:t>
                </a:r>
              </a:p>
            </p:txBody>
          </p:sp>
          <p:sp>
            <p:nvSpPr>
              <p:cNvPr id="20" name="Retângulo 19">
                <a:extLst>
                  <a:ext uri="{FF2B5EF4-FFF2-40B4-BE49-F238E27FC236}">
                    <a16:creationId xmlns:a16="http://schemas.microsoft.com/office/drawing/2014/main" id="{8E7D9336-81D0-405D-94DC-FA796E028661}"/>
                  </a:ext>
                </a:extLst>
              </p:cNvPr>
              <p:cNvSpPr/>
              <p:nvPr/>
            </p:nvSpPr>
            <p:spPr>
              <a:xfrm>
                <a:off x="69780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genero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54919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0B9142-A693-42C9-996E-FDC78EBC3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7863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pt-BR" sz="1600" dirty="0"/>
              <a:t>A escolha do estilo de escrita para variáveis, funções e outros elementos do código é principalmente uma questão de convenção, impactando diretamente a legibilidade, manutenção e colaboração em projetos. Aqui estão algumas formas de declarar variáveis.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4EA972-E191-44CB-AC3A-542EA73B6CD4}"/>
              </a:ext>
            </a:extLst>
          </p:cNvPr>
          <p:cNvSpPr txBox="1"/>
          <p:nvPr/>
        </p:nvSpPr>
        <p:spPr>
          <a:xfrm>
            <a:off x="592345" y="2716427"/>
            <a:ext cx="10993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Camel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Camel Case a primeira palavra toda fica no formato minúsculo e as primeiras letras subsequentes de palavras adicionais em maiúscula.</a:t>
            </a:r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1C014D-255C-4684-A6CE-E10513D4F6AC}"/>
              </a:ext>
            </a:extLst>
          </p:cNvPr>
          <p:cNvSpPr txBox="1"/>
          <p:nvPr/>
        </p:nvSpPr>
        <p:spPr>
          <a:xfrm>
            <a:off x="4274570" y="3668450"/>
            <a:ext cx="30448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amel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5883BB3-FFE9-4B18-BDE5-88C284C26FE5}"/>
              </a:ext>
            </a:extLst>
          </p:cNvPr>
          <p:cNvSpPr txBox="1"/>
          <p:nvPr/>
        </p:nvSpPr>
        <p:spPr>
          <a:xfrm>
            <a:off x="592346" y="4805139"/>
            <a:ext cx="10993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Snake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Snake Case a todas as letras minúsculas e as palavras são separadas por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underline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705B9B-627A-4CA3-B389-586867518A5C}"/>
              </a:ext>
            </a:extLst>
          </p:cNvPr>
          <p:cNvSpPr txBox="1"/>
          <p:nvPr/>
        </p:nvSpPr>
        <p:spPr>
          <a:xfrm>
            <a:off x="4190751" y="5480162"/>
            <a:ext cx="32431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snake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C006A50-C8D8-F19C-D669-025FE805A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76378"/>
            <a:ext cx="10515600" cy="577970"/>
          </a:xfrm>
        </p:spPr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350" b="1" kern="0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Maneiras de declarar Classes</a:t>
            </a:r>
          </a:p>
        </p:txBody>
      </p:sp>
    </p:spTree>
    <p:extLst>
      <p:ext uri="{BB962C8B-B14F-4D97-AF65-F5344CB8AC3E}">
        <p14:creationId xmlns:p14="http://schemas.microsoft.com/office/powerpoint/2010/main" val="1605794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23EEF-917F-4D43-A87E-1445E5C8B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76378"/>
            <a:ext cx="10515600" cy="577970"/>
          </a:xfrm>
        </p:spPr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400" b="1" kern="0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Maneiras de declarar Classes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4EA972-E191-44CB-AC3A-542EA73B6CD4}"/>
              </a:ext>
            </a:extLst>
          </p:cNvPr>
          <p:cNvSpPr txBox="1"/>
          <p:nvPr/>
        </p:nvSpPr>
        <p:spPr>
          <a:xfrm>
            <a:off x="599070" y="1907982"/>
            <a:ext cx="10993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Pascal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Pascal Case é um padrão de nomenclatura em que cada palavra começa com uma letra maiúscula, sem espaços ou separadores entre elas. </a:t>
            </a:r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1C014D-255C-4684-A6CE-E10513D4F6AC}"/>
              </a:ext>
            </a:extLst>
          </p:cNvPr>
          <p:cNvSpPr txBox="1"/>
          <p:nvPr/>
        </p:nvSpPr>
        <p:spPr>
          <a:xfrm>
            <a:off x="4577015" y="2692448"/>
            <a:ext cx="303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ascal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3B855BB-4C61-1029-501B-AD5FF0E54A48}"/>
              </a:ext>
            </a:extLst>
          </p:cNvPr>
          <p:cNvSpPr txBox="1"/>
          <p:nvPr/>
        </p:nvSpPr>
        <p:spPr>
          <a:xfrm>
            <a:off x="599070" y="3742533"/>
            <a:ext cx="10993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Constantes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 linguagem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costumamos a utilizar todas as letras em maiúsculas para declarar constantes.</a:t>
            </a:r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68134DF-1E3A-83A9-0DC4-08713412D5D7}"/>
              </a:ext>
            </a:extLst>
          </p:cNvPr>
          <p:cNvSpPr txBox="1"/>
          <p:nvPr/>
        </p:nvSpPr>
        <p:spPr>
          <a:xfrm>
            <a:off x="3867141" y="4526999"/>
            <a:ext cx="44577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CONSTANTES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771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2446" y="787418"/>
            <a:ext cx="5458780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350" b="1" spc="-72" dirty="0" err="1">
                <a:latin typeface="Inter Bold" pitchFamily="34" charset="0"/>
                <a:ea typeface="Inter Bold" pitchFamily="34" charset="-122"/>
              </a:rPr>
              <a:t>Operadores</a:t>
            </a:r>
            <a:r>
              <a:rPr lang="en-US" sz="2350" b="1" spc="-72" dirty="0">
                <a:latin typeface="Inter Bold" pitchFamily="34" charset="0"/>
                <a:ea typeface="Inter Bold" pitchFamily="34" charset="-122"/>
              </a:rPr>
              <a:t> </a:t>
            </a:r>
            <a:r>
              <a:rPr lang="en-US" sz="2350" b="1" spc="-72" dirty="0" err="1">
                <a:latin typeface="Inter Bold" pitchFamily="34" charset="0"/>
                <a:ea typeface="Inter Bold" pitchFamily="34" charset="-122"/>
              </a:rPr>
              <a:t>Aritméticos</a:t>
            </a:r>
            <a:endParaRPr lang="en-US" sz="2350" b="1" spc="-72" dirty="0">
              <a:latin typeface="Inter Bold" pitchFamily="34" charset="0"/>
              <a:ea typeface="Inter Bold" pitchFamily="34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55125" y="1661434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842445" y="1848759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  Adição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42445" y="2261708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5 + 3 =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44580" y="1661434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531901" y="1848759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-  Subtração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3531901" y="2261708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5 - 3 = 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5125" y="2853548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842445" y="3040873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*  Multiplicação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42445" y="3453821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5 * 3 = 15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44580" y="2853548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531901" y="3040873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/  Divisão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531901" y="3453821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7 / 2 = 3.5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5125" y="4045661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842445" y="4232986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// Divisão inteira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42445" y="4645934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7 // 2 =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44580" y="4045661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3531901" y="4232986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%  Resto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3531901" y="4645934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7 % 2 = 1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5125" y="5237774"/>
            <a:ext cx="5228995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842445" y="5425099"/>
            <a:ext cx="4854354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** Potência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842445" y="5838048"/>
            <a:ext cx="4854354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2 ** 3 = 8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1225" y="1642682"/>
            <a:ext cx="5228995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Destaque: operador %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301225" y="2055630"/>
            <a:ext cx="5228995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retorna o </a:t>
            </a: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resto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uma divisão. Muito útil para verificar se um número é par ou ímpar: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01225" y="2733493"/>
            <a:ext cx="5228995" cy="875308"/>
          </a:xfrm>
          <a:prstGeom prst="roundRect">
            <a:avLst>
              <a:gd name="adj" fmla="val 807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503229" y="2901768"/>
            <a:ext cx="4824986" cy="538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kern="0" spc="-27" dirty="0">
                <a:solidFill>
                  <a:srgbClr val="032F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numero % 2 == 0  # par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kern="0" spc="-27" dirty="0">
                <a:solidFill>
                  <a:srgbClr val="032F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numero % 2 != 0  # ímpar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01225" y="3777473"/>
            <a:ext cx="5228995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operadores aritméticos são o coração do </a:t>
            </a: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processamento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algoritmo.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Font typeface="Arial"/>
              <a:buNone/>
            </a:pPr>
            <a:r>
              <a:rPr lang="en-US" sz="2350" b="1" spc="-72" dirty="0">
                <a:latin typeface="Inter Bold" pitchFamily="34" charset="0"/>
                <a:ea typeface="Inter Bold" pitchFamily="34" charset="-122"/>
              </a:rPr>
              <a:t>Introdução </a:t>
            </a:r>
            <a:r>
              <a:rPr lang="en-US" sz="2350" b="1" spc="-72" dirty="0" err="1">
                <a:latin typeface="Inter Bold" pitchFamily="34" charset="0"/>
                <a:ea typeface="Inter Bold" pitchFamily="34" charset="-122"/>
              </a:rPr>
              <a:t>ao</a:t>
            </a:r>
            <a:r>
              <a:rPr lang="en-US" sz="2350" b="1" spc="-72" dirty="0">
                <a:latin typeface="Inter Bold" pitchFamily="34" charset="0"/>
                <a:ea typeface="Inter Bold" pitchFamily="34" charset="-122"/>
              </a:rPr>
              <a:t> Fluxograma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855985"/>
            <a:ext cx="10727885" cy="378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180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fluxograma</a:t>
            </a: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representação </a:t>
            </a:r>
            <a:r>
              <a:rPr lang="en-US" sz="180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visual</a:t>
            </a: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um algoritmo, usando símbolos padronizados.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367964" y="2958802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</a:t>
            </a:r>
            <a:r>
              <a:rPr lang="en-US" sz="1850" b="1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ício</a:t>
            </a:r>
            <a:r>
              <a:rPr lang="en-US" sz="1850" b="1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</a:t>
            </a:r>
            <a:r>
              <a:rPr lang="en-US" sz="1850" b="1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</a:t>
            </a:r>
            <a:r>
              <a:rPr lang="en-US" sz="1850" b="1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Fim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2367964" y="3367484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Marca o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início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ou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fim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 algoritmo → 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início / fim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7587106" y="2958802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Entrada/</a:t>
            </a: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Saída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7587106" y="3367484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entrada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saída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dados, </a:t>
            </a:r>
            <a:r>
              <a:rPr lang="en-US" sz="145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</a:rPr>
              <a:t>input()/print()</a:t>
            </a:r>
          </a:p>
        </p:txBody>
      </p:sp>
      <p:sp>
        <p:nvSpPr>
          <p:cNvPr id="14" name="Text 8"/>
          <p:cNvSpPr/>
          <p:nvPr/>
        </p:nvSpPr>
        <p:spPr>
          <a:xfrm>
            <a:off x="2367964" y="5000704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Decisão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2367964" y="5409386"/>
            <a:ext cx="2851178" cy="617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Permite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executar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diferentes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fluxos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dentro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seu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</a:rPr>
              <a:t>if/else</a:t>
            </a:r>
          </a:p>
        </p:txBody>
      </p:sp>
      <p:sp>
        <p:nvSpPr>
          <p:cNvPr id="17" name="Text 10"/>
          <p:cNvSpPr/>
          <p:nvPr/>
        </p:nvSpPr>
        <p:spPr>
          <a:xfrm>
            <a:off x="7587106" y="5000704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Setas</a:t>
            </a:r>
            <a:endParaRPr lang="en-US" sz="1850" dirty="0"/>
          </a:p>
        </p:txBody>
      </p:sp>
      <p:sp>
        <p:nvSpPr>
          <p:cNvPr id="18" name="Text 11"/>
          <p:cNvSpPr/>
          <p:nvPr/>
        </p:nvSpPr>
        <p:spPr>
          <a:xfrm>
            <a:off x="7587106" y="5409386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Indicam o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fluxo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execução entre os passos</a:t>
            </a:r>
            <a:endParaRPr lang="en-US" sz="1450" dirty="0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3B9EB9E-7B88-9CED-DE42-84412B7FAE01}"/>
              </a:ext>
            </a:extLst>
          </p:cNvPr>
          <p:cNvSpPr/>
          <p:nvPr/>
        </p:nvSpPr>
        <p:spPr>
          <a:xfrm>
            <a:off x="759125" y="2913304"/>
            <a:ext cx="1311215" cy="681545"/>
          </a:xfrm>
          <a:prstGeom prst="roundRect">
            <a:avLst>
              <a:gd name="adj" fmla="val 50000"/>
            </a:avLst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Fluxograma: Dados 24">
            <a:extLst>
              <a:ext uri="{FF2B5EF4-FFF2-40B4-BE49-F238E27FC236}">
                <a16:creationId xmlns:a16="http://schemas.microsoft.com/office/drawing/2014/main" id="{398F8665-0C70-C522-1A02-5F67DF2EBD85}"/>
              </a:ext>
            </a:extLst>
          </p:cNvPr>
          <p:cNvSpPr/>
          <p:nvPr/>
        </p:nvSpPr>
        <p:spPr>
          <a:xfrm>
            <a:off x="5531856" y="2913303"/>
            <a:ext cx="1742536" cy="681545"/>
          </a:xfrm>
          <a:prstGeom prst="flowChartInputOutpu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03601595-800A-0371-1466-BDCE3A3A458E}"/>
              </a:ext>
            </a:extLst>
          </p:cNvPr>
          <p:cNvCxnSpPr>
            <a:cxnSpLocks/>
          </p:cNvCxnSpPr>
          <p:nvPr/>
        </p:nvCxnSpPr>
        <p:spPr>
          <a:xfrm>
            <a:off x="5932098" y="5252847"/>
            <a:ext cx="1178392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uxograma: Decisão 27">
            <a:extLst>
              <a:ext uri="{FF2B5EF4-FFF2-40B4-BE49-F238E27FC236}">
                <a16:creationId xmlns:a16="http://schemas.microsoft.com/office/drawing/2014/main" id="{5ADF2DB0-3F65-DFCD-8745-82AB4F13B97A}"/>
              </a:ext>
            </a:extLst>
          </p:cNvPr>
          <p:cNvSpPr/>
          <p:nvPr/>
        </p:nvSpPr>
        <p:spPr>
          <a:xfrm>
            <a:off x="759124" y="5000704"/>
            <a:ext cx="1311215" cy="617538"/>
          </a:xfrm>
          <a:prstGeom prst="flowChartDecision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7EDB8-7624-B7DF-1D41-E5598A97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4761F26-C30A-D039-D032-16158E279FE6}"/>
              </a:ext>
            </a:extLst>
          </p:cNvPr>
          <p:cNvSpPr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Font typeface="Arial"/>
              <a:buNone/>
            </a:pPr>
            <a:r>
              <a:rPr lang="en-US" sz="2350" b="1" spc="-72" dirty="0">
                <a:latin typeface="Inter Bold" pitchFamily="34" charset="0"/>
                <a:ea typeface="Inter Bold" pitchFamily="34" charset="-122"/>
              </a:rPr>
              <a:t>Introdução </a:t>
            </a:r>
            <a:r>
              <a:rPr lang="en-US" sz="2350" b="1" spc="-72" dirty="0" err="1">
                <a:latin typeface="Inter Bold" pitchFamily="34" charset="0"/>
                <a:ea typeface="Inter Bold" pitchFamily="34" charset="-122"/>
              </a:rPr>
              <a:t>ao</a:t>
            </a:r>
            <a:r>
              <a:rPr lang="en-US" sz="2350" b="1" spc="-72" dirty="0">
                <a:latin typeface="Inter Bold" pitchFamily="34" charset="0"/>
                <a:ea typeface="Inter Bold" pitchFamily="34" charset="-122"/>
              </a:rPr>
              <a:t> Fluxograma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1761EB-8CF5-8989-1613-C8D54EC57D59}"/>
              </a:ext>
            </a:extLst>
          </p:cNvPr>
          <p:cNvSpPr/>
          <p:nvPr/>
        </p:nvSpPr>
        <p:spPr>
          <a:xfrm>
            <a:off x="661475" y="1855985"/>
            <a:ext cx="10727885" cy="378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180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fluxograma</a:t>
            </a: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representação </a:t>
            </a:r>
            <a:r>
              <a:rPr lang="en-US" sz="180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visual</a:t>
            </a: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um algoritmo, usando símbolos padronizados.</a:t>
            </a:r>
            <a:endParaRPr lang="en-US" sz="18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2F9AEE3-3A7C-AE87-F435-8C273AFBD574}"/>
              </a:ext>
            </a:extLst>
          </p:cNvPr>
          <p:cNvSpPr/>
          <p:nvPr/>
        </p:nvSpPr>
        <p:spPr>
          <a:xfrm>
            <a:off x="2367964" y="2958802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Desvio</a:t>
            </a:r>
            <a:r>
              <a:rPr lang="en-US" sz="1850" b="1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 (</a:t>
            </a:r>
            <a:r>
              <a:rPr lang="en-US" sz="1850" b="1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Conector</a:t>
            </a:r>
            <a:r>
              <a:rPr lang="en-US" sz="1850" b="1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)</a:t>
            </a:r>
            <a:endParaRPr lang="en-US" sz="18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F2636FC-22CC-F6F7-C981-3272057D51CF}"/>
              </a:ext>
            </a:extLst>
          </p:cNvPr>
          <p:cNvSpPr/>
          <p:nvPr/>
        </p:nvSpPr>
        <p:spPr>
          <a:xfrm>
            <a:off x="2367964" y="3367484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Conecta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partes do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fluxograma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indicando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continua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1BBE490-C4C6-13F7-3D62-F76D18835090}"/>
              </a:ext>
            </a:extLst>
          </p:cNvPr>
          <p:cNvSpPr/>
          <p:nvPr/>
        </p:nvSpPr>
        <p:spPr>
          <a:xfrm>
            <a:off x="7587106" y="2958802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Processamento</a:t>
            </a:r>
            <a:endParaRPr lang="en-US" sz="185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D6F375C-D0F5-CFE0-9152-23E5F0DF28BF}"/>
              </a:ext>
            </a:extLst>
          </p:cNvPr>
          <p:cNvSpPr/>
          <p:nvPr/>
        </p:nvSpPr>
        <p:spPr>
          <a:xfrm>
            <a:off x="7587106" y="3367484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Processamento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geral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cálculos</a:t>
            </a:r>
            <a:endParaRPr lang="en-US" sz="1450" spc="-30" dirty="0">
              <a:solidFill>
                <a:srgbClr val="272525"/>
              </a:solidFill>
              <a:highlight>
                <a:srgbClr val="F2F2F2"/>
              </a:highlight>
              <a:latin typeface="Consolas" pitchFamily="34" charset="0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03B93C0D-13CE-3703-616E-C8786CDCF2BA}"/>
              </a:ext>
            </a:extLst>
          </p:cNvPr>
          <p:cNvSpPr/>
          <p:nvPr/>
        </p:nvSpPr>
        <p:spPr>
          <a:xfrm>
            <a:off x="2367964" y="5000704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Exibir</a:t>
            </a: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/</a:t>
            </a: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Saída</a:t>
            </a:r>
            <a:endParaRPr lang="en-US" sz="185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BD912384-2BE6-70C9-76A7-ABBAF6183B50}"/>
              </a:ext>
            </a:extLst>
          </p:cNvPr>
          <p:cNvSpPr/>
          <p:nvPr/>
        </p:nvSpPr>
        <p:spPr>
          <a:xfrm>
            <a:off x="2367964" y="5409386"/>
            <a:ext cx="2851178" cy="617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Mostra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informações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</a:t>
            </a:r>
            <a:r>
              <a:rPr lang="en-US" sz="145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00" spc="-30" dirty="0">
              <a:solidFill>
                <a:srgbClr val="272525"/>
              </a:solidFill>
              <a:highlight>
                <a:srgbClr val="F2F2F2"/>
              </a:highlight>
              <a:latin typeface="Consolas" pitchFamily="34" charset="0"/>
            </a:endParaRP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349D4396-E0A7-3603-CD2C-68EF39545ED4}"/>
              </a:ext>
            </a:extLst>
          </p:cNvPr>
          <p:cNvSpPr/>
          <p:nvPr/>
        </p:nvSpPr>
        <p:spPr>
          <a:xfrm>
            <a:off x="1056789" y="2913302"/>
            <a:ext cx="715884" cy="681545"/>
          </a:xfrm>
          <a:prstGeom prst="ellipse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333A369-FA3C-B470-ED48-B0DE40032F61}"/>
              </a:ext>
            </a:extLst>
          </p:cNvPr>
          <p:cNvSpPr/>
          <p:nvPr/>
        </p:nvSpPr>
        <p:spPr>
          <a:xfrm>
            <a:off x="5932098" y="2913302"/>
            <a:ext cx="1178392" cy="611184"/>
          </a:xfrm>
          <a:prstGeom prst="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Fluxograma: Documento 9">
            <a:extLst>
              <a:ext uri="{FF2B5EF4-FFF2-40B4-BE49-F238E27FC236}">
                <a16:creationId xmlns:a16="http://schemas.microsoft.com/office/drawing/2014/main" id="{3BBF096D-4E09-569A-BFE8-2D79BE46D7F3}"/>
              </a:ext>
            </a:extLst>
          </p:cNvPr>
          <p:cNvSpPr/>
          <p:nvPr/>
        </p:nvSpPr>
        <p:spPr>
          <a:xfrm>
            <a:off x="759126" y="5009980"/>
            <a:ext cx="1311214" cy="744317"/>
          </a:xfrm>
          <a:prstGeom prst="flowChartDocumen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3C74A996-DD1B-6047-F36C-637FEBA5BB86}"/>
              </a:ext>
            </a:extLst>
          </p:cNvPr>
          <p:cNvSpPr/>
          <p:nvPr/>
        </p:nvSpPr>
        <p:spPr>
          <a:xfrm>
            <a:off x="7587106" y="5040021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Entrada de Dados</a:t>
            </a:r>
            <a:endParaRPr lang="en-US" sz="185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7D731653-762D-03E7-81E2-56FB550F4AE0}"/>
              </a:ext>
            </a:extLst>
          </p:cNvPr>
          <p:cNvSpPr/>
          <p:nvPr/>
        </p:nvSpPr>
        <p:spPr>
          <a:xfrm>
            <a:off x="7587106" y="5448703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Entrada manual dos dados.</a:t>
            </a:r>
            <a:endParaRPr lang="en-US" sz="1450" spc="-30" dirty="0">
              <a:solidFill>
                <a:srgbClr val="272525"/>
              </a:solidFill>
              <a:highlight>
                <a:srgbClr val="F2F2F2"/>
              </a:highlight>
              <a:latin typeface="Consolas" pitchFamily="34" charset="0"/>
            </a:endParaRPr>
          </a:p>
        </p:txBody>
      </p:sp>
      <p:sp>
        <p:nvSpPr>
          <p:cNvPr id="22" name="Retângulo: Único Canto Recortado 21">
            <a:extLst>
              <a:ext uri="{FF2B5EF4-FFF2-40B4-BE49-F238E27FC236}">
                <a16:creationId xmlns:a16="http://schemas.microsoft.com/office/drawing/2014/main" id="{4E0DFE9C-755A-DBBD-1B8D-EDD57E9AF081}"/>
              </a:ext>
            </a:extLst>
          </p:cNvPr>
          <p:cNvSpPr/>
          <p:nvPr/>
        </p:nvSpPr>
        <p:spPr>
          <a:xfrm flipH="1">
            <a:off x="5932098" y="4889089"/>
            <a:ext cx="1178392" cy="744317"/>
          </a:xfrm>
          <a:prstGeom prst="snip1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7772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4B5228-FDB0-4B99-AD42-46792D5ED3E8}"/>
              </a:ext>
            </a:extLst>
          </p:cNvPr>
          <p:cNvSpPr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Font typeface="Arial"/>
              <a:buNone/>
            </a:pPr>
            <a:r>
              <a:rPr lang="en-US" sz="2350" b="1" spc="-72" dirty="0" err="1">
                <a:latin typeface="Inter Bold" pitchFamily="34" charset="0"/>
                <a:ea typeface="Inter Bold" pitchFamily="34" charset="-122"/>
              </a:rPr>
              <a:t>Exemplos</a:t>
            </a:r>
            <a:r>
              <a:rPr lang="en-US" sz="2350" b="1" spc="-72" dirty="0">
                <a:latin typeface="Inter Bold" pitchFamily="34" charset="0"/>
                <a:ea typeface="Inter Bold" pitchFamily="34" charset="-122"/>
              </a:rPr>
              <a:t> de Fluxograma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63BFA04-F680-3DDA-D8E0-5D40DFF767B4}"/>
              </a:ext>
            </a:extLst>
          </p:cNvPr>
          <p:cNvSpPr/>
          <p:nvPr/>
        </p:nvSpPr>
        <p:spPr>
          <a:xfrm>
            <a:off x="5172975" y="1718865"/>
            <a:ext cx="1331342" cy="5400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Início</a:t>
            </a:r>
          </a:p>
        </p:txBody>
      </p:sp>
      <p:sp>
        <p:nvSpPr>
          <p:cNvPr id="4" name="Retângulo: Único Canto Recortado 3">
            <a:extLst>
              <a:ext uri="{FF2B5EF4-FFF2-40B4-BE49-F238E27FC236}">
                <a16:creationId xmlns:a16="http://schemas.microsoft.com/office/drawing/2014/main" id="{167AC403-CF3F-3906-2F0B-580F3900409E}"/>
              </a:ext>
            </a:extLst>
          </p:cNvPr>
          <p:cNvSpPr/>
          <p:nvPr/>
        </p:nvSpPr>
        <p:spPr>
          <a:xfrm flipH="1">
            <a:off x="5249450" y="2580243"/>
            <a:ext cx="1178392" cy="540000"/>
          </a:xfrm>
          <a:prstGeom prst="snip1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nota1</a:t>
            </a:r>
          </a:p>
        </p:txBody>
      </p:sp>
      <p:sp>
        <p:nvSpPr>
          <p:cNvPr id="5" name="Retângulo: Único Canto Recortado 4">
            <a:extLst>
              <a:ext uri="{FF2B5EF4-FFF2-40B4-BE49-F238E27FC236}">
                <a16:creationId xmlns:a16="http://schemas.microsoft.com/office/drawing/2014/main" id="{AE1BE86C-5719-E087-AEC9-60A082B77F03}"/>
              </a:ext>
            </a:extLst>
          </p:cNvPr>
          <p:cNvSpPr/>
          <p:nvPr/>
        </p:nvSpPr>
        <p:spPr>
          <a:xfrm flipH="1">
            <a:off x="5249450" y="3441621"/>
            <a:ext cx="1178392" cy="540000"/>
          </a:xfrm>
          <a:prstGeom prst="snip1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nota2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40BE134-973E-6A33-E3E2-D2C4F88C2FFF}"/>
              </a:ext>
            </a:extLst>
          </p:cNvPr>
          <p:cNvSpPr/>
          <p:nvPr/>
        </p:nvSpPr>
        <p:spPr>
          <a:xfrm>
            <a:off x="4607363" y="4235237"/>
            <a:ext cx="2462565" cy="540000"/>
          </a:xfrm>
          <a:prstGeom prst="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media &lt;- (nota1+nota2) / 2</a:t>
            </a:r>
          </a:p>
        </p:txBody>
      </p:sp>
      <p:sp>
        <p:nvSpPr>
          <p:cNvPr id="7" name="Fluxograma: Documento 6">
            <a:extLst>
              <a:ext uri="{FF2B5EF4-FFF2-40B4-BE49-F238E27FC236}">
                <a16:creationId xmlns:a16="http://schemas.microsoft.com/office/drawing/2014/main" id="{17F9DE5F-C906-9C62-28E1-FE85F1E1B21B}"/>
              </a:ext>
            </a:extLst>
          </p:cNvPr>
          <p:cNvSpPr/>
          <p:nvPr/>
        </p:nvSpPr>
        <p:spPr>
          <a:xfrm>
            <a:off x="5249450" y="5164377"/>
            <a:ext cx="1178392" cy="540000"/>
          </a:xfrm>
          <a:prstGeom prst="flowChartDocumen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media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EDBDA0FB-8365-DB3C-BA31-FFB94F165D43}"/>
              </a:ext>
            </a:extLst>
          </p:cNvPr>
          <p:cNvSpPr/>
          <p:nvPr/>
        </p:nvSpPr>
        <p:spPr>
          <a:xfrm>
            <a:off x="5172975" y="6025753"/>
            <a:ext cx="1331342" cy="5400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Fim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8CF6E099-04FB-6615-5F9D-995D91D1C0BD}"/>
              </a:ext>
            </a:extLst>
          </p:cNvPr>
          <p:cNvCxnSpPr>
            <a:stCxn id="3" idx="2"/>
            <a:endCxn id="4" idx="3"/>
          </p:cNvCxnSpPr>
          <p:nvPr/>
        </p:nvCxnSpPr>
        <p:spPr>
          <a:xfrm>
            <a:off x="5838646" y="2258865"/>
            <a:ext cx="0" cy="321378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DBD5E73B-2542-AA7A-997F-DF1A5B34767B}"/>
              </a:ext>
            </a:extLst>
          </p:cNvPr>
          <p:cNvCxnSpPr>
            <a:stCxn id="4" idx="1"/>
            <a:endCxn id="5" idx="3"/>
          </p:cNvCxnSpPr>
          <p:nvPr/>
        </p:nvCxnSpPr>
        <p:spPr>
          <a:xfrm>
            <a:off x="5838646" y="3120243"/>
            <a:ext cx="0" cy="321378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2C972798-EB83-6EFA-D25D-1A9A174B3E6E}"/>
              </a:ext>
            </a:extLst>
          </p:cNvPr>
          <p:cNvCxnSpPr>
            <a:stCxn id="5" idx="1"/>
            <a:endCxn id="6" idx="0"/>
          </p:cNvCxnSpPr>
          <p:nvPr/>
        </p:nvCxnSpPr>
        <p:spPr>
          <a:xfrm>
            <a:off x="5838646" y="3981621"/>
            <a:ext cx="0" cy="253616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1BEF6DBB-8AEE-B1C0-89C9-8CF85F791C13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5838646" y="4775237"/>
            <a:ext cx="0" cy="38914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BE2D7967-45AA-155E-D6D9-B2A431A01F0B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38646" y="5668677"/>
            <a:ext cx="0" cy="357076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have Direita 19">
            <a:extLst>
              <a:ext uri="{FF2B5EF4-FFF2-40B4-BE49-F238E27FC236}">
                <a16:creationId xmlns:a16="http://schemas.microsoft.com/office/drawing/2014/main" id="{0F0FC1EC-6140-2FC9-11C2-40384CDF6412}"/>
              </a:ext>
            </a:extLst>
          </p:cNvPr>
          <p:cNvSpPr/>
          <p:nvPr/>
        </p:nvSpPr>
        <p:spPr>
          <a:xfrm>
            <a:off x="6823494" y="2580243"/>
            <a:ext cx="270018" cy="1401378"/>
          </a:xfrm>
          <a:prstGeom prst="rightBrace">
            <a:avLst/>
          </a:prstGeom>
          <a:ln w="38100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have Direita 20">
            <a:extLst>
              <a:ext uri="{FF2B5EF4-FFF2-40B4-BE49-F238E27FC236}">
                <a16:creationId xmlns:a16="http://schemas.microsoft.com/office/drawing/2014/main" id="{C2C75EEF-ACA9-2A2D-53FC-17780FCDBC12}"/>
              </a:ext>
            </a:extLst>
          </p:cNvPr>
          <p:cNvSpPr/>
          <p:nvPr/>
        </p:nvSpPr>
        <p:spPr>
          <a:xfrm>
            <a:off x="7354155" y="4235237"/>
            <a:ext cx="270018" cy="540000"/>
          </a:xfrm>
          <a:prstGeom prst="rightBrace">
            <a:avLst/>
          </a:prstGeom>
          <a:ln w="38100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Chave Direita 22">
            <a:extLst>
              <a:ext uri="{FF2B5EF4-FFF2-40B4-BE49-F238E27FC236}">
                <a16:creationId xmlns:a16="http://schemas.microsoft.com/office/drawing/2014/main" id="{A6E5D85D-AB38-9378-3AC1-30E41C44F646}"/>
              </a:ext>
            </a:extLst>
          </p:cNvPr>
          <p:cNvSpPr/>
          <p:nvPr/>
        </p:nvSpPr>
        <p:spPr>
          <a:xfrm>
            <a:off x="6823494" y="5164377"/>
            <a:ext cx="270018" cy="540000"/>
          </a:xfrm>
          <a:prstGeom prst="rightBrace">
            <a:avLst/>
          </a:prstGeom>
          <a:ln w="38100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F2FEB1A4-5E82-374D-6778-F31EACCF44BC}"/>
              </a:ext>
            </a:extLst>
          </p:cNvPr>
          <p:cNvSpPr txBox="1"/>
          <p:nvPr/>
        </p:nvSpPr>
        <p:spPr>
          <a:xfrm>
            <a:off x="7264674" y="3120243"/>
            <a:ext cx="16273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Entrada de Dados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9145E94-A789-4A80-3DAE-912C4582A6F6}"/>
              </a:ext>
            </a:extLst>
          </p:cNvPr>
          <p:cNvSpPr txBox="1"/>
          <p:nvPr/>
        </p:nvSpPr>
        <p:spPr>
          <a:xfrm>
            <a:off x="7908400" y="4351348"/>
            <a:ext cx="1428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Processamento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7AD159C1-E21E-3102-BDE6-BFB2E2058530}"/>
              </a:ext>
            </a:extLst>
          </p:cNvPr>
          <p:cNvSpPr txBox="1"/>
          <p:nvPr/>
        </p:nvSpPr>
        <p:spPr>
          <a:xfrm>
            <a:off x="7264673" y="5283760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Saída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350" b="1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Arial"/>
              </a:rPr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3"/>
            <a:ext cx="11007306" cy="1005057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pt-BR" b="1" dirty="0"/>
              <a:t>Desafio 01 - Conversão de Temperatura</a:t>
            </a:r>
          </a:p>
          <a:p>
            <a:pPr marL="457200" lvl="1" indent="0">
              <a:buNone/>
            </a:pPr>
            <a:r>
              <a:rPr lang="pt-BR" dirty="0"/>
              <a:t>Solicite ao usuário uma temperatura em Celsius (tipo </a:t>
            </a:r>
            <a:r>
              <a:rPr lang="pt-BR" dirty="0" err="1"/>
              <a:t>double</a:t>
            </a:r>
            <a:r>
              <a:rPr lang="pt-BR" dirty="0"/>
              <a:t>) e converta para Fahrenheit (F) e Kelvin(K). A fórmula é: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D442037C-7E9F-444F-A87A-BFED3ED34744}"/>
              </a:ext>
            </a:extLst>
          </p:cNvPr>
          <p:cNvSpPr txBox="1">
            <a:spLocks/>
          </p:cNvSpPr>
          <p:nvPr/>
        </p:nvSpPr>
        <p:spPr>
          <a:xfrm>
            <a:off x="592347" y="3708174"/>
            <a:ext cx="11007306" cy="143858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dirty="0"/>
              <a:t>Desafio 02 - Calculando Juros Compostos</a:t>
            </a:r>
          </a:p>
          <a:p>
            <a:pPr marL="457200" lvl="1" indent="0">
              <a:buNone/>
            </a:pPr>
            <a:r>
              <a:rPr lang="pt-BR" dirty="0"/>
              <a:t>Implemente um programa que solicite o capital inicial, a taxa de juros (em % ao mês) e o número de meses. Calcule e exiba o montante total com base na fórmula de juros compostos: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215C524-60E0-4A24-8CF9-E8DB22B3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594" y="2905052"/>
            <a:ext cx="2800741" cy="52394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1897DEA-BF5A-4227-ADC2-D30E34CF1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29" y="3028894"/>
            <a:ext cx="2162477" cy="276264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22933227-E1EE-4436-BDDA-AD67684D4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7470" y="5457383"/>
            <a:ext cx="3178402" cy="64782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D3678FC-9AFD-4823-9261-A6176C2C4C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836" y="5284694"/>
            <a:ext cx="2698859" cy="99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436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350" b="1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Arial"/>
              </a:rPr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3"/>
            <a:ext cx="11007306" cy="140516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pt-BR" sz="2900" b="1" dirty="0"/>
              <a:t>Desafio 03 – Média de Aluno</a:t>
            </a:r>
          </a:p>
          <a:p>
            <a:pPr marL="457200" lvl="1" indent="0">
              <a:buNone/>
            </a:pPr>
            <a:r>
              <a:rPr lang="pt-BR" dirty="0"/>
              <a:t>Faça um programa que leia três notas de um aluno e calcule a média final. Ao final, exiba a média formatada.</a:t>
            </a:r>
          </a:p>
          <a:p>
            <a:pPr marL="457200" lvl="1" indent="0">
              <a:buNone/>
            </a:pPr>
            <a:r>
              <a:rPr lang="pt-BR" b="1" dirty="0"/>
              <a:t>Exemplo de Saída</a:t>
            </a:r>
            <a:r>
              <a:rPr lang="pt-BR" dirty="0"/>
              <a:t>: “A média final do aluno é 7.0”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D442037C-7E9F-444F-A87A-BFED3ED34744}"/>
              </a:ext>
            </a:extLst>
          </p:cNvPr>
          <p:cNvSpPr txBox="1">
            <a:spLocks/>
          </p:cNvSpPr>
          <p:nvPr/>
        </p:nvSpPr>
        <p:spPr>
          <a:xfrm>
            <a:off x="592347" y="3473732"/>
            <a:ext cx="11007306" cy="143858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dirty="0"/>
              <a:t>Desafio 04 - Calculadora de Juros Simples</a:t>
            </a:r>
          </a:p>
          <a:p>
            <a:pPr marL="457200" lvl="1" indent="0">
              <a:buNone/>
            </a:pPr>
            <a:r>
              <a:rPr lang="pt-BR" dirty="0"/>
              <a:t>Crie um programa que leia o capital inicial, a taxa de juros mensal (%) e o tempo (em meses). Calcule os juros simples e mostre os valores dos juros e do montante total ao final do período.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783F312-A659-4D3D-A42C-EF86BB561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891" y="5470663"/>
            <a:ext cx="1695687" cy="38105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0B6A7C83-89A8-49DC-A205-0411EF50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422" y="4985610"/>
            <a:ext cx="3292047" cy="135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791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350" b="1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Arial"/>
              </a:rPr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4"/>
            <a:ext cx="11007306" cy="1118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000" b="1" dirty="0"/>
              <a:t>Desafio 05 – Área e Perímetro de um Círculo</a:t>
            </a:r>
          </a:p>
          <a:p>
            <a:pPr marL="457200" lvl="1" indent="0">
              <a:buNone/>
            </a:pPr>
            <a:r>
              <a:rPr lang="pt-BR" sz="2000" dirty="0"/>
              <a:t>Crie um programa que leia o raio de um círculo e calcule: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509FF2E-4AAC-40A4-BDB9-FA28F435B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623" y="2863274"/>
            <a:ext cx="3038899" cy="952633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D5E7A3F-70A6-4700-9D44-B2905DDB1F74}"/>
              </a:ext>
            </a:extLst>
          </p:cNvPr>
          <p:cNvSpPr txBox="1"/>
          <p:nvPr/>
        </p:nvSpPr>
        <p:spPr>
          <a:xfrm>
            <a:off x="592347" y="3994727"/>
            <a:ext cx="4663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/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Utilize a biblioteca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o valor de </a:t>
            </a:r>
            <a:r>
              <a:rPr lang="el-G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6181208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2" id="{F00C9D64-B4F3-4CB8-9DF2-59685944CDDB}" vid="{148A88D6-2EA5-4E01-8808-5075C10EAE98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Tema2</Template>
  <TotalTime>151</TotalTime>
  <Words>922</Words>
  <Application>Microsoft Office PowerPoint</Application>
  <PresentationFormat>Widescreen</PresentationFormat>
  <Paragraphs>171</Paragraphs>
  <Slides>16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5" baseType="lpstr">
      <vt:lpstr>Consolas</vt:lpstr>
      <vt:lpstr>Inter</vt:lpstr>
      <vt:lpstr>Calibri</vt:lpstr>
      <vt:lpstr>Inter Light</vt:lpstr>
      <vt:lpstr>Arial</vt:lpstr>
      <vt:lpstr>Inter Bold</vt:lpstr>
      <vt:lpstr>Twemoji Mozilla</vt:lpstr>
      <vt:lpstr>Times New Roman</vt:lpstr>
      <vt:lpstr>Tema2</vt:lpstr>
      <vt:lpstr>Introdução à Lógica de Programação: Pensando como um Programador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Variáveis</vt:lpstr>
      <vt:lpstr>Maneiras de declarar Classes</vt:lpstr>
      <vt:lpstr>Maneiras de declarar Classes</vt:lpstr>
      <vt:lpstr>Apresentação do PowerPoint</vt:lpstr>
      <vt:lpstr>Apresentação do PowerPoint</vt:lpstr>
      <vt:lpstr>Apresentação do PowerPoint</vt:lpstr>
      <vt:lpstr>Apresentação do PowerPoint</vt:lpstr>
      <vt:lpstr>Desafios</vt:lpstr>
      <vt:lpstr>Desafios</vt:lpstr>
      <vt:lpstr>Desafios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Introdução à Lógica de Programação: Pensando como um Programador</dc:title>
  <dc:subject/>
  <dc:creator/>
  <cp:lastModifiedBy>Pedro Miho</cp:lastModifiedBy>
  <cp:revision>7</cp:revision>
  <dcterms:created xsi:type="dcterms:W3CDTF">2026-08-24T01:16:08Z</dcterms:created>
  <dcterms:modified xsi:type="dcterms:W3CDTF">2026-08-25T00:44:57Z</dcterms:modified>
</cp:coreProperties>
</file>