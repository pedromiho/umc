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  <p:sldId id="276" r:id="rId20"/>
    <p:sldId id="275" r:id="rId21"/>
    <p:sldId id="278" r:id="rId22"/>
    <p:sldId id="279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C87CF5-69C3-4DE4-9F21-104E045FF662}">
  <a:tblStyle styleId="{0AC87CF5-69C3-4DE4-9F21-104E045FF662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5" name="Google Shape;7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1" name="Google Shape;8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0" name="Google Shape;10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" name="Google Shape;11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1" name="Google Shape;1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3FADDCE-EF2C-EDD3-FBBF-DFB14AC8A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:notes">
            <a:extLst>
              <a:ext uri="{FF2B5EF4-FFF2-40B4-BE49-F238E27FC236}">
                <a16:creationId xmlns:a16="http://schemas.microsoft.com/office/drawing/2014/main" id="{44349721-7127-0965-6F58-16CBAF9A8B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4:notes">
            <a:extLst>
              <a:ext uri="{FF2B5EF4-FFF2-40B4-BE49-F238E27FC236}">
                <a16:creationId xmlns:a16="http://schemas.microsoft.com/office/drawing/2014/main" id="{D95C8B90-1A1C-9932-66B7-105EB62210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88498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3C2E0587-4DE0-4979-83B9-FE8051710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:notes">
            <a:extLst>
              <a:ext uri="{FF2B5EF4-FFF2-40B4-BE49-F238E27FC236}">
                <a16:creationId xmlns:a16="http://schemas.microsoft.com/office/drawing/2014/main" id="{372D6F44-24A5-714C-5009-9F8742FAE9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4:notes">
            <a:extLst>
              <a:ext uri="{FF2B5EF4-FFF2-40B4-BE49-F238E27FC236}">
                <a16:creationId xmlns:a16="http://schemas.microsoft.com/office/drawing/2014/main" id="{0953849D-8F06-9B50-FCD1-2133ADA33B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0738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7682AA72-3A93-FF2E-673A-4098291D7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>
            <a:extLst>
              <a:ext uri="{FF2B5EF4-FFF2-40B4-BE49-F238E27FC236}">
                <a16:creationId xmlns:a16="http://schemas.microsoft.com/office/drawing/2014/main" id="{FB0A60D9-0772-67FD-155E-A82B0486B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5:notes">
            <a:extLst>
              <a:ext uri="{FF2B5EF4-FFF2-40B4-BE49-F238E27FC236}">
                <a16:creationId xmlns:a16="http://schemas.microsoft.com/office/drawing/2014/main" id="{0B542A5C-35E3-715E-4511-DD397BD03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13663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1BF681F6-1A22-B470-FD5F-C45C50E2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:notes">
            <a:extLst>
              <a:ext uri="{FF2B5EF4-FFF2-40B4-BE49-F238E27FC236}">
                <a16:creationId xmlns:a16="http://schemas.microsoft.com/office/drawing/2014/main" id="{63E6D895-951C-92FD-FF1C-3E38EE1AB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4:notes">
            <a:extLst>
              <a:ext uri="{FF2B5EF4-FFF2-40B4-BE49-F238E27FC236}">
                <a16:creationId xmlns:a16="http://schemas.microsoft.com/office/drawing/2014/main" id="{7B80E206-A938-18C8-9DFF-DAF3A6BD45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96512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BB12C904-4733-2DEB-2C5A-0FF8258DF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>
            <a:extLst>
              <a:ext uri="{FF2B5EF4-FFF2-40B4-BE49-F238E27FC236}">
                <a16:creationId xmlns:a16="http://schemas.microsoft.com/office/drawing/2014/main" id="{3E34E716-7536-BFE9-1F29-ABC1BAD910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5:notes">
            <a:extLst>
              <a:ext uri="{FF2B5EF4-FFF2-40B4-BE49-F238E27FC236}">
                <a16:creationId xmlns:a16="http://schemas.microsoft.com/office/drawing/2014/main" id="{20F10AE1-A0F5-5838-F223-C122D65AD1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00143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2216C887-BC6B-BD16-9BF8-44A16A5A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:notes">
            <a:extLst>
              <a:ext uri="{FF2B5EF4-FFF2-40B4-BE49-F238E27FC236}">
                <a16:creationId xmlns:a16="http://schemas.microsoft.com/office/drawing/2014/main" id="{97292813-069A-4BAE-5DC4-776F190278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4:notes">
            <a:extLst>
              <a:ext uri="{FF2B5EF4-FFF2-40B4-BE49-F238E27FC236}">
                <a16:creationId xmlns:a16="http://schemas.microsoft.com/office/drawing/2014/main" id="{B2FA4DB2-FAB4-2629-5E18-3DDDE05933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771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02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175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048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921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body" idx="1"/>
          </p:nvPr>
        </p:nvSpPr>
        <p:spPr>
          <a:xfrm rot="5400000">
            <a:off x="3786847" y="-1355935"/>
            <a:ext cx="4618307" cy="1098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292A86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  <a:ln>
            <a:noFill/>
          </a:ln>
        </p:spPr>
      </p:pic>
      <p:pic>
        <p:nvPicPr>
          <p:cNvPr id="12" name="Google Shape;12;p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0283716" y="719713"/>
            <a:ext cx="1273846" cy="720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Times New Roman"/>
              <a:buNone/>
            </a:pPr>
            <a:r>
              <a:rPr lang="pt-BR" sz="5400"/>
              <a:t>Visão Geral (UML)</a:t>
            </a: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/>
              <a:t>Prof. Esp. Pedro Miho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O que é UML ?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5038432" cy="4710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pt-BR"/>
              <a:t>A UML (</a:t>
            </a:r>
            <a:r>
              <a:rPr lang="pt-BR" i="1"/>
              <a:t>Unified Modeling Language</a:t>
            </a:r>
            <a:r>
              <a:rPr lang="pt-BR"/>
              <a:t>) é uma </a:t>
            </a:r>
            <a:r>
              <a:rPr lang="pt-BR" b="1"/>
              <a:t>linguagem visual</a:t>
            </a:r>
            <a:r>
              <a:rPr lang="pt-BR"/>
              <a:t> utilizada para </a:t>
            </a:r>
            <a:r>
              <a:rPr lang="pt-BR" b="1"/>
              <a:t>modelar e documentar sistemas de software</a:t>
            </a:r>
            <a:r>
              <a:rPr lang="pt-BR"/>
              <a:t> por meio de diagramas.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br>
              <a:rPr lang="pt-BR"/>
            </a:br>
            <a:r>
              <a:rPr lang="pt-BR"/>
              <a:t>Ela auxilia na </a:t>
            </a:r>
            <a:r>
              <a:rPr lang="pt-BR" b="1"/>
              <a:t>análise e no projeto do sistema</a:t>
            </a:r>
            <a:r>
              <a:rPr lang="pt-BR"/>
              <a:t>, facilitando a comunicação entre as equipes e apoiando o desenvolvimento orientado a objetos.</a:t>
            </a:r>
            <a:endParaRPr/>
          </a:p>
        </p:txBody>
      </p:sp>
      <p:pic>
        <p:nvPicPr>
          <p:cNvPr id="85" name="Google Shape;8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85838" y="2394831"/>
            <a:ext cx="5592451" cy="36098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5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Diagrama UML</a:t>
            </a:r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11007306" cy="4620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/>
              <a:t>Os </a:t>
            </a:r>
            <a:r>
              <a:rPr lang="pt-BR" sz="1800" b="1"/>
              <a:t>diagramas</a:t>
            </a:r>
            <a:r>
              <a:rPr lang="pt-BR" sz="1800"/>
              <a:t> na UML são </a:t>
            </a:r>
            <a:r>
              <a:rPr lang="pt-BR" sz="1800" b="1"/>
              <a:t>representações visuais</a:t>
            </a:r>
            <a:r>
              <a:rPr lang="pt-BR" sz="1800"/>
              <a:t> usadas para </a:t>
            </a:r>
            <a:r>
              <a:rPr lang="pt-BR" sz="1800" b="1"/>
              <a:t>descrever, organizar e comunicar</a:t>
            </a:r>
            <a:r>
              <a:rPr lang="pt-BR" sz="1800"/>
              <a:t> diferentes aspectos de um sistema de software.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/>
              <a:t>Cada diagrama mostra o sistema sob uma </a:t>
            </a:r>
            <a:r>
              <a:rPr lang="pt-BR" sz="1800" b="1"/>
              <a:t>visão específica</a:t>
            </a:r>
            <a:r>
              <a:rPr lang="pt-BR" sz="1800"/>
              <a:t>, ajudando a entender como ele funciona, como está estruturado ou como seus componentes interagem.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Casos de Uso</a:t>
            </a:r>
            <a:r>
              <a:rPr lang="pt-BR" sz="1400"/>
              <a:t> – Funcionalidades do sistema do ponto de vista do usuário.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Sequência </a:t>
            </a:r>
            <a:r>
              <a:rPr lang="pt-BR" sz="1400"/>
              <a:t>– Ordem das interações entre objetos.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Classes </a:t>
            </a:r>
            <a:r>
              <a:rPr lang="pt-BR" sz="1400"/>
              <a:t>– Estrutura das classes, atributos, métodos e relacionamentos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Atividades </a:t>
            </a:r>
            <a:r>
              <a:rPr lang="pt-BR" sz="1400"/>
              <a:t>– Fluxo de processos e decisões.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Estados </a:t>
            </a:r>
            <a:r>
              <a:rPr lang="pt-BR" sz="1400"/>
              <a:t>– Estados e transições de um objeto.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 b="1"/>
              <a:t>Diagrama de Componentes</a:t>
            </a:r>
            <a:r>
              <a:rPr lang="pt-BR" sz="1400"/>
              <a:t> – Organização dos componentes do sistema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6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Problematização – Sistema de Pedidos</a:t>
            </a:r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body" idx="1"/>
          </p:nvPr>
        </p:nvSpPr>
        <p:spPr>
          <a:xfrm>
            <a:off x="592347" y="2737939"/>
            <a:ext cx="11007306" cy="227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/>
              <a:t>Uma lanchonete realiza o controle de pedidos de forma manual, utilizando papel e planilhas. Com o aumento da demanda, surgiram problemas como erros no cálculo dos pedidos, dificuldade no controle de status, falta de padronização dos produtos e limitações para o crescimento do negócio.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/>
              <a:t>Diante desse cenário, surge a necessidade de </a:t>
            </a:r>
            <a:r>
              <a:rPr lang="pt-BR" sz="1600" b="1"/>
              <a:t>planejar e desenvolver um sistema informatizado de pedidos</a:t>
            </a:r>
            <a:r>
              <a:rPr lang="pt-BR" sz="1600"/>
              <a:t>, iniciando com uma solução simples em Java e evoluindo para uma aplicação moderna baseada em </a:t>
            </a:r>
            <a:r>
              <a:rPr lang="pt-BR" sz="1600" b="1"/>
              <a:t>APIs REST com Spring Boot</a:t>
            </a:r>
            <a:r>
              <a:rPr lang="pt-BR" sz="1600"/>
              <a:t>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7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Desafio Proposto</a:t>
            </a:r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body" idx="1"/>
          </p:nvPr>
        </p:nvSpPr>
        <p:spPr>
          <a:xfrm>
            <a:off x="592347" y="2448179"/>
            <a:ext cx="11007306" cy="32211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/>
              <a:t>Os alunos deverão analisar o problema, identificar as necessidades do sistema e desenvolver uma solução computacional, passando por diferentes níveis de complexidade: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/>
              <a:t>Da Lógica Estruturada ao Paradigma Orientado a Objetos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/>
              <a:t>Da aplicação em Console à Arquitetura Web com Spring Boot</a:t>
            </a:r>
            <a:endParaRPr/>
          </a:p>
          <a:p>
            <a:pPr marL="971550" lvl="1" indent="-28575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pt-BR" sz="1400"/>
              <a:t>Modelagem com UML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pt-BR" sz="1600"/>
              <a:t>Antes de escrever código, será necessário modelar o sistema utilizando UML, garantindo organização, clareza e entendimento do domínio do problema.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Diagrama de Casos de Uso</a:t>
            </a:r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/>
              <a:t>O Diagrama de Casos de Uso representa as </a:t>
            </a:r>
            <a:r>
              <a:rPr lang="pt-BR" sz="1800" b="1"/>
              <a:t>funcionalidades de um sistema do ponto de vista do usuário</a:t>
            </a:r>
            <a:r>
              <a:rPr lang="pt-BR" sz="1800"/>
              <a:t>, mostrando </a:t>
            </a:r>
            <a:r>
              <a:rPr lang="pt-BR" sz="1800" b="1"/>
              <a:t>o que o sistema faz</a:t>
            </a:r>
            <a:r>
              <a:rPr lang="pt-BR" sz="1800"/>
              <a:t>, e não como ele é implementado.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br>
              <a:rPr lang="pt-BR" sz="1800"/>
            </a:br>
            <a:r>
              <a:rPr lang="pt-BR" sz="1800"/>
              <a:t>Ele apresenta, de forma clara e visual, </a:t>
            </a:r>
            <a:r>
              <a:rPr lang="pt-BR" sz="1800" b="1"/>
              <a:t>quem interage com o sistema e quais ações podem ser realizadas</a:t>
            </a:r>
            <a:r>
              <a:rPr lang="pt-BR" sz="1800"/>
              <a:t>, facilitando a compreensão do funcionamento geral do sistema.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pt-BR" sz="1800"/>
              <a:t>Esse diagrama é muito utilizado na </a:t>
            </a:r>
            <a:r>
              <a:rPr lang="pt-BR" sz="1800" b="1"/>
              <a:t>fase de análise de requisitos</a:t>
            </a:r>
            <a:r>
              <a:rPr lang="pt-BR" sz="1800"/>
              <a:t>, pois ajuda a entender as necessidades do usuário, definir o escopo do sistema e melhorar a comunicação entre clientes, analistas e desenvolvedores.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pSp>
        <p:nvGrpSpPr>
          <p:cNvPr id="115" name="Google Shape;115;p19"/>
          <p:cNvGrpSpPr/>
          <p:nvPr/>
        </p:nvGrpSpPr>
        <p:grpSpPr>
          <a:xfrm>
            <a:off x="384961" y="2268997"/>
            <a:ext cx="4462882" cy="3793463"/>
            <a:chOff x="1088746" y="2307092"/>
            <a:chExt cx="4462882" cy="3793463"/>
          </a:xfrm>
        </p:grpSpPr>
        <p:grpSp>
          <p:nvGrpSpPr>
            <p:cNvPr id="116" name="Google Shape;116;p19"/>
            <p:cNvGrpSpPr/>
            <p:nvPr/>
          </p:nvGrpSpPr>
          <p:grpSpPr>
            <a:xfrm>
              <a:off x="1088746" y="3209913"/>
              <a:ext cx="1618488" cy="1987820"/>
              <a:chOff x="781500" y="2715768"/>
              <a:chExt cx="1618488" cy="1987820"/>
            </a:xfrm>
          </p:grpSpPr>
          <p:pic>
            <p:nvPicPr>
              <p:cNvPr id="117" name="Google Shape;117;p19" descr="Homem com preenchimento sólido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81500" y="2715768"/>
                <a:ext cx="1618488" cy="161848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8" name="Google Shape;118;p19"/>
              <p:cNvSpPr txBox="1"/>
              <p:nvPr/>
            </p:nvSpPr>
            <p:spPr>
              <a:xfrm>
                <a:off x="781500" y="4334256"/>
                <a:ext cx="161848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lang="pt-BR" sz="18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Cliente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" name="Google Shape;119;p19"/>
            <p:cNvGrpSpPr/>
            <p:nvPr/>
          </p:nvGrpSpPr>
          <p:grpSpPr>
            <a:xfrm>
              <a:off x="3795980" y="2307092"/>
              <a:ext cx="1755648" cy="3793463"/>
              <a:chOff x="2810141" y="2307092"/>
              <a:chExt cx="1755648" cy="3793463"/>
            </a:xfrm>
          </p:grpSpPr>
          <p:sp>
            <p:nvSpPr>
              <p:cNvPr id="120" name="Google Shape;120;p19"/>
              <p:cNvSpPr/>
              <p:nvPr/>
            </p:nvSpPr>
            <p:spPr>
              <a:xfrm>
                <a:off x="2810141" y="2307092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Fazer Pedido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" name="Google Shape;121;p19"/>
              <p:cNvSpPr/>
              <p:nvPr/>
            </p:nvSpPr>
            <p:spPr>
              <a:xfrm>
                <a:off x="2810141" y="3686794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Verificar a situação do pedido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" name="Google Shape;122;p19"/>
              <p:cNvSpPr/>
              <p:nvPr/>
            </p:nvSpPr>
            <p:spPr>
              <a:xfrm>
                <a:off x="2810141" y="5066390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Retirar o pedido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123" name="Google Shape;123;p19"/>
            <p:cNvCxnSpPr>
              <a:stCxn id="120" idx="4"/>
              <a:endCxn id="121" idx="0"/>
            </p:cNvCxnSpPr>
            <p:nvPr/>
          </p:nvCxnSpPr>
          <p:spPr>
            <a:xfrm>
              <a:off x="4673804" y="3341257"/>
              <a:ext cx="0" cy="3456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24" name="Google Shape;124;p19"/>
            <p:cNvCxnSpPr>
              <a:stCxn id="121" idx="4"/>
              <a:endCxn id="122" idx="0"/>
            </p:cNvCxnSpPr>
            <p:nvPr/>
          </p:nvCxnSpPr>
          <p:spPr>
            <a:xfrm>
              <a:off x="4673804" y="4720959"/>
              <a:ext cx="0" cy="3453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25" name="Google Shape;125;p19"/>
            <p:cNvCxnSpPr>
              <a:endCxn id="120" idx="2"/>
            </p:cNvCxnSpPr>
            <p:nvPr/>
          </p:nvCxnSpPr>
          <p:spPr>
            <a:xfrm rot="10800000" flipH="1">
              <a:off x="2441780" y="2824175"/>
              <a:ext cx="1354200" cy="5172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26" name="Google Shape;126;p19"/>
            <p:cNvCxnSpPr>
              <a:endCxn id="121" idx="2"/>
            </p:cNvCxnSpPr>
            <p:nvPr/>
          </p:nvCxnSpPr>
          <p:spPr>
            <a:xfrm>
              <a:off x="2541980" y="4203877"/>
              <a:ext cx="12540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27" name="Google Shape;127;p19"/>
            <p:cNvCxnSpPr>
              <a:endCxn id="122" idx="2"/>
            </p:cNvCxnSpPr>
            <p:nvPr/>
          </p:nvCxnSpPr>
          <p:spPr>
            <a:xfrm>
              <a:off x="2541980" y="5013173"/>
              <a:ext cx="1254000" cy="5703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  <p:grpSp>
        <p:nvGrpSpPr>
          <p:cNvPr id="128" name="Google Shape;128;p19"/>
          <p:cNvGrpSpPr/>
          <p:nvPr/>
        </p:nvGrpSpPr>
        <p:grpSpPr>
          <a:xfrm>
            <a:off x="10074885" y="3171870"/>
            <a:ext cx="1618488" cy="1987820"/>
            <a:chOff x="781500" y="2715768"/>
            <a:chExt cx="1618488" cy="1987820"/>
          </a:xfrm>
        </p:grpSpPr>
        <p:pic>
          <p:nvPicPr>
            <p:cNvPr id="129" name="Google Shape;129;p19" descr="Homem com preenchimento sólido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81500" y="2715768"/>
              <a:ext cx="1618488" cy="16184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0" name="Google Shape;130;p19"/>
            <p:cNvSpPr txBox="1"/>
            <p:nvPr/>
          </p:nvSpPr>
          <p:spPr>
            <a:xfrm>
              <a:off x="781500" y="4334256"/>
              <a:ext cx="1618488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8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Atendente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1" name="Google Shape;131;p19"/>
          <p:cNvGrpSpPr/>
          <p:nvPr/>
        </p:nvGrpSpPr>
        <p:grpSpPr>
          <a:xfrm>
            <a:off x="6814413" y="2958900"/>
            <a:ext cx="3009648" cy="2413761"/>
            <a:chOff x="6940747" y="2829111"/>
            <a:chExt cx="3009648" cy="2413761"/>
          </a:xfrm>
        </p:grpSpPr>
        <p:grpSp>
          <p:nvGrpSpPr>
            <p:cNvPr id="132" name="Google Shape;132;p19"/>
            <p:cNvGrpSpPr/>
            <p:nvPr/>
          </p:nvGrpSpPr>
          <p:grpSpPr>
            <a:xfrm>
              <a:off x="6940747" y="2829111"/>
              <a:ext cx="1755648" cy="2413761"/>
              <a:chOff x="7383780" y="3686794"/>
              <a:chExt cx="1755648" cy="2413761"/>
            </a:xfrm>
          </p:grpSpPr>
          <p:sp>
            <p:nvSpPr>
              <p:cNvPr id="133" name="Google Shape;133;p19"/>
              <p:cNvSpPr/>
              <p:nvPr/>
            </p:nvSpPr>
            <p:spPr>
              <a:xfrm>
                <a:off x="7383780" y="3686794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Alterar o status do pedido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4" name="Google Shape;134;p19"/>
              <p:cNvSpPr/>
              <p:nvPr/>
            </p:nvSpPr>
            <p:spPr>
              <a:xfrm>
                <a:off x="7383780" y="5066390"/>
                <a:ext cx="1755648" cy="1034165"/>
              </a:xfrm>
              <a:prstGeom prst="ellipse">
                <a:avLst/>
              </a:prstGeom>
              <a:solidFill>
                <a:schemeClr val="lt1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pt-BR" sz="1600" b="0" i="0" u="none" strike="noStrike" cap="none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Finalizar o pedido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135" name="Google Shape;135;p19"/>
            <p:cNvCxnSpPr>
              <a:endCxn id="133" idx="6"/>
            </p:cNvCxnSpPr>
            <p:nvPr/>
          </p:nvCxnSpPr>
          <p:spPr>
            <a:xfrm rot="10800000">
              <a:off x="8696395" y="3346193"/>
              <a:ext cx="12540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136" name="Google Shape;136;p19"/>
            <p:cNvCxnSpPr>
              <a:endCxn id="134" idx="6"/>
            </p:cNvCxnSpPr>
            <p:nvPr/>
          </p:nvCxnSpPr>
          <p:spPr>
            <a:xfrm flipH="1">
              <a:off x="8696395" y="4682890"/>
              <a:ext cx="1254000" cy="42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  <p:sp>
        <p:nvSpPr>
          <p:cNvPr id="137" name="Google Shape;137;p19"/>
          <p:cNvSpPr txBox="1"/>
          <p:nvPr/>
        </p:nvSpPr>
        <p:spPr>
          <a:xfrm>
            <a:off x="4161624" y="3294242"/>
            <a:ext cx="78418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depende</a:t>
            </a:r>
            <a:endParaRPr/>
          </a:p>
        </p:txBody>
      </p:sp>
      <p:sp>
        <p:nvSpPr>
          <p:cNvPr id="138" name="Google Shape;138;p19"/>
          <p:cNvSpPr txBox="1"/>
          <p:nvPr/>
        </p:nvSpPr>
        <p:spPr>
          <a:xfrm>
            <a:off x="4161624" y="4701625"/>
            <a:ext cx="78418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depende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pSp>
        <p:nvGrpSpPr>
          <p:cNvPr id="144" name="Google Shape;144;p20"/>
          <p:cNvGrpSpPr/>
          <p:nvPr/>
        </p:nvGrpSpPr>
        <p:grpSpPr>
          <a:xfrm>
            <a:off x="1088746" y="3209913"/>
            <a:ext cx="1618488" cy="1987820"/>
            <a:chOff x="781500" y="2715768"/>
            <a:chExt cx="1618488" cy="1987820"/>
          </a:xfrm>
        </p:grpSpPr>
        <p:pic>
          <p:nvPicPr>
            <p:cNvPr id="145" name="Google Shape;145;p20" descr="Homem com preenchimento sólido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81500" y="2715768"/>
              <a:ext cx="1618488" cy="16184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6" name="Google Shape;146;p20"/>
            <p:cNvSpPr txBox="1"/>
            <p:nvPr/>
          </p:nvSpPr>
          <p:spPr>
            <a:xfrm>
              <a:off x="781500" y="4334256"/>
              <a:ext cx="1618488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8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Cliente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7" name="Google Shape;147;p20"/>
          <p:cNvSpPr/>
          <p:nvPr/>
        </p:nvSpPr>
        <p:spPr>
          <a:xfrm>
            <a:off x="3795980" y="2307092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Fazer Pedido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0"/>
          <p:cNvSpPr/>
          <p:nvPr/>
        </p:nvSpPr>
        <p:spPr>
          <a:xfrm>
            <a:off x="3795980" y="3686794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Verificar a situação do pedido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0"/>
          <p:cNvSpPr/>
          <p:nvPr/>
        </p:nvSpPr>
        <p:spPr>
          <a:xfrm>
            <a:off x="3795980" y="5066390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Retirar o pedido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0"/>
          <p:cNvSpPr/>
          <p:nvPr/>
        </p:nvSpPr>
        <p:spPr>
          <a:xfrm>
            <a:off x="6759246" y="1514449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Cartão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0"/>
          <p:cNvSpPr/>
          <p:nvPr/>
        </p:nvSpPr>
        <p:spPr>
          <a:xfrm>
            <a:off x="6759246" y="3014906"/>
            <a:ext cx="1755648" cy="1034165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Dinheiro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2" name="Google Shape;152;p20"/>
          <p:cNvCxnSpPr>
            <a:stCxn id="147" idx="4"/>
            <a:endCxn id="148" idx="0"/>
          </p:cNvCxnSpPr>
          <p:nvPr/>
        </p:nvCxnSpPr>
        <p:spPr>
          <a:xfrm>
            <a:off x="4673804" y="3341257"/>
            <a:ext cx="0" cy="3456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3" name="Google Shape;153;p20"/>
          <p:cNvCxnSpPr>
            <a:stCxn id="148" idx="4"/>
            <a:endCxn id="149" idx="0"/>
          </p:cNvCxnSpPr>
          <p:nvPr/>
        </p:nvCxnSpPr>
        <p:spPr>
          <a:xfrm>
            <a:off x="4673804" y="4720959"/>
            <a:ext cx="0" cy="3453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4" name="Google Shape;154;p20"/>
          <p:cNvCxnSpPr>
            <a:endCxn id="147" idx="2"/>
          </p:cNvCxnSpPr>
          <p:nvPr/>
        </p:nvCxnSpPr>
        <p:spPr>
          <a:xfrm rot="10800000" flipH="1">
            <a:off x="2441780" y="2824175"/>
            <a:ext cx="1354200" cy="5172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5" name="Google Shape;155;p20"/>
          <p:cNvCxnSpPr>
            <a:endCxn id="148" idx="2"/>
          </p:cNvCxnSpPr>
          <p:nvPr/>
        </p:nvCxnSpPr>
        <p:spPr>
          <a:xfrm>
            <a:off x="2541980" y="4203877"/>
            <a:ext cx="12540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6" name="Google Shape;156;p20"/>
          <p:cNvCxnSpPr>
            <a:endCxn id="149" idx="2"/>
          </p:cNvCxnSpPr>
          <p:nvPr/>
        </p:nvCxnSpPr>
        <p:spPr>
          <a:xfrm>
            <a:off x="2541980" y="5013173"/>
            <a:ext cx="1254000" cy="5703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7" name="Google Shape;157;p20"/>
          <p:cNvCxnSpPr>
            <a:stCxn id="147" idx="6"/>
            <a:endCxn id="150" idx="2"/>
          </p:cNvCxnSpPr>
          <p:nvPr/>
        </p:nvCxnSpPr>
        <p:spPr>
          <a:xfrm rot="10800000" flipH="1">
            <a:off x="5551628" y="2031575"/>
            <a:ext cx="1207500" cy="7926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8" name="Google Shape;158;p20"/>
          <p:cNvCxnSpPr>
            <a:stCxn id="147" idx="6"/>
            <a:endCxn id="151" idx="2"/>
          </p:cNvCxnSpPr>
          <p:nvPr/>
        </p:nvCxnSpPr>
        <p:spPr>
          <a:xfrm>
            <a:off x="5551628" y="2824175"/>
            <a:ext cx="1207500" cy="7077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59" name="Google Shape;159;p20"/>
          <p:cNvSpPr txBox="1"/>
          <p:nvPr/>
        </p:nvSpPr>
        <p:spPr>
          <a:xfrm>
            <a:off x="5265916" y="1894662"/>
            <a:ext cx="113845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&lt;&lt;extends&gt;&gt;</a:t>
            </a:r>
            <a:endParaRPr/>
          </a:p>
        </p:txBody>
      </p:sp>
      <p:sp>
        <p:nvSpPr>
          <p:cNvPr id="160" name="Google Shape;160;p20"/>
          <p:cNvSpPr txBox="1"/>
          <p:nvPr/>
        </p:nvSpPr>
        <p:spPr>
          <a:xfrm>
            <a:off x="5265916" y="3550750"/>
            <a:ext cx="113845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&lt;&lt;extends&gt;&gt;</a:t>
            </a:r>
            <a:endParaRPr/>
          </a:p>
        </p:txBody>
      </p:sp>
      <p:sp>
        <p:nvSpPr>
          <p:cNvPr id="161" name="Google Shape;161;p20"/>
          <p:cNvSpPr txBox="1"/>
          <p:nvPr/>
        </p:nvSpPr>
        <p:spPr>
          <a:xfrm>
            <a:off x="6660776" y="4720959"/>
            <a:ext cx="4284592" cy="13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&lt;&lt;extend&gt;&gt;</a:t>
            </a:r>
            <a:endParaRPr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Indica um comportamento </a:t>
            </a:r>
            <a:r>
              <a:rPr lang="pt-BR" sz="14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opcional</a:t>
            </a:r>
            <a:r>
              <a:rPr lang="pt-BR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que ocorre apenas sob determinada condição, sem impedir o funcionamento do caso de uso principal.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Diagrama de Classe</a:t>
            </a:r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592347" y="2437373"/>
            <a:ext cx="11007306" cy="3059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800"/>
              <a:t>O Diagrama de Classes é um diagrama da UML utilizado para representar a estrutura do sistema, mostrando as classes, seus atributos, métodos e os relacionamentos entre elas.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800"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800"/>
              <a:t>Ele é a base da Programação Orientada a Objetos, pois define como o sistema será organizado antes da implementação do código.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800"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800"/>
              <a:t>Mostra como o sistema é estruturado, e não o fluxo de execução.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aphicFrame>
        <p:nvGraphicFramePr>
          <p:cNvPr id="173" name="Google Shape;173;p22"/>
          <p:cNvGraphicFramePr/>
          <p:nvPr/>
        </p:nvGraphicFramePr>
        <p:xfrm>
          <a:off x="1063813" y="259453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Cliente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nome : String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verPedido()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74" name="Google Shape;174;p22"/>
          <p:cNvGraphicFramePr/>
          <p:nvPr/>
        </p:nvGraphicFramePr>
        <p:xfrm>
          <a:off x="4790141" y="259453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Pedido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lanche : Lanche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status : StatusPedido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cliente : Cliente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quantidade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alterarStatus()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cadastrarPedido()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valorTotal() : double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75" name="Google Shape;175;p22"/>
          <p:cNvGraphicFramePr/>
          <p:nvPr/>
        </p:nvGraphicFramePr>
        <p:xfrm>
          <a:off x="8516469" y="259453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Lanche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nome : String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preco : double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infoLanches()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6" name="Google Shape;176;p22"/>
          <p:cNvGraphicFramePr/>
          <p:nvPr/>
        </p:nvGraphicFramePr>
        <p:xfrm>
          <a:off x="1063813" y="480164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Atendente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nome : String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/>
              <a:t>Relações no Diagrama de Classes (UML)</a:t>
            </a:r>
            <a:endParaRPr/>
          </a:p>
        </p:txBody>
      </p:sp>
      <p:sp>
        <p:nvSpPr>
          <p:cNvPr id="182" name="Google Shape;182;p23"/>
          <p:cNvSpPr txBox="1">
            <a:spLocks noGrp="1"/>
          </p:cNvSpPr>
          <p:nvPr>
            <p:ph type="body" idx="1"/>
          </p:nvPr>
        </p:nvSpPr>
        <p:spPr>
          <a:xfrm>
            <a:off x="592347" y="1924050"/>
            <a:ext cx="11007306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800"/>
              <a:t>As relações no Diagrama de Classes mostram como as classes se conectam e interagem dentro do sistema, ajudando a entender sua estrutura e responsabilidades: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83" name="Google Shape;183;p23"/>
          <p:cNvSpPr txBox="1"/>
          <p:nvPr/>
        </p:nvSpPr>
        <p:spPr>
          <a:xfrm>
            <a:off x="592347" y="3153784"/>
            <a:ext cx="10333278" cy="786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Associação -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Relacionamento simples onde uma classe se relaciona com outra, mas ambas existem de forma independente.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Exemplo: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Cliente ─── Pedido</a:t>
            </a:r>
            <a:endParaRPr/>
          </a:p>
        </p:txBody>
      </p:sp>
      <p:grpSp>
        <p:nvGrpSpPr>
          <p:cNvPr id="184" name="Google Shape;184;p23"/>
          <p:cNvGrpSpPr/>
          <p:nvPr/>
        </p:nvGrpSpPr>
        <p:grpSpPr>
          <a:xfrm>
            <a:off x="592347" y="4227297"/>
            <a:ext cx="7592143" cy="786754"/>
            <a:chOff x="592347" y="3863329"/>
            <a:chExt cx="7592143" cy="786754"/>
          </a:xfrm>
        </p:grpSpPr>
        <p:sp>
          <p:nvSpPr>
            <p:cNvPr id="185" name="Google Shape;185;p23"/>
            <p:cNvSpPr txBox="1"/>
            <p:nvPr/>
          </p:nvSpPr>
          <p:spPr>
            <a:xfrm>
              <a:off x="592347" y="3863329"/>
              <a:ext cx="7592143" cy="7867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Agregação (    ) -  </a:t>
              </a:r>
              <a:r>
                <a:rPr lang="pt-BR" sz="16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Relacionamento todo–parte fraco, onde a parte pode existir sem o todo.</a:t>
              </a:r>
              <a:endParaRPr/>
            </a:p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Exemplo: </a:t>
              </a:r>
              <a:r>
                <a:rPr lang="pt-BR" sz="16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Time  ── Jogador</a:t>
              </a:r>
              <a:endParaRPr/>
            </a:p>
          </p:txBody>
        </p:sp>
        <p:sp>
          <p:nvSpPr>
            <p:cNvPr id="186" name="Google Shape;186;p23"/>
            <p:cNvSpPr/>
            <p:nvPr/>
          </p:nvSpPr>
          <p:spPr>
            <a:xfrm flipH="1">
              <a:off x="1732316" y="4036307"/>
              <a:ext cx="180000" cy="180000"/>
            </a:xfrm>
            <a:prstGeom prst="diamond">
              <a:avLst/>
            </a:prstGeom>
            <a:solidFill>
              <a:schemeClr val="lt1"/>
            </a:solidFill>
            <a:ln w="12700" cap="flat" cmpd="sng">
              <a:solidFill>
                <a:srgbClr val="0C0C0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23"/>
            <p:cNvSpPr/>
            <p:nvPr/>
          </p:nvSpPr>
          <p:spPr>
            <a:xfrm flipH="1">
              <a:off x="2063124" y="4391113"/>
              <a:ext cx="180000" cy="180000"/>
            </a:xfrm>
            <a:prstGeom prst="diamond">
              <a:avLst/>
            </a:prstGeom>
            <a:solidFill>
              <a:schemeClr val="lt1"/>
            </a:solidFill>
            <a:ln w="12700" cap="flat" cmpd="sng">
              <a:solidFill>
                <a:srgbClr val="0C0C0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8" name="Google Shape;188;p23"/>
          <p:cNvGrpSpPr/>
          <p:nvPr/>
        </p:nvGrpSpPr>
        <p:grpSpPr>
          <a:xfrm>
            <a:off x="592347" y="5300811"/>
            <a:ext cx="8124340" cy="786754"/>
            <a:chOff x="592347" y="3863329"/>
            <a:chExt cx="8124340" cy="786754"/>
          </a:xfrm>
        </p:grpSpPr>
        <p:sp>
          <p:nvSpPr>
            <p:cNvPr id="189" name="Google Shape;189;p23"/>
            <p:cNvSpPr txBox="1"/>
            <p:nvPr/>
          </p:nvSpPr>
          <p:spPr>
            <a:xfrm>
              <a:off x="592347" y="3863329"/>
              <a:ext cx="8124340" cy="7867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Composição (    ) -  </a:t>
              </a:r>
              <a:r>
                <a:rPr lang="pt-BR" sz="16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Relacionamento todo–parte forte, onde a parte depende totalmente do todo.</a:t>
              </a:r>
              <a:endParaRPr/>
            </a:p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Exemplo: </a:t>
              </a:r>
              <a:r>
                <a:rPr lang="pt-BR" sz="1600" b="0" i="0" u="none" strike="noStrike" cap="none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Pedido   ── ItemPedido</a:t>
              </a:r>
              <a:endPara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90" name="Google Shape;190;p23"/>
            <p:cNvSpPr/>
            <p:nvPr/>
          </p:nvSpPr>
          <p:spPr>
            <a:xfrm flipH="1">
              <a:off x="1873604" y="4036307"/>
              <a:ext cx="180000" cy="180000"/>
            </a:xfrm>
            <a:prstGeom prst="diamond">
              <a:avLst/>
            </a:prstGeom>
            <a:solidFill>
              <a:srgbClr val="0C0C0C"/>
            </a:solidFill>
            <a:ln w="12700" cap="flat" cmpd="sng">
              <a:solidFill>
                <a:srgbClr val="0C0C0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23"/>
            <p:cNvSpPr/>
            <p:nvPr/>
          </p:nvSpPr>
          <p:spPr>
            <a:xfrm flipH="1">
              <a:off x="2191712" y="4395622"/>
              <a:ext cx="180000" cy="180000"/>
            </a:xfrm>
            <a:prstGeom prst="diamond">
              <a:avLst/>
            </a:prstGeom>
            <a:solidFill>
              <a:srgbClr val="0C0C0C"/>
            </a:solidFill>
            <a:ln w="12700" cap="flat" cmpd="sng">
              <a:solidFill>
                <a:srgbClr val="0C0C0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/>
              <a:t>Relações no Diagrama de Classes (UML)</a:t>
            </a:r>
            <a:endParaRPr/>
          </a:p>
        </p:txBody>
      </p:sp>
      <p:sp>
        <p:nvSpPr>
          <p:cNvPr id="197" name="Google Shape;197;p24"/>
          <p:cNvSpPr txBox="1">
            <a:spLocks noGrp="1"/>
          </p:cNvSpPr>
          <p:nvPr>
            <p:ph type="body" idx="1"/>
          </p:nvPr>
        </p:nvSpPr>
        <p:spPr>
          <a:xfrm>
            <a:off x="592347" y="1924050"/>
            <a:ext cx="11007306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800"/>
              <a:t>As relações no Diagrama de Classes mostram como as classes se conectam e interagem dentro do sistema, ajudando a entender sua estrutura e responsabilidades:</a:t>
            </a:r>
            <a:endParaRPr/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98" name="Google Shape;198;p24"/>
          <p:cNvSpPr txBox="1"/>
          <p:nvPr/>
        </p:nvSpPr>
        <p:spPr>
          <a:xfrm>
            <a:off x="592347" y="3200612"/>
            <a:ext cx="11007306" cy="786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Generalização (Herança) -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Relacionamento onde uma classe herda atributos e métodos de outra.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Exemplo: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Produto ───► Camisa</a:t>
            </a:r>
            <a:endParaRPr/>
          </a:p>
        </p:txBody>
      </p:sp>
      <p:sp>
        <p:nvSpPr>
          <p:cNvPr id="199" name="Google Shape;199;p24"/>
          <p:cNvSpPr txBox="1"/>
          <p:nvPr/>
        </p:nvSpPr>
        <p:spPr>
          <a:xfrm>
            <a:off x="592347" y="4320953"/>
            <a:ext cx="11007306" cy="786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Realização (Interface) -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Indica que uma classe implementa uma interface e seus métodos.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Exemplo: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Calculável ─ ─ ─► Pedido</a:t>
            </a:r>
            <a:endParaRPr/>
          </a:p>
        </p:txBody>
      </p:sp>
      <p:sp>
        <p:nvSpPr>
          <p:cNvPr id="200" name="Google Shape;200;p24"/>
          <p:cNvSpPr txBox="1"/>
          <p:nvPr/>
        </p:nvSpPr>
        <p:spPr>
          <a:xfrm>
            <a:off x="592347" y="5441293"/>
            <a:ext cx="11007306" cy="786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Dependência -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Relacionamento temporário, onde uma classe usa outra apenas em um contexto específico.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Exemplo: </a:t>
            </a:r>
            <a:r>
              <a:rPr lang="pt-BR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Atendente ─ ─ ─ Pedido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5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 – Relações</a:t>
            </a:r>
            <a:endParaRPr/>
          </a:p>
        </p:txBody>
      </p:sp>
      <p:graphicFrame>
        <p:nvGraphicFramePr>
          <p:cNvPr id="206" name="Google Shape;206;p25"/>
          <p:cNvGraphicFramePr/>
          <p:nvPr/>
        </p:nvGraphicFramePr>
        <p:xfrm>
          <a:off x="1063813" y="21601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Cliente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nome : String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verPedido()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07" name="Google Shape;207;p25"/>
          <p:cNvGraphicFramePr/>
          <p:nvPr/>
        </p:nvGraphicFramePr>
        <p:xfrm>
          <a:off x="4757127" y="315341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Pedido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Itens : List&lt;ItemPedido&gt;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status : StatusPedido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cliente : Cliente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cadastrarPedido()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valorTotal() : double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08" name="Google Shape;208;p25"/>
          <p:cNvGraphicFramePr/>
          <p:nvPr/>
        </p:nvGraphicFramePr>
        <p:xfrm>
          <a:off x="8758516" y="480537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Lanche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nome : String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preco : double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infoLanches()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9" name="Google Shape;209;p25"/>
          <p:cNvGraphicFramePr/>
          <p:nvPr/>
        </p:nvGraphicFramePr>
        <p:xfrm>
          <a:off x="1063813" y="517621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Atendente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nome : String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alterarStatus() : void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0" name="Google Shape;210;p25"/>
          <p:cNvSpPr txBox="1"/>
          <p:nvPr/>
        </p:nvSpPr>
        <p:spPr>
          <a:xfrm>
            <a:off x="4433885" y="3750438"/>
            <a:ext cx="2696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5"/>
          <p:cNvSpPr txBox="1"/>
          <p:nvPr/>
        </p:nvSpPr>
        <p:spPr>
          <a:xfrm>
            <a:off x="1931193" y="3618925"/>
            <a:ext cx="2696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12" name="Google Shape;212;p25"/>
          <p:cNvGraphicFramePr/>
          <p:nvPr/>
        </p:nvGraphicFramePr>
        <p:xfrm>
          <a:off x="8758516" y="21601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{0AC87CF5-69C3-4DE4-9F21-104E045FF662}</a:tableStyleId>
              </a:tblPr>
              <a:tblGrid>
                <a:gridCol w="26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ItemPedido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id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lanche : Lanche</a:t>
                      </a:r>
                      <a:endParaRPr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 quantidade : int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14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calcularItem() : double</a:t>
                      </a:r>
                      <a:endParaRPr sz="14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213" name="Google Shape;213;p25"/>
          <p:cNvCxnSpPr/>
          <p:nvPr/>
        </p:nvCxnSpPr>
        <p:spPr>
          <a:xfrm>
            <a:off x="2369672" y="3577425"/>
            <a:ext cx="2373000" cy="456900"/>
          </a:xfrm>
          <a:prstGeom prst="bentConnector2">
            <a:avLst/>
          </a:prstGeom>
          <a:noFill/>
          <a:ln w="28575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4" name="Google Shape;214;p25"/>
          <p:cNvCxnSpPr>
            <a:stCxn id="215" idx="1"/>
          </p:cNvCxnSpPr>
          <p:nvPr/>
        </p:nvCxnSpPr>
        <p:spPr>
          <a:xfrm>
            <a:off x="7563271" y="3660438"/>
            <a:ext cx="1195200" cy="6900"/>
          </a:xfrm>
          <a:prstGeom prst="straightConnector1">
            <a:avLst/>
          </a:prstGeom>
          <a:noFill/>
          <a:ln w="28575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6" name="Google Shape;216;p25"/>
          <p:cNvSpPr txBox="1"/>
          <p:nvPr/>
        </p:nvSpPr>
        <p:spPr>
          <a:xfrm>
            <a:off x="7336759" y="3241098"/>
            <a:ext cx="2696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5"/>
          <p:cNvSpPr txBox="1"/>
          <p:nvPr/>
        </p:nvSpPr>
        <p:spPr>
          <a:xfrm>
            <a:off x="8450441" y="3241098"/>
            <a:ext cx="26962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8" name="Google Shape;218;p25"/>
          <p:cNvCxnSpPr/>
          <p:nvPr/>
        </p:nvCxnSpPr>
        <p:spPr>
          <a:xfrm>
            <a:off x="10064375" y="3948266"/>
            <a:ext cx="0" cy="857100"/>
          </a:xfrm>
          <a:prstGeom prst="straightConnector1">
            <a:avLst/>
          </a:prstGeom>
          <a:noFill/>
          <a:ln w="28575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5" name="Google Shape;215;p25"/>
          <p:cNvSpPr/>
          <p:nvPr/>
        </p:nvSpPr>
        <p:spPr>
          <a:xfrm flipH="1">
            <a:off x="7383271" y="3570438"/>
            <a:ext cx="180000" cy="180000"/>
          </a:xfrm>
          <a:prstGeom prst="diamond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9" name="Google Shape;219;p25"/>
          <p:cNvCxnSpPr/>
          <p:nvPr/>
        </p:nvCxnSpPr>
        <p:spPr>
          <a:xfrm flipH="1">
            <a:off x="2369728" y="4639973"/>
            <a:ext cx="2387400" cy="536100"/>
          </a:xfrm>
          <a:prstGeom prst="bentConnector2">
            <a:avLst/>
          </a:prstGeom>
          <a:noFill/>
          <a:ln w="28575" cap="flat" cmpd="sng">
            <a:solidFill>
              <a:srgbClr val="0C0C0C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Diagrama de Sequência</a:t>
            </a:r>
            <a:endParaRPr/>
          </a:p>
        </p:txBody>
      </p:sp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592347" y="1844674"/>
            <a:ext cx="11007306" cy="4447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/>
              <a:t>O Diagrama de Sequência representa a ordem das interações entre atores e objetos ao longo do tempo para realizar uma funcionalidade do sistema, mostrando quem envia mensagens para quem e em que sequência.</a:t>
            </a:r>
            <a:endParaRPr/>
          </a:p>
          <a:p>
            <a:pPr marL="1257300" lvl="1" indent="-3429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Arial"/>
              <a:buChar char="•"/>
            </a:pPr>
            <a:r>
              <a:rPr lang="pt-BR" sz="1800"/>
              <a:t>Mostrar o fluxo de execução de um caso de uso</a:t>
            </a:r>
            <a:endParaRPr/>
          </a:p>
          <a:p>
            <a:pPr marL="1257300" lvl="1" indent="-3429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Arial"/>
              <a:buChar char="•"/>
            </a:pPr>
            <a:r>
              <a:rPr lang="pt-BR" sz="1800"/>
              <a:t>Visualizar a ordem das mensagens trocadas entre objetos</a:t>
            </a:r>
            <a:endParaRPr/>
          </a:p>
          <a:p>
            <a:pPr marL="1257300" lvl="1" indent="-3429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Arial"/>
              <a:buChar char="•"/>
            </a:pPr>
            <a:r>
              <a:rPr lang="pt-BR" sz="1800"/>
              <a:t>Entender responsabilidades e dependências</a:t>
            </a:r>
            <a:endParaRPr/>
          </a:p>
          <a:p>
            <a:pPr marL="1257300" lvl="1" indent="-3429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Arial"/>
              <a:buChar char="•"/>
            </a:pPr>
            <a:r>
              <a:rPr lang="pt-BR" sz="1800"/>
              <a:t>Ajudar a transformar requisitos em código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/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pic>
        <p:nvPicPr>
          <p:cNvPr id="6" name="Gráfico 5" descr="Homem com preenchimento sólido">
            <a:extLst>
              <a:ext uri="{FF2B5EF4-FFF2-40B4-BE49-F238E27FC236}">
                <a16:creationId xmlns:a16="http://schemas.microsoft.com/office/drawing/2014/main" id="{4088A77E-B039-2519-D883-A51EE630ED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4800" y="2085975"/>
            <a:ext cx="914400" cy="914400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20760158-17FF-D976-0F55-A2F969A5F9EE}"/>
              </a:ext>
            </a:extLst>
          </p:cNvPr>
          <p:cNvSpPr/>
          <p:nvPr/>
        </p:nvSpPr>
        <p:spPr>
          <a:xfrm>
            <a:off x="4182479" y="2168843"/>
            <a:ext cx="1161288" cy="74866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da Loja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79D294E4-26BA-6B9C-2D31-4FB45D77ECF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763123" y="2917508"/>
            <a:ext cx="0" cy="3521392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15FA5A57-8896-C5EA-00F0-520A428ECDFE}"/>
              </a:ext>
            </a:extLst>
          </p:cNvPr>
          <p:cNvCxnSpPr>
            <a:cxnSpLocks/>
          </p:cNvCxnSpPr>
          <p:nvPr/>
        </p:nvCxnSpPr>
        <p:spPr>
          <a:xfrm>
            <a:off x="2392000" y="3306996"/>
            <a:ext cx="0" cy="3131904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5F6ED00B-B746-623B-A60F-7A93763D453F}"/>
              </a:ext>
            </a:extLst>
          </p:cNvPr>
          <p:cNvCxnSpPr>
            <a:cxnSpLocks/>
          </p:cNvCxnSpPr>
          <p:nvPr/>
        </p:nvCxnSpPr>
        <p:spPr>
          <a:xfrm>
            <a:off x="2392000" y="3679507"/>
            <a:ext cx="2371123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81C82D6-3B27-C306-AF7D-9F13C1EC7332}"/>
              </a:ext>
            </a:extLst>
          </p:cNvPr>
          <p:cNvSpPr txBox="1"/>
          <p:nvPr/>
        </p:nvSpPr>
        <p:spPr>
          <a:xfrm>
            <a:off x="2697452" y="3332251"/>
            <a:ext cx="176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Criar Pedido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CD5BA00-4FD7-DF0A-0480-E165BFB97DB8}"/>
              </a:ext>
            </a:extLst>
          </p:cNvPr>
          <p:cNvSpPr/>
          <p:nvPr/>
        </p:nvSpPr>
        <p:spPr>
          <a:xfrm>
            <a:off x="6677046" y="2168843"/>
            <a:ext cx="1554480" cy="74866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Tela Acompanhamento</a:t>
            </a:r>
          </a:p>
        </p:txBody>
      </p: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89762ECE-F2AB-F95E-B8DC-C8F5D1F94D6B}"/>
              </a:ext>
            </a:extLst>
          </p:cNvPr>
          <p:cNvCxnSpPr>
            <a:stCxn id="20" idx="2"/>
          </p:cNvCxnSpPr>
          <p:nvPr/>
        </p:nvCxnSpPr>
        <p:spPr>
          <a:xfrm>
            <a:off x="7454286" y="2917508"/>
            <a:ext cx="0" cy="3521392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8FD4AEBF-C2ED-F833-4B96-82BE5719FE37}"/>
              </a:ext>
            </a:extLst>
          </p:cNvPr>
          <p:cNvCxnSpPr>
            <a:cxnSpLocks/>
          </p:cNvCxnSpPr>
          <p:nvPr/>
        </p:nvCxnSpPr>
        <p:spPr>
          <a:xfrm>
            <a:off x="4763123" y="3679507"/>
            <a:ext cx="2691163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024FBF13-ACD2-0861-9EFC-287DF9D51751}"/>
              </a:ext>
            </a:extLst>
          </p:cNvPr>
          <p:cNvSpPr txBox="1"/>
          <p:nvPr/>
        </p:nvSpPr>
        <p:spPr>
          <a:xfrm>
            <a:off x="5228595" y="3332251"/>
            <a:ext cx="176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Consultar Status</a:t>
            </a:r>
          </a:p>
        </p:txBody>
      </p:sp>
      <p:pic>
        <p:nvPicPr>
          <p:cNvPr id="29" name="Gráfico 28" descr="Homem com preenchimento sólido">
            <a:extLst>
              <a:ext uri="{FF2B5EF4-FFF2-40B4-BE49-F238E27FC236}">
                <a16:creationId xmlns:a16="http://schemas.microsoft.com/office/drawing/2014/main" id="{38C8A752-9053-E30D-89E4-FF6F71A20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4806" y="2085975"/>
            <a:ext cx="914400" cy="914400"/>
          </a:xfrm>
          <a:prstGeom prst="rect">
            <a:avLst/>
          </a:prstGeom>
        </p:spPr>
      </p:pic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615A02FA-A1B1-8C94-60C3-1DBED38D9538}"/>
              </a:ext>
            </a:extLst>
          </p:cNvPr>
          <p:cNvCxnSpPr>
            <a:cxnSpLocks/>
          </p:cNvCxnSpPr>
          <p:nvPr/>
        </p:nvCxnSpPr>
        <p:spPr>
          <a:xfrm>
            <a:off x="10022006" y="3306996"/>
            <a:ext cx="0" cy="309047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E79831AA-AA71-CF51-3866-991F29871BB8}"/>
              </a:ext>
            </a:extLst>
          </p:cNvPr>
          <p:cNvCxnSpPr>
            <a:cxnSpLocks/>
          </p:cNvCxnSpPr>
          <p:nvPr/>
        </p:nvCxnSpPr>
        <p:spPr>
          <a:xfrm>
            <a:off x="7483132" y="3679507"/>
            <a:ext cx="253887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2365BEFF-CF9F-953E-362D-9585D219A799}"/>
              </a:ext>
            </a:extLst>
          </p:cNvPr>
          <p:cNvSpPr txBox="1"/>
          <p:nvPr/>
        </p:nvSpPr>
        <p:spPr>
          <a:xfrm>
            <a:off x="7872460" y="3753267"/>
            <a:ext cx="176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Atualizar Status</a:t>
            </a: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466572E8-3E15-36C3-4405-21715BD2DC6C}"/>
              </a:ext>
            </a:extLst>
          </p:cNvPr>
          <p:cNvCxnSpPr>
            <a:cxnSpLocks/>
          </p:cNvCxnSpPr>
          <p:nvPr/>
        </p:nvCxnSpPr>
        <p:spPr>
          <a:xfrm flipH="1">
            <a:off x="2392000" y="5211572"/>
            <a:ext cx="5062286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674740DC-6568-2630-F782-B59FEB595249}"/>
              </a:ext>
            </a:extLst>
          </p:cNvPr>
          <p:cNvSpPr txBox="1"/>
          <p:nvPr/>
        </p:nvSpPr>
        <p:spPr>
          <a:xfrm>
            <a:off x="2696504" y="4659901"/>
            <a:ext cx="176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Notificar Cliente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E4936E3F-8909-0810-6C50-92862B7159E0}"/>
              </a:ext>
            </a:extLst>
          </p:cNvPr>
          <p:cNvSpPr txBox="1"/>
          <p:nvPr/>
        </p:nvSpPr>
        <p:spPr>
          <a:xfrm>
            <a:off x="1915304" y="3031163"/>
            <a:ext cx="9533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Cliente</a:t>
            </a: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FBFE2108-2EF5-E80B-6D76-481DF928FDB3}"/>
              </a:ext>
            </a:extLst>
          </p:cNvPr>
          <p:cNvSpPr txBox="1"/>
          <p:nvPr/>
        </p:nvSpPr>
        <p:spPr>
          <a:xfrm>
            <a:off x="9545310" y="3022880"/>
            <a:ext cx="9533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Atendente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4A3D7ABA-0081-386F-A6C6-D34138E0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>
            <a:extLst>
              <a:ext uri="{FF2B5EF4-FFF2-40B4-BE49-F238E27FC236}">
                <a16:creationId xmlns:a16="http://schemas.microsoft.com/office/drawing/2014/main" id="{BEE1823D-D61B-11B9-2FFC-3C4C164DDF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 dirty="0"/>
              <a:t>Diagrama de Atividades</a:t>
            </a:r>
            <a:endParaRPr dirty="0"/>
          </a:p>
        </p:txBody>
      </p:sp>
      <p:sp>
        <p:nvSpPr>
          <p:cNvPr id="225" name="Google Shape;225;p26">
            <a:extLst>
              <a:ext uri="{FF2B5EF4-FFF2-40B4-BE49-F238E27FC236}">
                <a16:creationId xmlns:a16="http://schemas.microsoft.com/office/drawing/2014/main" id="{D2EF5154-77F0-040E-E5CC-89C3D6AB7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347" y="1844674"/>
            <a:ext cx="11007306" cy="4447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Representa o fluxo de execução de um processo dentro do sistema, descrevendo de forma clara e visual como as atividades são realizadas, desde o início até a sua conclusão.</a:t>
            </a: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lang="pt-BR" sz="18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Permite identificar:</a:t>
            </a:r>
          </a:p>
          <a:p>
            <a:pPr marL="800100" lvl="1" indent="-34290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A ordem das ações executadas</a:t>
            </a:r>
          </a:p>
          <a:p>
            <a:pPr marL="800100" lvl="1" indent="-34290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Pontos de decisão e regras de negócio</a:t>
            </a:r>
          </a:p>
          <a:p>
            <a:pPr marL="800100" lvl="1" indent="-34290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Fluxos alternativos, exceções e caminhos paralelos</a:t>
            </a:r>
          </a:p>
          <a:p>
            <a:pPr marL="800100" lvl="1" indent="-34290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Atividades que podem ocorrer simultaneamente</a:t>
            </a:r>
          </a:p>
          <a:p>
            <a:pPr marL="457200" lvl="1" indent="0">
              <a:spcBef>
                <a:spcPts val="0"/>
              </a:spcBef>
              <a:buSzPts val="2000"/>
              <a:buNone/>
            </a:pPr>
            <a:endParaRPr lang="pt-BR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É amplamente utilizado para modelar processos de negócio, apoiar a análise de requisitos e facilitar a compreensão do comportamento do sistema por diferentes públicos, como analistas, desenvolvedores e clientes.</a:t>
            </a: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2932896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CC337355-C96E-0047-0F0B-B576E475E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>
            <a:extLst>
              <a:ext uri="{FF2B5EF4-FFF2-40B4-BE49-F238E27FC236}">
                <a16:creationId xmlns:a16="http://schemas.microsoft.com/office/drawing/2014/main" id="{9DAAF41D-43EE-F124-3D52-BE07F8B33B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 dirty="0"/>
              <a:t>Diagrama de Atividade x Diagrama de Sequência</a:t>
            </a:r>
            <a:endParaRPr dirty="0"/>
          </a:p>
        </p:txBody>
      </p:sp>
      <p:sp>
        <p:nvSpPr>
          <p:cNvPr id="225" name="Google Shape;225;p26">
            <a:extLst>
              <a:ext uri="{FF2B5EF4-FFF2-40B4-BE49-F238E27FC236}">
                <a16:creationId xmlns:a16="http://schemas.microsoft.com/office/drawing/2014/main" id="{F4B94DA9-1DC3-4844-3081-805112F37A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93348" y="1844674"/>
            <a:ext cx="5055978" cy="4447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Diagrama de Atividades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Foca no fluxo de trabalho do processo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Mostra o que acontece e em qual ordem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Destaca ações, decisões e caminhos alternativos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Pode representar processos paralelos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Usado para modelar processos e regras de negócio</a:t>
            </a:r>
          </a:p>
          <a:p>
            <a:pPr marL="0" marR="0" lvl="0" indent="0" algn="just" rtl="0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600" dirty="0"/>
              <a:t>Responde à pergunta: “Qual é o passo a passo do processo?”</a:t>
            </a:r>
            <a:endParaRPr sz="1600" dirty="0"/>
          </a:p>
        </p:txBody>
      </p:sp>
      <p:sp>
        <p:nvSpPr>
          <p:cNvPr id="3" name="Google Shape;225;p26">
            <a:extLst>
              <a:ext uri="{FF2B5EF4-FFF2-40B4-BE49-F238E27FC236}">
                <a16:creationId xmlns:a16="http://schemas.microsoft.com/office/drawing/2014/main" id="{7C17E27A-9A70-29C6-D540-32CF13FDECF6}"/>
              </a:ext>
            </a:extLst>
          </p:cNvPr>
          <p:cNvSpPr txBox="1">
            <a:spLocks/>
          </p:cNvSpPr>
          <p:nvPr/>
        </p:nvSpPr>
        <p:spPr>
          <a:xfrm>
            <a:off x="6442674" y="1844673"/>
            <a:ext cx="5055978" cy="4447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02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175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048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92100" algn="just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200"/>
              </a:spcBef>
              <a:spcAft>
                <a:spcPts val="200"/>
              </a:spcAft>
            </a:pPr>
            <a:r>
              <a:rPr lang="pt-BR" sz="1800" dirty="0"/>
              <a:t>Diagrama de Sequência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Foca na interação entre atores e objetos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Mostra quem se comunica com quem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Destaca a ordem temporal das mensagens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Evidencia chamadas de métodos e respostas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SzPts val="2000"/>
              <a:buFont typeface="Arial" panose="020B0604020202020204" pitchFamily="34" charset="0"/>
              <a:buChar char="•"/>
            </a:pPr>
            <a:r>
              <a:rPr lang="pt-BR" dirty="0"/>
              <a:t>Usado para detalhar o comportamento do sistema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</a:pPr>
            <a:r>
              <a:rPr lang="pt-BR" sz="1600" dirty="0"/>
              <a:t>Responde à pergunta: “Qual é o passo a passo do processo?”</a:t>
            </a:r>
          </a:p>
        </p:txBody>
      </p:sp>
    </p:spTree>
    <p:extLst>
      <p:ext uri="{BB962C8B-B14F-4D97-AF65-F5344CB8AC3E}">
        <p14:creationId xmlns:p14="http://schemas.microsoft.com/office/powerpoint/2010/main" val="1152421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9CB922DA-869A-B38C-B0B8-8B456855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>
            <a:extLst>
              <a:ext uri="{FF2B5EF4-FFF2-40B4-BE49-F238E27FC236}">
                <a16:creationId xmlns:a16="http://schemas.microsoft.com/office/drawing/2014/main" id="{39DC8F12-1C3D-D8A4-4EF3-DCD52415B7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A9131087-D1A7-30BA-9230-2106D06303CE}"/>
              </a:ext>
            </a:extLst>
          </p:cNvPr>
          <p:cNvGrpSpPr/>
          <p:nvPr/>
        </p:nvGrpSpPr>
        <p:grpSpPr>
          <a:xfrm>
            <a:off x="749185" y="3567303"/>
            <a:ext cx="953391" cy="1206798"/>
            <a:chOff x="1915304" y="2085975"/>
            <a:chExt cx="953391" cy="1206798"/>
          </a:xfrm>
        </p:grpSpPr>
        <p:pic>
          <p:nvPicPr>
            <p:cNvPr id="6" name="Gráfico 5" descr="Homem com preenchimento sólido">
              <a:extLst>
                <a:ext uri="{FF2B5EF4-FFF2-40B4-BE49-F238E27FC236}">
                  <a16:creationId xmlns:a16="http://schemas.microsoft.com/office/drawing/2014/main" id="{C84B665E-45EA-224F-79E3-F9C65A4F6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34800" y="2085975"/>
              <a:ext cx="914400" cy="914400"/>
            </a:xfrm>
            <a:prstGeom prst="rect">
              <a:avLst/>
            </a:prstGeom>
          </p:spPr>
        </p:pic>
        <p:sp>
          <p:nvSpPr>
            <p:cNvPr id="53" name="CaixaDeTexto 52">
              <a:extLst>
                <a:ext uri="{FF2B5EF4-FFF2-40B4-BE49-F238E27FC236}">
                  <a16:creationId xmlns:a16="http://schemas.microsoft.com/office/drawing/2014/main" id="{CB94B178-4142-77F8-C4F7-4505C4D63CB4}"/>
                </a:ext>
              </a:extLst>
            </p:cNvPr>
            <p:cNvSpPr txBox="1"/>
            <p:nvPr/>
          </p:nvSpPr>
          <p:spPr>
            <a:xfrm>
              <a:off x="1915304" y="3031163"/>
              <a:ext cx="9533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Cliente</a:t>
              </a:r>
            </a:p>
          </p:txBody>
        </p:sp>
      </p:grp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E0173B9-B9C7-4752-0EB3-2B41FE89D287}"/>
              </a:ext>
            </a:extLst>
          </p:cNvPr>
          <p:cNvSpPr/>
          <p:nvPr/>
        </p:nvSpPr>
        <p:spPr>
          <a:xfrm>
            <a:off x="2340864" y="3878428"/>
            <a:ext cx="1389888" cy="6117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Entra no site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EE5FD4EB-E463-761B-49AA-6970CE4CB9B4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742224" y="4184285"/>
            <a:ext cx="598640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D647821-028C-69CC-CDD7-2DDE96739446}"/>
              </a:ext>
            </a:extLst>
          </p:cNvPr>
          <p:cNvSpPr/>
          <p:nvPr/>
        </p:nvSpPr>
        <p:spPr>
          <a:xfrm>
            <a:off x="5262151" y="2772443"/>
            <a:ext cx="1389888" cy="6117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 para a tela de compras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68191AF-07AE-635D-396C-19F8F70C85EF}"/>
              </a:ext>
            </a:extLst>
          </p:cNvPr>
          <p:cNvSpPr/>
          <p:nvPr/>
        </p:nvSpPr>
        <p:spPr>
          <a:xfrm>
            <a:off x="5262151" y="4984413"/>
            <a:ext cx="1389888" cy="6117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 para a tela de acompanhamento</a:t>
            </a:r>
          </a:p>
        </p:txBody>
      </p: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79E0F406-F8DF-9269-8DEF-6E3127CCCE45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 flipV="1">
            <a:off x="3730752" y="3078301"/>
            <a:ext cx="1531399" cy="11059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23A99DA4-68FF-538C-661D-B6AE51F47462}"/>
              </a:ext>
            </a:extLst>
          </p:cNvPr>
          <p:cNvCxnSpPr>
            <a:cxnSpLocks/>
            <a:stCxn id="3" idx="3"/>
            <a:endCxn id="17" idx="1"/>
          </p:cNvCxnSpPr>
          <p:nvPr/>
        </p:nvCxnSpPr>
        <p:spPr>
          <a:xfrm>
            <a:off x="3730752" y="4184286"/>
            <a:ext cx="1531399" cy="11059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8D585BB4-8F44-F57E-44A3-5290A13D554C}"/>
              </a:ext>
            </a:extLst>
          </p:cNvPr>
          <p:cNvSpPr txBox="1"/>
          <p:nvPr/>
        </p:nvSpPr>
        <p:spPr>
          <a:xfrm>
            <a:off x="8238744" y="3878428"/>
            <a:ext cx="2514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...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9905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8081E354-A623-303E-ED2A-098C08A2A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>
            <a:extLst>
              <a:ext uri="{FF2B5EF4-FFF2-40B4-BE49-F238E27FC236}">
                <a16:creationId xmlns:a16="http://schemas.microsoft.com/office/drawing/2014/main" id="{445B2DC1-A970-29A4-D05D-947E337C2C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 dirty="0"/>
              <a:t>Diagrama de Estados</a:t>
            </a:r>
            <a:endParaRPr dirty="0"/>
          </a:p>
        </p:txBody>
      </p:sp>
      <p:sp>
        <p:nvSpPr>
          <p:cNvPr id="225" name="Google Shape;225;p26">
            <a:extLst>
              <a:ext uri="{FF2B5EF4-FFF2-40B4-BE49-F238E27FC236}">
                <a16:creationId xmlns:a16="http://schemas.microsoft.com/office/drawing/2014/main" id="{AD89B60A-1B7E-2F20-826E-AD2712542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347" y="1844674"/>
            <a:ext cx="11007306" cy="4447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Representa os diferentes estados que um objeto pode assumir ao longo do tempo e as transições entre esses estados, de acordo com eventos ou ações realizadas no sistema.</a:t>
            </a: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Destaca: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Estados possíveis de um objeto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Eventos que provocam mudanças de estado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Regras que controlam as transições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Estado inicial e estado final</a:t>
            </a: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É muito utilizado para modelar comportamentos dependentes de estado, ajudando a garantir que o sistema siga corretamente as regras de negócio.</a:t>
            </a: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3973101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C8B2461-F63A-362D-C65A-22505EE25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>
            <a:extLst>
              <a:ext uri="{FF2B5EF4-FFF2-40B4-BE49-F238E27FC236}">
                <a16:creationId xmlns:a16="http://schemas.microsoft.com/office/drawing/2014/main" id="{03C68891-6E70-D3AE-9BC3-F5D739D780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/>
              <a:t>Exemplo Prático</a:t>
            </a:r>
            <a:endParaRPr/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21CA9D5D-C7B3-3E55-2EFC-354EB5483EBD}"/>
              </a:ext>
            </a:extLst>
          </p:cNvPr>
          <p:cNvGrpSpPr/>
          <p:nvPr/>
        </p:nvGrpSpPr>
        <p:grpSpPr>
          <a:xfrm>
            <a:off x="1909652" y="2548442"/>
            <a:ext cx="953391" cy="1206798"/>
            <a:chOff x="1915304" y="2085975"/>
            <a:chExt cx="953391" cy="1206798"/>
          </a:xfrm>
        </p:grpSpPr>
        <p:pic>
          <p:nvPicPr>
            <p:cNvPr id="6" name="Gráfico 5" descr="Homem com preenchimento sólido">
              <a:extLst>
                <a:ext uri="{FF2B5EF4-FFF2-40B4-BE49-F238E27FC236}">
                  <a16:creationId xmlns:a16="http://schemas.microsoft.com/office/drawing/2014/main" id="{FACF810B-7529-220F-C724-24F131923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34800" y="2085975"/>
              <a:ext cx="914400" cy="914400"/>
            </a:xfrm>
            <a:prstGeom prst="rect">
              <a:avLst/>
            </a:prstGeom>
          </p:spPr>
        </p:pic>
        <p:sp>
          <p:nvSpPr>
            <p:cNvPr id="53" name="CaixaDeTexto 52">
              <a:extLst>
                <a:ext uri="{FF2B5EF4-FFF2-40B4-BE49-F238E27FC236}">
                  <a16:creationId xmlns:a16="http://schemas.microsoft.com/office/drawing/2014/main" id="{02E48DFA-7273-4A52-CE03-1833D7328B00}"/>
                </a:ext>
              </a:extLst>
            </p:cNvPr>
            <p:cNvSpPr txBox="1"/>
            <p:nvPr/>
          </p:nvSpPr>
          <p:spPr>
            <a:xfrm>
              <a:off x="1915304" y="3031163"/>
              <a:ext cx="9533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Cliente</a:t>
              </a:r>
            </a:p>
          </p:txBody>
        </p:sp>
      </p:grp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F5D5489-1D3E-6DA5-08E1-9A286444EF84}"/>
              </a:ext>
            </a:extLst>
          </p:cNvPr>
          <p:cNvSpPr/>
          <p:nvPr/>
        </p:nvSpPr>
        <p:spPr>
          <a:xfrm>
            <a:off x="4772695" y="2791841"/>
            <a:ext cx="1800000" cy="720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Pedido aguardando pagamento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8DAB536F-4486-7930-6E85-7CFE6EE4D712}"/>
              </a:ext>
            </a:extLst>
          </p:cNvPr>
          <p:cNvCxnSpPr>
            <a:cxnSpLocks/>
          </p:cNvCxnSpPr>
          <p:nvPr/>
        </p:nvCxnSpPr>
        <p:spPr>
          <a:xfrm>
            <a:off x="2966009" y="3144025"/>
            <a:ext cx="1806686" cy="78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5CFAAD7-FD6A-608B-C1C0-F5E2847CAC80}"/>
              </a:ext>
            </a:extLst>
          </p:cNvPr>
          <p:cNvSpPr/>
          <p:nvPr/>
        </p:nvSpPr>
        <p:spPr>
          <a:xfrm>
            <a:off x="8482347" y="2791841"/>
            <a:ext cx="1800000" cy="720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Pedido Cancelado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52BE4232-90F2-2A3C-7169-766DBB15CC2B}"/>
              </a:ext>
            </a:extLst>
          </p:cNvPr>
          <p:cNvCxnSpPr>
            <a:cxnSpLocks/>
          </p:cNvCxnSpPr>
          <p:nvPr/>
        </p:nvCxnSpPr>
        <p:spPr>
          <a:xfrm>
            <a:off x="6572695" y="3151841"/>
            <a:ext cx="19096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AC7FEB3-A46A-A707-2FA3-0B1AC8A8218B}"/>
              </a:ext>
            </a:extLst>
          </p:cNvPr>
          <p:cNvSpPr txBox="1"/>
          <p:nvPr/>
        </p:nvSpPr>
        <p:spPr>
          <a:xfrm>
            <a:off x="3392656" y="2675952"/>
            <a:ext cx="9533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Pedido Efetuada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6D89B9B-E6BA-5757-B814-295EF08D61B0}"/>
              </a:ext>
            </a:extLst>
          </p:cNvPr>
          <p:cNvSpPr txBox="1"/>
          <p:nvPr/>
        </p:nvSpPr>
        <p:spPr>
          <a:xfrm>
            <a:off x="7050825" y="2670345"/>
            <a:ext cx="9533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Pagamento Falhou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7843CE2-80E0-E0B8-761B-DF21C5529975}"/>
              </a:ext>
            </a:extLst>
          </p:cNvPr>
          <p:cNvSpPr/>
          <p:nvPr/>
        </p:nvSpPr>
        <p:spPr>
          <a:xfrm>
            <a:off x="4772695" y="4765537"/>
            <a:ext cx="1800000" cy="720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Pedido em Produção</a:t>
            </a:r>
          </a:p>
        </p:txBody>
      </p: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406AD940-2E9D-2B97-945C-50479C73E5E1}"/>
              </a:ext>
            </a:extLst>
          </p:cNvPr>
          <p:cNvCxnSpPr>
            <a:cxnSpLocks/>
            <a:stCxn id="3" idx="2"/>
            <a:endCxn id="20" idx="0"/>
          </p:cNvCxnSpPr>
          <p:nvPr/>
        </p:nvCxnSpPr>
        <p:spPr>
          <a:xfrm>
            <a:off x="5672695" y="3511841"/>
            <a:ext cx="0" cy="12536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7B91EFCC-45C3-02D6-9072-76C3EFF2946B}"/>
              </a:ext>
            </a:extLst>
          </p:cNvPr>
          <p:cNvSpPr txBox="1"/>
          <p:nvPr/>
        </p:nvSpPr>
        <p:spPr>
          <a:xfrm>
            <a:off x="4719303" y="3923245"/>
            <a:ext cx="9533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Pagamento c/ Sucesso</a:t>
            </a:r>
          </a:p>
        </p:txBody>
      </p: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7213FA86-38B9-35EF-609B-F0A9C2C97A7D}"/>
              </a:ext>
            </a:extLst>
          </p:cNvPr>
          <p:cNvGrpSpPr/>
          <p:nvPr/>
        </p:nvGrpSpPr>
        <p:grpSpPr>
          <a:xfrm>
            <a:off x="9112347" y="4765537"/>
            <a:ext cx="540000" cy="720000"/>
            <a:chOff x="8081616" y="4417570"/>
            <a:chExt cx="720000" cy="1440000"/>
          </a:xfrm>
        </p:grpSpPr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BA88B454-AB4A-29B5-127B-A5622561CFFC}"/>
                </a:ext>
              </a:extLst>
            </p:cNvPr>
            <p:cNvSpPr/>
            <p:nvPr/>
          </p:nvSpPr>
          <p:spPr>
            <a:xfrm>
              <a:off x="8261616" y="4777570"/>
              <a:ext cx="36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C8FAC766-0483-91FD-EB4E-8C550482310C}"/>
                </a:ext>
              </a:extLst>
            </p:cNvPr>
            <p:cNvSpPr/>
            <p:nvPr/>
          </p:nvSpPr>
          <p:spPr>
            <a:xfrm>
              <a:off x="8081616" y="4417570"/>
              <a:ext cx="72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78D4FE89-0403-36F3-DD42-F36B3A6EBFC9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6566239" y="5125537"/>
            <a:ext cx="2546108" cy="114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DE2AB95B-A432-E4D8-78AF-1CFE4D6A01BE}"/>
              </a:ext>
            </a:extLst>
          </p:cNvPr>
          <p:cNvCxnSpPr>
            <a:cxnSpLocks/>
            <a:stCxn id="5" idx="2"/>
            <a:endCxn id="30" idx="0"/>
          </p:cNvCxnSpPr>
          <p:nvPr/>
        </p:nvCxnSpPr>
        <p:spPr>
          <a:xfrm>
            <a:off x="9382347" y="3511841"/>
            <a:ext cx="0" cy="12536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0237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EEFF722F-5FF1-C0E6-37F2-2F96C9C2F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>
            <a:extLst>
              <a:ext uri="{FF2B5EF4-FFF2-40B4-BE49-F238E27FC236}">
                <a16:creationId xmlns:a16="http://schemas.microsoft.com/office/drawing/2014/main" id="{6C64F9A9-8C15-E64F-7D17-317F5A374F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pt-BR" dirty="0"/>
              <a:t>Diagrama de Estados</a:t>
            </a:r>
            <a:endParaRPr dirty="0"/>
          </a:p>
        </p:txBody>
      </p:sp>
      <p:sp>
        <p:nvSpPr>
          <p:cNvPr id="225" name="Google Shape;225;p26">
            <a:extLst>
              <a:ext uri="{FF2B5EF4-FFF2-40B4-BE49-F238E27FC236}">
                <a16:creationId xmlns:a16="http://schemas.microsoft.com/office/drawing/2014/main" id="{4BBF2AE9-C156-1D2B-B9FC-8581F92386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347" y="1844674"/>
            <a:ext cx="11007306" cy="4447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/>
            <a:r>
              <a:rPr lang="pt-BR" sz="1800" dirty="0"/>
              <a:t>Representa a </a:t>
            </a:r>
            <a:r>
              <a:rPr lang="pt-BR" sz="1800" b="1" dirty="0"/>
              <a:t>estrutura física e lógica do sistema</a:t>
            </a:r>
            <a:r>
              <a:rPr lang="pt-BR" sz="1800" dirty="0"/>
              <a:t>, mostrando como ele é dividido em </a:t>
            </a:r>
            <a:r>
              <a:rPr lang="pt-BR" sz="1800" b="1" dirty="0"/>
              <a:t>componentes</a:t>
            </a:r>
            <a:r>
              <a:rPr lang="pt-BR" sz="1800" dirty="0"/>
              <a:t> e como esses componentes </a:t>
            </a:r>
            <a:r>
              <a:rPr lang="pt-BR" sz="1800" b="1" dirty="0"/>
              <a:t>se relacionam e se comunicam</a:t>
            </a:r>
            <a:r>
              <a:rPr lang="pt-BR" sz="1800" dirty="0"/>
              <a:t> entre si.</a:t>
            </a:r>
          </a:p>
          <a:p>
            <a:pPr marL="0" lvl="0" indent="0"/>
            <a:r>
              <a:rPr lang="pt-BR" sz="1800" dirty="0"/>
              <a:t>Destaca: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Componentes do sistema (módulos, serviços, APIs)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Interfaces fornecidas e requeridas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Dependências entre componentes</a:t>
            </a:r>
          </a:p>
          <a:p>
            <a:pPr marL="742950" lvl="1" indent="-285750">
              <a:spcBef>
                <a:spcPts val="0"/>
              </a:spcBef>
              <a:buSzPts val="2000"/>
              <a:buFont typeface="Arial" panose="020B0604020202020204" pitchFamily="34" charset="0"/>
              <a:buChar char="•"/>
            </a:pPr>
            <a:r>
              <a:rPr lang="pt-BR" sz="1400" dirty="0"/>
              <a:t>Organização da aplicação em camadas</a:t>
            </a: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1800" dirty="0"/>
              <a:t>É utilizado para visualizar a arquitetura do sistema, facilitando o entendimento da separação de responsabilidades, manutenção, evolução e integração com outros sistemas.</a:t>
            </a:r>
          </a:p>
        </p:txBody>
      </p:sp>
    </p:spTree>
    <p:extLst>
      <p:ext uri="{BB962C8B-B14F-4D97-AF65-F5344CB8AC3E}">
        <p14:creationId xmlns:p14="http://schemas.microsoft.com/office/powerpoint/2010/main" val="3643787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1662-4350-462C-118C-324B594E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Prático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422B2AA-4501-6ED0-47F1-C459FD17E360}"/>
              </a:ext>
            </a:extLst>
          </p:cNvPr>
          <p:cNvSpPr/>
          <p:nvPr/>
        </p:nvSpPr>
        <p:spPr>
          <a:xfrm>
            <a:off x="2882593" y="2534666"/>
            <a:ext cx="2160000" cy="1080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8CE0773-BA74-BCE7-C155-6B980523095B}"/>
              </a:ext>
            </a:extLst>
          </p:cNvPr>
          <p:cNvSpPr/>
          <p:nvPr/>
        </p:nvSpPr>
        <p:spPr>
          <a:xfrm>
            <a:off x="7149408" y="2534666"/>
            <a:ext cx="2160000" cy="1080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 Spring Boot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AAADB59C-2E46-6CF8-ED36-F2DD99F71136}"/>
              </a:ext>
            </a:extLst>
          </p:cNvPr>
          <p:cNvCxnSpPr>
            <a:cxnSpLocks/>
          </p:cNvCxnSpPr>
          <p:nvPr/>
        </p:nvCxnSpPr>
        <p:spPr>
          <a:xfrm>
            <a:off x="5042593" y="3074666"/>
            <a:ext cx="21068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962A4C2E-92E0-6F0C-B742-21B242CE3D43}"/>
              </a:ext>
            </a:extLst>
          </p:cNvPr>
          <p:cNvSpPr/>
          <p:nvPr/>
        </p:nvSpPr>
        <p:spPr>
          <a:xfrm>
            <a:off x="7149408" y="5018830"/>
            <a:ext cx="2160000" cy="1080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Banco de Dados</a:t>
            </a: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8054B87D-C7DC-1366-134E-8074F90ABAAE}"/>
              </a:ext>
            </a:extLst>
          </p:cNvPr>
          <p:cNvCxnSpPr>
            <a:cxnSpLocks/>
          </p:cNvCxnSpPr>
          <p:nvPr/>
        </p:nvCxnSpPr>
        <p:spPr>
          <a:xfrm>
            <a:off x="8229408" y="3614666"/>
            <a:ext cx="0" cy="14041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1ED385D-4806-5D1E-5BC6-C1557DD2870D}"/>
              </a:ext>
            </a:extLst>
          </p:cNvPr>
          <p:cNvSpPr txBox="1"/>
          <p:nvPr/>
        </p:nvSpPr>
        <p:spPr>
          <a:xfrm>
            <a:off x="5519738" y="2657475"/>
            <a:ext cx="1152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0A47FAD-0485-BD30-DD9D-B9CAEDFA7CE0}"/>
              </a:ext>
            </a:extLst>
          </p:cNvPr>
          <p:cNvSpPr txBox="1"/>
          <p:nvPr/>
        </p:nvSpPr>
        <p:spPr>
          <a:xfrm>
            <a:off x="6911283" y="4132082"/>
            <a:ext cx="1152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16674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1480</Words>
  <Application>Microsoft Office PowerPoint</Application>
  <PresentationFormat>Widescreen</PresentationFormat>
  <Paragraphs>199</Paragraphs>
  <Slides>22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Tema do Office</vt:lpstr>
      <vt:lpstr>Visão Geral (UML)</vt:lpstr>
      <vt:lpstr>O que é UML ?</vt:lpstr>
      <vt:lpstr>Diagrama UML</vt:lpstr>
      <vt:lpstr>Problematização – Sistema de Pedidos</vt:lpstr>
      <vt:lpstr>Desafio Proposto</vt:lpstr>
      <vt:lpstr>Diagrama de Casos de Uso</vt:lpstr>
      <vt:lpstr>Exemplo Prático</vt:lpstr>
      <vt:lpstr>Exemplo Prático</vt:lpstr>
      <vt:lpstr>Diagrama de Classe</vt:lpstr>
      <vt:lpstr>Exemplo Prático</vt:lpstr>
      <vt:lpstr>Relações no Diagrama de Classes (UML)</vt:lpstr>
      <vt:lpstr>Relações no Diagrama de Classes (UML)</vt:lpstr>
      <vt:lpstr>Exemplo Prático – Relações</vt:lpstr>
      <vt:lpstr>Diagrama de Sequência</vt:lpstr>
      <vt:lpstr>Exemplo Prático</vt:lpstr>
      <vt:lpstr>Diagrama de Atividades</vt:lpstr>
      <vt:lpstr>Diagrama de Atividade x Diagrama de Sequência</vt:lpstr>
      <vt:lpstr>Exemplo Prático</vt:lpstr>
      <vt:lpstr>Diagrama de Estados</vt:lpstr>
      <vt:lpstr>Exemplo Prático</vt:lpstr>
      <vt:lpstr>Diagrama de Estados</vt:lpstr>
      <vt:lpstr>Exemplo Prático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Pedro Miho</cp:lastModifiedBy>
  <cp:revision>14</cp:revision>
  <dcterms:modified xsi:type="dcterms:W3CDTF">2026-02-03T13:27:48Z</dcterms:modified>
</cp:coreProperties>
</file>