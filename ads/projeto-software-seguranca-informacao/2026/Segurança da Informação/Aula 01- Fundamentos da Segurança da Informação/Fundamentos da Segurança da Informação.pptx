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14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36"/>
  </p:notesMasterIdLst>
  <p:sldIdLst>
    <p:sldId id="256" r:id="rId2"/>
    <p:sldId id="288" r:id="rId3"/>
    <p:sldId id="287" r:id="rId4"/>
    <p:sldId id="276" r:id="rId5"/>
    <p:sldId id="277" r:id="rId6"/>
    <p:sldId id="278" r:id="rId7"/>
    <p:sldId id="279" r:id="rId8"/>
    <p:sldId id="280" r:id="rId9"/>
    <p:sldId id="281" r:id="rId10"/>
    <p:sldId id="282" r:id="rId11"/>
    <p:sldId id="283" r:id="rId12"/>
    <p:sldId id="284" r:id="rId13"/>
    <p:sldId id="285" r:id="rId14"/>
    <p:sldId id="259" r:id="rId15"/>
    <p:sldId id="286" r:id="rId16"/>
    <p:sldId id="260" r:id="rId17"/>
    <p:sldId id="261" r:id="rId18"/>
    <p:sldId id="262" r:id="rId19"/>
    <p:sldId id="263" r:id="rId20"/>
    <p:sldId id="264" r:id="rId21"/>
    <p:sldId id="271" r:id="rId22"/>
    <p:sldId id="265" r:id="rId23"/>
    <p:sldId id="266" r:id="rId24"/>
    <p:sldId id="267" r:id="rId25"/>
    <p:sldId id="268" r:id="rId26"/>
    <p:sldId id="269" r:id="rId27"/>
    <p:sldId id="270" r:id="rId28"/>
    <p:sldId id="272" r:id="rId29"/>
    <p:sldId id="273" r:id="rId30"/>
    <p:sldId id="274" r:id="rId31"/>
    <p:sldId id="275" r:id="rId32"/>
    <p:sldId id="289" r:id="rId33"/>
    <p:sldId id="290" r:id="rId34"/>
    <p:sldId id="291" r:id="rId3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307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customXml" Target="../customXml/item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customXml" Target="../customXml/item3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5" name="Google Shape;7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fld>
            <a:endParaRPr lang="pt-BR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953969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9" name="Google Shape;9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1" name="Google Shape;11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9" name="Google Shape;13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" name="Google Shape;242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Título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1524000" y="1652931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Times New Roman"/>
              <a:buNone/>
              <a:defRPr sz="6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1524000" y="4260550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 type="obj">
  <p:cSld name="OBJECT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>
            <a:spLocks noGrp="1"/>
          </p:cNvSpPr>
          <p:nvPr>
            <p:ph type="title"/>
          </p:nvPr>
        </p:nvSpPr>
        <p:spPr>
          <a:xfrm>
            <a:off x="749185" y="854420"/>
            <a:ext cx="9409981" cy="4485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body" idx="1"/>
          </p:nvPr>
        </p:nvSpPr>
        <p:spPr>
          <a:xfrm>
            <a:off x="592347" y="1844675"/>
            <a:ext cx="11007306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30200" algn="just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17500" algn="just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04800" algn="just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292100" algn="just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beçalho da Seção" type="secHead">
  <p:cSld name="SECTION_HEAD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uas Partes de Conteúdo" type="twoObj">
  <p:cSld name="TWO_OBJECT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ção" type="twoTxTwoObj">
  <p:cSld name="TWO_OBJECTS_WITH_TEX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mente Título" type="titleOnly">
  <p:cSld name="TITLE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m Branco" type="blank">
  <p:cSld name="BLANK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9" name="Google Shape;49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údo com Legenda" type="objTx">
  <p:cSld name="OBJECT_WITH_CAPTION_TEX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4" name="Google Shape;54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" name="Google Shape;55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m com Legenda" type="picTx">
  <p:cSld name="PICTURE_WITH_CAPTION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9" name="Google Shape;59;p1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0" name="Google Shape;60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1" name="Google Shape;61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2" name="Google Shape;62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3" name="Google Shape;63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Texto Vertical" type="vertTx">
  <p:cSld name="VERTICAL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1"/>
          <p:cNvSpPr txBox="1">
            <a:spLocks noGrp="1"/>
          </p:cNvSpPr>
          <p:nvPr>
            <p:ph type="title"/>
          </p:nvPr>
        </p:nvSpPr>
        <p:spPr>
          <a:xfrm>
            <a:off x="838200" y="828134"/>
            <a:ext cx="9392728" cy="4917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6" name="Google Shape;66;p11"/>
          <p:cNvSpPr txBox="1">
            <a:spLocks noGrp="1"/>
          </p:cNvSpPr>
          <p:nvPr>
            <p:ph type="body" idx="1"/>
          </p:nvPr>
        </p:nvSpPr>
        <p:spPr>
          <a:xfrm rot="5400000">
            <a:off x="3786847" y="-1355935"/>
            <a:ext cx="4618307" cy="10981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o e Título Vertical" type="vertTitleAndTx">
  <p:cSld name="VERTICAL_TITLE_AND_VERTICAL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9" name="Google Shape;69;p1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0" name="Google Shape;70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1" name="Google Shape;71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2" name="Google Shape;72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0" y="6762736"/>
            <a:ext cx="12192000" cy="95264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292A86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1" name="Google Shape;11;p1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582422" y="635357"/>
            <a:ext cx="122428" cy="888712"/>
          </a:xfrm>
          <a:prstGeom prst="rect">
            <a:avLst/>
          </a:prstGeom>
          <a:solidFill>
            <a:srgbClr val="292A86"/>
          </a:solidFill>
          <a:ln>
            <a:noFill/>
          </a:ln>
        </p:spPr>
      </p:pic>
      <p:pic>
        <p:nvPicPr>
          <p:cNvPr id="12" name="Google Shape;12;p1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10283716" y="719713"/>
            <a:ext cx="1273846" cy="72000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pedromiho.github.io/UMC/Projeto%20de%20Software%20e%20Seguran%C3%A7a%20da%20Informa%C3%A7%C3%A3o%20-%202026/Projeto%20de%20Software/Aula%2001%20-%20Aula%20Inaugural/index2.html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3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3"/>
          <p:cNvSpPr txBox="1">
            <a:spLocks noGrp="1"/>
          </p:cNvSpPr>
          <p:nvPr>
            <p:ph type="ctrTitle"/>
          </p:nvPr>
        </p:nvSpPr>
        <p:spPr>
          <a:xfrm>
            <a:off x="1524000" y="1652931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>
              <a:buSzPts val="4800"/>
            </a:pPr>
            <a:r>
              <a:rPr lang="pt-BR" sz="4800" dirty="0"/>
              <a:t>Fundamentos da Segurança da Informação</a:t>
            </a:r>
            <a:endParaRPr dirty="0"/>
          </a:p>
        </p:txBody>
      </p:sp>
      <p:sp>
        <p:nvSpPr>
          <p:cNvPr id="78" name="Google Shape;78;p13"/>
          <p:cNvSpPr txBox="1">
            <a:spLocks noGrp="1"/>
          </p:cNvSpPr>
          <p:nvPr>
            <p:ph type="subTitle" idx="1"/>
          </p:nvPr>
        </p:nvSpPr>
        <p:spPr>
          <a:xfrm>
            <a:off x="1524000" y="4260550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pt-BR"/>
              <a:t>Prof. Esp. Pedro Miho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6C6FF8-0CB5-3B18-A84E-E1D2B08F75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Apresentação sobre ISO 27001 E ISO 27002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AA17831-3A9C-4422-AED7-FE9E7EDF27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ts val="500"/>
              </a:spcBef>
              <a:spcAft>
                <a:spcPts val="500"/>
              </a:spcAft>
            </a:pPr>
            <a:r>
              <a:rPr lang="pt-BR" dirty="0"/>
              <a:t>No primeiro período da disciplina, vocês deverão se separar em grupos para desenvolver uma apresentação sobre as normas ISO/IEC 27001 e ISO/IEC 27002, que será realizada nos dias 14/04 e 16/04.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lang="pt-BR" dirty="0"/>
              <a:t>Os temas foram divididos previamente e cada grupo ficará responsável por desenvolver e apresentar o conteúdo correspondente.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lang="pt-BR" dirty="0"/>
              <a:t>Abaixo estão os links com os respectivos temas que deverão ser estudados e apresentados.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lang="pt-BR" dirty="0">
                <a:hlinkClick r:id="rId2"/>
              </a:rPr>
              <a:t>Temas das Apresentações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120634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67154C-483D-648C-EF74-B2A54B6DC4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Objetivos da Aula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D3BF340-AE18-6A13-5320-BA32016285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Ao final da aula, o aluno será capaz de:</a:t>
            </a:r>
          </a:p>
          <a:p>
            <a:pPr marL="1257300" lvl="1" indent="-342900">
              <a:buFont typeface="Arial" panose="020B0604020202020204" pitchFamily="34" charset="0"/>
              <a:buChar char="•"/>
            </a:pPr>
            <a:r>
              <a:rPr lang="pt-BR" sz="1800" dirty="0"/>
              <a:t>Compreender o conceito de Segurança da Informação</a:t>
            </a:r>
          </a:p>
          <a:p>
            <a:pPr marL="1257300" lvl="1" indent="-342900">
              <a:buFont typeface="Arial" panose="020B0604020202020204" pitchFamily="34" charset="0"/>
              <a:buChar char="•"/>
            </a:pPr>
            <a:r>
              <a:rPr lang="pt-BR" sz="1800" dirty="0"/>
              <a:t>Diferenciar dado, informação e ativo</a:t>
            </a:r>
          </a:p>
          <a:p>
            <a:pPr marL="1257300" lvl="1" indent="-342900">
              <a:buFont typeface="Arial" panose="020B0604020202020204" pitchFamily="34" charset="0"/>
              <a:buChar char="•"/>
            </a:pPr>
            <a:r>
              <a:rPr lang="pt-BR" sz="1800" dirty="0"/>
              <a:t>Entender a importância estratégica da segurança</a:t>
            </a:r>
          </a:p>
          <a:p>
            <a:pPr marL="1257300" lvl="1" indent="-342900">
              <a:buFont typeface="Arial" panose="020B0604020202020204" pitchFamily="34" charset="0"/>
              <a:buChar char="•"/>
            </a:pPr>
            <a:r>
              <a:rPr lang="pt-BR" sz="1800" dirty="0"/>
              <a:t>Identificar os pilares da Tríade CIA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04589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A47569-DDC4-4CD4-827E-26718CAACF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Criação e Utilização de dados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9D0D700-2D2E-46E9-9973-617FA6A537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2347" y="1844675"/>
            <a:ext cx="11007306" cy="1584325"/>
          </a:xfrm>
        </p:spPr>
        <p:txBody>
          <a:bodyPr/>
          <a:lstStyle/>
          <a:p>
            <a:r>
              <a:rPr lang="pt-BR" dirty="0"/>
              <a:t>Os dados sempre desempenharam um papel essencial na história da humanidade, desde os primeiros registros em tábuas de argila até a era da inteligência artificial. Eles permitem a organização do conhecimento, a tomada de decisões e o avanço da sociedade em diversas áreas.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6125B829-220D-4229-95C6-67CC1387F5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7936" y="3799789"/>
            <a:ext cx="3935697" cy="2204489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56498F15-7678-4D4A-94CF-8AA35C3CDB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1569" y="3431239"/>
            <a:ext cx="3762496" cy="2941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51222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233CB9-E157-4C6E-AFAE-074B642418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Dispositivos de armazenamento</a:t>
            </a:r>
            <a:endParaRPr lang="pt-BR" dirty="0"/>
          </a:p>
        </p:txBody>
      </p:sp>
      <p:grpSp>
        <p:nvGrpSpPr>
          <p:cNvPr id="17" name="Agrupar 16">
            <a:extLst>
              <a:ext uri="{FF2B5EF4-FFF2-40B4-BE49-F238E27FC236}">
                <a16:creationId xmlns:a16="http://schemas.microsoft.com/office/drawing/2014/main" id="{9BBB0B4E-5844-43EC-AB3E-51759B3194D1}"/>
              </a:ext>
            </a:extLst>
          </p:cNvPr>
          <p:cNvGrpSpPr/>
          <p:nvPr/>
        </p:nvGrpSpPr>
        <p:grpSpPr>
          <a:xfrm>
            <a:off x="1596000" y="3980873"/>
            <a:ext cx="9000000" cy="230909"/>
            <a:chOff x="1596000" y="3916218"/>
            <a:chExt cx="9000000" cy="230909"/>
          </a:xfrm>
        </p:grpSpPr>
        <p:cxnSp>
          <p:nvCxnSpPr>
            <p:cNvPr id="5" name="Conector reto 4">
              <a:extLst>
                <a:ext uri="{FF2B5EF4-FFF2-40B4-BE49-F238E27FC236}">
                  <a16:creationId xmlns:a16="http://schemas.microsoft.com/office/drawing/2014/main" id="{871E9AAD-C60D-466F-B0D9-211EDEE4AB6D}"/>
                </a:ext>
              </a:extLst>
            </p:cNvPr>
            <p:cNvCxnSpPr/>
            <p:nvPr/>
          </p:nvCxnSpPr>
          <p:spPr>
            <a:xfrm>
              <a:off x="1596000" y="4031672"/>
              <a:ext cx="9000000" cy="0"/>
            </a:xfrm>
            <a:prstGeom prst="line">
              <a:avLst/>
            </a:prstGeom>
            <a:ln w="381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6" name="Agrupar 15">
              <a:extLst>
                <a:ext uri="{FF2B5EF4-FFF2-40B4-BE49-F238E27FC236}">
                  <a16:creationId xmlns:a16="http://schemas.microsoft.com/office/drawing/2014/main" id="{8DD556D4-DD15-47B4-B611-6FC02AD8B885}"/>
                </a:ext>
              </a:extLst>
            </p:cNvPr>
            <p:cNvGrpSpPr/>
            <p:nvPr/>
          </p:nvGrpSpPr>
          <p:grpSpPr>
            <a:xfrm>
              <a:off x="1596000" y="3916218"/>
              <a:ext cx="9000000" cy="230909"/>
              <a:chOff x="1596000" y="3916218"/>
              <a:chExt cx="9000000" cy="230909"/>
            </a:xfrm>
          </p:grpSpPr>
          <p:cxnSp>
            <p:nvCxnSpPr>
              <p:cNvPr id="7" name="Conector reto 6">
                <a:extLst>
                  <a:ext uri="{FF2B5EF4-FFF2-40B4-BE49-F238E27FC236}">
                    <a16:creationId xmlns:a16="http://schemas.microsoft.com/office/drawing/2014/main" id="{F897B3B8-64E7-44DB-91D4-44BDC2F79A79}"/>
                  </a:ext>
                </a:extLst>
              </p:cNvPr>
              <p:cNvCxnSpPr/>
              <p:nvPr/>
            </p:nvCxnSpPr>
            <p:spPr>
              <a:xfrm>
                <a:off x="1596000" y="3916218"/>
                <a:ext cx="0" cy="230909"/>
              </a:xfrm>
              <a:prstGeom prst="line">
                <a:avLst/>
              </a:prstGeom>
              <a:ln w="3810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Conector reto 7">
                <a:extLst>
                  <a:ext uri="{FF2B5EF4-FFF2-40B4-BE49-F238E27FC236}">
                    <a16:creationId xmlns:a16="http://schemas.microsoft.com/office/drawing/2014/main" id="{78D21C69-9E4C-47CB-B9A8-7D51EBE75134}"/>
                  </a:ext>
                </a:extLst>
              </p:cNvPr>
              <p:cNvCxnSpPr/>
              <p:nvPr/>
            </p:nvCxnSpPr>
            <p:spPr>
              <a:xfrm>
                <a:off x="3096000" y="3916218"/>
                <a:ext cx="0" cy="230909"/>
              </a:xfrm>
              <a:prstGeom prst="line">
                <a:avLst/>
              </a:prstGeom>
              <a:ln w="3810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Conector reto 8">
                <a:extLst>
                  <a:ext uri="{FF2B5EF4-FFF2-40B4-BE49-F238E27FC236}">
                    <a16:creationId xmlns:a16="http://schemas.microsoft.com/office/drawing/2014/main" id="{1424522C-9B9A-42D8-B2A2-AE94857176CE}"/>
                  </a:ext>
                </a:extLst>
              </p:cNvPr>
              <p:cNvCxnSpPr/>
              <p:nvPr/>
            </p:nvCxnSpPr>
            <p:spPr>
              <a:xfrm>
                <a:off x="4596000" y="3916218"/>
                <a:ext cx="0" cy="230909"/>
              </a:xfrm>
              <a:prstGeom prst="line">
                <a:avLst/>
              </a:prstGeom>
              <a:ln w="3810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Conector reto 9">
                <a:extLst>
                  <a:ext uri="{FF2B5EF4-FFF2-40B4-BE49-F238E27FC236}">
                    <a16:creationId xmlns:a16="http://schemas.microsoft.com/office/drawing/2014/main" id="{E6183B78-D103-48CD-9266-E2F8E3FADEC9}"/>
                  </a:ext>
                </a:extLst>
              </p:cNvPr>
              <p:cNvCxnSpPr/>
              <p:nvPr/>
            </p:nvCxnSpPr>
            <p:spPr>
              <a:xfrm>
                <a:off x="6096000" y="3916218"/>
                <a:ext cx="0" cy="230909"/>
              </a:xfrm>
              <a:prstGeom prst="line">
                <a:avLst/>
              </a:prstGeom>
              <a:ln w="3810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Conector reto 10">
                <a:extLst>
                  <a:ext uri="{FF2B5EF4-FFF2-40B4-BE49-F238E27FC236}">
                    <a16:creationId xmlns:a16="http://schemas.microsoft.com/office/drawing/2014/main" id="{2FF6575B-04ED-4199-8F48-7CEBA44A7075}"/>
                  </a:ext>
                </a:extLst>
              </p:cNvPr>
              <p:cNvCxnSpPr/>
              <p:nvPr/>
            </p:nvCxnSpPr>
            <p:spPr>
              <a:xfrm>
                <a:off x="7596000" y="3916218"/>
                <a:ext cx="0" cy="230909"/>
              </a:xfrm>
              <a:prstGeom prst="line">
                <a:avLst/>
              </a:prstGeom>
              <a:ln w="3810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Conector reto 11">
                <a:extLst>
                  <a:ext uri="{FF2B5EF4-FFF2-40B4-BE49-F238E27FC236}">
                    <a16:creationId xmlns:a16="http://schemas.microsoft.com/office/drawing/2014/main" id="{5C5258E8-5D62-44E1-A630-95CD42F7A580}"/>
                  </a:ext>
                </a:extLst>
              </p:cNvPr>
              <p:cNvCxnSpPr/>
              <p:nvPr/>
            </p:nvCxnSpPr>
            <p:spPr>
              <a:xfrm>
                <a:off x="10596000" y="3916218"/>
                <a:ext cx="0" cy="230909"/>
              </a:xfrm>
              <a:prstGeom prst="line">
                <a:avLst/>
              </a:prstGeom>
              <a:ln w="3810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Conector reto 12">
                <a:extLst>
                  <a:ext uri="{FF2B5EF4-FFF2-40B4-BE49-F238E27FC236}">
                    <a16:creationId xmlns:a16="http://schemas.microsoft.com/office/drawing/2014/main" id="{C71EAF9D-6726-47D9-97B8-18346C43E76D}"/>
                  </a:ext>
                </a:extLst>
              </p:cNvPr>
              <p:cNvCxnSpPr/>
              <p:nvPr/>
            </p:nvCxnSpPr>
            <p:spPr>
              <a:xfrm>
                <a:off x="9096000" y="3916218"/>
                <a:ext cx="0" cy="230909"/>
              </a:xfrm>
              <a:prstGeom prst="line">
                <a:avLst/>
              </a:prstGeom>
              <a:ln w="3810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35" name="Agrupar 34">
            <a:extLst>
              <a:ext uri="{FF2B5EF4-FFF2-40B4-BE49-F238E27FC236}">
                <a16:creationId xmlns:a16="http://schemas.microsoft.com/office/drawing/2014/main" id="{7D7BE7B9-8C2A-4F1A-967F-0E5C5DB34B6D}"/>
              </a:ext>
            </a:extLst>
          </p:cNvPr>
          <p:cNvGrpSpPr/>
          <p:nvPr/>
        </p:nvGrpSpPr>
        <p:grpSpPr>
          <a:xfrm>
            <a:off x="1233738" y="3120971"/>
            <a:ext cx="9724523" cy="720000"/>
            <a:chOff x="1236000" y="3037572"/>
            <a:chExt cx="9724523" cy="720000"/>
          </a:xfrm>
        </p:grpSpPr>
        <p:pic>
          <p:nvPicPr>
            <p:cNvPr id="19" name="Imagem 18">
              <a:extLst>
                <a:ext uri="{FF2B5EF4-FFF2-40B4-BE49-F238E27FC236}">
                  <a16:creationId xmlns:a16="http://schemas.microsoft.com/office/drawing/2014/main" id="{4F8A1411-C081-4318-BDB2-0A1DB8F1C2E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240523" y="3037572"/>
              <a:ext cx="720000" cy="720000"/>
            </a:xfrm>
            <a:prstGeom prst="rect">
              <a:avLst/>
            </a:prstGeom>
          </p:spPr>
        </p:pic>
        <p:pic>
          <p:nvPicPr>
            <p:cNvPr id="23" name="Imagem 22">
              <a:extLst>
                <a:ext uri="{FF2B5EF4-FFF2-40B4-BE49-F238E27FC236}">
                  <a16:creationId xmlns:a16="http://schemas.microsoft.com/office/drawing/2014/main" id="{065B95CE-E57F-40B8-AB07-2FB108B5558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240523" y="3037572"/>
              <a:ext cx="720000" cy="720000"/>
            </a:xfrm>
            <a:prstGeom prst="rect">
              <a:avLst/>
            </a:prstGeom>
          </p:spPr>
        </p:pic>
        <p:pic>
          <p:nvPicPr>
            <p:cNvPr id="25" name="Imagem 24">
              <a:extLst>
                <a:ext uri="{FF2B5EF4-FFF2-40B4-BE49-F238E27FC236}">
                  <a16:creationId xmlns:a16="http://schemas.microsoft.com/office/drawing/2014/main" id="{F88C43C7-B271-4AE8-B305-FC2DDBD7025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236000" y="3037572"/>
              <a:ext cx="720000" cy="720000"/>
            </a:xfrm>
            <a:prstGeom prst="rect">
              <a:avLst/>
            </a:prstGeom>
          </p:spPr>
        </p:pic>
        <p:pic>
          <p:nvPicPr>
            <p:cNvPr id="27" name="Imagem 26">
              <a:extLst>
                <a:ext uri="{FF2B5EF4-FFF2-40B4-BE49-F238E27FC236}">
                  <a16:creationId xmlns:a16="http://schemas.microsoft.com/office/drawing/2014/main" id="{347394C5-786F-44EB-BE24-9B40A144944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236000" y="3037572"/>
              <a:ext cx="720000" cy="720000"/>
            </a:xfrm>
            <a:prstGeom prst="rect">
              <a:avLst/>
            </a:prstGeom>
          </p:spPr>
        </p:pic>
      </p:grp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17EBE578-A788-4564-A10C-FB12FDEACB73}"/>
              </a:ext>
            </a:extLst>
          </p:cNvPr>
          <p:cNvSpPr txBox="1"/>
          <p:nvPr/>
        </p:nvSpPr>
        <p:spPr>
          <a:xfrm flipH="1">
            <a:off x="2724579" y="3203972"/>
            <a:ext cx="7428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1971</a:t>
            </a:r>
          </a:p>
          <a:p>
            <a:pPr algn="ctr"/>
            <a:r>
              <a:rPr lang="pt-BR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Disquete</a:t>
            </a:r>
          </a:p>
        </p:txBody>
      </p: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A7CBC948-8FF8-4A43-8552-22FFA2F2AE30}"/>
              </a:ext>
            </a:extLst>
          </p:cNvPr>
          <p:cNvSpPr txBox="1"/>
          <p:nvPr/>
        </p:nvSpPr>
        <p:spPr>
          <a:xfrm flipH="1">
            <a:off x="5713159" y="3203972"/>
            <a:ext cx="7428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1983</a:t>
            </a:r>
          </a:p>
          <a:p>
            <a:pPr algn="ctr"/>
            <a:r>
              <a:rPr lang="pt-BR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CD-ROM</a:t>
            </a:r>
          </a:p>
        </p:txBody>
      </p: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AA23B27E-ACB7-4C83-B108-F45AE9038F77}"/>
              </a:ext>
            </a:extLst>
          </p:cNvPr>
          <p:cNvSpPr txBox="1"/>
          <p:nvPr/>
        </p:nvSpPr>
        <p:spPr>
          <a:xfrm flipH="1">
            <a:off x="8713159" y="3203972"/>
            <a:ext cx="7428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2000</a:t>
            </a:r>
          </a:p>
          <a:p>
            <a:pPr algn="ctr"/>
            <a:r>
              <a:rPr lang="pt-BR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Pen Drive</a:t>
            </a:r>
          </a:p>
        </p:txBody>
      </p:sp>
      <p:pic>
        <p:nvPicPr>
          <p:cNvPr id="21" name="Imagem 20">
            <a:extLst>
              <a:ext uri="{FF2B5EF4-FFF2-40B4-BE49-F238E27FC236}">
                <a16:creationId xmlns:a16="http://schemas.microsoft.com/office/drawing/2014/main" id="{552C67F5-77C9-4421-9AEF-DE18D3F0DE8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36001" y="4290291"/>
            <a:ext cx="720000" cy="720000"/>
          </a:xfrm>
          <a:prstGeom prst="rect">
            <a:avLst/>
          </a:prstGeom>
        </p:spPr>
      </p:pic>
      <p:pic>
        <p:nvPicPr>
          <p:cNvPr id="29" name="Imagem 28">
            <a:extLst>
              <a:ext uri="{FF2B5EF4-FFF2-40B4-BE49-F238E27FC236}">
                <a16:creationId xmlns:a16="http://schemas.microsoft.com/office/drawing/2014/main" id="{8FAFBAA9-AFE0-45E4-B88A-72A64E61124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36001" y="4290291"/>
            <a:ext cx="720000" cy="720000"/>
          </a:xfrm>
          <a:prstGeom prst="rect">
            <a:avLst/>
          </a:prstGeom>
        </p:spPr>
      </p:pic>
      <p:pic>
        <p:nvPicPr>
          <p:cNvPr id="31" name="Imagem 30">
            <a:extLst>
              <a:ext uri="{FF2B5EF4-FFF2-40B4-BE49-F238E27FC236}">
                <a16:creationId xmlns:a16="http://schemas.microsoft.com/office/drawing/2014/main" id="{DC115EE6-2188-4D16-976B-EC353FDF1F2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36001" y="4290291"/>
            <a:ext cx="720000" cy="720000"/>
          </a:xfrm>
          <a:prstGeom prst="rect">
            <a:avLst/>
          </a:prstGeom>
        </p:spPr>
      </p:pic>
      <p:sp>
        <p:nvSpPr>
          <p:cNvPr id="37" name="CaixaDeTexto 36">
            <a:extLst>
              <a:ext uri="{FF2B5EF4-FFF2-40B4-BE49-F238E27FC236}">
                <a16:creationId xmlns:a16="http://schemas.microsoft.com/office/drawing/2014/main" id="{A4A861C7-D03C-464E-BD32-6102452F683F}"/>
              </a:ext>
            </a:extLst>
          </p:cNvPr>
          <p:cNvSpPr txBox="1"/>
          <p:nvPr/>
        </p:nvSpPr>
        <p:spPr>
          <a:xfrm flipH="1">
            <a:off x="1233738" y="4373292"/>
            <a:ext cx="74284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1951</a:t>
            </a:r>
          </a:p>
          <a:p>
            <a:pPr algn="ctr"/>
            <a:r>
              <a:rPr lang="pt-BR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Fita Magnética</a:t>
            </a:r>
          </a:p>
          <a:p>
            <a:pPr algn="ctr"/>
            <a:endParaRPr lang="pt-BR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C1606B55-C0DD-4B67-8177-4C9007F02B22}"/>
              </a:ext>
            </a:extLst>
          </p:cNvPr>
          <p:cNvSpPr txBox="1"/>
          <p:nvPr/>
        </p:nvSpPr>
        <p:spPr>
          <a:xfrm flipH="1">
            <a:off x="4224580" y="4373292"/>
            <a:ext cx="7428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1980</a:t>
            </a:r>
          </a:p>
          <a:p>
            <a:pPr algn="ctr"/>
            <a:r>
              <a:rPr lang="pt-BR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HDD</a:t>
            </a:r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B6613562-68AE-455D-A392-0FC8D5B866B4}"/>
              </a:ext>
            </a:extLst>
          </p:cNvPr>
          <p:cNvSpPr txBox="1"/>
          <p:nvPr/>
        </p:nvSpPr>
        <p:spPr>
          <a:xfrm flipH="1">
            <a:off x="7224580" y="4373292"/>
            <a:ext cx="7428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1999</a:t>
            </a:r>
          </a:p>
          <a:p>
            <a:pPr algn="ctr"/>
            <a:r>
              <a:rPr lang="pt-BR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SD </a:t>
            </a:r>
            <a:r>
              <a:rPr lang="pt-BR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Card</a:t>
            </a:r>
            <a:endParaRPr lang="pt-BR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05781A2B-B116-4FE8-B45D-7BF5C60BF002}"/>
              </a:ext>
            </a:extLst>
          </p:cNvPr>
          <p:cNvSpPr txBox="1"/>
          <p:nvPr/>
        </p:nvSpPr>
        <p:spPr>
          <a:xfrm flipH="1">
            <a:off x="10247421" y="4373292"/>
            <a:ext cx="7428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2006</a:t>
            </a:r>
          </a:p>
          <a:p>
            <a:pPr algn="ctr"/>
            <a:r>
              <a:rPr lang="pt-BR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4567F32F-5CE8-0036-3364-8C72C846C690}"/>
              </a:ext>
            </a:extLst>
          </p:cNvPr>
          <p:cNvSpPr txBox="1"/>
          <p:nvPr/>
        </p:nvSpPr>
        <p:spPr>
          <a:xfrm>
            <a:off x="1131405" y="2729318"/>
            <a:ext cx="92466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18 TB 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49C2B406-81F2-CDA7-8C0C-D56A3E654359}"/>
              </a:ext>
            </a:extLst>
          </p:cNvPr>
          <p:cNvSpPr txBox="1"/>
          <p:nvPr/>
        </p:nvSpPr>
        <p:spPr>
          <a:xfrm>
            <a:off x="2633666" y="5180880"/>
            <a:ext cx="92466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1,44MB</a:t>
            </a:r>
            <a:endParaRPr lang="pt-BR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6EF6AA09-96F7-5C27-53D1-2AF615F09158}"/>
              </a:ext>
            </a:extLst>
          </p:cNvPr>
          <p:cNvSpPr txBox="1"/>
          <p:nvPr/>
        </p:nvSpPr>
        <p:spPr>
          <a:xfrm>
            <a:off x="4131405" y="2729318"/>
            <a:ext cx="92466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 TB 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A4682D00-0116-5BBA-27AA-226622DD190C}"/>
              </a:ext>
            </a:extLst>
          </p:cNvPr>
          <p:cNvSpPr txBox="1"/>
          <p:nvPr/>
        </p:nvSpPr>
        <p:spPr>
          <a:xfrm>
            <a:off x="5622246" y="5180880"/>
            <a:ext cx="92466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700</a:t>
            </a:r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TB 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247DEFE4-13E1-2E13-03DB-6137DA6E6400}"/>
              </a:ext>
            </a:extLst>
          </p:cNvPr>
          <p:cNvSpPr txBox="1"/>
          <p:nvPr/>
        </p:nvSpPr>
        <p:spPr>
          <a:xfrm>
            <a:off x="7137471" y="2729318"/>
            <a:ext cx="92466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TB 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15D789CE-3C90-257E-50E6-83A399AB4EC6}"/>
              </a:ext>
            </a:extLst>
          </p:cNvPr>
          <p:cNvSpPr txBox="1"/>
          <p:nvPr/>
        </p:nvSpPr>
        <p:spPr>
          <a:xfrm>
            <a:off x="8633670" y="5180880"/>
            <a:ext cx="92466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TB 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93B9E67D-2E68-26D1-2A18-194C4B6EA2DE}"/>
              </a:ext>
            </a:extLst>
          </p:cNvPr>
          <p:cNvSpPr txBox="1"/>
          <p:nvPr/>
        </p:nvSpPr>
        <p:spPr>
          <a:xfrm>
            <a:off x="10133667" y="2540024"/>
            <a:ext cx="92466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Escala PB/EB</a:t>
            </a:r>
          </a:p>
        </p:txBody>
      </p:sp>
    </p:spTree>
    <p:extLst>
      <p:ext uri="{BB962C8B-B14F-4D97-AF65-F5344CB8AC3E}">
        <p14:creationId xmlns:p14="http://schemas.microsoft.com/office/powerpoint/2010/main" val="20175075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01551D-8E4B-42BE-9C4D-0601FE1B75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Pesquisas de informações 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496F6B31-109B-4B88-AFEE-6D9C50EA15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5047" y="3497319"/>
            <a:ext cx="7261905" cy="2852891"/>
          </a:xfrm>
          <a:prstGeom prst="rect">
            <a:avLst/>
          </a:prstGeom>
        </p:spPr>
      </p:pic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59899EA-746D-4E00-9962-0DAF8F4D3D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2347" y="1844675"/>
            <a:ext cx="11007306" cy="1516006"/>
          </a:xfrm>
        </p:spPr>
        <p:txBody>
          <a:bodyPr/>
          <a:lstStyle/>
          <a:p>
            <a:r>
              <a:rPr lang="pt-BR" dirty="0"/>
              <a:t>Quantidade real e prevista de dados criados em todo o mundo de 2010 a 2035 em </a:t>
            </a:r>
            <a:r>
              <a:rPr lang="pt-BR" dirty="0" err="1"/>
              <a:t>zettabytes</a:t>
            </a:r>
            <a:r>
              <a:rPr lang="pt-BR" dirty="0"/>
              <a:t>.</a:t>
            </a:r>
          </a:p>
          <a:p>
            <a:pPr marL="1257300" lvl="1" indent="-342900">
              <a:buFont typeface="Arial" panose="020B0604020202020204" pitchFamily="34" charset="0"/>
              <a:buChar char="•"/>
            </a:pPr>
            <a:r>
              <a:rPr lang="pt-BR" dirty="0"/>
              <a:t>1 </a:t>
            </a:r>
            <a:r>
              <a:rPr lang="pt-BR" dirty="0" err="1"/>
              <a:t>zettabyte</a:t>
            </a:r>
            <a:r>
              <a:rPr lang="pt-BR" dirty="0"/>
              <a:t> é aproximadamente a 1 bilhão de </a:t>
            </a:r>
            <a:r>
              <a:rPr lang="pt-BR" dirty="0" err="1"/>
              <a:t>terabytes</a:t>
            </a:r>
            <a:r>
              <a:rPr lang="pt-BR" dirty="0"/>
              <a:t>.</a:t>
            </a:r>
          </a:p>
          <a:p>
            <a:pPr marL="1257300" lvl="1" indent="-342900">
              <a:buFont typeface="Arial" panose="020B0604020202020204" pitchFamily="34" charset="0"/>
              <a:buChar char="•"/>
            </a:pPr>
            <a:r>
              <a:rPr lang="pt-BR" dirty="0"/>
              <a:t>1 </a:t>
            </a:r>
            <a:r>
              <a:rPr lang="pt-BR" dirty="0" err="1"/>
              <a:t>zettabyte</a:t>
            </a:r>
            <a:r>
              <a:rPr lang="pt-BR" dirty="0"/>
              <a:t> é aproximadamente a 1 milhão de </a:t>
            </a:r>
            <a:r>
              <a:rPr lang="pt-BR" dirty="0" err="1"/>
              <a:t>petabytes</a:t>
            </a:r>
            <a:r>
              <a:rPr lang="pt-BR" dirty="0"/>
              <a:t>.</a:t>
            </a:r>
          </a:p>
          <a:p>
            <a:pPr marL="1257300" lvl="1" indent="-342900">
              <a:buFont typeface="Arial" panose="020B0604020202020204" pitchFamily="34" charset="0"/>
              <a:buChar char="•"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984386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4BB970-C517-4F92-BC7E-EBFF2927A9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Tamanho de um </a:t>
            </a:r>
            <a:r>
              <a:rPr lang="pt-BR" dirty="0" err="1"/>
              <a:t>petabyte</a:t>
            </a:r>
            <a:r>
              <a:rPr lang="pt-BR" dirty="0"/>
              <a:t> de dados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E2FBA575-117E-44BA-8D28-06A93E9832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185" y="2295405"/>
            <a:ext cx="10162286" cy="3781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15021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4BB970-C517-4F92-BC7E-EBFF2927A9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Tamanho de um </a:t>
            </a:r>
            <a:r>
              <a:rPr lang="pt-BR" dirty="0" err="1"/>
              <a:t>petabyte</a:t>
            </a:r>
            <a:r>
              <a:rPr lang="pt-BR" dirty="0"/>
              <a:t> de dados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1D6E1E96-5A26-4FFB-BCB4-A4F93EC37A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1679" y="2393101"/>
            <a:ext cx="7468642" cy="3610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34647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E2B988-B39D-499F-A314-BC28C8408E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Clive </a:t>
            </a:r>
            <a:r>
              <a:rPr lang="pt-BR" dirty="0" err="1"/>
              <a:t>Humby</a:t>
            </a:r>
            <a:endParaRPr lang="pt-BR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5061B4E-0619-4CBB-962F-B612ED6F60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2347" y="1844675"/>
            <a:ext cx="11007306" cy="1018598"/>
          </a:xfrm>
        </p:spPr>
        <p:txBody>
          <a:bodyPr/>
          <a:lstStyle/>
          <a:p>
            <a:r>
              <a:rPr lang="pt-BR" sz="1800" dirty="0"/>
              <a:t>Clive </a:t>
            </a:r>
            <a:r>
              <a:rPr lang="pt-BR" sz="1800" dirty="0" err="1"/>
              <a:t>Humby</a:t>
            </a:r>
            <a:r>
              <a:rPr lang="pt-BR" sz="1800" dirty="0"/>
              <a:t> é um matemático e cientista de dados britânico conhecido por ser um dos pioneiros no uso de análise de dados para estratégias de negócios. Ele cunhou a famosa frase: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FF5FBD99-0579-454B-860B-D3D54C257203}"/>
              </a:ext>
            </a:extLst>
          </p:cNvPr>
          <p:cNvSpPr txBox="1"/>
          <p:nvPr/>
        </p:nvSpPr>
        <p:spPr>
          <a:xfrm>
            <a:off x="1761829" y="4442155"/>
            <a:ext cx="42302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dirty="0">
                <a:solidFill>
                  <a:schemeClr val="dk1"/>
                </a:solidFill>
                <a:latin typeface="Times New Roman"/>
                <a:cs typeface="Times New Roman"/>
                <a:sym typeface="Times New Roman"/>
              </a:rPr>
              <a:t>“Data </a:t>
            </a:r>
            <a:r>
              <a:rPr lang="pt-BR" sz="3600" dirty="0" err="1">
                <a:solidFill>
                  <a:schemeClr val="dk1"/>
                </a:solidFill>
                <a:latin typeface="Times New Roman"/>
                <a:cs typeface="Times New Roman"/>
                <a:sym typeface="Times New Roman"/>
              </a:rPr>
              <a:t>is</a:t>
            </a:r>
            <a:r>
              <a:rPr lang="pt-BR" sz="3600" dirty="0">
                <a:solidFill>
                  <a:schemeClr val="dk1"/>
                </a:solidFill>
                <a:latin typeface="Times New Roman"/>
                <a:cs typeface="Times New Roman"/>
                <a:sym typeface="Times New Roman"/>
              </a:rPr>
              <a:t> </a:t>
            </a:r>
            <a:r>
              <a:rPr lang="pt-BR" sz="3600" dirty="0" err="1">
                <a:solidFill>
                  <a:schemeClr val="dk1"/>
                </a:solidFill>
                <a:latin typeface="Times New Roman"/>
                <a:cs typeface="Times New Roman"/>
                <a:sym typeface="Times New Roman"/>
              </a:rPr>
              <a:t>the</a:t>
            </a:r>
            <a:r>
              <a:rPr lang="pt-BR" sz="3600" dirty="0">
                <a:solidFill>
                  <a:schemeClr val="dk1"/>
                </a:solidFill>
                <a:latin typeface="Times New Roman"/>
                <a:cs typeface="Times New Roman"/>
                <a:sym typeface="Times New Roman"/>
              </a:rPr>
              <a:t> new </a:t>
            </a:r>
            <a:r>
              <a:rPr lang="pt-BR" sz="3600" dirty="0" err="1">
                <a:solidFill>
                  <a:schemeClr val="dk1"/>
                </a:solidFill>
                <a:latin typeface="Times New Roman"/>
                <a:cs typeface="Times New Roman"/>
                <a:sym typeface="Times New Roman"/>
              </a:rPr>
              <a:t>oil</a:t>
            </a:r>
            <a:r>
              <a:rPr lang="pt-BR" sz="3600" dirty="0">
                <a:solidFill>
                  <a:schemeClr val="dk1"/>
                </a:solidFill>
                <a:latin typeface="Times New Roman"/>
                <a:cs typeface="Times New Roman"/>
                <a:sym typeface="Times New Roman"/>
              </a:rPr>
              <a:t>”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5ED80B7F-DA58-4768-9910-D0F1A478DA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3913" y="3429000"/>
            <a:ext cx="2676258" cy="2672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96900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667A0F-B970-4129-9959-736CF09F1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Compartilhamento de Informação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BD16FD3-9D53-45D5-B860-C07C8A35C0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2347" y="1844675"/>
            <a:ext cx="11007306" cy="1157143"/>
          </a:xfrm>
        </p:spPr>
        <p:txBody>
          <a:bodyPr/>
          <a:lstStyle/>
          <a:p>
            <a:r>
              <a:rPr lang="pt-BR" dirty="0"/>
              <a:t>O compartilhamento de informação é um processo essencial na era digital, permitindo a troca de dados entre indivíduos, empresas e governos para facilitar a comunicação, a tomada de decisões e a inovação.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B616F070-6F32-461A-A3AA-63546CB8DD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8545" y="3543500"/>
            <a:ext cx="4294909" cy="2813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67828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A50EF1-840D-46F3-8108-DC3F463FA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Classificação da Informação: Proteção e Confidencialidade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F97950C-B256-459A-B0C6-5E30678277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A forma como tratamos, armazenamos e protegemos a informação é essencial para garantirmos sua integridade e evitar danos. A classificação da informação ajuda a manter sua segurança e sigilo conforme sua importância e impacto.</a:t>
            </a:r>
          </a:p>
          <a:p>
            <a:endParaRPr lang="pt-BR" dirty="0"/>
          </a:p>
          <a:p>
            <a:r>
              <a:rPr lang="pt-BR" dirty="0"/>
              <a:t>Classificar a informação consiste em definir um grau de confidencialidade com base no impacto que seu acesso por pessoas não autorizadas pode causar.</a:t>
            </a:r>
          </a:p>
        </p:txBody>
      </p:sp>
    </p:spTree>
    <p:extLst>
      <p:ext uri="{BB962C8B-B14F-4D97-AF65-F5344CB8AC3E}">
        <p14:creationId xmlns:p14="http://schemas.microsoft.com/office/powerpoint/2010/main" val="13082218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19EEE3-9250-4E7D-9978-0B088558A5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Níveis de classificação da informação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9E99296-5F21-48D8-94C5-24606EDFA4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800" b="1" dirty="0"/>
              <a:t>Pública: </a:t>
            </a:r>
            <a:r>
              <a:rPr lang="pt-BR" sz="1800" dirty="0"/>
              <a:t>São informações disponíveis para qualquer pessoa, sem restrições de acesso. Normalmente, não apresentam riscos à segurança da organização ou dos indivíduos.</a:t>
            </a:r>
          </a:p>
          <a:p>
            <a:pPr marL="1257300" lvl="1" indent="-342900">
              <a:buFont typeface="Arial" panose="020B0604020202020204" pitchFamily="34" charset="0"/>
              <a:buChar char="•"/>
            </a:pPr>
            <a:r>
              <a:rPr lang="pt-BR" sz="1400" b="1" dirty="0"/>
              <a:t>Exemplos</a:t>
            </a:r>
            <a:r>
              <a:rPr lang="pt-BR" sz="1400" dirty="0"/>
              <a:t>: Previsão do tempo, comunicados oficiais, estatísticas populacionais, conteúdo de sites governamentais, horários de transporte público, perfis em redes sociais abertos, nome completo, publicações em blogs ou fóruns abertos.</a:t>
            </a:r>
          </a:p>
          <a:p>
            <a:pPr lvl="1" indent="0">
              <a:buNone/>
            </a:pPr>
            <a:endParaRPr lang="pt-BR" sz="1400" dirty="0"/>
          </a:p>
          <a:p>
            <a:r>
              <a:rPr lang="pt-BR" sz="1800" b="1" dirty="0"/>
              <a:t>Interna: </a:t>
            </a:r>
            <a:r>
              <a:rPr lang="pt-BR" sz="1800" dirty="0"/>
              <a:t>Destinadas ao uso exclusivo dentro da organização, sendo acessíveis apenas por funcionários ou equipes autorizadas. Embora não sejam altamente sigilosas, seu acesso externo pode causar impactos operacionais.</a:t>
            </a:r>
          </a:p>
          <a:p>
            <a:pPr marL="1200150" lvl="1" indent="-285750">
              <a:buFont typeface="Arial" panose="020B0604020202020204" pitchFamily="34" charset="0"/>
              <a:buChar char="•"/>
            </a:pPr>
            <a:r>
              <a:rPr lang="pt-BR" sz="1400" b="1" dirty="0"/>
              <a:t>Exemplos:</a:t>
            </a:r>
            <a:r>
              <a:rPr lang="pt-BR" sz="1400" dirty="0"/>
              <a:t> Manuais internos, procedimentos administrativos, listas de fornecedores, organogramas empresariais, relatórios de desempenho internos, endereço residencial, telefone pessoal, agenda de compromissos, boletins escolares.</a:t>
            </a:r>
          </a:p>
        </p:txBody>
      </p:sp>
    </p:spTree>
    <p:extLst>
      <p:ext uri="{BB962C8B-B14F-4D97-AF65-F5344CB8AC3E}">
        <p14:creationId xmlns:p14="http://schemas.microsoft.com/office/powerpoint/2010/main" val="12091673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F5DB51-D21B-4362-91B0-A4B17B5FF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Níveis de classificação da informação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D32EF87-5695-4468-8694-3DDCAFB958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800" b="1" dirty="0"/>
              <a:t>Confidencial:</a:t>
            </a:r>
            <a:r>
              <a:rPr lang="pt-BR" sz="1800" dirty="0"/>
              <a:t> Exige um alto nível de proteção, pois a divulgação não autorizada pode gerar prejuízos financeiros, estratégicos ou legais para a organização. O acesso é restrito a indivíduos previamente autorizados.</a:t>
            </a:r>
          </a:p>
          <a:p>
            <a:pPr lvl="1"/>
            <a:r>
              <a:rPr lang="pt-BR" sz="1400" b="1" dirty="0"/>
              <a:t>Exemplos:</a:t>
            </a:r>
            <a:r>
              <a:rPr lang="pt-BR" sz="1400" dirty="0"/>
              <a:t> Dados financeiros da empresa, contratos estratégicos, informações de clientes, códigos-fonte de software proprietário, credenciais de acesso a sistemas internos, CPF, RG, dados bancários, histórico médico, senhas de contas online.</a:t>
            </a:r>
          </a:p>
          <a:p>
            <a:pPr marL="584200" lvl="1" indent="0">
              <a:buNone/>
            </a:pPr>
            <a:endParaRPr lang="pt-BR" sz="1400" dirty="0"/>
          </a:p>
          <a:p>
            <a:r>
              <a:rPr lang="pt-BR" sz="1800" b="1" dirty="0"/>
              <a:t>Secreta: </a:t>
            </a:r>
            <a:r>
              <a:rPr lang="pt-BR" sz="1800" dirty="0"/>
              <a:t>Informações de extrema sensibilidade, cujo acesso é altamente restrito e monitorado. A divulgação não autorizada pode comprometer a segurança da organização ou até mesmo da sociedade.</a:t>
            </a:r>
          </a:p>
          <a:p>
            <a:pPr lvl="1" indent="-331200">
              <a:buFont typeface="Arial" panose="020B0604020202020204" pitchFamily="34" charset="0"/>
              <a:buChar char="•"/>
            </a:pPr>
            <a:r>
              <a:rPr lang="pt-BR" sz="1400" b="1" dirty="0"/>
              <a:t>Exemplos</a:t>
            </a:r>
            <a:r>
              <a:rPr lang="pt-BR" sz="1400" dirty="0"/>
              <a:t>: Planos de segurança nacional, segredos industriais, tecnologias militares, investigações sigilosas, projetos estratégicos de inovação, dados biométricos, documentos de herança ou testamento, histórico de senhas e acessos.</a:t>
            </a:r>
          </a:p>
        </p:txBody>
      </p:sp>
    </p:spTree>
    <p:extLst>
      <p:ext uri="{BB962C8B-B14F-4D97-AF65-F5344CB8AC3E}">
        <p14:creationId xmlns:p14="http://schemas.microsoft.com/office/powerpoint/2010/main" val="41666802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6"/>
          <p:cNvSpPr txBox="1">
            <a:spLocks noGrp="1"/>
          </p:cNvSpPr>
          <p:nvPr>
            <p:ph type="title"/>
          </p:nvPr>
        </p:nvSpPr>
        <p:spPr>
          <a:xfrm>
            <a:off x="749185" y="854420"/>
            <a:ext cx="9409981" cy="4485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pt-BR" dirty="0"/>
              <a:t>Fundamentos da segurança da informação</a:t>
            </a:r>
            <a:endParaRPr dirty="0"/>
          </a:p>
        </p:txBody>
      </p:sp>
      <p:sp>
        <p:nvSpPr>
          <p:cNvPr id="102" name="Google Shape;102;p16"/>
          <p:cNvSpPr txBox="1">
            <a:spLocks noGrp="1"/>
          </p:cNvSpPr>
          <p:nvPr>
            <p:ph type="body" idx="1"/>
          </p:nvPr>
        </p:nvSpPr>
        <p:spPr>
          <a:xfrm>
            <a:off x="592347" y="1844675"/>
            <a:ext cx="11007306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pt-BR" dirty="0"/>
              <a:t> A Segurança da Informação protege dados e sistemas contra acessos não autorizados, alterações indevidas e indisponibilidade. Para isso, adota práticas como criptografia, autenticação forte, auditorias e backups, além de seguir normas como ISO 27001, NIST e LGPD.</a:t>
            </a:r>
            <a:endParaRPr dirty="0"/>
          </a:p>
          <a:p>
            <a:pPr marL="1028700" lvl="1" indent="-342900" algn="just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pt-BR" dirty="0"/>
              <a:t>Confidencialidade </a:t>
            </a:r>
            <a:endParaRPr dirty="0"/>
          </a:p>
          <a:p>
            <a:pPr marL="1028700" lvl="1" indent="-342900" algn="just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pt-BR" dirty="0"/>
              <a:t>Integridade </a:t>
            </a:r>
            <a:endParaRPr dirty="0"/>
          </a:p>
          <a:p>
            <a:pPr marL="1028700" lvl="1" indent="-342900" algn="just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pt-BR" dirty="0"/>
              <a:t>Disponibilidade </a:t>
            </a:r>
            <a:endParaRPr dirty="0"/>
          </a:p>
          <a:p>
            <a:pPr marL="1028700" lvl="1" indent="-342900" algn="just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pt-BR" dirty="0"/>
              <a:t>Autenticidade (opcional) </a:t>
            </a:r>
            <a:endParaRPr dirty="0"/>
          </a:p>
          <a:p>
            <a:pPr marL="1028700" lvl="1" indent="-342900" algn="just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pt-BR" dirty="0"/>
              <a:t>Irretratabilidade (opcional)</a:t>
            </a:r>
            <a:endParaRPr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CD8C83-5E4E-4688-8551-31EB3DFEF9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Importância da classificação</a:t>
            </a:r>
            <a:br>
              <a:rPr lang="pt-BR" dirty="0"/>
            </a:br>
            <a:endParaRPr lang="pt-BR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32D9479-FDE3-4839-8E0D-8EEE524702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A classificação da informação oferece vários benefícios para a segurança da organização e das pessoas, como:</a:t>
            </a:r>
          </a:p>
          <a:p>
            <a:pPr lvl="1"/>
            <a:r>
              <a:rPr lang="pt-BR" dirty="0"/>
              <a:t>Proteção contra vazamentos: Impede o acesso não autorizado a dados sensíveis, evitando perdas financeiras, danos à reputação e questões legais.</a:t>
            </a:r>
          </a:p>
          <a:p>
            <a:pPr lvl="1"/>
            <a:r>
              <a:rPr lang="pt-BR" dirty="0"/>
              <a:t>Prevenção de ataques: Define medidas de segurança para cada nível de confidencialidade, dificultando o acesso indevido.</a:t>
            </a:r>
          </a:p>
          <a:p>
            <a:pPr lvl="1"/>
            <a:r>
              <a:rPr lang="pt-BR" dirty="0" err="1"/>
              <a:t>Compliance</a:t>
            </a:r>
            <a:r>
              <a:rPr lang="pt-BR" dirty="0"/>
              <a:t> legal: Atende a regulamentações, como a LGPD, garantindo a proteção e o sigilo das informações.</a:t>
            </a:r>
          </a:p>
          <a:p>
            <a:pPr lvl="1"/>
            <a:r>
              <a:rPr lang="pt-BR" dirty="0"/>
              <a:t>Gerenciamento de riscos: Identifica e gerencia riscos, implementando ações preventivas para minimizar danos.</a:t>
            </a:r>
          </a:p>
        </p:txBody>
      </p:sp>
    </p:spTree>
    <p:extLst>
      <p:ext uri="{BB962C8B-B14F-4D97-AF65-F5344CB8AC3E}">
        <p14:creationId xmlns:p14="http://schemas.microsoft.com/office/powerpoint/2010/main" val="20662458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7"/>
          <p:cNvSpPr txBox="1">
            <a:spLocks noGrp="1"/>
          </p:cNvSpPr>
          <p:nvPr>
            <p:ph type="title"/>
          </p:nvPr>
        </p:nvSpPr>
        <p:spPr>
          <a:xfrm>
            <a:off x="749185" y="854420"/>
            <a:ext cx="9409981" cy="4485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pt-BR"/>
              <a:t>Pilar da Confiabilidade</a:t>
            </a:r>
            <a:endParaRPr/>
          </a:p>
        </p:txBody>
      </p:sp>
      <p:sp>
        <p:nvSpPr>
          <p:cNvPr id="108" name="Google Shape;108;p17"/>
          <p:cNvSpPr txBox="1">
            <a:spLocks noGrp="1"/>
          </p:cNvSpPr>
          <p:nvPr>
            <p:ph type="body" idx="1"/>
          </p:nvPr>
        </p:nvSpPr>
        <p:spPr>
          <a:xfrm>
            <a:off x="592347" y="1844675"/>
            <a:ext cx="11007306" cy="2736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pt-BR" dirty="0"/>
              <a:t>A confidencialidade garante que apenas pessoas autorizadas tenham acesso às informações. Isso impede que dados sensíveis sejam divulgados indevidamente, seja por ataques cibernéticos, vazamentos internos ou falhas humanas.</a:t>
            </a:r>
            <a:endParaRPr dirty="0"/>
          </a:p>
          <a:p>
            <a:pPr marL="1028700" lvl="1" indent="-342900" algn="just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pt-BR" dirty="0"/>
              <a:t>Criptografia para proteger informações sigilosas.</a:t>
            </a:r>
            <a:endParaRPr dirty="0"/>
          </a:p>
          <a:p>
            <a:pPr marL="1028700" lvl="1" indent="-342900" algn="just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pt-BR" dirty="0"/>
              <a:t>Autenticação </a:t>
            </a:r>
            <a:r>
              <a:rPr lang="pt-BR" dirty="0" err="1"/>
              <a:t>multifator</a:t>
            </a:r>
            <a:r>
              <a:rPr lang="pt-BR" dirty="0"/>
              <a:t> (MFA)</a:t>
            </a:r>
            <a:endParaRPr dirty="0"/>
          </a:p>
          <a:p>
            <a:pPr marL="1028700" lvl="1" indent="-342900" algn="just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pt-BR" dirty="0"/>
              <a:t>Controle de permissões em bancos de dados e sistemas corporativos.</a:t>
            </a:r>
            <a:endParaRPr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8"/>
          <p:cNvSpPr txBox="1">
            <a:spLocks noGrp="1"/>
          </p:cNvSpPr>
          <p:nvPr>
            <p:ph type="title"/>
          </p:nvPr>
        </p:nvSpPr>
        <p:spPr>
          <a:xfrm>
            <a:off x="749185" y="854420"/>
            <a:ext cx="9409981" cy="4485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pt-BR"/>
              <a:t>Exemplo Pilar da Confiabilidade</a:t>
            </a:r>
            <a:endParaRPr/>
          </a:p>
        </p:txBody>
      </p:sp>
      <p:grpSp>
        <p:nvGrpSpPr>
          <p:cNvPr id="114" name="Google Shape;114;p18"/>
          <p:cNvGrpSpPr/>
          <p:nvPr/>
        </p:nvGrpSpPr>
        <p:grpSpPr>
          <a:xfrm>
            <a:off x="2220734" y="3275775"/>
            <a:ext cx="1455686" cy="1852850"/>
            <a:chOff x="2858175" y="2251100"/>
            <a:chExt cx="1455686" cy="1852850"/>
          </a:xfrm>
        </p:grpSpPr>
        <p:pic>
          <p:nvPicPr>
            <p:cNvPr id="115" name="Google Shape;115;p18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2858175" y="2251100"/>
              <a:ext cx="675214" cy="67521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6" name="Google Shape;116;p18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3638647" y="2645691"/>
              <a:ext cx="675214" cy="67521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7" name="Google Shape;117;p18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2858175" y="2983298"/>
              <a:ext cx="675214" cy="67521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8" name="Google Shape;118;p18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3638647" y="3428736"/>
              <a:ext cx="675214" cy="675214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19" name="Google Shape;119;p1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88577" y="2225548"/>
            <a:ext cx="720000" cy="72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11248" y="3842200"/>
            <a:ext cx="720000" cy="72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165906" y="3842200"/>
            <a:ext cx="720000" cy="72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8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588577" y="5458852"/>
            <a:ext cx="720000" cy="720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3" name="Google Shape;123;p18"/>
          <p:cNvCxnSpPr>
            <a:endCxn id="120" idx="3"/>
          </p:cNvCxnSpPr>
          <p:nvPr/>
        </p:nvCxnSpPr>
        <p:spPr>
          <a:xfrm rot="10800000">
            <a:off x="1731248" y="4202200"/>
            <a:ext cx="393000" cy="0"/>
          </a:xfrm>
          <a:prstGeom prst="straightConnector1">
            <a:avLst/>
          </a:prstGeom>
          <a:noFill/>
          <a:ln w="28575" cap="flat" cmpd="sng">
            <a:solidFill>
              <a:srgbClr val="0C0C0C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24" name="Google Shape;124;p18"/>
          <p:cNvCxnSpPr>
            <a:endCxn id="119" idx="2"/>
          </p:cNvCxnSpPr>
          <p:nvPr/>
        </p:nvCxnSpPr>
        <p:spPr>
          <a:xfrm rot="10800000">
            <a:off x="2948577" y="2945548"/>
            <a:ext cx="0" cy="231900"/>
          </a:xfrm>
          <a:prstGeom prst="straightConnector1">
            <a:avLst/>
          </a:prstGeom>
          <a:noFill/>
          <a:ln w="28575" cap="flat" cmpd="sng">
            <a:solidFill>
              <a:srgbClr val="0C0C0C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25" name="Google Shape;125;p18"/>
          <p:cNvCxnSpPr>
            <a:endCxn id="121" idx="1"/>
          </p:cNvCxnSpPr>
          <p:nvPr/>
        </p:nvCxnSpPr>
        <p:spPr>
          <a:xfrm>
            <a:off x="3772906" y="4202200"/>
            <a:ext cx="393000" cy="0"/>
          </a:xfrm>
          <a:prstGeom prst="straightConnector1">
            <a:avLst/>
          </a:prstGeom>
          <a:noFill/>
          <a:ln w="28575" cap="flat" cmpd="sng">
            <a:solidFill>
              <a:srgbClr val="0C0C0C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26" name="Google Shape;126;p18"/>
          <p:cNvCxnSpPr>
            <a:endCxn id="122" idx="0"/>
          </p:cNvCxnSpPr>
          <p:nvPr/>
        </p:nvCxnSpPr>
        <p:spPr>
          <a:xfrm>
            <a:off x="2948577" y="5226952"/>
            <a:ext cx="0" cy="231900"/>
          </a:xfrm>
          <a:prstGeom prst="straightConnector1">
            <a:avLst/>
          </a:prstGeom>
          <a:noFill/>
          <a:ln w="28575" cap="flat" cmpd="sng">
            <a:solidFill>
              <a:srgbClr val="0C0C0C"/>
            </a:solidFill>
            <a:prstDash val="solid"/>
            <a:miter lim="800000"/>
            <a:headEnd type="none" w="sm" len="sm"/>
            <a:tailEnd type="triangle" w="med" len="med"/>
          </a:ln>
        </p:spPr>
      </p:cxnSp>
      <p:pic>
        <p:nvPicPr>
          <p:cNvPr id="127" name="Google Shape;127;p18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205480" y="3486427"/>
            <a:ext cx="1440000" cy="1440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8" name="Google Shape;128;p18"/>
          <p:cNvCxnSpPr>
            <a:stCxn id="129" idx="3"/>
            <a:endCxn id="127" idx="1"/>
          </p:cNvCxnSpPr>
          <p:nvPr/>
        </p:nvCxnSpPr>
        <p:spPr>
          <a:xfrm>
            <a:off x="7306096" y="4206427"/>
            <a:ext cx="1899300" cy="0"/>
          </a:xfrm>
          <a:prstGeom prst="straightConnector1">
            <a:avLst/>
          </a:prstGeom>
          <a:noFill/>
          <a:ln w="28575" cap="flat" cmpd="sng">
            <a:solidFill>
              <a:srgbClr val="0C0C0C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pic>
        <p:nvPicPr>
          <p:cNvPr id="129" name="Google Shape;129;p18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296305" y="3477663"/>
            <a:ext cx="1009791" cy="1457528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8"/>
          <p:cNvSpPr txBox="1"/>
          <p:nvPr/>
        </p:nvSpPr>
        <p:spPr>
          <a:xfrm>
            <a:off x="6568604" y="4973640"/>
            <a:ext cx="465192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</a:t>
            </a:r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1" name="Google Shape;131;p18"/>
          <p:cNvSpPr txBox="1"/>
          <p:nvPr/>
        </p:nvSpPr>
        <p:spPr>
          <a:xfrm>
            <a:off x="9726547" y="4973640"/>
            <a:ext cx="397866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DB</a:t>
            </a:r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2" name="Google Shape;132;p18"/>
          <p:cNvSpPr txBox="1"/>
          <p:nvPr/>
        </p:nvSpPr>
        <p:spPr>
          <a:xfrm>
            <a:off x="7750892" y="4314911"/>
            <a:ext cx="1009791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Criptografia</a:t>
            </a:r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33" name="Google Shape;133;p18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9565480" y="2009516"/>
            <a:ext cx="720000" cy="72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75787" y="3770989"/>
            <a:ext cx="360000" cy="360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5" name="Google Shape;135;p18"/>
          <p:cNvCxnSpPr>
            <a:endCxn id="134" idx="0"/>
          </p:cNvCxnSpPr>
          <p:nvPr/>
        </p:nvCxnSpPr>
        <p:spPr>
          <a:xfrm flipH="1">
            <a:off x="8255787" y="2807989"/>
            <a:ext cx="1669800" cy="963000"/>
          </a:xfrm>
          <a:prstGeom prst="straightConnector1">
            <a:avLst/>
          </a:prstGeom>
          <a:noFill/>
          <a:ln w="19050" cap="flat" cmpd="sng">
            <a:solidFill>
              <a:srgbClr val="0C0C0C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36" name="Google Shape;136;p18"/>
          <p:cNvSpPr txBox="1"/>
          <p:nvPr/>
        </p:nvSpPr>
        <p:spPr>
          <a:xfrm>
            <a:off x="10345167" y="2046351"/>
            <a:ext cx="795584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7A3F8BC6D2E1A4FAS1</a:t>
            </a:r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9"/>
          <p:cNvSpPr txBox="1">
            <a:spLocks noGrp="1"/>
          </p:cNvSpPr>
          <p:nvPr>
            <p:ph type="title"/>
          </p:nvPr>
        </p:nvSpPr>
        <p:spPr>
          <a:xfrm>
            <a:off x="749185" y="854420"/>
            <a:ext cx="9409981" cy="4485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/>
              <a:t>Pilar da Integridade</a:t>
            </a:r>
            <a:endParaRPr/>
          </a:p>
        </p:txBody>
      </p:sp>
      <p:sp>
        <p:nvSpPr>
          <p:cNvPr id="142" name="Google Shape;142;p19"/>
          <p:cNvSpPr txBox="1">
            <a:spLocks noGrp="1"/>
          </p:cNvSpPr>
          <p:nvPr>
            <p:ph type="body" idx="1"/>
          </p:nvPr>
        </p:nvSpPr>
        <p:spPr>
          <a:xfrm>
            <a:off x="592347" y="1844675"/>
            <a:ext cx="11007306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pt-BR"/>
              <a:t>A integridade assegura que as informações não sejam alteradas ou corrompidas sem autorização. Isso garante que os dados permaneçam precisos e confiáveis, evitando modificações acidentais ou maliciosas.</a:t>
            </a:r>
            <a:endParaRPr/>
          </a:p>
          <a:p>
            <a:pPr marL="1028700" lvl="1" indent="-342900" algn="just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pt-BR"/>
              <a:t>Uso de assinaturas digitais para validar a autenticidade de documentos.</a:t>
            </a:r>
            <a:endParaRPr/>
          </a:p>
          <a:p>
            <a:pPr marL="1028700" lvl="1" indent="-342900" algn="just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pt-BR"/>
              <a:t>Aplicação de checksums e hashes (MD5, SHA-256) para detectar mudanças nos arquivos.</a:t>
            </a:r>
            <a:endParaRPr/>
          </a:p>
          <a:p>
            <a:pPr marL="1028700" lvl="1" indent="-342900" algn="just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pt-BR"/>
              <a:t>Controle de versões em sistemas de gerenciamento de dados.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0"/>
          <p:cNvSpPr txBox="1">
            <a:spLocks noGrp="1"/>
          </p:cNvSpPr>
          <p:nvPr>
            <p:ph type="title"/>
          </p:nvPr>
        </p:nvSpPr>
        <p:spPr>
          <a:xfrm>
            <a:off x="749185" y="854420"/>
            <a:ext cx="9409981" cy="4485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pt-BR"/>
              <a:t>Exemplo Pilar da Integridade</a:t>
            </a:r>
            <a:endParaRPr/>
          </a:p>
        </p:txBody>
      </p:sp>
      <p:grpSp>
        <p:nvGrpSpPr>
          <p:cNvPr id="148" name="Google Shape;148;p20"/>
          <p:cNvGrpSpPr/>
          <p:nvPr/>
        </p:nvGrpSpPr>
        <p:grpSpPr>
          <a:xfrm>
            <a:off x="1202044" y="2488278"/>
            <a:ext cx="8422409" cy="1440000"/>
            <a:chOff x="1884795" y="2406998"/>
            <a:chExt cx="8422409" cy="1440000"/>
          </a:xfrm>
        </p:grpSpPr>
        <p:cxnSp>
          <p:nvCxnSpPr>
            <p:cNvPr id="149" name="Google Shape;149;p20"/>
            <p:cNvCxnSpPr>
              <a:stCxn id="150" idx="3"/>
              <a:endCxn id="151" idx="1"/>
            </p:cNvCxnSpPr>
            <p:nvPr/>
          </p:nvCxnSpPr>
          <p:spPr>
            <a:xfrm>
              <a:off x="3324795" y="3126998"/>
              <a:ext cx="5542500" cy="0"/>
            </a:xfrm>
            <a:prstGeom prst="straightConnector1">
              <a:avLst/>
            </a:prstGeom>
            <a:noFill/>
            <a:ln w="28575" cap="flat" cmpd="sng">
              <a:solidFill>
                <a:srgbClr val="0C0C0C"/>
              </a:solidFill>
              <a:prstDash val="solid"/>
              <a:miter lim="800000"/>
              <a:headEnd type="triangle" w="med" len="med"/>
              <a:tailEnd type="triangle" w="med" len="med"/>
            </a:ln>
          </p:spPr>
        </p:cxnSp>
        <p:sp>
          <p:nvSpPr>
            <p:cNvPr id="152" name="Google Shape;152;p20"/>
            <p:cNvSpPr txBox="1"/>
            <p:nvPr/>
          </p:nvSpPr>
          <p:spPr>
            <a:xfrm>
              <a:off x="5591104" y="3241891"/>
              <a:ext cx="1009791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pt-BR" sz="1200" b="0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Criptografia</a:t>
              </a:r>
              <a:endPara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pic>
          <p:nvPicPr>
            <p:cNvPr id="150" name="Google Shape;150;p20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884795" y="2406998"/>
              <a:ext cx="1440000" cy="1440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1" name="Google Shape;151;p20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8867204" y="2406998"/>
              <a:ext cx="1440000" cy="1440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3" name="Google Shape;153;p20"/>
          <p:cNvSpPr txBox="1"/>
          <p:nvPr/>
        </p:nvSpPr>
        <p:spPr>
          <a:xfrm>
            <a:off x="1693444" y="2150932"/>
            <a:ext cx="4572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Olá</a:t>
            </a:r>
            <a:endParaRPr/>
          </a:p>
        </p:txBody>
      </p:sp>
      <p:sp>
        <p:nvSpPr>
          <p:cNvPr id="154" name="Google Shape;154;p20"/>
          <p:cNvSpPr txBox="1"/>
          <p:nvPr/>
        </p:nvSpPr>
        <p:spPr>
          <a:xfrm>
            <a:off x="7924737" y="2150932"/>
            <a:ext cx="195943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Preciso de R$ 1.000.000</a:t>
            </a:r>
            <a:endParaRPr/>
          </a:p>
        </p:txBody>
      </p:sp>
      <p:cxnSp>
        <p:nvCxnSpPr>
          <p:cNvPr id="155" name="Google Shape;155;p20"/>
          <p:cNvCxnSpPr>
            <a:stCxn id="156" idx="3"/>
            <a:endCxn id="157" idx="1"/>
          </p:cNvCxnSpPr>
          <p:nvPr/>
        </p:nvCxnSpPr>
        <p:spPr>
          <a:xfrm>
            <a:off x="2642044" y="5590695"/>
            <a:ext cx="5542500" cy="0"/>
          </a:xfrm>
          <a:prstGeom prst="straightConnector1">
            <a:avLst/>
          </a:prstGeom>
          <a:noFill/>
          <a:ln w="28575" cap="flat" cmpd="sng">
            <a:solidFill>
              <a:srgbClr val="0C0C0C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grpSp>
        <p:nvGrpSpPr>
          <p:cNvPr id="158" name="Google Shape;158;p20"/>
          <p:cNvGrpSpPr/>
          <p:nvPr/>
        </p:nvGrpSpPr>
        <p:grpSpPr>
          <a:xfrm>
            <a:off x="1202044" y="4870695"/>
            <a:ext cx="8422409" cy="1440000"/>
            <a:chOff x="1811674" y="2183064"/>
            <a:chExt cx="8422409" cy="1440000"/>
          </a:xfrm>
        </p:grpSpPr>
        <p:sp>
          <p:nvSpPr>
            <p:cNvPr id="159" name="Google Shape;159;p20"/>
            <p:cNvSpPr txBox="1"/>
            <p:nvPr/>
          </p:nvSpPr>
          <p:spPr>
            <a:xfrm>
              <a:off x="5517983" y="3017957"/>
              <a:ext cx="1009791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pt-BR" sz="1200" b="0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Criptografia</a:t>
              </a:r>
              <a:endPara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pic>
          <p:nvPicPr>
            <p:cNvPr id="156" name="Google Shape;156;p20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811674" y="2183064"/>
              <a:ext cx="1440000" cy="1440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7" name="Google Shape;157;p20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8794083" y="2183064"/>
              <a:ext cx="1440000" cy="14400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60" name="Google Shape;160;p2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053248" y="2208904"/>
            <a:ext cx="720000" cy="72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20"/>
          <p:cNvSpPr txBox="1"/>
          <p:nvPr/>
        </p:nvSpPr>
        <p:spPr>
          <a:xfrm>
            <a:off x="1114945" y="4533348"/>
            <a:ext cx="1614195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Código Hash – 04A</a:t>
            </a:r>
            <a:endParaRPr/>
          </a:p>
        </p:txBody>
      </p:sp>
      <p:sp>
        <p:nvSpPr>
          <p:cNvPr id="162" name="Google Shape;162;p20"/>
          <p:cNvSpPr txBox="1"/>
          <p:nvPr/>
        </p:nvSpPr>
        <p:spPr>
          <a:xfrm>
            <a:off x="8097354" y="4533348"/>
            <a:ext cx="1614195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Código Hash – 04A</a:t>
            </a:r>
            <a:endParaRPr/>
          </a:p>
        </p:txBody>
      </p:sp>
      <p:pic>
        <p:nvPicPr>
          <p:cNvPr id="163" name="Google Shape;163;p2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652224" y="5164015"/>
            <a:ext cx="539639" cy="5396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2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634633" y="5164014"/>
            <a:ext cx="539639" cy="5396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20" descr="Fechar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281476" y="2751078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20" descr="Marca de seleção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281476" y="5133495"/>
            <a:ext cx="914400" cy="9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1"/>
          <p:cNvSpPr txBox="1">
            <a:spLocks noGrp="1"/>
          </p:cNvSpPr>
          <p:nvPr>
            <p:ph type="title"/>
          </p:nvPr>
        </p:nvSpPr>
        <p:spPr>
          <a:xfrm>
            <a:off x="749185" y="854420"/>
            <a:ext cx="9409981" cy="4485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pt-BR"/>
              <a:t>Exemplo Prático </a:t>
            </a:r>
            <a:endParaRPr/>
          </a:p>
        </p:txBody>
      </p:sp>
      <p:sp>
        <p:nvSpPr>
          <p:cNvPr id="172" name="Google Shape;172;p21"/>
          <p:cNvSpPr txBox="1">
            <a:spLocks noGrp="1"/>
          </p:cNvSpPr>
          <p:nvPr>
            <p:ph type="body" idx="1"/>
          </p:nvPr>
        </p:nvSpPr>
        <p:spPr>
          <a:xfrm>
            <a:off x="592347" y="1844675"/>
            <a:ext cx="11007306" cy="562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/>
              <a:buAutoNum type="arabicPeriod"/>
            </a:pPr>
            <a:r>
              <a:rPr lang="pt-BR"/>
              <a:t>Gere o código hash do arquivo usando o comando abaixo:</a:t>
            </a:r>
            <a:endParaRPr/>
          </a:p>
        </p:txBody>
      </p:sp>
      <p:sp>
        <p:nvSpPr>
          <p:cNvPr id="173" name="Google Shape;173;p21"/>
          <p:cNvSpPr/>
          <p:nvPr/>
        </p:nvSpPr>
        <p:spPr>
          <a:xfrm>
            <a:off x="2656115" y="2711703"/>
            <a:ext cx="6879771" cy="4174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0" i="0" u="none" strike="noStrike" cap="none">
                <a:solidFill>
                  <a:srgbClr val="7F6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Get-FileHash</a:t>
            </a:r>
            <a:r>
              <a:rPr lang="pt-BR" sz="1600" b="0" i="0" u="none" strike="noStrike" cap="none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C:\Users\Professor\Downloads\Relatorio.docx </a:t>
            </a:r>
            <a:r>
              <a:rPr lang="pt-BR" sz="1600" b="0" i="0" u="none" strike="noStrike" cap="none">
                <a:solidFill>
                  <a:srgbClr val="3A38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-Algorithm</a:t>
            </a:r>
            <a:r>
              <a:rPr lang="pt-BR" sz="1600" b="0" i="0" u="none" strike="noStrike" cap="none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SHA256</a:t>
            </a:r>
            <a:endParaRPr/>
          </a:p>
        </p:txBody>
      </p:sp>
      <p:sp>
        <p:nvSpPr>
          <p:cNvPr id="174" name="Google Shape;174;p21"/>
          <p:cNvSpPr txBox="1"/>
          <p:nvPr/>
        </p:nvSpPr>
        <p:spPr>
          <a:xfrm>
            <a:off x="592346" y="3433530"/>
            <a:ext cx="11007306" cy="562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AutoNum type="arabicPeriod" startAt="2"/>
            </a:pPr>
            <a:r>
              <a:rPr lang="pt-BR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Envie o arquivo utilizando protocolos como SCP, FTP ou SFTP para o destinatário.</a:t>
            </a:r>
            <a:endParaRPr/>
          </a:p>
        </p:txBody>
      </p:sp>
      <p:sp>
        <p:nvSpPr>
          <p:cNvPr id="175" name="Google Shape;175;p21"/>
          <p:cNvSpPr txBox="1"/>
          <p:nvPr/>
        </p:nvSpPr>
        <p:spPr>
          <a:xfrm>
            <a:off x="592346" y="4300558"/>
            <a:ext cx="11007306" cy="10087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AutoNum type="arabicPeriod" startAt="3"/>
            </a:pPr>
            <a:r>
              <a:rPr lang="pt-BR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Após o recebimento, gere o hash do arquivo e compare com o original. Se os hashes forem iguais, o arquivo não foi alterado.</a:t>
            </a:r>
            <a:endParaRPr/>
          </a:p>
        </p:txBody>
      </p:sp>
      <p:sp>
        <p:nvSpPr>
          <p:cNvPr id="176" name="Google Shape;176;p21"/>
          <p:cNvSpPr/>
          <p:nvPr/>
        </p:nvSpPr>
        <p:spPr>
          <a:xfrm>
            <a:off x="2656115" y="5613697"/>
            <a:ext cx="6879771" cy="4174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0" i="0" u="none" strike="noStrike" cap="none">
                <a:solidFill>
                  <a:srgbClr val="7F6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Get-FileHash</a:t>
            </a:r>
            <a:r>
              <a:rPr lang="pt-BR" sz="1600" b="0" i="0" u="none" strike="noStrike" cap="none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C:\Users\Professor\Downloads\Relatorio.docx </a:t>
            </a:r>
            <a:r>
              <a:rPr lang="pt-BR" sz="1600" b="0" i="0" u="none" strike="noStrike" cap="none">
                <a:solidFill>
                  <a:srgbClr val="3A38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-Algorithm</a:t>
            </a:r>
            <a:r>
              <a:rPr lang="pt-BR" sz="1600" b="0" i="0" u="none" strike="noStrike" cap="none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SHA256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FDD2FF-C942-4686-948E-9CD6E0D266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Pilar da Disponibilidade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BD64044-C16D-448E-AE5E-1D2C028B76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2347" y="1844675"/>
            <a:ext cx="11007306" cy="4279034"/>
          </a:xfrm>
        </p:spPr>
        <p:txBody>
          <a:bodyPr/>
          <a:lstStyle/>
          <a:p>
            <a:r>
              <a:rPr lang="pt-BR" dirty="0"/>
              <a:t>A disponibilidade garante que os sistemas e informações estejam acessíveis quando necessário. Para isso, é essencial ter estratégias para evitar falhas, ataques </a:t>
            </a:r>
            <a:r>
              <a:rPr lang="pt-BR" dirty="0" err="1"/>
              <a:t>DDoS</a:t>
            </a:r>
            <a:r>
              <a:rPr lang="pt-BR" dirty="0"/>
              <a:t> e problemas de infraestrutura.</a:t>
            </a:r>
          </a:p>
          <a:p>
            <a:pPr marL="1257300" lvl="1" indent="-342900">
              <a:buFont typeface="Arial" panose="020B0604020202020204" pitchFamily="34" charset="0"/>
              <a:buChar char="•"/>
            </a:pPr>
            <a:r>
              <a:rPr lang="pt-BR" dirty="0"/>
              <a:t>Backups regulares para recuperação em caso de falha.</a:t>
            </a:r>
          </a:p>
          <a:p>
            <a:pPr marL="1257300" lvl="1" indent="-342900">
              <a:buFont typeface="Arial" panose="020B0604020202020204" pitchFamily="34" charset="0"/>
              <a:buChar char="•"/>
            </a:pPr>
            <a:r>
              <a:rPr lang="pt-BR" dirty="0"/>
              <a:t>Uso de servidores redundantes e balanceamento de carga.</a:t>
            </a:r>
          </a:p>
          <a:p>
            <a:pPr marL="1257300" lvl="1" indent="-342900">
              <a:buFont typeface="Arial" panose="020B0604020202020204" pitchFamily="34" charset="0"/>
              <a:buChar char="•"/>
            </a:pPr>
            <a:r>
              <a:rPr lang="pt-BR" dirty="0"/>
              <a:t>Proteção contra ataques de negação de serviço (</a:t>
            </a:r>
            <a:r>
              <a:rPr lang="pt-BR" dirty="0" err="1"/>
              <a:t>DDoS</a:t>
            </a:r>
            <a:r>
              <a:rPr lang="pt-BR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5608770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2"/>
          <p:cNvSpPr txBox="1">
            <a:spLocks noGrp="1"/>
          </p:cNvSpPr>
          <p:nvPr>
            <p:ph type="title"/>
          </p:nvPr>
        </p:nvSpPr>
        <p:spPr>
          <a:xfrm>
            <a:off x="749185" y="854420"/>
            <a:ext cx="9409981" cy="4485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pt-BR"/>
              <a:t>Exemplo Pilar da Disponibilidade</a:t>
            </a:r>
            <a:endParaRPr/>
          </a:p>
        </p:txBody>
      </p:sp>
      <p:pic>
        <p:nvPicPr>
          <p:cNvPr id="182" name="Google Shape;182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880066" y="3429000"/>
            <a:ext cx="1440000" cy="144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2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604974" y="2349000"/>
            <a:ext cx="1080000" cy="108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2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24974" y="3609000"/>
            <a:ext cx="1080000" cy="108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2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604974" y="4869000"/>
            <a:ext cx="1080000" cy="1080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6" name="Google Shape;186;p22"/>
          <p:cNvCxnSpPr>
            <a:stCxn id="183" idx="3"/>
            <a:endCxn id="182" idx="1"/>
          </p:cNvCxnSpPr>
          <p:nvPr/>
        </p:nvCxnSpPr>
        <p:spPr>
          <a:xfrm>
            <a:off x="3684974" y="2889000"/>
            <a:ext cx="5195100" cy="1260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87" name="Google Shape;187;p22"/>
          <p:cNvCxnSpPr>
            <a:stCxn id="184" idx="3"/>
            <a:endCxn id="182" idx="1"/>
          </p:cNvCxnSpPr>
          <p:nvPr/>
        </p:nvCxnSpPr>
        <p:spPr>
          <a:xfrm>
            <a:off x="2604974" y="4149000"/>
            <a:ext cx="62751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88" name="Google Shape;188;p22"/>
          <p:cNvCxnSpPr>
            <a:stCxn id="185" idx="3"/>
            <a:endCxn id="182" idx="1"/>
          </p:cNvCxnSpPr>
          <p:nvPr/>
        </p:nvCxnSpPr>
        <p:spPr>
          <a:xfrm rot="10800000" flipH="1">
            <a:off x="3684974" y="4149000"/>
            <a:ext cx="5195100" cy="1260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89" name="Google Shape;189;p22"/>
          <p:cNvSpPr txBox="1"/>
          <p:nvPr/>
        </p:nvSpPr>
        <p:spPr>
          <a:xfrm>
            <a:off x="2809694" y="2041223"/>
            <a:ext cx="67056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*1000</a:t>
            </a:r>
            <a:endParaRPr/>
          </a:p>
        </p:txBody>
      </p:sp>
      <p:sp>
        <p:nvSpPr>
          <p:cNvPr id="190" name="Google Shape;190;p22"/>
          <p:cNvSpPr txBox="1"/>
          <p:nvPr/>
        </p:nvSpPr>
        <p:spPr>
          <a:xfrm>
            <a:off x="1729694" y="3311983"/>
            <a:ext cx="67056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*1000</a:t>
            </a:r>
            <a:endParaRPr/>
          </a:p>
        </p:txBody>
      </p:sp>
      <p:sp>
        <p:nvSpPr>
          <p:cNvPr id="191" name="Google Shape;191;p22"/>
          <p:cNvSpPr txBox="1"/>
          <p:nvPr/>
        </p:nvSpPr>
        <p:spPr>
          <a:xfrm>
            <a:off x="2809694" y="4607104"/>
            <a:ext cx="67056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*1000</a:t>
            </a:r>
            <a:endParaRPr/>
          </a:p>
        </p:txBody>
      </p:sp>
      <p:sp>
        <p:nvSpPr>
          <p:cNvPr id="192" name="Google Shape;192;p22"/>
          <p:cNvSpPr txBox="1"/>
          <p:nvPr/>
        </p:nvSpPr>
        <p:spPr>
          <a:xfrm>
            <a:off x="9051843" y="4988561"/>
            <a:ext cx="109644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Servidor</a:t>
            </a:r>
            <a:endParaRPr/>
          </a:p>
        </p:txBody>
      </p:sp>
      <p:pic>
        <p:nvPicPr>
          <p:cNvPr id="193" name="Google Shape;193;p22" descr="Fechar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735492" y="3263767"/>
            <a:ext cx="1770463" cy="1770463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2"/>
          <p:cNvSpPr txBox="1"/>
          <p:nvPr/>
        </p:nvSpPr>
        <p:spPr>
          <a:xfrm>
            <a:off x="8545737" y="3024134"/>
            <a:ext cx="2149972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2.000 Acessos Simultâneos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3"/>
          <p:cNvSpPr txBox="1">
            <a:spLocks noGrp="1"/>
          </p:cNvSpPr>
          <p:nvPr>
            <p:ph type="title"/>
          </p:nvPr>
        </p:nvSpPr>
        <p:spPr>
          <a:xfrm>
            <a:off x="749185" y="854420"/>
            <a:ext cx="9409981" cy="4485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pt-BR" dirty="0"/>
              <a:t>Exemplo Pilar da Disponibilidade</a:t>
            </a:r>
            <a:endParaRPr dirty="0"/>
          </a:p>
        </p:txBody>
      </p:sp>
      <p:pic>
        <p:nvPicPr>
          <p:cNvPr id="200" name="Google Shape;200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177384" y="3829644"/>
            <a:ext cx="1440000" cy="144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2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907384" y="3108589"/>
            <a:ext cx="540000" cy="54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2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627384" y="3108589"/>
            <a:ext cx="540000" cy="54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23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347384" y="3108589"/>
            <a:ext cx="540000" cy="540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4" name="Google Shape;204;p23"/>
          <p:cNvGrpSpPr/>
          <p:nvPr/>
        </p:nvGrpSpPr>
        <p:grpSpPr>
          <a:xfrm>
            <a:off x="8439616" y="2995659"/>
            <a:ext cx="990000" cy="1080000"/>
            <a:chOff x="1528546" y="3602025"/>
            <a:chExt cx="1980000" cy="2161055"/>
          </a:xfrm>
        </p:grpSpPr>
        <p:pic>
          <p:nvPicPr>
            <p:cNvPr id="205" name="Google Shape;205;p23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798546" y="4323080"/>
              <a:ext cx="1440000" cy="1440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6" name="Google Shape;206;p23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528546" y="3602025"/>
              <a:ext cx="540000" cy="540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7" name="Google Shape;207;p23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2248546" y="3602025"/>
              <a:ext cx="540000" cy="540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8" name="Google Shape;208;p23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2968546" y="3602025"/>
              <a:ext cx="540000" cy="5400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09" name="Google Shape;209;p23"/>
          <p:cNvGrpSpPr/>
          <p:nvPr/>
        </p:nvGrpSpPr>
        <p:grpSpPr>
          <a:xfrm>
            <a:off x="8439616" y="4660900"/>
            <a:ext cx="990000" cy="1080000"/>
            <a:chOff x="1528546" y="3602025"/>
            <a:chExt cx="1980000" cy="2161055"/>
          </a:xfrm>
        </p:grpSpPr>
        <p:pic>
          <p:nvPicPr>
            <p:cNvPr id="210" name="Google Shape;210;p23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798546" y="4323080"/>
              <a:ext cx="1440000" cy="1440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1" name="Google Shape;211;p23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528546" y="3602025"/>
              <a:ext cx="540000" cy="540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2" name="Google Shape;212;p23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2248546" y="3602025"/>
              <a:ext cx="540000" cy="540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3" name="Google Shape;213;p23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2968546" y="3602025"/>
              <a:ext cx="540000" cy="5400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14" name="Google Shape;214;p23"/>
          <p:cNvGrpSpPr/>
          <p:nvPr/>
        </p:nvGrpSpPr>
        <p:grpSpPr>
          <a:xfrm>
            <a:off x="9664166" y="3648589"/>
            <a:ext cx="990000" cy="1080000"/>
            <a:chOff x="1528546" y="3602025"/>
            <a:chExt cx="1980000" cy="2161055"/>
          </a:xfrm>
        </p:grpSpPr>
        <p:pic>
          <p:nvPicPr>
            <p:cNvPr id="215" name="Google Shape;215;p23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798546" y="4323080"/>
              <a:ext cx="1440000" cy="1440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6" name="Google Shape;216;p23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528546" y="3602025"/>
              <a:ext cx="540000" cy="540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7" name="Google Shape;217;p23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2248546" y="3602025"/>
              <a:ext cx="540000" cy="540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8" name="Google Shape;218;p23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2968546" y="3602025"/>
              <a:ext cx="540000" cy="540000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219" name="Google Shape;219;p23"/>
          <p:cNvCxnSpPr>
            <a:stCxn id="205" idx="2"/>
            <a:endCxn id="212" idx="0"/>
          </p:cNvCxnSpPr>
          <p:nvPr/>
        </p:nvCxnSpPr>
        <p:spPr>
          <a:xfrm>
            <a:off x="8934616" y="4075659"/>
            <a:ext cx="0" cy="585300"/>
          </a:xfrm>
          <a:prstGeom prst="straightConnector1">
            <a:avLst/>
          </a:prstGeom>
          <a:noFill/>
          <a:ln w="19050" cap="flat" cmpd="sng">
            <a:solidFill>
              <a:srgbClr val="0C0C0C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20" name="Google Shape;220;p23"/>
          <p:cNvCxnSpPr>
            <a:stCxn id="212" idx="0"/>
            <a:endCxn id="215" idx="1"/>
          </p:cNvCxnSpPr>
          <p:nvPr/>
        </p:nvCxnSpPr>
        <p:spPr>
          <a:xfrm flipV="1">
            <a:off x="8934616" y="4368765"/>
            <a:ext cx="864550" cy="292135"/>
          </a:xfrm>
          <a:prstGeom prst="straightConnector1">
            <a:avLst/>
          </a:prstGeom>
          <a:noFill/>
          <a:ln w="19050" cap="flat" cmpd="sng">
            <a:solidFill>
              <a:srgbClr val="0C0C0C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21" name="Google Shape;221;p23"/>
          <p:cNvCxnSpPr>
            <a:stCxn id="205" idx="2"/>
            <a:endCxn id="215" idx="1"/>
          </p:cNvCxnSpPr>
          <p:nvPr/>
        </p:nvCxnSpPr>
        <p:spPr>
          <a:xfrm>
            <a:off x="8934616" y="4075659"/>
            <a:ext cx="864550" cy="293106"/>
          </a:xfrm>
          <a:prstGeom prst="straightConnector1">
            <a:avLst/>
          </a:prstGeom>
          <a:noFill/>
          <a:ln w="19050" cap="flat" cmpd="sng">
            <a:solidFill>
              <a:srgbClr val="0C0C0C"/>
            </a:solidFill>
            <a:prstDash val="solid"/>
            <a:round/>
            <a:headEnd type="triangle" w="med" len="med"/>
            <a:tailEnd type="triangle" w="med" len="med"/>
          </a:ln>
        </p:spPr>
      </p:cxnSp>
      <p:pic>
        <p:nvPicPr>
          <p:cNvPr id="222" name="Google Shape;222;p23" descr="Fechar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817384" y="3015608"/>
            <a:ext cx="720000" cy="72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23" descr="Fechar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537384" y="3015608"/>
            <a:ext cx="720000" cy="72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23" descr="Fechar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257384" y="3015608"/>
            <a:ext cx="720000" cy="72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23" descr="Fechar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394616" y="2928589"/>
            <a:ext cx="360000" cy="3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23" descr="Fechar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754615" y="4615834"/>
            <a:ext cx="360000" cy="3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23" descr="Fechar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339166" y="3535834"/>
            <a:ext cx="360000" cy="36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4"/>
          <p:cNvSpPr txBox="1">
            <a:spLocks noGrp="1"/>
          </p:cNvSpPr>
          <p:nvPr>
            <p:ph type="title"/>
          </p:nvPr>
        </p:nvSpPr>
        <p:spPr>
          <a:xfrm>
            <a:off x="749185" y="854420"/>
            <a:ext cx="9409981" cy="4485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pt-BR"/>
              <a:t>Estudo de caso  </a:t>
            </a:r>
            <a:endParaRPr/>
          </a:p>
        </p:txBody>
      </p:sp>
      <p:sp>
        <p:nvSpPr>
          <p:cNvPr id="233" name="Google Shape;233;p24"/>
          <p:cNvSpPr txBox="1">
            <a:spLocks noGrp="1"/>
          </p:cNvSpPr>
          <p:nvPr>
            <p:ph type="body" idx="1"/>
          </p:nvPr>
        </p:nvSpPr>
        <p:spPr>
          <a:xfrm>
            <a:off x="592347" y="1844675"/>
            <a:ext cx="11007306" cy="3123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pt-BR" b="1" dirty="0"/>
              <a:t>1. Ataque de </a:t>
            </a:r>
            <a:r>
              <a:rPr lang="pt-BR" b="1" dirty="0" err="1"/>
              <a:t>DDoS</a:t>
            </a:r>
            <a:r>
              <a:rPr lang="pt-BR" b="1" dirty="0"/>
              <a:t> ao Serviço de DNS </a:t>
            </a:r>
            <a:r>
              <a:rPr lang="pt-BR" b="1" dirty="0" err="1"/>
              <a:t>Dyn</a:t>
            </a:r>
            <a:r>
              <a:rPr lang="pt-BR" b="1" dirty="0"/>
              <a:t> (2016)</a:t>
            </a:r>
            <a:endParaRPr dirty="0"/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pt-BR" dirty="0"/>
              <a:t>Em 2016, o serviço de DNS </a:t>
            </a:r>
            <a:r>
              <a:rPr lang="pt-BR" dirty="0" err="1"/>
              <a:t>Dyn</a:t>
            </a:r>
            <a:r>
              <a:rPr lang="pt-BR" dirty="0"/>
              <a:t> foi alvo de um ataque de negação de serviço distribuído (</a:t>
            </a:r>
            <a:r>
              <a:rPr lang="pt-BR" dirty="0" err="1"/>
              <a:t>DDoS</a:t>
            </a:r>
            <a:r>
              <a:rPr lang="pt-BR" dirty="0"/>
              <a:t>), onde milhões de dispositivos infectados com malware (</a:t>
            </a:r>
            <a:r>
              <a:rPr lang="pt-BR" dirty="0" err="1"/>
              <a:t>bots</a:t>
            </a:r>
            <a:r>
              <a:rPr lang="pt-BR" dirty="0"/>
              <a:t>) foram usados para enviar uma quantidade massiva de tráfego para os servidores da empresa. Esse ataque afetou vários sites populares, como Twitter, </a:t>
            </a:r>
            <a:r>
              <a:rPr lang="pt-BR" dirty="0" err="1"/>
              <a:t>Reddit</a:t>
            </a:r>
            <a:r>
              <a:rPr lang="pt-BR" dirty="0"/>
              <a:t>, Spotify e Netflix. O serviço de DNS ficou sobrecarregado, tornando os sites </a:t>
            </a:r>
            <a:r>
              <a:rPr lang="pt-BR" b="1" dirty="0"/>
              <a:t>inacessíveis</a:t>
            </a:r>
            <a:r>
              <a:rPr lang="pt-BR" dirty="0"/>
              <a:t> para usuários em várias regiões do mundo.</a:t>
            </a:r>
            <a:endParaRPr dirty="0"/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dirty="0"/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dirty="0"/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5"/>
          <p:cNvSpPr txBox="1">
            <a:spLocks noGrp="1"/>
          </p:cNvSpPr>
          <p:nvPr>
            <p:ph type="title"/>
          </p:nvPr>
        </p:nvSpPr>
        <p:spPr>
          <a:xfrm>
            <a:off x="749185" y="854420"/>
            <a:ext cx="9409981" cy="4485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pt-BR"/>
              <a:t>Estudo de caso  </a:t>
            </a:r>
            <a:endParaRPr/>
          </a:p>
        </p:txBody>
      </p:sp>
      <p:sp>
        <p:nvSpPr>
          <p:cNvPr id="239" name="Google Shape;239;p25"/>
          <p:cNvSpPr txBox="1">
            <a:spLocks noGrp="1"/>
          </p:cNvSpPr>
          <p:nvPr>
            <p:ph type="body" idx="1"/>
          </p:nvPr>
        </p:nvSpPr>
        <p:spPr>
          <a:xfrm>
            <a:off x="592347" y="1844675"/>
            <a:ext cx="11007306" cy="3123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pt-BR" b="1" dirty="0"/>
              <a:t>2. Alteração de Transações Bancárias em 2014</a:t>
            </a:r>
            <a:endParaRPr dirty="0"/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pt-BR" dirty="0"/>
              <a:t>Em 2014, uma instituição financeira global foi alvo de um ataque cibernético. Durante o ataque, os hackers conseguiram acessar o sistema e </a:t>
            </a:r>
            <a:r>
              <a:rPr lang="pt-BR" b="1" dirty="0"/>
              <a:t>alterar transações bancárias</a:t>
            </a:r>
            <a:r>
              <a:rPr lang="pt-BR" dirty="0"/>
              <a:t>. Eles modificaram as informações de transações, fazendo com que os valores corretos fossem alterados ou os depósitos fossem feitos de forma errada, prejudicando os clientes do banco. Quando a fraude foi detectada, os clientes estavam em uma situação de </a:t>
            </a:r>
            <a:r>
              <a:rPr lang="pt-BR" b="1" dirty="0"/>
              <a:t>desconfiança</a:t>
            </a:r>
            <a:r>
              <a:rPr lang="pt-BR" dirty="0"/>
              <a:t>, pois suas transações haviam sido alteradas sem o seu conhecimento.</a:t>
            </a:r>
            <a:endParaRPr dirty="0"/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dirty="0"/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6"/>
          <p:cNvSpPr txBox="1">
            <a:spLocks noGrp="1"/>
          </p:cNvSpPr>
          <p:nvPr>
            <p:ph type="title"/>
          </p:nvPr>
        </p:nvSpPr>
        <p:spPr>
          <a:xfrm>
            <a:off x="749185" y="854420"/>
            <a:ext cx="9409981" cy="4485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pt-BR"/>
              <a:t>Estudo de caso </a:t>
            </a:r>
            <a:endParaRPr/>
          </a:p>
        </p:txBody>
      </p:sp>
      <p:sp>
        <p:nvSpPr>
          <p:cNvPr id="245" name="Google Shape;245;p26"/>
          <p:cNvSpPr txBox="1">
            <a:spLocks noGrp="1"/>
          </p:cNvSpPr>
          <p:nvPr>
            <p:ph type="body" idx="1"/>
          </p:nvPr>
        </p:nvSpPr>
        <p:spPr>
          <a:xfrm>
            <a:off x="592347" y="1844675"/>
            <a:ext cx="11007306" cy="29102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pt-BR" b="1"/>
              <a:t>3. Fraude de Phishing em 2017</a:t>
            </a:r>
            <a:endParaRPr/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pt-BR"/>
              <a:t>Em 2017, ocorreu um grande ataque de phishing em que criminosos enviaram e-mails falsos se passando por uma instituição bancária. Os e-mails continham um link para um site falso que parecia idêntico ao site legítimo do banco. Muitos clientes, confiando na aparência do e-mail, clicaram no link e forneceram suas credenciais de acesso. Os atacantes usaram essas informações para roubar dinheiro das contas bancárias dos usuários.</a:t>
            </a:r>
            <a:endParaRPr/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7"/>
          <p:cNvSpPr txBox="1">
            <a:spLocks noGrp="1"/>
          </p:cNvSpPr>
          <p:nvPr>
            <p:ph type="title"/>
          </p:nvPr>
        </p:nvSpPr>
        <p:spPr>
          <a:xfrm>
            <a:off x="749185" y="854420"/>
            <a:ext cx="9409981" cy="4485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pt-BR" dirty="0"/>
              <a:t>Pilar da Autenticidade</a:t>
            </a:r>
            <a:endParaRPr dirty="0"/>
          </a:p>
        </p:txBody>
      </p:sp>
      <p:sp>
        <p:nvSpPr>
          <p:cNvPr id="251" name="Google Shape;251;p27"/>
          <p:cNvSpPr txBox="1">
            <a:spLocks noGrp="1"/>
          </p:cNvSpPr>
          <p:nvPr>
            <p:ph type="body" idx="1"/>
          </p:nvPr>
        </p:nvSpPr>
        <p:spPr>
          <a:xfrm>
            <a:off x="592347" y="1844675"/>
            <a:ext cx="11007306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pt-BR" dirty="0"/>
              <a:t>A autenticidade garante que as informações e comunicações sejam legítimas e venham de fontes confiáveis. Isso evita fraudes e ataques baseados em falsificação de identidade.</a:t>
            </a:r>
          </a:p>
          <a:p>
            <a:pPr marL="1257300" lvl="1" indent="-342900">
              <a:buFont typeface="Arial" panose="020B0604020202020204" pitchFamily="34" charset="0"/>
              <a:buChar char="•"/>
            </a:pPr>
            <a:r>
              <a:rPr lang="pt-BR" dirty="0"/>
              <a:t>Certificados digitais (SSL/TLS) para sites e comunicações seguras.</a:t>
            </a:r>
          </a:p>
          <a:p>
            <a:pPr marL="1257300" lvl="1" indent="-342900">
              <a:buFont typeface="Arial" panose="020B0604020202020204" pitchFamily="34" charset="0"/>
              <a:buChar char="•"/>
            </a:pPr>
            <a:r>
              <a:rPr lang="pt-BR" dirty="0"/>
              <a:t>Protocolos de autenticação fortes, como </a:t>
            </a:r>
            <a:r>
              <a:rPr lang="pt-BR" dirty="0" err="1"/>
              <a:t>Kerberos</a:t>
            </a:r>
            <a:r>
              <a:rPr lang="pt-BR" dirty="0"/>
              <a:t> e </a:t>
            </a:r>
            <a:r>
              <a:rPr lang="pt-BR" dirty="0" err="1"/>
              <a:t>OAuth</a:t>
            </a:r>
            <a:r>
              <a:rPr lang="pt-BR" dirty="0"/>
              <a:t>.</a:t>
            </a:r>
          </a:p>
          <a:p>
            <a:pPr marL="1257300" lvl="1" indent="-342900">
              <a:buFont typeface="Arial" panose="020B0604020202020204" pitchFamily="34" charset="0"/>
              <a:buChar char="•"/>
            </a:pPr>
            <a:r>
              <a:rPr lang="pt-BR" dirty="0"/>
              <a:t>E-mails assinados digitalmente para evitar </a:t>
            </a:r>
            <a:r>
              <a:rPr lang="pt-BR" dirty="0" err="1"/>
              <a:t>phishing</a:t>
            </a:r>
            <a:r>
              <a:rPr lang="pt-BR" dirty="0"/>
              <a:t>.</a:t>
            </a:r>
          </a:p>
          <a:p>
            <a:pPr marL="1257300" lvl="1" indent="-342900">
              <a:buFont typeface="Arial" panose="020B0604020202020204" pitchFamily="34" charset="0"/>
              <a:buChar char="•"/>
            </a:pPr>
            <a:r>
              <a:rPr lang="pt-BR" dirty="0"/>
              <a:t>Autenticação </a:t>
            </a:r>
            <a:r>
              <a:rPr lang="pt-BR" dirty="0" err="1"/>
              <a:t>Multifator</a:t>
            </a:r>
            <a:r>
              <a:rPr lang="pt-BR" dirty="0"/>
              <a:t> (MFA)</a:t>
            </a:r>
            <a:endParaRPr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BDA5E1-3601-4056-9969-F24F803E16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 Pilar da Autenticidade</a:t>
            </a:r>
          </a:p>
        </p:txBody>
      </p:sp>
      <p:grpSp>
        <p:nvGrpSpPr>
          <p:cNvPr id="9" name="Agrupar 8">
            <a:extLst>
              <a:ext uri="{FF2B5EF4-FFF2-40B4-BE49-F238E27FC236}">
                <a16:creationId xmlns:a16="http://schemas.microsoft.com/office/drawing/2014/main" id="{70C5693C-697A-4ED2-A4AD-395041A66205}"/>
              </a:ext>
            </a:extLst>
          </p:cNvPr>
          <p:cNvGrpSpPr/>
          <p:nvPr/>
        </p:nvGrpSpPr>
        <p:grpSpPr>
          <a:xfrm>
            <a:off x="8711476" y="3633334"/>
            <a:ext cx="1554437" cy="1236931"/>
            <a:chOff x="2060014" y="3429000"/>
            <a:chExt cx="1554437" cy="1236931"/>
          </a:xfrm>
        </p:grpSpPr>
        <p:pic>
          <p:nvPicPr>
            <p:cNvPr id="5" name="Imagem 4">
              <a:extLst>
                <a:ext uri="{FF2B5EF4-FFF2-40B4-BE49-F238E27FC236}">
                  <a16:creationId xmlns:a16="http://schemas.microsoft.com/office/drawing/2014/main" id="{DD9C2E71-6F72-4573-99C9-7C9C201AD2D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060014" y="3429000"/>
              <a:ext cx="720000" cy="720000"/>
            </a:xfrm>
            <a:prstGeom prst="rect">
              <a:avLst/>
            </a:prstGeom>
          </p:spPr>
        </p:pic>
        <p:pic>
          <p:nvPicPr>
            <p:cNvPr id="7" name="Imagem 6">
              <a:extLst>
                <a:ext uri="{FF2B5EF4-FFF2-40B4-BE49-F238E27FC236}">
                  <a16:creationId xmlns:a16="http://schemas.microsoft.com/office/drawing/2014/main" id="{68DC2B7B-7B94-4857-ADF5-5CD2C1042C9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894451" y="3945931"/>
              <a:ext cx="720000" cy="720000"/>
            </a:xfrm>
            <a:prstGeom prst="rect">
              <a:avLst/>
            </a:prstGeom>
          </p:spPr>
        </p:pic>
      </p:grpSp>
      <p:sp>
        <p:nvSpPr>
          <p:cNvPr id="8" name="CaixaDeTexto 7">
            <a:extLst>
              <a:ext uri="{FF2B5EF4-FFF2-40B4-BE49-F238E27FC236}">
                <a16:creationId xmlns:a16="http://schemas.microsoft.com/office/drawing/2014/main" id="{3B0AC5BF-5B67-44BA-99CF-D72749738996}"/>
              </a:ext>
            </a:extLst>
          </p:cNvPr>
          <p:cNvSpPr txBox="1"/>
          <p:nvPr/>
        </p:nvSpPr>
        <p:spPr>
          <a:xfrm>
            <a:off x="8671004" y="5078419"/>
            <a:ext cx="163538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Acesso ao E-mail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51E95714-77CB-4215-9B54-E9CD19D93FE6}"/>
              </a:ext>
            </a:extLst>
          </p:cNvPr>
          <p:cNvSpPr txBox="1"/>
          <p:nvPr/>
        </p:nvSpPr>
        <p:spPr>
          <a:xfrm>
            <a:off x="8984390" y="3086627"/>
            <a:ext cx="100860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3° - Etapa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CCE4C663-455E-41E1-BB58-6C6309F03445}"/>
              </a:ext>
            </a:extLst>
          </p:cNvPr>
          <p:cNvSpPr txBox="1"/>
          <p:nvPr/>
        </p:nvSpPr>
        <p:spPr>
          <a:xfrm>
            <a:off x="5042807" y="4955309"/>
            <a:ext cx="190789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Verificação do</a:t>
            </a:r>
          </a:p>
          <a:p>
            <a:pPr algn="ctr"/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Código de segurança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0BC1EF53-2FF7-4B2E-9A5B-0E0C732F2506}"/>
              </a:ext>
            </a:extLst>
          </p:cNvPr>
          <p:cNvSpPr txBox="1"/>
          <p:nvPr/>
        </p:nvSpPr>
        <p:spPr>
          <a:xfrm>
            <a:off x="5492449" y="2963517"/>
            <a:ext cx="100860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2° - Etapa</a:t>
            </a:r>
          </a:p>
        </p:txBody>
      </p:sp>
      <p:pic>
        <p:nvPicPr>
          <p:cNvPr id="18" name="Imagem 17">
            <a:extLst>
              <a:ext uri="{FF2B5EF4-FFF2-40B4-BE49-F238E27FC236}">
                <a16:creationId xmlns:a16="http://schemas.microsoft.com/office/drawing/2014/main" id="{60946B7A-6DA4-48FD-A01A-84A5F33837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7553" y="3509490"/>
            <a:ext cx="1238400" cy="1238400"/>
          </a:xfrm>
          <a:prstGeom prst="rect">
            <a:avLst/>
          </a:prstGeom>
        </p:spPr>
      </p:pic>
      <p:sp>
        <p:nvSpPr>
          <p:cNvPr id="23" name="CaixaDeTexto 22">
            <a:extLst>
              <a:ext uri="{FF2B5EF4-FFF2-40B4-BE49-F238E27FC236}">
                <a16:creationId xmlns:a16="http://schemas.microsoft.com/office/drawing/2014/main" id="{F55AAE0F-347F-429A-9818-E845E5CBDC34}"/>
              </a:ext>
            </a:extLst>
          </p:cNvPr>
          <p:cNvSpPr txBox="1"/>
          <p:nvPr/>
        </p:nvSpPr>
        <p:spPr>
          <a:xfrm>
            <a:off x="2360103" y="4955309"/>
            <a:ext cx="68640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Login</a:t>
            </a:r>
          </a:p>
          <a:p>
            <a:pPr algn="ctr"/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Senha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3062C9C3-3966-4DB9-AC37-D2EBCA476C7F}"/>
              </a:ext>
            </a:extLst>
          </p:cNvPr>
          <p:cNvSpPr txBox="1"/>
          <p:nvPr/>
        </p:nvSpPr>
        <p:spPr>
          <a:xfrm>
            <a:off x="2199001" y="2963517"/>
            <a:ext cx="100860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1° - Etapa</a:t>
            </a:r>
          </a:p>
        </p:txBody>
      </p:sp>
      <p:pic>
        <p:nvPicPr>
          <p:cNvPr id="28" name="Imagem 27">
            <a:extLst>
              <a:ext uri="{FF2B5EF4-FFF2-40B4-BE49-F238E27FC236}">
                <a16:creationId xmlns:a16="http://schemas.microsoft.com/office/drawing/2014/main" id="{CFD6B071-2C2E-4812-81F0-2C20D532E40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84105" y="3509490"/>
            <a:ext cx="1238400" cy="12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06897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1" grpId="0"/>
      <p:bldP spid="15" grpId="0"/>
      <p:bldP spid="16" grpId="0"/>
      <p:bldP spid="23" grpId="0"/>
      <p:bldP spid="24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AE916B-2C17-426A-BD5D-5FD93A70FC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Pilar da Legalidade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508221D-9D63-4C70-B0FE-9E61AB2144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A Legalidade garante que o uso, armazenamento e compartilhamento de informações sigam as leis e regulamentações vigentes. Isso evita penalidades, protege os direitos dos usuários e assegura a conformidade jurídica das organizações.</a:t>
            </a:r>
          </a:p>
          <a:p>
            <a:pPr marL="1257300" lvl="1" indent="-342900">
              <a:buFont typeface="Arial" panose="020B0604020202020204" pitchFamily="34" charset="0"/>
              <a:buChar char="•"/>
            </a:pPr>
            <a:r>
              <a:rPr lang="pt-BR" dirty="0"/>
              <a:t>LGPD e GDPR para garantir a privacidade e proteção de dados pessoais.</a:t>
            </a:r>
          </a:p>
          <a:p>
            <a:pPr marL="1257300" lvl="1" indent="-342900">
              <a:buFont typeface="Arial" panose="020B0604020202020204" pitchFamily="34" charset="0"/>
              <a:buChar char="•"/>
            </a:pPr>
            <a:r>
              <a:rPr lang="pt-BR" dirty="0"/>
              <a:t>Políticas de segurança e privacidade bem definidas para regular o uso de informações.</a:t>
            </a:r>
          </a:p>
          <a:p>
            <a:pPr marL="1257300" lvl="1" indent="-342900">
              <a:buFont typeface="Arial" panose="020B0604020202020204" pitchFamily="34" charset="0"/>
              <a:buChar char="•"/>
            </a:pPr>
            <a:r>
              <a:rPr lang="pt-BR" dirty="0"/>
              <a:t>Auditorias e </a:t>
            </a:r>
            <a:r>
              <a:rPr lang="pt-BR" dirty="0" err="1"/>
              <a:t>compliance</a:t>
            </a:r>
            <a:r>
              <a:rPr lang="pt-BR" dirty="0"/>
              <a:t> para garantir que a empresa esteja em conformidade com as normas.</a:t>
            </a:r>
          </a:p>
          <a:p>
            <a:pPr marL="1257300" lvl="1" indent="-342900">
              <a:buFont typeface="Arial" panose="020B0604020202020204" pitchFamily="34" charset="0"/>
              <a:buChar char="•"/>
            </a:pPr>
            <a:r>
              <a:rPr lang="pt-BR" dirty="0"/>
              <a:t>Consentimento explícito dos usuários antes da coleta e do processamento de seus dados.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7730067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EE535D-4A6C-4929-AFBC-EE97DD41F6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Exemplos do Pilar da Legalidade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D42E621B-63B1-49A3-BB83-D8A20524D9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3290" y="4292453"/>
            <a:ext cx="2659033" cy="535776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07C26C2A-F7B6-43C8-8C70-36AEB18C49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0317" y="3117102"/>
            <a:ext cx="3310400" cy="2886478"/>
          </a:xfrm>
          <a:prstGeom prst="rect">
            <a:avLst/>
          </a:prstGeom>
        </p:spPr>
      </p:pic>
      <p:grpSp>
        <p:nvGrpSpPr>
          <p:cNvPr id="10" name="Agrupar 9">
            <a:extLst>
              <a:ext uri="{FF2B5EF4-FFF2-40B4-BE49-F238E27FC236}">
                <a16:creationId xmlns:a16="http://schemas.microsoft.com/office/drawing/2014/main" id="{F7306354-7ED3-4705-B995-2B51E46C962E}"/>
              </a:ext>
            </a:extLst>
          </p:cNvPr>
          <p:cNvGrpSpPr/>
          <p:nvPr/>
        </p:nvGrpSpPr>
        <p:grpSpPr>
          <a:xfrm>
            <a:off x="8798710" y="3509262"/>
            <a:ext cx="2160000" cy="2102159"/>
            <a:chOff x="8850314" y="3480341"/>
            <a:chExt cx="2160000" cy="2102159"/>
          </a:xfrm>
        </p:grpSpPr>
        <p:pic>
          <p:nvPicPr>
            <p:cNvPr id="7" name="Imagem 6">
              <a:extLst>
                <a:ext uri="{FF2B5EF4-FFF2-40B4-BE49-F238E27FC236}">
                  <a16:creationId xmlns:a16="http://schemas.microsoft.com/office/drawing/2014/main" id="{C630009D-ECDC-48D7-A8B5-D7EE84D221A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930314" y="4502500"/>
              <a:ext cx="1080000" cy="1080000"/>
            </a:xfrm>
            <a:prstGeom prst="rect">
              <a:avLst/>
            </a:prstGeom>
          </p:spPr>
        </p:pic>
        <p:pic>
          <p:nvPicPr>
            <p:cNvPr id="9" name="Imagem 8">
              <a:extLst>
                <a:ext uri="{FF2B5EF4-FFF2-40B4-BE49-F238E27FC236}">
                  <a16:creationId xmlns:a16="http://schemas.microsoft.com/office/drawing/2014/main" id="{3136D8BF-BFE4-4E89-B93F-A2B0ABD17F2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850314" y="3480341"/>
              <a:ext cx="1080000" cy="1080000"/>
            </a:xfrm>
            <a:prstGeom prst="rect">
              <a:avLst/>
            </a:prstGeom>
          </p:spPr>
        </p:pic>
      </p:grp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499C4AC2-EF08-44BE-AB41-F6D968A3FEBC}"/>
              </a:ext>
            </a:extLst>
          </p:cNvPr>
          <p:cNvSpPr txBox="1"/>
          <p:nvPr/>
        </p:nvSpPr>
        <p:spPr>
          <a:xfrm>
            <a:off x="1509341" y="2643835"/>
            <a:ext cx="23829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Banner de Cookies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66A0C8D8-A95E-45A7-81B4-214C16993B14}"/>
              </a:ext>
            </a:extLst>
          </p:cNvPr>
          <p:cNvSpPr txBox="1"/>
          <p:nvPr/>
        </p:nvSpPr>
        <p:spPr>
          <a:xfrm>
            <a:off x="5154026" y="2536113"/>
            <a:ext cx="23829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Contrato de Termos de Serviços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A2FFB2DE-3189-472A-AECD-0376000FD569}"/>
              </a:ext>
            </a:extLst>
          </p:cNvPr>
          <p:cNvSpPr txBox="1"/>
          <p:nvPr/>
        </p:nvSpPr>
        <p:spPr>
          <a:xfrm>
            <a:off x="8798710" y="2643835"/>
            <a:ext cx="23829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Segurança </a:t>
            </a:r>
            <a:r>
              <a:rPr lang="pt-BR">
                <a:latin typeface="Times New Roman" panose="02020603050405020304" pitchFamily="18" charset="0"/>
                <a:cs typeface="Times New Roman" panose="02020603050405020304" pitchFamily="18" charset="0"/>
              </a:rPr>
              <a:t>em Saúde</a:t>
            </a:r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484648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442848-F76E-41D6-BE72-F3A725CCD3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85" y="854420"/>
            <a:ext cx="8349095" cy="846364"/>
          </a:xfrm>
        </p:spPr>
        <p:txBody>
          <a:bodyPr/>
          <a:lstStyle/>
          <a:p>
            <a:r>
              <a:rPr lang="pt-BR" dirty="0"/>
              <a:t>Atividade Prática - Mapeamento de Ativos e Riscos da Faculdade</a:t>
            </a:r>
            <a:br>
              <a:rPr lang="pt-BR" dirty="0"/>
            </a:br>
            <a:endParaRPr lang="pt-BR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C66080D-8E61-84CD-0383-C287840690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2347" y="1844675"/>
            <a:ext cx="11007306" cy="4351338"/>
          </a:xfrm>
        </p:spPr>
        <p:txBody>
          <a:bodyPr/>
          <a:lstStyle/>
          <a:p>
            <a:r>
              <a:rPr lang="pt-BR" dirty="0"/>
              <a:t>Vocês deverão atuar como analistas de segurança da informação.</a:t>
            </a:r>
          </a:p>
          <a:p>
            <a:r>
              <a:rPr lang="pt-BR" dirty="0"/>
              <a:t>Cada grupo será responsável por:</a:t>
            </a:r>
          </a:p>
          <a:p>
            <a:pPr marL="1257300" lvl="1" indent="-342900">
              <a:buFont typeface="Arial" panose="020B0604020202020204" pitchFamily="34" charset="0"/>
              <a:buChar char="•"/>
            </a:pPr>
            <a:r>
              <a:rPr lang="pt-BR" dirty="0"/>
              <a:t>Identificar ativos de informação da faculdade</a:t>
            </a:r>
          </a:p>
          <a:p>
            <a:pPr marL="1257300" lvl="1" indent="-342900">
              <a:buFont typeface="Arial" panose="020B0604020202020204" pitchFamily="34" charset="0"/>
              <a:buChar char="•"/>
            </a:pPr>
            <a:r>
              <a:rPr lang="pt-BR" dirty="0"/>
              <a:t>Mapear riscos associados</a:t>
            </a:r>
          </a:p>
          <a:p>
            <a:pPr marL="1257300" lvl="1" indent="-342900">
              <a:buFont typeface="Arial" panose="020B0604020202020204" pitchFamily="34" charset="0"/>
              <a:buChar char="•"/>
            </a:pPr>
            <a:r>
              <a:rPr lang="pt-BR" dirty="0"/>
              <a:t>Organizar tudo em uma página desenvolvida em HTML e CSS</a:t>
            </a:r>
          </a:p>
          <a:p>
            <a:r>
              <a:rPr lang="pt-BR" dirty="0"/>
              <a:t>👥 Organização</a:t>
            </a:r>
          </a:p>
          <a:p>
            <a:pPr marL="1257300" lvl="1" indent="-342900">
              <a:buFont typeface="Arial" panose="020B0604020202020204" pitchFamily="34" charset="0"/>
              <a:buChar char="•"/>
            </a:pPr>
            <a:r>
              <a:rPr lang="pt-BR" dirty="0"/>
              <a:t>Formar grupos de 3 a 5 alunos</a:t>
            </a:r>
          </a:p>
          <a:p>
            <a:pPr marL="1257300" lvl="1" indent="-342900">
              <a:buFont typeface="Arial" panose="020B0604020202020204" pitchFamily="34" charset="0"/>
              <a:buChar char="•"/>
            </a:pPr>
            <a:r>
              <a:rPr lang="pt-BR" dirty="0"/>
              <a:t>Tempo para desenvolvimento: 20–40 minutos</a:t>
            </a:r>
          </a:p>
          <a:p>
            <a:pPr marL="1257300" lvl="1" indent="-342900">
              <a:buFont typeface="Arial" panose="020B0604020202020204" pitchFamily="34" charset="0"/>
              <a:buChar char="•"/>
            </a:pPr>
            <a:r>
              <a:rPr lang="pt-BR" dirty="0"/>
              <a:t>Apresentação: 5 minutos por grupo</a:t>
            </a:r>
          </a:p>
        </p:txBody>
      </p:sp>
    </p:spTree>
    <p:extLst>
      <p:ext uri="{BB962C8B-B14F-4D97-AF65-F5344CB8AC3E}">
        <p14:creationId xmlns:p14="http://schemas.microsoft.com/office/powerpoint/2010/main" val="359379403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A5669C-F504-BCE4-6275-CA44CCD32E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Etapa 1 – Identificação de Ativos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1F6A5AD-6317-C68E-5F32-3F50747921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Cada grupo deve identificar </a:t>
            </a:r>
            <a:r>
              <a:rPr lang="pt-BR" b="1" dirty="0"/>
              <a:t>3 ativos de informação</a:t>
            </a:r>
            <a:r>
              <a:rPr lang="pt-BR" dirty="0"/>
              <a:t> da faculdade.</a:t>
            </a:r>
          </a:p>
          <a:p>
            <a:r>
              <a:rPr lang="pt-BR" dirty="0"/>
              <a:t>Exemplos:</a:t>
            </a:r>
          </a:p>
          <a:p>
            <a:pPr lvl="1"/>
            <a:r>
              <a:rPr lang="pt-BR" dirty="0"/>
              <a:t>Sistema acadêmico</a:t>
            </a:r>
          </a:p>
          <a:p>
            <a:pPr lvl="1"/>
            <a:r>
              <a:rPr lang="pt-BR" dirty="0"/>
              <a:t>Banco de dados de alunos</a:t>
            </a:r>
          </a:p>
          <a:p>
            <a:pPr lvl="1"/>
            <a:r>
              <a:rPr lang="pt-BR" dirty="0"/>
              <a:t>Wi-Fi institucional</a:t>
            </a:r>
          </a:p>
          <a:p>
            <a:pPr lvl="1"/>
            <a:r>
              <a:rPr lang="pt-BR" dirty="0"/>
              <a:t>Portal do aluno</a:t>
            </a:r>
          </a:p>
          <a:p>
            <a:pPr lvl="1"/>
            <a:r>
              <a:rPr lang="pt-BR" dirty="0"/>
              <a:t>Servidores internos</a:t>
            </a:r>
          </a:p>
          <a:p>
            <a:pPr lvl="1"/>
            <a:r>
              <a:rPr lang="pt-BR" dirty="0"/>
              <a:t>E-mails institucionais</a:t>
            </a:r>
          </a:p>
          <a:p>
            <a:pPr lvl="1"/>
            <a:r>
              <a:rPr lang="pt-BR" dirty="0"/>
              <a:t>Laboratórios de informática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0644628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69BF89-833D-D7BA-B956-8EFE0DABC0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Etapa 2 – Identificação de Riscos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06DDB77-EF6B-583F-24F4-74FF83C096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4898" y="1844675"/>
            <a:ext cx="5503653" cy="4351338"/>
          </a:xfrm>
        </p:spPr>
        <p:txBody>
          <a:bodyPr/>
          <a:lstStyle/>
          <a:p>
            <a:r>
              <a:rPr lang="pt-BR" dirty="0"/>
              <a:t>Para cada ativo identificado, o grupo deve responder:</a:t>
            </a:r>
          </a:p>
          <a:p>
            <a:pPr lvl="1" indent="0">
              <a:buNone/>
            </a:pPr>
            <a:r>
              <a:rPr lang="pt-BR" dirty="0"/>
              <a:t>Qual é o risco?</a:t>
            </a:r>
          </a:p>
          <a:p>
            <a:pPr lvl="1" indent="0">
              <a:buNone/>
            </a:pPr>
            <a:r>
              <a:rPr lang="pt-BR" dirty="0"/>
              <a:t>O que pode acontecer?</a:t>
            </a:r>
          </a:p>
          <a:p>
            <a:pPr lvl="1" indent="0">
              <a:buNone/>
            </a:pPr>
            <a:r>
              <a:rPr lang="pt-BR" dirty="0"/>
              <a:t>Qual impacto isso geraria?</a:t>
            </a:r>
          </a:p>
          <a:p>
            <a:pPr lvl="1" indent="0">
              <a:buNone/>
            </a:pPr>
            <a:r>
              <a:rPr lang="pt-BR" dirty="0"/>
              <a:t>Qual princípio da Segurança da Informação pode ser afetado?</a:t>
            </a:r>
          </a:p>
          <a:p>
            <a:pPr lvl="2" indent="0">
              <a:buNone/>
            </a:pPr>
            <a:r>
              <a:rPr lang="pt-BR" dirty="0"/>
              <a:t>Confidencialidade?</a:t>
            </a:r>
          </a:p>
          <a:p>
            <a:pPr lvl="2" indent="0">
              <a:buNone/>
            </a:pPr>
            <a:r>
              <a:rPr lang="pt-BR" dirty="0"/>
              <a:t>Integridade?</a:t>
            </a:r>
          </a:p>
          <a:p>
            <a:pPr lvl="2" indent="0">
              <a:buNone/>
            </a:pPr>
            <a:r>
              <a:rPr lang="pt-BR" dirty="0"/>
              <a:t>Disponibilidade?</a:t>
            </a:r>
          </a:p>
        </p:txBody>
      </p:sp>
      <p:sp>
        <p:nvSpPr>
          <p:cNvPr id="4" name="Espaço Reservado para Texto 2">
            <a:extLst>
              <a:ext uri="{FF2B5EF4-FFF2-40B4-BE49-F238E27FC236}">
                <a16:creationId xmlns:a16="http://schemas.microsoft.com/office/drawing/2014/main" id="{F5FC0A91-FFA6-063C-2716-FB0078DE371B}"/>
              </a:ext>
            </a:extLst>
          </p:cNvPr>
          <p:cNvSpPr txBox="1">
            <a:spLocks/>
          </p:cNvSpPr>
          <p:nvPr/>
        </p:nvSpPr>
        <p:spPr>
          <a:xfrm>
            <a:off x="6293449" y="1844675"/>
            <a:ext cx="5503653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30200" algn="just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17500" algn="just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04800" algn="just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292100" algn="just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pt-BR" dirty="0"/>
              <a:t>Exemplo:</a:t>
            </a:r>
          </a:p>
          <a:p>
            <a:pPr lvl="1" indent="0">
              <a:buFont typeface="Arial"/>
              <a:buNone/>
            </a:pPr>
            <a:r>
              <a:rPr lang="pt-BR" dirty="0"/>
              <a:t>Ativo: Sistema acadêmico</a:t>
            </a:r>
          </a:p>
          <a:p>
            <a:pPr lvl="1" indent="0">
              <a:buFont typeface="Arial"/>
              <a:buNone/>
            </a:pPr>
            <a:r>
              <a:rPr lang="pt-BR" dirty="0"/>
              <a:t>Risco: Ataque de </a:t>
            </a:r>
            <a:r>
              <a:rPr lang="pt-BR" dirty="0" err="1"/>
              <a:t>Ransomware</a:t>
            </a:r>
            <a:endParaRPr lang="pt-BR" dirty="0"/>
          </a:p>
          <a:p>
            <a:pPr lvl="1" indent="0">
              <a:buFont typeface="Arial"/>
              <a:buNone/>
            </a:pPr>
            <a:r>
              <a:rPr lang="pt-BR" dirty="0"/>
              <a:t>Impacto: Perda de acesso às notas</a:t>
            </a:r>
          </a:p>
          <a:p>
            <a:pPr lvl="1" indent="0">
              <a:buFont typeface="Arial"/>
              <a:buNone/>
            </a:pPr>
            <a:r>
              <a:rPr lang="pt-BR" dirty="0"/>
              <a:t>Princípio afetado: Disponibilidade</a:t>
            </a:r>
          </a:p>
        </p:txBody>
      </p:sp>
    </p:spTree>
    <p:extLst>
      <p:ext uri="{BB962C8B-B14F-4D97-AF65-F5344CB8AC3E}">
        <p14:creationId xmlns:p14="http://schemas.microsoft.com/office/powerpoint/2010/main" val="123307528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97381C-5820-AB39-C322-26348F3EFA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Etapa 3 – Desenvolvimento da Página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8BED60B-FD36-D29A-D552-06528294C9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O grupo deverá criar uma página utilizando apenas:</a:t>
            </a:r>
          </a:p>
          <a:p>
            <a:pPr marL="1257300" lvl="1" indent="-342900">
              <a:buFont typeface="Arial" panose="020B0604020202020204" pitchFamily="34" charset="0"/>
              <a:buChar char="•"/>
            </a:pPr>
            <a:r>
              <a:rPr lang="pt-BR" dirty="0"/>
              <a:t>HTML</a:t>
            </a:r>
          </a:p>
          <a:p>
            <a:pPr marL="1257300" lvl="1" indent="-342900">
              <a:buFont typeface="Arial" panose="020B0604020202020204" pitchFamily="34" charset="0"/>
              <a:buChar char="•"/>
            </a:pPr>
            <a:r>
              <a:rPr lang="pt-BR" dirty="0"/>
              <a:t>CSS</a:t>
            </a:r>
          </a:p>
          <a:p>
            <a:r>
              <a:rPr lang="pt-BR" dirty="0"/>
              <a:t>A página deve conter:</a:t>
            </a:r>
          </a:p>
          <a:p>
            <a:pPr marL="1257300" lvl="1" indent="-342900">
              <a:buFont typeface="Arial" panose="020B0604020202020204" pitchFamily="34" charset="0"/>
              <a:buChar char="•"/>
            </a:pPr>
            <a:r>
              <a:rPr lang="pt-BR" dirty="0"/>
              <a:t>Título do trabalho</a:t>
            </a:r>
          </a:p>
          <a:p>
            <a:pPr marL="1257300" lvl="1" indent="-342900">
              <a:buFont typeface="Arial" panose="020B0604020202020204" pitchFamily="34" charset="0"/>
              <a:buChar char="•"/>
            </a:pPr>
            <a:r>
              <a:rPr lang="pt-BR" dirty="0"/>
              <a:t>Nome dos integrantes</a:t>
            </a:r>
          </a:p>
          <a:p>
            <a:pPr marL="1257300" lvl="1" indent="-342900">
              <a:buFont typeface="Arial" panose="020B0604020202020204" pitchFamily="34" charset="0"/>
              <a:buChar char="•"/>
            </a:pPr>
            <a:r>
              <a:rPr lang="pt-BR" dirty="0"/>
              <a:t>Lista dos 5 ativos</a:t>
            </a:r>
          </a:p>
          <a:p>
            <a:pPr marL="1257300" lvl="1" indent="-342900">
              <a:buFont typeface="Arial" panose="020B0604020202020204" pitchFamily="34" charset="0"/>
              <a:buChar char="•"/>
            </a:pPr>
            <a:r>
              <a:rPr lang="pt-BR" dirty="0"/>
              <a:t>Riscos associados</a:t>
            </a:r>
          </a:p>
          <a:p>
            <a:pPr marL="1257300" lvl="1" indent="-342900">
              <a:buFont typeface="Arial" panose="020B0604020202020204" pitchFamily="34" charset="0"/>
              <a:buChar char="•"/>
            </a:pPr>
            <a:r>
              <a:rPr lang="pt-BR" dirty="0"/>
              <a:t>Impactos</a:t>
            </a:r>
          </a:p>
          <a:p>
            <a:pPr marL="1257300" lvl="1" indent="-342900">
              <a:buFont typeface="Arial" panose="020B0604020202020204" pitchFamily="34" charset="0"/>
              <a:buChar char="•"/>
            </a:pPr>
            <a:r>
              <a:rPr lang="pt-BR" dirty="0"/>
              <a:t>Princípio da segurança afetado</a:t>
            </a:r>
          </a:p>
        </p:txBody>
      </p:sp>
    </p:spTree>
    <p:extLst>
      <p:ext uri="{BB962C8B-B14F-4D97-AF65-F5344CB8AC3E}">
        <p14:creationId xmlns:p14="http://schemas.microsoft.com/office/powerpoint/2010/main" val="128579338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FC747262AEFF6E47A3CB051106D2382E" ma:contentTypeVersion="3" ma:contentTypeDescription="Crie um novo documento." ma:contentTypeScope="" ma:versionID="78b43c15f34748c3a7ae33a788a680ff">
  <xsd:schema xmlns:xsd="http://www.w3.org/2001/XMLSchema" xmlns:xs="http://www.w3.org/2001/XMLSchema" xmlns:p="http://schemas.microsoft.com/office/2006/metadata/properties" xmlns:ns2="adbca637-b409-402b-9852-6cf3890dd3c6" targetNamespace="http://schemas.microsoft.com/office/2006/metadata/properties" ma:root="true" ma:fieldsID="b8e111a2493b2e2e8385f791067ecb12" ns2:_="">
    <xsd:import namespace="adbca637-b409-402b-9852-6cf3890dd3c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dbca637-b409-402b-9852-6cf3890dd3c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5E6FB1E-1B7E-4CF7-A186-86D2B92280D5}"/>
</file>

<file path=customXml/itemProps2.xml><?xml version="1.0" encoding="utf-8"?>
<ds:datastoreItem xmlns:ds="http://schemas.openxmlformats.org/officeDocument/2006/customXml" ds:itemID="{96D21BA0-6919-494E-BE83-EAE3E6D61A8D}"/>
</file>

<file path=customXml/itemProps3.xml><?xml version="1.0" encoding="utf-8"?>
<ds:datastoreItem xmlns:ds="http://schemas.openxmlformats.org/officeDocument/2006/customXml" ds:itemID="{4B525E72-8A61-466B-B90F-3F54E2852847}"/>
</file>

<file path=docProps/app.xml><?xml version="1.0" encoding="utf-8"?>
<Properties xmlns="http://schemas.openxmlformats.org/officeDocument/2006/extended-properties" xmlns:vt="http://schemas.openxmlformats.org/officeDocument/2006/docPropsVTypes">
  <TotalTime>249</TotalTime>
  <Words>1880</Words>
  <Application>Microsoft Office PowerPoint</Application>
  <PresentationFormat>Widescreen</PresentationFormat>
  <Paragraphs>198</Paragraphs>
  <Slides>34</Slides>
  <Notes>14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34</vt:i4>
      </vt:variant>
    </vt:vector>
  </HeadingPairs>
  <TitlesOfParts>
    <vt:vector size="38" baseType="lpstr">
      <vt:lpstr>Arial</vt:lpstr>
      <vt:lpstr>Calibri</vt:lpstr>
      <vt:lpstr>Times New Roman</vt:lpstr>
      <vt:lpstr>Tema do Office</vt:lpstr>
      <vt:lpstr>Fundamentos da Segurança da Informação</vt:lpstr>
      <vt:lpstr>Apresentação sobre ISO 27001 E ISO 27002</vt:lpstr>
      <vt:lpstr>Objetivos da Aula</vt:lpstr>
      <vt:lpstr>Criação e Utilização de dados</vt:lpstr>
      <vt:lpstr>Dispositivos de armazenamento</vt:lpstr>
      <vt:lpstr>Pesquisas de informações </vt:lpstr>
      <vt:lpstr>Tamanho de um petabyte de dados</vt:lpstr>
      <vt:lpstr>Tamanho de um petabyte de dados</vt:lpstr>
      <vt:lpstr>Clive Humby</vt:lpstr>
      <vt:lpstr>Compartilhamento de Informação</vt:lpstr>
      <vt:lpstr>Classificação da Informação: Proteção e Confidencialidade</vt:lpstr>
      <vt:lpstr>Níveis de classificação da informação</vt:lpstr>
      <vt:lpstr>Níveis de classificação da informação</vt:lpstr>
      <vt:lpstr>Fundamentos da segurança da informação</vt:lpstr>
      <vt:lpstr>Importância da classificação </vt:lpstr>
      <vt:lpstr>Pilar da Confiabilidade</vt:lpstr>
      <vt:lpstr>Exemplo Pilar da Confiabilidade</vt:lpstr>
      <vt:lpstr>Pilar da Integridade</vt:lpstr>
      <vt:lpstr>Exemplo Pilar da Integridade</vt:lpstr>
      <vt:lpstr>Exemplo Prático </vt:lpstr>
      <vt:lpstr>Pilar da Disponibilidade</vt:lpstr>
      <vt:lpstr>Exemplo Pilar da Disponibilidade</vt:lpstr>
      <vt:lpstr>Exemplo Pilar da Disponibilidade</vt:lpstr>
      <vt:lpstr>Estudo de caso  </vt:lpstr>
      <vt:lpstr>Estudo de caso  </vt:lpstr>
      <vt:lpstr>Estudo de caso </vt:lpstr>
      <vt:lpstr>Pilar da Autenticidade</vt:lpstr>
      <vt:lpstr>Exemplo Pilar da Autenticidade</vt:lpstr>
      <vt:lpstr>Pilar da Legalidade</vt:lpstr>
      <vt:lpstr>Exemplos do Pilar da Legalidade</vt:lpstr>
      <vt:lpstr>Atividade Prática - Mapeamento de Ativos e Riscos da Faculdade </vt:lpstr>
      <vt:lpstr>Etapa 1 – Identificação de Ativos</vt:lpstr>
      <vt:lpstr>Etapa 2 – Identificação de Riscos</vt:lpstr>
      <vt:lpstr>Etapa 3 – Desenvolvimento da Página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Pilares da Segurança da Informação</dc:title>
  <cp:lastModifiedBy>Pedro Miho</cp:lastModifiedBy>
  <cp:revision>37</cp:revision>
  <dcterms:modified xsi:type="dcterms:W3CDTF">2026-02-22T21:06:00Z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0x010100FC747262AEFF6E47A3CB051106D2382E</vt:lpwstr>
  </property>
</Properties>
</file>