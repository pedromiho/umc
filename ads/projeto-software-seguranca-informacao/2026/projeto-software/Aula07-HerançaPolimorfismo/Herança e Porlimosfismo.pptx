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7"/>
  </p:notesMasterIdLst>
  <p:sldIdLst>
    <p:sldId id="256" r:id="rId2"/>
    <p:sldId id="266" r:id="rId3"/>
    <p:sldId id="267" r:id="rId4"/>
    <p:sldId id="268" r:id="rId5"/>
    <p:sldId id="269" r:id="rId6"/>
    <p:sldId id="270" r:id="rId7"/>
    <p:sldId id="257" r:id="rId8"/>
    <p:sldId id="259" r:id="rId9"/>
    <p:sldId id="260" r:id="rId10"/>
    <p:sldId id="264" r:id="rId11"/>
    <p:sldId id="265" r:id="rId12"/>
    <p:sldId id="271" r:id="rId13"/>
    <p:sldId id="272" r:id="rId14"/>
    <p:sldId id="262" r:id="rId15"/>
    <p:sldId id="263" r:id="rId1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dro Henrique Miho de Souza" initials="PHMdS" lastIdx="2" clrIdx="0">
    <p:extLst>
      <p:ext uri="{19B8F6BF-5375-455C-9EA6-DF929625EA0E}">
        <p15:presenceInfo xmlns:p15="http://schemas.microsoft.com/office/powerpoint/2012/main" userId="S-1-5-21-1968796493-41410912-2451105760-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A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showGuides="1">
      <p:cViewPr varScale="1">
        <p:scale>
          <a:sx n="113" d="100"/>
          <a:sy n="113" d="100"/>
        </p:scale>
        <p:origin x="336"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B45FB-FC1C-4893-B550-48C1193193C6}" type="datetimeFigureOut">
              <a:rPr lang="pt-BR" smtClean="0"/>
              <a:t>13/09/2026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00886-2B44-4102-B316-2BF70C094002}" type="slidenum">
              <a:rPr lang="pt-BR" smtClean="0"/>
              <a:t>‹nº›</a:t>
            </a:fld>
            <a:endParaRPr lang="pt-BR"/>
          </a:p>
        </p:txBody>
      </p:sp>
    </p:spTree>
    <p:extLst>
      <p:ext uri="{BB962C8B-B14F-4D97-AF65-F5344CB8AC3E}">
        <p14:creationId xmlns:p14="http://schemas.microsoft.com/office/powerpoint/2010/main" val="261252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F73EA-414C-4929-B3E7-AD122EFFBFBF}"/>
              </a:ext>
            </a:extLst>
          </p:cNvPr>
          <p:cNvSpPr>
            <a:spLocks noGrp="1"/>
          </p:cNvSpPr>
          <p:nvPr>
            <p:ph type="ctrTitle"/>
          </p:nvPr>
        </p:nvSpPr>
        <p:spPr>
          <a:xfrm>
            <a:off x="1524000" y="1652931"/>
            <a:ext cx="9144000" cy="2387600"/>
          </a:xfrm>
          <a:prstGeom prst="rect">
            <a:avLst/>
          </a:prstGeom>
        </p:spPr>
        <p:txBody>
          <a:bodyPr anchor="b"/>
          <a:lstStyle>
            <a:lvl1pPr algn="ctr">
              <a:defRPr sz="60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Subtítulo 2">
            <a:extLst>
              <a:ext uri="{FF2B5EF4-FFF2-40B4-BE49-F238E27FC236}">
                <a16:creationId xmlns:a16="http://schemas.microsoft.com/office/drawing/2014/main" id="{C37FCEED-3F66-43BC-8B20-36021361A3BF}"/>
              </a:ext>
            </a:extLst>
          </p:cNvPr>
          <p:cNvSpPr>
            <a:spLocks noGrp="1"/>
          </p:cNvSpPr>
          <p:nvPr>
            <p:ph type="subTitle" idx="1"/>
          </p:nvPr>
        </p:nvSpPr>
        <p:spPr>
          <a:xfrm>
            <a:off x="1524000" y="4260550"/>
            <a:ext cx="9144000" cy="1655762"/>
          </a:xfrm>
          <a:prstGeom prst="rect">
            <a:avLst/>
          </a:prstGeo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Clique para editar o estilo do subtítulo Mestre</a:t>
            </a:r>
          </a:p>
        </p:txBody>
      </p:sp>
    </p:spTree>
    <p:extLst>
      <p:ext uri="{BB962C8B-B14F-4D97-AF65-F5344CB8AC3E}">
        <p14:creationId xmlns:p14="http://schemas.microsoft.com/office/powerpoint/2010/main" val="2639507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5DFB8E-AD99-4A2B-8BE2-ED878F912428}"/>
              </a:ext>
            </a:extLst>
          </p:cNvPr>
          <p:cNvSpPr>
            <a:spLocks noGrp="1"/>
          </p:cNvSpPr>
          <p:nvPr>
            <p:ph type="title"/>
          </p:nvPr>
        </p:nvSpPr>
        <p:spPr>
          <a:xfrm>
            <a:off x="749185" y="854420"/>
            <a:ext cx="9409981" cy="448573"/>
          </a:xfrm>
          <a:prstGeom prst="rect">
            <a:avLst/>
          </a:prstGeom>
        </p:spPr>
        <p:txBody>
          <a:bodyPr/>
          <a:lstStyle>
            <a:lvl1pPr>
              <a:defRPr sz="2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F1BA61F7-989E-45C9-916D-42CE0B17B371}"/>
              </a:ext>
            </a:extLst>
          </p:cNvPr>
          <p:cNvSpPr>
            <a:spLocks noGrp="1"/>
          </p:cNvSpPr>
          <p:nvPr>
            <p:ph idx="1"/>
          </p:nvPr>
        </p:nvSpPr>
        <p:spPr>
          <a:xfrm>
            <a:off x="592347" y="1844675"/>
            <a:ext cx="11007306" cy="4351338"/>
          </a:xfrm>
          <a:prstGeom prst="rect">
            <a:avLst/>
          </a:prstGeom>
        </p:spPr>
        <p:txBody>
          <a:bodyPr/>
          <a:lstStyle>
            <a:lvl1pPr marL="0" indent="0" algn="just">
              <a:lnSpc>
                <a:spcPct val="150000"/>
              </a:lnSpc>
              <a:spcBef>
                <a:spcPts val="0"/>
              </a:spcBef>
              <a:buNone/>
              <a:defRPr sz="2000">
                <a:latin typeface="Times New Roman" panose="02020603050405020304" pitchFamily="18" charset="0"/>
                <a:cs typeface="Times New Roman" panose="02020603050405020304" pitchFamily="18" charset="0"/>
              </a:defRPr>
            </a:lvl1pPr>
            <a:lvl2pPr algn="just">
              <a:lnSpc>
                <a:spcPct val="150000"/>
              </a:lnSpc>
              <a:defRPr sz="1600">
                <a:latin typeface="Times New Roman" panose="02020603050405020304" pitchFamily="18" charset="0"/>
                <a:cs typeface="Times New Roman" panose="02020603050405020304" pitchFamily="18" charset="0"/>
              </a:defRPr>
            </a:lvl2pPr>
            <a:lvl3pPr algn="just">
              <a:lnSpc>
                <a:spcPct val="150000"/>
              </a:lnSpc>
              <a:defRPr sz="1400">
                <a:latin typeface="Times New Roman" panose="02020603050405020304" pitchFamily="18" charset="0"/>
                <a:cs typeface="Times New Roman" panose="02020603050405020304" pitchFamily="18" charset="0"/>
              </a:defRPr>
            </a:lvl3pPr>
            <a:lvl4pPr algn="just">
              <a:lnSpc>
                <a:spcPct val="150000"/>
              </a:lnSpc>
              <a:spcBef>
                <a:spcPts val="0"/>
              </a:spcBef>
              <a:defRPr sz="1200">
                <a:latin typeface="Times New Roman" panose="02020603050405020304" pitchFamily="18" charset="0"/>
                <a:cs typeface="Times New Roman" panose="02020603050405020304" pitchFamily="18" charset="0"/>
              </a:defRPr>
            </a:lvl4pPr>
            <a:lvl5pPr algn="just">
              <a:lnSpc>
                <a:spcPct val="150000"/>
              </a:lnSpc>
              <a:spcBef>
                <a:spcPts val="0"/>
              </a:spcBef>
              <a:defRPr sz="10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2907272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40976-951F-48E1-9F65-E2E7237C089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3F09C38-83BA-4379-9DE9-B52DAEE2D66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7801F2F7-E203-4170-8B06-E39E4EF61BE0}"/>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5" name="Espaço Reservado para Rodapé 4">
            <a:extLst>
              <a:ext uri="{FF2B5EF4-FFF2-40B4-BE49-F238E27FC236}">
                <a16:creationId xmlns:a16="http://schemas.microsoft.com/office/drawing/2014/main" id="{CE2FDAB5-81C4-491B-B1DB-3E7A63996A04}"/>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AF87684E-F6A9-4B10-B6C6-98901C57A499}"/>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1822691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37CFC-895E-42D9-B850-249E3AA6498C}"/>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6E2EF1D-1141-40D7-BDED-690939FB81B7}"/>
              </a:ext>
            </a:extLst>
          </p:cNvPr>
          <p:cNvSpPr>
            <a:spLocks noGrp="1"/>
          </p:cNvSpPr>
          <p:nvPr>
            <p:ph sz="half" idx="1"/>
          </p:nvPr>
        </p:nvSpPr>
        <p:spPr>
          <a:xfrm>
            <a:off x="838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ECF165-5788-48F8-B64E-CAD147B1C6F3}"/>
              </a:ext>
            </a:extLst>
          </p:cNvPr>
          <p:cNvSpPr>
            <a:spLocks noGrp="1"/>
          </p:cNvSpPr>
          <p:nvPr>
            <p:ph sz="half" idx="2"/>
          </p:nvPr>
        </p:nvSpPr>
        <p:spPr>
          <a:xfrm>
            <a:off x="6172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21A5A9C-1616-4A2F-9897-2AA0D6A7B0E1}"/>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6" name="Espaço Reservado para Rodapé 5">
            <a:extLst>
              <a:ext uri="{FF2B5EF4-FFF2-40B4-BE49-F238E27FC236}">
                <a16:creationId xmlns:a16="http://schemas.microsoft.com/office/drawing/2014/main" id="{819E4B8E-0EE6-4C64-9500-F64ED0B84D56}"/>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BFE3A651-93A6-476E-86D8-9380EB0792B9}"/>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11802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8013D5-4B61-49F1-B604-8019D708D1CC}"/>
              </a:ext>
            </a:extLst>
          </p:cNvPr>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7207A11-9E53-4968-BFBB-FBA312D24CA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DE141C8A-81E9-4FD8-AF20-F5BD9DA313CA}"/>
              </a:ext>
            </a:extLst>
          </p:cNvPr>
          <p:cNvSpPr>
            <a:spLocks noGrp="1"/>
          </p:cNvSpPr>
          <p:nvPr>
            <p:ph sz="half" idx="2"/>
          </p:nvPr>
        </p:nvSpPr>
        <p:spPr>
          <a:xfrm>
            <a:off x="839788" y="2505075"/>
            <a:ext cx="5157787"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B1C8E84-38D3-49F5-9A51-7C0AF548DF7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F895D1BB-221B-469A-A06C-FD406B207A37}"/>
              </a:ext>
            </a:extLst>
          </p:cNvPr>
          <p:cNvSpPr>
            <a:spLocks noGrp="1"/>
          </p:cNvSpPr>
          <p:nvPr>
            <p:ph sz="quarter" idx="4"/>
          </p:nvPr>
        </p:nvSpPr>
        <p:spPr>
          <a:xfrm>
            <a:off x="6172200" y="2505075"/>
            <a:ext cx="5183188"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EAA33C3-5B87-4019-8743-8F9C2F983009}"/>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8" name="Espaço Reservado para Rodapé 7">
            <a:extLst>
              <a:ext uri="{FF2B5EF4-FFF2-40B4-BE49-F238E27FC236}">
                <a16:creationId xmlns:a16="http://schemas.microsoft.com/office/drawing/2014/main" id="{70BDA0B8-E9EF-4477-9209-5DEC09732C40}"/>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FBCF0E10-CAD6-4E43-98B3-1AFB88B68546}"/>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64505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29988-C070-4222-8D96-E36CF17E191C}"/>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20D39C8-444E-4546-80F5-D0180A75AF94}"/>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4" name="Espaço Reservado para Rodapé 3">
            <a:extLst>
              <a:ext uri="{FF2B5EF4-FFF2-40B4-BE49-F238E27FC236}">
                <a16:creationId xmlns:a16="http://schemas.microsoft.com/office/drawing/2014/main" id="{61C134A4-BE1B-4962-9516-659CD4519DE4}"/>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1CE7749A-36AE-46D1-BE46-BE0E2F45BD08}"/>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345753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43BC826-C9FB-472E-956F-F80F0568AE25}"/>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3" name="Espaço Reservado para Rodapé 2">
            <a:extLst>
              <a:ext uri="{FF2B5EF4-FFF2-40B4-BE49-F238E27FC236}">
                <a16:creationId xmlns:a16="http://schemas.microsoft.com/office/drawing/2014/main" id="{6E154652-AECB-47CC-A9CD-8426C4D1ACA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D7E24980-9E3E-413B-9621-9DCBCC5F48F1}"/>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833773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EF455-B40C-43F1-B648-F6F57DD2C9E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C1570ACE-9666-4656-BDDD-596392FA709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8FF34EE3-79AE-487D-B73B-1A408180A02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E5AF76A-9469-4EBF-8DAC-F6889FD75462}"/>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6" name="Espaço Reservado para Rodapé 5">
            <a:extLst>
              <a:ext uri="{FF2B5EF4-FFF2-40B4-BE49-F238E27FC236}">
                <a16:creationId xmlns:a16="http://schemas.microsoft.com/office/drawing/2014/main" id="{8B4ED122-B6B8-4D0E-98A8-D1205798462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14136D5D-BD69-4CD2-A354-F8289DAAC667}"/>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428149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7CECA-FA2C-4E5F-A052-5D5CBF0F75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20F7117-B346-47D7-9DBC-5BBD02B232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FDB8822-F4D3-4DE6-B130-D7308F116CC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E370F3C1-6276-4A5F-B650-8B2E8FB06333}"/>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6" name="Espaço Reservado para Rodapé 5">
            <a:extLst>
              <a:ext uri="{FF2B5EF4-FFF2-40B4-BE49-F238E27FC236}">
                <a16:creationId xmlns:a16="http://schemas.microsoft.com/office/drawing/2014/main" id="{B142CF32-D9DD-42DF-9B63-B3207D85DB2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62A81DD0-CB02-442E-A173-AFA500CC711A}"/>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1776478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B2585-BC56-4839-AEEF-1B75486F2313}"/>
              </a:ext>
            </a:extLst>
          </p:cNvPr>
          <p:cNvSpPr>
            <a:spLocks noGrp="1"/>
          </p:cNvSpPr>
          <p:nvPr>
            <p:ph type="title"/>
          </p:nvPr>
        </p:nvSpPr>
        <p:spPr>
          <a:xfrm>
            <a:off x="838200" y="828134"/>
            <a:ext cx="9392728" cy="491707"/>
          </a:xfrm>
          <a:prstGeom prst="rect">
            <a:avLst/>
          </a:prstGeom>
        </p:spPr>
        <p:txBody>
          <a:bodyPr/>
          <a:lstStyle>
            <a:lvl1pPr>
              <a:defRPr sz="2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Espaço Reservado para Texto Vertical 2">
            <a:extLst>
              <a:ext uri="{FF2B5EF4-FFF2-40B4-BE49-F238E27FC236}">
                <a16:creationId xmlns:a16="http://schemas.microsoft.com/office/drawing/2014/main" id="{19D1A810-2C5E-49EA-AAFC-FDC1AA5F1FC4}"/>
              </a:ext>
            </a:extLst>
          </p:cNvPr>
          <p:cNvSpPr>
            <a:spLocks noGrp="1"/>
          </p:cNvSpPr>
          <p:nvPr>
            <p:ph type="body" orient="vert" idx="1"/>
          </p:nvPr>
        </p:nvSpPr>
        <p:spPr>
          <a:xfrm>
            <a:off x="605287" y="1825624"/>
            <a:ext cx="10981426" cy="4618307"/>
          </a:xfrm>
          <a:prstGeom prst="rect">
            <a:avLst/>
          </a:prstGeom>
        </p:spPr>
        <p:txBody>
          <a:bodyPr vert="eaVert"/>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86660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EDB59BB-5636-42CF-B124-FAF3D7953F15}"/>
              </a:ext>
            </a:extLst>
          </p:cNvPr>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3875309-BF17-4BAA-9583-FFA5CD6256CF}"/>
              </a:ext>
            </a:extLst>
          </p:cNvPr>
          <p:cNvSpPr>
            <a:spLocks noGrp="1"/>
          </p:cNvSpPr>
          <p:nvPr>
            <p:ph type="body" orient="vert" idx="1"/>
          </p:nvPr>
        </p:nvSpPr>
        <p:spPr>
          <a:xfrm>
            <a:off x="838200" y="365125"/>
            <a:ext cx="7734300" cy="5811838"/>
          </a:xfrm>
          <a:prstGeom prst="rect">
            <a:avLst/>
          </a:prstGeo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54D6C19-C741-47D2-A6CB-2906DBB98236}"/>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13/09/2026</a:t>
            </a:fld>
            <a:endParaRPr lang="pt-BR"/>
          </a:p>
        </p:txBody>
      </p:sp>
      <p:sp>
        <p:nvSpPr>
          <p:cNvPr id="5" name="Espaço Reservado para Rodapé 4">
            <a:extLst>
              <a:ext uri="{FF2B5EF4-FFF2-40B4-BE49-F238E27FC236}">
                <a16:creationId xmlns:a16="http://schemas.microsoft.com/office/drawing/2014/main" id="{3AC129DE-944E-4128-9F49-76B5C1F4FBC2}"/>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20892AE-B301-431E-9D8C-F0BDAF576005}"/>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565955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56E30110-E419-43DB-AEFA-3636065754B3}"/>
              </a:ext>
            </a:extLst>
          </p:cNvPr>
          <p:cNvPicPr>
            <a:picLocks noChangeAspect="1"/>
          </p:cNvPicPr>
          <p:nvPr userDrawn="1"/>
        </p:nvPicPr>
        <p:blipFill>
          <a:blip r:embed="rId13"/>
          <a:stretch>
            <a:fillRect/>
          </a:stretch>
        </p:blipFill>
        <p:spPr>
          <a:xfrm>
            <a:off x="0" y="6762736"/>
            <a:ext cx="12192000" cy="95264"/>
          </a:xfrm>
          <a:prstGeom prst="rect">
            <a:avLst/>
          </a:prstGeom>
          <a:solidFill>
            <a:schemeClr val="bg1"/>
          </a:solidFill>
          <a:ln>
            <a:solidFill>
              <a:srgbClr val="292A86"/>
            </a:solidFill>
          </a:ln>
        </p:spPr>
      </p:pic>
      <p:pic>
        <p:nvPicPr>
          <p:cNvPr id="8" name="Imagem 7">
            <a:extLst>
              <a:ext uri="{FF2B5EF4-FFF2-40B4-BE49-F238E27FC236}">
                <a16:creationId xmlns:a16="http://schemas.microsoft.com/office/drawing/2014/main" id="{4AAA702B-ED3B-45E1-8C71-1ACC187886AA}"/>
              </a:ext>
            </a:extLst>
          </p:cNvPr>
          <p:cNvPicPr>
            <a:picLocks noChangeAspect="1"/>
          </p:cNvPicPr>
          <p:nvPr userDrawn="1"/>
        </p:nvPicPr>
        <p:blipFill>
          <a:blip r:embed="rId13"/>
          <a:stretch>
            <a:fillRect/>
          </a:stretch>
        </p:blipFill>
        <p:spPr>
          <a:xfrm>
            <a:off x="582422" y="635357"/>
            <a:ext cx="122428" cy="888712"/>
          </a:xfrm>
          <a:prstGeom prst="rect">
            <a:avLst/>
          </a:prstGeom>
          <a:solidFill>
            <a:srgbClr val="292A86"/>
          </a:solidFill>
        </p:spPr>
      </p:pic>
      <p:pic>
        <p:nvPicPr>
          <p:cNvPr id="9" name="Imagem 8">
            <a:extLst>
              <a:ext uri="{FF2B5EF4-FFF2-40B4-BE49-F238E27FC236}">
                <a16:creationId xmlns:a16="http://schemas.microsoft.com/office/drawing/2014/main" id="{49B168A8-B937-4519-802D-8D1D90A0A0EA}"/>
              </a:ext>
            </a:extLst>
          </p:cNvPr>
          <p:cNvPicPr>
            <a:picLocks noChangeAspect="1"/>
          </p:cNvPicPr>
          <p:nvPr userDrawn="1"/>
        </p:nvPicPr>
        <p:blipFill>
          <a:blip r:embed="rId14"/>
          <a:stretch>
            <a:fillRect/>
          </a:stretch>
        </p:blipFill>
        <p:spPr>
          <a:xfrm>
            <a:off x="10283716" y="719713"/>
            <a:ext cx="1273846" cy="720000"/>
          </a:xfrm>
          <a:prstGeom prst="rect">
            <a:avLst/>
          </a:prstGeom>
        </p:spPr>
      </p:pic>
    </p:spTree>
    <p:extLst>
      <p:ext uri="{BB962C8B-B14F-4D97-AF65-F5344CB8AC3E}">
        <p14:creationId xmlns:p14="http://schemas.microsoft.com/office/powerpoint/2010/main" val="290049584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8B8FC8-9D6D-4E3B-ABB7-9EF80D9004E4}"/>
              </a:ext>
            </a:extLst>
          </p:cNvPr>
          <p:cNvSpPr>
            <a:spLocks noGrp="1"/>
          </p:cNvSpPr>
          <p:nvPr>
            <p:ph type="ctrTitle"/>
          </p:nvPr>
        </p:nvSpPr>
        <p:spPr/>
        <p:txBody>
          <a:bodyPr/>
          <a:lstStyle/>
          <a:p>
            <a:r>
              <a:rPr lang="pt-BR" sz="5400" dirty="0"/>
              <a:t>Herança e Polimorfismo</a:t>
            </a:r>
          </a:p>
        </p:txBody>
      </p:sp>
      <p:sp>
        <p:nvSpPr>
          <p:cNvPr id="3" name="Subtítulo 2">
            <a:extLst>
              <a:ext uri="{FF2B5EF4-FFF2-40B4-BE49-F238E27FC236}">
                <a16:creationId xmlns:a16="http://schemas.microsoft.com/office/drawing/2014/main" id="{EE03FF3E-842E-4C89-BED7-4C22AAAEFC19}"/>
              </a:ext>
            </a:extLst>
          </p:cNvPr>
          <p:cNvSpPr>
            <a:spLocks noGrp="1"/>
          </p:cNvSpPr>
          <p:nvPr>
            <p:ph type="subTitle" idx="1"/>
          </p:nvPr>
        </p:nvSpPr>
        <p:spPr/>
        <p:txBody>
          <a:bodyPr/>
          <a:lstStyle/>
          <a:p>
            <a:r>
              <a:rPr lang="pt-BR" dirty="0"/>
              <a:t>Prof. Esp. Pedro Miho</a:t>
            </a:r>
          </a:p>
        </p:txBody>
      </p:sp>
    </p:spTree>
    <p:extLst>
      <p:ext uri="{BB962C8B-B14F-4D97-AF65-F5344CB8AC3E}">
        <p14:creationId xmlns:p14="http://schemas.microsoft.com/office/powerpoint/2010/main" val="160591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3E1A3D-8224-6B58-B499-03B3300E8D64}"/>
              </a:ext>
            </a:extLst>
          </p:cNvPr>
          <p:cNvSpPr>
            <a:spLocks noGrp="1"/>
          </p:cNvSpPr>
          <p:nvPr>
            <p:ph type="title"/>
          </p:nvPr>
        </p:nvSpPr>
        <p:spPr/>
        <p:txBody>
          <a:bodyPr/>
          <a:lstStyle/>
          <a:p>
            <a:r>
              <a:rPr lang="pt-BR" dirty="0"/>
              <a:t>Projeto </a:t>
            </a:r>
            <a:r>
              <a:rPr lang="pt-BR" dirty="0" err="1"/>
              <a:t>PetShop</a:t>
            </a:r>
            <a:endParaRPr lang="pt-BR" dirty="0"/>
          </a:p>
        </p:txBody>
      </p:sp>
      <p:sp>
        <p:nvSpPr>
          <p:cNvPr id="3" name="Espaço Reservado para Conteúdo 2">
            <a:extLst>
              <a:ext uri="{FF2B5EF4-FFF2-40B4-BE49-F238E27FC236}">
                <a16:creationId xmlns:a16="http://schemas.microsoft.com/office/drawing/2014/main" id="{B5C9C7AF-FBE7-9F76-2FD3-EFFC2B323FAE}"/>
              </a:ext>
            </a:extLst>
          </p:cNvPr>
          <p:cNvSpPr>
            <a:spLocks noGrp="1"/>
          </p:cNvSpPr>
          <p:nvPr>
            <p:ph idx="1"/>
          </p:nvPr>
        </p:nvSpPr>
        <p:spPr>
          <a:xfrm>
            <a:off x="592347" y="1844675"/>
            <a:ext cx="11007306" cy="2092843"/>
          </a:xfrm>
        </p:spPr>
        <p:txBody>
          <a:bodyPr/>
          <a:lstStyle/>
          <a:p>
            <a:r>
              <a:rPr lang="pt-BR" dirty="0"/>
              <a:t>Na aula de hoje iremos trabalhar com herança. Para isso, vamos criar um sistema de cadastro de animais para um pet shop, onde teremos três tipos de animais: cachorro, gato e peixe.</a:t>
            </a:r>
          </a:p>
          <a:p>
            <a:endParaRPr lang="pt-BR" dirty="0"/>
          </a:p>
          <a:p>
            <a:r>
              <a:rPr lang="pt-BR" dirty="0"/>
              <a:t>Antes de começar a codificar, vamos imaginar quais atributos cachorros, gatos e peixes possuem.</a:t>
            </a:r>
          </a:p>
        </p:txBody>
      </p:sp>
      <p:pic>
        <p:nvPicPr>
          <p:cNvPr id="7" name="Imagem 6" descr="Cachorro com a língua de fora&#10;&#10;O conteúdo gerado por IA pode estar incorreto.">
            <a:extLst>
              <a:ext uri="{FF2B5EF4-FFF2-40B4-BE49-F238E27FC236}">
                <a16:creationId xmlns:a16="http://schemas.microsoft.com/office/drawing/2014/main" id="{74D650BA-2A2F-369D-6F84-A2FED6C05118}"/>
              </a:ext>
            </a:extLst>
          </p:cNvPr>
          <p:cNvPicPr>
            <a:picLocks noChangeAspect="1"/>
          </p:cNvPicPr>
          <p:nvPr/>
        </p:nvPicPr>
        <p:blipFill>
          <a:blip r:embed="rId2"/>
          <a:stretch>
            <a:fillRect/>
          </a:stretch>
        </p:blipFill>
        <p:spPr>
          <a:xfrm>
            <a:off x="1454069" y="4299071"/>
            <a:ext cx="1524213" cy="1848108"/>
          </a:xfrm>
          <a:prstGeom prst="rect">
            <a:avLst/>
          </a:prstGeom>
        </p:spPr>
      </p:pic>
      <p:pic>
        <p:nvPicPr>
          <p:cNvPr id="11" name="Imagem 10" descr="Gato cinza e branco&#10;&#10;O conteúdo gerado por IA pode estar incorreto.">
            <a:extLst>
              <a:ext uri="{FF2B5EF4-FFF2-40B4-BE49-F238E27FC236}">
                <a16:creationId xmlns:a16="http://schemas.microsoft.com/office/drawing/2014/main" id="{6422CA0A-9A19-F97F-7408-7C6F665ABDBB}"/>
              </a:ext>
            </a:extLst>
          </p:cNvPr>
          <p:cNvPicPr>
            <a:picLocks noChangeAspect="1"/>
          </p:cNvPicPr>
          <p:nvPr/>
        </p:nvPicPr>
        <p:blipFill>
          <a:blip r:embed="rId3"/>
          <a:stretch>
            <a:fillRect/>
          </a:stretch>
        </p:blipFill>
        <p:spPr>
          <a:xfrm>
            <a:off x="4432351" y="4176704"/>
            <a:ext cx="1677883" cy="2092843"/>
          </a:xfrm>
          <a:prstGeom prst="rect">
            <a:avLst/>
          </a:prstGeom>
        </p:spPr>
      </p:pic>
      <p:pic>
        <p:nvPicPr>
          <p:cNvPr id="13" name="Imagem 12" descr="Peixe laranja e azul&#10;&#10;O conteúdo gerado por IA pode estar incorreto.">
            <a:extLst>
              <a:ext uri="{FF2B5EF4-FFF2-40B4-BE49-F238E27FC236}">
                <a16:creationId xmlns:a16="http://schemas.microsoft.com/office/drawing/2014/main" id="{224E3E91-A251-D18B-D926-2220E45211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4303" y="4358229"/>
            <a:ext cx="3173629" cy="1729792"/>
          </a:xfrm>
          <a:prstGeom prst="rect">
            <a:avLst/>
          </a:prstGeom>
        </p:spPr>
      </p:pic>
    </p:spTree>
    <p:extLst>
      <p:ext uri="{BB962C8B-B14F-4D97-AF65-F5344CB8AC3E}">
        <p14:creationId xmlns:p14="http://schemas.microsoft.com/office/powerpoint/2010/main" val="319445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96B5F-2FC2-E973-F2E3-112ADA6BD42B}"/>
              </a:ext>
            </a:extLst>
          </p:cNvPr>
          <p:cNvSpPr>
            <a:spLocks noGrp="1"/>
          </p:cNvSpPr>
          <p:nvPr>
            <p:ph type="title"/>
          </p:nvPr>
        </p:nvSpPr>
        <p:spPr/>
        <p:txBody>
          <a:bodyPr/>
          <a:lstStyle/>
          <a:p>
            <a:r>
              <a:rPr lang="pt-BR" dirty="0"/>
              <a:t>Atributos e Métodos</a:t>
            </a:r>
          </a:p>
        </p:txBody>
      </p:sp>
      <p:pic>
        <p:nvPicPr>
          <p:cNvPr id="10" name="Imagem 9" descr="Cachorro com a língua de fora&#10;&#10;O conteúdo gerado por IA pode estar incorreto.">
            <a:extLst>
              <a:ext uri="{FF2B5EF4-FFF2-40B4-BE49-F238E27FC236}">
                <a16:creationId xmlns:a16="http://schemas.microsoft.com/office/drawing/2014/main" id="{0355D96C-1BFE-2ED3-AB0F-FEE9524D64A9}"/>
              </a:ext>
            </a:extLst>
          </p:cNvPr>
          <p:cNvPicPr>
            <a:picLocks noChangeAspect="1"/>
          </p:cNvPicPr>
          <p:nvPr/>
        </p:nvPicPr>
        <p:blipFill>
          <a:blip r:embed="rId2"/>
          <a:stretch>
            <a:fillRect/>
          </a:stretch>
        </p:blipFill>
        <p:spPr>
          <a:xfrm>
            <a:off x="1757874" y="1828014"/>
            <a:ext cx="1167833" cy="1415997"/>
          </a:xfrm>
          <a:prstGeom prst="rect">
            <a:avLst/>
          </a:prstGeom>
        </p:spPr>
      </p:pic>
      <p:pic>
        <p:nvPicPr>
          <p:cNvPr id="11" name="Imagem 10" descr="Gato cinza e branco&#10;&#10;O conteúdo gerado por IA pode estar incorreto.">
            <a:extLst>
              <a:ext uri="{FF2B5EF4-FFF2-40B4-BE49-F238E27FC236}">
                <a16:creationId xmlns:a16="http://schemas.microsoft.com/office/drawing/2014/main" id="{02C6DFC5-257B-628E-5C70-F4A674A04653}"/>
              </a:ext>
            </a:extLst>
          </p:cNvPr>
          <p:cNvPicPr>
            <a:picLocks noChangeAspect="1"/>
          </p:cNvPicPr>
          <p:nvPr/>
        </p:nvPicPr>
        <p:blipFill>
          <a:blip r:embed="rId3"/>
          <a:stretch>
            <a:fillRect/>
          </a:stretch>
        </p:blipFill>
        <p:spPr>
          <a:xfrm>
            <a:off x="5447105" y="1726637"/>
            <a:ext cx="1297791" cy="1618750"/>
          </a:xfrm>
          <a:prstGeom prst="rect">
            <a:avLst/>
          </a:prstGeom>
        </p:spPr>
      </p:pic>
      <p:pic>
        <p:nvPicPr>
          <p:cNvPr id="12" name="Imagem 11" descr="Peixe laranja e azul&#10;&#10;O conteúdo gerado por IA pode estar incorreto.">
            <a:extLst>
              <a:ext uri="{FF2B5EF4-FFF2-40B4-BE49-F238E27FC236}">
                <a16:creationId xmlns:a16="http://schemas.microsoft.com/office/drawing/2014/main" id="{C07AE0BF-8FE2-8951-BEC7-C1A36418F9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3573" y="2058200"/>
            <a:ext cx="1753274" cy="955625"/>
          </a:xfrm>
          <a:prstGeom prst="rect">
            <a:avLst/>
          </a:prstGeom>
        </p:spPr>
      </p:pic>
      <p:pic>
        <p:nvPicPr>
          <p:cNvPr id="14" name="Imagem 13">
            <a:extLst>
              <a:ext uri="{FF2B5EF4-FFF2-40B4-BE49-F238E27FC236}">
                <a16:creationId xmlns:a16="http://schemas.microsoft.com/office/drawing/2014/main" id="{FAD5121C-4B26-9F8A-2A08-4E3404F4A302}"/>
              </a:ext>
            </a:extLst>
          </p:cNvPr>
          <p:cNvPicPr>
            <a:picLocks noChangeAspect="1"/>
          </p:cNvPicPr>
          <p:nvPr/>
        </p:nvPicPr>
        <p:blipFill>
          <a:blip r:embed="rId5"/>
          <a:stretch>
            <a:fillRect/>
          </a:stretch>
        </p:blipFill>
        <p:spPr>
          <a:xfrm>
            <a:off x="929371" y="3609325"/>
            <a:ext cx="2824839" cy="2520000"/>
          </a:xfrm>
          <a:prstGeom prst="rect">
            <a:avLst/>
          </a:prstGeom>
        </p:spPr>
      </p:pic>
      <p:pic>
        <p:nvPicPr>
          <p:cNvPr id="16" name="Imagem 15">
            <a:extLst>
              <a:ext uri="{FF2B5EF4-FFF2-40B4-BE49-F238E27FC236}">
                <a16:creationId xmlns:a16="http://schemas.microsoft.com/office/drawing/2014/main" id="{32EF091A-43FA-B78B-A18D-25CB3776504E}"/>
              </a:ext>
            </a:extLst>
          </p:cNvPr>
          <p:cNvPicPr>
            <a:picLocks noChangeAspect="1"/>
          </p:cNvPicPr>
          <p:nvPr/>
        </p:nvPicPr>
        <p:blipFill>
          <a:blip r:embed="rId6"/>
          <a:stretch>
            <a:fillRect/>
          </a:stretch>
        </p:blipFill>
        <p:spPr>
          <a:xfrm>
            <a:off x="4683581" y="3609325"/>
            <a:ext cx="2824839" cy="2520000"/>
          </a:xfrm>
          <a:prstGeom prst="rect">
            <a:avLst/>
          </a:prstGeom>
        </p:spPr>
      </p:pic>
      <p:pic>
        <p:nvPicPr>
          <p:cNvPr id="18" name="Imagem 17">
            <a:extLst>
              <a:ext uri="{FF2B5EF4-FFF2-40B4-BE49-F238E27FC236}">
                <a16:creationId xmlns:a16="http://schemas.microsoft.com/office/drawing/2014/main" id="{A1ED3618-19A2-37CF-A676-8196FEC1630F}"/>
              </a:ext>
            </a:extLst>
          </p:cNvPr>
          <p:cNvPicPr>
            <a:picLocks noChangeAspect="1"/>
          </p:cNvPicPr>
          <p:nvPr/>
        </p:nvPicPr>
        <p:blipFill>
          <a:blip r:embed="rId7"/>
          <a:stretch>
            <a:fillRect/>
          </a:stretch>
        </p:blipFill>
        <p:spPr>
          <a:xfrm>
            <a:off x="8437791" y="3609325"/>
            <a:ext cx="2824839" cy="2520000"/>
          </a:xfrm>
          <a:prstGeom prst="rect">
            <a:avLst/>
          </a:prstGeom>
        </p:spPr>
      </p:pic>
    </p:spTree>
    <p:extLst>
      <p:ext uri="{BB962C8B-B14F-4D97-AF65-F5344CB8AC3E}">
        <p14:creationId xmlns:p14="http://schemas.microsoft.com/office/powerpoint/2010/main" val="67358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C6DDAD-D8D2-9F2E-7451-BA09B0212C1E}"/>
              </a:ext>
            </a:extLst>
          </p:cNvPr>
          <p:cNvSpPr>
            <a:spLocks noGrp="1"/>
          </p:cNvSpPr>
          <p:nvPr>
            <p:ph type="title"/>
          </p:nvPr>
        </p:nvSpPr>
        <p:spPr>
          <a:xfrm>
            <a:off x="749185" y="854420"/>
            <a:ext cx="3944113" cy="448573"/>
          </a:xfrm>
        </p:spPr>
        <p:txBody>
          <a:bodyPr/>
          <a:lstStyle/>
          <a:p>
            <a:r>
              <a:rPr lang="pt-BR" dirty="0"/>
              <a:t>Refletindo sobre o código</a:t>
            </a:r>
          </a:p>
        </p:txBody>
      </p:sp>
      <p:sp>
        <p:nvSpPr>
          <p:cNvPr id="7" name="Espaço Reservado para Conteúdo 6">
            <a:extLst>
              <a:ext uri="{FF2B5EF4-FFF2-40B4-BE49-F238E27FC236}">
                <a16:creationId xmlns:a16="http://schemas.microsoft.com/office/drawing/2014/main" id="{ECB123AA-9823-208E-5A53-59B81AC51F0C}"/>
              </a:ext>
            </a:extLst>
          </p:cNvPr>
          <p:cNvSpPr>
            <a:spLocks noGrp="1"/>
          </p:cNvSpPr>
          <p:nvPr>
            <p:ph idx="1"/>
          </p:nvPr>
        </p:nvSpPr>
        <p:spPr/>
        <p:txBody>
          <a:bodyPr/>
          <a:lstStyle/>
          <a:p>
            <a:r>
              <a:rPr lang="pt-BR" dirty="0"/>
              <a:t>Agora que temos o sistema funcionando, vamos refletir um pouco sobre o código que escrevemos.</a:t>
            </a:r>
          </a:p>
          <a:p>
            <a:endParaRPr lang="pt-BR" dirty="0"/>
          </a:p>
          <a:p>
            <a:r>
              <a:rPr lang="pt-BR" dirty="0"/>
              <a:t>Percebam que nas três classes — Cachorro, Gato e Peixe — os atributos nome, idade e peso aparecem repetidos. O mesmo acontece com o método </a:t>
            </a:r>
            <a:r>
              <a:rPr lang="pt-BR" dirty="0" err="1"/>
              <a:t>exibirInfo</a:t>
            </a:r>
            <a:r>
              <a:rPr lang="pt-BR" dirty="0"/>
              <a:t>(), onde as linhas que exibem nome, idade e peso são praticamente idênticas nas três classes.</a:t>
            </a:r>
          </a:p>
          <a:p>
            <a:endParaRPr lang="pt-BR" dirty="0"/>
          </a:p>
          <a:p>
            <a:r>
              <a:rPr lang="pt-BR" dirty="0"/>
              <a:t>Isso nos leva a uma pergunta importante: </a:t>
            </a:r>
            <a:r>
              <a:rPr lang="pt-BR" b="1" dirty="0"/>
              <a:t>existe uma forma melhor de organizar esse código?</a:t>
            </a:r>
            <a:endParaRPr lang="pt-BR" dirty="0"/>
          </a:p>
        </p:txBody>
      </p:sp>
      <p:pic>
        <p:nvPicPr>
          <p:cNvPr id="10" name="Imagem 9" descr="Ícone&#10;&#10;O conteúdo gerado por IA pode estar incorreto.">
            <a:extLst>
              <a:ext uri="{FF2B5EF4-FFF2-40B4-BE49-F238E27FC236}">
                <a16:creationId xmlns:a16="http://schemas.microsoft.com/office/drawing/2014/main" id="{C8A9B681-A213-1D63-102F-A6588D0984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7211" y="5131302"/>
            <a:ext cx="1322442" cy="1322442"/>
          </a:xfrm>
          <a:prstGeom prst="rect">
            <a:avLst/>
          </a:prstGeom>
        </p:spPr>
      </p:pic>
    </p:spTree>
    <p:extLst>
      <p:ext uri="{BB962C8B-B14F-4D97-AF65-F5344CB8AC3E}">
        <p14:creationId xmlns:p14="http://schemas.microsoft.com/office/powerpoint/2010/main" val="406430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230A2D-9D47-D7F2-956C-821760FCB6DA}"/>
              </a:ext>
            </a:extLst>
          </p:cNvPr>
          <p:cNvSpPr>
            <a:spLocks noGrp="1"/>
          </p:cNvSpPr>
          <p:nvPr>
            <p:ph type="title"/>
          </p:nvPr>
        </p:nvSpPr>
        <p:spPr/>
        <p:txBody>
          <a:bodyPr/>
          <a:lstStyle/>
          <a:p>
            <a:r>
              <a:rPr lang="pt-BR" dirty="0"/>
              <a:t>Podemos melhorar isso?</a:t>
            </a:r>
          </a:p>
        </p:txBody>
      </p:sp>
      <p:sp>
        <p:nvSpPr>
          <p:cNvPr id="3" name="Espaço Reservado para Conteúdo 2">
            <a:extLst>
              <a:ext uri="{FF2B5EF4-FFF2-40B4-BE49-F238E27FC236}">
                <a16:creationId xmlns:a16="http://schemas.microsoft.com/office/drawing/2014/main" id="{0D2CEFC1-099D-3C45-733B-E3B41045F9B6}"/>
              </a:ext>
            </a:extLst>
          </p:cNvPr>
          <p:cNvSpPr>
            <a:spLocks noGrp="1"/>
          </p:cNvSpPr>
          <p:nvPr>
            <p:ph idx="1"/>
          </p:nvPr>
        </p:nvSpPr>
        <p:spPr/>
        <p:txBody>
          <a:bodyPr/>
          <a:lstStyle/>
          <a:p>
            <a:r>
              <a:rPr lang="pt-BR" dirty="0"/>
              <a:t>Sim, existe. E é exatamente aqui que entra a herança.</a:t>
            </a:r>
          </a:p>
          <a:p>
            <a:endParaRPr lang="pt-BR" dirty="0"/>
          </a:p>
          <a:p>
            <a:r>
              <a:rPr lang="pt-BR" dirty="0"/>
              <a:t>A herança nos permite identificar o que é comum entre as classes e mover esses atributos e métodos para um único lugar — a superclasse. As subclasses herdam tudo isso automaticamente, sem precisar repetir nada, e definem apenas o que é exclusivo delas.</a:t>
            </a:r>
          </a:p>
          <a:p>
            <a:endParaRPr lang="pt-BR" dirty="0"/>
          </a:p>
          <a:p>
            <a:r>
              <a:rPr lang="pt-BR" dirty="0"/>
              <a:t>No nosso caso, Cachorro, Gato e Peixe são todos animais. Faz todo sentido criar uma classe Animal com os atributos em comum, e deixar cada subclasse com apenas o que é seu — raça para o Cachorro, cor para o Gato e espécie para o Peixe.</a:t>
            </a:r>
          </a:p>
        </p:txBody>
      </p:sp>
    </p:spTree>
    <p:extLst>
      <p:ext uri="{BB962C8B-B14F-4D97-AF65-F5344CB8AC3E}">
        <p14:creationId xmlns:p14="http://schemas.microsoft.com/office/powerpoint/2010/main" val="2529941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E181-8722-C5FC-12C0-99072E52F1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BEF1DF-A2C5-0E02-6035-07349361421D}"/>
              </a:ext>
            </a:extLst>
          </p:cNvPr>
          <p:cNvSpPr>
            <a:spLocks noGrp="1"/>
          </p:cNvSpPr>
          <p:nvPr>
            <p:ph type="title"/>
          </p:nvPr>
        </p:nvSpPr>
        <p:spPr/>
        <p:txBody>
          <a:bodyPr/>
          <a:lstStyle/>
          <a:p>
            <a:r>
              <a:rPr lang="pt-BR" dirty="0"/>
              <a:t>Atributos e Métodos com Herança</a:t>
            </a:r>
          </a:p>
        </p:txBody>
      </p:sp>
      <p:pic>
        <p:nvPicPr>
          <p:cNvPr id="4" name="Imagem 3">
            <a:extLst>
              <a:ext uri="{FF2B5EF4-FFF2-40B4-BE49-F238E27FC236}">
                <a16:creationId xmlns:a16="http://schemas.microsoft.com/office/drawing/2014/main" id="{518CD119-6200-2052-5613-63D7BB2393E1}"/>
              </a:ext>
            </a:extLst>
          </p:cNvPr>
          <p:cNvPicPr>
            <a:picLocks noChangeAspect="1"/>
          </p:cNvPicPr>
          <p:nvPr/>
        </p:nvPicPr>
        <p:blipFill>
          <a:blip r:embed="rId2"/>
          <a:stretch>
            <a:fillRect/>
          </a:stretch>
        </p:blipFill>
        <p:spPr>
          <a:xfrm>
            <a:off x="4645565" y="1860991"/>
            <a:ext cx="2900870" cy="2160000"/>
          </a:xfrm>
          <a:prstGeom prst="rect">
            <a:avLst/>
          </a:prstGeom>
        </p:spPr>
      </p:pic>
      <p:pic>
        <p:nvPicPr>
          <p:cNvPr id="6" name="Imagem 5">
            <a:extLst>
              <a:ext uri="{FF2B5EF4-FFF2-40B4-BE49-F238E27FC236}">
                <a16:creationId xmlns:a16="http://schemas.microsoft.com/office/drawing/2014/main" id="{766A1EBA-5E4B-7A69-2163-E90E0F1FF285}"/>
              </a:ext>
            </a:extLst>
          </p:cNvPr>
          <p:cNvPicPr>
            <a:picLocks noChangeAspect="1"/>
          </p:cNvPicPr>
          <p:nvPr/>
        </p:nvPicPr>
        <p:blipFill>
          <a:blip r:embed="rId3"/>
          <a:stretch>
            <a:fillRect/>
          </a:stretch>
        </p:blipFill>
        <p:spPr>
          <a:xfrm>
            <a:off x="946320" y="4865524"/>
            <a:ext cx="2802240" cy="1260000"/>
          </a:xfrm>
          <a:prstGeom prst="rect">
            <a:avLst/>
          </a:prstGeom>
        </p:spPr>
      </p:pic>
      <p:pic>
        <p:nvPicPr>
          <p:cNvPr id="8" name="Imagem 7">
            <a:extLst>
              <a:ext uri="{FF2B5EF4-FFF2-40B4-BE49-F238E27FC236}">
                <a16:creationId xmlns:a16="http://schemas.microsoft.com/office/drawing/2014/main" id="{835AF5FE-4972-5182-C2C2-75F1F94F4501}"/>
              </a:ext>
            </a:extLst>
          </p:cNvPr>
          <p:cNvPicPr>
            <a:picLocks noChangeAspect="1"/>
          </p:cNvPicPr>
          <p:nvPr/>
        </p:nvPicPr>
        <p:blipFill>
          <a:blip r:embed="rId4"/>
          <a:stretch>
            <a:fillRect/>
          </a:stretch>
        </p:blipFill>
        <p:spPr>
          <a:xfrm>
            <a:off x="4694880" y="4865525"/>
            <a:ext cx="2802240" cy="1260000"/>
          </a:xfrm>
          <a:prstGeom prst="rect">
            <a:avLst/>
          </a:prstGeom>
        </p:spPr>
      </p:pic>
      <p:pic>
        <p:nvPicPr>
          <p:cNvPr id="10" name="Imagem 9">
            <a:extLst>
              <a:ext uri="{FF2B5EF4-FFF2-40B4-BE49-F238E27FC236}">
                <a16:creationId xmlns:a16="http://schemas.microsoft.com/office/drawing/2014/main" id="{53E7CB8D-963B-FC1D-C8F9-EBC4FAC767F4}"/>
              </a:ext>
            </a:extLst>
          </p:cNvPr>
          <p:cNvPicPr>
            <a:picLocks noChangeAspect="1"/>
          </p:cNvPicPr>
          <p:nvPr/>
        </p:nvPicPr>
        <p:blipFill>
          <a:blip r:embed="rId5"/>
          <a:stretch>
            <a:fillRect/>
          </a:stretch>
        </p:blipFill>
        <p:spPr>
          <a:xfrm>
            <a:off x="8443440" y="4865524"/>
            <a:ext cx="2802240" cy="1260000"/>
          </a:xfrm>
          <a:prstGeom prst="rect">
            <a:avLst/>
          </a:prstGeom>
        </p:spPr>
      </p:pic>
      <p:cxnSp>
        <p:nvCxnSpPr>
          <p:cNvPr id="14" name="Conector: Angulado 13">
            <a:extLst>
              <a:ext uri="{FF2B5EF4-FFF2-40B4-BE49-F238E27FC236}">
                <a16:creationId xmlns:a16="http://schemas.microsoft.com/office/drawing/2014/main" id="{030682DC-8010-3C61-3997-42FF4B61EF0F}"/>
              </a:ext>
            </a:extLst>
          </p:cNvPr>
          <p:cNvCxnSpPr>
            <a:stCxn id="4" idx="1"/>
            <a:endCxn id="6" idx="0"/>
          </p:cNvCxnSpPr>
          <p:nvPr/>
        </p:nvCxnSpPr>
        <p:spPr>
          <a:xfrm rot="10800000" flipV="1">
            <a:off x="2347441" y="2940990"/>
            <a:ext cx="2298125" cy="192453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61612BD8-A330-6137-1C4B-1BAE77330D7D}"/>
              </a:ext>
            </a:extLst>
          </p:cNvPr>
          <p:cNvCxnSpPr>
            <a:stCxn id="4" idx="2"/>
            <a:endCxn id="8" idx="0"/>
          </p:cNvCxnSpPr>
          <p:nvPr/>
        </p:nvCxnSpPr>
        <p:spPr>
          <a:xfrm>
            <a:off x="6096000" y="4020991"/>
            <a:ext cx="0" cy="8445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7D7A350D-2ECC-E1E0-CDDA-EC93911B3064}"/>
              </a:ext>
            </a:extLst>
          </p:cNvPr>
          <p:cNvCxnSpPr>
            <a:stCxn id="4" idx="3"/>
            <a:endCxn id="10" idx="0"/>
          </p:cNvCxnSpPr>
          <p:nvPr/>
        </p:nvCxnSpPr>
        <p:spPr>
          <a:xfrm>
            <a:off x="7546435" y="2940991"/>
            <a:ext cx="2298125" cy="192453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CaixaDeTexto 18">
            <a:extLst>
              <a:ext uri="{FF2B5EF4-FFF2-40B4-BE49-F238E27FC236}">
                <a16:creationId xmlns:a16="http://schemas.microsoft.com/office/drawing/2014/main" id="{EB6AA209-4668-3863-A5DF-75737009A963}"/>
              </a:ext>
            </a:extLst>
          </p:cNvPr>
          <p:cNvSpPr txBox="1"/>
          <p:nvPr/>
        </p:nvSpPr>
        <p:spPr>
          <a:xfrm>
            <a:off x="7641771" y="2198327"/>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Superclasse (Classe Pai)</a:t>
            </a:r>
          </a:p>
        </p:txBody>
      </p:sp>
      <p:sp>
        <p:nvSpPr>
          <p:cNvPr id="20" name="CaixaDeTexto 19">
            <a:extLst>
              <a:ext uri="{FF2B5EF4-FFF2-40B4-BE49-F238E27FC236}">
                <a16:creationId xmlns:a16="http://schemas.microsoft.com/office/drawing/2014/main" id="{9A2A2D1F-769B-4ABA-9F99-67BBEECFFFA6}"/>
              </a:ext>
            </a:extLst>
          </p:cNvPr>
          <p:cNvSpPr txBox="1"/>
          <p:nvPr/>
        </p:nvSpPr>
        <p:spPr>
          <a:xfrm>
            <a:off x="4875153" y="6249992"/>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Subclasse (Classe Filha)</a:t>
            </a:r>
          </a:p>
        </p:txBody>
      </p:sp>
      <p:sp>
        <p:nvSpPr>
          <p:cNvPr id="21" name="CaixaDeTexto 20">
            <a:extLst>
              <a:ext uri="{FF2B5EF4-FFF2-40B4-BE49-F238E27FC236}">
                <a16:creationId xmlns:a16="http://schemas.microsoft.com/office/drawing/2014/main" id="{97FB5A31-8834-3502-3120-7A98DCE920F0}"/>
              </a:ext>
            </a:extLst>
          </p:cNvPr>
          <p:cNvSpPr txBox="1"/>
          <p:nvPr/>
        </p:nvSpPr>
        <p:spPr>
          <a:xfrm>
            <a:off x="1126593" y="6246528"/>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Subclasse (Classe Filha)</a:t>
            </a:r>
          </a:p>
        </p:txBody>
      </p:sp>
      <p:sp>
        <p:nvSpPr>
          <p:cNvPr id="22" name="CaixaDeTexto 21">
            <a:extLst>
              <a:ext uri="{FF2B5EF4-FFF2-40B4-BE49-F238E27FC236}">
                <a16:creationId xmlns:a16="http://schemas.microsoft.com/office/drawing/2014/main" id="{743BD69A-0615-04F4-EA96-69B16AB34A5B}"/>
              </a:ext>
            </a:extLst>
          </p:cNvPr>
          <p:cNvSpPr txBox="1"/>
          <p:nvPr/>
        </p:nvSpPr>
        <p:spPr>
          <a:xfrm>
            <a:off x="8623713" y="6246528"/>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Subclasse (Classe Filha)</a:t>
            </a:r>
          </a:p>
        </p:txBody>
      </p:sp>
    </p:spTree>
    <p:extLst>
      <p:ext uri="{BB962C8B-B14F-4D97-AF65-F5344CB8AC3E}">
        <p14:creationId xmlns:p14="http://schemas.microsoft.com/office/powerpoint/2010/main" val="38663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84D924-540A-4316-943E-C6BA50E63230}"/>
              </a:ext>
            </a:extLst>
          </p:cNvPr>
          <p:cNvSpPr>
            <a:spLocks noGrp="1"/>
          </p:cNvSpPr>
          <p:nvPr>
            <p:ph type="title"/>
          </p:nvPr>
        </p:nvSpPr>
        <p:spPr/>
        <p:txBody>
          <a:bodyPr/>
          <a:lstStyle/>
          <a:p>
            <a:r>
              <a:rPr lang="pt-BR" dirty="0"/>
              <a:t>Herança	</a:t>
            </a:r>
          </a:p>
        </p:txBody>
      </p:sp>
      <p:sp>
        <p:nvSpPr>
          <p:cNvPr id="3" name="Espaço Reservado para Conteúdo 2">
            <a:extLst>
              <a:ext uri="{FF2B5EF4-FFF2-40B4-BE49-F238E27FC236}">
                <a16:creationId xmlns:a16="http://schemas.microsoft.com/office/drawing/2014/main" id="{7E221AAF-219E-425B-A860-267505691DB6}"/>
              </a:ext>
            </a:extLst>
          </p:cNvPr>
          <p:cNvSpPr>
            <a:spLocks noGrp="1"/>
          </p:cNvSpPr>
          <p:nvPr>
            <p:ph idx="1"/>
          </p:nvPr>
        </p:nvSpPr>
        <p:spPr>
          <a:xfrm>
            <a:off x="592347" y="1844675"/>
            <a:ext cx="11007306" cy="1978388"/>
          </a:xfrm>
        </p:spPr>
        <p:txBody>
          <a:bodyPr/>
          <a:lstStyle/>
          <a:p>
            <a:r>
              <a:rPr lang="pt-BR" dirty="0"/>
              <a:t>A herança é um dos pilares da programação orientada a objetos (POO) e permite que uma classe (chamada de classe filha ou subclasse) herde atributos e métodos de outra classe (chamada de classe pai ou superclasse).</a:t>
            </a:r>
          </a:p>
          <a:p>
            <a:r>
              <a:rPr lang="pt-BR" dirty="0"/>
              <a:t>Essa técnica promove reutilização de código, facilidade de manutenção e organização do projeto.</a:t>
            </a:r>
          </a:p>
        </p:txBody>
      </p:sp>
      <p:sp>
        <p:nvSpPr>
          <p:cNvPr id="4" name="Retângulo 3">
            <a:extLst>
              <a:ext uri="{FF2B5EF4-FFF2-40B4-BE49-F238E27FC236}">
                <a16:creationId xmlns:a16="http://schemas.microsoft.com/office/drawing/2014/main" id="{B587A1F1-EEA6-48CA-B512-CE51E69F7B90}"/>
              </a:ext>
            </a:extLst>
          </p:cNvPr>
          <p:cNvSpPr/>
          <p:nvPr/>
        </p:nvSpPr>
        <p:spPr>
          <a:xfrm>
            <a:off x="1365932" y="5124140"/>
            <a:ext cx="2844048" cy="878830"/>
          </a:xfrm>
          <a:prstGeom prst="rect">
            <a:avLst/>
          </a:prstGeom>
        </p:spPr>
        <p:txBody>
          <a:bodyPr wrap="none">
            <a:spAutoFit/>
          </a:bodyPr>
          <a:lstStyle/>
          <a:p>
            <a:pPr>
              <a:lnSpc>
                <a:spcPct val="150000"/>
              </a:lnSpc>
            </a:pPr>
            <a:r>
              <a:rPr lang="pt-BR" b="1" dirty="0" err="1">
                <a:solidFill>
                  <a:srgbClr val="7F0055"/>
                </a:solidFill>
                <a:latin typeface="Consolas" panose="020B0609020204030204" pitchFamily="49" charset="0"/>
              </a:rPr>
              <a:t>public</a:t>
            </a:r>
            <a:r>
              <a:rPr lang="pt-BR" dirty="0">
                <a:solidFill>
                  <a:srgbClr val="000000"/>
                </a:solidFill>
                <a:latin typeface="Consolas" panose="020B0609020204030204" pitchFamily="49" charset="0"/>
              </a:rPr>
              <a:t> </a:t>
            </a:r>
            <a:r>
              <a:rPr lang="pt-BR" b="1" dirty="0" err="1">
                <a:solidFill>
                  <a:srgbClr val="7F0055"/>
                </a:solidFill>
                <a:latin typeface="Consolas" panose="020B0609020204030204" pitchFamily="49" charset="0"/>
              </a:rPr>
              <a:t>class</a:t>
            </a:r>
            <a:r>
              <a:rPr lang="pt-BR" dirty="0">
                <a:solidFill>
                  <a:srgbClr val="000000"/>
                </a:solidFill>
                <a:latin typeface="Consolas" panose="020B0609020204030204" pitchFamily="49" charset="0"/>
              </a:rPr>
              <a:t> Animal {</a:t>
            </a:r>
          </a:p>
          <a:p>
            <a:pPr>
              <a:lnSpc>
                <a:spcPct val="150000"/>
              </a:lnSpc>
            </a:pPr>
            <a:r>
              <a:rPr lang="pt-BR" dirty="0">
                <a:solidFill>
                  <a:srgbClr val="000000"/>
                </a:solidFill>
                <a:latin typeface="Consolas" panose="020B0609020204030204" pitchFamily="49" charset="0"/>
              </a:rPr>
              <a:t>}</a:t>
            </a:r>
          </a:p>
        </p:txBody>
      </p:sp>
      <p:sp>
        <p:nvSpPr>
          <p:cNvPr id="5" name="Retângulo 4">
            <a:extLst>
              <a:ext uri="{FF2B5EF4-FFF2-40B4-BE49-F238E27FC236}">
                <a16:creationId xmlns:a16="http://schemas.microsoft.com/office/drawing/2014/main" id="{1300CE9B-4915-4B07-9094-95315EF1F69D}"/>
              </a:ext>
            </a:extLst>
          </p:cNvPr>
          <p:cNvSpPr/>
          <p:nvPr/>
        </p:nvSpPr>
        <p:spPr>
          <a:xfrm>
            <a:off x="5702549" y="5123531"/>
            <a:ext cx="4996881" cy="880049"/>
          </a:xfrm>
          <a:prstGeom prst="rect">
            <a:avLst/>
          </a:prstGeom>
        </p:spPr>
        <p:txBody>
          <a:bodyPr wrap="none">
            <a:spAutoFit/>
          </a:bodyPr>
          <a:lstStyle/>
          <a:p>
            <a:pPr>
              <a:lnSpc>
                <a:spcPct val="150000"/>
              </a:lnSpc>
            </a:pPr>
            <a:r>
              <a:rPr lang="pt-BR" b="1" dirty="0" err="1">
                <a:solidFill>
                  <a:srgbClr val="7F0055"/>
                </a:solidFill>
                <a:latin typeface="Consolas" panose="020B0609020204030204" pitchFamily="49" charset="0"/>
              </a:rPr>
              <a:t>public</a:t>
            </a:r>
            <a:r>
              <a:rPr lang="pt-BR" dirty="0">
                <a:solidFill>
                  <a:srgbClr val="000000"/>
                </a:solidFill>
                <a:latin typeface="Consolas" panose="020B0609020204030204" pitchFamily="49" charset="0"/>
              </a:rPr>
              <a:t> </a:t>
            </a:r>
            <a:r>
              <a:rPr lang="pt-BR" b="1" dirty="0" err="1">
                <a:solidFill>
                  <a:srgbClr val="7F0055"/>
                </a:solidFill>
                <a:latin typeface="Consolas" panose="020B0609020204030204" pitchFamily="49" charset="0"/>
              </a:rPr>
              <a:t>class</a:t>
            </a:r>
            <a:r>
              <a:rPr lang="pt-BR" dirty="0">
                <a:solidFill>
                  <a:srgbClr val="000000"/>
                </a:solidFill>
                <a:latin typeface="Consolas" panose="020B0609020204030204" pitchFamily="49" charset="0"/>
              </a:rPr>
              <a:t> Cachorro </a:t>
            </a:r>
            <a:r>
              <a:rPr lang="pt-BR" b="1" dirty="0" err="1">
                <a:solidFill>
                  <a:srgbClr val="7F0055"/>
                </a:solidFill>
                <a:latin typeface="Consolas" panose="020B0609020204030204" pitchFamily="49" charset="0"/>
              </a:rPr>
              <a:t>extends</a:t>
            </a:r>
            <a:r>
              <a:rPr lang="pt-BR" dirty="0">
                <a:solidFill>
                  <a:srgbClr val="000000"/>
                </a:solidFill>
                <a:latin typeface="Consolas" panose="020B0609020204030204" pitchFamily="49" charset="0"/>
              </a:rPr>
              <a:t> Animal {</a:t>
            </a:r>
          </a:p>
          <a:p>
            <a:pPr>
              <a:lnSpc>
                <a:spcPct val="150000"/>
              </a:lnSpc>
            </a:pPr>
            <a:r>
              <a:rPr lang="pt-BR" dirty="0">
                <a:solidFill>
                  <a:srgbClr val="000000"/>
                </a:solidFill>
                <a:latin typeface="Consolas" panose="020B0609020204030204" pitchFamily="49" charset="0"/>
              </a:rPr>
              <a:t>}</a:t>
            </a:r>
            <a:endParaRPr lang="pt-BR" dirty="0"/>
          </a:p>
        </p:txBody>
      </p:sp>
      <p:sp>
        <p:nvSpPr>
          <p:cNvPr id="6" name="CaixaDeTexto 5">
            <a:extLst>
              <a:ext uri="{FF2B5EF4-FFF2-40B4-BE49-F238E27FC236}">
                <a16:creationId xmlns:a16="http://schemas.microsoft.com/office/drawing/2014/main" id="{8F74EE8B-95F0-458A-8106-8ED07F10470D}"/>
              </a:ext>
            </a:extLst>
          </p:cNvPr>
          <p:cNvSpPr txBox="1"/>
          <p:nvPr/>
        </p:nvSpPr>
        <p:spPr>
          <a:xfrm>
            <a:off x="2230216" y="4754199"/>
            <a:ext cx="1115480"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Pai</a:t>
            </a:r>
          </a:p>
        </p:txBody>
      </p:sp>
      <p:sp>
        <p:nvSpPr>
          <p:cNvPr id="7" name="CaixaDeTexto 6">
            <a:extLst>
              <a:ext uri="{FF2B5EF4-FFF2-40B4-BE49-F238E27FC236}">
                <a16:creationId xmlns:a16="http://schemas.microsoft.com/office/drawing/2014/main" id="{90EC80A9-E65B-4805-AB0D-D59950A02392}"/>
              </a:ext>
            </a:extLst>
          </p:cNvPr>
          <p:cNvSpPr txBox="1"/>
          <p:nvPr/>
        </p:nvSpPr>
        <p:spPr>
          <a:xfrm>
            <a:off x="7608548" y="4784977"/>
            <a:ext cx="1184883"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Filha</a:t>
            </a:r>
          </a:p>
        </p:txBody>
      </p:sp>
    </p:spTree>
    <p:extLst>
      <p:ext uri="{BB962C8B-B14F-4D97-AF65-F5344CB8AC3E}">
        <p14:creationId xmlns:p14="http://schemas.microsoft.com/office/powerpoint/2010/main" val="202461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7" y="1772553"/>
            <a:ext cx="11007306" cy="849349"/>
          </a:xfrm>
        </p:spPr>
        <p:txBody>
          <a:bodyPr/>
          <a:lstStyle/>
          <a:p>
            <a:r>
              <a:rPr lang="pt-BR" sz="1600" dirty="0"/>
              <a:t>A palavra-chave </a:t>
            </a:r>
            <a:r>
              <a:rPr lang="pt-BR" sz="1600" dirty="0" err="1"/>
              <a:t>super</a:t>
            </a:r>
            <a:r>
              <a:rPr lang="pt-BR" sz="16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8" name="Retângulo 7">
            <a:extLst>
              <a:ext uri="{FF2B5EF4-FFF2-40B4-BE49-F238E27FC236}">
                <a16:creationId xmlns:a16="http://schemas.microsoft.com/office/drawing/2014/main" id="{974DDB22-2288-4893-8D35-C51A4D00B151}"/>
              </a:ext>
            </a:extLst>
          </p:cNvPr>
          <p:cNvSpPr/>
          <p:nvPr/>
        </p:nvSpPr>
        <p:spPr>
          <a:xfrm>
            <a:off x="2920294" y="3091462"/>
            <a:ext cx="6351412" cy="297517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Animal {</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String </a:t>
            </a:r>
            <a:r>
              <a:rPr lang="pt-BR" sz="1400" u="sng" dirty="0">
                <a:solidFill>
                  <a:srgbClr val="0000C0"/>
                </a:solidFill>
                <a:latin typeface="Consolas" panose="020B0609020204030204" pitchFamily="49" charset="0"/>
              </a:rPr>
              <a:t>nome</a:t>
            </a:r>
            <a:r>
              <a:rPr lang="pt-BR" sz="1400" dirty="0">
                <a:solidFill>
                  <a:srgbClr val="000000"/>
                </a:solidFill>
                <a:latin typeface="Consolas" panose="020B0609020204030204" pitchFamily="49" charset="0"/>
              </a:rPr>
              <a:t>;</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u="sng" dirty="0">
                <a:solidFill>
                  <a:srgbClr val="0000C0"/>
                </a:solidFill>
                <a:latin typeface="Consolas" panose="020B0609020204030204" pitchFamily="49" charset="0"/>
              </a:rPr>
              <a:t>peso</a:t>
            </a:r>
            <a:r>
              <a:rPr lang="pt-BR" sz="1400" dirty="0">
                <a:solidFill>
                  <a:srgbClr val="000000"/>
                </a:solidFill>
                <a:latin typeface="Consolas" panose="020B0609020204030204" pitchFamily="49" charset="0"/>
              </a:rPr>
              <a:t>;</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u="sng" dirty="0">
                <a:solidFill>
                  <a:srgbClr val="0000C0"/>
                </a:solidFill>
                <a:latin typeface="Consolas" panose="020B0609020204030204" pitchFamily="49" charset="0"/>
              </a:rPr>
              <a:t>idade</a:t>
            </a:r>
            <a:r>
              <a:rPr lang="pt-BR" sz="1400" dirty="0">
                <a:solidFill>
                  <a:srgbClr val="000000"/>
                </a:solidFill>
                <a:latin typeface="Consolas" panose="020B0609020204030204" pitchFamily="49" charset="0"/>
              </a:rPr>
              <a:t>;</a:t>
            </a:r>
          </a:p>
          <a:p>
            <a:pPr lvl="1">
              <a:spcBef>
                <a:spcPts val="150"/>
              </a:spcBef>
              <a:spcAft>
                <a:spcPts val="150"/>
              </a:spcAft>
            </a:pPr>
            <a:endParaRPr lang="pt-BR" sz="1400" dirty="0">
              <a:solidFill>
                <a:srgbClr val="000000"/>
              </a:solidFill>
              <a:latin typeface="Consolas" panose="020B0609020204030204" pitchFamily="49" charset="0"/>
            </a:endParaRPr>
          </a:p>
          <a:p>
            <a:pPr lvl="1">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Animal(String </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peso, </a:t>
            </a:r>
            <a:r>
              <a:rPr lang="pt-BR" sz="1400" b="1" dirty="0" err="1">
                <a:solidFill>
                  <a:srgbClr val="7F0055"/>
                </a:solidFill>
                <a:latin typeface="Consolas" panose="020B0609020204030204" pitchFamily="49" charset="0"/>
              </a:rPr>
              <a:t>int</a:t>
            </a:r>
            <a:r>
              <a:rPr lang="pt-BR" sz="1400" b="1" dirty="0">
                <a:solidFill>
                  <a:srgbClr val="7F0055"/>
                </a:solidFill>
                <a:latin typeface="Consolas" panose="020B0609020204030204" pitchFamily="49" charset="0"/>
              </a:rPr>
              <a:t> </a:t>
            </a:r>
            <a:r>
              <a:rPr lang="pt-BR" sz="1400" dirty="0">
                <a:solidFill>
                  <a:srgbClr val="6A3E3E"/>
                </a:solidFill>
                <a:latin typeface="Consolas" panose="020B0609020204030204" pitchFamily="49" charset="0"/>
              </a:rPr>
              <a:t>idade</a:t>
            </a:r>
            <a:r>
              <a:rPr lang="pt-BR" sz="1400" dirty="0">
                <a:solidFill>
                  <a:srgbClr val="000000"/>
                </a:solidFill>
                <a:latin typeface="Consolas" panose="020B0609020204030204" pitchFamily="49" charset="0"/>
              </a:rPr>
              <a:t>) {</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nome</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peso</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peso</a:t>
            </a:r>
            <a:r>
              <a:rPr lang="pt-BR" sz="1400" dirty="0">
                <a:solidFill>
                  <a:srgbClr val="000000"/>
                </a:solidFill>
                <a:latin typeface="Consolas" panose="020B0609020204030204" pitchFamily="49" charset="0"/>
              </a:rPr>
              <a:t>;</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idade</a:t>
            </a:r>
            <a:r>
              <a:rPr lang="pt-BR" sz="1400" dirty="0">
                <a:solidFill>
                  <a:srgbClr val="0000C0"/>
                </a:solidFill>
                <a:latin typeface="Consolas" panose="020B0609020204030204" pitchFamily="49" charset="0"/>
              </a:rPr>
              <a:t> </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idade</a:t>
            </a:r>
            <a:r>
              <a:rPr lang="pt-BR" sz="1400" dirty="0">
                <a:solidFill>
                  <a:srgbClr val="000000"/>
                </a:solidFill>
                <a:latin typeface="Consolas" panose="020B0609020204030204" pitchFamily="49" charset="0"/>
              </a:rPr>
              <a:t>;</a:t>
            </a:r>
          </a:p>
          <a:p>
            <a:pPr marL="457200" lvl="2">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2987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6" y="1675093"/>
            <a:ext cx="11007306" cy="1473291"/>
          </a:xfrm>
        </p:spPr>
        <p:txBody>
          <a:bodyPr/>
          <a:lstStyle/>
          <a:p>
            <a:r>
              <a:rPr lang="pt-BR" sz="1800" dirty="0"/>
              <a:t>A palavra-chave </a:t>
            </a:r>
            <a:r>
              <a:rPr lang="pt-BR" sz="1800" dirty="0" err="1"/>
              <a:t>super</a:t>
            </a:r>
            <a:r>
              <a:rPr lang="pt-BR" sz="18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4" name="Retângulo 3">
            <a:extLst>
              <a:ext uri="{FF2B5EF4-FFF2-40B4-BE49-F238E27FC236}">
                <a16:creationId xmlns:a16="http://schemas.microsoft.com/office/drawing/2014/main" id="{FFAD0326-5AFB-4F87-8E1F-8F1446812B25}"/>
              </a:ext>
            </a:extLst>
          </p:cNvPr>
          <p:cNvSpPr/>
          <p:nvPr/>
        </p:nvSpPr>
        <p:spPr>
          <a:xfrm>
            <a:off x="2415073" y="3520484"/>
            <a:ext cx="7361854" cy="2174954"/>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Cachorro </a:t>
            </a:r>
            <a:r>
              <a:rPr lang="pt-BR" sz="1400" b="1" dirty="0" err="1">
                <a:solidFill>
                  <a:srgbClr val="7F0055"/>
                </a:solidFill>
                <a:latin typeface="Consolas" panose="020B0609020204030204" pitchFamily="49" charset="0"/>
              </a:rPr>
              <a:t>extends</a:t>
            </a:r>
            <a:r>
              <a:rPr lang="pt-BR" sz="1400" dirty="0">
                <a:solidFill>
                  <a:srgbClr val="000000"/>
                </a:solidFill>
                <a:latin typeface="Consolas" panose="020B0609020204030204" pitchFamily="49" charset="0"/>
              </a:rPr>
              <a:t> Animais{</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String</a:t>
            </a:r>
            <a:r>
              <a:rPr lang="pt-BR" sz="1400" dirty="0">
                <a:solidFill>
                  <a:srgbClr val="000000"/>
                </a:solidFill>
                <a:latin typeface="Consolas" panose="020B0609020204030204" pitchFamily="49" charset="0"/>
              </a:rPr>
              <a:t> </a:t>
            </a:r>
            <a:r>
              <a:rPr lang="pt-BR" sz="1400" u="sng" dirty="0" err="1">
                <a:solidFill>
                  <a:srgbClr val="0000C0"/>
                </a:solidFill>
                <a:latin typeface="Consolas" panose="020B0609020204030204" pitchFamily="49" charset="0"/>
              </a:rPr>
              <a:t>raca</a:t>
            </a:r>
            <a:r>
              <a:rPr lang="pt-BR" sz="1400" dirty="0">
                <a:solidFill>
                  <a:srgbClr val="000000"/>
                </a:solidFill>
                <a:latin typeface="Consolas" panose="020B0609020204030204" pitchFamily="49" charset="0"/>
              </a:rPr>
              <a:t>;</a:t>
            </a:r>
          </a:p>
          <a:p>
            <a:pPr lvl="1">
              <a:spcBef>
                <a:spcPts val="150"/>
              </a:spcBef>
              <a:spcAft>
                <a:spcPts val="150"/>
              </a:spcAft>
            </a:pPr>
            <a:endParaRPr lang="pt-BR" sz="1400" b="1" dirty="0">
              <a:solidFill>
                <a:srgbClr val="7F0055"/>
              </a:solidFill>
              <a:latin typeface="Consolas" panose="020B0609020204030204" pitchFamily="49" charset="0"/>
            </a:endParaRPr>
          </a:p>
          <a:p>
            <a:pPr lvl="1">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Cachorro(</a:t>
            </a:r>
            <a:r>
              <a:rPr lang="pt-BR" sz="1400" dirty="0" err="1">
                <a:solidFill>
                  <a:srgbClr val="000000"/>
                </a:solidFill>
                <a:latin typeface="Consolas" panose="020B0609020204030204" pitchFamily="49" charset="0"/>
              </a:rPr>
              <a:t>String</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peso, </a:t>
            </a:r>
            <a:r>
              <a:rPr lang="pt-BR" sz="1400" b="1" dirty="0" err="1">
                <a:solidFill>
                  <a:srgbClr val="7F0055"/>
                </a:solidFill>
                <a:latin typeface="Consolas" panose="020B0609020204030204" pitchFamily="49" charset="0"/>
              </a:rPr>
              <a:t>int</a:t>
            </a:r>
            <a:r>
              <a:rPr lang="pt-BR" sz="1400" b="1" dirty="0">
                <a:solidFill>
                  <a:srgbClr val="7F0055"/>
                </a:solidFill>
                <a:latin typeface="Consolas" panose="020B0609020204030204" pitchFamily="49" charset="0"/>
              </a:rPr>
              <a:t> </a:t>
            </a:r>
            <a:r>
              <a:rPr lang="pt-BR" sz="1400" dirty="0">
                <a:solidFill>
                  <a:srgbClr val="6A3E3E"/>
                </a:solidFill>
                <a:latin typeface="Consolas" panose="020B0609020204030204" pitchFamily="49" charset="0"/>
              </a:rPr>
              <a:t>idade, </a:t>
            </a:r>
            <a:r>
              <a:rPr lang="pt-BR" sz="1400" dirty="0" err="1">
                <a:solidFill>
                  <a:srgbClr val="000000"/>
                </a:solidFill>
                <a:latin typeface="Consolas" panose="020B0609020204030204" pitchFamily="49" charset="0"/>
              </a:rPr>
              <a:t>String</a:t>
            </a:r>
            <a:r>
              <a:rPr lang="pt-BR" sz="1400" dirty="0">
                <a:solidFill>
                  <a:srgbClr val="000000"/>
                </a:solidFill>
                <a:latin typeface="Consolas" panose="020B0609020204030204" pitchFamily="49" charset="0"/>
              </a:rPr>
              <a:t> </a:t>
            </a:r>
            <a:r>
              <a:rPr lang="pt-BR" sz="1400" dirty="0" err="1">
                <a:solidFill>
                  <a:srgbClr val="6A3E3E"/>
                </a:solidFill>
                <a:latin typeface="Consolas" panose="020B0609020204030204" pitchFamily="49" charset="0"/>
              </a:rPr>
              <a:t>raca</a:t>
            </a:r>
            <a:r>
              <a:rPr lang="pt-BR" sz="1400" dirty="0">
                <a:solidFill>
                  <a:srgbClr val="000000"/>
                </a:solidFill>
                <a:latin typeface="Consolas" panose="020B0609020204030204" pitchFamily="49" charset="0"/>
              </a:rPr>
              <a:t>) {</a:t>
            </a:r>
          </a:p>
          <a:p>
            <a:pPr lvl="2">
              <a:spcBef>
                <a:spcPts val="150"/>
              </a:spcBef>
              <a:spcAft>
                <a:spcPts val="150"/>
              </a:spcAft>
            </a:pPr>
            <a:r>
              <a:rPr lang="pt-BR" sz="1400" b="1" dirty="0">
                <a:solidFill>
                  <a:srgbClr val="7F0055"/>
                </a:solidFill>
                <a:latin typeface="Consolas" panose="020B0609020204030204" pitchFamily="49" charset="0"/>
              </a:rPr>
              <a:t>super</a:t>
            </a:r>
            <a:r>
              <a:rPr lang="pt-BR" sz="1400" dirty="0">
                <a:solidFill>
                  <a:srgbClr val="000000"/>
                </a:solidFill>
                <a:latin typeface="Consolas" panose="020B0609020204030204" pitchFamily="49" charset="0"/>
              </a:rPr>
              <a:t>(</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peso, idade</a:t>
            </a:r>
            <a:r>
              <a:rPr lang="pt-BR" sz="1400" dirty="0">
                <a:solidFill>
                  <a:srgbClr val="000000"/>
                </a:solidFill>
                <a:latin typeface="Consolas" panose="020B0609020204030204" pitchFamily="49" charset="0"/>
              </a:rPr>
              <a:t>);</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raca</a:t>
            </a:r>
            <a:r>
              <a:rPr lang="pt-BR" sz="1400" dirty="0">
                <a:solidFill>
                  <a:srgbClr val="000000"/>
                </a:solidFill>
                <a:latin typeface="Consolas" panose="020B0609020204030204" pitchFamily="49" charset="0"/>
              </a:rPr>
              <a:t>= </a:t>
            </a:r>
            <a:r>
              <a:rPr lang="pt-BR" sz="1400" dirty="0" err="1">
                <a:solidFill>
                  <a:srgbClr val="6A3E3E"/>
                </a:solidFill>
                <a:latin typeface="Consolas" panose="020B0609020204030204" pitchFamily="49" charset="0"/>
              </a:rPr>
              <a:t>raca</a:t>
            </a:r>
            <a:r>
              <a:rPr lang="pt-BR" sz="1400" dirty="0">
                <a:solidFill>
                  <a:srgbClr val="000000"/>
                </a:solidFill>
                <a:latin typeface="Consolas" panose="020B0609020204030204" pitchFamily="49" charset="0"/>
              </a:rPr>
              <a:t>;</a:t>
            </a:r>
          </a:p>
          <a:p>
            <a:pPr lvl="1">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3419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8281D3-C181-4E1C-B325-E00D3550CEFA}"/>
              </a:ext>
            </a:extLst>
          </p:cNvPr>
          <p:cNvSpPr>
            <a:spLocks noGrp="1"/>
          </p:cNvSpPr>
          <p:nvPr>
            <p:ph type="title"/>
          </p:nvPr>
        </p:nvSpPr>
        <p:spPr/>
        <p:txBody>
          <a:bodyPr/>
          <a:lstStyle/>
          <a:p>
            <a:r>
              <a:rPr lang="pt-BR" dirty="0"/>
              <a:t>O que é Polimorfismo?</a:t>
            </a:r>
            <a:br>
              <a:rPr lang="pt-BR" dirty="0"/>
            </a:br>
            <a:endParaRPr lang="pt-BR" dirty="0"/>
          </a:p>
        </p:txBody>
      </p:sp>
      <p:sp>
        <p:nvSpPr>
          <p:cNvPr id="3" name="Espaço Reservado para Conteúdo 2">
            <a:extLst>
              <a:ext uri="{FF2B5EF4-FFF2-40B4-BE49-F238E27FC236}">
                <a16:creationId xmlns:a16="http://schemas.microsoft.com/office/drawing/2014/main" id="{B58E572E-10D7-43D6-B230-D23680BEFDD1}"/>
              </a:ext>
            </a:extLst>
          </p:cNvPr>
          <p:cNvSpPr>
            <a:spLocks noGrp="1"/>
          </p:cNvSpPr>
          <p:nvPr>
            <p:ph idx="1"/>
          </p:nvPr>
        </p:nvSpPr>
        <p:spPr/>
        <p:txBody>
          <a:bodyPr/>
          <a:lstStyle/>
          <a:p>
            <a:r>
              <a:rPr lang="pt-BR" dirty="0"/>
              <a:t>Polimorfismo é a habilidade de um mesmo objeto executar comportamentos diferentes, dependendo da forma como é utilizado no programa.</a:t>
            </a:r>
          </a:p>
          <a:p>
            <a:endParaRPr lang="pt-BR" b="1" dirty="0"/>
          </a:p>
          <a:p>
            <a:pPr lvl="1"/>
            <a:r>
              <a:rPr lang="pt-BR" dirty="0"/>
              <a:t>Sobrecarga (</a:t>
            </a:r>
            <a:r>
              <a:rPr lang="pt-BR" dirty="0" err="1"/>
              <a:t>Overloading</a:t>
            </a:r>
            <a:r>
              <a:rPr lang="pt-BR" dirty="0"/>
              <a:t>):Vários métodos com o mesmo nome, mas com parâmetros diferentes na mesma classe.</a:t>
            </a:r>
          </a:p>
          <a:p>
            <a:pPr lvl="1"/>
            <a:r>
              <a:rPr lang="pt-BR" dirty="0"/>
              <a:t>Sobrescrita (</a:t>
            </a:r>
            <a:r>
              <a:rPr lang="pt-BR" dirty="0" err="1"/>
              <a:t>Overriding</a:t>
            </a:r>
            <a:r>
              <a:rPr lang="pt-BR" dirty="0"/>
              <a:t>):Uma subclasse redefine um método da superclasse, mantendo a mesma assinatura.</a:t>
            </a:r>
          </a:p>
        </p:txBody>
      </p:sp>
    </p:spTree>
    <p:extLst>
      <p:ext uri="{BB962C8B-B14F-4D97-AF65-F5344CB8AC3E}">
        <p14:creationId xmlns:p14="http://schemas.microsoft.com/office/powerpoint/2010/main" val="3973512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744C23-AA41-4EE5-936C-BE42F1928F7C}"/>
              </a:ext>
            </a:extLst>
          </p:cNvPr>
          <p:cNvSpPr>
            <a:spLocks noGrp="1"/>
          </p:cNvSpPr>
          <p:nvPr>
            <p:ph type="title"/>
          </p:nvPr>
        </p:nvSpPr>
        <p:spPr/>
        <p:txBody>
          <a:bodyPr/>
          <a:lstStyle/>
          <a:p>
            <a:r>
              <a:rPr lang="pt-BR" dirty="0"/>
              <a:t>Exemplo de Polimorfismo</a:t>
            </a:r>
          </a:p>
        </p:txBody>
      </p:sp>
      <p:sp>
        <p:nvSpPr>
          <p:cNvPr id="4" name="Retângulo 3">
            <a:extLst>
              <a:ext uri="{FF2B5EF4-FFF2-40B4-BE49-F238E27FC236}">
                <a16:creationId xmlns:a16="http://schemas.microsoft.com/office/drawing/2014/main" id="{A9C127C7-5E90-4A82-86A4-C9E34D1D6277}"/>
              </a:ext>
            </a:extLst>
          </p:cNvPr>
          <p:cNvSpPr/>
          <p:nvPr/>
        </p:nvSpPr>
        <p:spPr>
          <a:xfrm>
            <a:off x="852311" y="3028407"/>
            <a:ext cx="4698999" cy="297517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Calculadora {</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c</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c</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5" name="CaixaDeTexto 4">
            <a:extLst>
              <a:ext uri="{FF2B5EF4-FFF2-40B4-BE49-F238E27FC236}">
                <a16:creationId xmlns:a16="http://schemas.microsoft.com/office/drawing/2014/main" id="{84F9EC0C-06FF-4414-87FA-9B60D0B83818}"/>
              </a:ext>
            </a:extLst>
          </p:cNvPr>
          <p:cNvSpPr txBox="1"/>
          <p:nvPr/>
        </p:nvSpPr>
        <p:spPr>
          <a:xfrm>
            <a:off x="1897943" y="2514600"/>
            <a:ext cx="2607734" cy="369332"/>
          </a:xfrm>
          <a:prstGeom prst="rect">
            <a:avLst/>
          </a:prstGeom>
          <a:noFill/>
        </p:spPr>
        <p:txBody>
          <a:bodyPr wrap="square" rtlCol="0">
            <a:spAutoFit/>
          </a:bodyPr>
          <a:lstStyle/>
          <a:p>
            <a:pPr algn="ctr"/>
            <a:r>
              <a:rPr lang="pt-BR" dirty="0">
                <a:latin typeface="Times New Roman" panose="02020603050405020304" pitchFamily="18" charset="0"/>
                <a:cs typeface="Times New Roman" panose="02020603050405020304" pitchFamily="18" charset="0"/>
              </a:rPr>
              <a:t>Sobrecarga</a:t>
            </a:r>
          </a:p>
        </p:txBody>
      </p:sp>
      <p:sp>
        <p:nvSpPr>
          <p:cNvPr id="6" name="Retângulo 5">
            <a:extLst>
              <a:ext uri="{FF2B5EF4-FFF2-40B4-BE49-F238E27FC236}">
                <a16:creationId xmlns:a16="http://schemas.microsoft.com/office/drawing/2014/main" id="{92256B6E-0262-418B-82DC-A9263E124FF3}"/>
              </a:ext>
            </a:extLst>
          </p:cNvPr>
          <p:cNvSpPr/>
          <p:nvPr/>
        </p:nvSpPr>
        <p:spPr>
          <a:xfrm>
            <a:off x="6403622" y="3028407"/>
            <a:ext cx="4936067" cy="324191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Animal {</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emitirSom</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dirty="0" err="1">
                <a:solidFill>
                  <a:srgbClr val="000000"/>
                </a:solidFill>
                <a:latin typeface="Consolas" panose="020B0609020204030204" pitchFamily="49" charset="0"/>
              </a:rPr>
              <a:t>System.</a:t>
            </a:r>
            <a:r>
              <a:rPr lang="pt-BR" sz="1400" b="1" i="1" dirty="0" err="1">
                <a:solidFill>
                  <a:srgbClr val="0000C0"/>
                </a:solidFill>
                <a:latin typeface="Consolas" panose="020B0609020204030204" pitchFamily="49" charset="0"/>
              </a:rPr>
              <a:t>out</a:t>
            </a:r>
            <a:r>
              <a:rPr lang="pt-BR" sz="1400" dirty="0" err="1">
                <a:solidFill>
                  <a:srgbClr val="000000"/>
                </a:solidFill>
                <a:latin typeface="Consolas" panose="020B0609020204030204" pitchFamily="49" charset="0"/>
              </a:rPr>
              <a:t>.println</a:t>
            </a:r>
            <a:r>
              <a:rPr lang="pt-BR" sz="1400" dirty="0">
                <a:solidFill>
                  <a:srgbClr val="000000"/>
                </a:solidFill>
                <a:latin typeface="Consolas" panose="020B0609020204030204" pitchFamily="49" charset="0"/>
              </a:rPr>
              <a:t>(</a:t>
            </a:r>
            <a:r>
              <a:rPr lang="pt-BR" sz="1400" dirty="0">
                <a:solidFill>
                  <a:srgbClr val="2A00FF"/>
                </a:solidFill>
                <a:latin typeface="Consolas" panose="020B0609020204030204" pitchFamily="49" charset="0"/>
              </a:rPr>
              <a:t>"Animal faz som"</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endParaRPr lang="pt-BR" sz="1400" dirty="0">
              <a:solidFill>
                <a:srgbClr val="000000"/>
              </a:solidFill>
              <a:latin typeface="Consolas" panose="020B0609020204030204" pitchFamily="49" charset="0"/>
            </a:endParaRPr>
          </a:p>
          <a:p>
            <a:pPr>
              <a:spcBef>
                <a:spcPts val="150"/>
              </a:spcBef>
              <a:spcAft>
                <a:spcPts val="150"/>
              </a:spcAft>
            </a:pP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Gato </a:t>
            </a:r>
            <a:r>
              <a:rPr lang="pt-BR" sz="1400" b="1" dirty="0" err="1">
                <a:solidFill>
                  <a:srgbClr val="7F0055"/>
                </a:solidFill>
                <a:latin typeface="Consolas" panose="020B0609020204030204" pitchFamily="49" charset="0"/>
              </a:rPr>
              <a:t>extends</a:t>
            </a:r>
            <a:r>
              <a:rPr lang="pt-BR" sz="1400" dirty="0">
                <a:solidFill>
                  <a:srgbClr val="000000"/>
                </a:solidFill>
                <a:latin typeface="Consolas" panose="020B0609020204030204" pitchFamily="49" charset="0"/>
              </a:rPr>
              <a:t> Animal {</a:t>
            </a:r>
          </a:p>
          <a:p>
            <a:pPr indent="457200">
              <a:spcBef>
                <a:spcPts val="150"/>
              </a:spcBef>
              <a:spcAft>
                <a:spcPts val="150"/>
              </a:spcAft>
            </a:pPr>
            <a:r>
              <a:rPr lang="pt-BR" sz="1400" dirty="0">
                <a:solidFill>
                  <a:srgbClr val="646464"/>
                </a:solidFill>
                <a:latin typeface="Consolas" panose="020B0609020204030204" pitchFamily="49" charset="0"/>
              </a:rPr>
              <a:t>@</a:t>
            </a:r>
            <a:r>
              <a:rPr lang="pt-BR" sz="1400" dirty="0" err="1">
                <a:solidFill>
                  <a:srgbClr val="646464"/>
                </a:solidFill>
                <a:latin typeface="Consolas" panose="020B0609020204030204" pitchFamily="49" charset="0"/>
              </a:rPr>
              <a:t>Override</a:t>
            </a:r>
            <a:endParaRPr lang="pt-BR" sz="1400" dirty="0">
              <a:solidFill>
                <a:srgbClr val="000000"/>
              </a:solidFill>
              <a:latin typeface="Consolas" panose="020B0609020204030204" pitchFamily="49" charset="0"/>
            </a:endParaRP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emitirSom</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dirty="0" err="1">
                <a:solidFill>
                  <a:srgbClr val="000000"/>
                </a:solidFill>
                <a:latin typeface="Consolas" panose="020B0609020204030204" pitchFamily="49" charset="0"/>
              </a:rPr>
              <a:t>System.</a:t>
            </a:r>
            <a:r>
              <a:rPr lang="pt-BR" sz="1400" b="1" i="1" dirty="0" err="1">
                <a:solidFill>
                  <a:srgbClr val="0000C0"/>
                </a:solidFill>
                <a:latin typeface="Consolas" panose="020B0609020204030204" pitchFamily="49" charset="0"/>
              </a:rPr>
              <a:t>out</a:t>
            </a:r>
            <a:r>
              <a:rPr lang="pt-BR" sz="1400" dirty="0" err="1">
                <a:solidFill>
                  <a:srgbClr val="000000"/>
                </a:solidFill>
                <a:latin typeface="Consolas" panose="020B0609020204030204" pitchFamily="49" charset="0"/>
              </a:rPr>
              <a:t>.println</a:t>
            </a:r>
            <a:r>
              <a:rPr lang="pt-BR" sz="1400" dirty="0">
                <a:solidFill>
                  <a:srgbClr val="000000"/>
                </a:solidFill>
                <a:latin typeface="Consolas" panose="020B0609020204030204" pitchFamily="49" charset="0"/>
              </a:rPr>
              <a:t>(</a:t>
            </a:r>
            <a:r>
              <a:rPr lang="pt-BR" sz="1400" dirty="0">
                <a:solidFill>
                  <a:srgbClr val="2A00FF"/>
                </a:solidFill>
                <a:latin typeface="Consolas" panose="020B0609020204030204" pitchFamily="49" charset="0"/>
              </a:rPr>
              <a:t>"Gato mia"</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7" name="CaixaDeTexto 6">
            <a:extLst>
              <a:ext uri="{FF2B5EF4-FFF2-40B4-BE49-F238E27FC236}">
                <a16:creationId xmlns:a16="http://schemas.microsoft.com/office/drawing/2014/main" id="{EB5AEC25-BA37-441D-87EC-8DE38AED57BF}"/>
              </a:ext>
            </a:extLst>
          </p:cNvPr>
          <p:cNvSpPr txBox="1"/>
          <p:nvPr/>
        </p:nvSpPr>
        <p:spPr>
          <a:xfrm>
            <a:off x="7567788" y="2514600"/>
            <a:ext cx="2607734" cy="369332"/>
          </a:xfrm>
          <a:prstGeom prst="rect">
            <a:avLst/>
          </a:prstGeom>
          <a:noFill/>
        </p:spPr>
        <p:txBody>
          <a:bodyPr wrap="square" rtlCol="0">
            <a:spAutoFit/>
          </a:bodyPr>
          <a:lstStyle/>
          <a:p>
            <a:pPr algn="ctr"/>
            <a:r>
              <a:rPr lang="pt-BR" dirty="0">
                <a:latin typeface="Times New Roman" panose="02020603050405020304" pitchFamily="18" charset="0"/>
                <a:cs typeface="Times New Roman" panose="02020603050405020304" pitchFamily="18" charset="0"/>
              </a:rPr>
              <a:t>Sobrescrita</a:t>
            </a:r>
          </a:p>
        </p:txBody>
      </p:sp>
    </p:spTree>
    <p:extLst>
      <p:ext uri="{BB962C8B-B14F-4D97-AF65-F5344CB8AC3E}">
        <p14:creationId xmlns:p14="http://schemas.microsoft.com/office/powerpoint/2010/main" val="2967410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1091BA-DD43-4657-B572-B91CCC98BF29}"/>
              </a:ext>
            </a:extLst>
          </p:cNvPr>
          <p:cNvSpPr>
            <a:spLocks noGrp="1"/>
          </p:cNvSpPr>
          <p:nvPr>
            <p:ph type="title"/>
          </p:nvPr>
        </p:nvSpPr>
        <p:spPr/>
        <p:txBody>
          <a:bodyPr/>
          <a:lstStyle/>
          <a:p>
            <a:r>
              <a:rPr lang="pt-BR" dirty="0"/>
              <a:t>O que é uma interface?</a:t>
            </a:r>
          </a:p>
        </p:txBody>
      </p:sp>
      <p:sp>
        <p:nvSpPr>
          <p:cNvPr id="3" name="Espaço Reservado para Conteúdo 2">
            <a:extLst>
              <a:ext uri="{FF2B5EF4-FFF2-40B4-BE49-F238E27FC236}">
                <a16:creationId xmlns:a16="http://schemas.microsoft.com/office/drawing/2014/main" id="{F4337037-3AAA-4224-934A-6D36B646B4FC}"/>
              </a:ext>
            </a:extLst>
          </p:cNvPr>
          <p:cNvSpPr>
            <a:spLocks noGrp="1"/>
          </p:cNvSpPr>
          <p:nvPr>
            <p:ph idx="1"/>
          </p:nvPr>
        </p:nvSpPr>
        <p:spPr>
          <a:xfrm>
            <a:off x="6671414" y="1862667"/>
            <a:ext cx="5021053" cy="4485746"/>
          </a:xfrm>
        </p:spPr>
        <p:txBody>
          <a:bodyPr/>
          <a:lstStyle/>
          <a:p>
            <a:r>
              <a:rPr lang="pt-BR" sz="1800" dirty="0"/>
              <a:t>Uma </a:t>
            </a:r>
            <a:r>
              <a:rPr lang="pt-BR" sz="1800" b="1" dirty="0"/>
              <a:t>interface é um contrato que define comportamentos que uma classe deve oferecer</a:t>
            </a:r>
            <a:r>
              <a:rPr lang="pt-BR" sz="1800" dirty="0"/>
              <a:t>.</a:t>
            </a:r>
          </a:p>
          <a:p>
            <a:endParaRPr lang="pt-BR" sz="1800" dirty="0"/>
          </a:p>
          <a:p>
            <a:r>
              <a:rPr lang="pt-BR" sz="1800" dirty="0"/>
              <a:t>Ela estabelece o que um objeto precisa ser capaz de fazer. Cada classe fica responsável por implementar como esse comportamento acontece.</a:t>
            </a:r>
          </a:p>
        </p:txBody>
      </p:sp>
      <p:sp>
        <p:nvSpPr>
          <p:cNvPr id="4" name="Espaço Reservado para Conteúdo 2">
            <a:extLst>
              <a:ext uri="{FF2B5EF4-FFF2-40B4-BE49-F238E27FC236}">
                <a16:creationId xmlns:a16="http://schemas.microsoft.com/office/drawing/2014/main" id="{2EF2417A-8AA2-4917-AE6B-E7ACD71A84DF}"/>
              </a:ext>
            </a:extLst>
          </p:cNvPr>
          <p:cNvSpPr txBox="1">
            <a:spLocks/>
          </p:cNvSpPr>
          <p:nvPr/>
        </p:nvSpPr>
        <p:spPr>
          <a:xfrm>
            <a:off x="744747" y="1862667"/>
            <a:ext cx="5021053" cy="4485746"/>
          </a:xfrm>
          <a:prstGeom prst="rect">
            <a:avLst/>
          </a:prstGeom>
        </p:spPr>
        <p:txBody>
          <a:bodyPr/>
          <a:lstStyle>
            <a:lvl1pPr marL="0" indent="0" algn="just" defTabSz="914400" rtl="0" eaLnBrk="1" latinLnBrk="0" hangingPunct="1">
              <a:lnSpc>
                <a:spcPct val="150000"/>
              </a:lnSpc>
              <a:spcBef>
                <a:spcPts val="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15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150000"/>
              </a:lnSpc>
              <a:spcBef>
                <a:spcPts val="0"/>
              </a:spcBef>
              <a:buFont typeface="Arial" panose="020B0604020202020204" pitchFamily="34" charset="0"/>
              <a:buChar char="•"/>
              <a:defRPr sz="1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t>Como garantir que classes diferentes tenham determinado comportamento, mesmo que elas não herdem da mesma classe?</a:t>
            </a:r>
          </a:p>
          <a:p>
            <a:endParaRPr lang="pt-BR" sz="1800" dirty="0"/>
          </a:p>
          <a:p>
            <a:r>
              <a:rPr lang="pt-BR" sz="1800" dirty="0"/>
              <a:t>Por exemplo, Carro e Drone são objetos diferentes, mas ambos podem ser controlados remotamente. </a:t>
            </a:r>
          </a:p>
          <a:p>
            <a:endParaRPr lang="pt-BR" sz="1800" dirty="0"/>
          </a:p>
          <a:p>
            <a:r>
              <a:rPr lang="pt-BR" sz="1800" dirty="0"/>
              <a:t>Uma interface pode estabelecer quais operações uma classe precisa oferecer para ter essa capacidade.</a:t>
            </a:r>
          </a:p>
        </p:txBody>
      </p:sp>
    </p:spTree>
    <p:extLst>
      <p:ext uri="{BB962C8B-B14F-4D97-AF65-F5344CB8AC3E}">
        <p14:creationId xmlns:p14="http://schemas.microsoft.com/office/powerpoint/2010/main" val="2269495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31E2B-1BDA-4171-BB73-4F7D3B18F204}"/>
              </a:ext>
            </a:extLst>
          </p:cNvPr>
          <p:cNvSpPr>
            <a:spLocks noGrp="1"/>
          </p:cNvSpPr>
          <p:nvPr>
            <p:ph type="title"/>
          </p:nvPr>
        </p:nvSpPr>
        <p:spPr/>
        <p:txBody>
          <a:bodyPr/>
          <a:lstStyle/>
          <a:p>
            <a:r>
              <a:rPr lang="pt-BR" dirty="0"/>
              <a:t>Sintaxe</a:t>
            </a:r>
          </a:p>
        </p:txBody>
      </p:sp>
      <p:sp>
        <p:nvSpPr>
          <p:cNvPr id="4" name="Retângulo 3">
            <a:extLst>
              <a:ext uri="{FF2B5EF4-FFF2-40B4-BE49-F238E27FC236}">
                <a16:creationId xmlns:a16="http://schemas.microsoft.com/office/drawing/2014/main" id="{2B891AA4-3BD5-40B8-80D9-CB7A73F24210}"/>
              </a:ext>
            </a:extLst>
          </p:cNvPr>
          <p:cNvSpPr/>
          <p:nvPr/>
        </p:nvSpPr>
        <p:spPr>
          <a:xfrm>
            <a:off x="749185" y="4375618"/>
            <a:ext cx="9630948" cy="1908215"/>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PagamentoPix</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implements</a:t>
            </a:r>
            <a:r>
              <a:rPr lang="pt-BR" sz="1400" b="1" dirty="0">
                <a:solidFill>
                  <a:srgbClr val="7F0055"/>
                </a:solidFill>
                <a:latin typeface="Consolas" panose="020B0609020204030204" pitchFamily="49" charset="0"/>
              </a:rPr>
              <a:t> </a:t>
            </a:r>
            <a:r>
              <a:rPr lang="pt-BR" sz="1400" b="1" dirty="0" err="1">
                <a:solidFill>
                  <a:srgbClr val="0000C0"/>
                </a:solidFill>
                <a:latin typeface="Consolas" panose="020B0609020204030204" pitchFamily="49" charset="0"/>
              </a:rPr>
              <a:t>F</a:t>
            </a:r>
            <a:r>
              <a:rPr lang="pt-BR" sz="1400" dirty="0" err="1">
                <a:solidFill>
                  <a:srgbClr val="0000C0"/>
                </a:solidFill>
                <a:latin typeface="Consolas" panose="020B0609020204030204" pitchFamily="49" charset="0"/>
              </a:rPr>
              <a:t>ormaPagamento</a:t>
            </a:r>
            <a:r>
              <a:rPr lang="pt-BR" sz="1400" dirty="0">
                <a:solidFill>
                  <a:srgbClr val="000000"/>
                </a:solidFill>
                <a:latin typeface="Consolas" panose="020B0609020204030204" pitchFamily="49" charset="0"/>
              </a:rPr>
              <a:t>{</a:t>
            </a:r>
          </a:p>
          <a:p>
            <a:pPr lvl="1">
              <a:spcBef>
                <a:spcPts val="150"/>
              </a:spcBef>
              <a:spcAft>
                <a:spcPts val="150"/>
              </a:spcAft>
            </a:pPr>
            <a:endParaRPr lang="pt-BR" sz="1400" b="1" dirty="0">
              <a:solidFill>
                <a:srgbClr val="7F0055"/>
              </a:solidFill>
              <a:latin typeface="Consolas" panose="020B0609020204030204" pitchFamily="49" charset="0"/>
            </a:endParaRPr>
          </a:p>
          <a:p>
            <a:pPr lvl="1">
              <a:spcBef>
                <a:spcPts val="150"/>
              </a:spcBef>
              <a:spcAft>
                <a:spcPts val="150"/>
              </a:spcAft>
            </a:pPr>
            <a:r>
              <a:rPr lang="pt-BR" sz="1400" dirty="0">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Override</a:t>
            </a:r>
            <a:endParaRPr lang="pt-BR" sz="1400" b="1" dirty="0">
              <a:solidFill>
                <a:srgbClr val="7F0055"/>
              </a:solidFill>
              <a:latin typeface="Consolas" panose="020B0609020204030204" pitchFamily="49" charset="0"/>
            </a:endParaRPr>
          </a:p>
          <a:p>
            <a:pPr lvl="1">
              <a:spcBef>
                <a:spcPts val="150"/>
              </a:spcBef>
              <a:spcAft>
                <a:spcPts val="150"/>
              </a:spcAft>
            </a:pPr>
            <a:r>
              <a:rPr lang="pt-BR" sz="1400" b="1" dirty="0" err="1">
                <a:solidFill>
                  <a:srgbClr val="7F0055"/>
                </a:solidFill>
                <a:latin typeface="Consolas" panose="020B0609020204030204" pitchFamily="49" charset="0"/>
              </a:rPr>
              <a:t>public</a:t>
            </a:r>
            <a:r>
              <a:rPr lang="pt-BR" sz="1400" b="1" dirty="0">
                <a:solidFill>
                  <a:srgbClr val="7F0055"/>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b="1" dirty="0">
                <a:solidFill>
                  <a:srgbClr val="000000"/>
                </a:solidFill>
                <a:latin typeface="Consolas" panose="020B0609020204030204" pitchFamily="49" charset="0"/>
              </a:rPr>
              <a:t> pagar</a:t>
            </a:r>
            <a:r>
              <a:rPr lang="pt-BR" sz="1400" dirty="0">
                <a:solidFill>
                  <a:srgbClr val="000000"/>
                </a:solidFill>
                <a:latin typeface="Consolas" panose="020B0609020204030204" pitchFamily="49" charset="0"/>
              </a:rPr>
              <a:t>(</a:t>
            </a:r>
            <a:r>
              <a:rPr lang="pt-BR" sz="1400" dirty="0" err="1">
                <a:solidFill>
                  <a:srgbClr val="000000"/>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valor</a:t>
            </a:r>
            <a:r>
              <a:rPr lang="pt-BR" sz="1400" dirty="0">
                <a:solidFill>
                  <a:srgbClr val="000000"/>
                </a:solidFill>
                <a:latin typeface="Consolas" panose="020B0609020204030204" pitchFamily="49" charset="0"/>
              </a:rPr>
              <a:t>) {</a:t>
            </a:r>
          </a:p>
          <a:p>
            <a:pPr lvl="2">
              <a:spcBef>
                <a:spcPts val="150"/>
              </a:spcBef>
              <a:spcAft>
                <a:spcPts val="150"/>
              </a:spcAft>
            </a:pPr>
            <a:r>
              <a:rPr lang="pt-BR" sz="1400" dirty="0" err="1">
                <a:solidFill>
                  <a:srgbClr val="0000C0"/>
                </a:solidFill>
                <a:latin typeface="Consolas" panose="020B0609020204030204" pitchFamily="49" charset="0"/>
              </a:rPr>
              <a:t>System.out.println</a:t>
            </a:r>
            <a:r>
              <a:rPr lang="pt-BR" sz="1400" dirty="0">
                <a:solidFill>
                  <a:srgbClr val="000000"/>
                </a:solidFill>
                <a:latin typeface="Consolas" panose="020B0609020204030204" pitchFamily="49" charset="0"/>
              </a:rPr>
              <a:t>(“Pagamento de R$” + </a:t>
            </a:r>
            <a:r>
              <a:rPr lang="pt-BR" sz="1400" dirty="0">
                <a:solidFill>
                  <a:srgbClr val="6A3E3E"/>
                </a:solidFill>
                <a:latin typeface="Consolas" panose="020B0609020204030204" pitchFamily="49" charset="0"/>
              </a:rPr>
              <a:t>valor </a:t>
            </a:r>
            <a:r>
              <a:rPr lang="pt-BR" sz="1400" dirty="0">
                <a:solidFill>
                  <a:srgbClr val="000000"/>
                </a:solidFill>
                <a:latin typeface="Consolas" panose="020B0609020204030204" pitchFamily="49" charset="0"/>
              </a:rPr>
              <a:t>+ “ realizado via PIX”);</a:t>
            </a:r>
          </a:p>
          <a:p>
            <a:pPr lvl="1">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5" name="Retângulo 4">
            <a:extLst>
              <a:ext uri="{FF2B5EF4-FFF2-40B4-BE49-F238E27FC236}">
                <a16:creationId xmlns:a16="http://schemas.microsoft.com/office/drawing/2014/main" id="{8B19854B-AB8E-441B-9202-05B619176719}"/>
              </a:ext>
            </a:extLst>
          </p:cNvPr>
          <p:cNvSpPr/>
          <p:nvPr/>
        </p:nvSpPr>
        <p:spPr>
          <a:xfrm>
            <a:off x="749185" y="2482382"/>
            <a:ext cx="7361854" cy="1107996"/>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a:solidFill>
                  <a:srgbClr val="7F0055"/>
                </a:solidFill>
                <a:latin typeface="Consolas" panose="020B0609020204030204" pitchFamily="49" charset="0"/>
              </a:rPr>
              <a:t>interface</a:t>
            </a:r>
            <a:r>
              <a:rPr lang="pt-BR" sz="1400" dirty="0">
                <a:solidFill>
                  <a:srgbClr val="000000"/>
                </a:solidFill>
                <a:latin typeface="Consolas" panose="020B0609020204030204" pitchFamily="49" charset="0"/>
              </a:rPr>
              <a:t> </a:t>
            </a:r>
            <a:r>
              <a:rPr lang="pt-BR" sz="1400" dirty="0" err="1">
                <a:solidFill>
                  <a:srgbClr val="0000C0"/>
                </a:solidFill>
                <a:latin typeface="Consolas" panose="020B0609020204030204" pitchFamily="49" charset="0"/>
              </a:rPr>
              <a:t>FormaPagamento</a:t>
            </a:r>
            <a:r>
              <a:rPr lang="pt-BR" sz="1400" dirty="0">
                <a:solidFill>
                  <a:srgbClr val="0000C0"/>
                </a:solidFill>
                <a:latin typeface="Consolas" panose="020B0609020204030204" pitchFamily="49" charset="0"/>
              </a:rPr>
              <a:t> </a:t>
            </a:r>
            <a:r>
              <a:rPr lang="pt-BR" sz="1400" dirty="0">
                <a:solidFill>
                  <a:srgbClr val="000000"/>
                </a:solidFill>
                <a:latin typeface="Consolas" panose="020B0609020204030204" pitchFamily="49" charset="0"/>
              </a:rPr>
              <a:t>{</a:t>
            </a:r>
            <a:endParaRPr lang="pt-BR" sz="1400" b="1" dirty="0">
              <a:solidFill>
                <a:srgbClr val="7F0055"/>
              </a:solidFill>
              <a:latin typeface="Consolas" panose="020B0609020204030204" pitchFamily="49" charset="0"/>
            </a:endParaRPr>
          </a:p>
          <a:p>
            <a:pPr lvl="1">
              <a:spcBef>
                <a:spcPts val="150"/>
              </a:spcBef>
              <a:spcAft>
                <a:spcPts val="150"/>
              </a:spcAft>
            </a:pPr>
            <a:r>
              <a:rPr lang="pt-BR" sz="1400" b="1" dirty="0" err="1">
                <a:solidFill>
                  <a:srgbClr val="7F0055"/>
                </a:solidFill>
                <a:latin typeface="Consolas" panose="020B0609020204030204" pitchFamily="49" charset="0"/>
              </a:rPr>
              <a:t>void</a:t>
            </a:r>
            <a:r>
              <a:rPr lang="pt-BR" sz="1400" b="1" dirty="0">
                <a:solidFill>
                  <a:srgbClr val="7F0055"/>
                </a:solidFill>
                <a:latin typeface="Consolas" panose="020B0609020204030204" pitchFamily="49" charset="0"/>
              </a:rPr>
              <a:t> </a:t>
            </a:r>
            <a:r>
              <a:rPr lang="pt-BR" sz="1400" dirty="0">
                <a:solidFill>
                  <a:srgbClr val="0000C0"/>
                </a:solidFill>
                <a:latin typeface="Consolas" panose="020B0609020204030204" pitchFamily="49" charset="0"/>
              </a:rPr>
              <a:t>pagar </a:t>
            </a:r>
            <a:r>
              <a:rPr lang="pt-BR" sz="1400" dirty="0">
                <a:solidFill>
                  <a:srgbClr val="000000"/>
                </a:solidFill>
                <a:latin typeface="Consolas" panose="020B0609020204030204" pitchFamily="49" charset="0"/>
              </a:rPr>
              <a:t>(</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valor</a:t>
            </a:r>
            <a:r>
              <a:rPr lang="pt-BR" sz="1400" dirty="0">
                <a:solidFill>
                  <a:srgbClr val="000000"/>
                </a:solidFill>
                <a:latin typeface="Consolas" panose="020B0609020204030204" pitchFamily="49" charset="0"/>
              </a:rPr>
              <a:t>) {</a:t>
            </a:r>
          </a:p>
          <a:p>
            <a:pPr lvl="1">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6" name="Retângulo 5">
            <a:extLst>
              <a:ext uri="{FF2B5EF4-FFF2-40B4-BE49-F238E27FC236}">
                <a16:creationId xmlns:a16="http://schemas.microsoft.com/office/drawing/2014/main" id="{271B2913-B13F-40EE-B7A5-0A14681A8834}"/>
              </a:ext>
            </a:extLst>
          </p:cNvPr>
          <p:cNvSpPr/>
          <p:nvPr/>
        </p:nvSpPr>
        <p:spPr>
          <a:xfrm>
            <a:off x="749185" y="1905096"/>
            <a:ext cx="2628155" cy="369332"/>
          </a:xfrm>
          <a:prstGeom prst="rect">
            <a:avLst/>
          </a:prstGeom>
        </p:spPr>
        <p:txBody>
          <a:bodyPr wrap="none">
            <a:spAutoFit/>
          </a:bodyPr>
          <a:lstStyle/>
          <a:p>
            <a:r>
              <a:rPr lang="pt-BR" dirty="0">
                <a:latin typeface="Times New Roman" panose="02020603050405020304" pitchFamily="18" charset="0"/>
                <a:cs typeface="Times New Roman" panose="02020603050405020304" pitchFamily="18" charset="0"/>
              </a:rPr>
              <a:t>Como criar uma interface:</a:t>
            </a:r>
          </a:p>
        </p:txBody>
      </p:sp>
      <p:sp>
        <p:nvSpPr>
          <p:cNvPr id="7" name="Retângulo 6">
            <a:extLst>
              <a:ext uri="{FF2B5EF4-FFF2-40B4-BE49-F238E27FC236}">
                <a16:creationId xmlns:a16="http://schemas.microsoft.com/office/drawing/2014/main" id="{E99E9658-624D-4A67-BC93-8D4A3D3740AC}"/>
              </a:ext>
            </a:extLst>
          </p:cNvPr>
          <p:cNvSpPr/>
          <p:nvPr/>
        </p:nvSpPr>
        <p:spPr>
          <a:xfrm>
            <a:off x="749184" y="3798332"/>
            <a:ext cx="3355790" cy="369332"/>
          </a:xfrm>
          <a:prstGeom prst="rect">
            <a:avLst/>
          </a:prstGeom>
        </p:spPr>
        <p:txBody>
          <a:bodyPr wrap="none">
            <a:spAutoFit/>
          </a:bodyPr>
          <a:lstStyle/>
          <a:p>
            <a:r>
              <a:rPr lang="pt-BR" dirty="0">
                <a:latin typeface="Times New Roman" panose="02020603050405020304" pitchFamily="18" charset="0"/>
                <a:cs typeface="Times New Roman" panose="02020603050405020304" pitchFamily="18" charset="0"/>
              </a:rPr>
              <a:t>Como implementar uma interface</a:t>
            </a:r>
          </a:p>
        </p:txBody>
      </p:sp>
    </p:spTree>
    <p:extLst>
      <p:ext uri="{BB962C8B-B14F-4D97-AF65-F5344CB8AC3E}">
        <p14:creationId xmlns:p14="http://schemas.microsoft.com/office/powerpoint/2010/main" val="2145790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F55CF7-7DD5-478F-8B89-574E79ED855F}"/>
              </a:ext>
            </a:extLst>
          </p:cNvPr>
          <p:cNvSpPr>
            <a:spLocks noGrp="1"/>
          </p:cNvSpPr>
          <p:nvPr>
            <p:ph type="title"/>
          </p:nvPr>
        </p:nvSpPr>
        <p:spPr/>
        <p:txBody>
          <a:bodyPr/>
          <a:lstStyle/>
          <a:p>
            <a:r>
              <a:rPr lang="pt-BR" dirty="0"/>
              <a:t>Projeto: Sistema para Locadora de Veículos</a:t>
            </a:r>
          </a:p>
        </p:txBody>
      </p:sp>
      <p:sp>
        <p:nvSpPr>
          <p:cNvPr id="3" name="Espaço Reservado para Conteúdo 2">
            <a:extLst>
              <a:ext uri="{FF2B5EF4-FFF2-40B4-BE49-F238E27FC236}">
                <a16:creationId xmlns:a16="http://schemas.microsoft.com/office/drawing/2014/main" id="{EA887720-5C48-4CFE-9800-78B1959096A9}"/>
              </a:ext>
            </a:extLst>
          </p:cNvPr>
          <p:cNvSpPr>
            <a:spLocks noGrp="1"/>
          </p:cNvSpPr>
          <p:nvPr>
            <p:ph idx="1"/>
          </p:nvPr>
        </p:nvSpPr>
        <p:spPr/>
        <p:txBody>
          <a:bodyPr/>
          <a:lstStyle/>
          <a:p>
            <a:r>
              <a:rPr lang="pt-BR" sz="1800" dirty="0"/>
              <a:t>O projeto consiste em um sistema que gerencia os veículos disponíveis para aluguel em uma locadora. Cada veículo pode ter características específicas, como tipo (carro, moto ou caminhão), capacidade de passageiros, valor da diária, entre outros. O sistema deve permitir:</a:t>
            </a:r>
          </a:p>
          <a:p>
            <a:endParaRPr lang="pt-BR" sz="1800" dirty="0"/>
          </a:p>
          <a:p>
            <a:pPr marL="1028700" lvl="1" indent="-342900"/>
            <a:r>
              <a:rPr lang="pt-BR" dirty="0"/>
              <a:t>Cadastro de diferentes tipos de veículos</a:t>
            </a:r>
          </a:p>
          <a:p>
            <a:pPr marL="1028700" lvl="1" indent="-342900"/>
            <a:r>
              <a:rPr lang="pt-BR" dirty="0"/>
              <a:t>Cálculo automático do valor do aluguel com base no tipo do veículo e na quantidade de dias</a:t>
            </a:r>
          </a:p>
          <a:p>
            <a:pPr marL="1028700" lvl="1" indent="-342900"/>
            <a:r>
              <a:rPr lang="pt-BR" dirty="0"/>
              <a:t>Aplicação de taxas adicionais específicas por tipo de veículo</a:t>
            </a:r>
          </a:p>
          <a:p>
            <a:pPr marL="1028700" lvl="1" indent="-342900"/>
            <a:r>
              <a:rPr lang="pt-BR" dirty="0"/>
              <a:t>Exibição de detalhes dos veículos cadastrados</a:t>
            </a:r>
          </a:p>
        </p:txBody>
      </p:sp>
    </p:spTree>
    <p:extLst>
      <p:ext uri="{BB962C8B-B14F-4D97-AF65-F5344CB8AC3E}">
        <p14:creationId xmlns:p14="http://schemas.microsoft.com/office/powerpoint/2010/main" val="29471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7C297-18B3-44FA-BBD3-B3907CCA9DF2}"/>
              </a:ext>
            </a:extLst>
          </p:cNvPr>
          <p:cNvSpPr>
            <a:spLocks noGrp="1"/>
          </p:cNvSpPr>
          <p:nvPr>
            <p:ph type="title"/>
          </p:nvPr>
        </p:nvSpPr>
        <p:spPr/>
        <p:txBody>
          <a:bodyPr/>
          <a:lstStyle/>
          <a:p>
            <a:r>
              <a:rPr lang="pt-BR" dirty="0"/>
              <a:t>Estrutura do Projeto</a:t>
            </a:r>
          </a:p>
        </p:txBody>
      </p:sp>
      <p:sp>
        <p:nvSpPr>
          <p:cNvPr id="3" name="Espaço Reservado para Conteúdo 2">
            <a:extLst>
              <a:ext uri="{FF2B5EF4-FFF2-40B4-BE49-F238E27FC236}">
                <a16:creationId xmlns:a16="http://schemas.microsoft.com/office/drawing/2014/main" id="{547D5D5B-75C7-40E5-8D93-33F407E6B3E4}"/>
              </a:ext>
            </a:extLst>
          </p:cNvPr>
          <p:cNvSpPr>
            <a:spLocks noGrp="1"/>
          </p:cNvSpPr>
          <p:nvPr>
            <p:ph idx="1"/>
          </p:nvPr>
        </p:nvSpPr>
        <p:spPr>
          <a:xfrm>
            <a:off x="592347" y="1844675"/>
            <a:ext cx="11007306" cy="4756422"/>
          </a:xfrm>
        </p:spPr>
        <p:txBody>
          <a:bodyPr/>
          <a:lstStyle/>
          <a:p>
            <a:pPr>
              <a:lnSpc>
                <a:spcPct val="100000"/>
              </a:lnSpc>
              <a:spcBef>
                <a:spcPts val="500"/>
              </a:spcBef>
              <a:spcAft>
                <a:spcPts val="500"/>
              </a:spcAft>
            </a:pPr>
            <a:r>
              <a:rPr lang="pt-BR" dirty="0"/>
              <a:t>Classes e Interfaces</a:t>
            </a:r>
          </a:p>
          <a:p>
            <a:pPr marL="1028700" lvl="1" indent="-342900">
              <a:lnSpc>
                <a:spcPct val="100000"/>
              </a:lnSpc>
              <a:spcAft>
                <a:spcPts val="500"/>
              </a:spcAft>
            </a:pPr>
            <a:r>
              <a:rPr lang="pt-BR" dirty="0"/>
              <a:t>Interface → </a:t>
            </a:r>
            <a:r>
              <a:rPr lang="pt-BR" dirty="0" err="1"/>
              <a:t>Alugavel</a:t>
            </a:r>
            <a:r>
              <a:rPr lang="pt-BR" dirty="0"/>
              <a:t> </a:t>
            </a:r>
          </a:p>
          <a:p>
            <a:pPr marL="1485900" lvl="2" indent="-342900">
              <a:lnSpc>
                <a:spcPct val="100000"/>
              </a:lnSpc>
              <a:spcAft>
                <a:spcPts val="500"/>
              </a:spcAft>
            </a:pPr>
            <a:r>
              <a:rPr lang="pt-BR" dirty="0"/>
              <a:t>Método </a:t>
            </a:r>
            <a:r>
              <a:rPr lang="pt-BR" dirty="0" err="1"/>
              <a:t>calcularAluguel</a:t>
            </a:r>
            <a:r>
              <a:rPr lang="pt-BR" dirty="0"/>
              <a:t>(int dias) que calcula o valor total do aluguel com base na diária.</a:t>
            </a:r>
          </a:p>
          <a:p>
            <a:pPr marL="1028700" lvl="1" indent="-342900">
              <a:lnSpc>
                <a:spcPct val="100000"/>
              </a:lnSpc>
              <a:spcAft>
                <a:spcPts val="500"/>
              </a:spcAft>
            </a:pPr>
            <a:r>
              <a:rPr lang="pt-BR" dirty="0"/>
              <a:t>Classe Pai → Veiculo</a:t>
            </a:r>
          </a:p>
          <a:p>
            <a:pPr marL="1485900" lvl="2" indent="-342900">
              <a:lnSpc>
                <a:spcPct val="100000"/>
              </a:lnSpc>
              <a:spcAft>
                <a:spcPts val="500"/>
              </a:spcAft>
            </a:pPr>
            <a:r>
              <a:rPr lang="pt-BR" dirty="0"/>
              <a:t>Atributos encapsulados: marca, modelo, ano, </a:t>
            </a:r>
            <a:r>
              <a:rPr lang="pt-BR" dirty="0" err="1"/>
              <a:t>valorDiaria</a:t>
            </a:r>
            <a:r>
              <a:rPr lang="pt-BR" dirty="0"/>
              <a:t>.</a:t>
            </a:r>
          </a:p>
          <a:p>
            <a:pPr marL="1485900" lvl="2" indent="-342900">
              <a:lnSpc>
                <a:spcPct val="100000"/>
              </a:lnSpc>
              <a:spcAft>
                <a:spcPts val="500"/>
              </a:spcAft>
            </a:pPr>
            <a:r>
              <a:rPr lang="pt-BR" dirty="0"/>
              <a:t>Métodos </a:t>
            </a:r>
            <a:r>
              <a:rPr lang="pt-BR" dirty="0" err="1"/>
              <a:t>get</a:t>
            </a:r>
            <a:r>
              <a:rPr lang="pt-BR" dirty="0"/>
              <a:t> e set para proteger os dados (encapsulamento).</a:t>
            </a:r>
          </a:p>
          <a:p>
            <a:pPr marL="1485900" lvl="2" indent="-342900">
              <a:lnSpc>
                <a:spcPct val="100000"/>
              </a:lnSpc>
              <a:spcAft>
                <a:spcPts val="500"/>
              </a:spcAft>
            </a:pPr>
            <a:r>
              <a:rPr lang="pt-BR" dirty="0"/>
              <a:t>Método </a:t>
            </a:r>
            <a:r>
              <a:rPr lang="pt-BR" dirty="0" err="1"/>
              <a:t>toString</a:t>
            </a:r>
            <a:r>
              <a:rPr lang="pt-BR" dirty="0"/>
              <a:t>() para exibir informações específicas do veículo.</a:t>
            </a:r>
          </a:p>
          <a:p>
            <a:pPr marL="1028700" lvl="1" indent="-342900">
              <a:lnSpc>
                <a:spcPct val="100000"/>
              </a:lnSpc>
              <a:spcAft>
                <a:spcPts val="500"/>
              </a:spcAft>
            </a:pPr>
            <a:r>
              <a:rPr lang="pt-BR" dirty="0"/>
              <a:t>Classes Filhas (herdam de Veiculo e implementam </a:t>
            </a:r>
            <a:r>
              <a:rPr lang="pt-BR" dirty="0" err="1"/>
              <a:t>Alugavel</a:t>
            </a:r>
            <a:r>
              <a:rPr lang="pt-BR" dirty="0"/>
              <a:t>)</a:t>
            </a:r>
          </a:p>
          <a:p>
            <a:pPr marL="1485900" lvl="2" indent="-342900">
              <a:lnSpc>
                <a:spcPct val="100000"/>
              </a:lnSpc>
              <a:spcAft>
                <a:spcPts val="500"/>
              </a:spcAft>
            </a:pPr>
            <a:r>
              <a:rPr lang="pt-BR" dirty="0"/>
              <a:t>Carro → Possui atributo adicional </a:t>
            </a:r>
            <a:r>
              <a:rPr lang="pt-BR" dirty="0" err="1"/>
              <a:t>arCondicionado</a:t>
            </a:r>
            <a:r>
              <a:rPr lang="pt-BR" dirty="0"/>
              <a:t> e uma taxa extra no aluguel.</a:t>
            </a:r>
          </a:p>
          <a:p>
            <a:pPr marL="1485900" lvl="2" indent="-342900">
              <a:lnSpc>
                <a:spcPct val="100000"/>
              </a:lnSpc>
              <a:spcAft>
                <a:spcPts val="500"/>
              </a:spcAft>
            </a:pPr>
            <a:r>
              <a:rPr lang="pt-BR" dirty="0"/>
              <a:t>Moto → Possui atributo adicional cilindrada.</a:t>
            </a:r>
          </a:p>
          <a:p>
            <a:pPr marL="1485900" lvl="2" indent="-342900">
              <a:lnSpc>
                <a:spcPct val="100000"/>
              </a:lnSpc>
              <a:spcAft>
                <a:spcPts val="500"/>
              </a:spcAft>
            </a:pPr>
            <a:r>
              <a:rPr lang="pt-BR" dirty="0" err="1"/>
              <a:t>Caminhao</a:t>
            </a:r>
            <a:r>
              <a:rPr lang="pt-BR" dirty="0"/>
              <a:t> → Possui atributo adicional </a:t>
            </a:r>
            <a:r>
              <a:rPr lang="pt-BR" dirty="0" err="1"/>
              <a:t>capacidadeCarga</a:t>
            </a:r>
            <a:r>
              <a:rPr lang="pt-BR" dirty="0"/>
              <a:t>.</a:t>
            </a:r>
          </a:p>
          <a:p>
            <a:pPr marL="1028700" lvl="1" indent="-342900">
              <a:lnSpc>
                <a:spcPct val="100000"/>
              </a:lnSpc>
              <a:spcAft>
                <a:spcPts val="500"/>
              </a:spcAft>
            </a:pPr>
            <a:r>
              <a:rPr lang="pt-BR" dirty="0"/>
              <a:t>Classe Principal → </a:t>
            </a:r>
            <a:r>
              <a:rPr lang="pt-BR" dirty="0" err="1"/>
              <a:t>SistemaLocadora</a:t>
            </a:r>
            <a:endParaRPr lang="pt-BR" dirty="0"/>
          </a:p>
          <a:p>
            <a:pPr marL="1485900" lvl="2" indent="-342900">
              <a:lnSpc>
                <a:spcPct val="100000"/>
              </a:lnSpc>
              <a:spcAft>
                <a:spcPts val="500"/>
              </a:spcAft>
            </a:pPr>
            <a:r>
              <a:rPr lang="pt-BR" dirty="0"/>
              <a:t>Permite o cadastro e exibição de veículos utilizando polimorfismo.</a:t>
            </a:r>
          </a:p>
        </p:txBody>
      </p:sp>
    </p:spTree>
    <p:extLst>
      <p:ext uri="{BB962C8B-B14F-4D97-AF65-F5344CB8AC3E}">
        <p14:creationId xmlns:p14="http://schemas.microsoft.com/office/powerpoint/2010/main" val="132660737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3573</TotalTime>
  <Words>1089</Words>
  <Application>Microsoft Office PowerPoint</Application>
  <PresentationFormat>Widescreen</PresentationFormat>
  <Paragraphs>131</Paragraphs>
  <Slides>15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15</vt:i4>
      </vt:variant>
    </vt:vector>
  </HeadingPairs>
  <TitlesOfParts>
    <vt:vector size="21" baseType="lpstr">
      <vt:lpstr>Arial</vt:lpstr>
      <vt:lpstr>Calibri</vt:lpstr>
      <vt:lpstr>Calibri Light</vt:lpstr>
      <vt:lpstr>Consolas</vt:lpstr>
      <vt:lpstr>Times New Roman</vt:lpstr>
      <vt:lpstr>Tema do Office</vt:lpstr>
      <vt:lpstr>Herança e Polimorfismo</vt:lpstr>
      <vt:lpstr>Projeto PetShop</vt:lpstr>
      <vt:lpstr>Atributos e Métodos</vt:lpstr>
      <vt:lpstr>Refletindo sobre o código</vt:lpstr>
      <vt:lpstr>Podemos melhorar isso?</vt:lpstr>
      <vt:lpstr>Atributos e Métodos com Herança</vt:lpstr>
      <vt:lpstr>Herança </vt:lpstr>
      <vt:lpstr>Construtor Super()</vt:lpstr>
      <vt:lpstr>Construtor Super()</vt:lpstr>
      <vt:lpstr>O que é Polimorfismo? </vt:lpstr>
      <vt:lpstr>Exemplo de Polimorfismo</vt:lpstr>
      <vt:lpstr>O que é uma interface?</vt:lpstr>
      <vt:lpstr>Sintaxe</vt:lpstr>
      <vt:lpstr>Projeto: Sistema para Locadora de Veículos</vt:lpstr>
      <vt:lpstr>Estrutura do Projeto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Tadeu Monteiro Guedes Fernandes Salomao</dc:creator>
  <cp:lastModifiedBy>Pedro Henrique Miho de Souza</cp:lastModifiedBy>
  <cp:revision>267</cp:revision>
  <dcterms:created xsi:type="dcterms:W3CDTF">2024-03-08T12:14:33Z</dcterms:created>
  <dcterms:modified xsi:type="dcterms:W3CDTF">2026-09-14T01:35:51Z</dcterms:modified>
</cp:coreProperties>
</file>