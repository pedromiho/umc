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6.xml" ContentType="application/vnd.openxmlformats-officedocument.presentationml.slide+xml"/>
  <Override PartName="/ppt/slides/slide8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2.xml" ContentType="application/vnd.openxmlformats-officedocument.presentationml.slide+xml"/>
  <Override PartName="/ppt/slides/slide11.xml" ContentType="application/vnd.openxmlformats-officedocument.presentationml.slide+xml"/>
  <Override PartName="/ppt/slides/slide9.xml" ContentType="application/vnd.openxmlformats-officedocument.presentationml.slide+xml"/>
  <Override PartName="/ppt/slides/slide13.xml" ContentType="application/vnd.openxmlformats-officedocument.presentationml.slide+xml"/>
  <Override PartName="/ppt/slides/slide17.xml" ContentType="application/vnd.openxmlformats-officedocument.presentationml.slide+xml"/>
  <Override PartName="/ppt/slides/slide12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22.xml" ContentType="application/vnd.openxmlformats-officedocument.presentationml.slide+xml"/>
  <Override PartName="/ppt/slides/slide14.xml" ContentType="application/vnd.openxmlformats-officedocument.presentationml.slide+xml"/>
  <Override PartName="/ppt/slides/slide21.xml" ContentType="application/vnd.openxmlformats-officedocument.presentationml.slide+xml"/>
  <Override PartName="/ppt/slides/slide15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1.xml" ContentType="application/vnd.openxmlformats-officedocument.presentationml.notesSlid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4" r:id="rId18"/>
    <p:sldId id="272" r:id="rId19"/>
    <p:sldId id="276" r:id="rId20"/>
    <p:sldId id="275" r:id="rId21"/>
    <p:sldId id="278" r:id="rId22"/>
    <p:sldId id="279" r:id="rId2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AC87CF5-69C3-4DE4-9F21-104E045FF662}">
  <a:tblStyle styleId="{0AC87CF5-69C3-4DE4-9F21-104E045FF662}" styleName="Table_0">
    <a:wholeTbl>
      <a:tcTxStyle b="off" i="off">
        <a:font>
          <a:latin typeface="Arial"/>
          <a:ea typeface="Arial"/>
          <a:cs typeface="Arial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BF5"/>
          </a:solidFill>
        </a:fill>
      </a:tcStyle>
    </a:wholeTbl>
    <a:band1H>
      <a:tcTxStyle/>
      <a:tcStyle>
        <a:tcBdr/>
        <a:fill>
          <a:solidFill>
            <a:srgbClr val="CDD4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DD4EA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Arial"/>
          <a:ea typeface="Arial"/>
          <a:cs typeface="Arial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1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pt-BR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‹nº›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5" name="Google Shape;7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8" name="Google Shape;8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0" name="Google Shape;10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6" name="Google Shape;10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2" name="Google Shape;11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4" name="Google Shape;16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9" name="Google Shape;17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4" name="Google Shape;194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63FADDCE-EF2C-EDD3-FBBF-DFB14AC8AD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44349721-7127-0965-6F58-16CBAF9A8B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D95C8B90-1A1C-9932-66B7-105EB62210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5884987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3C2E0587-4DE0-4979-83B9-FE80517104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372D6F44-24A5-714C-5009-9F8742FAE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0953849D-8F06-9B50-FCD1-2133ADA33B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507388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7682AA72-3A93-FF2E-673A-4098291D73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>
            <a:extLst>
              <a:ext uri="{FF2B5EF4-FFF2-40B4-BE49-F238E27FC236}">
                <a16:creationId xmlns:a16="http://schemas.microsoft.com/office/drawing/2014/main" id="{FB0A60D9-0772-67FD-155E-A82B0486BCC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>
            <a:extLst>
              <a:ext uri="{FF2B5EF4-FFF2-40B4-BE49-F238E27FC236}">
                <a16:creationId xmlns:a16="http://schemas.microsoft.com/office/drawing/2014/main" id="{0B542A5C-35E3-715E-4511-DD397BD03C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0136635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1BF681F6-1A22-B470-FD5F-C45C50E2D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63E6D895-951C-92FD-FF1C-3E38EE1AB2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7B80E206-A938-18C8-9DFF-DAF3A6BD45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965121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BB12C904-4733-2DEB-2C5A-0FF8258DF0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5:notes">
            <a:extLst>
              <a:ext uri="{FF2B5EF4-FFF2-40B4-BE49-F238E27FC236}">
                <a16:creationId xmlns:a16="http://schemas.microsoft.com/office/drawing/2014/main" id="{3E34E716-7536-BFE9-1F29-ABC1BAD9108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:notes">
            <a:extLst>
              <a:ext uri="{FF2B5EF4-FFF2-40B4-BE49-F238E27FC236}">
                <a16:creationId xmlns:a16="http://schemas.microsoft.com/office/drawing/2014/main" id="{20F10AE1-A0F5-5838-F223-C122D65AD1C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0014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0">
          <a:extLst>
            <a:ext uri="{FF2B5EF4-FFF2-40B4-BE49-F238E27FC236}">
              <a16:creationId xmlns:a16="http://schemas.microsoft.com/office/drawing/2014/main" id="{2216C887-BC6B-BD16-9BF8-44A16A5A0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4:notes">
            <a:extLst>
              <a:ext uri="{FF2B5EF4-FFF2-40B4-BE49-F238E27FC236}">
                <a16:creationId xmlns:a16="http://schemas.microsoft.com/office/drawing/2014/main" id="{97292813-069A-4BAE-5DC4-776F1902780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4:notes">
            <a:extLst>
              <a:ext uri="{FF2B5EF4-FFF2-40B4-BE49-F238E27FC236}">
                <a16:creationId xmlns:a16="http://schemas.microsoft.com/office/drawing/2014/main" id="{B2FA4DB2-FAB4-2629-5E18-3DDDE05933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4771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Times New Roman"/>
              <a:buNone/>
              <a:defRPr sz="6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sz="2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sz="20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1"/>
          <p:cNvSpPr txBox="1"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  <a:defRPr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body" idx="1"/>
          </p:nvPr>
        </p:nvSpPr>
        <p:spPr>
          <a:xfrm rot="5400000">
            <a:off x="3786847" y="-1355935"/>
            <a:ext cx="4618307" cy="109814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o e Título Vertical" type="vertTitleAndTx">
  <p:cSld name="VERTICAL_TITLE_AND_VERTICAL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rgbClr val="292A86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  <a:ln>
            <a:noFill/>
          </a:ln>
        </p:spPr>
      </p:pic>
      <p:pic>
        <p:nvPicPr>
          <p:cNvPr id="12" name="Google Shape;12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0283716" y="719713"/>
            <a:ext cx="1273846" cy="720000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sv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3"/>
          <p:cNvSpPr txBox="1"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Times New Roman"/>
              <a:buNone/>
            </a:pPr>
            <a:r>
              <a:rPr lang="pt-BR" sz="5400"/>
              <a:t>Visão Geral (UML)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/>
              <a:t>Prof. Esp. Pedro Miho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O que é UML ?</a:t>
            </a:r>
            <a:endParaRPr/>
          </a:p>
        </p:txBody>
      </p:sp>
      <p:sp>
        <p:nvSpPr>
          <p:cNvPr id="84" name="Google Shape;84;p14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5038432" cy="4710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pt-BR"/>
              <a:t>A UML (</a:t>
            </a:r>
            <a:r>
              <a:rPr lang="pt-BR" i="1"/>
              <a:t>Unified Modeling Language</a:t>
            </a:r>
            <a:r>
              <a:rPr lang="pt-BR"/>
              <a:t>) é uma </a:t>
            </a:r>
            <a:r>
              <a:rPr lang="pt-BR" b="1"/>
              <a:t>linguagem visual</a:t>
            </a:r>
            <a:r>
              <a:rPr lang="pt-BR"/>
              <a:t> utilizada para </a:t>
            </a:r>
            <a:r>
              <a:rPr lang="pt-BR" b="1"/>
              <a:t>modelar e documentar sistemas de software</a:t>
            </a:r>
            <a:r>
              <a:rPr lang="pt-BR"/>
              <a:t> por meio de diagramas.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br>
              <a:rPr lang="pt-BR"/>
            </a:br>
            <a:r>
              <a:rPr lang="pt-BR"/>
              <a:t>Ela auxilia na </a:t>
            </a:r>
            <a:r>
              <a:rPr lang="pt-BR" b="1"/>
              <a:t>análise e no projeto do sistema</a:t>
            </a:r>
            <a:r>
              <a:rPr lang="pt-BR"/>
              <a:t>, facilitando a comunicação entre as equipes e apoiando o desenvolvimento orientado a objetos.</a:t>
            </a:r>
            <a:endParaRPr/>
          </a:p>
        </p:txBody>
      </p:sp>
      <p:pic>
        <p:nvPicPr>
          <p:cNvPr id="85" name="Google Shape;85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185838" y="2394831"/>
            <a:ext cx="5592451" cy="3609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UML</a:t>
            </a:r>
            <a:endParaRPr/>
          </a:p>
        </p:txBody>
      </p:sp>
      <p:sp>
        <p:nvSpPr>
          <p:cNvPr id="91" name="Google Shape;91;p15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6201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Os </a:t>
            </a:r>
            <a:r>
              <a:rPr lang="pt-BR" sz="1800" b="1"/>
              <a:t>diagramas</a:t>
            </a:r>
            <a:r>
              <a:rPr lang="pt-BR" sz="1800"/>
              <a:t> na UML são </a:t>
            </a:r>
            <a:r>
              <a:rPr lang="pt-BR" sz="1800" b="1"/>
              <a:t>representações visuais</a:t>
            </a:r>
            <a:r>
              <a:rPr lang="pt-BR" sz="1800"/>
              <a:t> usadas para </a:t>
            </a:r>
            <a:r>
              <a:rPr lang="pt-BR" sz="1800" b="1"/>
              <a:t>descrever, organizar e comunicar</a:t>
            </a:r>
            <a:r>
              <a:rPr lang="pt-BR" sz="1800"/>
              <a:t> diferentes aspectos de um sistema de software.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Cada diagrama mostra o sistema sob uma </a:t>
            </a:r>
            <a:r>
              <a:rPr lang="pt-BR" sz="1800" b="1"/>
              <a:t>visão específica</a:t>
            </a:r>
            <a:r>
              <a:rPr lang="pt-BR" sz="1800"/>
              <a:t>, ajudando a entender como ele funciona, como está estruturado ou como seus componentes interagem.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Casos de Uso</a:t>
            </a:r>
            <a:r>
              <a:rPr lang="pt-BR" sz="1400"/>
              <a:t> – Funcionalidades do sistema do ponto de vista do usuário.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Sequência </a:t>
            </a:r>
            <a:r>
              <a:rPr lang="pt-BR" sz="1400"/>
              <a:t>– Ordem das interações entre objetos.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Classes </a:t>
            </a:r>
            <a:r>
              <a:rPr lang="pt-BR" sz="1400"/>
              <a:t>– Estrutura das classes, atributos, métodos e relacionamentos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Atividades </a:t>
            </a:r>
            <a:r>
              <a:rPr lang="pt-BR" sz="1400"/>
              <a:t>– Fluxo de processos e decisões.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Estados </a:t>
            </a:r>
            <a:r>
              <a:rPr lang="pt-BR" sz="1400"/>
              <a:t>– Estados e transições de um objeto.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 b="1"/>
              <a:t>Diagrama de Componentes</a:t>
            </a:r>
            <a:r>
              <a:rPr lang="pt-BR" sz="1400"/>
              <a:t> – Organização dos componentes do sistema</a:t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Problematização – Sistema de Pedidos</a:t>
            </a:r>
            <a:endParaRPr/>
          </a:p>
        </p:txBody>
      </p:sp>
      <p:sp>
        <p:nvSpPr>
          <p:cNvPr id="97" name="Google Shape;97;p16"/>
          <p:cNvSpPr txBox="1">
            <a:spLocks noGrp="1"/>
          </p:cNvSpPr>
          <p:nvPr>
            <p:ph type="body" idx="1"/>
          </p:nvPr>
        </p:nvSpPr>
        <p:spPr>
          <a:xfrm>
            <a:off x="592347" y="2737939"/>
            <a:ext cx="11007306" cy="22792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Uma lanchonete realiza o controle de pedidos de forma manual, utilizando papel e planilhas. Com o aumento da demanda, surgiram problemas como erros no cálculo dos pedidos, dificuldade no controle de status, falta de padronização dos produtos e limitações para o crescimento do negócio.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Diante desse cenário, surge a necessidade de </a:t>
            </a:r>
            <a:r>
              <a:rPr lang="pt-BR" sz="1600" b="1"/>
              <a:t>planejar e desenvolver um sistema informatizado de pedidos</a:t>
            </a:r>
            <a:r>
              <a:rPr lang="pt-BR" sz="1600"/>
              <a:t>, iniciando com uma solução simples em Java e evoluindo para uma aplicação moderna baseada em </a:t>
            </a:r>
            <a:r>
              <a:rPr lang="pt-BR" sz="1600" b="1"/>
              <a:t>APIs REST com Spring Boot</a:t>
            </a:r>
            <a:r>
              <a:rPr lang="pt-BR" sz="1600"/>
              <a:t>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Desafio Proposto</a:t>
            </a:r>
            <a:endParaRPr/>
          </a:p>
        </p:txBody>
      </p:sp>
      <p:sp>
        <p:nvSpPr>
          <p:cNvPr id="103" name="Google Shape;103;p17"/>
          <p:cNvSpPr txBox="1">
            <a:spLocks noGrp="1"/>
          </p:cNvSpPr>
          <p:nvPr>
            <p:ph type="body" idx="1"/>
          </p:nvPr>
        </p:nvSpPr>
        <p:spPr>
          <a:xfrm>
            <a:off x="592347" y="2448179"/>
            <a:ext cx="11007306" cy="32211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Os alunos deverão analisar o problema, identificar as necessidades do sistema e desenvolver uma solução computacional, passando por diferentes níveis de complexidade: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Da Lógica Estruturada ao Paradigma Orientado a Objetos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Da aplicação em Console à Arquitetura Web com Spring Boot</a:t>
            </a:r>
            <a:endParaRPr/>
          </a:p>
          <a:p>
            <a:pPr marL="971550" lvl="1" indent="-28575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</a:pPr>
            <a:r>
              <a:rPr lang="pt-BR" sz="1400"/>
              <a:t>Modelagem com UML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1600"/>
              <a:t>Antes de escrever código, será necessário modelar o sistema utilizando UML, garantindo organização, clareza e entendimento do domínio do problema.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de Casos de Uso</a:t>
            </a:r>
            <a:endParaRPr/>
          </a:p>
        </p:txBody>
      </p:sp>
      <p:sp>
        <p:nvSpPr>
          <p:cNvPr id="109" name="Google Shape;109;p18"/>
          <p:cNvSpPr txBox="1">
            <a:spLocks noGrp="1"/>
          </p:cNvSpPr>
          <p:nvPr>
            <p:ph type="body"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O Diagrama de Casos de Uso representa as </a:t>
            </a:r>
            <a:r>
              <a:rPr lang="pt-BR" sz="1800" b="1"/>
              <a:t>funcionalidades de um sistema do ponto de vista do usuário</a:t>
            </a:r>
            <a:r>
              <a:rPr lang="pt-BR" sz="1800"/>
              <a:t>, mostrando </a:t>
            </a:r>
            <a:r>
              <a:rPr lang="pt-BR" sz="1800" b="1"/>
              <a:t>o que o sistema faz</a:t>
            </a:r>
            <a:r>
              <a:rPr lang="pt-BR" sz="1800"/>
              <a:t>, e não como ele é implementado.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br>
              <a:rPr lang="pt-BR" sz="1800"/>
            </a:br>
            <a:r>
              <a:rPr lang="pt-BR" sz="1800"/>
              <a:t>Ele apresenta, de forma clara e visual, </a:t>
            </a:r>
            <a:r>
              <a:rPr lang="pt-BR" sz="1800" b="1"/>
              <a:t>quem interage com o sistema e quais ações podem ser realizadas</a:t>
            </a:r>
            <a:r>
              <a:rPr lang="pt-BR" sz="1800"/>
              <a:t>, facilitando a compreensão do funcionamento geral do sistema.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rPr lang="pt-BR" sz="1800"/>
              <a:t>Esse diagrama é muito utilizado na </a:t>
            </a:r>
            <a:r>
              <a:rPr lang="pt-BR" sz="1800" b="1"/>
              <a:t>fase de análise de requisitos</a:t>
            </a:r>
            <a:r>
              <a:rPr lang="pt-BR" sz="1800"/>
              <a:t>, pois ajuda a entender as necessidades do usuário, definir o escopo do sistema e melhorar a comunicação entre clientes, analistas e desenvolvedores.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115" name="Google Shape;115;p19"/>
          <p:cNvGrpSpPr/>
          <p:nvPr/>
        </p:nvGrpSpPr>
        <p:grpSpPr>
          <a:xfrm>
            <a:off x="384961" y="2268997"/>
            <a:ext cx="4462882" cy="3793463"/>
            <a:chOff x="1088746" y="2307092"/>
            <a:chExt cx="4462882" cy="3793463"/>
          </a:xfrm>
        </p:grpSpPr>
        <p:grpSp>
          <p:nvGrpSpPr>
            <p:cNvPr id="116" name="Google Shape;116;p19"/>
            <p:cNvGrpSpPr/>
            <p:nvPr/>
          </p:nvGrpSpPr>
          <p:grpSpPr>
            <a:xfrm>
              <a:off x="1088746" y="3209913"/>
              <a:ext cx="1618488" cy="1987820"/>
              <a:chOff x="781500" y="2715768"/>
              <a:chExt cx="1618488" cy="1987820"/>
            </a:xfrm>
          </p:grpSpPr>
          <p:pic>
            <p:nvPicPr>
              <p:cNvPr id="117" name="Google Shape;117;p19" descr="Homem com preenchimento sólido"/>
              <p:cNvPicPr preferRelativeResize="0"/>
              <p:nvPr/>
            </p:nvPicPr>
            <p:blipFill rotWithShape="1">
              <a:blip r:embed="rId3">
                <a:alphaModFix/>
              </a:blip>
              <a:srcRect/>
              <a:stretch/>
            </p:blipFill>
            <p:spPr>
              <a:xfrm>
                <a:off x="781500" y="2715768"/>
                <a:ext cx="1618488" cy="1618488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18" name="Google Shape;118;p19"/>
              <p:cNvSpPr txBox="1"/>
              <p:nvPr/>
            </p:nvSpPr>
            <p:spPr>
              <a:xfrm>
                <a:off x="781500" y="4334256"/>
                <a:ext cx="1618488" cy="3693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Arial"/>
                  <a:buNone/>
                </a:pPr>
                <a:r>
                  <a:rPr lang="pt-BR" sz="18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Cliente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9" name="Google Shape;119;p19"/>
            <p:cNvGrpSpPr/>
            <p:nvPr/>
          </p:nvGrpSpPr>
          <p:grpSpPr>
            <a:xfrm>
              <a:off x="3795980" y="2307092"/>
              <a:ext cx="1755648" cy="3793463"/>
              <a:chOff x="2810141" y="2307092"/>
              <a:chExt cx="1755648" cy="3793463"/>
            </a:xfrm>
          </p:grpSpPr>
          <p:sp>
            <p:nvSpPr>
              <p:cNvPr id="120" name="Google Shape;120;p19"/>
              <p:cNvSpPr/>
              <p:nvPr/>
            </p:nvSpPr>
            <p:spPr>
              <a:xfrm>
                <a:off x="2810141" y="2307092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Fazer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19"/>
              <p:cNvSpPr/>
              <p:nvPr/>
            </p:nvSpPr>
            <p:spPr>
              <a:xfrm>
                <a:off x="2810141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Verificar a situação do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19"/>
              <p:cNvSpPr/>
              <p:nvPr/>
            </p:nvSpPr>
            <p:spPr>
              <a:xfrm>
                <a:off x="2810141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Retirar 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23" name="Google Shape;123;p19"/>
            <p:cNvCxnSpPr>
              <a:stCxn id="120" idx="4"/>
              <a:endCxn id="121" idx="0"/>
            </p:cNvCxnSpPr>
            <p:nvPr/>
          </p:nvCxnSpPr>
          <p:spPr>
            <a:xfrm>
              <a:off x="4673804" y="3341257"/>
              <a:ext cx="0" cy="3456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4" name="Google Shape;124;p19"/>
            <p:cNvCxnSpPr>
              <a:stCxn id="121" idx="4"/>
              <a:endCxn id="122" idx="0"/>
            </p:cNvCxnSpPr>
            <p:nvPr/>
          </p:nvCxnSpPr>
          <p:spPr>
            <a:xfrm>
              <a:off x="4673804" y="4720959"/>
              <a:ext cx="0" cy="345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5" name="Google Shape;125;p19"/>
            <p:cNvCxnSpPr>
              <a:endCxn id="120" idx="2"/>
            </p:cNvCxnSpPr>
            <p:nvPr/>
          </p:nvCxnSpPr>
          <p:spPr>
            <a:xfrm rot="10800000" flipH="1">
              <a:off x="2441780" y="2824175"/>
              <a:ext cx="1354200" cy="5172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6" name="Google Shape;126;p19"/>
            <p:cNvCxnSpPr>
              <a:endCxn id="121" idx="2"/>
            </p:cNvCxnSpPr>
            <p:nvPr/>
          </p:nvCxnSpPr>
          <p:spPr>
            <a:xfrm>
              <a:off x="2541980" y="4203877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27" name="Google Shape;127;p19"/>
            <p:cNvCxnSpPr>
              <a:endCxn id="122" idx="2"/>
            </p:cNvCxnSpPr>
            <p:nvPr/>
          </p:nvCxnSpPr>
          <p:spPr>
            <a:xfrm>
              <a:off x="2541980" y="5013173"/>
              <a:ext cx="1254000" cy="570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grpSp>
        <p:nvGrpSpPr>
          <p:cNvPr id="128" name="Google Shape;128;p19"/>
          <p:cNvGrpSpPr/>
          <p:nvPr/>
        </p:nvGrpSpPr>
        <p:grpSpPr>
          <a:xfrm>
            <a:off x="10074885" y="3171870"/>
            <a:ext cx="1618488" cy="1987820"/>
            <a:chOff x="781500" y="2715768"/>
            <a:chExt cx="1618488" cy="1987820"/>
          </a:xfrm>
        </p:grpSpPr>
        <p:pic>
          <p:nvPicPr>
            <p:cNvPr id="129" name="Google Shape;129;p19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0" name="Google Shape;130;p19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Atendente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1" name="Google Shape;131;p19"/>
          <p:cNvGrpSpPr/>
          <p:nvPr/>
        </p:nvGrpSpPr>
        <p:grpSpPr>
          <a:xfrm>
            <a:off x="6814413" y="2958900"/>
            <a:ext cx="3009648" cy="2413761"/>
            <a:chOff x="6940747" y="2829111"/>
            <a:chExt cx="3009648" cy="2413761"/>
          </a:xfrm>
        </p:grpSpPr>
        <p:grpSp>
          <p:nvGrpSpPr>
            <p:cNvPr id="132" name="Google Shape;132;p19"/>
            <p:cNvGrpSpPr/>
            <p:nvPr/>
          </p:nvGrpSpPr>
          <p:grpSpPr>
            <a:xfrm>
              <a:off x="6940747" y="2829111"/>
              <a:ext cx="1755648" cy="2413761"/>
              <a:chOff x="7383780" y="3686794"/>
              <a:chExt cx="1755648" cy="2413761"/>
            </a:xfrm>
          </p:grpSpPr>
          <p:sp>
            <p:nvSpPr>
              <p:cNvPr id="133" name="Google Shape;133;p19"/>
              <p:cNvSpPr/>
              <p:nvPr/>
            </p:nvSpPr>
            <p:spPr>
              <a:xfrm>
                <a:off x="7383780" y="3686794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Alterar o status do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4" name="Google Shape;134;p19"/>
              <p:cNvSpPr/>
              <p:nvPr/>
            </p:nvSpPr>
            <p:spPr>
              <a:xfrm>
                <a:off x="7383780" y="5066390"/>
                <a:ext cx="1755648" cy="1034165"/>
              </a:xfrm>
              <a:prstGeom prst="ellipse">
                <a:avLst/>
              </a:prstGeom>
              <a:solidFill>
                <a:schemeClr val="lt1"/>
              </a:solidFill>
              <a:ln w="12700" cap="flat" cmpd="sng">
                <a:solidFill>
                  <a:schemeClr val="dk1"/>
                </a:solidFill>
                <a:prstDash val="solid"/>
                <a:miter lim="800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600"/>
                  <a:buFont typeface="Arial"/>
                  <a:buNone/>
                </a:pPr>
                <a:r>
                  <a:rPr lang="pt-BR" sz="1600" b="0" i="0" u="none" strike="noStrike" cap="none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Finalizar o pedido</a:t>
                </a:r>
                <a:endPara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cxnSp>
          <p:nvCxnSpPr>
            <p:cNvPr id="135" name="Google Shape;135;p19"/>
            <p:cNvCxnSpPr>
              <a:endCxn id="133" idx="6"/>
            </p:cNvCxnSpPr>
            <p:nvPr/>
          </p:nvCxnSpPr>
          <p:spPr>
            <a:xfrm rot="10800000">
              <a:off x="8696395" y="3346193"/>
              <a:ext cx="12540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136" name="Google Shape;136;p19"/>
            <p:cNvCxnSpPr>
              <a:endCxn id="134" idx="6"/>
            </p:cNvCxnSpPr>
            <p:nvPr/>
          </p:nvCxnSpPr>
          <p:spPr>
            <a:xfrm flipH="1">
              <a:off x="8696395" y="4682890"/>
              <a:ext cx="1254000" cy="429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137" name="Google Shape;137;p19"/>
          <p:cNvSpPr txBox="1"/>
          <p:nvPr/>
        </p:nvSpPr>
        <p:spPr>
          <a:xfrm>
            <a:off x="4161624" y="3294242"/>
            <a:ext cx="7841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</a:t>
            </a:r>
            <a:endParaRPr/>
          </a:p>
        </p:txBody>
      </p:sp>
      <p:sp>
        <p:nvSpPr>
          <p:cNvPr id="138" name="Google Shape;138;p19"/>
          <p:cNvSpPr txBox="1"/>
          <p:nvPr/>
        </p:nvSpPr>
        <p:spPr>
          <a:xfrm>
            <a:off x="4161624" y="4701625"/>
            <a:ext cx="784189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088746" y="3209913"/>
            <a:ext cx="1618488" cy="1987820"/>
            <a:chOff x="781500" y="2715768"/>
            <a:chExt cx="1618488" cy="1987820"/>
          </a:xfrm>
        </p:grpSpPr>
        <p:pic>
          <p:nvPicPr>
            <p:cNvPr id="145" name="Google Shape;145;p20" descr="Homem com preenchimento sólido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81500" y="2715768"/>
              <a:ext cx="1618488" cy="1618488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6" name="Google Shape;146;p20"/>
            <p:cNvSpPr txBox="1"/>
            <p:nvPr/>
          </p:nvSpPr>
          <p:spPr>
            <a:xfrm>
              <a:off x="781500" y="4334256"/>
              <a:ext cx="1618488" cy="36933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lang="pt-BR" sz="18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Cliente</a:t>
              </a:r>
              <a:endPara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7" name="Google Shape;147;p20"/>
          <p:cNvSpPr/>
          <p:nvPr/>
        </p:nvSpPr>
        <p:spPr>
          <a:xfrm>
            <a:off x="3795980" y="2307092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Fazer Pedido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3795980" y="3686794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Verificar a situação do pedido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20"/>
          <p:cNvSpPr/>
          <p:nvPr/>
        </p:nvSpPr>
        <p:spPr>
          <a:xfrm>
            <a:off x="3795980" y="5066390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Retirar o pedido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20"/>
          <p:cNvSpPr/>
          <p:nvPr/>
        </p:nvSpPr>
        <p:spPr>
          <a:xfrm>
            <a:off x="6759246" y="1514449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Cartão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0"/>
          <p:cNvSpPr/>
          <p:nvPr/>
        </p:nvSpPr>
        <p:spPr>
          <a:xfrm>
            <a:off x="6759246" y="3014906"/>
            <a:ext cx="1755648" cy="1034165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Dinheiro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2" name="Google Shape;152;p20"/>
          <p:cNvCxnSpPr>
            <a:stCxn id="147" idx="4"/>
            <a:endCxn id="148" idx="0"/>
          </p:cNvCxnSpPr>
          <p:nvPr/>
        </p:nvCxnSpPr>
        <p:spPr>
          <a:xfrm>
            <a:off x="4673804" y="3341257"/>
            <a:ext cx="0" cy="345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3" name="Google Shape;153;p20"/>
          <p:cNvCxnSpPr>
            <a:stCxn id="148" idx="4"/>
            <a:endCxn id="149" idx="0"/>
          </p:cNvCxnSpPr>
          <p:nvPr/>
        </p:nvCxnSpPr>
        <p:spPr>
          <a:xfrm>
            <a:off x="4673804" y="4720959"/>
            <a:ext cx="0" cy="345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4" name="Google Shape;154;p20"/>
          <p:cNvCxnSpPr>
            <a:endCxn id="147" idx="2"/>
          </p:cNvCxnSpPr>
          <p:nvPr/>
        </p:nvCxnSpPr>
        <p:spPr>
          <a:xfrm rot="10800000" flipH="1">
            <a:off x="2441780" y="2824175"/>
            <a:ext cx="1354200" cy="517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5" name="Google Shape;155;p20"/>
          <p:cNvCxnSpPr>
            <a:endCxn id="148" idx="2"/>
          </p:cNvCxnSpPr>
          <p:nvPr/>
        </p:nvCxnSpPr>
        <p:spPr>
          <a:xfrm>
            <a:off x="2541980" y="4203877"/>
            <a:ext cx="12540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6" name="Google Shape;156;p20"/>
          <p:cNvCxnSpPr>
            <a:endCxn id="149" idx="2"/>
          </p:cNvCxnSpPr>
          <p:nvPr/>
        </p:nvCxnSpPr>
        <p:spPr>
          <a:xfrm>
            <a:off x="2541980" y="5013173"/>
            <a:ext cx="1254000" cy="5703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7" name="Google Shape;157;p20"/>
          <p:cNvCxnSpPr>
            <a:stCxn id="147" idx="6"/>
            <a:endCxn id="150" idx="2"/>
          </p:cNvCxnSpPr>
          <p:nvPr/>
        </p:nvCxnSpPr>
        <p:spPr>
          <a:xfrm rot="10800000" flipH="1">
            <a:off x="5551628" y="2031575"/>
            <a:ext cx="1207500" cy="792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158" name="Google Shape;158;p20"/>
          <p:cNvCxnSpPr>
            <a:stCxn id="147" idx="6"/>
            <a:endCxn id="151" idx="2"/>
          </p:cNvCxnSpPr>
          <p:nvPr/>
        </p:nvCxnSpPr>
        <p:spPr>
          <a:xfrm>
            <a:off x="5551628" y="2824175"/>
            <a:ext cx="1207500" cy="7077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9" name="Google Shape;159;p20"/>
          <p:cNvSpPr txBox="1"/>
          <p:nvPr/>
        </p:nvSpPr>
        <p:spPr>
          <a:xfrm>
            <a:off x="5265916" y="1894662"/>
            <a:ext cx="11384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&lt;&lt;extends&gt;&gt;</a:t>
            </a:r>
            <a:endParaRPr/>
          </a:p>
        </p:txBody>
      </p:sp>
      <p:sp>
        <p:nvSpPr>
          <p:cNvPr id="160" name="Google Shape;160;p20"/>
          <p:cNvSpPr txBox="1"/>
          <p:nvPr/>
        </p:nvSpPr>
        <p:spPr>
          <a:xfrm>
            <a:off x="5265916" y="3550750"/>
            <a:ext cx="1138453" cy="3077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&lt;&lt;extends&gt;&gt;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6660776" y="4720959"/>
            <a:ext cx="4284592" cy="13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&lt;&lt;extend&gt;&gt;</a:t>
            </a:r>
            <a:endParaRPr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 um comportamento </a:t>
            </a:r>
            <a:r>
              <a:rPr lang="pt-BR" sz="1400" b="1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opcional</a:t>
            </a:r>
            <a:r>
              <a:rPr lang="pt-BR" sz="1400" b="0" i="0" u="none" strike="noStrike" cap="non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que ocorre apenas sob determinada condição, sem impedir o funcionamento do caso de uso principal.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21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de Classe</a:t>
            </a:r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body" idx="1"/>
          </p:nvPr>
        </p:nvSpPr>
        <p:spPr>
          <a:xfrm>
            <a:off x="592347" y="2437373"/>
            <a:ext cx="11007306" cy="305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O Diagrama de Classes é um diagrama da UML utilizado para representar a estrutura do sistema, mostrando as classes, seus atributos, métodos e os relacionamentos entre elas.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Ele é a base da Programação Orientada a Objetos, pois define como o sistema será organizado antes da implementação do código.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 sz="1800"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Mostra como o sistema é estruturado, e não o fluxo de execução.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aphicFrame>
        <p:nvGraphicFramePr>
          <p:cNvPr id="173" name="Google Shape;173;p22"/>
          <p:cNvGraphicFramePr/>
          <p:nvPr/>
        </p:nvGraphicFramePr>
        <p:xfrm>
          <a:off x="1063813" y="2594534"/>
          <a:ext cx="2611725" cy="141736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verPedido()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74" name="Google Shape;174;p22"/>
          <p:cNvGraphicFramePr/>
          <p:nvPr/>
        </p:nvGraphicFramePr>
        <p:xfrm>
          <a:off x="4790141" y="2594534"/>
          <a:ext cx="2611725" cy="32716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Pedido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lanche : 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status : StatusPedido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cliente : 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quantidade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alterarStatus()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cadastrarPedido()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valorTotal()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175" name="Google Shape;175;p22"/>
          <p:cNvGraphicFramePr/>
          <p:nvPr/>
        </p:nvGraphicFramePr>
        <p:xfrm>
          <a:off x="8516469" y="2594534"/>
          <a:ext cx="2611725" cy="17882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preco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infoLanches()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176" name="Google Shape;176;p22"/>
          <p:cNvGraphicFramePr/>
          <p:nvPr/>
        </p:nvGraphicFramePr>
        <p:xfrm>
          <a:off x="1063813" y="4801645"/>
          <a:ext cx="2611725" cy="10465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Atendente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3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Relações no Diagrama de Classes (UML)</a:t>
            </a:r>
            <a:endParaRPr/>
          </a:p>
        </p:txBody>
      </p:sp>
      <p:sp>
        <p:nvSpPr>
          <p:cNvPr id="182" name="Google Shape;182;p23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As relações no Diagrama de Classes mostram como as classes se conectam e interagem dentro do sistema, ajudando a entender sua estrutura e responsabilidades: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83" name="Google Shape;183;p23"/>
          <p:cNvSpPr txBox="1"/>
          <p:nvPr/>
        </p:nvSpPr>
        <p:spPr>
          <a:xfrm>
            <a:off x="592347" y="3153784"/>
            <a:ext cx="10333278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Associação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Relacionamento simples onde uma classe se relaciona com outra, mas ambas existem de forma independente.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Cliente ─── Pedido</a:t>
            </a:r>
            <a:endParaRPr/>
          </a:p>
        </p:txBody>
      </p:sp>
      <p:grpSp>
        <p:nvGrpSpPr>
          <p:cNvPr id="184" name="Google Shape;184;p23"/>
          <p:cNvGrpSpPr/>
          <p:nvPr/>
        </p:nvGrpSpPr>
        <p:grpSpPr>
          <a:xfrm>
            <a:off x="592347" y="4227297"/>
            <a:ext cx="7592143" cy="786754"/>
            <a:chOff x="592347" y="3863329"/>
            <a:chExt cx="7592143" cy="786754"/>
          </a:xfrm>
        </p:grpSpPr>
        <p:sp>
          <p:nvSpPr>
            <p:cNvPr id="185" name="Google Shape;185;p23"/>
            <p:cNvSpPr txBox="1"/>
            <p:nvPr/>
          </p:nvSpPr>
          <p:spPr>
            <a:xfrm>
              <a:off x="592347" y="3863329"/>
              <a:ext cx="7592143" cy="7867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Agregação (    ) - 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Relacionamento todo–parte fraco, onde a parte pode existir sem o todo.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Time  ── Jogador</a:t>
              </a:r>
              <a:endParaRPr/>
            </a:p>
          </p:txBody>
        </p:sp>
        <p:sp>
          <p:nvSpPr>
            <p:cNvPr id="186" name="Google Shape;186;p23"/>
            <p:cNvSpPr/>
            <p:nvPr/>
          </p:nvSpPr>
          <p:spPr>
            <a:xfrm flipH="1">
              <a:off x="1732316" y="4036307"/>
              <a:ext cx="180000" cy="180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7" name="Google Shape;187;p23"/>
            <p:cNvSpPr/>
            <p:nvPr/>
          </p:nvSpPr>
          <p:spPr>
            <a:xfrm flipH="1">
              <a:off x="2063124" y="4391113"/>
              <a:ext cx="180000" cy="180000"/>
            </a:xfrm>
            <a:prstGeom prst="diamond">
              <a:avLst/>
            </a:prstGeom>
            <a:solidFill>
              <a:schemeClr val="lt1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88" name="Google Shape;188;p23"/>
          <p:cNvGrpSpPr/>
          <p:nvPr/>
        </p:nvGrpSpPr>
        <p:grpSpPr>
          <a:xfrm>
            <a:off x="592347" y="5300811"/>
            <a:ext cx="8124340" cy="786754"/>
            <a:chOff x="592347" y="3863329"/>
            <a:chExt cx="8124340" cy="786754"/>
          </a:xfrm>
        </p:grpSpPr>
        <p:sp>
          <p:nvSpPr>
            <p:cNvPr id="189" name="Google Shape;189;p23"/>
            <p:cNvSpPr txBox="1"/>
            <p:nvPr/>
          </p:nvSpPr>
          <p:spPr>
            <a:xfrm>
              <a:off x="592347" y="3863329"/>
              <a:ext cx="8124340" cy="78675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Composição (    ) - 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Relacionamento todo–parte forte, onde a parte depende totalmente do todo.</a:t>
              </a:r>
              <a:endParaRPr/>
            </a:p>
            <a:p>
              <a:pPr marL="0" marR="0" lvl="0" indent="0" algn="l" rtl="0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600" b="1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Exemplo: </a:t>
              </a:r>
              <a:r>
                <a:rPr lang="pt-BR" sz="1600" b="0" i="0" u="none" strike="noStrike" cap="none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Pedido   ── ItemPedido</a:t>
              </a:r>
              <a:endPara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endParaRPr>
            </a:p>
          </p:txBody>
        </p:sp>
        <p:sp>
          <p:nvSpPr>
            <p:cNvPr id="190" name="Google Shape;190;p23"/>
            <p:cNvSpPr/>
            <p:nvPr/>
          </p:nvSpPr>
          <p:spPr>
            <a:xfrm flipH="1">
              <a:off x="1873604" y="4036307"/>
              <a:ext cx="180000" cy="180000"/>
            </a:xfrm>
            <a:prstGeom prst="diamond">
              <a:avLst/>
            </a:prstGeom>
            <a:solidFill>
              <a:srgbClr val="0C0C0C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1" name="Google Shape;191;p23"/>
            <p:cNvSpPr/>
            <p:nvPr/>
          </p:nvSpPr>
          <p:spPr>
            <a:xfrm flipH="1">
              <a:off x="2191712" y="4395622"/>
              <a:ext cx="180000" cy="180000"/>
            </a:xfrm>
            <a:prstGeom prst="diamond">
              <a:avLst/>
            </a:prstGeom>
            <a:solidFill>
              <a:srgbClr val="0C0C0C"/>
            </a:solidFill>
            <a:ln w="12700" cap="flat" cmpd="sng">
              <a:solidFill>
                <a:srgbClr val="0C0C0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4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4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pt-BR"/>
              <a:t>Relações no Diagrama de Classes (UML)</a:t>
            </a:r>
            <a:endParaRPr/>
          </a:p>
        </p:txBody>
      </p:sp>
      <p:sp>
        <p:nvSpPr>
          <p:cNvPr id="197" name="Google Shape;197;p24"/>
          <p:cNvSpPr txBox="1">
            <a:spLocks noGrp="1"/>
          </p:cNvSpPr>
          <p:nvPr>
            <p:ph type="body" idx="1"/>
          </p:nvPr>
        </p:nvSpPr>
        <p:spPr>
          <a:xfrm>
            <a:off x="592347" y="1924050"/>
            <a:ext cx="11007306" cy="942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pt-BR" sz="1800"/>
              <a:t>As relações no Diagrama de Classes mostram como as classes se conectam e interagem dentro do sistema, ajudando a entender sua estrutura e responsabilidades:</a:t>
            </a:r>
            <a:endParaRPr/>
          </a:p>
          <a:p>
            <a:pPr marL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endParaRPr/>
          </a:p>
        </p:txBody>
      </p:sp>
      <p:sp>
        <p:nvSpPr>
          <p:cNvPr id="198" name="Google Shape;198;p24"/>
          <p:cNvSpPr txBox="1"/>
          <p:nvPr/>
        </p:nvSpPr>
        <p:spPr>
          <a:xfrm>
            <a:off x="592347" y="3200612"/>
            <a:ext cx="11007306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Generalização (Herança)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Relacionamento onde uma classe herda atributos e métodos de outra.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Produto ───► Camisa</a:t>
            </a:r>
            <a:endParaRPr/>
          </a:p>
        </p:txBody>
      </p:sp>
      <p:sp>
        <p:nvSpPr>
          <p:cNvPr id="199" name="Google Shape;199;p24"/>
          <p:cNvSpPr txBox="1"/>
          <p:nvPr/>
        </p:nvSpPr>
        <p:spPr>
          <a:xfrm>
            <a:off x="592347" y="4320953"/>
            <a:ext cx="11007306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Realização (Interface)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Indica que uma classe implementa uma interface e seus métodos.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Calculável ─ ─ ─► Pedido</a:t>
            </a:r>
            <a:endParaRPr/>
          </a:p>
        </p:txBody>
      </p:sp>
      <p:sp>
        <p:nvSpPr>
          <p:cNvPr id="200" name="Google Shape;200;p24"/>
          <p:cNvSpPr txBox="1"/>
          <p:nvPr/>
        </p:nvSpPr>
        <p:spPr>
          <a:xfrm>
            <a:off x="592347" y="5441293"/>
            <a:ext cx="11007306" cy="7867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Dependência -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Relacionamento temporário, onde uma classe usa outra apenas em um contexto específico.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Exemplo: </a:t>
            </a:r>
            <a:r>
              <a:rPr lang="pt-BR"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Atendente ─ ─ ─ Pedido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5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 – Relações</a:t>
            </a:r>
            <a:endParaRPr/>
          </a:p>
        </p:txBody>
      </p:sp>
      <p:graphicFrame>
        <p:nvGraphicFramePr>
          <p:cNvPr id="206" name="Google Shape;206;p25"/>
          <p:cNvGraphicFramePr/>
          <p:nvPr/>
        </p:nvGraphicFramePr>
        <p:xfrm>
          <a:off x="1063813" y="2160106"/>
          <a:ext cx="2611725" cy="141736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verPedido()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07" name="Google Shape;207;p25"/>
          <p:cNvGraphicFramePr/>
          <p:nvPr/>
        </p:nvGraphicFramePr>
        <p:xfrm>
          <a:off x="4757127" y="3153414"/>
          <a:ext cx="2611725" cy="25299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Pedido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Itens : List&lt;ItemPedido&gt;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status : StatusPedido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cliente : Cliente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cadastrarPedido()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valorTotal()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208" name="Google Shape;208;p25"/>
          <p:cNvGraphicFramePr/>
          <p:nvPr/>
        </p:nvGraphicFramePr>
        <p:xfrm>
          <a:off x="8758516" y="4805379"/>
          <a:ext cx="2611725" cy="17882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preco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infoLanches()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209" name="Google Shape;209;p25"/>
          <p:cNvGraphicFramePr/>
          <p:nvPr/>
        </p:nvGraphicFramePr>
        <p:xfrm>
          <a:off x="1063813" y="5176219"/>
          <a:ext cx="2611725" cy="141736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Atendente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nome : String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alterarStatus() : void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0" name="Google Shape;210;p25"/>
          <p:cNvSpPr txBox="1"/>
          <p:nvPr/>
        </p:nvSpPr>
        <p:spPr>
          <a:xfrm>
            <a:off x="4433885" y="3750438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5"/>
          <p:cNvSpPr txBox="1"/>
          <p:nvPr/>
        </p:nvSpPr>
        <p:spPr>
          <a:xfrm>
            <a:off x="1931193" y="3618925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12" name="Google Shape;212;p25"/>
          <p:cNvGraphicFramePr/>
          <p:nvPr/>
        </p:nvGraphicFramePr>
        <p:xfrm>
          <a:off x="8758516" y="2160106"/>
          <a:ext cx="2611725" cy="1788210"/>
        </p:xfrm>
        <a:graphic>
          <a:graphicData uri="http://schemas.openxmlformats.org/drawingml/2006/table">
            <a:tbl>
              <a:tblPr firstRow="1" bandRow="1">
                <a:noFill/>
                <a:tableStyleId>{0AC87CF5-69C3-4DE4-9F21-104E045FF662}</a:tableStyleId>
              </a:tblPr>
              <a:tblGrid>
                <a:gridCol w="2611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778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ItemPedido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4307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id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lanche : Lanche</a:t>
                      </a:r>
                      <a:endParaRPr/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 quantidade : int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pt-BR" sz="1400" u="none" strike="noStrike" cap="non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+ calcularItem() : double</a:t>
                      </a:r>
                      <a:endParaRPr sz="1400" u="none" strike="noStrike" cap="non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91450" marR="91450" marT="45725" marB="45725" anchor="ctr">
                    <a:lnL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13" name="Google Shape;213;p25"/>
          <p:cNvCxnSpPr>
            <a:cxnSpLocks/>
            <a:stCxn id="206" idx="2"/>
            <a:endCxn id="207" idx="1"/>
          </p:cNvCxnSpPr>
          <p:nvPr/>
        </p:nvCxnSpPr>
        <p:spPr>
          <a:xfrm rot="16200000" flipH="1">
            <a:off x="3142950" y="2804191"/>
            <a:ext cx="840903" cy="2387452"/>
          </a:xfrm>
          <a:prstGeom prst="bentConnector2">
            <a:avLst/>
          </a:prstGeom>
          <a:noFill/>
          <a:ln w="2857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214" name="Google Shape;214;p25"/>
          <p:cNvCxnSpPr>
            <a:stCxn id="215" idx="1"/>
          </p:cNvCxnSpPr>
          <p:nvPr/>
        </p:nvCxnSpPr>
        <p:spPr>
          <a:xfrm>
            <a:off x="7563271" y="3660438"/>
            <a:ext cx="1195200" cy="69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6" name="Google Shape;216;p25"/>
          <p:cNvSpPr txBox="1"/>
          <p:nvPr/>
        </p:nvSpPr>
        <p:spPr>
          <a:xfrm>
            <a:off x="7336759" y="3241098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0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5"/>
          <p:cNvSpPr txBox="1"/>
          <p:nvPr/>
        </p:nvSpPr>
        <p:spPr>
          <a:xfrm>
            <a:off x="8450441" y="3241098"/>
            <a:ext cx="269626" cy="2769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endParaRPr sz="11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8" name="Google Shape;218;p25"/>
          <p:cNvCxnSpPr/>
          <p:nvPr/>
        </p:nvCxnSpPr>
        <p:spPr>
          <a:xfrm>
            <a:off x="10064375" y="3948266"/>
            <a:ext cx="0" cy="857100"/>
          </a:xfrm>
          <a:prstGeom prst="straightConnector1">
            <a:avLst/>
          </a:prstGeom>
          <a:noFill/>
          <a:ln w="28575" cap="flat" cmpd="sng">
            <a:solidFill>
              <a:srgbClr val="0C0C0C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15" name="Google Shape;215;p25"/>
          <p:cNvSpPr/>
          <p:nvPr/>
        </p:nvSpPr>
        <p:spPr>
          <a:xfrm flipH="1">
            <a:off x="7383271" y="3570438"/>
            <a:ext cx="180000" cy="180000"/>
          </a:xfrm>
          <a:prstGeom prst="diamond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9" name="Google Shape;219;p25"/>
          <p:cNvCxnSpPr/>
          <p:nvPr/>
        </p:nvCxnSpPr>
        <p:spPr>
          <a:xfrm flipH="1">
            <a:off x="2369728" y="4639973"/>
            <a:ext cx="2387400" cy="536100"/>
          </a:xfrm>
          <a:prstGeom prst="bentConnector2">
            <a:avLst/>
          </a:prstGeom>
          <a:noFill/>
          <a:ln w="28575" cap="flat" cmpd="sng">
            <a:solidFill>
              <a:srgbClr val="0C0C0C"/>
            </a:solidFill>
            <a:prstDash val="dash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Diagrama de Sequência</a:t>
            </a:r>
            <a:endParaRPr/>
          </a:p>
        </p:txBody>
      </p:sp>
      <p:sp>
        <p:nvSpPr>
          <p:cNvPr id="225" name="Google Shape;225;p26"/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dirty="0"/>
              <a:t>O Diagrama de Sequência representa a ordem das interações entre atores e objetos ao longo do tempo para realizar uma funcionalidade do sistema, mostrando quem envia mensagens para quem e em que sequência.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Mostrar o fluxo de execução de um caso de uso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Visualizar a ordem das mensagens trocadas entre objetos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Entender responsabilidades e dependências</a:t>
            </a:r>
            <a:endParaRPr dirty="0"/>
          </a:p>
          <a:p>
            <a:pPr marL="1257300" lvl="1" indent="-3429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SzPts val="1600"/>
              <a:buFont typeface="Arial"/>
              <a:buChar char="•"/>
            </a:pPr>
            <a:r>
              <a:rPr lang="pt-BR" sz="1800" dirty="0"/>
              <a:t>Ajudar a transformar requisitos em código</a:t>
            </a:r>
            <a:endParaRPr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/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pic>
        <p:nvPicPr>
          <p:cNvPr id="6" name="Gráfico 5" descr="Homem com preenchimento sólido">
            <a:extLst>
              <a:ext uri="{FF2B5EF4-FFF2-40B4-BE49-F238E27FC236}">
                <a16:creationId xmlns:a16="http://schemas.microsoft.com/office/drawing/2014/main" id="{4088A77E-B039-2519-D883-A51EE630ED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34800" y="2085975"/>
            <a:ext cx="914400" cy="9144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20760158-17FF-D976-0F55-A2F969A5F9EE}"/>
              </a:ext>
            </a:extLst>
          </p:cNvPr>
          <p:cNvSpPr/>
          <p:nvPr/>
        </p:nvSpPr>
        <p:spPr>
          <a:xfrm>
            <a:off x="4182479" y="2168843"/>
            <a:ext cx="1161288" cy="748665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Site da Loja</a:t>
            </a:r>
          </a:p>
        </p:txBody>
      </p:sp>
      <p:cxnSp>
        <p:nvCxnSpPr>
          <p:cNvPr id="14" name="Conector reto 13">
            <a:extLst>
              <a:ext uri="{FF2B5EF4-FFF2-40B4-BE49-F238E27FC236}">
                <a16:creationId xmlns:a16="http://schemas.microsoft.com/office/drawing/2014/main" id="{79D294E4-26BA-6B9C-2D31-4FB45D77ECF0}"/>
              </a:ext>
            </a:extLst>
          </p:cNvPr>
          <p:cNvCxnSpPr>
            <a:cxnSpLocks/>
            <a:stCxn id="8" idx="2"/>
          </p:cNvCxnSpPr>
          <p:nvPr/>
        </p:nvCxnSpPr>
        <p:spPr>
          <a:xfrm>
            <a:off x="4763123" y="2917508"/>
            <a:ext cx="0" cy="352139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reto 15">
            <a:extLst>
              <a:ext uri="{FF2B5EF4-FFF2-40B4-BE49-F238E27FC236}">
                <a16:creationId xmlns:a16="http://schemas.microsoft.com/office/drawing/2014/main" id="{15FA5A57-8896-C5EA-00F0-520A428ECDFE}"/>
              </a:ext>
            </a:extLst>
          </p:cNvPr>
          <p:cNvCxnSpPr>
            <a:cxnSpLocks/>
          </p:cNvCxnSpPr>
          <p:nvPr/>
        </p:nvCxnSpPr>
        <p:spPr>
          <a:xfrm>
            <a:off x="2392000" y="3306996"/>
            <a:ext cx="0" cy="3131904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id="{5F6ED00B-B746-623B-A60F-7A93763D453F}"/>
              </a:ext>
            </a:extLst>
          </p:cNvPr>
          <p:cNvCxnSpPr>
            <a:cxnSpLocks/>
          </p:cNvCxnSpPr>
          <p:nvPr/>
        </p:nvCxnSpPr>
        <p:spPr>
          <a:xfrm>
            <a:off x="2392000" y="3679507"/>
            <a:ext cx="237112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181C82D6-3B27-C306-AF7D-9F13C1EC7332}"/>
              </a:ext>
            </a:extLst>
          </p:cNvPr>
          <p:cNvSpPr txBox="1"/>
          <p:nvPr/>
        </p:nvSpPr>
        <p:spPr>
          <a:xfrm>
            <a:off x="2697452" y="3332251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Criar Pedido</a:t>
            </a:r>
          </a:p>
        </p:txBody>
      </p:sp>
      <p:sp>
        <p:nvSpPr>
          <p:cNvPr id="20" name="Retângulo 19">
            <a:extLst>
              <a:ext uri="{FF2B5EF4-FFF2-40B4-BE49-F238E27FC236}">
                <a16:creationId xmlns:a16="http://schemas.microsoft.com/office/drawing/2014/main" id="{5CD5BA00-4FD7-DF0A-0480-E165BFB97DB8}"/>
              </a:ext>
            </a:extLst>
          </p:cNvPr>
          <p:cNvSpPr/>
          <p:nvPr/>
        </p:nvSpPr>
        <p:spPr>
          <a:xfrm>
            <a:off x="6677046" y="2168843"/>
            <a:ext cx="1554480" cy="748665"/>
          </a:xfrm>
          <a:prstGeom prst="rect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Tela Acompanhamento</a:t>
            </a:r>
          </a:p>
        </p:txBody>
      </p:sp>
      <p:cxnSp>
        <p:nvCxnSpPr>
          <p:cNvPr id="25" name="Conector reto 24">
            <a:extLst>
              <a:ext uri="{FF2B5EF4-FFF2-40B4-BE49-F238E27FC236}">
                <a16:creationId xmlns:a16="http://schemas.microsoft.com/office/drawing/2014/main" id="{89762ECE-F2AB-F95E-B8DC-C8F5D1F94D6B}"/>
              </a:ext>
            </a:extLst>
          </p:cNvPr>
          <p:cNvCxnSpPr>
            <a:stCxn id="20" idx="2"/>
          </p:cNvCxnSpPr>
          <p:nvPr/>
        </p:nvCxnSpPr>
        <p:spPr>
          <a:xfrm>
            <a:off x="7454286" y="2917508"/>
            <a:ext cx="0" cy="3521392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8FD4AEBF-C2ED-F833-4B96-82BE5719FE37}"/>
              </a:ext>
            </a:extLst>
          </p:cNvPr>
          <p:cNvCxnSpPr>
            <a:cxnSpLocks/>
          </p:cNvCxnSpPr>
          <p:nvPr/>
        </p:nvCxnSpPr>
        <p:spPr>
          <a:xfrm>
            <a:off x="4763123" y="3679507"/>
            <a:ext cx="2691163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24FBF13-ACD2-0861-9EFC-287DF9D51751}"/>
              </a:ext>
            </a:extLst>
          </p:cNvPr>
          <p:cNvSpPr txBox="1"/>
          <p:nvPr/>
        </p:nvSpPr>
        <p:spPr>
          <a:xfrm>
            <a:off x="5228595" y="3332251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Consultar Status</a:t>
            </a:r>
          </a:p>
        </p:txBody>
      </p:sp>
      <p:pic>
        <p:nvPicPr>
          <p:cNvPr id="29" name="Gráfico 28" descr="Homem com preenchimento sólido">
            <a:extLst>
              <a:ext uri="{FF2B5EF4-FFF2-40B4-BE49-F238E27FC236}">
                <a16:creationId xmlns:a16="http://schemas.microsoft.com/office/drawing/2014/main" id="{38C8A752-9053-E30D-89E4-FF6F71A20A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64806" y="2085975"/>
            <a:ext cx="914400" cy="914400"/>
          </a:xfrm>
          <a:prstGeom prst="rect">
            <a:avLst/>
          </a:prstGeom>
        </p:spPr>
      </p:pic>
      <p:cxnSp>
        <p:nvCxnSpPr>
          <p:cNvPr id="30" name="Conector reto 29">
            <a:extLst>
              <a:ext uri="{FF2B5EF4-FFF2-40B4-BE49-F238E27FC236}">
                <a16:creationId xmlns:a16="http://schemas.microsoft.com/office/drawing/2014/main" id="{615A02FA-A1B1-8C94-60C3-1DBED38D9538}"/>
              </a:ext>
            </a:extLst>
          </p:cNvPr>
          <p:cNvCxnSpPr>
            <a:cxnSpLocks/>
          </p:cNvCxnSpPr>
          <p:nvPr/>
        </p:nvCxnSpPr>
        <p:spPr>
          <a:xfrm>
            <a:off x="10022006" y="3306996"/>
            <a:ext cx="0" cy="3090470"/>
          </a:xfrm>
          <a:prstGeom prst="line">
            <a:avLst/>
          </a:prstGeom>
          <a:ln>
            <a:solidFill>
              <a:schemeClr val="tx1">
                <a:lumMod val="95000"/>
                <a:lumOff val="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E79831AA-AA71-CF51-3866-991F29871BB8}"/>
              </a:ext>
            </a:extLst>
          </p:cNvPr>
          <p:cNvCxnSpPr>
            <a:cxnSpLocks/>
          </p:cNvCxnSpPr>
          <p:nvPr/>
        </p:nvCxnSpPr>
        <p:spPr>
          <a:xfrm>
            <a:off x="7483132" y="3679507"/>
            <a:ext cx="2538874" cy="0"/>
          </a:xfrm>
          <a:prstGeom prst="straightConnector1">
            <a:avLst/>
          </a:prstGeom>
          <a:ln w="28575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CaixaDeTexto 31">
            <a:extLst>
              <a:ext uri="{FF2B5EF4-FFF2-40B4-BE49-F238E27FC236}">
                <a16:creationId xmlns:a16="http://schemas.microsoft.com/office/drawing/2014/main" id="{2365BEFF-CF9F-953E-362D-9585D219A799}"/>
              </a:ext>
            </a:extLst>
          </p:cNvPr>
          <p:cNvSpPr txBox="1"/>
          <p:nvPr/>
        </p:nvSpPr>
        <p:spPr>
          <a:xfrm>
            <a:off x="7872460" y="3753267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Atualizar Status</a:t>
            </a:r>
          </a:p>
        </p:txBody>
      </p: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466572E8-3E15-36C3-4405-21715BD2DC6C}"/>
              </a:ext>
            </a:extLst>
          </p:cNvPr>
          <p:cNvCxnSpPr>
            <a:cxnSpLocks/>
          </p:cNvCxnSpPr>
          <p:nvPr/>
        </p:nvCxnSpPr>
        <p:spPr>
          <a:xfrm flipH="1">
            <a:off x="2392000" y="5211572"/>
            <a:ext cx="5062286" cy="0"/>
          </a:xfrm>
          <a:prstGeom prst="straightConnector1">
            <a:avLst/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674740DC-6568-2630-F782-B59FEB595249}"/>
              </a:ext>
            </a:extLst>
          </p:cNvPr>
          <p:cNvSpPr txBox="1"/>
          <p:nvPr/>
        </p:nvSpPr>
        <p:spPr>
          <a:xfrm>
            <a:off x="2696504" y="4659901"/>
            <a:ext cx="176021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Notificar Cliente</a:t>
            </a:r>
          </a:p>
        </p:txBody>
      </p:sp>
      <p:sp>
        <p:nvSpPr>
          <p:cNvPr id="53" name="CaixaDeTexto 52">
            <a:extLst>
              <a:ext uri="{FF2B5EF4-FFF2-40B4-BE49-F238E27FC236}">
                <a16:creationId xmlns:a16="http://schemas.microsoft.com/office/drawing/2014/main" id="{E4936E3F-8909-0810-6C50-92862B7159E0}"/>
              </a:ext>
            </a:extLst>
          </p:cNvPr>
          <p:cNvSpPr txBox="1"/>
          <p:nvPr/>
        </p:nvSpPr>
        <p:spPr>
          <a:xfrm>
            <a:off x="1915304" y="3031163"/>
            <a:ext cx="953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Cliente</a:t>
            </a:r>
          </a:p>
        </p:txBody>
      </p:sp>
      <p:sp>
        <p:nvSpPr>
          <p:cNvPr id="54" name="CaixaDeTexto 53">
            <a:extLst>
              <a:ext uri="{FF2B5EF4-FFF2-40B4-BE49-F238E27FC236}">
                <a16:creationId xmlns:a16="http://schemas.microsoft.com/office/drawing/2014/main" id="{FBFE2108-2EF5-E80B-6D76-481DF928FDB3}"/>
              </a:ext>
            </a:extLst>
          </p:cNvPr>
          <p:cNvSpPr txBox="1"/>
          <p:nvPr/>
        </p:nvSpPr>
        <p:spPr>
          <a:xfrm>
            <a:off x="9545310" y="3022880"/>
            <a:ext cx="95339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0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Atendente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4A3D7ABA-0081-386F-A6C6-D34138E04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BEE1823D-D61B-11B9-2FFC-3C4C164DDF9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Atividades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D2EF5154-77F0-040E-E5CC-89C3D6AB77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Representa o fluxo de execução de um processo dentro do sistema, descrevendo de forma clara e visual como as atividades são realizadas, desde o início até a sua conclusão.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lang="pt-BR" sz="1800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Permite identificar: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A ordem das ações executadas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Pontos de decisão e regras de negócio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Fluxos alternativos, exceções e caminhos paralelos</a:t>
            </a:r>
          </a:p>
          <a:p>
            <a:pPr marL="800100" lvl="1" indent="-34290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Atividades que podem ocorrer simultaneamente</a:t>
            </a:r>
          </a:p>
          <a:p>
            <a:pPr marL="457200" lvl="1" indent="0">
              <a:spcBef>
                <a:spcPts val="0"/>
              </a:spcBef>
              <a:buSzPts val="2000"/>
              <a:buNone/>
            </a:pPr>
            <a:endParaRPr lang="pt-BR" dirty="0"/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É amplamente utilizado para modelar processos de negócio, apoiar a análise de requisitos e facilitar a compreensão do comportamento do sistema por diferentes públicos, como analistas, desenvolvedores e clientes.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29328968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CC337355-C96E-0047-0F0B-B576E475E4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9DAAF41D-43EE-F124-3D52-BE07F8B33B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Atividade x Diagrama de Sequência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F4B94DA9-1DC3-4844-3081-805112F37A7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348" y="1844674"/>
            <a:ext cx="5055978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200"/>
              </a:spcBef>
              <a:spcAft>
                <a:spcPts val="20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Diagrama de Atividades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Foca no fluxo de trabalho do processo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Mostra o que acontece e em qual ordem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Destaca ações, decisões e caminhos alternativos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Pode representar processos paralelos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Usado para modelar processos e regras de negócio</a:t>
            </a:r>
          </a:p>
        </p:txBody>
      </p:sp>
      <p:sp>
        <p:nvSpPr>
          <p:cNvPr id="3" name="Google Shape;225;p26">
            <a:extLst>
              <a:ext uri="{FF2B5EF4-FFF2-40B4-BE49-F238E27FC236}">
                <a16:creationId xmlns:a16="http://schemas.microsoft.com/office/drawing/2014/main" id="{7C17E27A-9A70-29C6-D540-32CF13FDECF6}"/>
              </a:ext>
            </a:extLst>
          </p:cNvPr>
          <p:cNvSpPr txBox="1">
            <a:spLocks/>
          </p:cNvSpPr>
          <p:nvPr/>
        </p:nvSpPr>
        <p:spPr>
          <a:xfrm>
            <a:off x="6442674" y="1844673"/>
            <a:ext cx="5055978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marL="914400" marR="0" lvl="1" indent="-3302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L="1371600" marR="0" lvl="2" indent="-3175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L="1828800" marR="0" lvl="3" indent="-3048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L="2286000" marR="0" lvl="4" indent="-292100" algn="just" rtl="0">
              <a:lnSpc>
                <a:spcPct val="15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200"/>
              </a:spcBef>
              <a:spcAft>
                <a:spcPts val="200"/>
              </a:spcAft>
            </a:pPr>
            <a:r>
              <a:rPr lang="pt-BR" sz="1800" dirty="0"/>
              <a:t>Diagrama de Sequência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Foca na interação entre atores e objetos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Mostra quem se comunica com quem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Destaca a ordem temporal das mensagens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Evidencia chamadas de métodos e respostas</a:t>
            </a:r>
          </a:p>
          <a:p>
            <a:pPr marL="742950" lvl="1" indent="-285750">
              <a:spcBef>
                <a:spcPts val="200"/>
              </a:spcBef>
              <a:spcAft>
                <a:spcPts val="200"/>
              </a:spcAft>
              <a:buSzPts val="2000"/>
              <a:buFont typeface="Arial" panose="020B0604020202020204" pitchFamily="34" charset="0"/>
              <a:buChar char="•"/>
            </a:pPr>
            <a:r>
              <a:rPr lang="pt-BR" dirty="0"/>
              <a:t>Usado para detalhar o comportamento do sistema</a:t>
            </a:r>
          </a:p>
        </p:txBody>
      </p:sp>
    </p:spTree>
    <p:extLst>
      <p:ext uri="{BB962C8B-B14F-4D97-AF65-F5344CB8AC3E}">
        <p14:creationId xmlns:p14="http://schemas.microsoft.com/office/powerpoint/2010/main" val="11524211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9CB922DA-869A-B38C-B0B8-8B456855A0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>
            <a:extLst>
              <a:ext uri="{FF2B5EF4-FFF2-40B4-BE49-F238E27FC236}">
                <a16:creationId xmlns:a16="http://schemas.microsoft.com/office/drawing/2014/main" id="{39DC8F12-1C3D-D8A4-4EF3-DCD52415B7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A9131087-D1A7-30BA-9230-2106D06303CE}"/>
              </a:ext>
            </a:extLst>
          </p:cNvPr>
          <p:cNvGrpSpPr/>
          <p:nvPr/>
        </p:nvGrpSpPr>
        <p:grpSpPr>
          <a:xfrm>
            <a:off x="749185" y="3567303"/>
            <a:ext cx="953391" cy="1206798"/>
            <a:chOff x="1915304" y="2085975"/>
            <a:chExt cx="953391" cy="1206798"/>
          </a:xfrm>
        </p:grpSpPr>
        <p:pic>
          <p:nvPicPr>
            <p:cNvPr id="6" name="Gráfico 5" descr="Homem com preenchimento sólido">
              <a:extLst>
                <a:ext uri="{FF2B5EF4-FFF2-40B4-BE49-F238E27FC236}">
                  <a16:creationId xmlns:a16="http://schemas.microsoft.com/office/drawing/2014/main" id="{C84B665E-45EA-224F-79E3-F9C65A4F6E9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4800" y="2085975"/>
              <a:ext cx="914400" cy="914400"/>
            </a:xfrm>
            <a:prstGeom prst="rect">
              <a:avLst/>
            </a:prstGeom>
          </p:spPr>
        </p:pic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CB94B178-4142-77F8-C4F7-4505C4D63CB4}"/>
                </a:ext>
              </a:extLst>
            </p:cNvPr>
            <p:cNvSpPr txBox="1"/>
            <p:nvPr/>
          </p:nvSpPr>
          <p:spPr>
            <a:xfrm>
              <a:off x="1915304" y="3031163"/>
              <a:ext cx="953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Cliente</a:t>
              </a:r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3E0173B9-B9C7-4752-0EB3-2B41FE89D287}"/>
              </a:ext>
            </a:extLst>
          </p:cNvPr>
          <p:cNvSpPr/>
          <p:nvPr/>
        </p:nvSpPr>
        <p:spPr>
          <a:xfrm>
            <a:off x="2340864" y="3878428"/>
            <a:ext cx="138988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Entra no site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EE5FD4EB-E463-761B-49AA-6970CE4CB9B4}"/>
              </a:ext>
            </a:extLst>
          </p:cNvPr>
          <p:cNvCxnSpPr>
            <a:cxnSpLocks/>
            <a:endCxn id="3" idx="1"/>
          </p:cNvCxnSpPr>
          <p:nvPr/>
        </p:nvCxnSpPr>
        <p:spPr>
          <a:xfrm>
            <a:off x="1742224" y="4184285"/>
            <a:ext cx="598640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tângulo: Cantos Arredondados 14">
            <a:extLst>
              <a:ext uri="{FF2B5EF4-FFF2-40B4-BE49-F238E27FC236}">
                <a16:creationId xmlns:a16="http://schemas.microsoft.com/office/drawing/2014/main" id="{0D647821-028C-69CC-CDD7-2DDE96739446}"/>
              </a:ext>
            </a:extLst>
          </p:cNvPr>
          <p:cNvSpPr/>
          <p:nvPr/>
        </p:nvSpPr>
        <p:spPr>
          <a:xfrm>
            <a:off x="5262151" y="2772443"/>
            <a:ext cx="138988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para a tela de compras</a:t>
            </a:r>
          </a:p>
        </p:txBody>
      </p:sp>
      <p:sp>
        <p:nvSpPr>
          <p:cNvPr id="17" name="Retângulo: Cantos Arredondados 16">
            <a:extLst>
              <a:ext uri="{FF2B5EF4-FFF2-40B4-BE49-F238E27FC236}">
                <a16:creationId xmlns:a16="http://schemas.microsoft.com/office/drawing/2014/main" id="{768191AF-07AE-635D-396C-19F8F70C85EF}"/>
              </a:ext>
            </a:extLst>
          </p:cNvPr>
          <p:cNvSpPr/>
          <p:nvPr/>
        </p:nvSpPr>
        <p:spPr>
          <a:xfrm>
            <a:off x="5262151" y="4984413"/>
            <a:ext cx="138988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para a tela de acompanhamento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79E0F406-F8DF-9269-8DEF-6E3127CCCE45}"/>
              </a:ext>
            </a:extLst>
          </p:cNvPr>
          <p:cNvCxnSpPr>
            <a:cxnSpLocks/>
            <a:stCxn id="3" idx="3"/>
            <a:endCxn id="15" idx="1"/>
          </p:cNvCxnSpPr>
          <p:nvPr/>
        </p:nvCxnSpPr>
        <p:spPr>
          <a:xfrm flipV="1">
            <a:off x="3730752" y="3078301"/>
            <a:ext cx="1531399" cy="1105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id="{23A99DA4-68FF-538C-661D-B6AE51F47462}"/>
              </a:ext>
            </a:extLst>
          </p:cNvPr>
          <p:cNvCxnSpPr>
            <a:cxnSpLocks/>
            <a:stCxn id="3" idx="3"/>
            <a:endCxn id="17" idx="1"/>
          </p:cNvCxnSpPr>
          <p:nvPr/>
        </p:nvCxnSpPr>
        <p:spPr>
          <a:xfrm>
            <a:off x="3730752" y="4184286"/>
            <a:ext cx="1531399" cy="110598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Losango 3">
            <a:extLst>
              <a:ext uri="{FF2B5EF4-FFF2-40B4-BE49-F238E27FC236}">
                <a16:creationId xmlns:a16="http://schemas.microsoft.com/office/drawing/2014/main" id="{877882E7-18D9-4C83-8ADF-385C8606DECD}"/>
              </a:ext>
            </a:extLst>
          </p:cNvPr>
          <p:cNvSpPr/>
          <p:nvPr/>
        </p:nvSpPr>
        <p:spPr>
          <a:xfrm>
            <a:off x="7237738" y="5110270"/>
            <a:ext cx="360000" cy="360000"/>
          </a:xfrm>
          <a:prstGeom prst="diamond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7CA98677-AFA8-460C-9D65-CE928A3D8778}"/>
              </a:ext>
            </a:extLst>
          </p:cNvPr>
          <p:cNvCxnSpPr>
            <a:stCxn id="17" idx="3"/>
            <a:endCxn id="4" idx="1"/>
          </p:cNvCxnSpPr>
          <p:nvPr/>
        </p:nvCxnSpPr>
        <p:spPr>
          <a:xfrm flipV="1">
            <a:off x="6652039" y="5290270"/>
            <a:ext cx="58569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tângulo: Cantos Arredondados 15">
            <a:extLst>
              <a:ext uri="{FF2B5EF4-FFF2-40B4-BE49-F238E27FC236}">
                <a16:creationId xmlns:a16="http://schemas.microsoft.com/office/drawing/2014/main" id="{7C891363-D3FE-42B3-B2F5-8F7410A74C92}"/>
              </a:ext>
            </a:extLst>
          </p:cNvPr>
          <p:cNvSpPr/>
          <p:nvPr/>
        </p:nvSpPr>
        <p:spPr>
          <a:xfrm>
            <a:off x="8183438" y="4984413"/>
            <a:ext cx="153139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Ir para a tela alteração do pedido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9EC972A8-8FE1-4826-AA14-FFADE299D701}"/>
              </a:ext>
            </a:extLst>
          </p:cNvPr>
          <p:cNvCxnSpPr/>
          <p:nvPr/>
        </p:nvCxnSpPr>
        <p:spPr>
          <a:xfrm flipV="1">
            <a:off x="7597738" y="5290269"/>
            <a:ext cx="585699" cy="1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54BE4C4-269B-4462-A95D-9333A6348851}"/>
              </a:ext>
            </a:extLst>
          </p:cNvPr>
          <p:cNvSpPr txBox="1"/>
          <p:nvPr/>
        </p:nvSpPr>
        <p:spPr>
          <a:xfrm>
            <a:off x="6741912" y="5658812"/>
            <a:ext cx="13516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Alterar pedido ?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3B44D7D7-A5A1-42C7-AAF0-4C7F9A8370C0}"/>
              </a:ext>
            </a:extLst>
          </p:cNvPr>
          <p:cNvSpPr/>
          <p:nvPr/>
        </p:nvSpPr>
        <p:spPr>
          <a:xfrm rot="5400000">
            <a:off x="8368041" y="3406616"/>
            <a:ext cx="1162191" cy="263388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20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id="{91DC152B-7A67-4898-AF91-853AC899259E}"/>
              </a:ext>
            </a:extLst>
          </p:cNvPr>
          <p:cNvCxnSpPr>
            <a:cxnSpLocks/>
            <a:stCxn id="4" idx="0"/>
            <a:endCxn id="14" idx="2"/>
          </p:cNvCxnSpPr>
          <p:nvPr/>
        </p:nvCxnSpPr>
        <p:spPr>
          <a:xfrm flipV="1">
            <a:off x="7417738" y="3538311"/>
            <a:ext cx="1399705" cy="157195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tângulo: Cantos Arredondados 30">
            <a:extLst>
              <a:ext uri="{FF2B5EF4-FFF2-40B4-BE49-F238E27FC236}">
                <a16:creationId xmlns:a16="http://schemas.microsoft.com/office/drawing/2014/main" id="{307D6A43-3310-42A8-A3D0-3C5F09F0AAB6}"/>
              </a:ext>
            </a:extLst>
          </p:cNvPr>
          <p:cNvSpPr/>
          <p:nvPr/>
        </p:nvSpPr>
        <p:spPr>
          <a:xfrm>
            <a:off x="9868803" y="2594916"/>
            <a:ext cx="153139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atendimento</a:t>
            </a:r>
          </a:p>
        </p:txBody>
      </p:sp>
      <p:sp>
        <p:nvSpPr>
          <p:cNvPr id="32" name="Retângulo: Cantos Arredondados 31">
            <a:extLst>
              <a:ext uri="{FF2B5EF4-FFF2-40B4-BE49-F238E27FC236}">
                <a16:creationId xmlns:a16="http://schemas.microsoft.com/office/drawing/2014/main" id="{9A819F3A-2DCF-4FD4-8547-312C4DA0FAAE}"/>
              </a:ext>
            </a:extLst>
          </p:cNvPr>
          <p:cNvSpPr/>
          <p:nvPr/>
        </p:nvSpPr>
        <p:spPr>
          <a:xfrm>
            <a:off x="9868803" y="3869988"/>
            <a:ext cx="1531398" cy="611715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Avaliar o local</a:t>
            </a:r>
          </a:p>
        </p:txBody>
      </p: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id="{80279357-B5B2-43BD-BDA0-8BC5C8A560CB}"/>
              </a:ext>
            </a:extLst>
          </p:cNvPr>
          <p:cNvCxnSpPr>
            <a:stCxn id="14" idx="0"/>
            <a:endCxn id="31" idx="1"/>
          </p:cNvCxnSpPr>
          <p:nvPr/>
        </p:nvCxnSpPr>
        <p:spPr>
          <a:xfrm flipV="1">
            <a:off x="9080831" y="2900774"/>
            <a:ext cx="787972" cy="63753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id="{0FD3D387-0697-434F-8E4B-0B52A54BBFE8}"/>
              </a:ext>
            </a:extLst>
          </p:cNvPr>
          <p:cNvCxnSpPr>
            <a:stCxn id="14" idx="0"/>
            <a:endCxn id="32" idx="1"/>
          </p:cNvCxnSpPr>
          <p:nvPr/>
        </p:nvCxnSpPr>
        <p:spPr>
          <a:xfrm>
            <a:off x="9080831" y="3538311"/>
            <a:ext cx="787972" cy="63753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1" name="Agrupar 40">
            <a:extLst>
              <a:ext uri="{FF2B5EF4-FFF2-40B4-BE49-F238E27FC236}">
                <a16:creationId xmlns:a16="http://schemas.microsoft.com/office/drawing/2014/main" id="{D3C6FAFA-5453-43E2-83CB-92D5A97A65DB}"/>
              </a:ext>
            </a:extLst>
          </p:cNvPr>
          <p:cNvGrpSpPr/>
          <p:nvPr/>
        </p:nvGrpSpPr>
        <p:grpSpPr>
          <a:xfrm>
            <a:off x="11532818" y="5298812"/>
            <a:ext cx="540000" cy="720000"/>
            <a:chOff x="8081616" y="4417570"/>
            <a:chExt cx="720000" cy="1440000"/>
          </a:xfrm>
        </p:grpSpPr>
        <p:sp>
          <p:nvSpPr>
            <p:cNvPr id="42" name="Elipse 41">
              <a:extLst>
                <a:ext uri="{FF2B5EF4-FFF2-40B4-BE49-F238E27FC236}">
                  <a16:creationId xmlns:a16="http://schemas.microsoft.com/office/drawing/2014/main" id="{CCC7A36E-7BC2-419A-8BDA-72C7D2DA1B90}"/>
                </a:ext>
              </a:extLst>
            </p:cNvPr>
            <p:cNvSpPr/>
            <p:nvPr/>
          </p:nvSpPr>
          <p:spPr>
            <a:xfrm>
              <a:off x="8261616" y="4777570"/>
              <a:ext cx="36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3" name="Elipse 42">
              <a:extLst>
                <a:ext uri="{FF2B5EF4-FFF2-40B4-BE49-F238E27FC236}">
                  <a16:creationId xmlns:a16="http://schemas.microsoft.com/office/drawing/2014/main" id="{3DCBC75B-E711-4024-A069-C56E81E37907}"/>
                </a:ext>
              </a:extLst>
            </p:cNvPr>
            <p:cNvSpPr/>
            <p:nvPr/>
          </p:nvSpPr>
          <p:spPr>
            <a:xfrm>
              <a:off x="8081616" y="4417570"/>
              <a:ext cx="720000" cy="14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7" name="Conector: Angulado 36">
            <a:extLst>
              <a:ext uri="{FF2B5EF4-FFF2-40B4-BE49-F238E27FC236}">
                <a16:creationId xmlns:a16="http://schemas.microsoft.com/office/drawing/2014/main" id="{1762D7ED-4BF8-4E45-8699-DA165E5A11B4}"/>
              </a:ext>
            </a:extLst>
          </p:cNvPr>
          <p:cNvCxnSpPr>
            <a:cxnSpLocks/>
            <a:stCxn id="31" idx="3"/>
            <a:endCxn id="43" idx="0"/>
          </p:cNvCxnSpPr>
          <p:nvPr/>
        </p:nvCxnSpPr>
        <p:spPr>
          <a:xfrm>
            <a:off x="11400201" y="2900774"/>
            <a:ext cx="402617" cy="2398038"/>
          </a:xfrm>
          <a:prstGeom prst="bentConnector2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ector reto 44">
            <a:extLst>
              <a:ext uri="{FF2B5EF4-FFF2-40B4-BE49-F238E27FC236}">
                <a16:creationId xmlns:a16="http://schemas.microsoft.com/office/drawing/2014/main" id="{95450CAB-974C-4F67-9CED-6518DE006B81}"/>
              </a:ext>
            </a:extLst>
          </p:cNvPr>
          <p:cNvCxnSpPr>
            <a:stCxn id="32" idx="3"/>
          </p:cNvCxnSpPr>
          <p:nvPr/>
        </p:nvCxnSpPr>
        <p:spPr>
          <a:xfrm>
            <a:off x="11400201" y="4175846"/>
            <a:ext cx="402617" cy="8439"/>
          </a:xfrm>
          <a:prstGeom prst="line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Conector de Seta Reta 46">
            <a:extLst>
              <a:ext uri="{FF2B5EF4-FFF2-40B4-BE49-F238E27FC236}">
                <a16:creationId xmlns:a16="http://schemas.microsoft.com/office/drawing/2014/main" id="{F4B8B510-81C8-42C7-BBBD-AA195551006B}"/>
              </a:ext>
            </a:extLst>
          </p:cNvPr>
          <p:cNvCxnSpPr>
            <a:stCxn id="16" idx="0"/>
            <a:endCxn id="14" idx="3"/>
          </p:cNvCxnSpPr>
          <p:nvPr/>
        </p:nvCxnSpPr>
        <p:spPr>
          <a:xfrm flipV="1">
            <a:off x="8949137" y="4119406"/>
            <a:ext cx="0" cy="86500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6990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8081E354-A623-303E-ED2A-098C08A2A8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445B2DC1-A970-29A4-D05D-947E337C2C3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Estados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AD89B60A-1B7E-2F20-826E-AD27125422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Representa os diferentes estados que um objeto pode assumir ao longo do tempo e as transições entre esses estados, de acordo com eventos ou ações realizadas no sistema.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Destaca: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Estados possíveis de um objeto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Eventos que provocam mudanças de estado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Regras que controlam as transições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Estado inicial e estado final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É muito utilizado para modelar comportamentos dependentes de estado, ajudando a garantir que o sistema siga corretamente as regras de negócio.</a:t>
            </a:r>
            <a:endParaRPr sz="1800" dirty="0"/>
          </a:p>
        </p:txBody>
      </p:sp>
    </p:spTree>
    <p:extLst>
      <p:ext uri="{BB962C8B-B14F-4D97-AF65-F5344CB8AC3E}">
        <p14:creationId xmlns:p14="http://schemas.microsoft.com/office/powerpoint/2010/main" val="397310102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C8B2461-F63A-362D-C65A-22505EE25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7">
            <a:extLst>
              <a:ext uri="{FF2B5EF4-FFF2-40B4-BE49-F238E27FC236}">
                <a16:creationId xmlns:a16="http://schemas.microsoft.com/office/drawing/2014/main" id="{03C68891-6E70-D3AE-9BC3-F5D739D78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/>
              <a:t>Exemplo Prático</a:t>
            </a:r>
            <a:endParaRPr/>
          </a:p>
        </p:txBody>
      </p:sp>
      <p:grpSp>
        <p:nvGrpSpPr>
          <p:cNvPr id="2" name="Agrupar 1">
            <a:extLst>
              <a:ext uri="{FF2B5EF4-FFF2-40B4-BE49-F238E27FC236}">
                <a16:creationId xmlns:a16="http://schemas.microsoft.com/office/drawing/2014/main" id="{21CA9D5D-C7B3-3E55-2EFC-354EB5483EBD}"/>
              </a:ext>
            </a:extLst>
          </p:cNvPr>
          <p:cNvGrpSpPr/>
          <p:nvPr/>
        </p:nvGrpSpPr>
        <p:grpSpPr>
          <a:xfrm>
            <a:off x="1909652" y="2548442"/>
            <a:ext cx="953391" cy="1206798"/>
            <a:chOff x="1915304" y="2085975"/>
            <a:chExt cx="953391" cy="1206798"/>
          </a:xfrm>
        </p:grpSpPr>
        <p:pic>
          <p:nvPicPr>
            <p:cNvPr id="6" name="Gráfico 5" descr="Homem com preenchimento sólido">
              <a:extLst>
                <a:ext uri="{FF2B5EF4-FFF2-40B4-BE49-F238E27FC236}">
                  <a16:creationId xmlns:a16="http://schemas.microsoft.com/office/drawing/2014/main" id="{FACF810B-7529-220F-C724-24F13192314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934800" y="2085975"/>
              <a:ext cx="914400" cy="914400"/>
            </a:xfrm>
            <a:prstGeom prst="rect">
              <a:avLst/>
            </a:prstGeom>
          </p:spPr>
        </p:pic>
        <p:sp>
          <p:nvSpPr>
            <p:cNvPr id="53" name="CaixaDeTexto 52">
              <a:extLst>
                <a:ext uri="{FF2B5EF4-FFF2-40B4-BE49-F238E27FC236}">
                  <a16:creationId xmlns:a16="http://schemas.microsoft.com/office/drawing/2014/main" id="{02E48DFA-7273-4A52-CE03-1833D7328B00}"/>
                </a:ext>
              </a:extLst>
            </p:cNvPr>
            <p:cNvSpPr txBox="1"/>
            <p:nvPr/>
          </p:nvSpPr>
          <p:spPr>
            <a:xfrm>
              <a:off x="1915304" y="3031163"/>
              <a:ext cx="95339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105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Cliente</a:t>
              </a:r>
            </a:p>
          </p:txBody>
        </p:sp>
      </p:grpSp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BF5D5489-1D3E-6DA5-08E1-9A286444EF84}"/>
              </a:ext>
            </a:extLst>
          </p:cNvPr>
          <p:cNvSpPr/>
          <p:nvPr/>
        </p:nvSpPr>
        <p:spPr>
          <a:xfrm>
            <a:off x="4772695" y="2791841"/>
            <a:ext cx="1800000" cy="72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 aguardando pagamento</a:t>
            </a:r>
          </a:p>
        </p:txBody>
      </p:sp>
      <p:cxnSp>
        <p:nvCxnSpPr>
          <p:cNvPr id="11" name="Conector de Seta Reta 10">
            <a:extLst>
              <a:ext uri="{FF2B5EF4-FFF2-40B4-BE49-F238E27FC236}">
                <a16:creationId xmlns:a16="http://schemas.microsoft.com/office/drawing/2014/main" id="{8DAB536F-4486-7930-6E85-7CFE6EE4D712}"/>
              </a:ext>
            </a:extLst>
          </p:cNvPr>
          <p:cNvCxnSpPr>
            <a:cxnSpLocks/>
          </p:cNvCxnSpPr>
          <p:nvPr/>
        </p:nvCxnSpPr>
        <p:spPr>
          <a:xfrm>
            <a:off x="2966009" y="3144025"/>
            <a:ext cx="1806686" cy="781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5CFAAD7-FD6A-608B-C1C0-F5E2847CAC80}"/>
              </a:ext>
            </a:extLst>
          </p:cNvPr>
          <p:cNvSpPr/>
          <p:nvPr/>
        </p:nvSpPr>
        <p:spPr>
          <a:xfrm>
            <a:off x="8482347" y="2791841"/>
            <a:ext cx="1800000" cy="72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 Cancelado</a:t>
            </a:r>
          </a:p>
        </p:txBody>
      </p:sp>
      <p:cxnSp>
        <p:nvCxnSpPr>
          <p:cNvPr id="8" name="Conector de Seta Reta 7">
            <a:extLst>
              <a:ext uri="{FF2B5EF4-FFF2-40B4-BE49-F238E27FC236}">
                <a16:creationId xmlns:a16="http://schemas.microsoft.com/office/drawing/2014/main" id="{52BE4232-90F2-2A3C-7169-766DBB15CC2B}"/>
              </a:ext>
            </a:extLst>
          </p:cNvPr>
          <p:cNvCxnSpPr>
            <a:cxnSpLocks/>
          </p:cNvCxnSpPr>
          <p:nvPr/>
        </p:nvCxnSpPr>
        <p:spPr>
          <a:xfrm>
            <a:off x="6572695" y="3151841"/>
            <a:ext cx="1909652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FAC7FEB3-A46A-A707-2FA3-0B1AC8A8218B}"/>
              </a:ext>
            </a:extLst>
          </p:cNvPr>
          <p:cNvSpPr txBox="1"/>
          <p:nvPr/>
        </p:nvSpPr>
        <p:spPr>
          <a:xfrm>
            <a:off x="3392656" y="2675952"/>
            <a:ext cx="9533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Pedido Efetuada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B6D89B9B-E6BA-5757-B814-295EF08D61B0}"/>
              </a:ext>
            </a:extLst>
          </p:cNvPr>
          <p:cNvSpPr txBox="1"/>
          <p:nvPr/>
        </p:nvSpPr>
        <p:spPr>
          <a:xfrm>
            <a:off x="7050825" y="2670345"/>
            <a:ext cx="9533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Pagamento Falhou</a:t>
            </a:r>
          </a:p>
        </p:txBody>
      </p:sp>
      <p:sp>
        <p:nvSpPr>
          <p:cNvPr id="20" name="Retângulo: Cantos Arredondados 19">
            <a:extLst>
              <a:ext uri="{FF2B5EF4-FFF2-40B4-BE49-F238E27FC236}">
                <a16:creationId xmlns:a16="http://schemas.microsoft.com/office/drawing/2014/main" id="{D7843CE2-80E0-E0B8-761B-DF21C5529975}"/>
              </a:ext>
            </a:extLst>
          </p:cNvPr>
          <p:cNvSpPr/>
          <p:nvPr/>
        </p:nvSpPr>
        <p:spPr>
          <a:xfrm>
            <a:off x="4772695" y="4765537"/>
            <a:ext cx="1800000" cy="72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Pedido em Produção</a:t>
            </a:r>
          </a:p>
        </p:txBody>
      </p: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id="{406AD940-2E9D-2B97-945C-50479C73E5E1}"/>
              </a:ext>
            </a:extLst>
          </p:cNvPr>
          <p:cNvCxnSpPr>
            <a:cxnSpLocks/>
            <a:stCxn id="3" idx="2"/>
            <a:endCxn id="20" idx="0"/>
          </p:cNvCxnSpPr>
          <p:nvPr/>
        </p:nvCxnSpPr>
        <p:spPr>
          <a:xfrm>
            <a:off x="5672695" y="3511841"/>
            <a:ext cx="0" cy="1253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CaixaDeTexto 24">
            <a:extLst>
              <a:ext uri="{FF2B5EF4-FFF2-40B4-BE49-F238E27FC236}">
                <a16:creationId xmlns:a16="http://schemas.microsoft.com/office/drawing/2014/main" id="{7B91EFCC-45C3-02D6-9072-76C3EFF2946B}"/>
              </a:ext>
            </a:extLst>
          </p:cNvPr>
          <p:cNvSpPr txBox="1"/>
          <p:nvPr/>
        </p:nvSpPr>
        <p:spPr>
          <a:xfrm>
            <a:off x="4719303" y="3923245"/>
            <a:ext cx="953392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Pagamento c/ Sucesso</a:t>
            </a:r>
          </a:p>
        </p:txBody>
      </p:sp>
      <p:grpSp>
        <p:nvGrpSpPr>
          <p:cNvPr id="31" name="Agrupar 30">
            <a:extLst>
              <a:ext uri="{FF2B5EF4-FFF2-40B4-BE49-F238E27FC236}">
                <a16:creationId xmlns:a16="http://schemas.microsoft.com/office/drawing/2014/main" id="{7213FA86-38B9-35EF-609B-F0A9C2C97A7D}"/>
              </a:ext>
            </a:extLst>
          </p:cNvPr>
          <p:cNvGrpSpPr/>
          <p:nvPr/>
        </p:nvGrpSpPr>
        <p:grpSpPr>
          <a:xfrm>
            <a:off x="9112347" y="4765537"/>
            <a:ext cx="540000" cy="720000"/>
            <a:chOff x="8081616" y="4417570"/>
            <a:chExt cx="720000" cy="1440000"/>
          </a:xfrm>
        </p:grpSpPr>
        <p:sp>
          <p:nvSpPr>
            <p:cNvPr id="29" name="Elipse 28">
              <a:extLst>
                <a:ext uri="{FF2B5EF4-FFF2-40B4-BE49-F238E27FC236}">
                  <a16:creationId xmlns:a16="http://schemas.microsoft.com/office/drawing/2014/main" id="{BA88B454-AB4A-29B5-127B-A5622561CFFC}"/>
                </a:ext>
              </a:extLst>
            </p:cNvPr>
            <p:cNvSpPr/>
            <p:nvPr/>
          </p:nvSpPr>
          <p:spPr>
            <a:xfrm>
              <a:off x="8261616" y="4777570"/>
              <a:ext cx="360000" cy="72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Elipse 29">
              <a:extLst>
                <a:ext uri="{FF2B5EF4-FFF2-40B4-BE49-F238E27FC236}">
                  <a16:creationId xmlns:a16="http://schemas.microsoft.com/office/drawing/2014/main" id="{C8FAC766-0483-91FD-EB4E-8C550482310C}"/>
                </a:ext>
              </a:extLst>
            </p:cNvPr>
            <p:cNvSpPr/>
            <p:nvPr/>
          </p:nvSpPr>
          <p:spPr>
            <a:xfrm>
              <a:off x="8081616" y="4417570"/>
              <a:ext cx="720000" cy="1440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id="{78D4FE89-0403-36F3-DD42-F36B3A6EBFC9}"/>
              </a:ext>
            </a:extLst>
          </p:cNvPr>
          <p:cNvCxnSpPr>
            <a:cxnSpLocks/>
            <a:endCxn id="30" idx="2"/>
          </p:cNvCxnSpPr>
          <p:nvPr/>
        </p:nvCxnSpPr>
        <p:spPr>
          <a:xfrm flipV="1">
            <a:off x="6566239" y="5125537"/>
            <a:ext cx="2546108" cy="1148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DE2AB95B-A432-E4D8-78AF-1CFE4D6A01BE}"/>
              </a:ext>
            </a:extLst>
          </p:cNvPr>
          <p:cNvCxnSpPr>
            <a:cxnSpLocks/>
            <a:stCxn id="5" idx="2"/>
            <a:endCxn id="30" idx="0"/>
          </p:cNvCxnSpPr>
          <p:nvPr/>
        </p:nvCxnSpPr>
        <p:spPr>
          <a:xfrm>
            <a:off x="9382347" y="3511841"/>
            <a:ext cx="0" cy="125369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237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3">
          <a:extLst>
            <a:ext uri="{FF2B5EF4-FFF2-40B4-BE49-F238E27FC236}">
              <a16:creationId xmlns:a16="http://schemas.microsoft.com/office/drawing/2014/main" id="{EEFF722F-5FF1-C0E6-37F2-2F96C9C2F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6">
            <a:extLst>
              <a:ext uri="{FF2B5EF4-FFF2-40B4-BE49-F238E27FC236}">
                <a16:creationId xmlns:a16="http://schemas.microsoft.com/office/drawing/2014/main" id="{6C64F9A9-8C15-E64F-7D17-317F5A374F3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Times New Roman"/>
              <a:buNone/>
            </a:pPr>
            <a:r>
              <a:rPr lang="pt-BR" dirty="0"/>
              <a:t>Diagrama de Estados</a:t>
            </a:r>
            <a:endParaRPr dirty="0"/>
          </a:p>
        </p:txBody>
      </p:sp>
      <p:sp>
        <p:nvSpPr>
          <p:cNvPr id="225" name="Google Shape;225;p26">
            <a:extLst>
              <a:ext uri="{FF2B5EF4-FFF2-40B4-BE49-F238E27FC236}">
                <a16:creationId xmlns:a16="http://schemas.microsoft.com/office/drawing/2014/main" id="{4BBF2AE9-C156-1D2B-B9FC-8581F92386F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92347" y="1844674"/>
            <a:ext cx="11007306" cy="44474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/>
            <a:r>
              <a:rPr lang="pt-BR" sz="1800" dirty="0"/>
              <a:t>Representa a </a:t>
            </a:r>
            <a:r>
              <a:rPr lang="pt-BR" sz="1800" b="1" dirty="0"/>
              <a:t>estrutura física e lógica do sistema</a:t>
            </a:r>
            <a:r>
              <a:rPr lang="pt-BR" sz="1800" dirty="0"/>
              <a:t>, mostrando como ele é dividido em </a:t>
            </a:r>
            <a:r>
              <a:rPr lang="pt-BR" sz="1800" b="1" dirty="0"/>
              <a:t>componentes</a:t>
            </a:r>
            <a:r>
              <a:rPr lang="pt-BR" sz="1800" dirty="0"/>
              <a:t> e como esses componentes </a:t>
            </a:r>
            <a:r>
              <a:rPr lang="pt-BR" sz="1800" b="1" dirty="0"/>
              <a:t>se relacionam e se comunicam</a:t>
            </a:r>
            <a:r>
              <a:rPr lang="pt-BR" sz="1800" dirty="0"/>
              <a:t> entre si.</a:t>
            </a:r>
          </a:p>
          <a:p>
            <a:pPr marL="0" lvl="0" indent="0"/>
            <a:r>
              <a:rPr lang="pt-BR" sz="1800" dirty="0"/>
              <a:t>Destaca: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Componentes do sistema (módulos, serviços, APIs)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Interfaces fornecidas e requeridas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Dependências entre componentes</a:t>
            </a:r>
          </a:p>
          <a:p>
            <a:pPr marL="742950" lvl="1" indent="-285750">
              <a:spcBef>
                <a:spcPts val="0"/>
              </a:spcBef>
              <a:buSzPts val="2000"/>
              <a:buFont typeface="Arial" panose="020B0604020202020204" pitchFamily="34" charset="0"/>
              <a:buChar char="•"/>
            </a:pPr>
            <a:r>
              <a:rPr lang="pt-BR" sz="1400" dirty="0"/>
              <a:t>Organização da aplicação em camadas</a:t>
            </a:r>
          </a:p>
          <a:p>
            <a:pPr marL="0" marR="0" lvl="0" indent="0" algn="just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pt-BR" sz="1800" dirty="0"/>
              <a:t>É utilizado para visualizar a arquitetura do sistema, facilitando o entendimento da separação de responsabilidades, manutenção, evolução e integração com outros sistemas.</a:t>
            </a:r>
          </a:p>
        </p:txBody>
      </p:sp>
    </p:spTree>
    <p:extLst>
      <p:ext uri="{BB962C8B-B14F-4D97-AF65-F5344CB8AC3E}">
        <p14:creationId xmlns:p14="http://schemas.microsoft.com/office/powerpoint/2010/main" val="364378715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B21662-4350-462C-118C-324B594E17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Prático</a:t>
            </a:r>
          </a:p>
        </p:txBody>
      </p:sp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1422B2AA-4501-6ED0-47F1-C459FD17E360}"/>
              </a:ext>
            </a:extLst>
          </p:cNvPr>
          <p:cNvSpPr/>
          <p:nvPr/>
        </p:nvSpPr>
        <p:spPr>
          <a:xfrm>
            <a:off x="2882593" y="2534666"/>
            <a:ext cx="2160000" cy="108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endParaRPr lang="pt-BR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C8CE0773-BA74-BCE7-C155-6B980523095B}"/>
              </a:ext>
            </a:extLst>
          </p:cNvPr>
          <p:cNvSpPr/>
          <p:nvPr/>
        </p:nvSpPr>
        <p:spPr>
          <a:xfrm>
            <a:off x="7149408" y="2534666"/>
            <a:ext cx="2160000" cy="108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Back-</a:t>
            </a:r>
            <a:r>
              <a:rPr lang="pt-BR" sz="20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end</a:t>
            </a:r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-  Spring Boot</a:t>
            </a:r>
          </a:p>
        </p:txBody>
      </p:sp>
      <p:cxnSp>
        <p:nvCxnSpPr>
          <p:cNvPr id="7" name="Conector de Seta Reta 6">
            <a:extLst>
              <a:ext uri="{FF2B5EF4-FFF2-40B4-BE49-F238E27FC236}">
                <a16:creationId xmlns:a16="http://schemas.microsoft.com/office/drawing/2014/main" id="{AAADB59C-2E46-6CF8-ED36-F2DD99F71136}"/>
              </a:ext>
            </a:extLst>
          </p:cNvPr>
          <p:cNvCxnSpPr>
            <a:cxnSpLocks/>
          </p:cNvCxnSpPr>
          <p:nvPr/>
        </p:nvCxnSpPr>
        <p:spPr>
          <a:xfrm>
            <a:off x="5042593" y="3074666"/>
            <a:ext cx="2106815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962A4C2E-92E0-6F0C-B742-21B242CE3D43}"/>
              </a:ext>
            </a:extLst>
          </p:cNvPr>
          <p:cNvSpPr/>
          <p:nvPr/>
        </p:nvSpPr>
        <p:spPr>
          <a:xfrm>
            <a:off x="7149408" y="5018830"/>
            <a:ext cx="2160000" cy="1080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Banco de Dados</a:t>
            </a:r>
          </a:p>
        </p:txBody>
      </p:sp>
      <p:cxnSp>
        <p:nvCxnSpPr>
          <p:cNvPr id="10" name="Conector de Seta Reta 9">
            <a:extLst>
              <a:ext uri="{FF2B5EF4-FFF2-40B4-BE49-F238E27FC236}">
                <a16:creationId xmlns:a16="http://schemas.microsoft.com/office/drawing/2014/main" id="{8054B87D-C7DC-1366-134E-8074F90ABAAE}"/>
              </a:ext>
            </a:extLst>
          </p:cNvPr>
          <p:cNvCxnSpPr>
            <a:cxnSpLocks/>
          </p:cNvCxnSpPr>
          <p:nvPr/>
        </p:nvCxnSpPr>
        <p:spPr>
          <a:xfrm>
            <a:off x="8229408" y="3614666"/>
            <a:ext cx="0" cy="140416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1ED385D-4806-5D1E-5BC6-C1557DD2870D}"/>
              </a:ext>
            </a:extLst>
          </p:cNvPr>
          <p:cNvSpPr txBox="1"/>
          <p:nvPr/>
        </p:nvSpPr>
        <p:spPr>
          <a:xfrm>
            <a:off x="5519738" y="2657475"/>
            <a:ext cx="115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0A47FAD-0485-BD30-DD9D-B9CAEDFA7CE0}"/>
              </a:ext>
            </a:extLst>
          </p:cNvPr>
          <p:cNvSpPr txBox="1"/>
          <p:nvPr/>
        </p:nvSpPr>
        <p:spPr>
          <a:xfrm>
            <a:off x="6911283" y="4132082"/>
            <a:ext cx="115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API </a:t>
            </a:r>
            <a:r>
              <a:rPr lang="pt-BR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Rest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6166741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762BEB9C470D64E830EA7F9B590A6AA" ma:contentTypeVersion="7" ma:contentTypeDescription="Crie um novo documento." ma:contentTypeScope="" ma:versionID="dcebd1e3abf24839b5fb00caea22d4dc">
  <xsd:schema xmlns:xsd="http://www.w3.org/2001/XMLSchema" xmlns:xs="http://www.w3.org/2001/XMLSchema" xmlns:p="http://schemas.microsoft.com/office/2006/metadata/properties" xmlns:ns2="9d524459-36f9-409a-ba1f-de753a0e6b68" targetNamespace="http://schemas.microsoft.com/office/2006/metadata/properties" ma:root="true" ma:fieldsID="3bbe5fb22fc39e85d0fd94c1b2fbc535" ns2:_="">
    <xsd:import namespace="9d524459-36f9-409a-ba1f-de753a0e6b6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d524459-36f9-409a-ba1f-de753a0e6b6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EFEBE41-D9CE-4351-83E1-93DB5068E40B}"/>
</file>

<file path=customXml/itemProps2.xml><?xml version="1.0" encoding="utf-8"?>
<ds:datastoreItem xmlns:ds="http://schemas.openxmlformats.org/officeDocument/2006/customXml" ds:itemID="{0267C4A7-C3F1-453F-88A3-1555B692C5F1}"/>
</file>

<file path=customXml/itemProps3.xml><?xml version="1.0" encoding="utf-8"?>
<ds:datastoreItem xmlns:ds="http://schemas.openxmlformats.org/officeDocument/2006/customXml" ds:itemID="{AD85C9A9-DCBF-4998-8F1C-B4DBF63DE0C3}"/>
</file>

<file path=docProps/app.xml><?xml version="1.0" encoding="utf-8"?>
<Properties xmlns="http://schemas.openxmlformats.org/officeDocument/2006/extended-properties" xmlns:vt="http://schemas.openxmlformats.org/officeDocument/2006/docPropsVTypes">
  <TotalTime>128</TotalTime>
  <Words>1466</Words>
  <Application>Microsoft Office PowerPoint</Application>
  <PresentationFormat>Widescreen</PresentationFormat>
  <Paragraphs>200</Paragraphs>
  <Slides>22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6" baseType="lpstr">
      <vt:lpstr>Arial</vt:lpstr>
      <vt:lpstr>Calibri</vt:lpstr>
      <vt:lpstr>Times New Roman</vt:lpstr>
      <vt:lpstr>Tema do Office</vt:lpstr>
      <vt:lpstr>Visão Geral (UML)</vt:lpstr>
      <vt:lpstr>O que é UML ?</vt:lpstr>
      <vt:lpstr>Diagrama UML</vt:lpstr>
      <vt:lpstr>Problematização – Sistema de Pedidos</vt:lpstr>
      <vt:lpstr>Desafio Proposto</vt:lpstr>
      <vt:lpstr>Diagrama de Casos de Uso</vt:lpstr>
      <vt:lpstr>Exemplo Prático</vt:lpstr>
      <vt:lpstr>Exemplo Prático</vt:lpstr>
      <vt:lpstr>Diagrama de Classe</vt:lpstr>
      <vt:lpstr>Exemplo Prático</vt:lpstr>
      <vt:lpstr>Relações no Diagrama de Classes (UML)</vt:lpstr>
      <vt:lpstr>Relações no Diagrama de Classes (UML)</vt:lpstr>
      <vt:lpstr>Exemplo Prático – Relações</vt:lpstr>
      <vt:lpstr>Diagrama de Sequência</vt:lpstr>
      <vt:lpstr>Exemplo Prático</vt:lpstr>
      <vt:lpstr>Diagrama de Atividades</vt:lpstr>
      <vt:lpstr>Diagrama de Atividade x Diagrama de Sequência</vt:lpstr>
      <vt:lpstr>Exemplo Prático</vt:lpstr>
      <vt:lpstr>Diagrama de Estados</vt:lpstr>
      <vt:lpstr>Exemplo Prático</vt:lpstr>
      <vt:lpstr>Diagrama de Estados</vt:lpstr>
      <vt:lpstr>Exemplo Prático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 Geral (UML)</dc:title>
  <cp:lastModifiedBy>Pedro Miho</cp:lastModifiedBy>
  <cp:revision>17</cp:revision>
  <dcterms:modified xsi:type="dcterms:W3CDTF">2026-03-31T03:13:26Z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0x010100D762BEB9C470D64E830EA7F9B590A6AA</vt:lpwstr>
  </property>
</Properties>
</file>