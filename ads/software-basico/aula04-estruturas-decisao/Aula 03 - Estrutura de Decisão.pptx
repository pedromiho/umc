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20"/>
  </p:notesMasterIdLst>
  <p:sldIdLst>
    <p:sldId id="328" r:id="rId2"/>
    <p:sldId id="256" r:id="rId3"/>
    <p:sldId id="263" r:id="rId4"/>
    <p:sldId id="326" r:id="rId5"/>
    <p:sldId id="330" r:id="rId6"/>
    <p:sldId id="331" r:id="rId7"/>
    <p:sldId id="335" r:id="rId8"/>
    <p:sldId id="273" r:id="rId9"/>
    <p:sldId id="279" r:id="rId10"/>
    <p:sldId id="332" r:id="rId11"/>
    <p:sldId id="336" r:id="rId12"/>
    <p:sldId id="337" r:id="rId13"/>
    <p:sldId id="262" r:id="rId14"/>
    <p:sldId id="334" r:id="rId15"/>
    <p:sldId id="265" r:id="rId16"/>
    <p:sldId id="264" r:id="rId17"/>
    <p:sldId id="276" r:id="rId18"/>
    <p:sldId id="281" r:id="rId19"/>
  </p:sldIdLst>
  <p:sldSz cx="12192000" cy="6858000"/>
  <p:notesSz cx="6858000" cy="12192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Inter" panose="020B0604020202020204" charset="0"/>
      <p:regular r:id="rId25"/>
    </p:embeddedFont>
    <p:embeddedFont>
      <p:font typeface="Inter Bold" panose="020B060402020202020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534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AB89-DDCC-796D-EFEB-5EF70D4E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43768-5D0F-EB7C-21FB-7FDB47037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9879B-550B-2D6A-630B-3849C264E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BA838-3DC3-E0AC-3DC7-3F9C493CC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18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35912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B9411-69F7-EFE2-E8A8-43455A05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87DA8-D59F-5DFA-55C8-48BC1BA6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99D26-DA4B-D0AF-3054-103CA613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81AA659-8FD3-461F-8FBC-BDBF8F913D9D}" type="datetimeFigureOut">
              <a:rPr lang="pt-BR" smtClean="0"/>
              <a:pPr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6EC41-5B15-2A4A-34B9-2E8C0BCE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14FFF6-E682-D349-81F9-96FA3093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950E8CF1-C835-4717-86DC-68B0F02605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8685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2646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9068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073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3418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4140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70936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90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51565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2B143-CCC9-4972-8D1D-DA122FF8DD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Estrutura Condicionais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59B1D4-31FC-423F-93FB-9EFCB2C37D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</a:t>
            </a:r>
            <a:r>
              <a:rPr lang="pt-BR" dirty="0" err="1"/>
              <a:t>Miho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543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301" y="1427748"/>
            <a:ext cx="3539719" cy="53097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8599" y="83709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1200" spc="-72" dirty="0" err="1">
                <a:latin typeface="Inter Bold" pitchFamily="34" charset="0"/>
                <a:ea typeface="Inter Bold" pitchFamily="34" charset="-122"/>
              </a:rPr>
              <a:t>Estruturas</a:t>
            </a:r>
            <a:r>
              <a:rPr lang="en-US" sz="2800" b="1" kern="1200" spc="-72" dirty="0"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2800" b="1" kern="1200" spc="-72" dirty="0" err="1">
                <a:latin typeface="Inter Bold" pitchFamily="34" charset="0"/>
                <a:ea typeface="Inter Bold" pitchFamily="34" charset="-122"/>
              </a:rPr>
              <a:t>Decisão</a:t>
            </a:r>
            <a:endParaRPr lang="en-US" sz="2800" b="1" kern="1200" spc="-72" dirty="0"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761810" y="2045827"/>
            <a:ext cx="6296860" cy="1804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algn="just">
              <a:lnSpc>
                <a:spcPct val="133000"/>
              </a:lnSpc>
            </a:pPr>
            <a:r>
              <a:rPr lang="pt-BR" sz="2400" dirty="0"/>
              <a:t>As </a:t>
            </a:r>
            <a:r>
              <a:rPr lang="pt-BR" sz="2400" b="1" dirty="0"/>
              <a:t>estruturas de decisão em Python</a:t>
            </a:r>
            <a:r>
              <a:rPr lang="pt-BR" sz="2400" dirty="0"/>
              <a:t> permitem que o programa </a:t>
            </a:r>
            <a:r>
              <a:rPr lang="pt-BR" sz="2400" b="1" dirty="0"/>
              <a:t>tome decisões com base em condições</a:t>
            </a:r>
            <a:r>
              <a:rPr lang="pt-BR" sz="2400" dirty="0"/>
              <a:t>, seguindo diferentes caminhos durante sua execução.</a:t>
            </a:r>
          </a:p>
          <a:p>
            <a:pPr marL="0" indent="0" algn="just">
              <a:lnSpc>
                <a:spcPct val="133000"/>
              </a:lnSpc>
              <a:buNone/>
            </a:pPr>
            <a:endParaRPr lang="pt-BR" sz="1800" kern="0" spc="-3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7DB2432-6D5C-AD48-8539-8FA497F1F4C0}"/>
              </a:ext>
            </a:extLst>
          </p:cNvPr>
          <p:cNvGrpSpPr/>
          <p:nvPr/>
        </p:nvGrpSpPr>
        <p:grpSpPr>
          <a:xfrm>
            <a:off x="761810" y="4052904"/>
            <a:ext cx="6296860" cy="2106627"/>
            <a:chOff x="661475" y="3745607"/>
            <a:chExt cx="6296860" cy="1058366"/>
          </a:xfrm>
        </p:grpSpPr>
        <p:sp>
          <p:nvSpPr>
            <p:cNvPr id="5" name="Shape 2"/>
            <p:cNvSpPr/>
            <p:nvPr/>
          </p:nvSpPr>
          <p:spPr>
            <a:xfrm>
              <a:off x="661475" y="3745607"/>
              <a:ext cx="6296860" cy="1058366"/>
            </a:xfrm>
            <a:prstGeom prst="roundRect">
              <a:avLst>
                <a:gd name="adj" fmla="val 7501"/>
              </a:avLst>
            </a:prstGeom>
            <a:solidFill>
              <a:srgbClr val="DADBF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3"/>
            <p:cNvSpPr/>
            <p:nvPr/>
          </p:nvSpPr>
          <p:spPr>
            <a:xfrm>
              <a:off x="1275723" y="3808941"/>
              <a:ext cx="5493605" cy="7777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/>
            </a:bodyPr>
            <a:lstStyle/>
            <a:p>
              <a:pPr lvl="1">
                <a:lnSpc>
                  <a:spcPct val="160000"/>
                </a:lnSpc>
              </a:pPr>
              <a:r>
                <a:rPr lang="pt-BR" b="1" dirty="0"/>
                <a:t>IF </a:t>
              </a:r>
              <a:r>
                <a:rPr lang="pt-BR" dirty="0"/>
                <a:t>- Executa um bloco de código se a condição for verdadeira.</a:t>
              </a:r>
            </a:p>
            <a:p>
              <a:pPr lvl="1">
                <a:lnSpc>
                  <a:spcPct val="160000"/>
                </a:lnSpc>
              </a:pPr>
              <a:endParaRPr lang="pt-BR" dirty="0"/>
            </a:p>
            <a:p>
              <a:pPr lvl="1">
                <a:lnSpc>
                  <a:spcPct val="160000"/>
                </a:lnSpc>
              </a:pPr>
              <a:r>
                <a:rPr lang="pt-BR" b="1" dirty="0"/>
                <a:t>IF ELSE</a:t>
              </a:r>
              <a:r>
                <a:rPr lang="pt-BR" dirty="0"/>
                <a:t>: Adiciona um bloco alternativo caso a condição seja falsa.</a:t>
              </a:r>
            </a:p>
            <a:p>
              <a:pPr lvl="1">
                <a:lnSpc>
                  <a:spcPct val="160000"/>
                </a:lnSpc>
              </a:pPr>
              <a:endParaRPr lang="pt-BR" dirty="0"/>
            </a:p>
            <a:p>
              <a:pPr lvl="1">
                <a:lnSpc>
                  <a:spcPct val="160000"/>
                </a:lnSpc>
              </a:pPr>
              <a:r>
                <a:rPr lang="pt-BR" b="1" dirty="0"/>
                <a:t>IF ELIF ELSE</a:t>
              </a:r>
              <a:r>
                <a:rPr lang="pt-BR" dirty="0"/>
                <a:t>: Permite testar múltiplas condições em sequência. </a:t>
              </a:r>
            </a:p>
          </p:txBody>
        </p:sp>
      </p:grp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17" y="4269980"/>
            <a:ext cx="236234" cy="1890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Font typeface="Arial"/>
              <a:buNone/>
            </a:pPr>
            <a:r>
              <a:rPr lang="en-US" sz="2800" b="1" kern="1200" spc="-72" dirty="0" err="1">
                <a:latin typeface="Inter Bold" pitchFamily="34" charset="0"/>
                <a:ea typeface="Inter Bold" pitchFamily="34" charset="-122"/>
              </a:rPr>
              <a:t>Introdução</a:t>
            </a:r>
            <a:r>
              <a:rPr lang="en-US" sz="2800" b="1" kern="1200" spc="-72" dirty="0">
                <a:latin typeface="Inter Bold" pitchFamily="34" charset="0"/>
                <a:ea typeface="Inter Bold" pitchFamily="34" charset="-122"/>
              </a:rPr>
              <a:t> </a:t>
            </a:r>
            <a:r>
              <a:rPr lang="en-US" sz="2800" b="1" kern="1200" spc="-72" dirty="0" err="1">
                <a:latin typeface="Inter Bold" pitchFamily="34" charset="0"/>
                <a:ea typeface="Inter Bold" pitchFamily="34" charset="-122"/>
              </a:rPr>
              <a:t>ao</a:t>
            </a:r>
            <a:r>
              <a:rPr lang="en-US" sz="2800" b="1" kern="1200" spc="-72" dirty="0">
                <a:latin typeface="Inter Bold" pitchFamily="34" charset="0"/>
                <a:ea typeface="Inter Bold" pitchFamily="34" charset="-122"/>
              </a:rPr>
              <a:t> Fluxograma</a:t>
            </a:r>
          </a:p>
        </p:txBody>
      </p:sp>
      <p:sp>
        <p:nvSpPr>
          <p:cNvPr id="3" name="Text 1"/>
          <p:cNvSpPr/>
          <p:nvPr/>
        </p:nvSpPr>
        <p:spPr>
          <a:xfrm>
            <a:off x="661475" y="1855985"/>
            <a:ext cx="1072788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8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fluxograma</a:t>
            </a: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representação </a:t>
            </a:r>
            <a:r>
              <a:rPr lang="en-US" sz="18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</a:t>
            </a: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um algoritmo, usando símbolos padronizados.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367964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</a:t>
            </a:r>
            <a:r>
              <a:rPr lang="en-US" sz="1850" b="1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ício</a:t>
            </a:r>
            <a:r>
              <a:rPr lang="en-US" sz="1850" b="1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850" b="1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</a:t>
            </a:r>
            <a:r>
              <a:rPr lang="en-US" sz="1850" b="1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Fim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367964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 o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início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fim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algoritmo →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início / fim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587106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Entrada/</a:t>
            </a: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587106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entrada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saída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dados, </a:t>
            </a:r>
            <a:r>
              <a:rPr lang="en-US" sz="145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</a:rPr>
              <a:t>input()/print()</a:t>
            </a:r>
          </a:p>
        </p:txBody>
      </p:sp>
      <p:sp>
        <p:nvSpPr>
          <p:cNvPr id="14" name="Text 8"/>
          <p:cNvSpPr/>
          <p:nvPr/>
        </p:nvSpPr>
        <p:spPr>
          <a:xfrm>
            <a:off x="2367964" y="500070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Decisão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2367964" y="5409386"/>
            <a:ext cx="2851178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executar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diferentes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</a:rPr>
              <a:t>if/else</a:t>
            </a:r>
          </a:p>
        </p:txBody>
      </p:sp>
      <p:sp>
        <p:nvSpPr>
          <p:cNvPr id="17" name="Text 10"/>
          <p:cNvSpPr/>
          <p:nvPr/>
        </p:nvSpPr>
        <p:spPr>
          <a:xfrm>
            <a:off x="7587106" y="500070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Setas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7587106" y="5409386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Indicam o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execução entre os passos</a:t>
            </a:r>
            <a:endParaRPr lang="en-US" sz="1450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3B9EB9E-7B88-9CED-DE42-84412B7FAE01}"/>
              </a:ext>
            </a:extLst>
          </p:cNvPr>
          <p:cNvSpPr/>
          <p:nvPr/>
        </p:nvSpPr>
        <p:spPr>
          <a:xfrm>
            <a:off x="759125" y="2913304"/>
            <a:ext cx="1311215" cy="681545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Fluxograma: Dados 24">
            <a:extLst>
              <a:ext uri="{FF2B5EF4-FFF2-40B4-BE49-F238E27FC236}">
                <a16:creationId xmlns:a16="http://schemas.microsoft.com/office/drawing/2014/main" id="{398F8665-0C70-C522-1A02-5F67DF2EBD85}"/>
              </a:ext>
            </a:extLst>
          </p:cNvPr>
          <p:cNvSpPr/>
          <p:nvPr/>
        </p:nvSpPr>
        <p:spPr>
          <a:xfrm>
            <a:off x="5531856" y="2913303"/>
            <a:ext cx="1742536" cy="681545"/>
          </a:xfrm>
          <a:prstGeom prst="flowChartInputOutpu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03601595-800A-0371-1466-BDCE3A3A458E}"/>
              </a:ext>
            </a:extLst>
          </p:cNvPr>
          <p:cNvCxnSpPr>
            <a:cxnSpLocks/>
          </p:cNvCxnSpPr>
          <p:nvPr/>
        </p:nvCxnSpPr>
        <p:spPr>
          <a:xfrm>
            <a:off x="5932098" y="5252847"/>
            <a:ext cx="1178392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uxograma: Decisão 27">
            <a:extLst>
              <a:ext uri="{FF2B5EF4-FFF2-40B4-BE49-F238E27FC236}">
                <a16:creationId xmlns:a16="http://schemas.microsoft.com/office/drawing/2014/main" id="{5ADF2DB0-3F65-DFCD-8745-82AB4F13B97A}"/>
              </a:ext>
            </a:extLst>
          </p:cNvPr>
          <p:cNvSpPr/>
          <p:nvPr/>
        </p:nvSpPr>
        <p:spPr>
          <a:xfrm>
            <a:off x="759124" y="5000704"/>
            <a:ext cx="1311215" cy="617538"/>
          </a:xfrm>
          <a:prstGeom prst="flowChartDecision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7EDB8-7624-B7DF-1D41-E5598A97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761F26-C30A-D039-D032-16158E279FE6}"/>
              </a:ext>
            </a:extLst>
          </p:cNvPr>
          <p:cNvSpPr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Font typeface="Arial"/>
              <a:buNone/>
            </a:pPr>
            <a:r>
              <a:rPr lang="en-US" sz="2800" b="1" kern="1200" spc="-72" dirty="0" err="1">
                <a:latin typeface="Inter Bold" pitchFamily="34" charset="0"/>
                <a:ea typeface="Inter Bold" pitchFamily="34" charset="-122"/>
              </a:rPr>
              <a:t>Introdução</a:t>
            </a:r>
            <a:r>
              <a:rPr lang="en-US" sz="2800" b="1" kern="1200" spc="-72" dirty="0">
                <a:latin typeface="Inter Bold" pitchFamily="34" charset="0"/>
                <a:ea typeface="Inter Bold" pitchFamily="34" charset="-122"/>
              </a:rPr>
              <a:t> </a:t>
            </a:r>
            <a:r>
              <a:rPr lang="en-US" sz="2800" b="1" kern="1200" spc="-72" dirty="0" err="1">
                <a:latin typeface="Inter Bold" pitchFamily="34" charset="0"/>
                <a:ea typeface="Inter Bold" pitchFamily="34" charset="-122"/>
              </a:rPr>
              <a:t>ao</a:t>
            </a:r>
            <a:r>
              <a:rPr lang="en-US" sz="2800" b="1" kern="1200" spc="-72" dirty="0">
                <a:latin typeface="Inter Bold" pitchFamily="34" charset="0"/>
                <a:ea typeface="Inter Bold" pitchFamily="34" charset="-122"/>
              </a:rPr>
              <a:t> Fluxograma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1761EB-8CF5-8989-1613-C8D54EC57D59}"/>
              </a:ext>
            </a:extLst>
          </p:cNvPr>
          <p:cNvSpPr/>
          <p:nvPr/>
        </p:nvSpPr>
        <p:spPr>
          <a:xfrm>
            <a:off x="661475" y="1855985"/>
            <a:ext cx="1072788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8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fluxograma</a:t>
            </a: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representação </a:t>
            </a:r>
            <a:r>
              <a:rPr lang="en-US" sz="18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</a:t>
            </a: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um algoritmo, usando símbolos padronizados.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2F9AEE3-3A7C-AE87-F435-8C273AFBD574}"/>
              </a:ext>
            </a:extLst>
          </p:cNvPr>
          <p:cNvSpPr/>
          <p:nvPr/>
        </p:nvSpPr>
        <p:spPr>
          <a:xfrm>
            <a:off x="2367964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Desvio</a:t>
            </a:r>
            <a:r>
              <a:rPr lang="en-US" sz="1850" b="1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 (</a:t>
            </a:r>
            <a:r>
              <a:rPr lang="en-US" sz="1850" b="1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Conector</a:t>
            </a:r>
            <a:r>
              <a:rPr lang="en-US" sz="1850" b="1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)</a:t>
            </a:r>
            <a:endParaRPr lang="en-US" sz="1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F2636FC-22CC-F6F7-C981-3272057D51CF}"/>
              </a:ext>
            </a:extLst>
          </p:cNvPr>
          <p:cNvSpPr/>
          <p:nvPr/>
        </p:nvSpPr>
        <p:spPr>
          <a:xfrm>
            <a:off x="2367964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partes do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fluxograma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indicando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continua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1BBE490-C4C6-13F7-3D62-F76D18835090}"/>
              </a:ext>
            </a:extLst>
          </p:cNvPr>
          <p:cNvSpPr/>
          <p:nvPr/>
        </p:nvSpPr>
        <p:spPr>
          <a:xfrm>
            <a:off x="7587106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Processamento</a:t>
            </a:r>
            <a:endParaRPr lang="en-US" sz="18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D6F375C-D0F5-CFE0-9152-23E5F0DF28BF}"/>
              </a:ext>
            </a:extLst>
          </p:cNvPr>
          <p:cNvSpPr/>
          <p:nvPr/>
        </p:nvSpPr>
        <p:spPr>
          <a:xfrm>
            <a:off x="7587106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geral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cálculos</a:t>
            </a:r>
            <a:endParaRPr lang="en-US" sz="1450" spc="-30" dirty="0">
              <a:solidFill>
                <a:srgbClr val="272525"/>
              </a:solidFill>
              <a:highlight>
                <a:srgbClr val="F2F2F2"/>
              </a:highlight>
              <a:latin typeface="Consolas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3B93C0D-13CE-3703-616E-C8786CDCF2BA}"/>
              </a:ext>
            </a:extLst>
          </p:cNvPr>
          <p:cNvSpPr/>
          <p:nvPr/>
        </p:nvSpPr>
        <p:spPr>
          <a:xfrm>
            <a:off x="2367964" y="500070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Exibir</a:t>
            </a: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</a:t>
            </a: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</a:t>
            </a:r>
            <a:endParaRPr lang="en-US" sz="18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D912384-2BE6-70C9-76A7-ABBAF6183B50}"/>
              </a:ext>
            </a:extLst>
          </p:cNvPr>
          <p:cNvSpPr/>
          <p:nvPr/>
        </p:nvSpPr>
        <p:spPr>
          <a:xfrm>
            <a:off x="2367964" y="5409386"/>
            <a:ext cx="2851178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informações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r>
              <a:rPr lang="en-US" sz="145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spc="-30" dirty="0">
              <a:solidFill>
                <a:srgbClr val="272525"/>
              </a:solidFill>
              <a:highlight>
                <a:srgbClr val="F2F2F2"/>
              </a:highlight>
              <a:latin typeface="Consolas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49D4396-E0A7-3603-CD2C-68EF39545ED4}"/>
              </a:ext>
            </a:extLst>
          </p:cNvPr>
          <p:cNvSpPr/>
          <p:nvPr/>
        </p:nvSpPr>
        <p:spPr>
          <a:xfrm>
            <a:off x="1056789" y="2913302"/>
            <a:ext cx="715884" cy="681545"/>
          </a:xfrm>
          <a:prstGeom prst="ellipse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333A369-FA3C-B470-ED48-B0DE40032F61}"/>
              </a:ext>
            </a:extLst>
          </p:cNvPr>
          <p:cNvSpPr/>
          <p:nvPr/>
        </p:nvSpPr>
        <p:spPr>
          <a:xfrm>
            <a:off x="5932098" y="2913302"/>
            <a:ext cx="1178392" cy="611184"/>
          </a:xfrm>
          <a:prstGeom prst="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Fluxograma: Documento 9">
            <a:extLst>
              <a:ext uri="{FF2B5EF4-FFF2-40B4-BE49-F238E27FC236}">
                <a16:creationId xmlns:a16="http://schemas.microsoft.com/office/drawing/2014/main" id="{3BBF096D-4E09-569A-BFE8-2D79BE46D7F3}"/>
              </a:ext>
            </a:extLst>
          </p:cNvPr>
          <p:cNvSpPr/>
          <p:nvPr/>
        </p:nvSpPr>
        <p:spPr>
          <a:xfrm>
            <a:off x="759126" y="5009980"/>
            <a:ext cx="1311214" cy="744317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C74A996-DD1B-6047-F36C-637FEBA5BB86}"/>
              </a:ext>
            </a:extLst>
          </p:cNvPr>
          <p:cNvSpPr/>
          <p:nvPr/>
        </p:nvSpPr>
        <p:spPr>
          <a:xfrm>
            <a:off x="7587106" y="5040021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 de Dados</a:t>
            </a:r>
            <a:endParaRPr lang="en-US" sz="185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D731653-762D-03E7-81E2-56FB550F4AE0}"/>
              </a:ext>
            </a:extLst>
          </p:cNvPr>
          <p:cNvSpPr/>
          <p:nvPr/>
        </p:nvSpPr>
        <p:spPr>
          <a:xfrm>
            <a:off x="7587106" y="5448703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manual dos dados.</a:t>
            </a:r>
            <a:endParaRPr lang="en-US" sz="1450" spc="-30" dirty="0">
              <a:solidFill>
                <a:srgbClr val="272525"/>
              </a:solidFill>
              <a:highlight>
                <a:srgbClr val="F2F2F2"/>
              </a:highlight>
              <a:latin typeface="Consolas" pitchFamily="34" charset="0"/>
            </a:endParaRPr>
          </a:p>
        </p:txBody>
      </p:sp>
      <p:sp>
        <p:nvSpPr>
          <p:cNvPr id="22" name="Retângulo: Único Canto Recortado 21">
            <a:extLst>
              <a:ext uri="{FF2B5EF4-FFF2-40B4-BE49-F238E27FC236}">
                <a16:creationId xmlns:a16="http://schemas.microsoft.com/office/drawing/2014/main" id="{4E0DFE9C-755A-DBBD-1B8D-EDD57E9AF081}"/>
              </a:ext>
            </a:extLst>
          </p:cNvPr>
          <p:cNvSpPr/>
          <p:nvPr/>
        </p:nvSpPr>
        <p:spPr>
          <a:xfrm flipH="1">
            <a:off x="5932098" y="4889089"/>
            <a:ext cx="1178392" cy="744317"/>
          </a:xfrm>
          <a:prstGeom prst="snip1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772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99A99-1D86-479A-8929-E088463C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Operadores de Comparação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FA580D-7CD9-4240-A3D9-85476EBA3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08125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70000"/>
              </a:lnSpc>
              <a:spcBef>
                <a:spcPts val="0"/>
              </a:spcBef>
            </a:pPr>
            <a:r>
              <a:rPr lang="pt-BR" sz="2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Os operadores comparadores em Python são usados para comparar valores e retornar um resultado booleano, ou seja, </a:t>
            </a:r>
            <a:r>
              <a:rPr lang="pt-BR" sz="260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true</a:t>
            </a:r>
            <a:r>
              <a:rPr lang="pt-BR" sz="2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ou false. Eles são fundamentais em estruturas condicionais e loops, permitindo que o programa avalie condições e tome decisões com base nos resultados dessas comparações.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A2DA3CD-3281-4BA9-B8D4-0BA709984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881" y="3724116"/>
            <a:ext cx="9452439" cy="240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26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F3961-2C88-4516-BF23-23EFBEAA7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0203"/>
            <a:ext cx="10515600" cy="785563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Sintaxe para Estruturas 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06C2D4-52F0-4998-94E1-1F0630072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8" y="1933248"/>
            <a:ext cx="6321800" cy="54000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IF: </a:t>
            </a: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Condição Simples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82A8D0E-45F1-49A5-95FC-DFB6536D1D1D}"/>
              </a:ext>
            </a:extLst>
          </p:cNvPr>
          <p:cNvSpPr/>
          <p:nvPr/>
        </p:nvSpPr>
        <p:spPr>
          <a:xfrm>
            <a:off x="592348" y="2824975"/>
            <a:ext cx="4934293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= 18;</a:t>
            </a:r>
          </a:p>
          <a:p>
            <a:r>
              <a:rPr lang="pt-B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&gt;= 18 :</a:t>
            </a:r>
          </a:p>
          <a:p>
            <a:pPr indent="457200"/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sz="2000" dirty="0">
                <a:solidFill>
                  <a:srgbClr val="2A00FF"/>
                </a:solidFill>
                <a:latin typeface="Consolas" panose="020B0609020204030204" pitchFamily="49" charset="0"/>
              </a:rPr>
              <a:t>“Maior de idade"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C5C4690-A0C6-49E1-42AF-707A56F2D21F}"/>
              </a:ext>
            </a:extLst>
          </p:cNvPr>
          <p:cNvSpPr/>
          <p:nvPr/>
        </p:nvSpPr>
        <p:spPr>
          <a:xfrm>
            <a:off x="7811148" y="2049120"/>
            <a:ext cx="1331342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Início</a:t>
            </a:r>
          </a:p>
        </p:txBody>
      </p:sp>
      <p:sp>
        <p:nvSpPr>
          <p:cNvPr id="7" name="Retângulo: Único Canto Recortado 6">
            <a:extLst>
              <a:ext uri="{FF2B5EF4-FFF2-40B4-BE49-F238E27FC236}">
                <a16:creationId xmlns:a16="http://schemas.microsoft.com/office/drawing/2014/main" id="{A4D7FBDA-0E8F-44E6-87FF-CFA36295F5EF}"/>
              </a:ext>
            </a:extLst>
          </p:cNvPr>
          <p:cNvSpPr/>
          <p:nvPr/>
        </p:nvSpPr>
        <p:spPr>
          <a:xfrm flipH="1">
            <a:off x="7887623" y="2910498"/>
            <a:ext cx="1178392" cy="540000"/>
          </a:xfrm>
          <a:prstGeom prst="snip1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idade</a:t>
            </a:r>
          </a:p>
        </p:txBody>
      </p:sp>
      <p:sp>
        <p:nvSpPr>
          <p:cNvPr id="11" name="Fluxograma: Documento 10">
            <a:extLst>
              <a:ext uri="{FF2B5EF4-FFF2-40B4-BE49-F238E27FC236}">
                <a16:creationId xmlns:a16="http://schemas.microsoft.com/office/drawing/2014/main" id="{5D88192D-7F4F-9F0F-FF30-59D041FEE003}"/>
              </a:ext>
            </a:extLst>
          </p:cNvPr>
          <p:cNvSpPr/>
          <p:nvPr/>
        </p:nvSpPr>
        <p:spPr>
          <a:xfrm>
            <a:off x="5499583" y="4814118"/>
            <a:ext cx="1575048" cy="540000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“Maior de idade”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AB4D758-9EA1-F1C1-93F4-03B81FC4AAE0}"/>
              </a:ext>
            </a:extLst>
          </p:cNvPr>
          <p:cNvSpPr/>
          <p:nvPr/>
        </p:nvSpPr>
        <p:spPr>
          <a:xfrm>
            <a:off x="7809593" y="6012553"/>
            <a:ext cx="1331342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Fim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DB56C7AF-3F04-22B1-47C2-2FEE745011FC}"/>
              </a:ext>
            </a:extLst>
          </p:cNvPr>
          <p:cNvCxnSpPr>
            <a:cxnSpLocks/>
          </p:cNvCxnSpPr>
          <p:nvPr/>
        </p:nvCxnSpPr>
        <p:spPr>
          <a:xfrm>
            <a:off x="8476819" y="2589120"/>
            <a:ext cx="0" cy="32137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B5AFAB9-3D6A-1FA4-6648-F947A263D5B9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8475265" y="3426820"/>
            <a:ext cx="1107" cy="38367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uxograma: Decisão 26">
            <a:extLst>
              <a:ext uri="{FF2B5EF4-FFF2-40B4-BE49-F238E27FC236}">
                <a16:creationId xmlns:a16="http://schemas.microsoft.com/office/drawing/2014/main" id="{9CB7F8E5-C20F-E432-8366-9DA179BE121A}"/>
              </a:ext>
            </a:extLst>
          </p:cNvPr>
          <p:cNvSpPr/>
          <p:nvPr/>
        </p:nvSpPr>
        <p:spPr>
          <a:xfrm>
            <a:off x="7253076" y="3810498"/>
            <a:ext cx="2444377" cy="1003620"/>
          </a:xfrm>
          <a:prstGeom prst="flowChartDecision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idade &gt;= 18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C661CC46-42D1-57FB-F51F-D5717D642F29}"/>
              </a:ext>
            </a:extLst>
          </p:cNvPr>
          <p:cNvSpPr/>
          <p:nvPr/>
        </p:nvSpPr>
        <p:spPr>
          <a:xfrm>
            <a:off x="8295264" y="5395015"/>
            <a:ext cx="360000" cy="360000"/>
          </a:xfrm>
          <a:prstGeom prst="ellipse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63354764-4581-EE27-1674-3D8644ACE0E2}"/>
              </a:ext>
            </a:extLst>
          </p:cNvPr>
          <p:cNvCxnSpPr>
            <a:cxnSpLocks/>
            <a:stCxn id="27" idx="1"/>
            <a:endCxn id="11" idx="0"/>
          </p:cNvCxnSpPr>
          <p:nvPr/>
        </p:nvCxnSpPr>
        <p:spPr>
          <a:xfrm rot="10800000" flipV="1">
            <a:off x="6287108" y="4312308"/>
            <a:ext cx="965969" cy="501810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FD458FF2-AB6F-4F23-F144-8B87FF3B84E1}"/>
              </a:ext>
            </a:extLst>
          </p:cNvPr>
          <p:cNvCxnSpPr>
            <a:cxnSpLocks/>
            <a:stCxn id="11" idx="2"/>
            <a:endCxn id="30" idx="2"/>
          </p:cNvCxnSpPr>
          <p:nvPr/>
        </p:nvCxnSpPr>
        <p:spPr>
          <a:xfrm rot="16200000" flipH="1">
            <a:off x="7162887" y="4442637"/>
            <a:ext cx="256597" cy="2008157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DFCA87C7-E2C5-9AB9-5A86-071FED286710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 flipH="1">
            <a:off x="8475264" y="4814118"/>
            <a:ext cx="1" cy="580897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8A7028FD-DB72-B188-BA6C-CC71716E580C}"/>
              </a:ext>
            </a:extLst>
          </p:cNvPr>
          <p:cNvCxnSpPr>
            <a:cxnSpLocks/>
          </p:cNvCxnSpPr>
          <p:nvPr/>
        </p:nvCxnSpPr>
        <p:spPr>
          <a:xfrm>
            <a:off x="8475264" y="5755015"/>
            <a:ext cx="0" cy="25753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3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D6D80-1731-C173-0140-43DDFE93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6979D-7FCE-88E1-30F0-FBFD4E88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010" y="802794"/>
            <a:ext cx="10515600" cy="643321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Sintaxe para Estruturas Condicionais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EBD5FFC-F177-7F0B-C366-57604264CED5}"/>
              </a:ext>
            </a:extLst>
          </p:cNvPr>
          <p:cNvSpPr/>
          <p:nvPr/>
        </p:nvSpPr>
        <p:spPr>
          <a:xfrm>
            <a:off x="592347" y="3183872"/>
            <a:ext cx="5437199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= 18</a:t>
            </a:r>
          </a:p>
          <a:p>
            <a:r>
              <a:rPr lang="pt-B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&gt;= 18 :</a:t>
            </a:r>
          </a:p>
          <a:p>
            <a:pPr indent="457200"/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sz="2000" dirty="0">
                <a:solidFill>
                  <a:srgbClr val="2A00FF"/>
                </a:solidFill>
                <a:latin typeface="Consolas" panose="020B0609020204030204" pitchFamily="49" charset="0"/>
              </a:rPr>
              <a:t>"Maior de idade"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sz="2000" dirty="0">
                <a:solidFill>
                  <a:srgbClr val="2A00FF"/>
                </a:solidFill>
                <a:latin typeface="Consolas" panose="020B0609020204030204" pitchFamily="49" charset="0"/>
              </a:rPr>
              <a:t>"Menor de idade"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D0BCD3FD-7B6D-E1F4-62B3-EE77C64A39C7}"/>
              </a:ext>
            </a:extLst>
          </p:cNvPr>
          <p:cNvSpPr txBox="1">
            <a:spLocks/>
          </p:cNvSpPr>
          <p:nvPr/>
        </p:nvSpPr>
        <p:spPr>
          <a:xfrm>
            <a:off x="592347" y="1883653"/>
            <a:ext cx="5905443" cy="92717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IF ELSE: </a:t>
            </a: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Condição Alternativa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28EC919-339F-FF16-8ED8-B52B5C62B48A}"/>
              </a:ext>
            </a:extLst>
          </p:cNvPr>
          <p:cNvSpPr/>
          <p:nvPr/>
        </p:nvSpPr>
        <p:spPr>
          <a:xfrm>
            <a:off x="8186527" y="1690688"/>
            <a:ext cx="1331342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Início</a:t>
            </a:r>
          </a:p>
        </p:txBody>
      </p:sp>
      <p:sp>
        <p:nvSpPr>
          <p:cNvPr id="33" name="Retângulo: Único Canto Recortado 32">
            <a:extLst>
              <a:ext uri="{FF2B5EF4-FFF2-40B4-BE49-F238E27FC236}">
                <a16:creationId xmlns:a16="http://schemas.microsoft.com/office/drawing/2014/main" id="{A6DAECDB-8410-56D7-13E7-5327204C01BB}"/>
              </a:ext>
            </a:extLst>
          </p:cNvPr>
          <p:cNvSpPr/>
          <p:nvPr/>
        </p:nvSpPr>
        <p:spPr>
          <a:xfrm flipH="1">
            <a:off x="8263002" y="2552066"/>
            <a:ext cx="1178392" cy="540000"/>
          </a:xfrm>
          <a:prstGeom prst="snip1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idade</a:t>
            </a:r>
          </a:p>
        </p:txBody>
      </p:sp>
      <p:sp>
        <p:nvSpPr>
          <p:cNvPr id="34" name="Fluxograma: Documento 33">
            <a:extLst>
              <a:ext uri="{FF2B5EF4-FFF2-40B4-BE49-F238E27FC236}">
                <a16:creationId xmlns:a16="http://schemas.microsoft.com/office/drawing/2014/main" id="{590493DE-90F0-D5B0-0BC4-3AC89494D2B2}"/>
              </a:ext>
            </a:extLst>
          </p:cNvPr>
          <p:cNvSpPr/>
          <p:nvPr/>
        </p:nvSpPr>
        <p:spPr>
          <a:xfrm>
            <a:off x="5897551" y="4700743"/>
            <a:ext cx="2076716" cy="540000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“Maior de idade”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2383DD97-1EB4-CD6B-B354-30B404F7FEC1}"/>
              </a:ext>
            </a:extLst>
          </p:cNvPr>
          <p:cNvSpPr/>
          <p:nvPr/>
        </p:nvSpPr>
        <p:spPr>
          <a:xfrm>
            <a:off x="8186527" y="6012553"/>
            <a:ext cx="1331342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Fim</a:t>
            </a:r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1B338D6F-3613-4388-7E67-89104F9102B4}"/>
              </a:ext>
            </a:extLst>
          </p:cNvPr>
          <p:cNvCxnSpPr>
            <a:cxnSpLocks/>
          </p:cNvCxnSpPr>
          <p:nvPr/>
        </p:nvCxnSpPr>
        <p:spPr>
          <a:xfrm>
            <a:off x="8852198" y="2230688"/>
            <a:ext cx="0" cy="32137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0EC821D5-8E27-DEEE-1070-C79BEEC012D8}"/>
              </a:ext>
            </a:extLst>
          </p:cNvPr>
          <p:cNvCxnSpPr>
            <a:cxnSpLocks/>
          </p:cNvCxnSpPr>
          <p:nvPr/>
        </p:nvCxnSpPr>
        <p:spPr>
          <a:xfrm>
            <a:off x="8851751" y="3068388"/>
            <a:ext cx="894" cy="396925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uxograma: Decisão 37">
            <a:extLst>
              <a:ext uri="{FF2B5EF4-FFF2-40B4-BE49-F238E27FC236}">
                <a16:creationId xmlns:a16="http://schemas.microsoft.com/office/drawing/2014/main" id="{491ADE72-5EB6-3540-CCE3-14DD4890ABB6}"/>
              </a:ext>
            </a:extLst>
          </p:cNvPr>
          <p:cNvSpPr/>
          <p:nvPr/>
        </p:nvSpPr>
        <p:spPr>
          <a:xfrm>
            <a:off x="7630010" y="3465313"/>
            <a:ext cx="2444377" cy="1003620"/>
          </a:xfrm>
          <a:prstGeom prst="flowChartDecision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idade &gt;= 18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166E019E-065D-85D0-03DC-CCACEB59D9C0}"/>
              </a:ext>
            </a:extLst>
          </p:cNvPr>
          <p:cNvSpPr/>
          <p:nvPr/>
        </p:nvSpPr>
        <p:spPr>
          <a:xfrm>
            <a:off x="8672198" y="5395015"/>
            <a:ext cx="360000" cy="360000"/>
          </a:xfrm>
          <a:prstGeom prst="ellipse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DA78C6A9-224B-112B-EEBC-B994E7193202}"/>
              </a:ext>
            </a:extLst>
          </p:cNvPr>
          <p:cNvCxnSpPr>
            <a:cxnSpLocks/>
            <a:stCxn id="38" idx="1"/>
            <a:endCxn id="34" idx="0"/>
          </p:cNvCxnSpPr>
          <p:nvPr/>
        </p:nvCxnSpPr>
        <p:spPr>
          <a:xfrm rot="10800000" flipV="1">
            <a:off x="6935910" y="3967123"/>
            <a:ext cx="694101" cy="733620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B8289C66-763F-A499-0BA6-BCEECB718844}"/>
              </a:ext>
            </a:extLst>
          </p:cNvPr>
          <p:cNvCxnSpPr>
            <a:cxnSpLocks/>
            <a:stCxn id="34" idx="2"/>
            <a:endCxn id="39" idx="2"/>
          </p:cNvCxnSpPr>
          <p:nvPr/>
        </p:nvCxnSpPr>
        <p:spPr>
          <a:xfrm rot="16200000" flipH="1">
            <a:off x="7619067" y="4521884"/>
            <a:ext cx="369972" cy="1736289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FA2CB73F-58CA-986A-345D-E1B326069784}"/>
              </a:ext>
            </a:extLst>
          </p:cNvPr>
          <p:cNvCxnSpPr>
            <a:cxnSpLocks/>
          </p:cNvCxnSpPr>
          <p:nvPr/>
        </p:nvCxnSpPr>
        <p:spPr>
          <a:xfrm>
            <a:off x="8852198" y="5755015"/>
            <a:ext cx="0" cy="25753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uxograma: Documento 49">
            <a:extLst>
              <a:ext uri="{FF2B5EF4-FFF2-40B4-BE49-F238E27FC236}">
                <a16:creationId xmlns:a16="http://schemas.microsoft.com/office/drawing/2014/main" id="{243371AC-DA76-5D07-9A4A-553C1F566BE5}"/>
              </a:ext>
            </a:extLst>
          </p:cNvPr>
          <p:cNvSpPr/>
          <p:nvPr/>
        </p:nvSpPr>
        <p:spPr>
          <a:xfrm>
            <a:off x="9730130" y="4700743"/>
            <a:ext cx="2076716" cy="540000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“Menor de idade”</a:t>
            </a:r>
          </a:p>
        </p:txBody>
      </p:sp>
      <p:cxnSp>
        <p:nvCxnSpPr>
          <p:cNvPr id="63" name="Conector: Angulado 62">
            <a:extLst>
              <a:ext uri="{FF2B5EF4-FFF2-40B4-BE49-F238E27FC236}">
                <a16:creationId xmlns:a16="http://schemas.microsoft.com/office/drawing/2014/main" id="{401D0255-237B-9080-D96C-612B3C2D1DE8}"/>
              </a:ext>
            </a:extLst>
          </p:cNvPr>
          <p:cNvCxnSpPr>
            <a:stCxn id="38" idx="3"/>
            <a:endCxn id="50" idx="0"/>
          </p:cNvCxnSpPr>
          <p:nvPr/>
        </p:nvCxnSpPr>
        <p:spPr>
          <a:xfrm>
            <a:off x="10074387" y="3967123"/>
            <a:ext cx="694101" cy="733620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7B286466-5C8A-8F90-3CD5-05A31DC88E8B}"/>
              </a:ext>
            </a:extLst>
          </p:cNvPr>
          <p:cNvCxnSpPr>
            <a:stCxn id="50" idx="2"/>
            <a:endCxn id="39" idx="6"/>
          </p:cNvCxnSpPr>
          <p:nvPr/>
        </p:nvCxnSpPr>
        <p:spPr>
          <a:xfrm rot="5400000">
            <a:off x="9715357" y="4521884"/>
            <a:ext cx="369972" cy="1736290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921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2102610"/>
            <a:ext cx="11007306" cy="2092401"/>
          </a:xfrm>
        </p:spPr>
        <p:txBody>
          <a:bodyPr>
            <a:normAutofit/>
          </a:bodyPr>
          <a:lstStyle/>
          <a:p>
            <a:r>
              <a:rPr lang="pt-BR" sz="235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1 — Verificação de idade</a:t>
            </a: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Crie um programa para verificação de idade, o programa deve seguir deve: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Solicite a idade do usuário.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Verifique se a idade é maior ou igual a 18.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Caso seja, exiba "Você é maior de idade</a:t>
            </a:r>
            <a:r>
              <a:rPr lang="pt-BR" sz="1400" dirty="0"/>
              <a:t>".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4323152"/>
            <a:ext cx="11007306" cy="176132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35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2: Calculadora de Multa por Excesso de Velocidade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Crie um programa que calcule o valor da multa a ser paga caso um motorista ultrapasse o limite de velocidade. O limite de velocidade será de 90 km/h e o usuário deve inserir a velocidade do veículo. Para cada quilômetro por hora acima do limite, será cobrado R$ 10,00.</a:t>
            </a:r>
          </a:p>
        </p:txBody>
      </p:sp>
    </p:spTree>
    <p:extLst>
      <p:ext uri="{BB962C8B-B14F-4D97-AF65-F5344CB8AC3E}">
        <p14:creationId xmlns:p14="http://schemas.microsoft.com/office/powerpoint/2010/main" val="2878841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2102610"/>
            <a:ext cx="11007306" cy="4390265"/>
          </a:xfrm>
        </p:spPr>
        <p:txBody>
          <a:bodyPr>
            <a:normAutofit/>
          </a:bodyPr>
          <a:lstStyle/>
          <a:p>
            <a:r>
              <a:rPr lang="pt-BR" sz="20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3: Sistema de pagamento</a:t>
            </a:r>
          </a:p>
          <a:p>
            <a:pPr marL="457200" lvl="1" indent="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Crie um fluxograma para um sistema de pagamento de uma loja, o sistema deve receber, o valor da compra e a forma de pagamento. O cliente poderá escolher entre:</a:t>
            </a:r>
          </a:p>
          <a:p>
            <a:pPr lvl="2" algn="just">
              <a:lnSpc>
                <a:spcPct val="170000"/>
              </a:lnSpc>
              <a:spcBef>
                <a:spcPts val="0"/>
              </a:spcBef>
            </a:pPr>
            <a:r>
              <a:rPr lang="pt-BR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PIX → recebe 5% de desconto;</a:t>
            </a:r>
          </a:p>
          <a:p>
            <a:pPr lvl="2" algn="just">
              <a:lnSpc>
                <a:spcPct val="170000"/>
              </a:lnSpc>
              <a:spcBef>
                <a:spcPts val="0"/>
              </a:spcBef>
            </a:pPr>
            <a:r>
              <a:rPr lang="pt-BR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Débito → não recebe desconto.</a:t>
            </a:r>
          </a:p>
          <a:p>
            <a:pPr marL="457200" lvl="1" indent="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Ao final, o sistema deve apresentar, o valor final da compra</a:t>
            </a:r>
            <a:r>
              <a:rPr lang="pt-B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592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F3961-2C88-4516-BF23-23EFBEAA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Sintaxe para Estruturas 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06C2D4-52F0-4998-94E1-1F0630072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933249"/>
            <a:ext cx="6302683" cy="5400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IF – ELIF – ELSE </a:t>
            </a:r>
            <a:r>
              <a:rPr lang="pt-BR" sz="2000" b="1" dirty="0"/>
              <a:t>- </a:t>
            </a: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Múltiplas Condições</a:t>
            </a:r>
            <a:endParaRPr lang="pt-BR" sz="2000" kern="0" spc="-3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ED583DF-E78D-46CC-A6CA-0F03B92FA8AE}"/>
              </a:ext>
            </a:extLst>
          </p:cNvPr>
          <p:cNvSpPr/>
          <p:nvPr/>
        </p:nvSpPr>
        <p:spPr>
          <a:xfrm>
            <a:off x="749280" y="2912126"/>
            <a:ext cx="346018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nota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85;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nota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&gt;= 70 :</a:t>
            </a:r>
          </a:p>
          <a:p>
            <a:pPr indent="457200">
              <a:spcBef>
                <a:spcPts val="200"/>
              </a:spcBef>
              <a:spcAft>
                <a:spcPts val="200"/>
              </a:spcAft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"APROVADO"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nota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&gt;= 50 :</a:t>
            </a:r>
          </a:p>
          <a:p>
            <a:pPr indent="457200">
              <a:spcBef>
                <a:spcPts val="200"/>
              </a:spcBef>
              <a:spcAft>
                <a:spcPts val="200"/>
              </a:spcAft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"RECUPERÃÇÃO"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latin typeface="Consolas" panose="020B0609020204030204" pitchFamily="49" charset="0"/>
              </a:rPr>
              <a:t>: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457200">
              <a:spcBef>
                <a:spcPts val="200"/>
              </a:spcBef>
              <a:spcAft>
                <a:spcPts val="200"/>
              </a:spcAft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"REPROVADO"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02D5335-8AC5-B41C-C021-A76EF86B984D}"/>
              </a:ext>
            </a:extLst>
          </p:cNvPr>
          <p:cNvSpPr/>
          <p:nvPr/>
        </p:nvSpPr>
        <p:spPr>
          <a:xfrm>
            <a:off x="6832175" y="1317756"/>
            <a:ext cx="1331342" cy="36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Início</a:t>
            </a:r>
          </a:p>
        </p:txBody>
      </p:sp>
      <p:sp>
        <p:nvSpPr>
          <p:cNvPr id="23" name="Retângulo: Único Canto Recortado 22">
            <a:extLst>
              <a:ext uri="{FF2B5EF4-FFF2-40B4-BE49-F238E27FC236}">
                <a16:creationId xmlns:a16="http://schemas.microsoft.com/office/drawing/2014/main" id="{983C5E67-9916-A7AA-34D5-8182101CA0A5}"/>
              </a:ext>
            </a:extLst>
          </p:cNvPr>
          <p:cNvSpPr/>
          <p:nvPr/>
        </p:nvSpPr>
        <p:spPr>
          <a:xfrm flipH="1">
            <a:off x="6922717" y="2006173"/>
            <a:ext cx="1178392" cy="360000"/>
          </a:xfrm>
          <a:prstGeom prst="snip1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nota</a:t>
            </a:r>
          </a:p>
        </p:txBody>
      </p:sp>
      <p:sp>
        <p:nvSpPr>
          <p:cNvPr id="24" name="Fluxograma: Documento 23">
            <a:extLst>
              <a:ext uri="{FF2B5EF4-FFF2-40B4-BE49-F238E27FC236}">
                <a16:creationId xmlns:a16="http://schemas.microsoft.com/office/drawing/2014/main" id="{AD99001B-EAA8-2B78-14FF-2E99738D08AE}"/>
              </a:ext>
            </a:extLst>
          </p:cNvPr>
          <p:cNvSpPr/>
          <p:nvPr/>
        </p:nvSpPr>
        <p:spPr>
          <a:xfrm>
            <a:off x="4864072" y="4379196"/>
            <a:ext cx="1445699" cy="540000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tx1"/>
                </a:solidFill>
              </a:rPr>
              <a:t>“APROVADO”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E4F0605-B3F5-9551-55F3-76970A8FADA7}"/>
              </a:ext>
            </a:extLst>
          </p:cNvPr>
          <p:cNvSpPr/>
          <p:nvPr/>
        </p:nvSpPr>
        <p:spPr>
          <a:xfrm>
            <a:off x="6846242" y="6222875"/>
            <a:ext cx="1331342" cy="36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Fim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1B34A789-55D6-C275-64E9-71E20EFD12EC}"/>
              </a:ext>
            </a:extLst>
          </p:cNvPr>
          <p:cNvCxnSpPr>
            <a:cxnSpLocks/>
            <a:stCxn id="22" idx="2"/>
            <a:endCxn id="23" idx="3"/>
          </p:cNvCxnSpPr>
          <p:nvPr/>
        </p:nvCxnSpPr>
        <p:spPr>
          <a:xfrm>
            <a:off x="7497846" y="1677756"/>
            <a:ext cx="14067" cy="328417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462694B5-5FBC-9D2D-DE11-4BFA6A750576}"/>
              </a:ext>
            </a:extLst>
          </p:cNvPr>
          <p:cNvCxnSpPr>
            <a:cxnSpLocks/>
            <a:stCxn id="23" idx="1"/>
            <a:endCxn id="28" idx="0"/>
          </p:cNvCxnSpPr>
          <p:nvPr/>
        </p:nvCxnSpPr>
        <p:spPr>
          <a:xfrm>
            <a:off x="7511913" y="2366173"/>
            <a:ext cx="1" cy="308769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uxograma: Decisão 27">
            <a:extLst>
              <a:ext uri="{FF2B5EF4-FFF2-40B4-BE49-F238E27FC236}">
                <a16:creationId xmlns:a16="http://schemas.microsoft.com/office/drawing/2014/main" id="{2CFC8A32-45B2-5FB7-9A06-F722EF9E6254}"/>
              </a:ext>
            </a:extLst>
          </p:cNvPr>
          <p:cNvSpPr/>
          <p:nvPr/>
        </p:nvSpPr>
        <p:spPr>
          <a:xfrm>
            <a:off x="6289725" y="2674942"/>
            <a:ext cx="2444377" cy="720000"/>
          </a:xfrm>
          <a:prstGeom prst="flowChartDecision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nota &gt;= 70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D725EF1A-5A74-CE47-0237-15E2BB49147E}"/>
              </a:ext>
            </a:extLst>
          </p:cNvPr>
          <p:cNvSpPr/>
          <p:nvPr/>
        </p:nvSpPr>
        <p:spPr>
          <a:xfrm>
            <a:off x="7331913" y="5554106"/>
            <a:ext cx="360000" cy="360000"/>
          </a:xfrm>
          <a:prstGeom prst="ellipse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id="{84622387-4991-32B1-ED2F-EBD07FC25FDE}"/>
              </a:ext>
            </a:extLst>
          </p:cNvPr>
          <p:cNvCxnSpPr>
            <a:cxnSpLocks/>
            <a:stCxn id="28" idx="1"/>
            <a:endCxn id="24" idx="0"/>
          </p:cNvCxnSpPr>
          <p:nvPr/>
        </p:nvCxnSpPr>
        <p:spPr>
          <a:xfrm rot="10800000" flipV="1">
            <a:off x="5586923" y="3034942"/>
            <a:ext cx="702803" cy="1344254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do 30">
            <a:extLst>
              <a:ext uri="{FF2B5EF4-FFF2-40B4-BE49-F238E27FC236}">
                <a16:creationId xmlns:a16="http://schemas.microsoft.com/office/drawing/2014/main" id="{86CB4241-821E-341E-E066-739C96C7A570}"/>
              </a:ext>
            </a:extLst>
          </p:cNvPr>
          <p:cNvCxnSpPr>
            <a:cxnSpLocks/>
            <a:stCxn id="24" idx="2"/>
            <a:endCxn id="29" idx="2"/>
          </p:cNvCxnSpPr>
          <p:nvPr/>
        </p:nvCxnSpPr>
        <p:spPr>
          <a:xfrm rot="16200000" flipH="1">
            <a:off x="6034112" y="4436305"/>
            <a:ext cx="850610" cy="1744991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3C1F6B0B-1EA9-86BF-3194-74103CE1CFE7}"/>
              </a:ext>
            </a:extLst>
          </p:cNvPr>
          <p:cNvCxnSpPr>
            <a:cxnSpLocks/>
          </p:cNvCxnSpPr>
          <p:nvPr/>
        </p:nvCxnSpPr>
        <p:spPr>
          <a:xfrm>
            <a:off x="7511913" y="5965337"/>
            <a:ext cx="0" cy="25753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FCB3A90A-BC19-43FD-52F0-D5C3287A1324}"/>
              </a:ext>
            </a:extLst>
          </p:cNvPr>
          <p:cNvCxnSpPr>
            <a:cxnSpLocks/>
            <a:stCxn id="28" idx="3"/>
            <a:endCxn id="42" idx="0"/>
          </p:cNvCxnSpPr>
          <p:nvPr/>
        </p:nvCxnSpPr>
        <p:spPr>
          <a:xfrm>
            <a:off x="8734102" y="3034942"/>
            <a:ext cx="665671" cy="568853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luxograma: Decisão 41">
            <a:extLst>
              <a:ext uri="{FF2B5EF4-FFF2-40B4-BE49-F238E27FC236}">
                <a16:creationId xmlns:a16="http://schemas.microsoft.com/office/drawing/2014/main" id="{93692CA8-9D35-05C9-6839-77081A913C92}"/>
              </a:ext>
            </a:extLst>
          </p:cNvPr>
          <p:cNvSpPr/>
          <p:nvPr/>
        </p:nvSpPr>
        <p:spPr>
          <a:xfrm>
            <a:off x="8177584" y="3603795"/>
            <a:ext cx="2444377" cy="720000"/>
          </a:xfrm>
          <a:prstGeom prst="flowChartDecision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nota &gt;= 50</a:t>
            </a:r>
          </a:p>
        </p:txBody>
      </p:sp>
      <p:sp>
        <p:nvSpPr>
          <p:cNvPr id="55" name="Fluxograma: Documento 54">
            <a:extLst>
              <a:ext uri="{FF2B5EF4-FFF2-40B4-BE49-F238E27FC236}">
                <a16:creationId xmlns:a16="http://schemas.microsoft.com/office/drawing/2014/main" id="{ADD80191-E35C-71C8-A92E-04AF4A35E17B}"/>
              </a:ext>
            </a:extLst>
          </p:cNvPr>
          <p:cNvSpPr/>
          <p:nvPr/>
        </p:nvSpPr>
        <p:spPr>
          <a:xfrm>
            <a:off x="6832176" y="4379196"/>
            <a:ext cx="1886688" cy="540000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tx1"/>
                </a:solidFill>
              </a:rPr>
              <a:t>“RECUPERAÇÃO”</a:t>
            </a:r>
          </a:p>
        </p:txBody>
      </p:sp>
      <p:sp>
        <p:nvSpPr>
          <p:cNvPr id="56" name="Fluxograma: Documento 55">
            <a:extLst>
              <a:ext uri="{FF2B5EF4-FFF2-40B4-BE49-F238E27FC236}">
                <a16:creationId xmlns:a16="http://schemas.microsoft.com/office/drawing/2014/main" id="{309285CB-9BC2-B421-BD0E-9C795DE02C67}"/>
              </a:ext>
            </a:extLst>
          </p:cNvPr>
          <p:cNvSpPr/>
          <p:nvPr/>
        </p:nvSpPr>
        <p:spPr>
          <a:xfrm>
            <a:off x="10145688" y="4379196"/>
            <a:ext cx="1623081" cy="540000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tx1"/>
                </a:solidFill>
              </a:rPr>
              <a:t>“REPROVADO”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1D6D9D46-AEC4-0C08-6198-DB9D1CDF7779}"/>
              </a:ext>
            </a:extLst>
          </p:cNvPr>
          <p:cNvSpPr/>
          <p:nvPr/>
        </p:nvSpPr>
        <p:spPr>
          <a:xfrm>
            <a:off x="9219773" y="4994298"/>
            <a:ext cx="360000" cy="360000"/>
          </a:xfrm>
          <a:prstGeom prst="ellipse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7" name="Conector: Angulado 76">
            <a:extLst>
              <a:ext uri="{FF2B5EF4-FFF2-40B4-BE49-F238E27FC236}">
                <a16:creationId xmlns:a16="http://schemas.microsoft.com/office/drawing/2014/main" id="{A1551DF2-3BD7-1BD4-931A-E933A57B3787}"/>
              </a:ext>
            </a:extLst>
          </p:cNvPr>
          <p:cNvCxnSpPr>
            <a:cxnSpLocks/>
            <a:stCxn id="42" idx="1"/>
            <a:endCxn id="55" idx="0"/>
          </p:cNvCxnSpPr>
          <p:nvPr/>
        </p:nvCxnSpPr>
        <p:spPr>
          <a:xfrm rot="10800000" flipV="1">
            <a:off x="7775520" y="3963794"/>
            <a:ext cx="402064" cy="415401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: Angulado 78">
            <a:extLst>
              <a:ext uri="{FF2B5EF4-FFF2-40B4-BE49-F238E27FC236}">
                <a16:creationId xmlns:a16="http://schemas.microsoft.com/office/drawing/2014/main" id="{57A11547-3D24-C8BE-7499-C807AD648381}"/>
              </a:ext>
            </a:extLst>
          </p:cNvPr>
          <p:cNvCxnSpPr>
            <a:cxnSpLocks/>
            <a:stCxn id="42" idx="3"/>
            <a:endCxn id="56" idx="0"/>
          </p:cNvCxnSpPr>
          <p:nvPr/>
        </p:nvCxnSpPr>
        <p:spPr>
          <a:xfrm>
            <a:off x="10621961" y="3963795"/>
            <a:ext cx="335268" cy="415401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: Angulado 82">
            <a:extLst>
              <a:ext uri="{FF2B5EF4-FFF2-40B4-BE49-F238E27FC236}">
                <a16:creationId xmlns:a16="http://schemas.microsoft.com/office/drawing/2014/main" id="{AB10155D-E8B3-4601-E235-3426553E23B7}"/>
              </a:ext>
            </a:extLst>
          </p:cNvPr>
          <p:cNvCxnSpPr>
            <a:cxnSpLocks/>
            <a:stCxn id="55" idx="2"/>
            <a:endCxn id="57" idx="2"/>
          </p:cNvCxnSpPr>
          <p:nvPr/>
        </p:nvCxnSpPr>
        <p:spPr>
          <a:xfrm rot="16200000" flipH="1">
            <a:off x="8352245" y="4306770"/>
            <a:ext cx="290802" cy="1444253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: Angulado 86">
            <a:extLst>
              <a:ext uri="{FF2B5EF4-FFF2-40B4-BE49-F238E27FC236}">
                <a16:creationId xmlns:a16="http://schemas.microsoft.com/office/drawing/2014/main" id="{581A8983-8B68-B606-8DC8-393A8195459A}"/>
              </a:ext>
            </a:extLst>
          </p:cNvPr>
          <p:cNvCxnSpPr>
            <a:cxnSpLocks/>
            <a:stCxn id="56" idx="2"/>
            <a:endCxn id="57" idx="6"/>
          </p:cNvCxnSpPr>
          <p:nvPr/>
        </p:nvCxnSpPr>
        <p:spPr>
          <a:xfrm rot="5400000">
            <a:off x="10123100" y="4340169"/>
            <a:ext cx="290802" cy="1377456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: Angulado 88">
            <a:extLst>
              <a:ext uri="{FF2B5EF4-FFF2-40B4-BE49-F238E27FC236}">
                <a16:creationId xmlns:a16="http://schemas.microsoft.com/office/drawing/2014/main" id="{F449B98F-5FF7-F00F-8785-E00179AEE647}"/>
              </a:ext>
            </a:extLst>
          </p:cNvPr>
          <p:cNvCxnSpPr>
            <a:stCxn id="57" idx="4"/>
            <a:endCxn id="29" idx="6"/>
          </p:cNvCxnSpPr>
          <p:nvPr/>
        </p:nvCxnSpPr>
        <p:spPr>
          <a:xfrm rot="5400000">
            <a:off x="8355939" y="4690272"/>
            <a:ext cx="379808" cy="1707860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744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AAA3D-A6AD-CD16-49AB-47BBDA59B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41CA9-15C4-1022-4AE5-A760C63D6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11B034-C37D-13A5-FFA3-D74A7FCE9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2102610"/>
            <a:ext cx="11007306" cy="3078990"/>
          </a:xfrm>
        </p:spPr>
        <p:txBody>
          <a:bodyPr>
            <a:normAutofit fontScale="92500" lnSpcReduction="10000"/>
          </a:bodyPr>
          <a:lstStyle/>
          <a:p>
            <a:r>
              <a:rPr lang="pt-BR" sz="235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1: Sistema de Notas</a:t>
            </a: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Crie um programa que leia a nota de um aluno e mostre uma mensagem: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Nota abaixo de 5: "Reprovado - precisa melhorar muito".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Nota entre 5 e 6.9: "Recuperação - dedicação é necessária".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Nota entre 7 e 8.9: "Aprovado - desempenho satisfatório".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Nota 9 ou mais: "Aprovado com Distinção - excelente!".</a:t>
            </a: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Não utilizar operadores lógicos.</a:t>
            </a:r>
          </a:p>
        </p:txBody>
      </p:sp>
    </p:spTree>
    <p:extLst>
      <p:ext uri="{BB962C8B-B14F-4D97-AF65-F5344CB8AC3E}">
        <p14:creationId xmlns:p14="http://schemas.microsoft.com/office/powerpoint/2010/main" val="3499105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A2FDF-8D06-F1A0-A288-0ACA2026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CB692-6DDB-C221-7DA6-A7FA2B303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4A76E1-5EC3-AFB5-1E72-CC5629EB4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47" y="1690178"/>
            <a:ext cx="11007306" cy="4557270"/>
          </a:xfrm>
        </p:spPr>
        <p:txBody>
          <a:bodyPr>
            <a:normAutofit/>
          </a:bodyPr>
          <a:lstStyle/>
          <a:p>
            <a:pPr algn="just"/>
            <a:r>
              <a:rPr lang="pt-BR" sz="24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2 - Sistema de Pagamento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Crie um programa que leia o valor da compra e a forma de pagamento escolhida pelo cliente.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O programa deverá aplicar as seguintes regras:</a:t>
            </a:r>
          </a:p>
          <a:p>
            <a:pPr marL="914400" lvl="1" indent="-457200" algn="just">
              <a:lnSpc>
                <a:spcPct val="160000"/>
              </a:lnSpc>
              <a:spcBef>
                <a:spcPts val="0"/>
              </a:spcBef>
            </a:pPr>
            <a:r>
              <a:rPr lang="pt-BR" sz="12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PIX: desconto de 5% sobre o valor da compra.</a:t>
            </a:r>
          </a:p>
          <a:p>
            <a:pPr marL="914400" lvl="1" indent="-457200" algn="just">
              <a:lnSpc>
                <a:spcPct val="160000"/>
              </a:lnSpc>
              <a:spcBef>
                <a:spcPts val="0"/>
              </a:spcBef>
            </a:pPr>
            <a:r>
              <a:rPr lang="pt-BR" sz="12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Débito: pagamento com 2% de desconto sobre o valor da compra.</a:t>
            </a:r>
          </a:p>
          <a:p>
            <a:pPr marL="914400" lvl="1" indent="-457200" algn="just">
              <a:lnSpc>
                <a:spcPct val="160000"/>
              </a:lnSpc>
              <a:spcBef>
                <a:spcPts val="0"/>
              </a:spcBef>
            </a:pPr>
            <a:r>
              <a:rPr lang="pt-BR" sz="12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Crédito à vista: pagamento sem juros e sem desconto.</a:t>
            </a:r>
          </a:p>
          <a:p>
            <a:pPr marL="914400" lvl="1" indent="-457200" algn="just">
              <a:lnSpc>
                <a:spcPct val="160000"/>
              </a:lnSpc>
              <a:spcBef>
                <a:spcPts val="0"/>
              </a:spcBef>
            </a:pPr>
            <a:r>
              <a:rPr lang="pt-BR" sz="12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Crédito em 2x: acréscimo de 5% sobre o valor total.</a:t>
            </a:r>
          </a:p>
          <a:p>
            <a:pPr marL="914400" lvl="1" indent="-457200" algn="just">
              <a:lnSpc>
                <a:spcPct val="160000"/>
              </a:lnSpc>
              <a:spcBef>
                <a:spcPts val="0"/>
              </a:spcBef>
            </a:pPr>
            <a:r>
              <a:rPr lang="pt-BR" sz="12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Crédito em 3x: acréscimo de 10% sobre o valor total</a:t>
            </a: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Ao final, o programa deverá informar: Forma de pagamento, valor original da compra, valor final da compra, valor de cada parcela, quando houver parcelamento.</a:t>
            </a:r>
          </a:p>
        </p:txBody>
      </p:sp>
    </p:spTree>
    <p:extLst>
      <p:ext uri="{BB962C8B-B14F-4D97-AF65-F5344CB8AC3E}">
        <p14:creationId xmlns:p14="http://schemas.microsoft.com/office/powerpoint/2010/main" val="2498848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1E043-4C92-4D62-950A-F01B3360C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Operadores Lógicos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690899-5B40-4E17-858C-4AA051FE0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03325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Os operadores lógicos em Java combinam ou modificam valores booleanos (</a:t>
            </a:r>
            <a:r>
              <a:rPr lang="pt-BR" sz="180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true</a:t>
            </a: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ou false), sendo usados em estruturas condicionais para criar condições mais complexas e dinâmicas.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D58FCB2-4337-466A-8CB3-8FA8B2893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82" y="3589682"/>
            <a:ext cx="10169236" cy="155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64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6060F-B0DD-4B13-9DC1-AF2BD1461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Sintaxe Operador AND (&amp;&amp;)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CF36DA-2A3C-4D6D-B62D-22EB9ED15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934037"/>
          </a:xfrm>
        </p:spPr>
        <p:txBody>
          <a:bodyPr>
            <a:normAutofit fontScale="85000"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O operador AND retorna verdadeiro apenas quando todas as condições comparadas são verdadeiras. Caso qualquer uma das condições seja falsa, o resultado final será falso. É útil para validar múltiplos critérios ao mesmo tempo.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DE67FDF-E9A0-4270-B98F-6D4E1575E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593" y="3707408"/>
            <a:ext cx="5087060" cy="207674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5B11D12-13D9-4236-BE54-A96BBADF0514}"/>
              </a:ext>
            </a:extLst>
          </p:cNvPr>
          <p:cNvSpPr/>
          <p:nvPr/>
        </p:nvSpPr>
        <p:spPr>
          <a:xfrm>
            <a:off x="720683" y="3429000"/>
            <a:ext cx="55036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11;</a:t>
            </a:r>
          </a:p>
          <a:p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2;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and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"Verdadeiro"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"Falso"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EAB4DBD-FD9A-4D71-83BB-FA7773EFF1E8}"/>
              </a:ext>
            </a:extLst>
          </p:cNvPr>
          <p:cNvSpPr txBox="1"/>
          <p:nvPr/>
        </p:nvSpPr>
        <p:spPr>
          <a:xfrm>
            <a:off x="8243529" y="3198825"/>
            <a:ext cx="162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 Verdade</a:t>
            </a:r>
          </a:p>
        </p:txBody>
      </p:sp>
    </p:spTree>
    <p:extLst>
      <p:ext uri="{BB962C8B-B14F-4D97-AF65-F5344CB8AC3E}">
        <p14:creationId xmlns:p14="http://schemas.microsoft.com/office/powerpoint/2010/main" val="475841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6060F-B0DD-4B13-9DC1-AF2BD1461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Sintaxe Operador OR (||)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CF36DA-2A3C-4D6D-B62D-22EB9ED15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4956"/>
          </a:xfrm>
          <a:solidFill>
            <a:schemeClr val="bg1"/>
          </a:solidFill>
        </p:spPr>
        <p:txBody>
          <a:bodyPr/>
          <a:lstStyle/>
          <a:p>
            <a:pPr marL="0" indent="0"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O operador OR retorna verdadeiro quando pelo menos uma condição comparada é verdadeira. Ele permite a criação de condições mais flexíveis, onde basta que uma expressão seja atendida.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CD374B9-8503-4B74-A806-B0FDDE7FB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961" y="3710561"/>
            <a:ext cx="5134692" cy="208626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BF4167B-5123-4287-B3B3-515AF3E85256}"/>
              </a:ext>
            </a:extLst>
          </p:cNvPr>
          <p:cNvSpPr/>
          <p:nvPr/>
        </p:nvSpPr>
        <p:spPr>
          <a:xfrm>
            <a:off x="712663" y="3275673"/>
            <a:ext cx="495619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11</a:t>
            </a:r>
          </a:p>
          <a:p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2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or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"Verdadeiro"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"Falso"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35D13E-748B-4A29-86B7-DE0525FC45D0}"/>
              </a:ext>
            </a:extLst>
          </p:cNvPr>
          <p:cNvSpPr txBox="1"/>
          <p:nvPr/>
        </p:nvSpPr>
        <p:spPr>
          <a:xfrm>
            <a:off x="8243529" y="3198825"/>
            <a:ext cx="162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 Verdade</a:t>
            </a:r>
          </a:p>
        </p:txBody>
      </p:sp>
    </p:spTree>
    <p:extLst>
      <p:ext uri="{BB962C8B-B14F-4D97-AF65-F5344CB8AC3E}">
        <p14:creationId xmlns:p14="http://schemas.microsoft.com/office/powerpoint/2010/main" val="3682200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6060F-B0DD-4B13-9DC1-AF2BD1461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Sintaxe Operador NOT (!)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CF36DA-2A3C-4D6D-B62D-22EB9ED15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471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O operador NOT inverte o valor lógico de uma expressão. Ou seja, transforma verdadeiro em falso, e falso em verdadeiro. Ele é útil para criar condições contrárias ao que seria avaliado diretamente.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60AF54F-AE17-4E50-9B5E-670C9C4FF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036" y="4187854"/>
            <a:ext cx="3458058" cy="1276528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173A86E-815E-4C5F-AFC2-7527C0EF8930}"/>
              </a:ext>
            </a:extLst>
          </p:cNvPr>
          <p:cNvSpPr/>
          <p:nvPr/>
        </p:nvSpPr>
        <p:spPr>
          <a:xfrm>
            <a:off x="592347" y="3533457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11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not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"Verdadeiro"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"Falso"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EA15FE-0A0B-4785-B934-334EB011765E}"/>
              </a:ext>
            </a:extLst>
          </p:cNvPr>
          <p:cNvSpPr txBox="1"/>
          <p:nvPr/>
        </p:nvSpPr>
        <p:spPr>
          <a:xfrm>
            <a:off x="8445471" y="3533457"/>
            <a:ext cx="162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 Verdade</a:t>
            </a:r>
          </a:p>
        </p:txBody>
      </p:sp>
    </p:spTree>
    <p:extLst>
      <p:ext uri="{BB962C8B-B14F-4D97-AF65-F5344CB8AC3E}">
        <p14:creationId xmlns:p14="http://schemas.microsoft.com/office/powerpoint/2010/main" val="1901101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99071"/>
            <a:ext cx="11007306" cy="228239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pt-BR" sz="34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1: Verificação de Triângulo Válido</a:t>
            </a: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23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Escreva um programa que receba três números representando os lados de um triângulo. O programa deve verificar se os valores fornecidos formam um triângulo válido, utilizando a condição de existência: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23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A + B &gt; C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23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A + C &gt; B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23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B + C &gt; A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B76A109F-AA0C-4307-BCEA-359CF7F2A428}"/>
              </a:ext>
            </a:extLst>
          </p:cNvPr>
          <p:cNvSpPr txBox="1">
            <a:spLocks/>
          </p:cNvSpPr>
          <p:nvPr/>
        </p:nvSpPr>
        <p:spPr>
          <a:xfrm>
            <a:off x="592347" y="4220008"/>
            <a:ext cx="11007306" cy="228239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2: Classificação de Triângulos (Aproveite o Desafio 01)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Crie um programa que receba três números, que você já sabe serem lados de um triângulo válido. O programa deve classificar o triângulo nos seguintes tipos:</a:t>
            </a:r>
          </a:p>
          <a:p>
            <a:pPr lvl="2">
              <a:spcBef>
                <a:spcPts val="0"/>
              </a:spcBef>
            </a:pPr>
            <a:r>
              <a:rPr lang="pt-BR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Equilátero: Todos os lados iguais.</a:t>
            </a:r>
          </a:p>
          <a:p>
            <a:pPr lvl="2">
              <a:spcBef>
                <a:spcPts val="0"/>
              </a:spcBef>
            </a:pPr>
            <a:r>
              <a:rPr lang="pt-BR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Isósceles: Dois lados iguais.</a:t>
            </a:r>
          </a:p>
          <a:p>
            <a:pPr lvl="2">
              <a:spcBef>
                <a:spcPts val="0"/>
              </a:spcBef>
            </a:pPr>
            <a:r>
              <a:rPr lang="pt-BR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Escaleno: Todos os lados diferentes.</a:t>
            </a:r>
            <a:endParaRPr lang="pt-BR" sz="1800" kern="0" spc="-3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4090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6263"/>
            <a:ext cx="11007306" cy="196835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pt-BR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3: Calculadora de Seguro de Automóveis</a:t>
            </a: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21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Peça ao usuário sua idade, sexo e anos de experiência como motorista. Calcule o valor do seguro: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21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Para homens com menos de 25 anos e menos de 2 anos de experiência: R$ 2000.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21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Para mulheres com menos de 25 anos e menos de 2 anos de experiência: R$ 1800.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21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Para motoristas com mais de 25 anos ou mais de 2 anos de experiência: R$ 1200.</a:t>
            </a:r>
          </a:p>
        </p:txBody>
      </p:sp>
    </p:spTree>
    <p:extLst>
      <p:ext uri="{BB962C8B-B14F-4D97-AF65-F5344CB8AC3E}">
        <p14:creationId xmlns:p14="http://schemas.microsoft.com/office/powerpoint/2010/main" val="7788492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2" id="{F00C9D64-B4F3-4CB8-9DF2-59685944CDDB}" vid="{148A88D6-2EA5-4E01-8808-5075C10EAE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Tema2</Template>
  <TotalTime>470</TotalTime>
  <Words>1205</Words>
  <Application>Microsoft Office PowerPoint</Application>
  <PresentationFormat>Widescreen</PresentationFormat>
  <Paragraphs>157</Paragraphs>
  <Slides>18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Inter</vt:lpstr>
      <vt:lpstr>Calibri</vt:lpstr>
      <vt:lpstr>Arial</vt:lpstr>
      <vt:lpstr>Inter Bold</vt:lpstr>
      <vt:lpstr>Times New Roman</vt:lpstr>
      <vt:lpstr>Consolas</vt:lpstr>
      <vt:lpstr>Tema2</vt:lpstr>
      <vt:lpstr>Estrutura Condicionais</vt:lpstr>
      <vt:lpstr>Apresentação do PowerPoint</vt:lpstr>
      <vt:lpstr>Apresentação do PowerPoint</vt:lpstr>
      <vt:lpstr>Apresentação do PowerPoint</vt:lpstr>
      <vt:lpstr>Operadores de Comparação</vt:lpstr>
      <vt:lpstr>Sintaxe para Estruturas Condicionais</vt:lpstr>
      <vt:lpstr>Sintaxe para Estruturas Condicionais</vt:lpstr>
      <vt:lpstr>Desafios</vt:lpstr>
      <vt:lpstr>Desafios</vt:lpstr>
      <vt:lpstr>Sintaxe para Estruturas Condicionais</vt:lpstr>
      <vt:lpstr>Desafios</vt:lpstr>
      <vt:lpstr>Desafios</vt:lpstr>
      <vt:lpstr>Operadores Lógicos</vt:lpstr>
      <vt:lpstr>Sintaxe Operador AND (&amp;&amp;)</vt:lpstr>
      <vt:lpstr>Sintaxe Operador OR (||)</vt:lpstr>
      <vt:lpstr>Sintaxe Operador NOT (!)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Lógica de Programação: Pensando como um Programador</dc:title>
  <dc:subject/>
  <dc:creator/>
  <cp:lastModifiedBy>Pedro Miho</cp:lastModifiedBy>
  <cp:revision>15</cp:revision>
  <dcterms:created xsi:type="dcterms:W3CDTF">2026-08-24T01:16:08Z</dcterms:created>
  <dcterms:modified xsi:type="dcterms:W3CDTF">2026-09-22T00:40:17Z</dcterms:modified>
</cp:coreProperties>
</file>