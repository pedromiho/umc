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61" r:id="rId1"/>
  </p:sldMasterIdLst>
  <p:notesMasterIdLst>
    <p:notesMasterId r:id="rId9"/>
  </p:notesMasterIdLst>
  <p:sldIdLst>
    <p:sldId id="256" r:id="rId2"/>
    <p:sldId id="269" r:id="rId3"/>
    <p:sldId id="270" r:id="rId4"/>
    <p:sldId id="271" r:id="rId5"/>
    <p:sldId id="272" r:id="rId6"/>
    <p:sldId id="273" r:id="rId7"/>
    <p:sldId id="264" r:id="rId8"/>
  </p:sldIdLst>
  <p:sldSz cx="12192000" cy="6858000"/>
  <p:notesSz cx="6858000" cy="12192000"/>
  <p:embeddedFontLst>
    <p:embeddedFont>
      <p:font typeface="Calibri" panose="020F0502020204030204" pitchFamily="34" charset="0"/>
      <p:regular r:id="rId10"/>
      <p:bold r:id="rId11"/>
      <p:italic r:id="rId12"/>
      <p:boldItalic r:id="rId13"/>
    </p:embeddedFont>
    <p:embeddedFont>
      <p:font typeface="Calibri Light" panose="020F0302020204030204" pitchFamily="34" charset="0"/>
      <p:regular r:id="rId14"/>
      <p:italic r:id="rId15"/>
    </p:embeddedFont>
    <p:embeddedFont>
      <p:font typeface="Consolas" panose="020B0609020204030204" pitchFamily="49" charset="0"/>
      <p:regular r:id="rId16"/>
      <p:bold r:id="rId17"/>
      <p:italic r:id="rId18"/>
      <p:boldItalic r:id="rId19"/>
    </p:embeddedFont>
    <p:embeddedFont>
      <p:font typeface="Inter" panose="020B0604020202020204" charset="0"/>
      <p:regular r:id="rId20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4307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00" d="100"/>
          <a:sy n="100" d="100"/>
        </p:scale>
        <p:origin x="954" y="3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font" Target="fonts/font9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font" Target="fonts/font1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openxmlformats.org/officeDocument/2006/relationships/theme" Target="theme/theme1.xml"/><Relationship Id="rId10" Type="http://schemas.openxmlformats.org/officeDocument/2006/relationships/font" Target="fonts/font1.fntdata"/><Relationship Id="rId19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25345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D9F73EA-414C-4929-B3E7-AD122EFFBF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52931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37FCEED-3F66-43BC-8B20-36021361A3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260550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73413653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5DFB8E-AD99-4A2B-8BE2-ED878F912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BA61F7-989E-45C9-916D-42CE0B17B3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4351338"/>
          </a:xfrm>
          <a:prstGeom prst="rect">
            <a:avLst/>
          </a:prstGeom>
        </p:spPr>
        <p:txBody>
          <a:bodyPr/>
          <a:lstStyle>
            <a:lvl1pPr marL="0" indent="0" algn="just">
              <a:lnSpc>
                <a:spcPct val="150000"/>
              </a:lnSpc>
              <a:buNone/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lnSpc>
                <a:spcPct val="150000"/>
              </a:lnSpc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lnSpc>
                <a:spcPct val="150000"/>
              </a:lnSpc>
              <a:defRPr sz="1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lnSpc>
                <a:spcPct val="150000"/>
              </a:lnSpc>
              <a:defRPr sz="12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lnSpc>
                <a:spcPct val="150000"/>
              </a:lnSpc>
              <a:defRPr sz="1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5774503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440976-951F-48E1-9F65-E2E7237C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3F09C38-83BA-4379-9DE9-B52DAEE2D6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801F2F7-E203-4170-8B06-E39E4EF61B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E2FDAB5-81C4-491B-B1DB-3E7A63996A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F87684E-F6A9-4B10-B6C6-98901C57A4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62416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537CFC-895E-42D9-B850-249E3AA64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6E2EF1D-1141-40D7-BDED-690939FB81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8ECF165-5788-48F8-B64E-CAD147B1C6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21A5A9C-1616-4A2F-9897-2AA0D6A7B0E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19E4B8E-0EE6-4C64-9500-F64ED0B84D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FE3A651-93A6-476E-86D8-9380EB0792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8483942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8013D5-4B61-49F1-B604-8019D708D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207A11-9E53-4968-BFBB-FBA312D24C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E141C8A-81E9-4FD8-AF20-F5BD9DA313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CB1C8E84-38D3-49F5-9A51-7C0AF548D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95D1BB-221B-469A-A06C-FD406B207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EAA33C3-5B87-4019-8743-8F9C2F98300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0BDA0B8-E9EF-4477-9209-5DEC09732C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FBCF0E10-CAD6-4E43-98B3-1AFB88B68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00000000-1234-1234-1234-123412341234}" type="slidenum">
              <a:rPr lang="pt-BR" smtClean="0"/>
              <a:pPr/>
              <a:t>‹nº›</a:t>
            </a:fld>
            <a:endParaRPr lang="pt-BR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20612960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F29988-C070-4222-8D96-E36CF17E19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420D39C8-444E-4546-80F5-D0180A75AF9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1C134A4-BE1B-4962-9516-659CD4519D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1CE7749A-36AE-46D1-BE46-BE0E2F45B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4753780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E43BC826-C9FB-472E-956F-F80F0568AE2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E154652-AECB-47CC-A9CD-8426C4D1AC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7E24980-9E3E-413B-9621-9DCBCC5F4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271340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69EF455-B40C-43F1-B648-F6F57DD2C9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570ACE-9666-4656-BDDD-596392FA70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FF34EE3-79AE-487D-B73B-1A408180A0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E5AF76A-9469-4EBF-8DAC-F6889FD7546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B4ED122-B6B8-4D0E-98A8-D12057984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4136D5D-BD69-4CD2-A354-F8289DAAC6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2292614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687CECA-FA2C-4E5F-A052-5D5CBF0F75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20F7117-B346-47D7-9DBC-5BBD02B232B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FDB8822-F4D3-4DE6-B130-D7308F116C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370F3C1-6276-4A5F-B650-8B2E8FB0633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142CF32-D9DD-42DF-9B63-B3207D85DB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2A81DD0-CB02-442E-A173-AFA500CC71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460484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9DB2585-BC56-4839-AEEF-1B75486F23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28134"/>
            <a:ext cx="9392728" cy="491707"/>
          </a:xfrm>
          <a:prstGeom prst="rect">
            <a:avLst/>
          </a:prstGeom>
        </p:spPr>
        <p:txBody>
          <a:bodyPr/>
          <a:lstStyle>
            <a:lvl1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pt-BR"/>
              <a:t>Clique para editar o título Mestre</a:t>
            </a:r>
            <a:endParaRPr lang="pt-BR" dirty="0"/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9D1A810-2C5E-49EA-AAFC-FDC1AA5F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05287" y="1825624"/>
            <a:ext cx="10981426" cy="4618307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752253435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EDB59BB-5636-42CF-B124-FAF3D7953F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3875309-BF17-4BAA-9583-FFA5CD625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54D6C19-C741-47D2-A6CB-2906DBB982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CDD55C27-F8C6-4481-8569-CAC50CAE9F1F}" type="datetimeFigureOut">
              <a:rPr lang="pt-BR" smtClean="0"/>
              <a:t>28/09/2026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AC129DE-944E-4128-9F49-76B5C1F4F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20892AE-B301-431E-9D8C-F0BDAF576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4BD41EC5-C773-4CDF-9E39-1AADF374E50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27818410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56E30110-E419-43DB-AEFA-3636065754B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0" y="6762736"/>
            <a:ext cx="12192000" cy="95264"/>
          </a:xfrm>
          <a:prstGeom prst="rect">
            <a:avLst/>
          </a:prstGeom>
          <a:solidFill>
            <a:schemeClr val="bg1"/>
          </a:solidFill>
          <a:ln>
            <a:solidFill>
              <a:srgbClr val="292A86"/>
            </a:solidFill>
          </a:ln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AAA702B-ED3B-45E1-8C71-1ACC187886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82422" y="635357"/>
            <a:ext cx="122428" cy="888712"/>
          </a:xfrm>
          <a:prstGeom prst="rect">
            <a:avLst/>
          </a:prstGeom>
          <a:solidFill>
            <a:srgbClr val="292A86"/>
          </a:solidFill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49B168A8-B937-4519-802D-8D1D90A0A0EA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283716" y="719713"/>
            <a:ext cx="1273846" cy="7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0375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Estruturas de Repetição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Prof. Esp. Pedro Miho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490BE3-A3A7-4174-91CD-0CFCBB399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Estruturas de Repetição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FCC88B-C3C4-4E0F-8359-0052C0AE12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Repetir uma tarefa sem escrever o mesmo comando várias vezes.</a:t>
            </a:r>
          </a:p>
          <a:p>
            <a:endParaRPr lang="pt-BR" dirty="0"/>
          </a:p>
          <a:p>
            <a:r>
              <a:rPr lang="pt-BR" b="1" dirty="0"/>
              <a:t>Exemplo:</a:t>
            </a:r>
            <a:r>
              <a:rPr lang="pt-BR" dirty="0"/>
              <a:t> mostrar a tabuada do 3, de 1 a 10. A cada volta, multiplicamos 3 pelo próximo número e exibimos o resultado.</a:t>
            </a:r>
          </a:p>
          <a:p>
            <a:endParaRPr lang="pt-BR" dirty="0"/>
          </a:p>
          <a:p>
            <a:r>
              <a:rPr lang="pt-BR" dirty="0"/>
              <a:t>Chamamos cada volta de </a:t>
            </a:r>
            <a:r>
              <a:rPr lang="pt-BR" b="1" dirty="0"/>
              <a:t>iteração</a:t>
            </a:r>
            <a:r>
              <a:rPr lang="pt-BR" dirty="0"/>
              <a:t>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1495252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794ABC7-1B36-460D-82A2-88C1140D80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ficaria esse código sem o uso do For</a:t>
            </a:r>
          </a:p>
        </p:txBody>
      </p:sp>
      <p:sp>
        <p:nvSpPr>
          <p:cNvPr id="4" name="Retângulo 3">
            <a:extLst>
              <a:ext uri="{FF2B5EF4-FFF2-40B4-BE49-F238E27FC236}">
                <a16:creationId xmlns:a16="http://schemas.microsoft.com/office/drawing/2014/main" id="{E0201081-D766-4530-B953-482803FAB91C}"/>
              </a:ext>
            </a:extLst>
          </p:cNvPr>
          <p:cNvSpPr/>
          <p:nvPr/>
        </p:nvSpPr>
        <p:spPr>
          <a:xfrm>
            <a:off x="6808578" y="2443762"/>
            <a:ext cx="4791075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numero =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endParaRPr lang="it-I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b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</a:b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1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2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2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3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3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4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4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5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5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6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6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7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7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8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8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9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9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</a:p>
          <a:p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print(numero, </a:t>
            </a:r>
            <a:r>
              <a:rPr lang="it-IT" dirty="0">
                <a:solidFill>
                  <a:srgbClr val="A31515"/>
                </a:solidFill>
                <a:latin typeface="Consolas" panose="020B0609020204030204" pitchFamily="49" charset="0"/>
              </a:rPr>
              <a:t>"x 10 ="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, numero * </a:t>
            </a:r>
            <a:r>
              <a:rPr lang="it-IT" dirty="0">
                <a:solidFill>
                  <a:srgbClr val="098658"/>
                </a:solidFill>
                <a:latin typeface="Consolas" panose="020B0609020204030204" pitchFamily="49" charset="0"/>
              </a:rPr>
              <a:t>10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it-IT" b="0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5" name="Espaço Reservado para Conteúdo 2">
            <a:extLst>
              <a:ext uri="{FF2B5EF4-FFF2-40B4-BE49-F238E27FC236}">
                <a16:creationId xmlns:a16="http://schemas.microsoft.com/office/drawing/2014/main" id="{AC175680-5E0F-4B4E-8540-92260D09F8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9022" y="2114550"/>
            <a:ext cx="5751303" cy="4074745"/>
          </a:xfrm>
        </p:spPr>
        <p:txBody>
          <a:bodyPr/>
          <a:lstStyle/>
          <a:p>
            <a:r>
              <a:rPr lang="pt-BR" b="1" dirty="0"/>
              <a:t>Qual é o problema de repetir o código?</a:t>
            </a:r>
            <a:endParaRPr lang="pt-BR" dirty="0"/>
          </a:p>
          <a:p>
            <a:r>
              <a:rPr lang="pt-BR" dirty="0"/>
              <a:t>Para mostrar uma tabuada sem usar uma estrutura de repetição, precisamos escrever dez comandos quase iguais. Se quisermos mudar a forma de exibir o resultado, teremos que alterar todos eles. Isso aumenta o trabalho e a chance de esquecer uma linha ou cometer um erro. </a:t>
            </a:r>
          </a:p>
        </p:txBody>
      </p:sp>
    </p:spTree>
    <p:extLst>
      <p:ext uri="{BB962C8B-B14F-4D97-AF65-F5344CB8AC3E}">
        <p14:creationId xmlns:p14="http://schemas.microsoft.com/office/powerpoint/2010/main" val="10583655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8EE0C7-17B0-46E7-BE9E-BA62C373F9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185" y="854420"/>
            <a:ext cx="9409981" cy="448573"/>
          </a:xfrm>
        </p:spPr>
        <p:txBody>
          <a:bodyPr/>
          <a:lstStyle/>
          <a:p>
            <a:r>
              <a:rPr lang="pt-BR" dirty="0"/>
              <a:t>Repetição no fluxograma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FF5791-509A-4FF1-9991-B3FB19FF9E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6151353" cy="4351338"/>
          </a:xfrm>
        </p:spPr>
        <p:txBody>
          <a:bodyPr/>
          <a:lstStyle/>
          <a:p>
            <a:r>
              <a:rPr lang="pt-BR" dirty="0"/>
              <a:t>A seta que volta representa uma nova verificação da condição.</a:t>
            </a:r>
          </a:p>
          <a:p>
            <a:pPr>
              <a:spcBef>
                <a:spcPts val="0"/>
              </a:spcBef>
            </a:pPr>
            <a:r>
              <a:rPr lang="pt-BR" dirty="0"/>
              <a:t>Leia o fluxo:</a:t>
            </a:r>
          </a:p>
          <a:p>
            <a:pPr marL="457200" lvl="1" indent="0">
              <a:buNone/>
            </a:pPr>
            <a:r>
              <a:rPr lang="pt-BR" dirty="0"/>
              <a:t>1. Inicialize o contador.</a:t>
            </a:r>
          </a:p>
          <a:p>
            <a:pPr marL="457200" lvl="1" indent="0">
              <a:buNone/>
            </a:pPr>
            <a:r>
              <a:rPr lang="pt-BR" dirty="0"/>
              <a:t>2. Teste a condição.</a:t>
            </a:r>
          </a:p>
          <a:p>
            <a:pPr marL="457200" lvl="1" indent="0">
              <a:buNone/>
            </a:pPr>
            <a:r>
              <a:rPr lang="pt-BR" dirty="0"/>
              <a:t>3. Execute e atualize.</a:t>
            </a:r>
          </a:p>
          <a:p>
            <a:pPr marL="457200" lvl="1" indent="0">
              <a:buNone/>
            </a:pPr>
            <a:r>
              <a:rPr lang="pt-BR" dirty="0"/>
              <a:t>4. Volte ao teste.</a:t>
            </a:r>
          </a:p>
          <a:p>
            <a:endParaRPr lang="pt-BR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6896749-A9EC-4AA5-8816-E0BA95E35E35}"/>
              </a:ext>
            </a:extLst>
          </p:cNvPr>
          <p:cNvSpPr/>
          <p:nvPr/>
        </p:nvSpPr>
        <p:spPr>
          <a:xfrm>
            <a:off x="8703945" y="1751049"/>
            <a:ext cx="1828800" cy="438912"/>
          </a:xfrm>
          <a:prstGeom prst="roundRect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sz="14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/>
              </a:rPr>
              <a:t>Início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/>
            </a:endParaRPr>
          </a:p>
        </p:txBody>
      </p:sp>
      <p:sp>
        <p:nvSpPr>
          <p:cNvPr id="6" name="Diamond 5">
            <a:extLst>
              <a:ext uri="{FF2B5EF4-FFF2-40B4-BE49-F238E27FC236}">
                <a16:creationId xmlns:a16="http://schemas.microsoft.com/office/drawing/2014/main" id="{FC4B6D89-38AC-4DE4-97B9-FC9BDF8A1ACA}"/>
              </a:ext>
            </a:extLst>
          </p:cNvPr>
          <p:cNvSpPr/>
          <p:nvPr/>
        </p:nvSpPr>
        <p:spPr>
          <a:xfrm>
            <a:off x="8594217" y="3344291"/>
            <a:ext cx="2048256" cy="868680"/>
          </a:xfrm>
          <a:prstGeom prst="diamond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&lt;= 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58FF3F7-12B9-46C9-907E-9392C0736AFC}"/>
              </a:ext>
            </a:extLst>
          </p:cNvPr>
          <p:cNvSpPr/>
          <p:nvPr/>
        </p:nvSpPr>
        <p:spPr>
          <a:xfrm>
            <a:off x="10159166" y="5971414"/>
            <a:ext cx="1828800" cy="438912"/>
          </a:xfrm>
          <a:prstGeom prst="roundRect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sz="140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Fim</a:t>
            </a:r>
          </a:p>
        </p:txBody>
      </p:sp>
      <p:cxnSp>
        <p:nvCxnSpPr>
          <p:cNvPr id="9" name="Connector 8">
            <a:extLst>
              <a:ext uri="{FF2B5EF4-FFF2-40B4-BE49-F238E27FC236}">
                <a16:creationId xmlns:a16="http://schemas.microsoft.com/office/drawing/2014/main" id="{24B3A2DE-F429-4CF0-9839-0F61CC9BF4C1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9618345" y="2189961"/>
            <a:ext cx="0" cy="358802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>
            <a:extLst>
              <a:ext uri="{FF2B5EF4-FFF2-40B4-BE49-F238E27FC236}">
                <a16:creationId xmlns:a16="http://schemas.microsoft.com/office/drawing/2014/main" id="{D8BCBBC1-BA73-40AB-A0E2-FF5B9F9C9A5A}"/>
              </a:ext>
            </a:extLst>
          </p:cNvPr>
          <p:cNvCxnSpPr/>
          <p:nvPr/>
        </p:nvCxnSpPr>
        <p:spPr>
          <a:xfrm>
            <a:off x="9618345" y="3051683"/>
            <a:ext cx="0" cy="292608"/>
          </a:xfrm>
          <a:prstGeom prst="line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2BD47414-ADBA-458F-B37E-AD3BD3F9D44E}"/>
              </a:ext>
            </a:extLst>
          </p:cNvPr>
          <p:cNvSpPr txBox="1"/>
          <p:nvPr/>
        </p:nvSpPr>
        <p:spPr>
          <a:xfrm>
            <a:off x="8601838" y="4106520"/>
            <a:ext cx="513588" cy="26776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74B5"/>
                </a:solidFill>
                <a:latin typeface="Inter"/>
              </a:defRPr>
            </a:pPr>
            <a:r>
              <a:rPr lang="pt-BR" dirty="0" err="1">
                <a:solidFill>
                  <a:srgbClr val="043073"/>
                </a:solidFill>
              </a:rPr>
              <a:t>True</a:t>
            </a:r>
            <a:endParaRPr dirty="0">
              <a:solidFill>
                <a:srgbClr val="043073"/>
              </a:solidFill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45924B9-E945-4798-ADA9-5EAECEB22CCA}"/>
              </a:ext>
            </a:extLst>
          </p:cNvPr>
          <p:cNvSpPr txBox="1"/>
          <p:nvPr/>
        </p:nvSpPr>
        <p:spPr>
          <a:xfrm>
            <a:off x="10532744" y="3316859"/>
            <a:ext cx="611500" cy="267766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1200" b="1">
                <a:solidFill>
                  <a:srgbClr val="2274B5"/>
                </a:solidFill>
                <a:latin typeface="Inter"/>
              </a:defRPr>
            </a:pPr>
            <a:r>
              <a:rPr lang="pt-BR" dirty="0">
                <a:solidFill>
                  <a:srgbClr val="FF0000"/>
                </a:solidFill>
              </a:rPr>
              <a:t>False</a:t>
            </a:r>
            <a:endParaRPr dirty="0">
              <a:solidFill>
                <a:srgbClr val="FF0000"/>
              </a:solidFill>
            </a:endParaRPr>
          </a:p>
        </p:txBody>
      </p:sp>
      <p:sp>
        <p:nvSpPr>
          <p:cNvPr id="19" name="Rectangle 4">
            <a:extLst>
              <a:ext uri="{FF2B5EF4-FFF2-40B4-BE49-F238E27FC236}">
                <a16:creationId xmlns:a16="http://schemas.microsoft.com/office/drawing/2014/main" id="{AE7BC2F0-DAB6-44B9-BC17-72D69F13C82F}"/>
              </a:ext>
            </a:extLst>
          </p:cNvPr>
          <p:cNvSpPr/>
          <p:nvPr/>
        </p:nvSpPr>
        <p:spPr>
          <a:xfrm>
            <a:off x="8703945" y="2548763"/>
            <a:ext cx="1828800" cy="502920"/>
          </a:xfrm>
          <a:prstGeom prst="rect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1</a:t>
            </a:r>
          </a:p>
        </p:txBody>
      </p:sp>
      <p:sp>
        <p:nvSpPr>
          <p:cNvPr id="20" name="Rectangle 4">
            <a:extLst>
              <a:ext uri="{FF2B5EF4-FFF2-40B4-BE49-F238E27FC236}">
                <a16:creationId xmlns:a16="http://schemas.microsoft.com/office/drawing/2014/main" id="{395630F0-F0C0-4AE2-9C88-36F72964FAC5}"/>
              </a:ext>
            </a:extLst>
          </p:cNvPr>
          <p:cNvSpPr/>
          <p:nvPr/>
        </p:nvSpPr>
        <p:spPr>
          <a:xfrm>
            <a:off x="7143750" y="5143274"/>
            <a:ext cx="3388995" cy="502920"/>
          </a:xfrm>
          <a:prstGeom prst="rect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print(i)</a:t>
            </a:r>
            <a:endParaRPr sz="1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Rectangle 4">
            <a:extLst>
              <a:ext uri="{FF2B5EF4-FFF2-40B4-BE49-F238E27FC236}">
                <a16:creationId xmlns:a16="http://schemas.microsoft.com/office/drawing/2014/main" id="{4086783C-477E-4824-83BE-F58928C9A348}"/>
              </a:ext>
            </a:extLst>
          </p:cNvPr>
          <p:cNvSpPr/>
          <p:nvPr/>
        </p:nvSpPr>
        <p:spPr>
          <a:xfrm>
            <a:off x="4457700" y="3527172"/>
            <a:ext cx="1828800" cy="502920"/>
          </a:xfrm>
          <a:prstGeom prst="rect">
            <a:avLst/>
          </a:prstGeom>
          <a:noFill/>
          <a:ln w="28575">
            <a:solidFill>
              <a:srgbClr val="04307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buClr>
                <a:srgbClr val="000000"/>
              </a:buClr>
              <a:buFont typeface="Arial"/>
            </a:pP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</a:t>
            </a:r>
            <a:r>
              <a:rPr lang="pt-BR"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 +</a:t>
            </a:r>
            <a:r>
              <a:rPr sz="14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</a:t>
            </a:r>
          </a:p>
        </p:txBody>
      </p:sp>
      <p:cxnSp>
        <p:nvCxnSpPr>
          <p:cNvPr id="25" name="Conector: Angulado 24">
            <a:extLst>
              <a:ext uri="{FF2B5EF4-FFF2-40B4-BE49-F238E27FC236}">
                <a16:creationId xmlns:a16="http://schemas.microsoft.com/office/drawing/2014/main" id="{D3EB2008-6825-421D-B02A-5E09258396B4}"/>
              </a:ext>
            </a:extLst>
          </p:cNvPr>
          <p:cNvCxnSpPr>
            <a:stCxn id="6" idx="3"/>
            <a:endCxn id="8" idx="0"/>
          </p:cNvCxnSpPr>
          <p:nvPr/>
        </p:nvCxnSpPr>
        <p:spPr>
          <a:xfrm>
            <a:off x="10642473" y="3778631"/>
            <a:ext cx="431093" cy="2192783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do 28">
            <a:extLst>
              <a:ext uri="{FF2B5EF4-FFF2-40B4-BE49-F238E27FC236}">
                <a16:creationId xmlns:a16="http://schemas.microsoft.com/office/drawing/2014/main" id="{7336B040-C9A6-4A28-8260-A0EDB0CAB26C}"/>
              </a:ext>
            </a:extLst>
          </p:cNvPr>
          <p:cNvCxnSpPr>
            <a:cxnSpLocks/>
            <a:stCxn id="20" idx="1"/>
            <a:endCxn id="21" idx="2"/>
          </p:cNvCxnSpPr>
          <p:nvPr/>
        </p:nvCxnSpPr>
        <p:spPr>
          <a:xfrm rot="10800000">
            <a:off x="5372100" y="4030092"/>
            <a:ext cx="1771650" cy="1364642"/>
          </a:xfrm>
          <a:prstGeom prst="bentConnector2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977DC24E-3687-4BFA-8FF2-5D971F952425}"/>
              </a:ext>
            </a:extLst>
          </p:cNvPr>
          <p:cNvCxnSpPr>
            <a:stCxn id="21" idx="3"/>
            <a:endCxn id="6" idx="1"/>
          </p:cNvCxnSpPr>
          <p:nvPr/>
        </p:nvCxnSpPr>
        <p:spPr>
          <a:xfrm flipV="1">
            <a:off x="6286500" y="3778631"/>
            <a:ext cx="2307717" cy="1"/>
          </a:xfrm>
          <a:prstGeom prst="straightConnector1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: Angulado 38">
            <a:extLst>
              <a:ext uri="{FF2B5EF4-FFF2-40B4-BE49-F238E27FC236}">
                <a16:creationId xmlns:a16="http://schemas.microsoft.com/office/drawing/2014/main" id="{20C4B488-37D7-4EA5-95AE-01BF3F65EE77}"/>
              </a:ext>
            </a:extLst>
          </p:cNvPr>
          <p:cNvCxnSpPr>
            <a:stCxn id="6" idx="2"/>
            <a:endCxn id="20" idx="0"/>
          </p:cNvCxnSpPr>
          <p:nvPr/>
        </p:nvCxnSpPr>
        <p:spPr>
          <a:xfrm rot="5400000">
            <a:off x="8763146" y="4288074"/>
            <a:ext cx="930303" cy="780097"/>
          </a:xfrm>
          <a:prstGeom prst="bentConnector3">
            <a:avLst/>
          </a:prstGeom>
          <a:ln w="19050">
            <a:solidFill>
              <a:schemeClr val="tx1">
                <a:lumMod val="95000"/>
                <a:lumOff val="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1710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7C1970-5029-4F4C-9271-AB9B3F7B35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FOR: repetição com sequência</a:t>
            </a:r>
            <a:br>
              <a:rPr lang="pt-BR" dirty="0"/>
            </a:b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4D89FDB-C136-40F6-A14B-C5B2C61D8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4"/>
            <a:ext cx="7084803" cy="850901"/>
          </a:xfrm>
        </p:spPr>
        <p:txBody>
          <a:bodyPr/>
          <a:lstStyle/>
          <a:p>
            <a:pPr>
              <a:spcBef>
                <a:spcPts val="0"/>
              </a:spcBef>
            </a:pPr>
            <a:r>
              <a:rPr lang="pt-BR" dirty="0"/>
              <a:t>Use range quando souber quais valores o contador deve percorrer.</a:t>
            </a:r>
          </a:p>
          <a:p>
            <a:pPr>
              <a:spcBef>
                <a:spcPts val="0"/>
              </a:spcBef>
            </a:pPr>
            <a:endParaRPr lang="pt-BR" dirty="0"/>
          </a:p>
          <a:p>
            <a:endParaRPr lang="pt-BR" dirty="0"/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id="{C5FBED2C-B67D-4DE4-A6E9-8AA26946131D}"/>
              </a:ext>
            </a:extLst>
          </p:cNvPr>
          <p:cNvGrpSpPr/>
          <p:nvPr/>
        </p:nvGrpSpPr>
        <p:grpSpPr>
          <a:xfrm>
            <a:off x="592346" y="5210042"/>
            <a:ext cx="6694277" cy="1252809"/>
            <a:chOff x="592347" y="3273552"/>
            <a:chExt cx="5715000" cy="2286000"/>
          </a:xfrm>
        </p:grpSpPr>
        <p:sp>
          <p:nvSpPr>
            <p:cNvPr id="6" name="Rounded Rectangle 4">
              <a:extLst>
                <a:ext uri="{FF2B5EF4-FFF2-40B4-BE49-F238E27FC236}">
                  <a16:creationId xmlns:a16="http://schemas.microsoft.com/office/drawing/2014/main" id="{DA26A21D-70EA-4650-AC52-D2070E2BCC3B}"/>
                </a:ext>
              </a:extLst>
            </p:cNvPr>
            <p:cNvSpPr/>
            <p:nvPr/>
          </p:nvSpPr>
          <p:spPr>
            <a:xfrm>
              <a:off x="592347" y="3273552"/>
              <a:ext cx="5715000" cy="2286000"/>
            </a:xfrm>
            <a:prstGeom prst="roundRect">
              <a:avLst/>
            </a:prstGeom>
            <a:solidFill>
              <a:srgbClr val="F4F7FA"/>
            </a:solidFill>
            <a:ln>
              <a:solidFill>
                <a:srgbClr val="D8E3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5">
              <a:extLst>
                <a:ext uri="{FF2B5EF4-FFF2-40B4-BE49-F238E27FC236}">
                  <a16:creationId xmlns:a16="http://schemas.microsoft.com/office/drawing/2014/main" id="{D43DF74D-BECC-43D8-938F-08B0D1914876}"/>
                </a:ext>
              </a:extLst>
            </p:cNvPr>
            <p:cNvSpPr txBox="1"/>
            <p:nvPr/>
          </p:nvSpPr>
          <p:spPr>
            <a:xfrm>
              <a:off x="775227" y="3474720"/>
              <a:ext cx="5394960" cy="832023"/>
            </a:xfrm>
            <a:prstGeom prst="rect">
              <a:avLst/>
            </a:prstGeom>
            <a:noFill/>
          </p:spPr>
          <p:txBody>
            <a:bodyPr wrap="square" lIns="73152" tIns="36576">
              <a:spAutoFit/>
            </a:bodyPr>
            <a:lstStyle/>
            <a:p>
              <a:pPr>
                <a:spcAft>
                  <a:spcPts val="800"/>
                </a:spcAft>
                <a:defRPr sz="2100" b="0">
                  <a:solidFill>
                    <a:srgbClr val="182A43"/>
                  </a:solidFill>
                  <a:latin typeface="Consolas"/>
                </a:defRPr>
              </a:pPr>
              <a:r>
                <a:rPr dirty="0"/>
                <a:t>for </a:t>
              </a:r>
              <a:r>
                <a:rPr lang="pt-BR" dirty="0"/>
                <a:t>i</a:t>
              </a:r>
              <a:r>
                <a:rPr dirty="0"/>
                <a:t> in range(1, 4</a:t>
              </a:r>
              <a:r>
                <a:rPr lang="pt-BR" dirty="0"/>
                <a:t>, i</a:t>
              </a:r>
              <a:r>
                <a:rPr dirty="0"/>
                <a:t>):</a:t>
              </a:r>
            </a:p>
            <a:p>
              <a:pPr>
                <a:spcAft>
                  <a:spcPts val="800"/>
                </a:spcAft>
                <a:defRPr sz="2100" b="0">
                  <a:solidFill>
                    <a:srgbClr val="182A43"/>
                  </a:solidFill>
                  <a:latin typeface="Consolas"/>
                </a:defRPr>
              </a:pPr>
              <a:r>
                <a:rPr dirty="0"/>
                <a:t>    print(</a:t>
              </a:r>
              <a:r>
                <a:rPr dirty="0" err="1"/>
                <a:t>numero</a:t>
              </a:r>
              <a:r>
                <a:rPr dirty="0"/>
                <a:t>)</a:t>
              </a:r>
            </a:p>
          </p:txBody>
        </p:sp>
      </p:grpSp>
      <p:grpSp>
        <p:nvGrpSpPr>
          <p:cNvPr id="9" name="Agrupar 8">
            <a:extLst>
              <a:ext uri="{FF2B5EF4-FFF2-40B4-BE49-F238E27FC236}">
                <a16:creationId xmlns:a16="http://schemas.microsoft.com/office/drawing/2014/main" id="{9EF36C8E-C9B4-4748-A33C-28A6D1A44ABC}"/>
              </a:ext>
            </a:extLst>
          </p:cNvPr>
          <p:cNvGrpSpPr/>
          <p:nvPr/>
        </p:nvGrpSpPr>
        <p:grpSpPr>
          <a:xfrm>
            <a:off x="592347" y="3143255"/>
            <a:ext cx="6694278" cy="1252810"/>
            <a:chOff x="592347" y="3273552"/>
            <a:chExt cx="5715000" cy="2286000"/>
          </a:xfrm>
        </p:grpSpPr>
        <p:sp>
          <p:nvSpPr>
            <p:cNvPr id="10" name="Rounded Rectangle 4">
              <a:extLst>
                <a:ext uri="{FF2B5EF4-FFF2-40B4-BE49-F238E27FC236}">
                  <a16:creationId xmlns:a16="http://schemas.microsoft.com/office/drawing/2014/main" id="{683574B9-A2D4-4B99-8800-D65FA9F84C83}"/>
                </a:ext>
              </a:extLst>
            </p:cNvPr>
            <p:cNvSpPr/>
            <p:nvPr/>
          </p:nvSpPr>
          <p:spPr>
            <a:xfrm>
              <a:off x="592347" y="3273552"/>
              <a:ext cx="5715000" cy="2286000"/>
            </a:xfrm>
            <a:prstGeom prst="roundRect">
              <a:avLst/>
            </a:prstGeom>
            <a:solidFill>
              <a:srgbClr val="F4F7FA"/>
            </a:solidFill>
            <a:ln>
              <a:solidFill>
                <a:srgbClr val="D8E3ED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1" name="TextBox 5">
              <a:extLst>
                <a:ext uri="{FF2B5EF4-FFF2-40B4-BE49-F238E27FC236}">
                  <a16:creationId xmlns:a16="http://schemas.microsoft.com/office/drawing/2014/main" id="{5907CE29-2ED2-4035-B0D7-C12D53DEB2A3}"/>
                </a:ext>
              </a:extLst>
            </p:cNvPr>
            <p:cNvSpPr txBox="1"/>
            <p:nvPr/>
          </p:nvSpPr>
          <p:spPr>
            <a:xfrm>
              <a:off x="775226" y="3474719"/>
              <a:ext cx="5394960" cy="1462030"/>
            </a:xfrm>
            <a:prstGeom prst="rect">
              <a:avLst/>
            </a:prstGeom>
            <a:noFill/>
          </p:spPr>
          <p:txBody>
            <a:bodyPr wrap="square" lIns="73152" tIns="36576">
              <a:spAutoFit/>
            </a:bodyPr>
            <a:lstStyle/>
            <a:p>
              <a:pPr>
                <a:spcAft>
                  <a:spcPts val="800"/>
                </a:spcAft>
                <a:defRPr sz="2100" b="0">
                  <a:solidFill>
                    <a:srgbClr val="182A43"/>
                  </a:solidFill>
                  <a:latin typeface="Consolas"/>
                </a:defRPr>
              </a:pPr>
              <a:r>
                <a:rPr lang="pt-BR" sz="2000" dirty="0"/>
                <a:t>for </a:t>
              </a:r>
              <a:r>
                <a:rPr lang="pt-BR" sz="2000" dirty="0" err="1"/>
                <a:t>variavel</a:t>
              </a:r>
              <a:r>
                <a:rPr lang="pt-BR" sz="2000" dirty="0"/>
                <a:t> in range(inicio, fim, passo):    </a:t>
              </a:r>
            </a:p>
            <a:p>
              <a:pPr>
                <a:spcAft>
                  <a:spcPts val="800"/>
                </a:spcAft>
                <a:defRPr sz="2100" b="0">
                  <a:solidFill>
                    <a:srgbClr val="182A43"/>
                  </a:solidFill>
                  <a:latin typeface="Consolas"/>
                </a:defRPr>
              </a:pPr>
              <a:r>
                <a:rPr lang="pt-BR" sz="2000" dirty="0"/>
                <a:t>  # comando que será repetido</a:t>
              </a:r>
              <a:endParaRPr sz="2000" dirty="0"/>
            </a:p>
          </p:txBody>
        </p:sp>
      </p:grpSp>
      <p:sp>
        <p:nvSpPr>
          <p:cNvPr id="13" name="Retângulo 12">
            <a:extLst>
              <a:ext uri="{FF2B5EF4-FFF2-40B4-BE49-F238E27FC236}">
                <a16:creationId xmlns:a16="http://schemas.microsoft.com/office/drawing/2014/main" id="{4DF06804-D2CC-4257-9A9E-56092622194E}"/>
              </a:ext>
            </a:extLst>
          </p:cNvPr>
          <p:cNvSpPr/>
          <p:nvPr/>
        </p:nvSpPr>
        <p:spPr>
          <a:xfrm>
            <a:off x="592347" y="4618387"/>
            <a:ext cx="20597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Exemplo em Python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79780039-2215-4FF8-B502-98B1CD6F7539}"/>
              </a:ext>
            </a:extLst>
          </p:cNvPr>
          <p:cNvSpPr/>
          <p:nvPr/>
        </p:nvSpPr>
        <p:spPr>
          <a:xfrm>
            <a:off x="592347" y="2551601"/>
            <a:ext cx="87716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</a:pPr>
            <a:r>
              <a:rPr lang="pt-B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Sintaxe</a:t>
            </a:r>
          </a:p>
        </p:txBody>
      </p:sp>
    </p:spTree>
    <p:extLst>
      <p:ext uri="{BB962C8B-B14F-4D97-AF65-F5344CB8AC3E}">
        <p14:creationId xmlns:p14="http://schemas.microsoft.com/office/powerpoint/2010/main" val="28181348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18C0FB-5612-46C3-A5E8-0E65C06075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FOR: início, limite e passo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E3C51D6-DCBD-449B-BA68-18C4F6E24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2347" y="1844675"/>
            <a:ext cx="11007306" cy="822325"/>
          </a:xfrm>
        </p:spPr>
        <p:txBody>
          <a:bodyPr/>
          <a:lstStyle/>
          <a:p>
            <a:r>
              <a:rPr lang="pt-BR" dirty="0"/>
              <a:t>Range(início, limite, passo) define os valores percorridos.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3B74A2E-25F8-4459-A35C-4412FFDEF960}"/>
              </a:ext>
            </a:extLst>
          </p:cNvPr>
          <p:cNvSpPr txBox="1"/>
          <p:nvPr/>
        </p:nvSpPr>
        <p:spPr>
          <a:xfrm>
            <a:off x="3096523" y="3347669"/>
            <a:ext cx="5998953" cy="1350113"/>
          </a:xfrm>
          <a:prstGeom prst="rect">
            <a:avLst/>
          </a:prstGeom>
          <a:noFill/>
        </p:spPr>
        <p:txBody>
          <a:bodyPr wrap="square" lIns="73152" tIns="36576">
            <a:spAutoFit/>
          </a:bodyPr>
          <a:lstStyle/>
          <a:p>
            <a:pPr>
              <a:spcAft>
                <a:spcPts val="800"/>
              </a:spcAft>
              <a:defRPr sz="2300" b="0">
                <a:solidFill>
                  <a:srgbClr val="182A43"/>
                </a:solidFill>
                <a:latin typeface="Consolas"/>
              </a:defRPr>
            </a:pPr>
            <a:r>
              <a:rPr dirty="0"/>
              <a:t>range(5)          →  0, 1, 2, 3, 4</a:t>
            </a:r>
          </a:p>
          <a:p>
            <a:pPr>
              <a:spcAft>
                <a:spcPts val="800"/>
              </a:spcAft>
              <a:defRPr sz="2300" b="0">
                <a:solidFill>
                  <a:srgbClr val="182A43"/>
                </a:solidFill>
                <a:latin typeface="Consolas"/>
              </a:defRPr>
            </a:pPr>
            <a:r>
              <a:rPr dirty="0"/>
              <a:t>range(1, 6)       →  1, 2, 3, 4, 5</a:t>
            </a:r>
          </a:p>
          <a:p>
            <a:pPr>
              <a:spcAft>
                <a:spcPts val="800"/>
              </a:spcAft>
              <a:defRPr sz="2300" b="0">
                <a:solidFill>
                  <a:srgbClr val="182A43"/>
                </a:solidFill>
                <a:latin typeface="Consolas"/>
              </a:defRPr>
            </a:pPr>
            <a:r>
              <a:rPr dirty="0"/>
              <a:t>range(2, 11, 2)   →  2, 4, 6, 8, 10</a:t>
            </a:r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id="{EFA2FE11-4A68-4192-9D5F-B76FC877D2DD}"/>
              </a:ext>
            </a:extLst>
          </p:cNvPr>
          <p:cNvSpPr txBox="1">
            <a:spLocks/>
          </p:cNvSpPr>
          <p:nvPr/>
        </p:nvSpPr>
        <p:spPr>
          <a:xfrm>
            <a:off x="592346" y="5378450"/>
            <a:ext cx="11007306" cy="1009995"/>
          </a:xfrm>
          <a:prstGeom prst="rect">
            <a:avLst/>
          </a:prstGeom>
        </p:spPr>
        <p:txBody>
          <a:bodyPr/>
          <a:lstStyle>
            <a:lvl1pPr marL="0" indent="0" algn="just" defTabSz="914400" rtl="0" eaLnBrk="1" latinLnBrk="0" hangingPunct="1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15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O valor do limite não entra na sequência. </a:t>
            </a:r>
          </a:p>
          <a:p>
            <a:pPr marL="342900" indent="-3429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pt-BR" dirty="0"/>
              <a:t>O for avança o contador automaticamente.</a:t>
            </a:r>
          </a:p>
        </p:txBody>
      </p:sp>
    </p:spTree>
    <p:extLst>
      <p:ext uri="{BB962C8B-B14F-4D97-AF65-F5344CB8AC3E}">
        <p14:creationId xmlns:p14="http://schemas.microsoft.com/office/powerpoint/2010/main" val="2967583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>
            <a:extLst>
              <a:ext uri="{FF2B5EF4-FFF2-40B4-BE49-F238E27FC236}">
                <a16:creationId xmlns:a16="http://schemas.microsoft.com/office/drawing/2014/main" id="{13AC198A-FDC2-4D23-819F-F09FEB58F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Desafios: FOR</a:t>
            </a:r>
            <a:br>
              <a:rPr lang="pt-BR" dirty="0"/>
            </a:br>
            <a:endParaRPr lang="pt-BR" dirty="0"/>
          </a:p>
        </p:txBody>
      </p:sp>
      <p:sp>
        <p:nvSpPr>
          <p:cNvPr id="7" name="Espaço Reservado para Conteúdo 6">
            <a:extLst>
              <a:ext uri="{FF2B5EF4-FFF2-40B4-BE49-F238E27FC236}">
                <a16:creationId xmlns:a16="http://schemas.microsoft.com/office/drawing/2014/main" id="{76B89B3A-FAEE-4008-B6D3-2DFA43CC2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Desafio 1: </a:t>
            </a:r>
          </a:p>
          <a:p>
            <a:r>
              <a:rPr lang="pt-BR" dirty="0"/>
              <a:t>Números </a:t>
            </a:r>
            <a:r>
              <a:rPr lang="pt-BR" dirty="0" err="1"/>
              <a:t>paresUse</a:t>
            </a:r>
            <a:r>
              <a:rPr lang="pt-BR" dirty="0"/>
              <a:t> for e range() para mostrar todos os números pares de 2 a 20. Depois, desenhe o fluxograma da repetição.</a:t>
            </a:r>
          </a:p>
          <a:p>
            <a:r>
              <a:rPr lang="pt-BR" b="1" dirty="0"/>
              <a:t>Desafio 2: </a:t>
            </a:r>
          </a:p>
          <a:p>
            <a:r>
              <a:rPr lang="pt-BR" dirty="0"/>
              <a:t>Soma das </a:t>
            </a:r>
            <a:r>
              <a:rPr lang="pt-BR" dirty="0" err="1"/>
              <a:t>comprasPeça</a:t>
            </a:r>
            <a:r>
              <a:rPr lang="pt-BR" dirty="0"/>
              <a:t> o valor de 5 produtos. Use for para somar os valores e mostre o total da compra somente após ler todos eles. Depois, desenhe o fluxograma.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1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ema1" id="{C0497148-7E6F-4957-B246-C53459718B68}" vid="{4F22C6DB-CB0B-44AC-A6D1-DBE34C607AB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Tema1</Template>
  <TotalTime>506</TotalTime>
  <Words>516</Words>
  <Application>Microsoft Office PowerPoint</Application>
  <PresentationFormat>Widescreen</PresentationFormat>
  <Paragraphs>57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4" baseType="lpstr">
      <vt:lpstr>Arial</vt:lpstr>
      <vt:lpstr>Calibri Light</vt:lpstr>
      <vt:lpstr>Times New Roman</vt:lpstr>
      <vt:lpstr>Calibri</vt:lpstr>
      <vt:lpstr>Inter</vt:lpstr>
      <vt:lpstr>Consolas</vt:lpstr>
      <vt:lpstr>Tema1</vt:lpstr>
      <vt:lpstr>Estruturas de Repetição</vt:lpstr>
      <vt:lpstr>Estruturas de Repetição</vt:lpstr>
      <vt:lpstr>Como ficaria esse código sem o uso do For</vt:lpstr>
      <vt:lpstr>Repetição no fluxograma </vt:lpstr>
      <vt:lpstr>FOR: repetição com sequência </vt:lpstr>
      <vt:lpstr>FOR: início, limite e passo</vt:lpstr>
      <vt:lpstr>Desafios: FOR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à Lógica de Programação: Pensando como um Programador</dc:title>
  <dc:subject/>
  <dc:creator/>
  <cp:lastModifiedBy>Pedro Henrique Miho de Souza</cp:lastModifiedBy>
  <cp:revision>28</cp:revision>
  <dcterms:created xsi:type="dcterms:W3CDTF">2026-08-24T01:16:08Z</dcterms:created>
  <dcterms:modified xsi:type="dcterms:W3CDTF">2026-09-28T17:20:11Z</dcterms:modified>
</cp:coreProperties>
</file>