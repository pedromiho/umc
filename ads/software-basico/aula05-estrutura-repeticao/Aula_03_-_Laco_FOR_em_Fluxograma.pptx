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51" r:id="rId1"/>
  </p:sldMasterIdLst>
  <p:notesMasterIdLst>
    <p:notesMasterId r:id="rId18"/>
  </p:notesMasterIdLst>
  <p:sldIdLst>
    <p:sldId id="266" r:id="rId2"/>
    <p:sldId id="328" r:id="rId29"/>
    <p:sldId id="329" r:id="rId30"/>
    <p:sldId id="330" r:id="rId31"/>
    <p:sldId id="331" r:id="rId32"/>
    <p:sldId id="332" r:id="rId33"/>
    <p:sldId id="333" r:id="rId34"/>
    <p:sldId id="334" r:id="rId35"/>
    <p:sldId id="335" r:id="rId36"/>
    <p:sldId id="336" r:id="rId37"/>
    <p:sldId id="337" r:id="rId38"/>
    <p:sldId id="338" r:id="rId39"/>
    <p:sldId id="339" r:id="rId40"/>
  </p:sldIdLst>
  <p:sldSz cx="12192000" cy="6858000"/>
  <p:notesSz cx="6858000" cy="12192000"/>
  <p:embeddedFontLst>
    <p:embeddedFont>
      <p:font typeface="Consolas" panose="020B0609020204030204" pitchFamily="49" charset="0"/>
      <p:regular r:id="rId19"/>
      <p:bold r:id="rId20"/>
      <p:italic r:id="rId21"/>
      <p:boldItalic r:id="rId22"/>
    </p:embeddedFont>
    <p:embeddedFont>
      <p:font typeface="Inter" panose="020B0604020202020204" charset="0"/>
      <p:regular r:id="rId23"/>
    </p:embeddedFont>
    <p:embeddedFont>
      <p:font typeface="Inter Bold" panose="020B0604020202020204" charset="0"/>
      <p:regular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4307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1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8" Type="http://schemas.openxmlformats.org/officeDocument/2006/relationships/notesMaster" Target="notesMasters/notesMaster1.xml"/><Relationship Id="rId26" Type="http://schemas.openxmlformats.org/officeDocument/2006/relationships/viewProps" Target="viewProps.xml"/><Relationship Id="rId21" Type="http://schemas.openxmlformats.org/officeDocument/2006/relationships/font" Target="fonts/font3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20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24" Type="http://schemas.openxmlformats.org/officeDocument/2006/relationships/font" Target="fonts/font6.fntdata"/><Relationship Id="rId23" Type="http://schemas.openxmlformats.org/officeDocument/2006/relationships/font" Target="fonts/font5.fntdata"/><Relationship Id="rId28" Type="http://schemas.openxmlformats.org/officeDocument/2006/relationships/tableStyles" Target="tableStyles.xml"/><Relationship Id="rId19" Type="http://schemas.openxmlformats.org/officeDocument/2006/relationships/font" Target="fonts/font1.fntdata"/><Relationship Id="rId22" Type="http://schemas.openxmlformats.org/officeDocument/2006/relationships/font" Target="fonts/font4.fntdata"/><Relationship Id="rId27" Type="http://schemas.openxmlformats.org/officeDocument/2006/relationships/theme" Target="theme/theme1.xml"/>  <Relationship Id="rId29" Type="http://schemas.openxmlformats.org/officeDocument/2006/relationships/slide" Target="slides/slide17.xml"/>
  <Relationship Id="rId30" Type="http://schemas.openxmlformats.org/officeDocument/2006/relationships/slide" Target="slides/slide18.xml"/>
  <Relationship Id="rId31" Type="http://schemas.openxmlformats.org/officeDocument/2006/relationships/slide" Target="slides/slide19.xml"/>
  <Relationship Id="rId32" Type="http://schemas.openxmlformats.org/officeDocument/2006/relationships/slide" Target="slides/slide20.xml"/>
  <Relationship Id="rId33" Type="http://schemas.openxmlformats.org/officeDocument/2006/relationships/slide" Target="slides/slide21.xml"/>
  <Relationship Id="rId34" Type="http://schemas.openxmlformats.org/officeDocument/2006/relationships/slide" Target="slides/slide22.xml"/>
  <Relationship Id="rId35" Type="http://schemas.openxmlformats.org/officeDocument/2006/relationships/slide" Target="slides/slide23.xml"/>
  <Relationship Id="rId36" Type="http://schemas.openxmlformats.org/officeDocument/2006/relationships/slide" Target="slides/slide24.xml"/>
  <Relationship Id="rId37" Type="http://schemas.openxmlformats.org/officeDocument/2006/relationships/slide" Target="slides/slide25.xml"/>
  <Relationship Id="rId38" Type="http://schemas.openxmlformats.org/officeDocument/2006/relationships/slide" Target="slides/slide26.xml"/>
  <Relationship Id="rId39" Type="http://schemas.openxmlformats.org/officeDocument/2006/relationships/slide" Target="slides/slide27.xml"/>
  <Relationship Id="rId40" Type="http://schemas.openxmlformats.org/officeDocument/2006/relationships/slide" Target="slides/slide28.xml"/>
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325345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de Título" type="title">
  <p:cSld name="Slide de Título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1524000" y="1652931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Times New Roman"/>
              <a:buNone/>
              <a:defRPr sz="6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r>
              <a:rPr lang="pt-BR"/>
              <a:t>Clique para editar o título Mestre</a:t>
            </a:r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1524000" y="4260550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pt-BR"/>
              <a:t>Clique para editar o estilo do subtítulo Mestre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813591231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FB9411-69F7-EFE2-E8A8-43455A05CD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pt-BR"/>
              <a:t>Clique para editar o título Mestre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A187DA8-D59F-5DFA-55C8-48BC1BA604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pt-BR" dirty="0"/>
              <a:t>Clique para editar os estilos de texto Mestres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AF99D26-DA4B-D0AF-3054-103CA613A80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200" b="0" i="0" u="none" strike="noStrike" cap="none">
                <a:solidFill>
                  <a:schemeClr val="tx1">
                    <a:tint val="82000"/>
                  </a:schemeClr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F81AA659-8FD3-461F-8FBC-BDBF8F913D9D}" type="datetimeFigureOut">
              <a:rPr lang="pt-BR" smtClean="0"/>
              <a:pPr/>
              <a:t>24/08/2026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596EC41-5B15-2A4A-34B9-2E8C0BCEEA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200" b="0" i="0" u="none" strike="noStrike" cap="none">
                <a:solidFill>
                  <a:schemeClr val="tx1">
                    <a:tint val="82000"/>
                  </a:schemeClr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514FFF6-E682-D349-81F9-96FA3093F4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200" b="0" i="0" u="none" strike="noStrike" cap="none">
                <a:solidFill>
                  <a:schemeClr val="tx1">
                    <a:tint val="82000"/>
                  </a:schemeClr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950E8CF1-C835-4717-86DC-68B0F0260540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88868531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beçalho da Seção" type="secHead">
  <p:cSld name="Cabeçalho da Seção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 b="0" i="0" u="none" strike="noStrike" cap="none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r>
              <a:rPr lang="pt-BR"/>
              <a:t>Clique para editar o título Mestre</a:t>
            </a:r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2" name="Google Shape;22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74264667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uas Partes de Conteúdo" type="twoObj">
  <p:cSld name="Duas Partes de Conteúdo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r>
              <a:rPr lang="pt-BR"/>
              <a:t>Clique para editar o título Mestre</a:t>
            </a:r>
            <a:endParaRPr dirty="0"/>
          </a:p>
        </p:txBody>
      </p:sp>
      <p:sp>
        <p:nvSpPr>
          <p:cNvPr id="27" name="Google Shape;27;p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8" name="Google Shape;28;p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9" name="Google Shape;29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lang="pt-B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Google Shape;30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lang="pt-B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Google Shape;31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9906840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ção" type="twoTxTwoObj">
  <p:cSld name="Comparação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r>
              <a:rPr lang="pt-BR"/>
              <a:t>Clique para editar o título Mestre</a:t>
            </a:r>
            <a:endParaRPr dirty="0"/>
          </a:p>
        </p:txBody>
      </p:sp>
      <p:sp>
        <p:nvSpPr>
          <p:cNvPr id="34" name="Google Shape;34;p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7" name="Google Shape;37;p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8" name="Google Shape;38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lang="pt-B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Google Shape;39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lang="pt-B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Google Shape;40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7707365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mente Título" type="titleOnly">
  <p:cSld name="Somente Título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r>
              <a:rPr lang="pt-BR"/>
              <a:t>Clique para editar o título Mestre</a:t>
            </a:r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34341879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m Branco" type="blank">
  <p:cSld name="Em Branco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8" name="Google Shape;48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9" name="Google Shape;49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0414090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údo com Legenda" type="objTx">
  <p:cSld name="Conteúdo com Legenda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r>
              <a:rPr lang="pt-BR"/>
              <a:t>Clique para editar o título Mestre</a:t>
            </a:r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3" name="Google Shape;53;p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4" name="Google Shape;54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5" name="Google Shape;55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07093625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689069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1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0" y="6762736"/>
            <a:ext cx="12192000" cy="95264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292A86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1" name="Google Shape;11;p1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582422" y="635357"/>
            <a:ext cx="122428" cy="888712"/>
          </a:xfrm>
          <a:prstGeom prst="rect">
            <a:avLst/>
          </a:prstGeom>
          <a:solidFill>
            <a:srgbClr val="292A86"/>
          </a:solidFill>
          <a:ln>
            <a:noFill/>
          </a:ln>
        </p:spPr>
      </p:pic>
      <p:pic>
        <p:nvPicPr>
          <p:cNvPr id="12" name="Google Shape;12;p1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10283716" y="719713"/>
            <a:ext cx="1273846" cy="720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75156523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867B25-BC0F-8242-8D31-3A145B121EB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sz="4400" dirty="0"/>
              <a:t>Estrutura de Repetição: Laço FOR em Fluxograma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FE6AFBF-4C86-4557-83B0-AF907C1EE48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/>
              <a:t>Prof. Esp. Pedro Miho</a:t>
            </a:r>
          </a:p>
        </p:txBody>
      </p:sp>
    </p:spTree>
    <p:extLst>
      <p:ext uri="{BB962C8B-B14F-4D97-AF65-F5344CB8AC3E}">
        <p14:creationId xmlns:p14="http://schemas.microsoft.com/office/powerpoint/2010/main" val="27690055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2"/>
          <p:cNvSpPr txBox="1"/>
          <p:nvPr/>
        </p:nvSpPr>
        <p:spPr>
          <a:xfrm>
            <a:off x="966267" y="832247"/>
            <a:ext cx="10868745" cy="590649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pt-BR" sz="2350" b="1" spc="-72" dirty="0">
                <a:solidFill>
                  <a:srgbClr val="000000"/>
                </a:solidFill>
                <a:latin typeface="Inter Bold"/>
                <a:ea typeface="Inter Bold"/>
                <a:cs typeface="Inter Bold"/>
              </a:rPr>
              <a:t>Laço de Repetição: o FOR</a:t>
            </a:r>
          </a:p>
        </p:txBody>
      </p:sp>
      <p:sp>
        <p:nvSpPr>
          <p:cNvPr id="3" name="Intro 3"/>
          <p:cNvSpPr txBox="1"/>
          <p:nvPr/>
        </p:nvSpPr>
        <p:spPr>
          <a:xfrm>
            <a:off x="800000" y="1550000"/>
            <a:ext cx="10800000" cy="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O laço </a:t>
            </a:r>
            <a:r>
              <a:rPr lang="pt-BR" sz="1800" b="1" dirty="0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FOR</a:t>
            </a:r>
            <a:r>
              <a:rPr lang="pt-BR" sz="18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 repete um bloco de instruções um </a:t>
            </a:r>
            <a:r>
              <a:rPr lang="pt-BR" sz="1800" b="1" dirty="0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número conhecido de vezes</a:t>
            </a:r>
            <a:r>
              <a:rPr lang="pt-BR" sz="18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.</a:t>
            </a:r>
          </a:p>
        </p:txBody>
      </p:sp>
      <p:sp>
        <p:nvSpPr>
          <p:cNvPr id="4" name="Cartão 4"/>
          <p:cNvSpPr/>
          <p:nvPr/>
        </p:nvSpPr>
        <p:spPr>
          <a:xfrm>
            <a:off x="800000" y="2350000"/>
            <a:ext cx="3400000" cy="2950000"/>
          </a:xfrm>
          <a:prstGeom prst="roundRect">
            <a:avLst>
              <a:gd name="adj" fmla="val 6000"/>
            </a:avLst>
          </a:prstGeom>
          <a:solidFill>
            <a:srgbClr val="EEF0F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pt-BR"/>
          </a:p>
        </p:txBody>
      </p:sp>
      <p:sp>
        <p:nvSpPr>
          <p:cNvPr id="5" name="Número 5"/>
          <p:cNvSpPr/>
          <p:nvPr/>
        </p:nvSpPr>
        <p:spPr>
          <a:xfrm>
            <a:off x="1100000" y="2600000"/>
            <a:ext cx="500000" cy="500000"/>
          </a:xfrm>
          <a:prstGeom prst="ellipse">
            <a:avLst/>
          </a:prstGeom>
          <a:solidFill>
            <a:srgbClr val="04307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1</a:t>
            </a:r>
          </a:p>
        </p:txBody>
      </p:sp>
      <p:sp>
        <p:nvSpPr>
          <p:cNvPr id="6" name="Título 6"/>
          <p:cNvSpPr txBox="1"/>
          <p:nvPr/>
        </p:nvSpPr>
        <p:spPr>
          <a:xfrm>
            <a:off x="1750000" y="2600000"/>
            <a:ext cx="2300000" cy="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Início</a:t>
            </a:r>
          </a:p>
        </p:txBody>
      </p:sp>
      <p:sp>
        <p:nvSpPr>
          <p:cNvPr id="7" name="Código 7"/>
          <p:cNvSpPr/>
          <p:nvPr/>
        </p:nvSpPr>
        <p:spPr>
          <a:xfrm>
            <a:off x="1100000" y="3300000"/>
            <a:ext cx="2800000" cy="60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9CCE0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dirty="0">
                <a:solidFill>
                  <a:srgbClr val="272525"/>
                </a:solidFill>
                <a:latin typeface="Courier New"/>
                <a:ea typeface="Courier New"/>
                <a:cs typeface="Courier New"/>
              </a:rPr>
              <a:t>i ← 1</a:t>
            </a:r>
          </a:p>
        </p:txBody>
      </p:sp>
      <p:sp>
        <p:nvSpPr>
          <p:cNvPr id="8" name="Texto 8"/>
          <p:cNvSpPr txBox="1"/>
          <p:nvPr/>
        </p:nvSpPr>
        <p:spPr>
          <a:xfrm>
            <a:off x="1100000" y="4050000"/>
            <a:ext cx="2800000" cy="11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Define o valor inicial do contador: de onde a contagem parte.</a:t>
            </a:r>
          </a:p>
        </p:txBody>
      </p:sp>
      <p:sp>
        <p:nvSpPr>
          <p:cNvPr id="9" name="Cartão 9"/>
          <p:cNvSpPr/>
          <p:nvPr/>
        </p:nvSpPr>
        <p:spPr>
          <a:xfrm>
            <a:off x="4500000" y="2350000"/>
            <a:ext cx="3400000" cy="2950000"/>
          </a:xfrm>
          <a:prstGeom prst="roundRect">
            <a:avLst>
              <a:gd name="adj" fmla="val 6000"/>
            </a:avLst>
          </a:prstGeom>
          <a:solidFill>
            <a:srgbClr val="EEF0F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pt-BR"/>
          </a:p>
        </p:txBody>
      </p:sp>
      <p:sp>
        <p:nvSpPr>
          <p:cNvPr id="10" name="Número 10"/>
          <p:cNvSpPr/>
          <p:nvPr/>
        </p:nvSpPr>
        <p:spPr>
          <a:xfrm>
            <a:off x="4800000" y="2600000"/>
            <a:ext cx="500000" cy="500000"/>
          </a:xfrm>
          <a:prstGeom prst="ellipse">
            <a:avLst/>
          </a:prstGeom>
          <a:solidFill>
            <a:srgbClr val="04307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2</a:t>
            </a:r>
          </a:p>
        </p:txBody>
      </p:sp>
      <p:sp>
        <p:nvSpPr>
          <p:cNvPr id="11" name="Título 11"/>
          <p:cNvSpPr txBox="1"/>
          <p:nvPr/>
        </p:nvSpPr>
        <p:spPr>
          <a:xfrm>
            <a:off x="5450000" y="2600000"/>
            <a:ext cx="2300000" cy="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Condição</a:t>
            </a:r>
          </a:p>
        </p:txBody>
      </p:sp>
      <p:sp>
        <p:nvSpPr>
          <p:cNvPr id="12" name="Código 12"/>
          <p:cNvSpPr/>
          <p:nvPr/>
        </p:nvSpPr>
        <p:spPr>
          <a:xfrm>
            <a:off x="4800000" y="3300000"/>
            <a:ext cx="2800000" cy="60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9CCE0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dirty="0">
                <a:solidFill>
                  <a:srgbClr val="272525"/>
                </a:solidFill>
                <a:latin typeface="Courier New"/>
                <a:ea typeface="Courier New"/>
                <a:cs typeface="Courier New"/>
              </a:rPr>
              <a:t>i ≤ 5</a:t>
            </a:r>
          </a:p>
        </p:txBody>
      </p:sp>
      <p:sp>
        <p:nvSpPr>
          <p:cNvPr id="13" name="Texto 13"/>
          <p:cNvSpPr txBox="1"/>
          <p:nvPr/>
        </p:nvSpPr>
        <p:spPr>
          <a:xfrm>
            <a:off x="4800000" y="4050000"/>
            <a:ext cx="2800000" cy="11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Pergunta se o laço continua: Sim repete o bloco, Não sai do laço.</a:t>
            </a:r>
          </a:p>
        </p:txBody>
      </p:sp>
      <p:sp>
        <p:nvSpPr>
          <p:cNvPr id="14" name="Cartão 14"/>
          <p:cNvSpPr/>
          <p:nvPr/>
        </p:nvSpPr>
        <p:spPr>
          <a:xfrm>
            <a:off x="8200000" y="2350000"/>
            <a:ext cx="3400000" cy="2950000"/>
          </a:xfrm>
          <a:prstGeom prst="roundRect">
            <a:avLst>
              <a:gd name="adj" fmla="val 6000"/>
            </a:avLst>
          </a:prstGeom>
          <a:solidFill>
            <a:srgbClr val="EEF0F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pt-BR"/>
          </a:p>
        </p:txBody>
      </p:sp>
      <p:sp>
        <p:nvSpPr>
          <p:cNvPr id="15" name="Número 15"/>
          <p:cNvSpPr/>
          <p:nvPr/>
        </p:nvSpPr>
        <p:spPr>
          <a:xfrm>
            <a:off x="8500000" y="2600000"/>
            <a:ext cx="500000" cy="500000"/>
          </a:xfrm>
          <a:prstGeom prst="ellipse">
            <a:avLst/>
          </a:prstGeom>
          <a:solidFill>
            <a:srgbClr val="04307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3</a:t>
            </a:r>
          </a:p>
        </p:txBody>
      </p:sp>
      <p:sp>
        <p:nvSpPr>
          <p:cNvPr id="16" name="Título 16"/>
          <p:cNvSpPr txBox="1"/>
          <p:nvPr/>
        </p:nvSpPr>
        <p:spPr>
          <a:xfrm>
            <a:off x="9150000" y="2600000"/>
            <a:ext cx="2300000" cy="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Passo</a:t>
            </a:r>
          </a:p>
        </p:txBody>
      </p:sp>
      <p:sp>
        <p:nvSpPr>
          <p:cNvPr id="17" name="Código 17"/>
          <p:cNvSpPr/>
          <p:nvPr/>
        </p:nvSpPr>
        <p:spPr>
          <a:xfrm>
            <a:off x="8500000" y="3300000"/>
            <a:ext cx="2800000" cy="60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9CCE0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dirty="0">
                <a:solidFill>
                  <a:srgbClr val="272525"/>
                </a:solidFill>
                <a:latin typeface="Courier New"/>
                <a:ea typeface="Courier New"/>
                <a:cs typeface="Courier New"/>
              </a:rPr>
              <a:t>i ← i + 1</a:t>
            </a:r>
          </a:p>
        </p:txBody>
      </p:sp>
      <p:sp>
        <p:nvSpPr>
          <p:cNvPr id="18" name="Texto 18"/>
          <p:cNvSpPr txBox="1"/>
          <p:nvPr/>
        </p:nvSpPr>
        <p:spPr>
          <a:xfrm>
            <a:off x="8500000" y="4050000"/>
            <a:ext cx="2800000" cy="11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Atualiza o contador a cada volta, para o laço chegar ao fim.</a:t>
            </a:r>
          </a:p>
        </p:txBody>
      </p:sp>
      <p:sp>
        <p:nvSpPr>
          <p:cNvPr id="19" name="Destaque 19"/>
          <p:cNvSpPr/>
          <p:nvPr/>
        </p:nvSpPr>
        <p:spPr>
          <a:xfrm>
            <a:off x="800000" y="5600000"/>
            <a:ext cx="10800000" cy="750000"/>
          </a:xfrm>
          <a:prstGeom prst="roundRect">
            <a:avLst>
              <a:gd name="adj" fmla="val 12000"/>
            </a:avLst>
          </a:prstGeom>
          <a:solidFill>
            <a:srgbClr val="E3E5F6"/>
          </a:solidFill>
          <a:ln>
            <a:noFill/>
          </a:ln>
        </p:spPr>
        <p:txBody>
          <a:bodyPr wrap="square" lIns="250000" tIns="0" rIns="15000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Em Python:  </a:t>
            </a:r>
            <a:r>
              <a:rPr lang="pt-BR" sz="1600" dirty="0">
                <a:solidFill>
                  <a:srgbClr val="272525"/>
                </a:solidFill>
                <a:latin typeface="Courier New"/>
                <a:ea typeface="Courier New"/>
                <a:cs typeface="Courier New"/>
              </a:rPr>
              <a:t>for i in range(1, 6):</a:t>
            </a:r>
            <a:r>
              <a:rPr lang="pt-BR" sz="16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   começa em 1, para antes do 6 e avança de 1 em 1.</a:t>
            </a:r>
          </a:p>
        </p:txBody>
      </p:sp>
    </p:spTree>
    <p:extLst>
      <p:ext uri="{BB962C8B-B14F-4D97-AF65-F5344CB8AC3E}">
        <p14:creationId xmlns:p14="http://schemas.microsoft.com/office/powerpoint/2010/main" val="10943918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2"/>
          <p:cNvSpPr txBox="1"/>
          <p:nvPr/>
        </p:nvSpPr>
        <p:spPr>
          <a:xfrm>
            <a:off x="966267" y="832247"/>
            <a:ext cx="10868745" cy="590649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pt-BR" sz="2350" b="1" spc="-72" dirty="0">
                <a:solidFill>
                  <a:srgbClr val="000000"/>
                </a:solidFill>
                <a:latin typeface="Inter Bold"/>
                <a:ea typeface="Inter Bold"/>
                <a:cs typeface="Inter Bold"/>
              </a:rPr>
              <a:t>FOR em Fluxograma: contando de 1 a 5</a:t>
            </a:r>
          </a:p>
        </p:txBody>
      </p:sp>
      <p:sp>
        <p:nvSpPr>
          <p:cNvPr id="3" name="Fluxo 3"/>
          <p:cNvSpPr/>
          <p:nvPr/>
        </p:nvSpPr>
        <p:spPr>
          <a:xfrm>
            <a:off x="2200000" y="1500000"/>
            <a:ext cx="1400000" cy="380000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043073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Início</a:t>
            </a:r>
          </a:p>
        </p:txBody>
      </p:sp>
      <p:cxnSp>
        <p:nvCxnSpPr>
          <p:cNvPr id="4" name="Conector 4"/>
          <p:cNvCxnSpPr/>
          <p:nvPr/>
        </p:nvCxnSpPr>
        <p:spPr>
          <a:xfrm>
            <a:off x="2900000" y="1880000"/>
            <a:ext cx="0" cy="220000"/>
          </a:xfrm>
          <a:prstGeom prst="straightConnector1">
            <a:avLst/>
          </a:prstGeom>
          <a:ln w="28575">
            <a:solidFill>
              <a:srgbClr val="043073"/>
            </a:solidFill>
            <a:tailEnd type="triangle"/>
          </a:ln>
        </p:spPr>
      </p:cxnSp>
      <p:sp>
        <p:nvSpPr>
          <p:cNvPr id="5" name="Fluxo 5"/>
          <p:cNvSpPr/>
          <p:nvPr/>
        </p:nvSpPr>
        <p:spPr>
          <a:xfrm>
            <a:off x="1900000" y="2100000"/>
            <a:ext cx="2000000" cy="380000"/>
          </a:xfrm>
          <a:prstGeom prst="rect">
            <a:avLst/>
          </a:prstGeom>
          <a:noFill/>
          <a:ln w="19050">
            <a:solidFill>
              <a:srgbClr val="043073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i ← 1</a:t>
            </a:r>
          </a:p>
        </p:txBody>
      </p:sp>
      <p:cxnSp>
        <p:nvCxnSpPr>
          <p:cNvPr id="6" name="Conector 6"/>
          <p:cNvCxnSpPr/>
          <p:nvPr/>
        </p:nvCxnSpPr>
        <p:spPr>
          <a:xfrm>
            <a:off x="2900000" y="2480000"/>
            <a:ext cx="0" cy="220000"/>
          </a:xfrm>
          <a:prstGeom prst="straightConnector1">
            <a:avLst/>
          </a:prstGeom>
          <a:ln w="28575">
            <a:solidFill>
              <a:srgbClr val="043073"/>
            </a:solidFill>
            <a:tailEnd type="triangle"/>
          </a:ln>
        </p:spPr>
      </p:cxnSp>
      <p:sp>
        <p:nvSpPr>
          <p:cNvPr id="7" name="Decisão 7"/>
          <p:cNvSpPr/>
          <p:nvPr/>
        </p:nvSpPr>
        <p:spPr>
          <a:xfrm>
            <a:off x="1700000" y="2700000"/>
            <a:ext cx="2400000" cy="720000"/>
          </a:xfrm>
          <a:prstGeom prst="flowChartDecision">
            <a:avLst/>
          </a:prstGeom>
          <a:noFill/>
          <a:ln w="19050">
            <a:solidFill>
              <a:srgbClr val="043073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i ≤ 5 ?</a:t>
            </a:r>
          </a:p>
        </p:txBody>
      </p:sp>
      <p:sp>
        <p:nvSpPr>
          <p:cNvPr id="8" name="Rótulo 8"/>
          <p:cNvSpPr txBox="1"/>
          <p:nvPr/>
        </p:nvSpPr>
        <p:spPr>
          <a:xfrm>
            <a:off x="3000000" y="3430000"/>
            <a:ext cx="7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1" dirty="0">
                <a:solidFill>
                  <a:srgbClr val="043073"/>
                </a:solidFill>
                <a:latin typeface="Inter Bold"/>
                <a:ea typeface="Inter Bold"/>
                <a:cs typeface="Inter Bold"/>
              </a:rPr>
              <a:t>Sim</a:t>
            </a:r>
          </a:p>
        </p:txBody>
      </p:sp>
      <p:cxnSp>
        <p:nvCxnSpPr>
          <p:cNvPr id="9" name="Conector 9"/>
          <p:cNvCxnSpPr/>
          <p:nvPr/>
        </p:nvCxnSpPr>
        <p:spPr>
          <a:xfrm>
            <a:off x="2900000" y="3420000"/>
            <a:ext cx="0" cy="300000"/>
          </a:xfrm>
          <a:prstGeom prst="straightConnector1">
            <a:avLst/>
          </a:prstGeom>
          <a:ln w="28575">
            <a:solidFill>
              <a:srgbClr val="043073"/>
            </a:solidFill>
            <a:tailEnd type="triangle"/>
          </a:ln>
        </p:spPr>
      </p:cxnSp>
      <p:sp>
        <p:nvSpPr>
          <p:cNvPr id="10" name="Fluxo 10"/>
          <p:cNvSpPr/>
          <p:nvPr/>
        </p:nvSpPr>
        <p:spPr>
          <a:xfrm>
            <a:off x="1900000" y="3720000"/>
            <a:ext cx="2000000" cy="380000"/>
          </a:xfrm>
          <a:prstGeom prst="rect">
            <a:avLst/>
          </a:prstGeom>
          <a:noFill/>
          <a:ln w="19050">
            <a:solidFill>
              <a:srgbClr val="043073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Escreva i</a:t>
            </a:r>
          </a:p>
        </p:txBody>
      </p:sp>
      <p:cxnSp>
        <p:nvCxnSpPr>
          <p:cNvPr id="11" name="Conector 11"/>
          <p:cNvCxnSpPr/>
          <p:nvPr/>
        </p:nvCxnSpPr>
        <p:spPr>
          <a:xfrm>
            <a:off x="2900000" y="4100000"/>
            <a:ext cx="0" cy="220000"/>
          </a:xfrm>
          <a:prstGeom prst="straightConnector1">
            <a:avLst/>
          </a:prstGeom>
          <a:ln w="28575">
            <a:solidFill>
              <a:srgbClr val="043073"/>
            </a:solidFill>
            <a:tailEnd type="triangle"/>
          </a:ln>
        </p:spPr>
      </p:cxnSp>
      <p:sp>
        <p:nvSpPr>
          <p:cNvPr id="12" name="Fluxo 12"/>
          <p:cNvSpPr/>
          <p:nvPr/>
        </p:nvSpPr>
        <p:spPr>
          <a:xfrm>
            <a:off x="1900000" y="4320000"/>
            <a:ext cx="2000000" cy="380000"/>
          </a:xfrm>
          <a:prstGeom prst="rect">
            <a:avLst/>
          </a:prstGeom>
          <a:noFill/>
          <a:ln w="19050">
            <a:solidFill>
              <a:srgbClr val="043073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i ← i + 1</a:t>
            </a:r>
          </a:p>
        </p:txBody>
      </p:sp>
      <p:cxnSp>
        <p:nvCxnSpPr>
          <p:cNvPr id="13" name="Conector 13"/>
          <p:cNvCxnSpPr/>
          <p:nvPr/>
        </p:nvCxnSpPr>
        <p:spPr>
          <a:xfrm flipH="1">
            <a:off x="1200000" y="4510000"/>
            <a:ext cx="700000" cy="0"/>
          </a:xfrm>
          <a:prstGeom prst="straightConnector1">
            <a:avLst/>
          </a:prstGeom>
          <a:ln w="28575">
            <a:solidFill>
              <a:srgbClr val="043073"/>
            </a:solidFill>
          </a:ln>
        </p:spPr>
      </p:cxnSp>
      <p:cxnSp>
        <p:nvCxnSpPr>
          <p:cNvPr id="14" name="Conector 14"/>
          <p:cNvCxnSpPr/>
          <p:nvPr/>
        </p:nvCxnSpPr>
        <p:spPr>
          <a:xfrm flipV="1">
            <a:off x="1200000" y="3060000"/>
            <a:ext cx="0" cy="1450000"/>
          </a:xfrm>
          <a:prstGeom prst="straightConnector1">
            <a:avLst/>
          </a:prstGeom>
          <a:ln w="28575">
            <a:solidFill>
              <a:srgbClr val="043073"/>
            </a:solidFill>
          </a:ln>
        </p:spPr>
      </p:cxnSp>
      <p:cxnSp>
        <p:nvCxnSpPr>
          <p:cNvPr id="15" name="Conector 15"/>
          <p:cNvCxnSpPr/>
          <p:nvPr/>
        </p:nvCxnSpPr>
        <p:spPr>
          <a:xfrm>
            <a:off x="1200000" y="3060000"/>
            <a:ext cx="500000" cy="0"/>
          </a:xfrm>
          <a:prstGeom prst="straightConnector1">
            <a:avLst/>
          </a:prstGeom>
          <a:ln w="28575">
            <a:solidFill>
              <a:srgbClr val="043073"/>
            </a:solidFill>
            <a:tailEnd type="triangle"/>
          </a:ln>
        </p:spPr>
      </p:cxnSp>
      <p:sp>
        <p:nvSpPr>
          <p:cNvPr id="16" name="Rótulo 16"/>
          <p:cNvSpPr txBox="1"/>
          <p:nvPr/>
        </p:nvSpPr>
        <p:spPr>
          <a:xfrm>
            <a:off x="4200000" y="2710000"/>
            <a:ext cx="7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1" dirty="0">
                <a:solidFill>
                  <a:srgbClr val="043073"/>
                </a:solidFill>
                <a:latin typeface="Inter Bold"/>
                <a:ea typeface="Inter Bold"/>
                <a:cs typeface="Inter Bold"/>
              </a:rPr>
              <a:t>Não</a:t>
            </a:r>
          </a:p>
        </p:txBody>
      </p:sp>
      <p:cxnSp>
        <p:nvCxnSpPr>
          <p:cNvPr id="17" name="Conector 17"/>
          <p:cNvCxnSpPr/>
          <p:nvPr/>
        </p:nvCxnSpPr>
        <p:spPr>
          <a:xfrm>
            <a:off x="4100000" y="3060000"/>
            <a:ext cx="1450000" cy="0"/>
          </a:xfrm>
          <a:prstGeom prst="straightConnector1">
            <a:avLst/>
          </a:prstGeom>
          <a:ln w="28575">
            <a:solidFill>
              <a:srgbClr val="043073"/>
            </a:solidFill>
          </a:ln>
        </p:spPr>
      </p:cxnSp>
      <p:cxnSp>
        <p:nvCxnSpPr>
          <p:cNvPr id="18" name="Conector 18"/>
          <p:cNvCxnSpPr/>
          <p:nvPr/>
        </p:nvCxnSpPr>
        <p:spPr>
          <a:xfrm>
            <a:off x="5550000" y="3060000"/>
            <a:ext cx="0" cy="400000"/>
          </a:xfrm>
          <a:prstGeom prst="straightConnector1">
            <a:avLst/>
          </a:prstGeom>
          <a:ln w="28575">
            <a:solidFill>
              <a:srgbClr val="043073"/>
            </a:solidFill>
            <a:tailEnd type="triangle"/>
          </a:ln>
        </p:spPr>
      </p:cxnSp>
      <p:sp>
        <p:nvSpPr>
          <p:cNvPr id="19" name="Fluxo 19"/>
          <p:cNvSpPr/>
          <p:nvPr/>
        </p:nvSpPr>
        <p:spPr>
          <a:xfrm>
            <a:off x="4850000" y="3460000"/>
            <a:ext cx="1400000" cy="380000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043073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Fim</a:t>
            </a:r>
          </a:p>
        </p:txBody>
      </p:sp>
      <p:sp>
        <p:nvSpPr>
          <p:cNvPr id="20" name="Rótulo 20"/>
          <p:cNvSpPr txBox="1"/>
          <p:nvPr/>
        </p:nvSpPr>
        <p:spPr>
          <a:xfrm>
            <a:off x="7100000" y="1500000"/>
            <a:ext cx="45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 dirty="0">
                <a:solidFill>
                  <a:srgbClr val="043073"/>
                </a:solidFill>
                <a:latin typeface="Inter Bold"/>
                <a:ea typeface="Inter Bold"/>
                <a:cs typeface="Inter Bold"/>
              </a:rPr>
              <a:t>Em Python</a:t>
            </a:r>
          </a:p>
        </p:txBody>
      </p:sp>
      <p:sp>
        <p:nvSpPr>
          <p:cNvPr id="21" name="Código 21"/>
          <p:cNvSpPr/>
          <p:nvPr/>
        </p:nvSpPr>
        <p:spPr>
          <a:xfrm>
            <a:off x="7100000" y="1950000"/>
            <a:ext cx="4500000" cy="1000000"/>
          </a:xfrm>
          <a:prstGeom prst="rect">
            <a:avLst/>
          </a:prstGeom>
          <a:solidFill>
            <a:srgbClr val="F3F4F8"/>
          </a:solidFill>
          <a:ln w="9525">
            <a:solidFill>
              <a:srgbClr val="C9CCE0"/>
            </a:solidFill>
          </a:ln>
        </p:spPr>
        <p:txBody>
          <a:bodyPr wrap="square" lIns="150000" tIns="90000" rIns="100000" bIns="9000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dirty="0">
                <a:solidFill>
                  <a:srgbClr val="272525"/>
                </a:solidFill>
                <a:latin typeface="Courier New"/>
                <a:ea typeface="Courier New"/>
                <a:cs typeface="Courier New"/>
              </a:rPr>
              <a:t>for i in range(1, 6):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dirty="0">
                <a:solidFill>
                  <a:srgbClr val="272525"/>
                </a:solidFill>
                <a:latin typeface="Courier New"/>
                <a:ea typeface="Courier New"/>
                <a:cs typeface="Courier New"/>
              </a:rPr>
              <a:t>    print(i)</a:t>
            </a:r>
          </a:p>
        </p:txBody>
      </p:sp>
      <p:sp>
        <p:nvSpPr>
          <p:cNvPr id="22" name="Legenda 22"/>
          <p:cNvSpPr txBox="1"/>
          <p:nvPr/>
        </p:nvSpPr>
        <p:spPr>
          <a:xfrm>
            <a:off x="7100000" y="3030000"/>
            <a:ext cx="45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range(1, 6) vai de 1 até 5: o 6 não entra!</a:t>
            </a:r>
          </a:p>
        </p:txBody>
      </p:sp>
      <p:sp>
        <p:nvSpPr>
          <p:cNvPr id="23" name="Número 23"/>
          <p:cNvSpPr/>
          <p:nvPr/>
        </p:nvSpPr>
        <p:spPr>
          <a:xfrm>
            <a:off x="7100000" y="3675000"/>
            <a:ext cx="400000" cy="400000"/>
          </a:xfrm>
          <a:prstGeom prst="ellipse">
            <a:avLst/>
          </a:prstGeom>
          <a:solidFill>
            <a:srgbClr val="04307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1</a:t>
            </a:r>
          </a:p>
        </p:txBody>
      </p:sp>
      <p:sp>
        <p:nvSpPr>
          <p:cNvPr id="24" name="Texto 24"/>
          <p:cNvSpPr txBox="1"/>
          <p:nvPr/>
        </p:nvSpPr>
        <p:spPr>
          <a:xfrm>
            <a:off x="7650000" y="3600000"/>
            <a:ext cx="3950000" cy="5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 b="1" dirty="0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Início: </a:t>
            </a:r>
            <a:r>
              <a:rPr lang="pt-BR" sz="15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i começa em 1</a:t>
            </a:r>
          </a:p>
        </p:txBody>
      </p:sp>
      <p:sp>
        <p:nvSpPr>
          <p:cNvPr id="25" name="Número 25"/>
          <p:cNvSpPr/>
          <p:nvPr/>
        </p:nvSpPr>
        <p:spPr>
          <a:xfrm>
            <a:off x="7100000" y="4295000"/>
            <a:ext cx="400000" cy="400000"/>
          </a:xfrm>
          <a:prstGeom prst="ellipse">
            <a:avLst/>
          </a:prstGeom>
          <a:solidFill>
            <a:srgbClr val="04307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2</a:t>
            </a:r>
          </a:p>
        </p:txBody>
      </p:sp>
      <p:sp>
        <p:nvSpPr>
          <p:cNvPr id="26" name="Texto 26"/>
          <p:cNvSpPr txBox="1"/>
          <p:nvPr/>
        </p:nvSpPr>
        <p:spPr>
          <a:xfrm>
            <a:off x="7650000" y="4220000"/>
            <a:ext cx="3950000" cy="5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 b="1" dirty="0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Condição: </a:t>
            </a:r>
            <a:r>
              <a:rPr lang="pt-BR" sz="15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i ≤ 5? Sim repete, Não termina</a:t>
            </a:r>
          </a:p>
        </p:txBody>
      </p:sp>
      <p:sp>
        <p:nvSpPr>
          <p:cNvPr id="27" name="Número 27"/>
          <p:cNvSpPr/>
          <p:nvPr/>
        </p:nvSpPr>
        <p:spPr>
          <a:xfrm>
            <a:off x="7100000" y="4915000"/>
            <a:ext cx="400000" cy="400000"/>
          </a:xfrm>
          <a:prstGeom prst="ellipse">
            <a:avLst/>
          </a:prstGeom>
          <a:solidFill>
            <a:srgbClr val="04307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3</a:t>
            </a:r>
          </a:p>
        </p:txBody>
      </p:sp>
      <p:sp>
        <p:nvSpPr>
          <p:cNvPr id="28" name="Texto 28"/>
          <p:cNvSpPr txBox="1"/>
          <p:nvPr/>
        </p:nvSpPr>
        <p:spPr>
          <a:xfrm>
            <a:off x="7650000" y="4840000"/>
            <a:ext cx="3950000" cy="5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 b="1" dirty="0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Passo: </a:t>
            </a:r>
            <a:r>
              <a:rPr lang="pt-BR" sz="15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i aumenta 1 a cada volta</a:t>
            </a:r>
          </a:p>
        </p:txBody>
      </p:sp>
      <p:sp>
        <p:nvSpPr>
          <p:cNvPr id="29" name="Saída 29"/>
          <p:cNvSpPr/>
          <p:nvPr/>
        </p:nvSpPr>
        <p:spPr>
          <a:xfrm>
            <a:off x="7100000" y="5600000"/>
            <a:ext cx="4500000" cy="500000"/>
          </a:xfrm>
          <a:prstGeom prst="roundRect">
            <a:avLst>
              <a:gd name="adj" fmla="val 15000"/>
            </a:avLst>
          </a:prstGeom>
          <a:solidFill>
            <a:srgbClr val="E3E5F6"/>
          </a:solidFill>
          <a:ln>
            <a:noFill/>
          </a:ln>
        </p:spPr>
        <p:txBody>
          <a:bodyPr wrap="square" lIns="200000" tIns="0" rIns="10000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Saída:  </a:t>
            </a:r>
            <a:r>
              <a:rPr lang="pt-BR" sz="1600" dirty="0">
                <a:solidFill>
                  <a:srgbClr val="272525"/>
                </a:solidFill>
                <a:latin typeface="Courier New"/>
                <a:ea typeface="Courier New"/>
                <a:cs typeface="Courier New"/>
              </a:rPr>
              <a:t>1  2  3  4  5</a:t>
            </a:r>
          </a:p>
        </p:txBody>
      </p:sp>
    </p:spTree>
    <p:extLst>
      <p:ext uri="{BB962C8B-B14F-4D97-AF65-F5344CB8AC3E}">
        <p14:creationId xmlns:p14="http://schemas.microsoft.com/office/powerpoint/2010/main" val="109439188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2"/>
          <p:cNvSpPr txBox="1"/>
          <p:nvPr/>
        </p:nvSpPr>
        <p:spPr>
          <a:xfrm>
            <a:off x="966267" y="832247"/>
            <a:ext cx="10868745" cy="590649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pt-BR" sz="2350" b="1" spc="-72" dirty="0">
                <a:solidFill>
                  <a:srgbClr val="000000"/>
                </a:solidFill>
                <a:latin typeface="Inter Bold"/>
                <a:ea typeface="Inter Bold"/>
                <a:cs typeface="Inter Bold"/>
              </a:rPr>
              <a:t>Teste de mesa: acompanhando o FOR</a:t>
            </a:r>
          </a:p>
        </p:txBody>
      </p:sp>
      <p:graphicFrame>
        <p:nvGraphicFramePr>
          <p:cNvPr id="3" name="Tabela 3"/>
          <p:cNvGraphicFramePr>
            <a:graphicFrameLocks noGrp="1"/>
          </p:cNvGraphicFramePr>
          <p:nvPr/>
        </p:nvGraphicFramePr>
        <p:xfrm>
          <a:off x="800000" y="1650000"/>
          <a:ext cx="6000000" cy="3850000"/>
        </p:xfrm>
        <a:graphic>
          <a:graphicData uri="http://schemas.openxmlformats.org/drawingml/2006/table">
            <a:tbl>
              <a:tblPr firstRow="1"/>
              <a:tblGrid>
                <a:gridCol w="1200000"/>
                <a:gridCol w="1200000"/>
                <a:gridCol w="1600000"/>
                <a:gridCol w="2000000"/>
              </a:tblGrid>
              <a:tr h="550000">
                <a:tc>
                  <a:txBody>
                    <a:bodyPr/>
                    <a:lstStyle/>
                    <a:p>
                      <a:pPr algn="ctr"/>
                      <a:r>
                        <a:rPr lang="pt-BR" sz="1400" b="1" dirty="0">
                          <a:solidFill>
                            <a:srgbClr val="FFFFFF"/>
                          </a:solidFill>
                          <a:latin typeface="Inter Bold"/>
                          <a:ea typeface="Inter Bold"/>
                          <a:cs typeface="Inter Bold"/>
                        </a:rPr>
                        <a:t>Volta</a:t>
                      </a:r>
                    </a:p>
                  </a:txBody>
                  <a:tcPr marL="60000" marR="60000" marT="25000" marB="25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C9CCE0"/>
                      </a:solidFill>
                    </a:lnB>
                    <a:solidFill>
                      <a:srgbClr val="04307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1" dirty="0">
                          <a:solidFill>
                            <a:srgbClr val="FFFFFF"/>
                          </a:solidFill>
                          <a:latin typeface="Inter Bold"/>
                          <a:ea typeface="Inter Bold"/>
                          <a:cs typeface="Inter Bold"/>
                        </a:rPr>
                        <a:t>i</a:t>
                      </a:r>
                    </a:p>
                  </a:txBody>
                  <a:tcPr marL="60000" marR="60000" marT="25000" marB="25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C9CCE0"/>
                      </a:solidFill>
                    </a:lnB>
                    <a:solidFill>
                      <a:srgbClr val="04307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1" dirty="0">
                          <a:solidFill>
                            <a:srgbClr val="FFFFFF"/>
                          </a:solidFill>
                          <a:latin typeface="Inter Bold"/>
                          <a:ea typeface="Inter Bold"/>
                          <a:cs typeface="Inter Bold"/>
                        </a:rPr>
                        <a:t>i ≤ 5 ?</a:t>
                      </a:r>
                    </a:p>
                  </a:txBody>
                  <a:tcPr marL="60000" marR="60000" marT="25000" marB="25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C9CCE0"/>
                      </a:solidFill>
                    </a:lnB>
                    <a:solidFill>
                      <a:srgbClr val="04307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1" dirty="0">
                          <a:solidFill>
                            <a:srgbClr val="FFFFFF"/>
                          </a:solidFill>
                          <a:latin typeface="Inter Bold"/>
                          <a:ea typeface="Inter Bold"/>
                          <a:cs typeface="Inter Bold"/>
                        </a:rPr>
                        <a:t>Saída</a:t>
                      </a:r>
                    </a:p>
                  </a:txBody>
                  <a:tcPr marL="60000" marR="60000" marT="25000" marB="25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C9CCE0"/>
                      </a:solidFill>
                    </a:lnB>
                    <a:solidFill>
                      <a:srgbClr val="043073"/>
                    </a:solidFill>
                  </a:tcPr>
                </a:tc>
              </a:tr>
              <a:tr h="55000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olidFill>
                            <a:srgbClr val="272525"/>
                          </a:solidFill>
                          <a:latin typeface="Inter"/>
                          <a:ea typeface="Inter"/>
                          <a:cs typeface="Inter"/>
                        </a:rPr>
                        <a:t>1</a:t>
                      </a:r>
                    </a:p>
                  </a:txBody>
                  <a:tcPr marL="60000" marR="60000" marT="25000" marB="25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C9CC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olidFill>
                            <a:srgbClr val="272525"/>
                          </a:solidFill>
                          <a:latin typeface="Inter"/>
                          <a:ea typeface="Inter"/>
                          <a:cs typeface="Inter"/>
                        </a:rPr>
                        <a:t>1</a:t>
                      </a:r>
                    </a:p>
                  </a:txBody>
                  <a:tcPr marL="60000" marR="60000" marT="25000" marB="25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C9CC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olidFill>
                            <a:srgbClr val="272525"/>
                          </a:solidFill>
                          <a:latin typeface="Inter"/>
                          <a:ea typeface="Inter"/>
                          <a:cs typeface="Inter"/>
                        </a:rPr>
                        <a:t>Sim</a:t>
                      </a:r>
                    </a:p>
                  </a:txBody>
                  <a:tcPr marL="60000" marR="60000" marT="25000" marB="25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C9CC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olidFill>
                            <a:srgbClr val="272525"/>
                          </a:solidFill>
                          <a:latin typeface="Inter"/>
                          <a:ea typeface="Inter"/>
                          <a:cs typeface="Inter"/>
                        </a:rPr>
                        <a:t>1</a:t>
                      </a:r>
                    </a:p>
                  </a:txBody>
                  <a:tcPr marL="60000" marR="60000" marT="25000" marB="25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C9CC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000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olidFill>
                            <a:srgbClr val="272525"/>
                          </a:solidFill>
                          <a:latin typeface="Inter"/>
                          <a:ea typeface="Inter"/>
                          <a:cs typeface="Inter"/>
                        </a:rPr>
                        <a:t>2</a:t>
                      </a:r>
                    </a:p>
                  </a:txBody>
                  <a:tcPr marL="60000" marR="60000" marT="25000" marB="25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C9CCE0"/>
                      </a:solidFill>
                    </a:lnB>
                    <a:solidFill>
                      <a:srgbClr val="EEF0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olidFill>
                            <a:srgbClr val="272525"/>
                          </a:solidFill>
                          <a:latin typeface="Inter"/>
                          <a:ea typeface="Inter"/>
                          <a:cs typeface="Inter"/>
                        </a:rPr>
                        <a:t>2</a:t>
                      </a:r>
                    </a:p>
                  </a:txBody>
                  <a:tcPr marL="60000" marR="60000" marT="25000" marB="25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C9CCE0"/>
                      </a:solidFill>
                    </a:lnB>
                    <a:solidFill>
                      <a:srgbClr val="EEF0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olidFill>
                            <a:srgbClr val="272525"/>
                          </a:solidFill>
                          <a:latin typeface="Inter"/>
                          <a:ea typeface="Inter"/>
                          <a:cs typeface="Inter"/>
                        </a:rPr>
                        <a:t>Sim</a:t>
                      </a:r>
                    </a:p>
                  </a:txBody>
                  <a:tcPr marL="60000" marR="60000" marT="25000" marB="25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C9CCE0"/>
                      </a:solidFill>
                    </a:lnB>
                    <a:solidFill>
                      <a:srgbClr val="EEF0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olidFill>
                            <a:srgbClr val="272525"/>
                          </a:solidFill>
                          <a:latin typeface="Inter"/>
                          <a:ea typeface="Inter"/>
                          <a:cs typeface="Inter"/>
                        </a:rPr>
                        <a:t>2</a:t>
                      </a:r>
                    </a:p>
                  </a:txBody>
                  <a:tcPr marL="60000" marR="60000" marT="25000" marB="25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C9CCE0"/>
                      </a:solidFill>
                    </a:lnB>
                    <a:solidFill>
                      <a:srgbClr val="EEF0FA"/>
                    </a:solidFill>
                  </a:tcPr>
                </a:tc>
              </a:tr>
              <a:tr h="55000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olidFill>
                            <a:srgbClr val="272525"/>
                          </a:solidFill>
                          <a:latin typeface="Inter"/>
                          <a:ea typeface="Inter"/>
                          <a:cs typeface="Inter"/>
                        </a:rPr>
                        <a:t>3</a:t>
                      </a:r>
                    </a:p>
                  </a:txBody>
                  <a:tcPr marL="60000" marR="60000" marT="25000" marB="25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C9CC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olidFill>
                            <a:srgbClr val="272525"/>
                          </a:solidFill>
                          <a:latin typeface="Inter"/>
                          <a:ea typeface="Inter"/>
                          <a:cs typeface="Inter"/>
                        </a:rPr>
                        <a:t>3</a:t>
                      </a:r>
                    </a:p>
                  </a:txBody>
                  <a:tcPr marL="60000" marR="60000" marT="25000" marB="25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C9CC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olidFill>
                            <a:srgbClr val="272525"/>
                          </a:solidFill>
                          <a:latin typeface="Inter"/>
                          <a:ea typeface="Inter"/>
                          <a:cs typeface="Inter"/>
                        </a:rPr>
                        <a:t>Sim</a:t>
                      </a:r>
                    </a:p>
                  </a:txBody>
                  <a:tcPr marL="60000" marR="60000" marT="25000" marB="25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C9CC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olidFill>
                            <a:srgbClr val="272525"/>
                          </a:solidFill>
                          <a:latin typeface="Inter"/>
                          <a:ea typeface="Inter"/>
                          <a:cs typeface="Inter"/>
                        </a:rPr>
                        <a:t>3</a:t>
                      </a:r>
                    </a:p>
                  </a:txBody>
                  <a:tcPr marL="60000" marR="60000" marT="25000" marB="25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C9CC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000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olidFill>
                            <a:srgbClr val="272525"/>
                          </a:solidFill>
                          <a:latin typeface="Inter"/>
                          <a:ea typeface="Inter"/>
                          <a:cs typeface="Inter"/>
                        </a:rPr>
                        <a:t>4</a:t>
                      </a:r>
                    </a:p>
                  </a:txBody>
                  <a:tcPr marL="60000" marR="60000" marT="25000" marB="25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C9CCE0"/>
                      </a:solidFill>
                    </a:lnB>
                    <a:solidFill>
                      <a:srgbClr val="EEF0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olidFill>
                            <a:srgbClr val="272525"/>
                          </a:solidFill>
                          <a:latin typeface="Inter"/>
                          <a:ea typeface="Inter"/>
                          <a:cs typeface="Inter"/>
                        </a:rPr>
                        <a:t>4</a:t>
                      </a:r>
                    </a:p>
                  </a:txBody>
                  <a:tcPr marL="60000" marR="60000" marT="25000" marB="25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C9CCE0"/>
                      </a:solidFill>
                    </a:lnB>
                    <a:solidFill>
                      <a:srgbClr val="EEF0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olidFill>
                            <a:srgbClr val="272525"/>
                          </a:solidFill>
                          <a:latin typeface="Inter"/>
                          <a:ea typeface="Inter"/>
                          <a:cs typeface="Inter"/>
                        </a:rPr>
                        <a:t>Sim</a:t>
                      </a:r>
                    </a:p>
                  </a:txBody>
                  <a:tcPr marL="60000" marR="60000" marT="25000" marB="25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C9CCE0"/>
                      </a:solidFill>
                    </a:lnB>
                    <a:solidFill>
                      <a:srgbClr val="EEF0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olidFill>
                            <a:srgbClr val="272525"/>
                          </a:solidFill>
                          <a:latin typeface="Inter"/>
                          <a:ea typeface="Inter"/>
                          <a:cs typeface="Inter"/>
                        </a:rPr>
                        <a:t>4</a:t>
                      </a:r>
                    </a:p>
                  </a:txBody>
                  <a:tcPr marL="60000" marR="60000" marT="25000" marB="25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C9CCE0"/>
                      </a:solidFill>
                    </a:lnB>
                    <a:solidFill>
                      <a:srgbClr val="EEF0FA"/>
                    </a:solidFill>
                  </a:tcPr>
                </a:tc>
              </a:tr>
              <a:tr h="55000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olidFill>
                            <a:srgbClr val="272525"/>
                          </a:solidFill>
                          <a:latin typeface="Inter"/>
                          <a:ea typeface="Inter"/>
                          <a:cs typeface="Inter"/>
                        </a:rPr>
                        <a:t>5</a:t>
                      </a:r>
                    </a:p>
                  </a:txBody>
                  <a:tcPr marL="60000" marR="60000" marT="25000" marB="25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C9CC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olidFill>
                            <a:srgbClr val="272525"/>
                          </a:solidFill>
                          <a:latin typeface="Inter"/>
                          <a:ea typeface="Inter"/>
                          <a:cs typeface="Inter"/>
                        </a:rPr>
                        <a:t>5</a:t>
                      </a:r>
                    </a:p>
                  </a:txBody>
                  <a:tcPr marL="60000" marR="60000" marT="25000" marB="25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C9CC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olidFill>
                            <a:srgbClr val="272525"/>
                          </a:solidFill>
                          <a:latin typeface="Inter"/>
                          <a:ea typeface="Inter"/>
                          <a:cs typeface="Inter"/>
                        </a:rPr>
                        <a:t>Sim</a:t>
                      </a:r>
                    </a:p>
                  </a:txBody>
                  <a:tcPr marL="60000" marR="60000" marT="25000" marB="25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C9CC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olidFill>
                            <a:srgbClr val="272525"/>
                          </a:solidFill>
                          <a:latin typeface="Inter"/>
                          <a:ea typeface="Inter"/>
                          <a:cs typeface="Inter"/>
                        </a:rPr>
                        <a:t>5</a:t>
                      </a:r>
                    </a:p>
                  </a:txBody>
                  <a:tcPr marL="60000" marR="60000" marT="25000" marB="25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C9CC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0000">
                <a:tc>
                  <a:txBody>
                    <a:bodyPr/>
                    <a:lstStyle/>
                    <a:p>
                      <a:pPr algn="ctr"/>
                      <a:r>
                        <a:rPr lang="pt-BR" sz="1400" b="1" dirty="0">
                          <a:solidFill>
                            <a:srgbClr val="272525"/>
                          </a:solidFill>
                          <a:latin typeface="Inter Bold"/>
                          <a:ea typeface="Inter Bold"/>
                          <a:cs typeface="Inter Bold"/>
                        </a:rPr>
                        <a:t>—</a:t>
                      </a:r>
                    </a:p>
                  </a:txBody>
                  <a:tcPr marL="60000" marR="60000" marT="25000" marB="25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C9CCE0"/>
                      </a:solidFill>
                    </a:lnB>
                    <a:solidFill>
                      <a:srgbClr val="E3E5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1" dirty="0">
                          <a:solidFill>
                            <a:srgbClr val="272525"/>
                          </a:solidFill>
                          <a:latin typeface="Inter Bold"/>
                          <a:ea typeface="Inter Bold"/>
                          <a:cs typeface="Inter Bold"/>
                        </a:rPr>
                        <a:t>6</a:t>
                      </a:r>
                    </a:p>
                  </a:txBody>
                  <a:tcPr marL="60000" marR="60000" marT="25000" marB="25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C9CCE0"/>
                      </a:solidFill>
                    </a:lnB>
                    <a:solidFill>
                      <a:srgbClr val="E3E5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1" dirty="0">
                          <a:solidFill>
                            <a:srgbClr val="272525"/>
                          </a:solidFill>
                          <a:latin typeface="Inter Bold"/>
                          <a:ea typeface="Inter Bold"/>
                          <a:cs typeface="Inter Bold"/>
                        </a:rPr>
                        <a:t>Não</a:t>
                      </a:r>
                    </a:p>
                  </a:txBody>
                  <a:tcPr marL="60000" marR="60000" marT="25000" marB="25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C9CCE0"/>
                      </a:solidFill>
                    </a:lnB>
                    <a:solidFill>
                      <a:srgbClr val="E3E5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1" dirty="0">
                          <a:solidFill>
                            <a:srgbClr val="272525"/>
                          </a:solidFill>
                          <a:latin typeface="Inter Bold"/>
                          <a:ea typeface="Inter Bold"/>
                          <a:cs typeface="Inter Bold"/>
                        </a:rPr>
                        <a:t>fim do laço</a:t>
                      </a:r>
                    </a:p>
                  </a:txBody>
                  <a:tcPr marL="60000" marR="60000" marT="25000" marB="25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C9CCE0"/>
                      </a:solidFill>
                    </a:lnB>
                    <a:solidFill>
                      <a:srgbClr val="E3E5F6"/>
                    </a:solidFill>
                  </a:tcPr>
                </a:tc>
              </a:tr>
            </a:tbl>
          </a:graphicData>
        </a:graphic>
      </p:graphicFrame>
      <p:sp>
        <p:nvSpPr>
          <p:cNvPr id="4" name="Rótulo 4"/>
          <p:cNvSpPr txBox="1"/>
          <p:nvPr/>
        </p:nvSpPr>
        <p:spPr>
          <a:xfrm>
            <a:off x="7600000" y="1650000"/>
            <a:ext cx="4000000" cy="4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 dirty="0">
                <a:solidFill>
                  <a:srgbClr val="043073"/>
                </a:solidFill>
                <a:latin typeface="Inter Bold"/>
                <a:ea typeface="Inter Bold"/>
                <a:cs typeface="Inter Bold"/>
              </a:rPr>
              <a:t>Como ler a tabela</a:t>
            </a:r>
          </a:p>
        </p:txBody>
      </p:sp>
      <p:sp>
        <p:nvSpPr>
          <p:cNvPr id="5" name="Número 5"/>
          <p:cNvSpPr/>
          <p:nvPr/>
        </p:nvSpPr>
        <p:spPr>
          <a:xfrm>
            <a:off x="7600000" y="2375000"/>
            <a:ext cx="400000" cy="400000"/>
          </a:xfrm>
          <a:prstGeom prst="ellipse">
            <a:avLst/>
          </a:prstGeom>
          <a:solidFill>
            <a:srgbClr val="04307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1</a:t>
            </a:r>
          </a:p>
        </p:txBody>
      </p:sp>
      <p:sp>
        <p:nvSpPr>
          <p:cNvPr id="6" name="Texto 6"/>
          <p:cNvSpPr txBox="1"/>
          <p:nvPr/>
        </p:nvSpPr>
        <p:spPr>
          <a:xfrm>
            <a:off x="8150000" y="2300000"/>
            <a:ext cx="3450000" cy="5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 b="1" dirty="0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A cada volta, </a:t>
            </a:r>
            <a:r>
              <a:rPr lang="pt-BR" sz="15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o i aumenta 1</a:t>
            </a:r>
          </a:p>
        </p:txBody>
      </p:sp>
      <p:sp>
        <p:nvSpPr>
          <p:cNvPr id="7" name="Número 7"/>
          <p:cNvSpPr/>
          <p:nvPr/>
        </p:nvSpPr>
        <p:spPr>
          <a:xfrm>
            <a:off x="7600000" y="2995000"/>
            <a:ext cx="400000" cy="400000"/>
          </a:xfrm>
          <a:prstGeom prst="ellipse">
            <a:avLst/>
          </a:prstGeom>
          <a:solidFill>
            <a:srgbClr val="04307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2</a:t>
            </a:r>
          </a:p>
        </p:txBody>
      </p:sp>
      <p:sp>
        <p:nvSpPr>
          <p:cNvPr id="8" name="Texto 8"/>
          <p:cNvSpPr txBox="1"/>
          <p:nvPr/>
        </p:nvSpPr>
        <p:spPr>
          <a:xfrm>
            <a:off x="8150000" y="2920000"/>
            <a:ext cx="3450000" cy="5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 b="1" dirty="0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A condição </a:t>
            </a:r>
            <a:r>
              <a:rPr lang="pt-BR" sz="15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é testada antes de cada volta</a:t>
            </a:r>
          </a:p>
        </p:txBody>
      </p:sp>
      <p:sp>
        <p:nvSpPr>
          <p:cNvPr id="9" name="Número 9"/>
          <p:cNvSpPr/>
          <p:nvPr/>
        </p:nvSpPr>
        <p:spPr>
          <a:xfrm>
            <a:off x="7600000" y="3615000"/>
            <a:ext cx="400000" cy="400000"/>
          </a:xfrm>
          <a:prstGeom prst="ellipse">
            <a:avLst/>
          </a:prstGeom>
          <a:solidFill>
            <a:srgbClr val="04307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3</a:t>
            </a:r>
          </a:p>
        </p:txBody>
      </p:sp>
      <p:sp>
        <p:nvSpPr>
          <p:cNvPr id="10" name="Texto 10"/>
          <p:cNvSpPr txBox="1"/>
          <p:nvPr/>
        </p:nvSpPr>
        <p:spPr>
          <a:xfrm>
            <a:off x="8150000" y="3540000"/>
            <a:ext cx="3450000" cy="5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 b="1" dirty="0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Quando i = 6, </a:t>
            </a:r>
            <a:r>
              <a:rPr lang="pt-BR" sz="15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vira Não e o laço termina</a:t>
            </a:r>
          </a:p>
        </p:txBody>
      </p:sp>
      <p:sp>
        <p:nvSpPr>
          <p:cNvPr id="11" name="Destaque 11"/>
          <p:cNvSpPr/>
          <p:nvPr/>
        </p:nvSpPr>
        <p:spPr>
          <a:xfrm>
            <a:off x="7600000" y="4500000"/>
            <a:ext cx="4000000" cy="1100000"/>
          </a:xfrm>
          <a:prstGeom prst="roundRect">
            <a:avLst>
              <a:gd name="adj" fmla="val 8000"/>
            </a:avLst>
          </a:prstGeom>
          <a:solidFill>
            <a:srgbClr val="E3E5F6"/>
          </a:solidFill>
          <a:ln>
            <a:noFill/>
          </a:ln>
        </p:spPr>
        <p:txBody>
          <a:bodyPr wrap="square" lIns="200000" tIns="80000" rIns="150000" bIns="8000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 b="1" dirty="0">
                <a:solidFill>
                  <a:srgbClr val="043073"/>
                </a:solidFill>
                <a:latin typeface="Inter Bold"/>
                <a:ea typeface="Inter Bold"/>
                <a:cs typeface="Inter Bold"/>
              </a:rPr>
              <a:t>Dica: </a:t>
            </a:r>
            <a:r>
              <a:rPr lang="pt-BR" sz="15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refaça a tabela com i ← 0 e veja o que muda.</a:t>
            </a:r>
          </a:p>
        </p:txBody>
      </p:sp>
    </p:spTree>
    <p:extLst>
      <p:ext uri="{BB962C8B-B14F-4D97-AF65-F5344CB8AC3E}">
        <p14:creationId xmlns:p14="http://schemas.microsoft.com/office/powerpoint/2010/main" val="109439188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2"/>
          <p:cNvSpPr txBox="1"/>
          <p:nvPr/>
        </p:nvSpPr>
        <p:spPr>
          <a:xfrm>
            <a:off x="966267" y="832247"/>
            <a:ext cx="10868745" cy="590649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pt-BR" sz="2350" b="1" spc="-72" dirty="0">
                <a:solidFill>
                  <a:srgbClr val="000000"/>
                </a:solidFill>
                <a:latin typeface="Inter Bold"/>
                <a:ea typeface="Inter Bold"/>
                <a:cs typeface="Inter Bold"/>
              </a:rPr>
              <a:t>Vamos fazer juntos 1: soma de 1 a 5</a:t>
            </a:r>
          </a:p>
        </p:txBody>
      </p:sp>
      <p:sp>
        <p:nvSpPr>
          <p:cNvPr id="3" name="Fluxo 3"/>
          <p:cNvSpPr/>
          <p:nvPr/>
        </p:nvSpPr>
        <p:spPr>
          <a:xfrm>
            <a:off x="2200000" y="1500000"/>
            <a:ext cx="1400000" cy="380000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043073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Início</a:t>
            </a:r>
          </a:p>
        </p:txBody>
      </p:sp>
      <p:cxnSp>
        <p:nvCxnSpPr>
          <p:cNvPr id="4" name="Conector 4"/>
          <p:cNvCxnSpPr/>
          <p:nvPr/>
        </p:nvCxnSpPr>
        <p:spPr>
          <a:xfrm>
            <a:off x="2900000" y="1880000"/>
            <a:ext cx="0" cy="220000"/>
          </a:xfrm>
          <a:prstGeom prst="straightConnector1">
            <a:avLst/>
          </a:prstGeom>
          <a:ln w="28575">
            <a:solidFill>
              <a:srgbClr val="043073"/>
            </a:solidFill>
            <a:tailEnd type="triangle"/>
          </a:ln>
        </p:spPr>
      </p:cxnSp>
      <p:sp>
        <p:nvSpPr>
          <p:cNvPr id="5" name="Fluxo 5"/>
          <p:cNvSpPr/>
          <p:nvPr/>
        </p:nvSpPr>
        <p:spPr>
          <a:xfrm>
            <a:off x="1900000" y="2100000"/>
            <a:ext cx="2000000" cy="380000"/>
          </a:xfrm>
          <a:prstGeom prst="rect">
            <a:avLst/>
          </a:prstGeom>
          <a:noFill/>
          <a:ln w="19050">
            <a:solidFill>
              <a:srgbClr val="043073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soma ← 0</a:t>
            </a:r>
          </a:p>
        </p:txBody>
      </p:sp>
      <p:cxnSp>
        <p:nvCxnSpPr>
          <p:cNvPr id="6" name="Conector 6"/>
          <p:cNvCxnSpPr/>
          <p:nvPr/>
        </p:nvCxnSpPr>
        <p:spPr>
          <a:xfrm>
            <a:off x="2900000" y="2480000"/>
            <a:ext cx="0" cy="220000"/>
          </a:xfrm>
          <a:prstGeom prst="straightConnector1">
            <a:avLst/>
          </a:prstGeom>
          <a:ln w="28575">
            <a:solidFill>
              <a:srgbClr val="043073"/>
            </a:solidFill>
            <a:tailEnd type="triangle"/>
          </a:ln>
        </p:spPr>
      </p:cxnSp>
      <p:sp>
        <p:nvSpPr>
          <p:cNvPr id="7" name="Fluxo 7"/>
          <p:cNvSpPr/>
          <p:nvPr/>
        </p:nvSpPr>
        <p:spPr>
          <a:xfrm>
            <a:off x="1900000" y="2700000"/>
            <a:ext cx="2000000" cy="380000"/>
          </a:xfrm>
          <a:prstGeom prst="rect">
            <a:avLst/>
          </a:prstGeom>
          <a:noFill/>
          <a:ln w="19050">
            <a:solidFill>
              <a:srgbClr val="043073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i ← 1</a:t>
            </a:r>
          </a:p>
        </p:txBody>
      </p:sp>
      <p:cxnSp>
        <p:nvCxnSpPr>
          <p:cNvPr id="8" name="Conector 8"/>
          <p:cNvCxnSpPr/>
          <p:nvPr/>
        </p:nvCxnSpPr>
        <p:spPr>
          <a:xfrm>
            <a:off x="2900000" y="3080000"/>
            <a:ext cx="0" cy="220000"/>
          </a:xfrm>
          <a:prstGeom prst="straightConnector1">
            <a:avLst/>
          </a:prstGeom>
          <a:ln w="28575">
            <a:solidFill>
              <a:srgbClr val="043073"/>
            </a:solidFill>
            <a:tailEnd type="triangle"/>
          </a:ln>
        </p:spPr>
      </p:cxnSp>
      <p:sp>
        <p:nvSpPr>
          <p:cNvPr id="9" name="Decisão 9"/>
          <p:cNvSpPr/>
          <p:nvPr/>
        </p:nvSpPr>
        <p:spPr>
          <a:xfrm>
            <a:off x="1700000" y="3300000"/>
            <a:ext cx="2400000" cy="720000"/>
          </a:xfrm>
          <a:prstGeom prst="flowChartDecision">
            <a:avLst/>
          </a:prstGeom>
          <a:noFill/>
          <a:ln w="19050">
            <a:solidFill>
              <a:srgbClr val="043073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i ≤ 5 ?</a:t>
            </a:r>
          </a:p>
        </p:txBody>
      </p:sp>
      <p:sp>
        <p:nvSpPr>
          <p:cNvPr id="10" name="Rótulo 10"/>
          <p:cNvSpPr txBox="1"/>
          <p:nvPr/>
        </p:nvSpPr>
        <p:spPr>
          <a:xfrm>
            <a:off x="3000000" y="4030000"/>
            <a:ext cx="7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1" dirty="0">
                <a:solidFill>
                  <a:srgbClr val="043073"/>
                </a:solidFill>
                <a:latin typeface="Inter Bold"/>
                <a:ea typeface="Inter Bold"/>
                <a:cs typeface="Inter Bold"/>
              </a:rPr>
              <a:t>Sim</a:t>
            </a:r>
          </a:p>
        </p:txBody>
      </p:sp>
      <p:cxnSp>
        <p:nvCxnSpPr>
          <p:cNvPr id="11" name="Conector 11"/>
          <p:cNvCxnSpPr/>
          <p:nvPr/>
        </p:nvCxnSpPr>
        <p:spPr>
          <a:xfrm>
            <a:off x="2900000" y="4020000"/>
            <a:ext cx="0" cy="300000"/>
          </a:xfrm>
          <a:prstGeom prst="straightConnector1">
            <a:avLst/>
          </a:prstGeom>
          <a:ln w="28575">
            <a:solidFill>
              <a:srgbClr val="043073"/>
            </a:solidFill>
            <a:tailEnd type="triangle"/>
          </a:ln>
        </p:spPr>
      </p:cxnSp>
      <p:sp>
        <p:nvSpPr>
          <p:cNvPr id="12" name="Fluxo 12"/>
          <p:cNvSpPr/>
          <p:nvPr/>
        </p:nvSpPr>
        <p:spPr>
          <a:xfrm>
            <a:off x="1900000" y="4320000"/>
            <a:ext cx="2000000" cy="380000"/>
          </a:xfrm>
          <a:prstGeom prst="rect">
            <a:avLst/>
          </a:prstGeom>
          <a:noFill/>
          <a:ln w="19050">
            <a:solidFill>
              <a:srgbClr val="043073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soma ← soma + i</a:t>
            </a:r>
          </a:p>
        </p:txBody>
      </p:sp>
      <p:cxnSp>
        <p:nvCxnSpPr>
          <p:cNvPr id="13" name="Conector 13"/>
          <p:cNvCxnSpPr/>
          <p:nvPr/>
        </p:nvCxnSpPr>
        <p:spPr>
          <a:xfrm>
            <a:off x="2900000" y="4700000"/>
            <a:ext cx="0" cy="220000"/>
          </a:xfrm>
          <a:prstGeom prst="straightConnector1">
            <a:avLst/>
          </a:prstGeom>
          <a:ln w="28575">
            <a:solidFill>
              <a:srgbClr val="043073"/>
            </a:solidFill>
            <a:tailEnd type="triangle"/>
          </a:ln>
        </p:spPr>
      </p:cxnSp>
      <p:sp>
        <p:nvSpPr>
          <p:cNvPr id="14" name="Fluxo 14"/>
          <p:cNvSpPr/>
          <p:nvPr/>
        </p:nvSpPr>
        <p:spPr>
          <a:xfrm>
            <a:off x="1900000" y="4920000"/>
            <a:ext cx="2000000" cy="380000"/>
          </a:xfrm>
          <a:prstGeom prst="rect">
            <a:avLst/>
          </a:prstGeom>
          <a:noFill/>
          <a:ln w="19050">
            <a:solidFill>
              <a:srgbClr val="043073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i ← i + 1</a:t>
            </a:r>
          </a:p>
        </p:txBody>
      </p:sp>
      <p:cxnSp>
        <p:nvCxnSpPr>
          <p:cNvPr id="15" name="Conector 15"/>
          <p:cNvCxnSpPr/>
          <p:nvPr/>
        </p:nvCxnSpPr>
        <p:spPr>
          <a:xfrm flipH="1">
            <a:off x="1200000" y="5110000"/>
            <a:ext cx="700000" cy="0"/>
          </a:xfrm>
          <a:prstGeom prst="straightConnector1">
            <a:avLst/>
          </a:prstGeom>
          <a:ln w="28575">
            <a:solidFill>
              <a:srgbClr val="043073"/>
            </a:solidFill>
          </a:ln>
        </p:spPr>
      </p:cxnSp>
      <p:cxnSp>
        <p:nvCxnSpPr>
          <p:cNvPr id="16" name="Conector 16"/>
          <p:cNvCxnSpPr/>
          <p:nvPr/>
        </p:nvCxnSpPr>
        <p:spPr>
          <a:xfrm flipV="1">
            <a:off x="1200000" y="3660000"/>
            <a:ext cx="0" cy="1450000"/>
          </a:xfrm>
          <a:prstGeom prst="straightConnector1">
            <a:avLst/>
          </a:prstGeom>
          <a:ln w="28575">
            <a:solidFill>
              <a:srgbClr val="043073"/>
            </a:solidFill>
          </a:ln>
        </p:spPr>
      </p:cxnSp>
      <p:cxnSp>
        <p:nvCxnSpPr>
          <p:cNvPr id="17" name="Conector 17"/>
          <p:cNvCxnSpPr/>
          <p:nvPr/>
        </p:nvCxnSpPr>
        <p:spPr>
          <a:xfrm>
            <a:off x="1200000" y="3660000"/>
            <a:ext cx="500000" cy="0"/>
          </a:xfrm>
          <a:prstGeom prst="straightConnector1">
            <a:avLst/>
          </a:prstGeom>
          <a:ln w="28575">
            <a:solidFill>
              <a:srgbClr val="043073"/>
            </a:solidFill>
            <a:tailEnd type="triangle"/>
          </a:ln>
        </p:spPr>
      </p:cxnSp>
      <p:sp>
        <p:nvSpPr>
          <p:cNvPr id="18" name="Rótulo 18"/>
          <p:cNvSpPr txBox="1"/>
          <p:nvPr/>
        </p:nvSpPr>
        <p:spPr>
          <a:xfrm>
            <a:off x="4200000" y="3310000"/>
            <a:ext cx="7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1" dirty="0">
                <a:solidFill>
                  <a:srgbClr val="043073"/>
                </a:solidFill>
                <a:latin typeface="Inter Bold"/>
                <a:ea typeface="Inter Bold"/>
                <a:cs typeface="Inter Bold"/>
              </a:rPr>
              <a:t>Não</a:t>
            </a:r>
          </a:p>
        </p:txBody>
      </p:sp>
      <p:cxnSp>
        <p:nvCxnSpPr>
          <p:cNvPr id="19" name="Conector 19"/>
          <p:cNvCxnSpPr/>
          <p:nvPr/>
        </p:nvCxnSpPr>
        <p:spPr>
          <a:xfrm>
            <a:off x="4100000" y="3660000"/>
            <a:ext cx="1450000" cy="0"/>
          </a:xfrm>
          <a:prstGeom prst="straightConnector1">
            <a:avLst/>
          </a:prstGeom>
          <a:ln w="28575">
            <a:solidFill>
              <a:srgbClr val="043073"/>
            </a:solidFill>
          </a:ln>
        </p:spPr>
      </p:cxnSp>
      <p:cxnSp>
        <p:nvCxnSpPr>
          <p:cNvPr id="20" name="Conector 20"/>
          <p:cNvCxnSpPr/>
          <p:nvPr/>
        </p:nvCxnSpPr>
        <p:spPr>
          <a:xfrm>
            <a:off x="5550000" y="3660000"/>
            <a:ext cx="0" cy="400000"/>
          </a:xfrm>
          <a:prstGeom prst="straightConnector1">
            <a:avLst/>
          </a:prstGeom>
          <a:ln w="28575">
            <a:solidFill>
              <a:srgbClr val="043073"/>
            </a:solidFill>
            <a:tailEnd type="triangle"/>
          </a:ln>
        </p:spPr>
      </p:cxnSp>
      <p:sp>
        <p:nvSpPr>
          <p:cNvPr id="21" name="Fluxo 21"/>
          <p:cNvSpPr/>
          <p:nvPr/>
        </p:nvSpPr>
        <p:spPr>
          <a:xfrm>
            <a:off x="4650000" y="4060000"/>
            <a:ext cx="1800000" cy="380000"/>
          </a:xfrm>
          <a:prstGeom prst="rect">
            <a:avLst/>
          </a:prstGeom>
          <a:noFill/>
          <a:ln w="19050">
            <a:solidFill>
              <a:srgbClr val="043073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Escreva soma</a:t>
            </a:r>
          </a:p>
        </p:txBody>
      </p:sp>
      <p:cxnSp>
        <p:nvCxnSpPr>
          <p:cNvPr id="22" name="Conector 22"/>
          <p:cNvCxnSpPr/>
          <p:nvPr/>
        </p:nvCxnSpPr>
        <p:spPr>
          <a:xfrm>
            <a:off x="5550000" y="4440000"/>
            <a:ext cx="0" cy="220000"/>
          </a:xfrm>
          <a:prstGeom prst="straightConnector1">
            <a:avLst/>
          </a:prstGeom>
          <a:ln w="28575">
            <a:solidFill>
              <a:srgbClr val="043073"/>
            </a:solidFill>
            <a:tailEnd type="triangle"/>
          </a:ln>
        </p:spPr>
      </p:cxnSp>
      <p:sp>
        <p:nvSpPr>
          <p:cNvPr id="23" name="Fluxo 23"/>
          <p:cNvSpPr/>
          <p:nvPr/>
        </p:nvSpPr>
        <p:spPr>
          <a:xfrm>
            <a:off x="4850000" y="4660000"/>
            <a:ext cx="1400000" cy="380000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043073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Fim</a:t>
            </a:r>
          </a:p>
        </p:txBody>
      </p:sp>
      <p:sp>
        <p:nvSpPr>
          <p:cNvPr id="24" name="Rótulo 24"/>
          <p:cNvSpPr txBox="1"/>
          <p:nvPr/>
        </p:nvSpPr>
        <p:spPr>
          <a:xfrm>
            <a:off x="7100000" y="1500000"/>
            <a:ext cx="45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 dirty="0">
                <a:solidFill>
                  <a:srgbClr val="043073"/>
                </a:solidFill>
                <a:latin typeface="Inter Bold"/>
                <a:ea typeface="Inter Bold"/>
                <a:cs typeface="Inter Bold"/>
              </a:rPr>
              <a:t>Em Python</a:t>
            </a:r>
          </a:p>
        </p:txBody>
      </p:sp>
      <p:sp>
        <p:nvSpPr>
          <p:cNvPr id="25" name="Código 25"/>
          <p:cNvSpPr/>
          <p:nvPr/>
        </p:nvSpPr>
        <p:spPr>
          <a:xfrm>
            <a:off x="7100000" y="1950000"/>
            <a:ext cx="4500000" cy="1620000"/>
          </a:xfrm>
          <a:prstGeom prst="rect">
            <a:avLst/>
          </a:prstGeom>
          <a:solidFill>
            <a:srgbClr val="F3F4F8"/>
          </a:solidFill>
          <a:ln w="9525">
            <a:solidFill>
              <a:srgbClr val="C9CCE0"/>
            </a:solidFill>
          </a:ln>
        </p:spPr>
        <p:txBody>
          <a:bodyPr wrap="square" lIns="150000" tIns="90000" rIns="100000" bIns="9000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00" dirty="0">
                <a:solidFill>
                  <a:srgbClr val="272525"/>
                </a:solidFill>
                <a:latin typeface="Courier New"/>
                <a:ea typeface="Courier New"/>
                <a:cs typeface="Courier New"/>
              </a:rPr>
              <a:t>soma = 0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00" dirty="0">
                <a:solidFill>
                  <a:srgbClr val="272525"/>
                </a:solidFill>
                <a:latin typeface="Courier New"/>
                <a:ea typeface="Courier New"/>
                <a:cs typeface="Courier New"/>
              </a:rPr>
              <a:t>for i in range(1, 6):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00" dirty="0">
                <a:solidFill>
                  <a:srgbClr val="272525"/>
                </a:solidFill>
                <a:latin typeface="Courier New"/>
                <a:ea typeface="Courier New"/>
                <a:cs typeface="Courier New"/>
              </a:rPr>
              <a:t>    soma = soma + i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00" dirty="0">
                <a:solidFill>
                  <a:srgbClr val="272525"/>
                </a:solidFill>
                <a:latin typeface="Courier New"/>
                <a:ea typeface="Courier New"/>
                <a:cs typeface="Courier New"/>
              </a:rPr>
              <a:t>print(soma)</a:t>
            </a:r>
          </a:p>
        </p:txBody>
      </p:sp>
      <p:sp>
        <p:nvSpPr>
          <p:cNvPr id="26" name="Pergunta 26"/>
          <p:cNvSpPr/>
          <p:nvPr/>
        </p:nvSpPr>
        <p:spPr>
          <a:xfrm>
            <a:off x="7100000" y="3870000"/>
            <a:ext cx="4500000" cy="1150000"/>
          </a:xfrm>
          <a:prstGeom prst="roundRect">
            <a:avLst>
              <a:gd name="adj" fmla="val 8000"/>
            </a:avLst>
          </a:prstGeom>
          <a:solidFill>
            <a:srgbClr val="E3E5F6"/>
          </a:solidFill>
          <a:ln>
            <a:noFill/>
          </a:ln>
        </p:spPr>
        <p:txBody>
          <a:bodyPr wrap="square" lIns="200000" tIns="80000" rIns="150000" bIns="8000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 b="1" dirty="0">
                <a:solidFill>
                  <a:srgbClr val="043073"/>
                </a:solidFill>
                <a:latin typeface="Inter Bold"/>
                <a:ea typeface="Inter Bold"/>
                <a:cs typeface="Inter Bold"/>
              </a:rPr>
              <a:t>Pergunte à turma: </a:t>
            </a:r>
            <a:r>
              <a:rPr lang="pt-BR" sz="15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quanto vale soma no fim de cada volta? (1, 3, 6, 10, 15)</a:t>
            </a:r>
          </a:p>
        </p:txBody>
      </p:sp>
      <p:sp>
        <p:nvSpPr>
          <p:cNvPr id="27" name="Saída 27"/>
          <p:cNvSpPr/>
          <p:nvPr/>
        </p:nvSpPr>
        <p:spPr>
          <a:xfrm>
            <a:off x="7100000" y="5270000"/>
            <a:ext cx="4500000" cy="450000"/>
          </a:xfrm>
          <a:prstGeom prst="roundRect">
            <a:avLst>
              <a:gd name="adj" fmla="val 15000"/>
            </a:avLst>
          </a:prstGeom>
          <a:solidFill>
            <a:srgbClr val="EEF0FA"/>
          </a:solidFill>
          <a:ln>
            <a:noFill/>
          </a:ln>
        </p:spPr>
        <p:txBody>
          <a:bodyPr wrap="square" lIns="200000" tIns="0" rIns="10000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Saída:  </a:t>
            </a:r>
            <a:r>
              <a:rPr lang="pt-BR" sz="1600" dirty="0">
                <a:solidFill>
                  <a:srgbClr val="272525"/>
                </a:solidFill>
                <a:latin typeface="Courier New"/>
                <a:ea typeface="Courier New"/>
                <a:cs typeface="Courier New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09439188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2"/>
          <p:cNvSpPr txBox="1"/>
          <p:nvPr/>
        </p:nvSpPr>
        <p:spPr>
          <a:xfrm>
            <a:off x="966267" y="832247"/>
            <a:ext cx="10868745" cy="590649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pt-BR" sz="2350" b="1" spc="-72" dirty="0">
                <a:solidFill>
                  <a:srgbClr val="000000"/>
                </a:solidFill>
                <a:latin typeface="Inter Bold"/>
                <a:ea typeface="Inter Bold"/>
                <a:cs typeface="Inter Bold"/>
              </a:rPr>
              <a:t>Vamos fazer juntos 2: quadrados de 1 a 5</a:t>
            </a:r>
          </a:p>
        </p:txBody>
      </p:sp>
      <p:sp>
        <p:nvSpPr>
          <p:cNvPr id="3" name="Fluxo 3"/>
          <p:cNvSpPr/>
          <p:nvPr/>
        </p:nvSpPr>
        <p:spPr>
          <a:xfrm>
            <a:off x="2200000" y="1500000"/>
            <a:ext cx="1400000" cy="380000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043073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Início</a:t>
            </a:r>
          </a:p>
        </p:txBody>
      </p:sp>
      <p:cxnSp>
        <p:nvCxnSpPr>
          <p:cNvPr id="4" name="Conector 4"/>
          <p:cNvCxnSpPr/>
          <p:nvPr/>
        </p:nvCxnSpPr>
        <p:spPr>
          <a:xfrm>
            <a:off x="2900000" y="1880000"/>
            <a:ext cx="0" cy="220000"/>
          </a:xfrm>
          <a:prstGeom prst="straightConnector1">
            <a:avLst/>
          </a:prstGeom>
          <a:ln w="28575">
            <a:solidFill>
              <a:srgbClr val="043073"/>
            </a:solidFill>
            <a:tailEnd type="triangle"/>
          </a:ln>
        </p:spPr>
      </p:cxnSp>
      <p:sp>
        <p:nvSpPr>
          <p:cNvPr id="5" name="Fluxo 5"/>
          <p:cNvSpPr/>
          <p:nvPr/>
        </p:nvSpPr>
        <p:spPr>
          <a:xfrm>
            <a:off x="1900000" y="2100000"/>
            <a:ext cx="2000000" cy="380000"/>
          </a:xfrm>
          <a:prstGeom prst="rect">
            <a:avLst/>
          </a:prstGeom>
          <a:noFill/>
          <a:ln w="19050">
            <a:solidFill>
              <a:srgbClr val="043073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i ← 1</a:t>
            </a:r>
          </a:p>
        </p:txBody>
      </p:sp>
      <p:cxnSp>
        <p:nvCxnSpPr>
          <p:cNvPr id="6" name="Conector 6"/>
          <p:cNvCxnSpPr/>
          <p:nvPr/>
        </p:nvCxnSpPr>
        <p:spPr>
          <a:xfrm>
            <a:off x="2900000" y="2480000"/>
            <a:ext cx="0" cy="220000"/>
          </a:xfrm>
          <a:prstGeom prst="straightConnector1">
            <a:avLst/>
          </a:prstGeom>
          <a:ln w="28575">
            <a:solidFill>
              <a:srgbClr val="043073"/>
            </a:solidFill>
            <a:tailEnd type="triangle"/>
          </a:ln>
        </p:spPr>
      </p:cxnSp>
      <p:sp>
        <p:nvSpPr>
          <p:cNvPr id="7" name="Decisão 7"/>
          <p:cNvSpPr/>
          <p:nvPr/>
        </p:nvSpPr>
        <p:spPr>
          <a:xfrm>
            <a:off x="1700000" y="2700000"/>
            <a:ext cx="2400000" cy="720000"/>
          </a:xfrm>
          <a:prstGeom prst="flowChartDecision">
            <a:avLst/>
          </a:prstGeom>
          <a:noFill/>
          <a:ln w="19050">
            <a:solidFill>
              <a:srgbClr val="043073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i ≤ 5 ?</a:t>
            </a:r>
          </a:p>
        </p:txBody>
      </p:sp>
      <p:sp>
        <p:nvSpPr>
          <p:cNvPr id="8" name="Rótulo 8"/>
          <p:cNvSpPr txBox="1"/>
          <p:nvPr/>
        </p:nvSpPr>
        <p:spPr>
          <a:xfrm>
            <a:off x="3000000" y="3430000"/>
            <a:ext cx="7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1" dirty="0">
                <a:solidFill>
                  <a:srgbClr val="043073"/>
                </a:solidFill>
                <a:latin typeface="Inter Bold"/>
                <a:ea typeface="Inter Bold"/>
                <a:cs typeface="Inter Bold"/>
              </a:rPr>
              <a:t>Sim</a:t>
            </a:r>
          </a:p>
        </p:txBody>
      </p:sp>
      <p:cxnSp>
        <p:nvCxnSpPr>
          <p:cNvPr id="9" name="Conector 9"/>
          <p:cNvCxnSpPr/>
          <p:nvPr/>
        </p:nvCxnSpPr>
        <p:spPr>
          <a:xfrm>
            <a:off x="2900000" y="3420000"/>
            <a:ext cx="0" cy="300000"/>
          </a:xfrm>
          <a:prstGeom prst="straightConnector1">
            <a:avLst/>
          </a:prstGeom>
          <a:ln w="28575">
            <a:solidFill>
              <a:srgbClr val="043073"/>
            </a:solidFill>
            <a:tailEnd type="triangle"/>
          </a:ln>
        </p:spPr>
      </p:cxnSp>
      <p:sp>
        <p:nvSpPr>
          <p:cNvPr id="10" name="Fluxo 10"/>
          <p:cNvSpPr/>
          <p:nvPr/>
        </p:nvSpPr>
        <p:spPr>
          <a:xfrm>
            <a:off x="1900000" y="3720000"/>
            <a:ext cx="2000000" cy="380000"/>
          </a:xfrm>
          <a:prstGeom prst="rect">
            <a:avLst/>
          </a:prstGeom>
          <a:noFill/>
          <a:ln w="19050">
            <a:solidFill>
              <a:srgbClr val="043073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Escreva i × i</a:t>
            </a:r>
          </a:p>
        </p:txBody>
      </p:sp>
      <p:cxnSp>
        <p:nvCxnSpPr>
          <p:cNvPr id="11" name="Conector 11"/>
          <p:cNvCxnSpPr/>
          <p:nvPr/>
        </p:nvCxnSpPr>
        <p:spPr>
          <a:xfrm>
            <a:off x="2900000" y="4100000"/>
            <a:ext cx="0" cy="220000"/>
          </a:xfrm>
          <a:prstGeom prst="straightConnector1">
            <a:avLst/>
          </a:prstGeom>
          <a:ln w="28575">
            <a:solidFill>
              <a:srgbClr val="043073"/>
            </a:solidFill>
            <a:tailEnd type="triangle"/>
          </a:ln>
        </p:spPr>
      </p:cxnSp>
      <p:sp>
        <p:nvSpPr>
          <p:cNvPr id="12" name="Fluxo 12"/>
          <p:cNvSpPr/>
          <p:nvPr/>
        </p:nvSpPr>
        <p:spPr>
          <a:xfrm>
            <a:off x="1900000" y="4320000"/>
            <a:ext cx="2000000" cy="380000"/>
          </a:xfrm>
          <a:prstGeom prst="rect">
            <a:avLst/>
          </a:prstGeom>
          <a:noFill/>
          <a:ln w="19050">
            <a:solidFill>
              <a:srgbClr val="043073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i ← i + 1</a:t>
            </a:r>
          </a:p>
        </p:txBody>
      </p:sp>
      <p:cxnSp>
        <p:nvCxnSpPr>
          <p:cNvPr id="13" name="Conector 13"/>
          <p:cNvCxnSpPr/>
          <p:nvPr/>
        </p:nvCxnSpPr>
        <p:spPr>
          <a:xfrm flipH="1">
            <a:off x="1200000" y="4510000"/>
            <a:ext cx="700000" cy="0"/>
          </a:xfrm>
          <a:prstGeom prst="straightConnector1">
            <a:avLst/>
          </a:prstGeom>
          <a:ln w="28575">
            <a:solidFill>
              <a:srgbClr val="043073"/>
            </a:solidFill>
          </a:ln>
        </p:spPr>
      </p:cxnSp>
      <p:cxnSp>
        <p:nvCxnSpPr>
          <p:cNvPr id="14" name="Conector 14"/>
          <p:cNvCxnSpPr/>
          <p:nvPr/>
        </p:nvCxnSpPr>
        <p:spPr>
          <a:xfrm flipV="1">
            <a:off x="1200000" y="3060000"/>
            <a:ext cx="0" cy="1450000"/>
          </a:xfrm>
          <a:prstGeom prst="straightConnector1">
            <a:avLst/>
          </a:prstGeom>
          <a:ln w="28575">
            <a:solidFill>
              <a:srgbClr val="043073"/>
            </a:solidFill>
          </a:ln>
        </p:spPr>
      </p:cxnSp>
      <p:cxnSp>
        <p:nvCxnSpPr>
          <p:cNvPr id="15" name="Conector 15"/>
          <p:cNvCxnSpPr/>
          <p:nvPr/>
        </p:nvCxnSpPr>
        <p:spPr>
          <a:xfrm>
            <a:off x="1200000" y="3060000"/>
            <a:ext cx="500000" cy="0"/>
          </a:xfrm>
          <a:prstGeom prst="straightConnector1">
            <a:avLst/>
          </a:prstGeom>
          <a:ln w="28575">
            <a:solidFill>
              <a:srgbClr val="043073"/>
            </a:solidFill>
            <a:tailEnd type="triangle"/>
          </a:ln>
        </p:spPr>
      </p:cxnSp>
      <p:sp>
        <p:nvSpPr>
          <p:cNvPr id="16" name="Rótulo 16"/>
          <p:cNvSpPr txBox="1"/>
          <p:nvPr/>
        </p:nvSpPr>
        <p:spPr>
          <a:xfrm>
            <a:off x="4200000" y="2710000"/>
            <a:ext cx="7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1" dirty="0">
                <a:solidFill>
                  <a:srgbClr val="043073"/>
                </a:solidFill>
                <a:latin typeface="Inter Bold"/>
                <a:ea typeface="Inter Bold"/>
                <a:cs typeface="Inter Bold"/>
              </a:rPr>
              <a:t>Não</a:t>
            </a:r>
          </a:p>
        </p:txBody>
      </p:sp>
      <p:cxnSp>
        <p:nvCxnSpPr>
          <p:cNvPr id="17" name="Conector 17"/>
          <p:cNvCxnSpPr/>
          <p:nvPr/>
        </p:nvCxnSpPr>
        <p:spPr>
          <a:xfrm>
            <a:off x="4100000" y="3060000"/>
            <a:ext cx="1450000" cy="0"/>
          </a:xfrm>
          <a:prstGeom prst="straightConnector1">
            <a:avLst/>
          </a:prstGeom>
          <a:ln w="28575">
            <a:solidFill>
              <a:srgbClr val="043073"/>
            </a:solidFill>
          </a:ln>
        </p:spPr>
      </p:cxnSp>
      <p:cxnSp>
        <p:nvCxnSpPr>
          <p:cNvPr id="18" name="Conector 18"/>
          <p:cNvCxnSpPr/>
          <p:nvPr/>
        </p:nvCxnSpPr>
        <p:spPr>
          <a:xfrm>
            <a:off x="5550000" y="3060000"/>
            <a:ext cx="0" cy="400000"/>
          </a:xfrm>
          <a:prstGeom prst="straightConnector1">
            <a:avLst/>
          </a:prstGeom>
          <a:ln w="28575">
            <a:solidFill>
              <a:srgbClr val="043073"/>
            </a:solidFill>
            <a:tailEnd type="triangle"/>
          </a:ln>
        </p:spPr>
      </p:cxnSp>
      <p:sp>
        <p:nvSpPr>
          <p:cNvPr id="19" name="Fluxo 19"/>
          <p:cNvSpPr/>
          <p:nvPr/>
        </p:nvSpPr>
        <p:spPr>
          <a:xfrm>
            <a:off x="4850000" y="3460000"/>
            <a:ext cx="1400000" cy="380000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043073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Fim</a:t>
            </a:r>
          </a:p>
        </p:txBody>
      </p:sp>
      <p:sp>
        <p:nvSpPr>
          <p:cNvPr id="20" name="Rótulo 20"/>
          <p:cNvSpPr txBox="1"/>
          <p:nvPr/>
        </p:nvSpPr>
        <p:spPr>
          <a:xfrm>
            <a:off x="7100000" y="1500000"/>
            <a:ext cx="45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 dirty="0">
                <a:solidFill>
                  <a:srgbClr val="043073"/>
                </a:solidFill>
                <a:latin typeface="Inter Bold"/>
                <a:ea typeface="Inter Bold"/>
                <a:cs typeface="Inter Bold"/>
              </a:rPr>
              <a:t>Em Python</a:t>
            </a:r>
          </a:p>
        </p:txBody>
      </p:sp>
      <p:sp>
        <p:nvSpPr>
          <p:cNvPr id="21" name="Código 21"/>
          <p:cNvSpPr/>
          <p:nvPr/>
        </p:nvSpPr>
        <p:spPr>
          <a:xfrm>
            <a:off x="7100000" y="1950000"/>
            <a:ext cx="4500000" cy="960000"/>
          </a:xfrm>
          <a:prstGeom prst="rect">
            <a:avLst/>
          </a:prstGeom>
          <a:solidFill>
            <a:srgbClr val="F3F4F8"/>
          </a:solidFill>
          <a:ln w="9525">
            <a:solidFill>
              <a:srgbClr val="C9CCE0"/>
            </a:solidFill>
          </a:ln>
        </p:spPr>
        <p:txBody>
          <a:bodyPr wrap="square" lIns="150000" tIns="90000" rIns="100000" bIns="9000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00" dirty="0">
                <a:solidFill>
                  <a:srgbClr val="272525"/>
                </a:solidFill>
                <a:latin typeface="Courier New"/>
                <a:ea typeface="Courier New"/>
                <a:cs typeface="Courier New"/>
              </a:rPr>
              <a:t>for i in range(1, 6):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00" dirty="0">
                <a:solidFill>
                  <a:srgbClr val="272525"/>
                </a:solidFill>
                <a:latin typeface="Courier New"/>
                <a:ea typeface="Courier New"/>
                <a:cs typeface="Courier New"/>
              </a:rPr>
              <a:t>    print(i * i)</a:t>
            </a:r>
          </a:p>
        </p:txBody>
      </p:sp>
      <p:sp>
        <p:nvSpPr>
          <p:cNvPr id="22" name="Pergunta 22"/>
          <p:cNvSpPr/>
          <p:nvPr/>
        </p:nvSpPr>
        <p:spPr>
          <a:xfrm>
            <a:off x="7100000" y="3210000"/>
            <a:ext cx="4500000" cy="1150000"/>
          </a:xfrm>
          <a:prstGeom prst="roundRect">
            <a:avLst>
              <a:gd name="adj" fmla="val 8000"/>
            </a:avLst>
          </a:prstGeom>
          <a:solidFill>
            <a:srgbClr val="E3E5F6"/>
          </a:solidFill>
          <a:ln>
            <a:noFill/>
          </a:ln>
        </p:spPr>
        <p:txBody>
          <a:bodyPr wrap="square" lIns="200000" tIns="80000" rIns="150000" bIns="8000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 b="1" dirty="0">
                <a:solidFill>
                  <a:srgbClr val="043073"/>
                </a:solidFill>
                <a:latin typeface="Inter Bold"/>
                <a:ea typeface="Inter Bold"/>
                <a:cs typeface="Inter Bold"/>
              </a:rPr>
              <a:t>Pergunte à turma: </a:t>
            </a:r>
            <a:r>
              <a:rPr lang="pt-BR" sz="15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o que muda no fluxograma se quisermos até 10?</a:t>
            </a:r>
          </a:p>
        </p:txBody>
      </p:sp>
      <p:sp>
        <p:nvSpPr>
          <p:cNvPr id="23" name="Saída 23"/>
          <p:cNvSpPr/>
          <p:nvPr/>
        </p:nvSpPr>
        <p:spPr>
          <a:xfrm>
            <a:off x="7100000" y="4610000"/>
            <a:ext cx="4500000" cy="450000"/>
          </a:xfrm>
          <a:prstGeom prst="roundRect">
            <a:avLst>
              <a:gd name="adj" fmla="val 15000"/>
            </a:avLst>
          </a:prstGeom>
          <a:solidFill>
            <a:srgbClr val="EEF0FA"/>
          </a:solidFill>
          <a:ln>
            <a:noFill/>
          </a:ln>
        </p:spPr>
        <p:txBody>
          <a:bodyPr wrap="square" lIns="200000" tIns="0" rIns="10000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Saída:  </a:t>
            </a:r>
            <a:r>
              <a:rPr lang="pt-BR" sz="1600" dirty="0">
                <a:solidFill>
                  <a:srgbClr val="272525"/>
                </a:solidFill>
                <a:latin typeface="Courier New"/>
                <a:ea typeface="Courier New"/>
                <a:cs typeface="Courier New"/>
              </a:rPr>
              <a:t>1  4  9  16  25</a:t>
            </a:r>
          </a:p>
        </p:txBody>
      </p:sp>
    </p:spTree>
    <p:extLst>
      <p:ext uri="{BB962C8B-B14F-4D97-AF65-F5344CB8AC3E}">
        <p14:creationId xmlns:p14="http://schemas.microsoft.com/office/powerpoint/2010/main" val="109439188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2"/>
          <p:cNvSpPr txBox="1"/>
          <p:nvPr/>
        </p:nvSpPr>
        <p:spPr>
          <a:xfrm>
            <a:off x="966267" y="832247"/>
            <a:ext cx="10868745" cy="590649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pt-BR" sz="2350" b="1" spc="-72" dirty="0">
                <a:solidFill>
                  <a:srgbClr val="000000"/>
                </a:solidFill>
                <a:latin typeface="Inter Bold"/>
                <a:ea typeface="Inter Bold"/>
                <a:cs typeface="Inter Bold"/>
              </a:rPr>
              <a:t>FOR com IF: mostrando só os números pares</a:t>
            </a:r>
          </a:p>
        </p:txBody>
      </p:sp>
      <p:sp>
        <p:nvSpPr>
          <p:cNvPr id="3" name="Fluxo 3"/>
          <p:cNvSpPr/>
          <p:nvPr/>
        </p:nvSpPr>
        <p:spPr>
          <a:xfrm>
            <a:off x="2200000" y="1500000"/>
            <a:ext cx="1400000" cy="380000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043073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Início</a:t>
            </a:r>
          </a:p>
        </p:txBody>
      </p:sp>
      <p:cxnSp>
        <p:nvCxnSpPr>
          <p:cNvPr id="4" name="Conector 4"/>
          <p:cNvCxnSpPr/>
          <p:nvPr/>
        </p:nvCxnSpPr>
        <p:spPr>
          <a:xfrm>
            <a:off x="2900000" y="1880000"/>
            <a:ext cx="0" cy="220000"/>
          </a:xfrm>
          <a:prstGeom prst="straightConnector1">
            <a:avLst/>
          </a:prstGeom>
          <a:ln w="28575">
            <a:solidFill>
              <a:srgbClr val="043073"/>
            </a:solidFill>
            <a:tailEnd type="triangle"/>
          </a:ln>
        </p:spPr>
      </p:cxnSp>
      <p:sp>
        <p:nvSpPr>
          <p:cNvPr id="5" name="Fluxo 5"/>
          <p:cNvSpPr/>
          <p:nvPr/>
        </p:nvSpPr>
        <p:spPr>
          <a:xfrm>
            <a:off x="1900000" y="2100000"/>
            <a:ext cx="2000000" cy="380000"/>
          </a:xfrm>
          <a:prstGeom prst="rect">
            <a:avLst/>
          </a:prstGeom>
          <a:noFill/>
          <a:ln w="19050">
            <a:solidFill>
              <a:srgbClr val="043073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i ← 1</a:t>
            </a:r>
          </a:p>
        </p:txBody>
      </p:sp>
      <p:cxnSp>
        <p:nvCxnSpPr>
          <p:cNvPr id="6" name="Conector 6"/>
          <p:cNvCxnSpPr/>
          <p:nvPr/>
        </p:nvCxnSpPr>
        <p:spPr>
          <a:xfrm>
            <a:off x="2900000" y="2480000"/>
            <a:ext cx="0" cy="220000"/>
          </a:xfrm>
          <a:prstGeom prst="straightConnector1">
            <a:avLst/>
          </a:prstGeom>
          <a:ln w="28575">
            <a:solidFill>
              <a:srgbClr val="043073"/>
            </a:solidFill>
            <a:tailEnd type="triangle"/>
          </a:ln>
        </p:spPr>
      </p:cxnSp>
      <p:sp>
        <p:nvSpPr>
          <p:cNvPr id="7" name="Decisão 7"/>
          <p:cNvSpPr/>
          <p:nvPr/>
        </p:nvSpPr>
        <p:spPr>
          <a:xfrm>
            <a:off x="1700000" y="2700000"/>
            <a:ext cx="2400000" cy="720000"/>
          </a:xfrm>
          <a:prstGeom prst="flowChartDecision">
            <a:avLst/>
          </a:prstGeom>
          <a:noFill/>
          <a:ln w="19050">
            <a:solidFill>
              <a:srgbClr val="043073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i ≤ 10 ?</a:t>
            </a:r>
          </a:p>
        </p:txBody>
      </p:sp>
      <p:sp>
        <p:nvSpPr>
          <p:cNvPr id="8" name="Rótulo 8"/>
          <p:cNvSpPr txBox="1"/>
          <p:nvPr/>
        </p:nvSpPr>
        <p:spPr>
          <a:xfrm>
            <a:off x="3000000" y="3430000"/>
            <a:ext cx="7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1" dirty="0">
                <a:solidFill>
                  <a:srgbClr val="043073"/>
                </a:solidFill>
                <a:latin typeface="Inter Bold"/>
                <a:ea typeface="Inter Bold"/>
                <a:cs typeface="Inter Bold"/>
              </a:rPr>
              <a:t>Sim</a:t>
            </a:r>
          </a:p>
        </p:txBody>
      </p:sp>
      <p:cxnSp>
        <p:nvCxnSpPr>
          <p:cNvPr id="9" name="Conector 9"/>
          <p:cNvCxnSpPr/>
          <p:nvPr/>
        </p:nvCxnSpPr>
        <p:spPr>
          <a:xfrm>
            <a:off x="2900000" y="3420000"/>
            <a:ext cx="0" cy="300000"/>
          </a:xfrm>
          <a:prstGeom prst="straightConnector1">
            <a:avLst/>
          </a:prstGeom>
          <a:ln w="28575">
            <a:solidFill>
              <a:srgbClr val="043073"/>
            </a:solidFill>
            <a:tailEnd type="triangle"/>
          </a:ln>
        </p:spPr>
      </p:cxnSp>
      <p:sp>
        <p:nvSpPr>
          <p:cNvPr id="10" name="Decisão 10"/>
          <p:cNvSpPr/>
          <p:nvPr/>
        </p:nvSpPr>
        <p:spPr>
          <a:xfrm>
            <a:off x="1700000" y="3720000"/>
            <a:ext cx="2400000" cy="720000"/>
          </a:xfrm>
          <a:prstGeom prst="flowChartDecision">
            <a:avLst/>
          </a:prstGeom>
          <a:noFill/>
          <a:ln w="19050">
            <a:solidFill>
              <a:srgbClr val="043073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i % 2 = 0 ?</a:t>
            </a:r>
          </a:p>
        </p:txBody>
      </p:sp>
      <p:sp>
        <p:nvSpPr>
          <p:cNvPr id="11" name="Rótulo 11"/>
          <p:cNvSpPr txBox="1"/>
          <p:nvPr/>
        </p:nvSpPr>
        <p:spPr>
          <a:xfrm>
            <a:off x="3000000" y="4450000"/>
            <a:ext cx="7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1" dirty="0">
                <a:solidFill>
                  <a:srgbClr val="043073"/>
                </a:solidFill>
                <a:latin typeface="Inter Bold"/>
                <a:ea typeface="Inter Bold"/>
                <a:cs typeface="Inter Bold"/>
              </a:rPr>
              <a:t>Sim</a:t>
            </a:r>
          </a:p>
        </p:txBody>
      </p:sp>
      <p:sp>
        <p:nvSpPr>
          <p:cNvPr id="12" name="Rótulo 12"/>
          <p:cNvSpPr txBox="1"/>
          <p:nvPr/>
        </p:nvSpPr>
        <p:spPr>
          <a:xfrm>
            <a:off x="4200000" y="3730000"/>
            <a:ext cx="7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1" dirty="0">
                <a:solidFill>
                  <a:srgbClr val="043073"/>
                </a:solidFill>
                <a:latin typeface="Inter Bold"/>
                <a:ea typeface="Inter Bold"/>
                <a:cs typeface="Inter Bold"/>
              </a:rPr>
              <a:t>Não</a:t>
            </a:r>
          </a:p>
        </p:txBody>
      </p:sp>
      <p:cxnSp>
        <p:nvCxnSpPr>
          <p:cNvPr id="13" name="Conector 13"/>
          <p:cNvCxnSpPr/>
          <p:nvPr/>
        </p:nvCxnSpPr>
        <p:spPr>
          <a:xfrm>
            <a:off x="2900000" y="4440000"/>
            <a:ext cx="0" cy="300000"/>
          </a:xfrm>
          <a:prstGeom prst="straightConnector1">
            <a:avLst/>
          </a:prstGeom>
          <a:ln w="28575">
            <a:solidFill>
              <a:srgbClr val="043073"/>
            </a:solidFill>
            <a:tailEnd type="triangle"/>
          </a:ln>
        </p:spPr>
      </p:cxnSp>
      <p:sp>
        <p:nvSpPr>
          <p:cNvPr id="14" name="Fluxo 14"/>
          <p:cNvSpPr/>
          <p:nvPr/>
        </p:nvSpPr>
        <p:spPr>
          <a:xfrm>
            <a:off x="1900000" y="4740000"/>
            <a:ext cx="2000000" cy="380000"/>
          </a:xfrm>
          <a:prstGeom prst="rect">
            <a:avLst/>
          </a:prstGeom>
          <a:noFill/>
          <a:ln w="19050">
            <a:solidFill>
              <a:srgbClr val="043073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Escreva i</a:t>
            </a:r>
          </a:p>
        </p:txBody>
      </p:sp>
      <p:cxnSp>
        <p:nvCxnSpPr>
          <p:cNvPr id="15" name="Conector 15"/>
          <p:cNvCxnSpPr/>
          <p:nvPr/>
        </p:nvCxnSpPr>
        <p:spPr>
          <a:xfrm>
            <a:off x="2900000" y="5120000"/>
            <a:ext cx="0" cy="220000"/>
          </a:xfrm>
          <a:prstGeom prst="straightConnector1">
            <a:avLst/>
          </a:prstGeom>
          <a:ln w="28575">
            <a:solidFill>
              <a:srgbClr val="043073"/>
            </a:solidFill>
            <a:tailEnd type="triangle"/>
          </a:ln>
        </p:spPr>
      </p:cxnSp>
      <p:sp>
        <p:nvSpPr>
          <p:cNvPr id="16" name="Fluxo 16"/>
          <p:cNvSpPr/>
          <p:nvPr/>
        </p:nvSpPr>
        <p:spPr>
          <a:xfrm>
            <a:off x="1900000" y="5340000"/>
            <a:ext cx="2000000" cy="380000"/>
          </a:xfrm>
          <a:prstGeom prst="rect">
            <a:avLst/>
          </a:prstGeom>
          <a:noFill/>
          <a:ln w="19050">
            <a:solidFill>
              <a:srgbClr val="043073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i ← i + 1</a:t>
            </a:r>
          </a:p>
        </p:txBody>
      </p:sp>
      <p:cxnSp>
        <p:nvCxnSpPr>
          <p:cNvPr id="17" name="Conector 17"/>
          <p:cNvCxnSpPr/>
          <p:nvPr/>
        </p:nvCxnSpPr>
        <p:spPr>
          <a:xfrm flipH="1">
            <a:off x="1200000" y="5530000"/>
            <a:ext cx="700000" cy="0"/>
          </a:xfrm>
          <a:prstGeom prst="straightConnector1">
            <a:avLst/>
          </a:prstGeom>
          <a:ln w="28575">
            <a:solidFill>
              <a:srgbClr val="043073"/>
            </a:solidFill>
          </a:ln>
        </p:spPr>
      </p:cxnSp>
      <p:cxnSp>
        <p:nvCxnSpPr>
          <p:cNvPr id="18" name="Conector 18"/>
          <p:cNvCxnSpPr/>
          <p:nvPr/>
        </p:nvCxnSpPr>
        <p:spPr>
          <a:xfrm flipV="1">
            <a:off x="1200000" y="3060000"/>
            <a:ext cx="0" cy="2470000"/>
          </a:xfrm>
          <a:prstGeom prst="straightConnector1">
            <a:avLst/>
          </a:prstGeom>
          <a:ln w="28575">
            <a:solidFill>
              <a:srgbClr val="043073"/>
            </a:solidFill>
          </a:ln>
        </p:spPr>
      </p:cxnSp>
      <p:cxnSp>
        <p:nvCxnSpPr>
          <p:cNvPr id="19" name="Conector 19"/>
          <p:cNvCxnSpPr/>
          <p:nvPr/>
        </p:nvCxnSpPr>
        <p:spPr>
          <a:xfrm>
            <a:off x="1200000" y="3060000"/>
            <a:ext cx="500000" cy="0"/>
          </a:xfrm>
          <a:prstGeom prst="straightConnector1">
            <a:avLst/>
          </a:prstGeom>
          <a:ln w="28575">
            <a:solidFill>
              <a:srgbClr val="043073"/>
            </a:solidFill>
            <a:tailEnd type="triangle"/>
          </a:ln>
        </p:spPr>
      </p:cxnSp>
      <p:cxnSp>
        <p:nvCxnSpPr>
          <p:cNvPr id="20" name="Conector 20"/>
          <p:cNvCxnSpPr/>
          <p:nvPr/>
        </p:nvCxnSpPr>
        <p:spPr>
          <a:xfrm>
            <a:off x="4100000" y="4080000"/>
            <a:ext cx="350000" cy="0"/>
          </a:xfrm>
          <a:prstGeom prst="straightConnector1">
            <a:avLst/>
          </a:prstGeom>
          <a:ln w="28575">
            <a:solidFill>
              <a:srgbClr val="043073"/>
            </a:solidFill>
          </a:ln>
        </p:spPr>
      </p:cxnSp>
      <p:cxnSp>
        <p:nvCxnSpPr>
          <p:cNvPr id="21" name="Conector 21"/>
          <p:cNvCxnSpPr/>
          <p:nvPr/>
        </p:nvCxnSpPr>
        <p:spPr>
          <a:xfrm>
            <a:off x="4450000" y="4080000"/>
            <a:ext cx="0" cy="1450000"/>
          </a:xfrm>
          <a:prstGeom prst="straightConnector1">
            <a:avLst/>
          </a:prstGeom>
          <a:ln w="28575">
            <a:solidFill>
              <a:srgbClr val="043073"/>
            </a:solidFill>
          </a:ln>
        </p:spPr>
      </p:cxnSp>
      <p:cxnSp>
        <p:nvCxnSpPr>
          <p:cNvPr id="22" name="Conector 22"/>
          <p:cNvCxnSpPr/>
          <p:nvPr/>
        </p:nvCxnSpPr>
        <p:spPr>
          <a:xfrm flipH="1">
            <a:off x="3900000" y="5530000"/>
            <a:ext cx="550000" cy="0"/>
          </a:xfrm>
          <a:prstGeom prst="straightConnector1">
            <a:avLst/>
          </a:prstGeom>
          <a:ln w="28575">
            <a:solidFill>
              <a:srgbClr val="043073"/>
            </a:solidFill>
            <a:tailEnd type="triangle"/>
          </a:ln>
        </p:spPr>
      </p:cxnSp>
      <p:sp>
        <p:nvSpPr>
          <p:cNvPr id="23" name="Rótulo 23"/>
          <p:cNvSpPr txBox="1"/>
          <p:nvPr/>
        </p:nvSpPr>
        <p:spPr>
          <a:xfrm>
            <a:off x="4200000" y="2710000"/>
            <a:ext cx="7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1" dirty="0">
                <a:solidFill>
                  <a:srgbClr val="043073"/>
                </a:solidFill>
                <a:latin typeface="Inter Bold"/>
                <a:ea typeface="Inter Bold"/>
                <a:cs typeface="Inter Bold"/>
              </a:rPr>
              <a:t>Não</a:t>
            </a:r>
          </a:p>
        </p:txBody>
      </p:sp>
      <p:cxnSp>
        <p:nvCxnSpPr>
          <p:cNvPr id="24" name="Conector 24"/>
          <p:cNvCxnSpPr/>
          <p:nvPr/>
        </p:nvCxnSpPr>
        <p:spPr>
          <a:xfrm>
            <a:off x="4100000" y="3060000"/>
            <a:ext cx="1450000" cy="0"/>
          </a:xfrm>
          <a:prstGeom prst="straightConnector1">
            <a:avLst/>
          </a:prstGeom>
          <a:ln w="28575">
            <a:solidFill>
              <a:srgbClr val="043073"/>
            </a:solidFill>
          </a:ln>
        </p:spPr>
      </p:cxnSp>
      <p:cxnSp>
        <p:nvCxnSpPr>
          <p:cNvPr id="25" name="Conector 25"/>
          <p:cNvCxnSpPr/>
          <p:nvPr/>
        </p:nvCxnSpPr>
        <p:spPr>
          <a:xfrm>
            <a:off x="5550000" y="3060000"/>
            <a:ext cx="0" cy="400000"/>
          </a:xfrm>
          <a:prstGeom prst="straightConnector1">
            <a:avLst/>
          </a:prstGeom>
          <a:ln w="28575">
            <a:solidFill>
              <a:srgbClr val="043073"/>
            </a:solidFill>
            <a:tailEnd type="triangle"/>
          </a:ln>
        </p:spPr>
      </p:cxnSp>
      <p:sp>
        <p:nvSpPr>
          <p:cNvPr id="26" name="Fluxo 26"/>
          <p:cNvSpPr/>
          <p:nvPr/>
        </p:nvSpPr>
        <p:spPr>
          <a:xfrm>
            <a:off x="4850000" y="3460000"/>
            <a:ext cx="1400000" cy="380000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043073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Fim</a:t>
            </a:r>
          </a:p>
        </p:txBody>
      </p:sp>
      <p:sp>
        <p:nvSpPr>
          <p:cNvPr id="27" name="Rótulo 27"/>
          <p:cNvSpPr txBox="1"/>
          <p:nvPr/>
        </p:nvSpPr>
        <p:spPr>
          <a:xfrm>
            <a:off x="7100000" y="1500000"/>
            <a:ext cx="45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 dirty="0">
                <a:solidFill>
                  <a:srgbClr val="043073"/>
                </a:solidFill>
                <a:latin typeface="Inter Bold"/>
                <a:ea typeface="Inter Bold"/>
                <a:cs typeface="Inter Bold"/>
              </a:rPr>
              <a:t>Em Python</a:t>
            </a:r>
          </a:p>
        </p:txBody>
      </p:sp>
      <p:sp>
        <p:nvSpPr>
          <p:cNvPr id="28" name="Código 28"/>
          <p:cNvSpPr/>
          <p:nvPr/>
        </p:nvSpPr>
        <p:spPr>
          <a:xfrm>
            <a:off x="7100000" y="1950000"/>
            <a:ext cx="4500000" cy="1400000"/>
          </a:xfrm>
          <a:prstGeom prst="rect">
            <a:avLst/>
          </a:prstGeom>
          <a:solidFill>
            <a:srgbClr val="F3F4F8"/>
          </a:solidFill>
          <a:ln w="9525">
            <a:solidFill>
              <a:srgbClr val="C9CCE0"/>
            </a:solidFill>
          </a:ln>
        </p:spPr>
        <p:txBody>
          <a:bodyPr wrap="square" lIns="150000" tIns="90000" rIns="100000" bIns="9000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dirty="0">
                <a:solidFill>
                  <a:srgbClr val="272525"/>
                </a:solidFill>
                <a:latin typeface="Courier New"/>
                <a:ea typeface="Courier New"/>
                <a:cs typeface="Courier New"/>
              </a:rPr>
              <a:t>for i in range(1, 11):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dirty="0">
                <a:solidFill>
                  <a:srgbClr val="272525"/>
                </a:solidFill>
                <a:latin typeface="Courier New"/>
                <a:ea typeface="Courier New"/>
                <a:cs typeface="Courier New"/>
              </a:rPr>
              <a:t>    if i % 2 == 0: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dirty="0">
                <a:solidFill>
                  <a:srgbClr val="272525"/>
                </a:solidFill>
                <a:latin typeface="Courier New"/>
                <a:ea typeface="Courier New"/>
                <a:cs typeface="Courier New"/>
              </a:rPr>
              <a:t>        print(i)</a:t>
            </a:r>
          </a:p>
        </p:txBody>
      </p:sp>
      <p:sp>
        <p:nvSpPr>
          <p:cNvPr id="29" name="Legenda 29"/>
          <p:cNvSpPr txBox="1"/>
          <p:nvPr/>
        </p:nvSpPr>
        <p:spPr>
          <a:xfrm>
            <a:off x="7100000" y="3430000"/>
            <a:ext cx="45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O if fica dentro do for: observe o recuo.</a:t>
            </a:r>
          </a:p>
        </p:txBody>
      </p:sp>
      <p:sp>
        <p:nvSpPr>
          <p:cNvPr id="30" name="Número 30"/>
          <p:cNvSpPr/>
          <p:nvPr/>
        </p:nvSpPr>
        <p:spPr>
          <a:xfrm>
            <a:off x="7100000" y="4025000"/>
            <a:ext cx="400000" cy="400000"/>
          </a:xfrm>
          <a:prstGeom prst="ellipse">
            <a:avLst/>
          </a:prstGeom>
          <a:solidFill>
            <a:srgbClr val="04307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1</a:t>
            </a:r>
          </a:p>
        </p:txBody>
      </p:sp>
      <p:sp>
        <p:nvSpPr>
          <p:cNvPr id="31" name="Texto 31"/>
          <p:cNvSpPr txBox="1"/>
          <p:nvPr/>
        </p:nvSpPr>
        <p:spPr>
          <a:xfrm>
            <a:off x="7650000" y="3950000"/>
            <a:ext cx="3950000" cy="5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 b="1" dirty="0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O FOR </a:t>
            </a:r>
            <a:r>
              <a:rPr lang="pt-BR" sz="15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gera cada i, de 1 a 10</a:t>
            </a:r>
          </a:p>
        </p:txBody>
      </p:sp>
      <p:sp>
        <p:nvSpPr>
          <p:cNvPr id="32" name="Número 32"/>
          <p:cNvSpPr/>
          <p:nvPr/>
        </p:nvSpPr>
        <p:spPr>
          <a:xfrm>
            <a:off x="7100000" y="4645000"/>
            <a:ext cx="400000" cy="400000"/>
          </a:xfrm>
          <a:prstGeom prst="ellipse">
            <a:avLst/>
          </a:prstGeom>
          <a:solidFill>
            <a:srgbClr val="04307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2</a:t>
            </a:r>
          </a:p>
        </p:txBody>
      </p:sp>
      <p:sp>
        <p:nvSpPr>
          <p:cNvPr id="33" name="Texto 33"/>
          <p:cNvSpPr txBox="1"/>
          <p:nvPr/>
        </p:nvSpPr>
        <p:spPr>
          <a:xfrm>
            <a:off x="7650000" y="4570000"/>
            <a:ext cx="3950000" cy="5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 b="1" dirty="0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O IF </a:t>
            </a:r>
            <a:r>
              <a:rPr lang="pt-BR" sz="15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pergunta: i é par?</a:t>
            </a:r>
          </a:p>
        </p:txBody>
      </p:sp>
      <p:sp>
        <p:nvSpPr>
          <p:cNvPr id="34" name="Número 34"/>
          <p:cNvSpPr/>
          <p:nvPr/>
        </p:nvSpPr>
        <p:spPr>
          <a:xfrm>
            <a:off x="7100000" y="5265000"/>
            <a:ext cx="400000" cy="400000"/>
          </a:xfrm>
          <a:prstGeom prst="ellipse">
            <a:avLst/>
          </a:prstGeom>
          <a:solidFill>
            <a:srgbClr val="04307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3</a:t>
            </a:r>
          </a:p>
        </p:txBody>
      </p:sp>
      <p:sp>
        <p:nvSpPr>
          <p:cNvPr id="35" name="Texto 35"/>
          <p:cNvSpPr txBox="1"/>
          <p:nvPr/>
        </p:nvSpPr>
        <p:spPr>
          <a:xfrm>
            <a:off x="7650000" y="5190000"/>
            <a:ext cx="3950000" cy="5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 b="1" dirty="0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Só se Sim, </a:t>
            </a:r>
            <a:r>
              <a:rPr lang="pt-BR" sz="15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o valor é mostrado</a:t>
            </a:r>
          </a:p>
        </p:txBody>
      </p:sp>
      <p:sp>
        <p:nvSpPr>
          <p:cNvPr id="36" name="Saída 36"/>
          <p:cNvSpPr/>
          <p:nvPr/>
        </p:nvSpPr>
        <p:spPr>
          <a:xfrm>
            <a:off x="7100000" y="5900000"/>
            <a:ext cx="4500000" cy="450000"/>
          </a:xfrm>
          <a:prstGeom prst="roundRect">
            <a:avLst>
              <a:gd name="adj" fmla="val 15000"/>
            </a:avLst>
          </a:prstGeom>
          <a:solidFill>
            <a:srgbClr val="E3E5F6"/>
          </a:solidFill>
          <a:ln>
            <a:noFill/>
          </a:ln>
        </p:spPr>
        <p:txBody>
          <a:bodyPr wrap="square" lIns="200000" tIns="0" rIns="10000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Saída:  </a:t>
            </a:r>
            <a:r>
              <a:rPr lang="pt-BR" sz="1600" dirty="0">
                <a:solidFill>
                  <a:srgbClr val="272525"/>
                </a:solidFill>
                <a:latin typeface="Courier New"/>
                <a:ea typeface="Courier New"/>
                <a:cs typeface="Courier New"/>
              </a:rPr>
              <a:t>2  4  6  8  10</a:t>
            </a:r>
          </a:p>
        </p:txBody>
      </p:sp>
    </p:spTree>
    <p:extLst>
      <p:ext uri="{BB962C8B-B14F-4D97-AF65-F5344CB8AC3E}">
        <p14:creationId xmlns:p14="http://schemas.microsoft.com/office/powerpoint/2010/main" val="109439188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2"/>
          <p:cNvSpPr txBox="1"/>
          <p:nvPr/>
        </p:nvSpPr>
        <p:spPr>
          <a:xfrm>
            <a:off x="966267" y="832247"/>
            <a:ext cx="10868745" cy="590649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pt-BR" sz="2350" b="1" spc="-72" dirty="0">
                <a:solidFill>
                  <a:srgbClr val="000000"/>
                </a:solidFill>
                <a:latin typeface="Inter Bold"/>
                <a:ea typeface="Inter Bold"/>
                <a:cs typeface="Inter Bold"/>
              </a:rPr>
              <a:t>Teste de mesa: FOR com IF</a:t>
            </a:r>
          </a:p>
        </p:txBody>
      </p:sp>
      <p:graphicFrame>
        <p:nvGraphicFramePr>
          <p:cNvPr id="3" name="Tabela 3"/>
          <p:cNvGraphicFramePr>
            <a:graphicFrameLocks noGrp="1"/>
          </p:cNvGraphicFramePr>
          <p:nvPr/>
        </p:nvGraphicFramePr>
        <p:xfrm>
          <a:off x="800000" y="1550000"/>
          <a:ext cx="6400000" cy="4800000"/>
        </p:xfrm>
        <a:graphic>
          <a:graphicData uri="http://schemas.openxmlformats.org/drawingml/2006/table">
            <a:tbl>
              <a:tblPr firstRow="1"/>
              <a:tblGrid>
                <a:gridCol w="1000000"/>
                <a:gridCol w="1600000"/>
                <a:gridCol w="1900000"/>
                <a:gridCol w="1900000"/>
              </a:tblGrid>
              <a:tr h="400000">
                <a:tc>
                  <a:txBody>
                    <a:bodyPr/>
                    <a:lstStyle/>
                    <a:p>
                      <a:pPr algn="ctr"/>
                      <a:r>
                        <a:rPr lang="pt-BR" sz="1400" b="1" dirty="0">
                          <a:solidFill>
                            <a:srgbClr val="FFFFFF"/>
                          </a:solidFill>
                          <a:latin typeface="Inter Bold"/>
                          <a:ea typeface="Inter Bold"/>
                          <a:cs typeface="Inter Bold"/>
                        </a:rPr>
                        <a:t>i</a:t>
                      </a:r>
                    </a:p>
                  </a:txBody>
                  <a:tcPr marL="60000" marR="60000" marT="25000" marB="25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C9CCE0"/>
                      </a:solidFill>
                    </a:lnB>
                    <a:solidFill>
                      <a:srgbClr val="04307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1" dirty="0">
                          <a:solidFill>
                            <a:srgbClr val="FFFFFF"/>
                          </a:solidFill>
                          <a:latin typeface="Inter Bold"/>
                          <a:ea typeface="Inter Bold"/>
                          <a:cs typeface="Inter Bold"/>
                        </a:rPr>
                        <a:t>i ≤ 10 ?</a:t>
                      </a:r>
                    </a:p>
                  </a:txBody>
                  <a:tcPr marL="60000" marR="60000" marT="25000" marB="25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C9CCE0"/>
                      </a:solidFill>
                    </a:lnB>
                    <a:solidFill>
                      <a:srgbClr val="04307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1" dirty="0">
                          <a:solidFill>
                            <a:srgbClr val="FFFFFF"/>
                          </a:solidFill>
                          <a:latin typeface="Inter Bold"/>
                          <a:ea typeface="Inter Bold"/>
                          <a:cs typeface="Inter Bold"/>
                        </a:rPr>
                        <a:t>i % 2 = 0 ?</a:t>
                      </a:r>
                    </a:p>
                  </a:txBody>
                  <a:tcPr marL="60000" marR="60000" marT="25000" marB="25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C9CCE0"/>
                      </a:solidFill>
                    </a:lnB>
                    <a:solidFill>
                      <a:srgbClr val="04307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1" dirty="0">
                          <a:solidFill>
                            <a:srgbClr val="FFFFFF"/>
                          </a:solidFill>
                          <a:latin typeface="Inter Bold"/>
                          <a:ea typeface="Inter Bold"/>
                          <a:cs typeface="Inter Bold"/>
                        </a:rPr>
                        <a:t>Saída</a:t>
                      </a:r>
                    </a:p>
                  </a:txBody>
                  <a:tcPr marL="60000" marR="60000" marT="25000" marB="25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C9CCE0"/>
                      </a:solidFill>
                    </a:lnB>
                    <a:solidFill>
                      <a:srgbClr val="043073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olidFill>
                            <a:srgbClr val="272525"/>
                          </a:solidFill>
                          <a:latin typeface="Inter"/>
                          <a:ea typeface="Inter"/>
                          <a:cs typeface="Inter"/>
                        </a:rPr>
                        <a:t>1</a:t>
                      </a:r>
                    </a:p>
                  </a:txBody>
                  <a:tcPr marL="60000" marR="60000" marT="25000" marB="25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C9CC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olidFill>
                            <a:srgbClr val="272525"/>
                          </a:solidFill>
                          <a:latin typeface="Inter"/>
                          <a:ea typeface="Inter"/>
                          <a:cs typeface="Inter"/>
                        </a:rPr>
                        <a:t>Sim</a:t>
                      </a:r>
                    </a:p>
                  </a:txBody>
                  <a:tcPr marL="60000" marR="60000" marT="25000" marB="25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C9CC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olidFill>
                            <a:srgbClr val="272525"/>
                          </a:solidFill>
                          <a:latin typeface="Inter"/>
                          <a:ea typeface="Inter"/>
                          <a:cs typeface="Inter"/>
                        </a:rPr>
                        <a:t>Não</a:t>
                      </a:r>
                    </a:p>
                  </a:txBody>
                  <a:tcPr marL="60000" marR="60000" marT="25000" marB="25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C9CC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olidFill>
                            <a:srgbClr val="272525"/>
                          </a:solidFill>
                          <a:latin typeface="Inter"/>
                          <a:ea typeface="Inter"/>
                          <a:cs typeface="Inter"/>
                        </a:rPr>
                        <a:t>—</a:t>
                      </a:r>
                    </a:p>
                  </a:txBody>
                  <a:tcPr marL="60000" marR="60000" marT="25000" marB="25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C9CC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olidFill>
                            <a:srgbClr val="272525"/>
                          </a:solidFill>
                          <a:latin typeface="Inter"/>
                          <a:ea typeface="Inter"/>
                          <a:cs typeface="Inter"/>
                        </a:rPr>
                        <a:t>2</a:t>
                      </a:r>
                    </a:p>
                  </a:txBody>
                  <a:tcPr marL="60000" marR="60000" marT="25000" marB="25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C9CCE0"/>
                      </a:solidFill>
                    </a:lnB>
                    <a:solidFill>
                      <a:srgbClr val="EEF0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olidFill>
                            <a:srgbClr val="272525"/>
                          </a:solidFill>
                          <a:latin typeface="Inter"/>
                          <a:ea typeface="Inter"/>
                          <a:cs typeface="Inter"/>
                        </a:rPr>
                        <a:t>Sim</a:t>
                      </a:r>
                    </a:p>
                  </a:txBody>
                  <a:tcPr marL="60000" marR="60000" marT="25000" marB="25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C9CCE0"/>
                      </a:solidFill>
                    </a:lnB>
                    <a:solidFill>
                      <a:srgbClr val="EEF0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olidFill>
                            <a:srgbClr val="272525"/>
                          </a:solidFill>
                          <a:latin typeface="Inter"/>
                          <a:ea typeface="Inter"/>
                          <a:cs typeface="Inter"/>
                        </a:rPr>
                        <a:t>Sim</a:t>
                      </a:r>
                    </a:p>
                  </a:txBody>
                  <a:tcPr marL="60000" marR="60000" marT="25000" marB="25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C9CCE0"/>
                      </a:solidFill>
                    </a:lnB>
                    <a:solidFill>
                      <a:srgbClr val="EEF0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olidFill>
                            <a:srgbClr val="272525"/>
                          </a:solidFill>
                          <a:latin typeface="Inter"/>
                          <a:ea typeface="Inter"/>
                          <a:cs typeface="Inter"/>
                        </a:rPr>
                        <a:t>2</a:t>
                      </a:r>
                    </a:p>
                  </a:txBody>
                  <a:tcPr marL="60000" marR="60000" marT="25000" marB="25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C9CCE0"/>
                      </a:solidFill>
                    </a:lnB>
                    <a:solidFill>
                      <a:srgbClr val="EEF0FA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olidFill>
                            <a:srgbClr val="272525"/>
                          </a:solidFill>
                          <a:latin typeface="Inter"/>
                          <a:ea typeface="Inter"/>
                          <a:cs typeface="Inter"/>
                        </a:rPr>
                        <a:t>3</a:t>
                      </a:r>
                    </a:p>
                  </a:txBody>
                  <a:tcPr marL="60000" marR="60000" marT="25000" marB="25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C9CC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olidFill>
                            <a:srgbClr val="272525"/>
                          </a:solidFill>
                          <a:latin typeface="Inter"/>
                          <a:ea typeface="Inter"/>
                          <a:cs typeface="Inter"/>
                        </a:rPr>
                        <a:t>Sim</a:t>
                      </a:r>
                    </a:p>
                  </a:txBody>
                  <a:tcPr marL="60000" marR="60000" marT="25000" marB="25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C9CC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olidFill>
                            <a:srgbClr val="272525"/>
                          </a:solidFill>
                          <a:latin typeface="Inter"/>
                          <a:ea typeface="Inter"/>
                          <a:cs typeface="Inter"/>
                        </a:rPr>
                        <a:t>Não</a:t>
                      </a:r>
                    </a:p>
                  </a:txBody>
                  <a:tcPr marL="60000" marR="60000" marT="25000" marB="25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C9CC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olidFill>
                            <a:srgbClr val="272525"/>
                          </a:solidFill>
                          <a:latin typeface="Inter"/>
                          <a:ea typeface="Inter"/>
                          <a:cs typeface="Inter"/>
                        </a:rPr>
                        <a:t>—</a:t>
                      </a:r>
                    </a:p>
                  </a:txBody>
                  <a:tcPr marL="60000" marR="60000" marT="25000" marB="25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C9CC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olidFill>
                            <a:srgbClr val="272525"/>
                          </a:solidFill>
                          <a:latin typeface="Inter"/>
                          <a:ea typeface="Inter"/>
                          <a:cs typeface="Inter"/>
                        </a:rPr>
                        <a:t>4</a:t>
                      </a:r>
                    </a:p>
                  </a:txBody>
                  <a:tcPr marL="60000" marR="60000" marT="25000" marB="25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C9CCE0"/>
                      </a:solidFill>
                    </a:lnB>
                    <a:solidFill>
                      <a:srgbClr val="EEF0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olidFill>
                            <a:srgbClr val="272525"/>
                          </a:solidFill>
                          <a:latin typeface="Inter"/>
                          <a:ea typeface="Inter"/>
                          <a:cs typeface="Inter"/>
                        </a:rPr>
                        <a:t>Sim</a:t>
                      </a:r>
                    </a:p>
                  </a:txBody>
                  <a:tcPr marL="60000" marR="60000" marT="25000" marB="25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C9CCE0"/>
                      </a:solidFill>
                    </a:lnB>
                    <a:solidFill>
                      <a:srgbClr val="EEF0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olidFill>
                            <a:srgbClr val="272525"/>
                          </a:solidFill>
                          <a:latin typeface="Inter"/>
                          <a:ea typeface="Inter"/>
                          <a:cs typeface="Inter"/>
                        </a:rPr>
                        <a:t>Sim</a:t>
                      </a:r>
                    </a:p>
                  </a:txBody>
                  <a:tcPr marL="60000" marR="60000" marT="25000" marB="25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C9CCE0"/>
                      </a:solidFill>
                    </a:lnB>
                    <a:solidFill>
                      <a:srgbClr val="EEF0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olidFill>
                            <a:srgbClr val="272525"/>
                          </a:solidFill>
                          <a:latin typeface="Inter"/>
                          <a:ea typeface="Inter"/>
                          <a:cs typeface="Inter"/>
                        </a:rPr>
                        <a:t>4</a:t>
                      </a:r>
                    </a:p>
                  </a:txBody>
                  <a:tcPr marL="60000" marR="60000" marT="25000" marB="25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C9CCE0"/>
                      </a:solidFill>
                    </a:lnB>
                    <a:solidFill>
                      <a:srgbClr val="EEF0FA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olidFill>
                            <a:srgbClr val="272525"/>
                          </a:solidFill>
                          <a:latin typeface="Inter"/>
                          <a:ea typeface="Inter"/>
                          <a:cs typeface="Inter"/>
                        </a:rPr>
                        <a:t>5</a:t>
                      </a:r>
                    </a:p>
                  </a:txBody>
                  <a:tcPr marL="60000" marR="60000" marT="25000" marB="25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C9CC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olidFill>
                            <a:srgbClr val="272525"/>
                          </a:solidFill>
                          <a:latin typeface="Inter"/>
                          <a:ea typeface="Inter"/>
                          <a:cs typeface="Inter"/>
                        </a:rPr>
                        <a:t>Sim</a:t>
                      </a:r>
                    </a:p>
                  </a:txBody>
                  <a:tcPr marL="60000" marR="60000" marT="25000" marB="25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C9CC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olidFill>
                            <a:srgbClr val="272525"/>
                          </a:solidFill>
                          <a:latin typeface="Inter"/>
                          <a:ea typeface="Inter"/>
                          <a:cs typeface="Inter"/>
                        </a:rPr>
                        <a:t>Não</a:t>
                      </a:r>
                    </a:p>
                  </a:txBody>
                  <a:tcPr marL="60000" marR="60000" marT="25000" marB="25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C9CC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olidFill>
                            <a:srgbClr val="272525"/>
                          </a:solidFill>
                          <a:latin typeface="Inter"/>
                          <a:ea typeface="Inter"/>
                          <a:cs typeface="Inter"/>
                        </a:rPr>
                        <a:t>—</a:t>
                      </a:r>
                    </a:p>
                  </a:txBody>
                  <a:tcPr marL="60000" marR="60000" marT="25000" marB="25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C9CC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olidFill>
                            <a:srgbClr val="272525"/>
                          </a:solidFill>
                          <a:latin typeface="Inter"/>
                          <a:ea typeface="Inter"/>
                          <a:cs typeface="Inter"/>
                        </a:rPr>
                        <a:t>6</a:t>
                      </a:r>
                    </a:p>
                  </a:txBody>
                  <a:tcPr marL="60000" marR="60000" marT="25000" marB="25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C9CCE0"/>
                      </a:solidFill>
                    </a:lnB>
                    <a:solidFill>
                      <a:srgbClr val="EEF0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olidFill>
                            <a:srgbClr val="272525"/>
                          </a:solidFill>
                          <a:latin typeface="Inter"/>
                          <a:ea typeface="Inter"/>
                          <a:cs typeface="Inter"/>
                        </a:rPr>
                        <a:t>Sim</a:t>
                      </a:r>
                    </a:p>
                  </a:txBody>
                  <a:tcPr marL="60000" marR="60000" marT="25000" marB="25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C9CCE0"/>
                      </a:solidFill>
                    </a:lnB>
                    <a:solidFill>
                      <a:srgbClr val="EEF0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olidFill>
                            <a:srgbClr val="272525"/>
                          </a:solidFill>
                          <a:latin typeface="Inter"/>
                          <a:ea typeface="Inter"/>
                          <a:cs typeface="Inter"/>
                        </a:rPr>
                        <a:t>Sim</a:t>
                      </a:r>
                    </a:p>
                  </a:txBody>
                  <a:tcPr marL="60000" marR="60000" marT="25000" marB="25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C9CCE0"/>
                      </a:solidFill>
                    </a:lnB>
                    <a:solidFill>
                      <a:srgbClr val="EEF0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olidFill>
                            <a:srgbClr val="272525"/>
                          </a:solidFill>
                          <a:latin typeface="Inter"/>
                          <a:ea typeface="Inter"/>
                          <a:cs typeface="Inter"/>
                        </a:rPr>
                        <a:t>6</a:t>
                      </a:r>
                    </a:p>
                  </a:txBody>
                  <a:tcPr marL="60000" marR="60000" marT="25000" marB="25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C9CCE0"/>
                      </a:solidFill>
                    </a:lnB>
                    <a:solidFill>
                      <a:srgbClr val="EEF0FA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olidFill>
                            <a:srgbClr val="272525"/>
                          </a:solidFill>
                          <a:latin typeface="Inter"/>
                          <a:ea typeface="Inter"/>
                          <a:cs typeface="Inter"/>
                        </a:rPr>
                        <a:t>7</a:t>
                      </a:r>
                    </a:p>
                  </a:txBody>
                  <a:tcPr marL="60000" marR="60000" marT="25000" marB="25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C9CC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olidFill>
                            <a:srgbClr val="272525"/>
                          </a:solidFill>
                          <a:latin typeface="Inter"/>
                          <a:ea typeface="Inter"/>
                          <a:cs typeface="Inter"/>
                        </a:rPr>
                        <a:t>Sim</a:t>
                      </a:r>
                    </a:p>
                  </a:txBody>
                  <a:tcPr marL="60000" marR="60000" marT="25000" marB="25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C9CC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olidFill>
                            <a:srgbClr val="272525"/>
                          </a:solidFill>
                          <a:latin typeface="Inter"/>
                          <a:ea typeface="Inter"/>
                          <a:cs typeface="Inter"/>
                        </a:rPr>
                        <a:t>Não</a:t>
                      </a:r>
                    </a:p>
                  </a:txBody>
                  <a:tcPr marL="60000" marR="60000" marT="25000" marB="25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C9CC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olidFill>
                            <a:srgbClr val="272525"/>
                          </a:solidFill>
                          <a:latin typeface="Inter"/>
                          <a:ea typeface="Inter"/>
                          <a:cs typeface="Inter"/>
                        </a:rPr>
                        <a:t>—</a:t>
                      </a:r>
                    </a:p>
                  </a:txBody>
                  <a:tcPr marL="60000" marR="60000" marT="25000" marB="25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C9CC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olidFill>
                            <a:srgbClr val="272525"/>
                          </a:solidFill>
                          <a:latin typeface="Inter"/>
                          <a:ea typeface="Inter"/>
                          <a:cs typeface="Inter"/>
                        </a:rPr>
                        <a:t>8</a:t>
                      </a:r>
                    </a:p>
                  </a:txBody>
                  <a:tcPr marL="60000" marR="60000" marT="25000" marB="25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C9CCE0"/>
                      </a:solidFill>
                    </a:lnB>
                    <a:solidFill>
                      <a:srgbClr val="EEF0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olidFill>
                            <a:srgbClr val="272525"/>
                          </a:solidFill>
                          <a:latin typeface="Inter"/>
                          <a:ea typeface="Inter"/>
                          <a:cs typeface="Inter"/>
                        </a:rPr>
                        <a:t>Sim</a:t>
                      </a:r>
                    </a:p>
                  </a:txBody>
                  <a:tcPr marL="60000" marR="60000" marT="25000" marB="25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C9CCE0"/>
                      </a:solidFill>
                    </a:lnB>
                    <a:solidFill>
                      <a:srgbClr val="EEF0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olidFill>
                            <a:srgbClr val="272525"/>
                          </a:solidFill>
                          <a:latin typeface="Inter"/>
                          <a:ea typeface="Inter"/>
                          <a:cs typeface="Inter"/>
                        </a:rPr>
                        <a:t>Sim</a:t>
                      </a:r>
                    </a:p>
                  </a:txBody>
                  <a:tcPr marL="60000" marR="60000" marT="25000" marB="25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C9CCE0"/>
                      </a:solidFill>
                    </a:lnB>
                    <a:solidFill>
                      <a:srgbClr val="EEF0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olidFill>
                            <a:srgbClr val="272525"/>
                          </a:solidFill>
                          <a:latin typeface="Inter"/>
                          <a:ea typeface="Inter"/>
                          <a:cs typeface="Inter"/>
                        </a:rPr>
                        <a:t>8</a:t>
                      </a:r>
                    </a:p>
                  </a:txBody>
                  <a:tcPr marL="60000" marR="60000" marT="25000" marB="25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C9CCE0"/>
                      </a:solidFill>
                    </a:lnB>
                    <a:solidFill>
                      <a:srgbClr val="EEF0FA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olidFill>
                            <a:srgbClr val="272525"/>
                          </a:solidFill>
                          <a:latin typeface="Inter"/>
                          <a:ea typeface="Inter"/>
                          <a:cs typeface="Inter"/>
                        </a:rPr>
                        <a:t>9</a:t>
                      </a:r>
                    </a:p>
                  </a:txBody>
                  <a:tcPr marL="60000" marR="60000" marT="25000" marB="25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C9CC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olidFill>
                            <a:srgbClr val="272525"/>
                          </a:solidFill>
                          <a:latin typeface="Inter"/>
                          <a:ea typeface="Inter"/>
                          <a:cs typeface="Inter"/>
                        </a:rPr>
                        <a:t>Sim</a:t>
                      </a:r>
                    </a:p>
                  </a:txBody>
                  <a:tcPr marL="60000" marR="60000" marT="25000" marB="25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C9CC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olidFill>
                            <a:srgbClr val="272525"/>
                          </a:solidFill>
                          <a:latin typeface="Inter"/>
                          <a:ea typeface="Inter"/>
                          <a:cs typeface="Inter"/>
                        </a:rPr>
                        <a:t>Não</a:t>
                      </a:r>
                    </a:p>
                  </a:txBody>
                  <a:tcPr marL="60000" marR="60000" marT="25000" marB="25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C9CC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olidFill>
                            <a:srgbClr val="272525"/>
                          </a:solidFill>
                          <a:latin typeface="Inter"/>
                          <a:ea typeface="Inter"/>
                          <a:cs typeface="Inter"/>
                        </a:rPr>
                        <a:t>—</a:t>
                      </a:r>
                    </a:p>
                  </a:txBody>
                  <a:tcPr marL="60000" marR="60000" marT="25000" marB="25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C9CC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olidFill>
                            <a:srgbClr val="272525"/>
                          </a:solidFill>
                          <a:latin typeface="Inter"/>
                          <a:ea typeface="Inter"/>
                          <a:cs typeface="Inter"/>
                        </a:rPr>
                        <a:t>10</a:t>
                      </a:r>
                    </a:p>
                  </a:txBody>
                  <a:tcPr marL="60000" marR="60000" marT="25000" marB="25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C9CCE0"/>
                      </a:solidFill>
                    </a:lnB>
                    <a:solidFill>
                      <a:srgbClr val="EEF0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olidFill>
                            <a:srgbClr val="272525"/>
                          </a:solidFill>
                          <a:latin typeface="Inter"/>
                          <a:ea typeface="Inter"/>
                          <a:cs typeface="Inter"/>
                        </a:rPr>
                        <a:t>Sim</a:t>
                      </a:r>
                    </a:p>
                  </a:txBody>
                  <a:tcPr marL="60000" marR="60000" marT="25000" marB="25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C9CCE0"/>
                      </a:solidFill>
                    </a:lnB>
                    <a:solidFill>
                      <a:srgbClr val="EEF0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olidFill>
                            <a:srgbClr val="272525"/>
                          </a:solidFill>
                          <a:latin typeface="Inter"/>
                          <a:ea typeface="Inter"/>
                          <a:cs typeface="Inter"/>
                        </a:rPr>
                        <a:t>Sim</a:t>
                      </a:r>
                    </a:p>
                  </a:txBody>
                  <a:tcPr marL="60000" marR="60000" marT="25000" marB="25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C9CCE0"/>
                      </a:solidFill>
                    </a:lnB>
                    <a:solidFill>
                      <a:srgbClr val="EEF0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olidFill>
                            <a:srgbClr val="272525"/>
                          </a:solidFill>
                          <a:latin typeface="Inter"/>
                          <a:ea typeface="Inter"/>
                          <a:cs typeface="Inter"/>
                        </a:rPr>
                        <a:t>10</a:t>
                      </a:r>
                    </a:p>
                  </a:txBody>
                  <a:tcPr marL="60000" marR="60000" marT="25000" marB="25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C9CCE0"/>
                      </a:solidFill>
                    </a:lnB>
                    <a:solidFill>
                      <a:srgbClr val="EEF0FA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algn="ctr"/>
                      <a:r>
                        <a:rPr lang="pt-BR" sz="1400" b="1" dirty="0">
                          <a:solidFill>
                            <a:srgbClr val="272525"/>
                          </a:solidFill>
                          <a:latin typeface="Inter Bold"/>
                          <a:ea typeface="Inter Bold"/>
                          <a:cs typeface="Inter Bold"/>
                        </a:rPr>
                        <a:t>11</a:t>
                      </a:r>
                    </a:p>
                  </a:txBody>
                  <a:tcPr marL="60000" marR="60000" marT="25000" marB="25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C9CCE0"/>
                      </a:solidFill>
                    </a:lnB>
                    <a:solidFill>
                      <a:srgbClr val="E3E5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1" dirty="0">
                          <a:solidFill>
                            <a:srgbClr val="272525"/>
                          </a:solidFill>
                          <a:latin typeface="Inter Bold"/>
                          <a:ea typeface="Inter Bold"/>
                          <a:cs typeface="Inter Bold"/>
                        </a:rPr>
                        <a:t>Não</a:t>
                      </a:r>
                    </a:p>
                  </a:txBody>
                  <a:tcPr marL="60000" marR="60000" marT="25000" marB="25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C9CCE0"/>
                      </a:solidFill>
                    </a:lnB>
                    <a:solidFill>
                      <a:srgbClr val="E3E5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1" dirty="0">
                          <a:solidFill>
                            <a:srgbClr val="272525"/>
                          </a:solidFill>
                          <a:latin typeface="Inter Bold"/>
                          <a:ea typeface="Inter Bold"/>
                          <a:cs typeface="Inter Bold"/>
                        </a:rPr>
                        <a:t>—</a:t>
                      </a:r>
                    </a:p>
                  </a:txBody>
                  <a:tcPr marL="60000" marR="60000" marT="25000" marB="25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C9CCE0"/>
                      </a:solidFill>
                    </a:lnB>
                    <a:solidFill>
                      <a:srgbClr val="E3E5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1" dirty="0">
                          <a:solidFill>
                            <a:srgbClr val="272525"/>
                          </a:solidFill>
                          <a:latin typeface="Inter Bold"/>
                          <a:ea typeface="Inter Bold"/>
                          <a:cs typeface="Inter Bold"/>
                        </a:rPr>
                        <a:t>fim do laço</a:t>
                      </a:r>
                    </a:p>
                  </a:txBody>
                  <a:tcPr marL="60000" marR="60000" marT="25000" marB="25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C9CCE0"/>
                      </a:solidFill>
                    </a:lnB>
                    <a:solidFill>
                      <a:srgbClr val="E3E5F6"/>
                    </a:solidFill>
                  </a:tcPr>
                </a:tc>
              </a:tr>
            </a:tbl>
          </a:graphicData>
        </a:graphic>
      </p:graphicFrame>
      <p:sp>
        <p:nvSpPr>
          <p:cNvPr id="4" name="Rótulo 4"/>
          <p:cNvSpPr txBox="1"/>
          <p:nvPr/>
        </p:nvSpPr>
        <p:spPr>
          <a:xfrm>
            <a:off x="7600000" y="1550000"/>
            <a:ext cx="4000000" cy="4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 dirty="0">
                <a:solidFill>
                  <a:srgbClr val="043073"/>
                </a:solidFill>
                <a:latin typeface="Inter Bold"/>
                <a:ea typeface="Inter Bold"/>
                <a:cs typeface="Inter Bold"/>
              </a:rPr>
              <a:t>Como ler a tabela</a:t>
            </a:r>
          </a:p>
        </p:txBody>
      </p:sp>
      <p:sp>
        <p:nvSpPr>
          <p:cNvPr id="5" name="Número 5"/>
          <p:cNvSpPr/>
          <p:nvPr/>
        </p:nvSpPr>
        <p:spPr>
          <a:xfrm>
            <a:off x="7600000" y="2275000"/>
            <a:ext cx="400000" cy="400000"/>
          </a:xfrm>
          <a:prstGeom prst="ellipse">
            <a:avLst/>
          </a:prstGeom>
          <a:solidFill>
            <a:srgbClr val="04307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1</a:t>
            </a:r>
          </a:p>
        </p:txBody>
      </p:sp>
      <p:sp>
        <p:nvSpPr>
          <p:cNvPr id="6" name="Texto 6"/>
          <p:cNvSpPr txBox="1"/>
          <p:nvPr/>
        </p:nvSpPr>
        <p:spPr>
          <a:xfrm>
            <a:off x="8150000" y="2200000"/>
            <a:ext cx="3450000" cy="5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 b="1" dirty="0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O FOR </a:t>
            </a:r>
            <a:r>
              <a:rPr lang="pt-BR" sz="15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testa i ≤ 10 a cada volta</a:t>
            </a:r>
          </a:p>
        </p:txBody>
      </p:sp>
      <p:sp>
        <p:nvSpPr>
          <p:cNvPr id="7" name="Número 7"/>
          <p:cNvSpPr/>
          <p:nvPr/>
        </p:nvSpPr>
        <p:spPr>
          <a:xfrm>
            <a:off x="7600000" y="2895000"/>
            <a:ext cx="400000" cy="400000"/>
          </a:xfrm>
          <a:prstGeom prst="ellipse">
            <a:avLst/>
          </a:prstGeom>
          <a:solidFill>
            <a:srgbClr val="04307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2</a:t>
            </a:r>
          </a:p>
        </p:txBody>
      </p:sp>
      <p:sp>
        <p:nvSpPr>
          <p:cNvPr id="8" name="Texto 8"/>
          <p:cNvSpPr txBox="1"/>
          <p:nvPr/>
        </p:nvSpPr>
        <p:spPr>
          <a:xfrm>
            <a:off x="8150000" y="2820000"/>
            <a:ext cx="3450000" cy="5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 b="1" dirty="0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O IF </a:t>
            </a:r>
            <a:r>
              <a:rPr lang="pt-BR" sz="15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testa se i é par</a:t>
            </a:r>
          </a:p>
        </p:txBody>
      </p:sp>
      <p:sp>
        <p:nvSpPr>
          <p:cNvPr id="9" name="Número 9"/>
          <p:cNvSpPr/>
          <p:nvPr/>
        </p:nvSpPr>
        <p:spPr>
          <a:xfrm>
            <a:off x="7600000" y="3515000"/>
            <a:ext cx="400000" cy="400000"/>
          </a:xfrm>
          <a:prstGeom prst="ellipse">
            <a:avLst/>
          </a:prstGeom>
          <a:solidFill>
            <a:srgbClr val="04307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3</a:t>
            </a:r>
          </a:p>
        </p:txBody>
      </p:sp>
      <p:sp>
        <p:nvSpPr>
          <p:cNvPr id="10" name="Texto 10"/>
          <p:cNvSpPr txBox="1"/>
          <p:nvPr/>
        </p:nvSpPr>
        <p:spPr>
          <a:xfrm>
            <a:off x="8150000" y="3440000"/>
            <a:ext cx="3450000" cy="5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 b="1" dirty="0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Saída só </a:t>
            </a:r>
            <a:r>
              <a:rPr lang="pt-BR" sz="15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quando o IF é Sim</a:t>
            </a:r>
          </a:p>
        </p:txBody>
      </p:sp>
      <p:sp>
        <p:nvSpPr>
          <p:cNvPr id="11" name="Saída 11"/>
          <p:cNvSpPr/>
          <p:nvPr/>
        </p:nvSpPr>
        <p:spPr>
          <a:xfrm>
            <a:off x="7600000" y="4400000"/>
            <a:ext cx="4000000" cy="500000"/>
          </a:xfrm>
          <a:prstGeom prst="roundRect">
            <a:avLst>
              <a:gd name="adj" fmla="val 15000"/>
            </a:avLst>
          </a:prstGeom>
          <a:solidFill>
            <a:srgbClr val="E3E5F6"/>
          </a:solidFill>
          <a:ln>
            <a:noFill/>
          </a:ln>
        </p:spPr>
        <p:txBody>
          <a:bodyPr wrap="square" lIns="200000" tIns="0" rIns="10000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Saída:  </a:t>
            </a:r>
            <a:r>
              <a:rPr lang="pt-BR" sz="1600" dirty="0">
                <a:solidFill>
                  <a:srgbClr val="272525"/>
                </a:solidFill>
                <a:latin typeface="Courier New"/>
                <a:ea typeface="Courier New"/>
                <a:cs typeface="Courier New"/>
              </a:rPr>
              <a:t>2  4  6  8  10</a:t>
            </a:r>
          </a:p>
        </p:txBody>
      </p:sp>
    </p:spTree>
    <p:extLst>
      <p:ext uri="{BB962C8B-B14F-4D97-AF65-F5344CB8AC3E}">
        <p14:creationId xmlns:p14="http://schemas.microsoft.com/office/powerpoint/2010/main" val="109439188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2"/>
          <p:cNvSpPr txBox="1"/>
          <p:nvPr/>
        </p:nvSpPr>
        <p:spPr>
          <a:xfrm>
            <a:off x="966267" y="832247"/>
            <a:ext cx="10868745" cy="590649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pt-BR" sz="2350" b="1" spc="-72" dirty="0">
                <a:solidFill>
                  <a:srgbClr val="000000"/>
                </a:solidFill>
                <a:latin typeface="Inter Bold"/>
                <a:ea typeface="Inter Bold"/>
                <a:cs typeface="Inter Bold"/>
              </a:rPr>
              <a:t>Vamos fazer juntos 3: par ou ímpar de 1 a 6</a:t>
            </a:r>
          </a:p>
        </p:txBody>
      </p:sp>
      <p:sp>
        <p:nvSpPr>
          <p:cNvPr id="3" name="Fluxo 3"/>
          <p:cNvSpPr/>
          <p:nvPr/>
        </p:nvSpPr>
        <p:spPr>
          <a:xfrm>
            <a:off x="2200000" y="1500000"/>
            <a:ext cx="1400000" cy="380000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043073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Início</a:t>
            </a:r>
          </a:p>
        </p:txBody>
      </p:sp>
      <p:cxnSp>
        <p:nvCxnSpPr>
          <p:cNvPr id="4" name="Conector 4"/>
          <p:cNvCxnSpPr/>
          <p:nvPr/>
        </p:nvCxnSpPr>
        <p:spPr>
          <a:xfrm>
            <a:off x="2900000" y="1880000"/>
            <a:ext cx="0" cy="220000"/>
          </a:xfrm>
          <a:prstGeom prst="straightConnector1">
            <a:avLst/>
          </a:prstGeom>
          <a:ln w="28575">
            <a:solidFill>
              <a:srgbClr val="043073"/>
            </a:solidFill>
            <a:tailEnd type="triangle"/>
          </a:ln>
        </p:spPr>
      </p:cxnSp>
      <p:sp>
        <p:nvSpPr>
          <p:cNvPr id="5" name="Fluxo 5"/>
          <p:cNvSpPr/>
          <p:nvPr/>
        </p:nvSpPr>
        <p:spPr>
          <a:xfrm>
            <a:off x="1900000" y="2100000"/>
            <a:ext cx="2000000" cy="380000"/>
          </a:xfrm>
          <a:prstGeom prst="rect">
            <a:avLst/>
          </a:prstGeom>
          <a:noFill/>
          <a:ln w="19050">
            <a:solidFill>
              <a:srgbClr val="043073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i ← 1</a:t>
            </a:r>
          </a:p>
        </p:txBody>
      </p:sp>
      <p:cxnSp>
        <p:nvCxnSpPr>
          <p:cNvPr id="6" name="Conector 6"/>
          <p:cNvCxnSpPr/>
          <p:nvPr/>
        </p:nvCxnSpPr>
        <p:spPr>
          <a:xfrm>
            <a:off x="2900000" y="2480000"/>
            <a:ext cx="0" cy="220000"/>
          </a:xfrm>
          <a:prstGeom prst="straightConnector1">
            <a:avLst/>
          </a:prstGeom>
          <a:ln w="28575">
            <a:solidFill>
              <a:srgbClr val="043073"/>
            </a:solidFill>
            <a:tailEnd type="triangle"/>
          </a:ln>
        </p:spPr>
      </p:cxnSp>
      <p:sp>
        <p:nvSpPr>
          <p:cNvPr id="7" name="Decisão 7"/>
          <p:cNvSpPr/>
          <p:nvPr/>
        </p:nvSpPr>
        <p:spPr>
          <a:xfrm>
            <a:off x="1700000" y="2700000"/>
            <a:ext cx="2400000" cy="720000"/>
          </a:xfrm>
          <a:prstGeom prst="flowChartDecision">
            <a:avLst/>
          </a:prstGeom>
          <a:noFill/>
          <a:ln w="19050">
            <a:solidFill>
              <a:srgbClr val="043073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i ≤ 6 ?</a:t>
            </a:r>
          </a:p>
        </p:txBody>
      </p:sp>
      <p:sp>
        <p:nvSpPr>
          <p:cNvPr id="8" name="Rótulo 8"/>
          <p:cNvSpPr txBox="1"/>
          <p:nvPr/>
        </p:nvSpPr>
        <p:spPr>
          <a:xfrm>
            <a:off x="3000000" y="3430000"/>
            <a:ext cx="7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1" dirty="0">
                <a:solidFill>
                  <a:srgbClr val="043073"/>
                </a:solidFill>
                <a:latin typeface="Inter Bold"/>
                <a:ea typeface="Inter Bold"/>
                <a:cs typeface="Inter Bold"/>
              </a:rPr>
              <a:t>Sim</a:t>
            </a:r>
          </a:p>
        </p:txBody>
      </p:sp>
      <p:cxnSp>
        <p:nvCxnSpPr>
          <p:cNvPr id="9" name="Conector 9"/>
          <p:cNvCxnSpPr/>
          <p:nvPr/>
        </p:nvCxnSpPr>
        <p:spPr>
          <a:xfrm>
            <a:off x="2900000" y="3420000"/>
            <a:ext cx="0" cy="300000"/>
          </a:xfrm>
          <a:prstGeom prst="straightConnector1">
            <a:avLst/>
          </a:prstGeom>
          <a:ln w="28575">
            <a:solidFill>
              <a:srgbClr val="043073"/>
            </a:solidFill>
            <a:tailEnd type="triangle"/>
          </a:ln>
        </p:spPr>
      </p:cxnSp>
      <p:sp>
        <p:nvSpPr>
          <p:cNvPr id="10" name="Decisão 10"/>
          <p:cNvSpPr/>
          <p:nvPr/>
        </p:nvSpPr>
        <p:spPr>
          <a:xfrm>
            <a:off x="1700000" y="3720000"/>
            <a:ext cx="2400000" cy="720000"/>
          </a:xfrm>
          <a:prstGeom prst="flowChartDecision">
            <a:avLst/>
          </a:prstGeom>
          <a:noFill/>
          <a:ln w="19050">
            <a:solidFill>
              <a:srgbClr val="043073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i % 2 = 0 ?</a:t>
            </a:r>
          </a:p>
        </p:txBody>
      </p:sp>
      <p:sp>
        <p:nvSpPr>
          <p:cNvPr id="11" name="Rótulo 11"/>
          <p:cNvSpPr txBox="1"/>
          <p:nvPr/>
        </p:nvSpPr>
        <p:spPr>
          <a:xfrm>
            <a:off x="3000000" y="4450000"/>
            <a:ext cx="7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1" dirty="0">
                <a:solidFill>
                  <a:srgbClr val="043073"/>
                </a:solidFill>
                <a:latin typeface="Inter Bold"/>
                <a:ea typeface="Inter Bold"/>
                <a:cs typeface="Inter Bold"/>
              </a:rPr>
              <a:t>Sim</a:t>
            </a:r>
          </a:p>
        </p:txBody>
      </p:sp>
      <p:sp>
        <p:nvSpPr>
          <p:cNvPr id="12" name="Rótulo 12"/>
          <p:cNvSpPr txBox="1"/>
          <p:nvPr/>
        </p:nvSpPr>
        <p:spPr>
          <a:xfrm>
            <a:off x="4200000" y="3730000"/>
            <a:ext cx="7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1" dirty="0">
                <a:solidFill>
                  <a:srgbClr val="043073"/>
                </a:solidFill>
                <a:latin typeface="Inter Bold"/>
                <a:ea typeface="Inter Bold"/>
                <a:cs typeface="Inter Bold"/>
              </a:rPr>
              <a:t>Não</a:t>
            </a:r>
          </a:p>
        </p:txBody>
      </p:sp>
      <p:cxnSp>
        <p:nvCxnSpPr>
          <p:cNvPr id="13" name="Conector 13"/>
          <p:cNvCxnSpPr/>
          <p:nvPr/>
        </p:nvCxnSpPr>
        <p:spPr>
          <a:xfrm>
            <a:off x="2900000" y="4440000"/>
            <a:ext cx="0" cy="300000"/>
          </a:xfrm>
          <a:prstGeom prst="straightConnector1">
            <a:avLst/>
          </a:prstGeom>
          <a:ln w="28575">
            <a:solidFill>
              <a:srgbClr val="043073"/>
            </a:solidFill>
            <a:tailEnd type="triangle"/>
          </a:ln>
        </p:spPr>
      </p:cxnSp>
      <p:sp>
        <p:nvSpPr>
          <p:cNvPr id="14" name="Fluxo 14"/>
          <p:cNvSpPr/>
          <p:nvPr/>
        </p:nvSpPr>
        <p:spPr>
          <a:xfrm>
            <a:off x="1900000" y="4740000"/>
            <a:ext cx="2000000" cy="380000"/>
          </a:xfrm>
          <a:prstGeom prst="rect">
            <a:avLst/>
          </a:prstGeom>
          <a:noFill/>
          <a:ln w="19050">
            <a:solidFill>
              <a:srgbClr val="043073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Mostre i: par</a:t>
            </a:r>
          </a:p>
        </p:txBody>
      </p:sp>
      <p:cxnSp>
        <p:nvCxnSpPr>
          <p:cNvPr id="15" name="Conector 15"/>
          <p:cNvCxnSpPr/>
          <p:nvPr/>
        </p:nvCxnSpPr>
        <p:spPr>
          <a:xfrm>
            <a:off x="2900000" y="5120000"/>
            <a:ext cx="0" cy="220000"/>
          </a:xfrm>
          <a:prstGeom prst="straightConnector1">
            <a:avLst/>
          </a:prstGeom>
          <a:ln w="28575">
            <a:solidFill>
              <a:srgbClr val="043073"/>
            </a:solidFill>
            <a:tailEnd type="triangle"/>
          </a:ln>
        </p:spPr>
      </p:cxnSp>
      <p:sp>
        <p:nvSpPr>
          <p:cNvPr id="16" name="Fluxo 16"/>
          <p:cNvSpPr/>
          <p:nvPr/>
        </p:nvSpPr>
        <p:spPr>
          <a:xfrm>
            <a:off x="1900000" y="5340000"/>
            <a:ext cx="2000000" cy="380000"/>
          </a:xfrm>
          <a:prstGeom prst="rect">
            <a:avLst/>
          </a:prstGeom>
          <a:noFill/>
          <a:ln w="19050">
            <a:solidFill>
              <a:srgbClr val="043073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i ← i + 1</a:t>
            </a:r>
          </a:p>
        </p:txBody>
      </p:sp>
      <p:cxnSp>
        <p:nvCxnSpPr>
          <p:cNvPr id="17" name="Conector 17"/>
          <p:cNvCxnSpPr/>
          <p:nvPr/>
        </p:nvCxnSpPr>
        <p:spPr>
          <a:xfrm flipH="1">
            <a:off x="1200000" y="5530000"/>
            <a:ext cx="700000" cy="0"/>
          </a:xfrm>
          <a:prstGeom prst="straightConnector1">
            <a:avLst/>
          </a:prstGeom>
          <a:ln w="28575">
            <a:solidFill>
              <a:srgbClr val="043073"/>
            </a:solidFill>
          </a:ln>
        </p:spPr>
      </p:cxnSp>
      <p:cxnSp>
        <p:nvCxnSpPr>
          <p:cNvPr id="18" name="Conector 18"/>
          <p:cNvCxnSpPr/>
          <p:nvPr/>
        </p:nvCxnSpPr>
        <p:spPr>
          <a:xfrm flipV="1">
            <a:off x="1200000" y="3060000"/>
            <a:ext cx="0" cy="2470000"/>
          </a:xfrm>
          <a:prstGeom prst="straightConnector1">
            <a:avLst/>
          </a:prstGeom>
          <a:ln w="28575">
            <a:solidFill>
              <a:srgbClr val="043073"/>
            </a:solidFill>
          </a:ln>
        </p:spPr>
      </p:cxnSp>
      <p:cxnSp>
        <p:nvCxnSpPr>
          <p:cNvPr id="19" name="Conector 19"/>
          <p:cNvCxnSpPr/>
          <p:nvPr/>
        </p:nvCxnSpPr>
        <p:spPr>
          <a:xfrm>
            <a:off x="1200000" y="3060000"/>
            <a:ext cx="500000" cy="0"/>
          </a:xfrm>
          <a:prstGeom prst="straightConnector1">
            <a:avLst/>
          </a:prstGeom>
          <a:ln w="28575">
            <a:solidFill>
              <a:srgbClr val="043073"/>
            </a:solidFill>
            <a:tailEnd type="triangle"/>
          </a:ln>
        </p:spPr>
      </p:cxnSp>
      <p:cxnSp>
        <p:nvCxnSpPr>
          <p:cNvPr id="20" name="Conector 20"/>
          <p:cNvCxnSpPr/>
          <p:nvPr/>
        </p:nvCxnSpPr>
        <p:spPr>
          <a:xfrm>
            <a:off x="4100000" y="4080000"/>
            <a:ext cx="1350000" cy="0"/>
          </a:xfrm>
          <a:prstGeom prst="straightConnector1">
            <a:avLst/>
          </a:prstGeom>
          <a:ln w="28575">
            <a:solidFill>
              <a:srgbClr val="043073"/>
            </a:solidFill>
          </a:ln>
        </p:spPr>
      </p:cxnSp>
      <p:cxnSp>
        <p:nvCxnSpPr>
          <p:cNvPr id="21" name="Conector 21"/>
          <p:cNvCxnSpPr/>
          <p:nvPr/>
        </p:nvCxnSpPr>
        <p:spPr>
          <a:xfrm>
            <a:off x="5450000" y="4080000"/>
            <a:ext cx="0" cy="660000"/>
          </a:xfrm>
          <a:prstGeom prst="straightConnector1">
            <a:avLst/>
          </a:prstGeom>
          <a:ln w="28575">
            <a:solidFill>
              <a:srgbClr val="043073"/>
            </a:solidFill>
            <a:tailEnd type="triangle"/>
          </a:ln>
        </p:spPr>
      </p:cxnSp>
      <p:sp>
        <p:nvSpPr>
          <p:cNvPr id="22" name="Fluxo 22"/>
          <p:cNvSpPr/>
          <p:nvPr/>
        </p:nvSpPr>
        <p:spPr>
          <a:xfrm>
            <a:off x="4450000" y="4740000"/>
            <a:ext cx="2000000" cy="380000"/>
          </a:xfrm>
          <a:prstGeom prst="rect">
            <a:avLst/>
          </a:prstGeom>
          <a:noFill/>
          <a:ln w="19050">
            <a:solidFill>
              <a:srgbClr val="043073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Mostre i: ímpar</a:t>
            </a:r>
          </a:p>
        </p:txBody>
      </p:sp>
      <p:cxnSp>
        <p:nvCxnSpPr>
          <p:cNvPr id="23" name="Conector 23"/>
          <p:cNvCxnSpPr/>
          <p:nvPr/>
        </p:nvCxnSpPr>
        <p:spPr>
          <a:xfrm>
            <a:off x="5450000" y="5120000"/>
            <a:ext cx="0" cy="410000"/>
          </a:xfrm>
          <a:prstGeom prst="straightConnector1">
            <a:avLst/>
          </a:prstGeom>
          <a:ln w="28575">
            <a:solidFill>
              <a:srgbClr val="043073"/>
            </a:solidFill>
          </a:ln>
        </p:spPr>
      </p:cxnSp>
      <p:cxnSp>
        <p:nvCxnSpPr>
          <p:cNvPr id="24" name="Conector 24"/>
          <p:cNvCxnSpPr/>
          <p:nvPr/>
        </p:nvCxnSpPr>
        <p:spPr>
          <a:xfrm flipH="1">
            <a:off x="3900000" y="5530000"/>
            <a:ext cx="1550000" cy="0"/>
          </a:xfrm>
          <a:prstGeom prst="straightConnector1">
            <a:avLst/>
          </a:prstGeom>
          <a:ln w="28575">
            <a:solidFill>
              <a:srgbClr val="043073"/>
            </a:solidFill>
            <a:tailEnd type="triangle"/>
          </a:ln>
        </p:spPr>
      </p:cxnSp>
      <p:sp>
        <p:nvSpPr>
          <p:cNvPr id="25" name="Rótulo 25"/>
          <p:cNvSpPr txBox="1"/>
          <p:nvPr/>
        </p:nvSpPr>
        <p:spPr>
          <a:xfrm>
            <a:off x="4200000" y="2710000"/>
            <a:ext cx="7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1" dirty="0">
                <a:solidFill>
                  <a:srgbClr val="043073"/>
                </a:solidFill>
                <a:latin typeface="Inter Bold"/>
                <a:ea typeface="Inter Bold"/>
                <a:cs typeface="Inter Bold"/>
              </a:rPr>
              <a:t>Não</a:t>
            </a:r>
          </a:p>
        </p:txBody>
      </p:sp>
      <p:cxnSp>
        <p:nvCxnSpPr>
          <p:cNvPr id="26" name="Conector 26"/>
          <p:cNvCxnSpPr/>
          <p:nvPr/>
        </p:nvCxnSpPr>
        <p:spPr>
          <a:xfrm>
            <a:off x="4100000" y="3060000"/>
            <a:ext cx="1450000" cy="0"/>
          </a:xfrm>
          <a:prstGeom prst="straightConnector1">
            <a:avLst/>
          </a:prstGeom>
          <a:ln w="28575">
            <a:solidFill>
              <a:srgbClr val="043073"/>
            </a:solidFill>
          </a:ln>
        </p:spPr>
      </p:cxnSp>
      <p:cxnSp>
        <p:nvCxnSpPr>
          <p:cNvPr id="27" name="Conector 27"/>
          <p:cNvCxnSpPr/>
          <p:nvPr/>
        </p:nvCxnSpPr>
        <p:spPr>
          <a:xfrm>
            <a:off x="5550000" y="3060000"/>
            <a:ext cx="0" cy="400000"/>
          </a:xfrm>
          <a:prstGeom prst="straightConnector1">
            <a:avLst/>
          </a:prstGeom>
          <a:ln w="28575">
            <a:solidFill>
              <a:srgbClr val="043073"/>
            </a:solidFill>
            <a:tailEnd type="triangle"/>
          </a:ln>
        </p:spPr>
      </p:cxnSp>
      <p:sp>
        <p:nvSpPr>
          <p:cNvPr id="28" name="Fluxo 28"/>
          <p:cNvSpPr/>
          <p:nvPr/>
        </p:nvSpPr>
        <p:spPr>
          <a:xfrm>
            <a:off x="4850000" y="3460000"/>
            <a:ext cx="1400000" cy="380000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043073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Fim</a:t>
            </a:r>
          </a:p>
        </p:txBody>
      </p:sp>
      <p:sp>
        <p:nvSpPr>
          <p:cNvPr id="29" name="Rótulo 29"/>
          <p:cNvSpPr txBox="1"/>
          <p:nvPr/>
        </p:nvSpPr>
        <p:spPr>
          <a:xfrm>
            <a:off x="7100000" y="1500000"/>
            <a:ext cx="45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 dirty="0">
                <a:solidFill>
                  <a:srgbClr val="043073"/>
                </a:solidFill>
                <a:latin typeface="Inter Bold"/>
                <a:ea typeface="Inter Bold"/>
                <a:cs typeface="Inter Bold"/>
              </a:rPr>
              <a:t>Em Python</a:t>
            </a:r>
          </a:p>
        </p:txBody>
      </p:sp>
      <p:sp>
        <p:nvSpPr>
          <p:cNvPr id="30" name="Código 30"/>
          <p:cNvSpPr/>
          <p:nvPr/>
        </p:nvSpPr>
        <p:spPr>
          <a:xfrm>
            <a:off x="7100000" y="1950000"/>
            <a:ext cx="4500000" cy="1950000"/>
          </a:xfrm>
          <a:prstGeom prst="rect">
            <a:avLst/>
          </a:prstGeom>
          <a:solidFill>
            <a:srgbClr val="F3F4F8"/>
          </a:solidFill>
          <a:ln w="9525">
            <a:solidFill>
              <a:srgbClr val="C9CCE0"/>
            </a:solidFill>
          </a:ln>
        </p:spPr>
        <p:txBody>
          <a:bodyPr wrap="square" lIns="150000" tIns="90000" rIns="100000" bIns="9000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00" dirty="0">
                <a:solidFill>
                  <a:srgbClr val="272525"/>
                </a:solidFill>
                <a:latin typeface="Courier New"/>
                <a:ea typeface="Courier New"/>
                <a:cs typeface="Courier New"/>
              </a:rPr>
              <a:t>for i in range(1, 7):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00" dirty="0">
                <a:solidFill>
                  <a:srgbClr val="272525"/>
                </a:solidFill>
                <a:latin typeface="Courier New"/>
                <a:ea typeface="Courier New"/>
                <a:cs typeface="Courier New"/>
              </a:rPr>
              <a:t>    if i % 2 == 0: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00" dirty="0">
                <a:solidFill>
                  <a:srgbClr val="272525"/>
                </a:solidFill>
                <a:latin typeface="Courier New"/>
                <a:ea typeface="Courier New"/>
                <a:cs typeface="Courier New"/>
              </a:rPr>
              <a:t>        print(i, "par")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00" dirty="0">
                <a:solidFill>
                  <a:srgbClr val="272525"/>
                </a:solidFill>
                <a:latin typeface="Courier New"/>
                <a:ea typeface="Courier New"/>
                <a:cs typeface="Courier New"/>
              </a:rPr>
              <a:t>    else: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00" dirty="0">
                <a:solidFill>
                  <a:srgbClr val="272525"/>
                </a:solidFill>
                <a:latin typeface="Courier New"/>
                <a:ea typeface="Courier New"/>
                <a:cs typeface="Courier New"/>
              </a:rPr>
              <a:t>        print(i, "ímpar")</a:t>
            </a:r>
          </a:p>
        </p:txBody>
      </p:sp>
      <p:sp>
        <p:nvSpPr>
          <p:cNvPr id="31" name="Pergunta 31"/>
          <p:cNvSpPr/>
          <p:nvPr/>
        </p:nvSpPr>
        <p:spPr>
          <a:xfrm>
            <a:off x="7100000" y="4200000"/>
            <a:ext cx="4500000" cy="1150000"/>
          </a:xfrm>
          <a:prstGeom prst="roundRect">
            <a:avLst>
              <a:gd name="adj" fmla="val 8000"/>
            </a:avLst>
          </a:prstGeom>
          <a:solidFill>
            <a:srgbClr val="E3E5F6"/>
          </a:solidFill>
          <a:ln>
            <a:noFill/>
          </a:ln>
        </p:spPr>
        <p:txBody>
          <a:bodyPr wrap="square" lIns="200000" tIns="80000" rIns="150000" bIns="8000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 b="1" dirty="0">
                <a:solidFill>
                  <a:srgbClr val="043073"/>
                </a:solidFill>
                <a:latin typeface="Inter Bold"/>
                <a:ea typeface="Inter Bold"/>
                <a:cs typeface="Inter Bold"/>
              </a:rPr>
              <a:t>Pergunte à turma: </a:t>
            </a:r>
            <a:r>
              <a:rPr lang="pt-BR" sz="15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e se tirarmos o else, o que deixa de aparecer?</a:t>
            </a:r>
          </a:p>
        </p:txBody>
      </p:sp>
      <p:sp>
        <p:nvSpPr>
          <p:cNvPr id="32" name="Saída 32"/>
          <p:cNvSpPr/>
          <p:nvPr/>
        </p:nvSpPr>
        <p:spPr>
          <a:xfrm>
            <a:off x="7100000" y="5600000"/>
            <a:ext cx="4500000" cy="450000"/>
          </a:xfrm>
          <a:prstGeom prst="roundRect">
            <a:avLst>
              <a:gd name="adj" fmla="val 15000"/>
            </a:avLst>
          </a:prstGeom>
          <a:solidFill>
            <a:srgbClr val="EEF0FA"/>
          </a:solidFill>
          <a:ln>
            <a:noFill/>
          </a:ln>
        </p:spPr>
        <p:txBody>
          <a:bodyPr wrap="square" lIns="200000" tIns="0" rIns="10000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Saída:  </a:t>
            </a:r>
            <a:r>
              <a:rPr lang="pt-BR" sz="1600" dirty="0">
                <a:solidFill>
                  <a:srgbClr val="272525"/>
                </a:solidFill>
                <a:latin typeface="Courier New"/>
                <a:ea typeface="Courier New"/>
                <a:cs typeface="Courier New"/>
              </a:rPr>
              <a:t>1 ímpar | 2 par ..</a:t>
            </a:r>
          </a:p>
        </p:txBody>
      </p:sp>
    </p:spTree>
    <p:extLst>
      <p:ext uri="{BB962C8B-B14F-4D97-AF65-F5344CB8AC3E}">
        <p14:creationId xmlns:p14="http://schemas.microsoft.com/office/powerpoint/2010/main" val="109439188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2"/>
          <p:cNvSpPr txBox="1"/>
          <p:nvPr/>
        </p:nvSpPr>
        <p:spPr>
          <a:xfrm>
            <a:off x="966267" y="832247"/>
            <a:ext cx="10868745" cy="590649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pt-BR" sz="2350" b="1" spc="-72" dirty="0">
                <a:solidFill>
                  <a:srgbClr val="000000"/>
                </a:solidFill>
                <a:latin typeface="Inter Bold"/>
                <a:ea typeface="Inter Bold"/>
                <a:cs typeface="Inter Bold"/>
              </a:rPr>
              <a:t>Vamos fazer juntos 4: soma dos pares de 1 a 10</a:t>
            </a:r>
          </a:p>
        </p:txBody>
      </p:sp>
      <p:sp>
        <p:nvSpPr>
          <p:cNvPr id="3" name="Fluxo 3"/>
          <p:cNvSpPr/>
          <p:nvPr/>
        </p:nvSpPr>
        <p:spPr>
          <a:xfrm>
            <a:off x="2200000" y="1500000"/>
            <a:ext cx="1400000" cy="380000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043073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Início</a:t>
            </a:r>
          </a:p>
        </p:txBody>
      </p:sp>
      <p:cxnSp>
        <p:nvCxnSpPr>
          <p:cNvPr id="4" name="Conector 4"/>
          <p:cNvCxnSpPr/>
          <p:nvPr/>
        </p:nvCxnSpPr>
        <p:spPr>
          <a:xfrm>
            <a:off x="2900000" y="1880000"/>
            <a:ext cx="0" cy="220000"/>
          </a:xfrm>
          <a:prstGeom prst="straightConnector1">
            <a:avLst/>
          </a:prstGeom>
          <a:ln w="28575">
            <a:solidFill>
              <a:srgbClr val="043073"/>
            </a:solidFill>
            <a:tailEnd type="triangle"/>
          </a:ln>
        </p:spPr>
      </p:cxnSp>
      <p:sp>
        <p:nvSpPr>
          <p:cNvPr id="5" name="Fluxo 5"/>
          <p:cNvSpPr/>
          <p:nvPr/>
        </p:nvSpPr>
        <p:spPr>
          <a:xfrm>
            <a:off x="1900000" y="2100000"/>
            <a:ext cx="2000000" cy="380000"/>
          </a:xfrm>
          <a:prstGeom prst="rect">
            <a:avLst/>
          </a:prstGeom>
          <a:noFill/>
          <a:ln w="19050">
            <a:solidFill>
              <a:srgbClr val="043073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soma ← 0</a:t>
            </a:r>
          </a:p>
        </p:txBody>
      </p:sp>
      <p:cxnSp>
        <p:nvCxnSpPr>
          <p:cNvPr id="6" name="Conector 6"/>
          <p:cNvCxnSpPr/>
          <p:nvPr/>
        </p:nvCxnSpPr>
        <p:spPr>
          <a:xfrm>
            <a:off x="2900000" y="2480000"/>
            <a:ext cx="0" cy="220000"/>
          </a:xfrm>
          <a:prstGeom prst="straightConnector1">
            <a:avLst/>
          </a:prstGeom>
          <a:ln w="28575">
            <a:solidFill>
              <a:srgbClr val="043073"/>
            </a:solidFill>
            <a:tailEnd type="triangle"/>
          </a:ln>
        </p:spPr>
      </p:cxnSp>
      <p:sp>
        <p:nvSpPr>
          <p:cNvPr id="7" name="Fluxo 7"/>
          <p:cNvSpPr/>
          <p:nvPr/>
        </p:nvSpPr>
        <p:spPr>
          <a:xfrm>
            <a:off x="1900000" y="2700000"/>
            <a:ext cx="2000000" cy="380000"/>
          </a:xfrm>
          <a:prstGeom prst="rect">
            <a:avLst/>
          </a:prstGeom>
          <a:noFill/>
          <a:ln w="19050">
            <a:solidFill>
              <a:srgbClr val="043073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i ← 1</a:t>
            </a:r>
          </a:p>
        </p:txBody>
      </p:sp>
      <p:cxnSp>
        <p:nvCxnSpPr>
          <p:cNvPr id="8" name="Conector 8"/>
          <p:cNvCxnSpPr/>
          <p:nvPr/>
        </p:nvCxnSpPr>
        <p:spPr>
          <a:xfrm>
            <a:off x="2900000" y="3080000"/>
            <a:ext cx="0" cy="220000"/>
          </a:xfrm>
          <a:prstGeom prst="straightConnector1">
            <a:avLst/>
          </a:prstGeom>
          <a:ln w="28575">
            <a:solidFill>
              <a:srgbClr val="043073"/>
            </a:solidFill>
            <a:tailEnd type="triangle"/>
          </a:ln>
        </p:spPr>
      </p:cxnSp>
      <p:sp>
        <p:nvSpPr>
          <p:cNvPr id="9" name="Decisão 9"/>
          <p:cNvSpPr/>
          <p:nvPr/>
        </p:nvSpPr>
        <p:spPr>
          <a:xfrm>
            <a:off x="1700000" y="3300000"/>
            <a:ext cx="2400000" cy="720000"/>
          </a:xfrm>
          <a:prstGeom prst="flowChartDecision">
            <a:avLst/>
          </a:prstGeom>
          <a:noFill/>
          <a:ln w="19050">
            <a:solidFill>
              <a:srgbClr val="043073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i ≤ 10 ?</a:t>
            </a:r>
          </a:p>
        </p:txBody>
      </p:sp>
      <p:sp>
        <p:nvSpPr>
          <p:cNvPr id="10" name="Rótulo 10"/>
          <p:cNvSpPr txBox="1"/>
          <p:nvPr/>
        </p:nvSpPr>
        <p:spPr>
          <a:xfrm>
            <a:off x="3000000" y="4030000"/>
            <a:ext cx="7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1" dirty="0">
                <a:solidFill>
                  <a:srgbClr val="043073"/>
                </a:solidFill>
                <a:latin typeface="Inter Bold"/>
                <a:ea typeface="Inter Bold"/>
                <a:cs typeface="Inter Bold"/>
              </a:rPr>
              <a:t>Sim</a:t>
            </a:r>
          </a:p>
        </p:txBody>
      </p:sp>
      <p:cxnSp>
        <p:nvCxnSpPr>
          <p:cNvPr id="11" name="Conector 11"/>
          <p:cNvCxnSpPr/>
          <p:nvPr/>
        </p:nvCxnSpPr>
        <p:spPr>
          <a:xfrm>
            <a:off x="2900000" y="4020000"/>
            <a:ext cx="0" cy="300000"/>
          </a:xfrm>
          <a:prstGeom prst="straightConnector1">
            <a:avLst/>
          </a:prstGeom>
          <a:ln w="28575">
            <a:solidFill>
              <a:srgbClr val="043073"/>
            </a:solidFill>
            <a:tailEnd type="triangle"/>
          </a:ln>
        </p:spPr>
      </p:cxnSp>
      <p:sp>
        <p:nvSpPr>
          <p:cNvPr id="12" name="Decisão 12"/>
          <p:cNvSpPr/>
          <p:nvPr/>
        </p:nvSpPr>
        <p:spPr>
          <a:xfrm>
            <a:off x="1700000" y="4320000"/>
            <a:ext cx="2400000" cy="720000"/>
          </a:xfrm>
          <a:prstGeom prst="flowChartDecision">
            <a:avLst/>
          </a:prstGeom>
          <a:noFill/>
          <a:ln w="19050">
            <a:solidFill>
              <a:srgbClr val="043073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i % 2 = 0 ?</a:t>
            </a:r>
          </a:p>
        </p:txBody>
      </p:sp>
      <p:sp>
        <p:nvSpPr>
          <p:cNvPr id="13" name="Rótulo 13"/>
          <p:cNvSpPr txBox="1"/>
          <p:nvPr/>
        </p:nvSpPr>
        <p:spPr>
          <a:xfrm>
            <a:off x="3000000" y="5050000"/>
            <a:ext cx="7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1" dirty="0">
                <a:solidFill>
                  <a:srgbClr val="043073"/>
                </a:solidFill>
                <a:latin typeface="Inter Bold"/>
                <a:ea typeface="Inter Bold"/>
                <a:cs typeface="Inter Bold"/>
              </a:rPr>
              <a:t>Sim</a:t>
            </a:r>
          </a:p>
        </p:txBody>
      </p:sp>
      <p:sp>
        <p:nvSpPr>
          <p:cNvPr id="14" name="Rótulo 14"/>
          <p:cNvSpPr txBox="1"/>
          <p:nvPr/>
        </p:nvSpPr>
        <p:spPr>
          <a:xfrm>
            <a:off x="4200000" y="4330000"/>
            <a:ext cx="7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1" dirty="0">
                <a:solidFill>
                  <a:srgbClr val="043073"/>
                </a:solidFill>
                <a:latin typeface="Inter Bold"/>
                <a:ea typeface="Inter Bold"/>
                <a:cs typeface="Inter Bold"/>
              </a:rPr>
              <a:t>Não</a:t>
            </a:r>
          </a:p>
        </p:txBody>
      </p:sp>
      <p:cxnSp>
        <p:nvCxnSpPr>
          <p:cNvPr id="15" name="Conector 15"/>
          <p:cNvCxnSpPr/>
          <p:nvPr/>
        </p:nvCxnSpPr>
        <p:spPr>
          <a:xfrm>
            <a:off x="2900000" y="5040000"/>
            <a:ext cx="0" cy="300000"/>
          </a:xfrm>
          <a:prstGeom prst="straightConnector1">
            <a:avLst/>
          </a:prstGeom>
          <a:ln w="28575">
            <a:solidFill>
              <a:srgbClr val="043073"/>
            </a:solidFill>
            <a:tailEnd type="triangle"/>
          </a:ln>
        </p:spPr>
      </p:cxnSp>
      <p:sp>
        <p:nvSpPr>
          <p:cNvPr id="16" name="Fluxo 16"/>
          <p:cNvSpPr/>
          <p:nvPr/>
        </p:nvSpPr>
        <p:spPr>
          <a:xfrm>
            <a:off x="1900000" y="5340000"/>
            <a:ext cx="2000000" cy="380000"/>
          </a:xfrm>
          <a:prstGeom prst="rect">
            <a:avLst/>
          </a:prstGeom>
          <a:noFill/>
          <a:ln w="19050">
            <a:solidFill>
              <a:srgbClr val="043073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soma ← soma + i</a:t>
            </a:r>
          </a:p>
        </p:txBody>
      </p:sp>
      <p:cxnSp>
        <p:nvCxnSpPr>
          <p:cNvPr id="17" name="Conector 17"/>
          <p:cNvCxnSpPr/>
          <p:nvPr/>
        </p:nvCxnSpPr>
        <p:spPr>
          <a:xfrm>
            <a:off x="2900000" y="5720000"/>
            <a:ext cx="0" cy="220000"/>
          </a:xfrm>
          <a:prstGeom prst="straightConnector1">
            <a:avLst/>
          </a:prstGeom>
          <a:ln w="28575">
            <a:solidFill>
              <a:srgbClr val="043073"/>
            </a:solidFill>
            <a:tailEnd type="triangle"/>
          </a:ln>
        </p:spPr>
      </p:cxnSp>
      <p:sp>
        <p:nvSpPr>
          <p:cNvPr id="18" name="Fluxo 18"/>
          <p:cNvSpPr/>
          <p:nvPr/>
        </p:nvSpPr>
        <p:spPr>
          <a:xfrm>
            <a:off x="1900000" y="5940000"/>
            <a:ext cx="2000000" cy="380000"/>
          </a:xfrm>
          <a:prstGeom prst="rect">
            <a:avLst/>
          </a:prstGeom>
          <a:noFill/>
          <a:ln w="19050">
            <a:solidFill>
              <a:srgbClr val="043073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i ← i + 1</a:t>
            </a:r>
          </a:p>
        </p:txBody>
      </p:sp>
      <p:cxnSp>
        <p:nvCxnSpPr>
          <p:cNvPr id="19" name="Conector 19"/>
          <p:cNvCxnSpPr/>
          <p:nvPr/>
        </p:nvCxnSpPr>
        <p:spPr>
          <a:xfrm flipH="1">
            <a:off x="1200000" y="6130000"/>
            <a:ext cx="700000" cy="0"/>
          </a:xfrm>
          <a:prstGeom prst="straightConnector1">
            <a:avLst/>
          </a:prstGeom>
          <a:ln w="28575">
            <a:solidFill>
              <a:srgbClr val="043073"/>
            </a:solidFill>
          </a:ln>
        </p:spPr>
      </p:cxnSp>
      <p:cxnSp>
        <p:nvCxnSpPr>
          <p:cNvPr id="20" name="Conector 20"/>
          <p:cNvCxnSpPr/>
          <p:nvPr/>
        </p:nvCxnSpPr>
        <p:spPr>
          <a:xfrm flipV="1">
            <a:off x="1200000" y="3660000"/>
            <a:ext cx="0" cy="2470000"/>
          </a:xfrm>
          <a:prstGeom prst="straightConnector1">
            <a:avLst/>
          </a:prstGeom>
          <a:ln w="28575">
            <a:solidFill>
              <a:srgbClr val="043073"/>
            </a:solidFill>
          </a:ln>
        </p:spPr>
      </p:cxnSp>
      <p:cxnSp>
        <p:nvCxnSpPr>
          <p:cNvPr id="21" name="Conector 21"/>
          <p:cNvCxnSpPr/>
          <p:nvPr/>
        </p:nvCxnSpPr>
        <p:spPr>
          <a:xfrm>
            <a:off x="1200000" y="3660000"/>
            <a:ext cx="500000" cy="0"/>
          </a:xfrm>
          <a:prstGeom prst="straightConnector1">
            <a:avLst/>
          </a:prstGeom>
          <a:ln w="28575">
            <a:solidFill>
              <a:srgbClr val="043073"/>
            </a:solidFill>
            <a:tailEnd type="triangle"/>
          </a:ln>
        </p:spPr>
      </p:cxnSp>
      <p:cxnSp>
        <p:nvCxnSpPr>
          <p:cNvPr id="22" name="Conector 22"/>
          <p:cNvCxnSpPr/>
          <p:nvPr/>
        </p:nvCxnSpPr>
        <p:spPr>
          <a:xfrm>
            <a:off x="4100000" y="4680000"/>
            <a:ext cx="350000" cy="0"/>
          </a:xfrm>
          <a:prstGeom prst="straightConnector1">
            <a:avLst/>
          </a:prstGeom>
          <a:ln w="28575">
            <a:solidFill>
              <a:srgbClr val="043073"/>
            </a:solidFill>
          </a:ln>
        </p:spPr>
      </p:cxnSp>
      <p:cxnSp>
        <p:nvCxnSpPr>
          <p:cNvPr id="23" name="Conector 23"/>
          <p:cNvCxnSpPr/>
          <p:nvPr/>
        </p:nvCxnSpPr>
        <p:spPr>
          <a:xfrm>
            <a:off x="4450000" y="4680000"/>
            <a:ext cx="0" cy="1450000"/>
          </a:xfrm>
          <a:prstGeom prst="straightConnector1">
            <a:avLst/>
          </a:prstGeom>
          <a:ln w="28575">
            <a:solidFill>
              <a:srgbClr val="043073"/>
            </a:solidFill>
          </a:ln>
        </p:spPr>
      </p:cxnSp>
      <p:cxnSp>
        <p:nvCxnSpPr>
          <p:cNvPr id="24" name="Conector 24"/>
          <p:cNvCxnSpPr/>
          <p:nvPr/>
        </p:nvCxnSpPr>
        <p:spPr>
          <a:xfrm flipH="1">
            <a:off x="3900000" y="6130000"/>
            <a:ext cx="550000" cy="0"/>
          </a:xfrm>
          <a:prstGeom prst="straightConnector1">
            <a:avLst/>
          </a:prstGeom>
          <a:ln w="28575">
            <a:solidFill>
              <a:srgbClr val="043073"/>
            </a:solidFill>
            <a:tailEnd type="triangle"/>
          </a:ln>
        </p:spPr>
      </p:cxnSp>
      <p:sp>
        <p:nvSpPr>
          <p:cNvPr id="25" name="Rótulo 25"/>
          <p:cNvSpPr txBox="1"/>
          <p:nvPr/>
        </p:nvSpPr>
        <p:spPr>
          <a:xfrm>
            <a:off x="4200000" y="3310000"/>
            <a:ext cx="7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1" dirty="0">
                <a:solidFill>
                  <a:srgbClr val="043073"/>
                </a:solidFill>
                <a:latin typeface="Inter Bold"/>
                <a:ea typeface="Inter Bold"/>
                <a:cs typeface="Inter Bold"/>
              </a:rPr>
              <a:t>Não</a:t>
            </a:r>
          </a:p>
        </p:txBody>
      </p:sp>
      <p:cxnSp>
        <p:nvCxnSpPr>
          <p:cNvPr id="26" name="Conector 26"/>
          <p:cNvCxnSpPr/>
          <p:nvPr/>
        </p:nvCxnSpPr>
        <p:spPr>
          <a:xfrm>
            <a:off x="4100000" y="3660000"/>
            <a:ext cx="1450000" cy="0"/>
          </a:xfrm>
          <a:prstGeom prst="straightConnector1">
            <a:avLst/>
          </a:prstGeom>
          <a:ln w="28575">
            <a:solidFill>
              <a:srgbClr val="043073"/>
            </a:solidFill>
          </a:ln>
        </p:spPr>
      </p:cxnSp>
      <p:cxnSp>
        <p:nvCxnSpPr>
          <p:cNvPr id="27" name="Conector 27"/>
          <p:cNvCxnSpPr/>
          <p:nvPr/>
        </p:nvCxnSpPr>
        <p:spPr>
          <a:xfrm>
            <a:off x="5550000" y="3660000"/>
            <a:ext cx="0" cy="400000"/>
          </a:xfrm>
          <a:prstGeom prst="straightConnector1">
            <a:avLst/>
          </a:prstGeom>
          <a:ln w="28575">
            <a:solidFill>
              <a:srgbClr val="043073"/>
            </a:solidFill>
            <a:tailEnd type="triangle"/>
          </a:ln>
        </p:spPr>
      </p:cxnSp>
      <p:sp>
        <p:nvSpPr>
          <p:cNvPr id="28" name="Fluxo 28"/>
          <p:cNvSpPr/>
          <p:nvPr/>
        </p:nvSpPr>
        <p:spPr>
          <a:xfrm>
            <a:off x="4650000" y="4060000"/>
            <a:ext cx="1800000" cy="380000"/>
          </a:xfrm>
          <a:prstGeom prst="rect">
            <a:avLst/>
          </a:prstGeom>
          <a:noFill/>
          <a:ln w="19050">
            <a:solidFill>
              <a:srgbClr val="043073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Escreva soma</a:t>
            </a:r>
          </a:p>
        </p:txBody>
      </p:sp>
      <p:cxnSp>
        <p:nvCxnSpPr>
          <p:cNvPr id="29" name="Conector 29"/>
          <p:cNvCxnSpPr/>
          <p:nvPr/>
        </p:nvCxnSpPr>
        <p:spPr>
          <a:xfrm>
            <a:off x="5550000" y="4440000"/>
            <a:ext cx="0" cy="220000"/>
          </a:xfrm>
          <a:prstGeom prst="straightConnector1">
            <a:avLst/>
          </a:prstGeom>
          <a:ln w="28575">
            <a:solidFill>
              <a:srgbClr val="043073"/>
            </a:solidFill>
            <a:tailEnd type="triangle"/>
          </a:ln>
        </p:spPr>
      </p:cxnSp>
      <p:sp>
        <p:nvSpPr>
          <p:cNvPr id="30" name="Fluxo 30"/>
          <p:cNvSpPr/>
          <p:nvPr/>
        </p:nvSpPr>
        <p:spPr>
          <a:xfrm>
            <a:off x="4850000" y="4660000"/>
            <a:ext cx="1400000" cy="380000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043073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Fim</a:t>
            </a:r>
          </a:p>
        </p:txBody>
      </p:sp>
      <p:sp>
        <p:nvSpPr>
          <p:cNvPr id="31" name="Rótulo 31"/>
          <p:cNvSpPr txBox="1"/>
          <p:nvPr/>
        </p:nvSpPr>
        <p:spPr>
          <a:xfrm>
            <a:off x="7100000" y="1500000"/>
            <a:ext cx="45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 dirty="0">
                <a:solidFill>
                  <a:srgbClr val="043073"/>
                </a:solidFill>
                <a:latin typeface="Inter Bold"/>
                <a:ea typeface="Inter Bold"/>
                <a:cs typeface="Inter Bold"/>
              </a:rPr>
              <a:t>Em Python</a:t>
            </a:r>
          </a:p>
        </p:txBody>
      </p:sp>
      <p:sp>
        <p:nvSpPr>
          <p:cNvPr id="32" name="Código 32"/>
          <p:cNvSpPr/>
          <p:nvPr/>
        </p:nvSpPr>
        <p:spPr>
          <a:xfrm>
            <a:off x="7100000" y="1950000"/>
            <a:ext cx="4500000" cy="1950000"/>
          </a:xfrm>
          <a:prstGeom prst="rect">
            <a:avLst/>
          </a:prstGeom>
          <a:solidFill>
            <a:srgbClr val="F3F4F8"/>
          </a:solidFill>
          <a:ln w="9525">
            <a:solidFill>
              <a:srgbClr val="C9CCE0"/>
            </a:solidFill>
          </a:ln>
        </p:spPr>
        <p:txBody>
          <a:bodyPr wrap="square" lIns="150000" tIns="90000" rIns="100000" bIns="9000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00" dirty="0">
                <a:solidFill>
                  <a:srgbClr val="272525"/>
                </a:solidFill>
                <a:latin typeface="Courier New"/>
                <a:ea typeface="Courier New"/>
                <a:cs typeface="Courier New"/>
              </a:rPr>
              <a:t>soma = 0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00" dirty="0">
                <a:solidFill>
                  <a:srgbClr val="272525"/>
                </a:solidFill>
                <a:latin typeface="Courier New"/>
                <a:ea typeface="Courier New"/>
                <a:cs typeface="Courier New"/>
              </a:rPr>
              <a:t>for i in range(1, 11):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00" dirty="0">
                <a:solidFill>
                  <a:srgbClr val="272525"/>
                </a:solidFill>
                <a:latin typeface="Courier New"/>
                <a:ea typeface="Courier New"/>
                <a:cs typeface="Courier New"/>
              </a:rPr>
              <a:t>    if i % 2 == 0: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00" dirty="0">
                <a:solidFill>
                  <a:srgbClr val="272525"/>
                </a:solidFill>
                <a:latin typeface="Courier New"/>
                <a:ea typeface="Courier New"/>
                <a:cs typeface="Courier New"/>
              </a:rPr>
              <a:t>        soma = soma + i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00" dirty="0">
                <a:solidFill>
                  <a:srgbClr val="272525"/>
                </a:solidFill>
                <a:latin typeface="Courier New"/>
                <a:ea typeface="Courier New"/>
                <a:cs typeface="Courier New"/>
              </a:rPr>
              <a:t>print(soma)</a:t>
            </a:r>
          </a:p>
        </p:txBody>
      </p:sp>
      <p:sp>
        <p:nvSpPr>
          <p:cNvPr id="33" name="Pergunta 33"/>
          <p:cNvSpPr/>
          <p:nvPr/>
        </p:nvSpPr>
        <p:spPr>
          <a:xfrm>
            <a:off x="7100000" y="4200000"/>
            <a:ext cx="4500000" cy="1150000"/>
          </a:xfrm>
          <a:prstGeom prst="roundRect">
            <a:avLst>
              <a:gd name="adj" fmla="val 8000"/>
            </a:avLst>
          </a:prstGeom>
          <a:solidFill>
            <a:srgbClr val="E3E5F6"/>
          </a:solidFill>
          <a:ln>
            <a:noFill/>
          </a:ln>
        </p:spPr>
        <p:txBody>
          <a:bodyPr wrap="square" lIns="200000" tIns="80000" rIns="150000" bIns="8000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 b="1" dirty="0">
                <a:solidFill>
                  <a:srgbClr val="043073"/>
                </a:solidFill>
                <a:latin typeface="Inter Bold"/>
                <a:ea typeface="Inter Bold"/>
                <a:cs typeface="Inter Bold"/>
              </a:rPr>
              <a:t>Pergunte à turma: </a:t>
            </a:r>
            <a:r>
              <a:rPr lang="pt-BR" sz="15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em quais voltas a soma muda? (2, 6, 12, 20, 30)</a:t>
            </a:r>
          </a:p>
        </p:txBody>
      </p:sp>
      <p:sp>
        <p:nvSpPr>
          <p:cNvPr id="34" name="Saída 34"/>
          <p:cNvSpPr/>
          <p:nvPr/>
        </p:nvSpPr>
        <p:spPr>
          <a:xfrm>
            <a:off x="7100000" y="5600000"/>
            <a:ext cx="4500000" cy="450000"/>
          </a:xfrm>
          <a:prstGeom prst="roundRect">
            <a:avLst>
              <a:gd name="adj" fmla="val 15000"/>
            </a:avLst>
          </a:prstGeom>
          <a:solidFill>
            <a:srgbClr val="EEF0FA"/>
          </a:solidFill>
          <a:ln>
            <a:noFill/>
          </a:ln>
        </p:spPr>
        <p:txBody>
          <a:bodyPr wrap="square" lIns="200000" tIns="0" rIns="10000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Saída:  </a:t>
            </a:r>
            <a:r>
              <a:rPr lang="pt-BR" sz="1600" dirty="0">
                <a:solidFill>
                  <a:srgbClr val="272525"/>
                </a:solidFill>
                <a:latin typeface="Courier New"/>
                <a:ea typeface="Courier New"/>
                <a:cs typeface="Courier New"/>
              </a:rPr>
              <a:t>30</a:t>
            </a:r>
          </a:p>
        </p:txBody>
      </p:sp>
    </p:spTree>
    <p:extLst>
      <p:ext uri="{BB962C8B-B14F-4D97-AF65-F5344CB8AC3E}">
        <p14:creationId xmlns:p14="http://schemas.microsoft.com/office/powerpoint/2010/main" val="109439188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2"/>
          <p:cNvSpPr txBox="1"/>
          <p:nvPr/>
        </p:nvSpPr>
        <p:spPr>
          <a:xfrm>
            <a:off x="966267" y="832247"/>
            <a:ext cx="10868745" cy="590649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pt-BR" sz="2350" b="1" spc="-72" dirty="0">
                <a:solidFill>
                  <a:srgbClr val="000000"/>
                </a:solidFill>
                <a:latin typeface="Inter Bold"/>
                <a:ea typeface="Inter Bold"/>
                <a:cs typeface="Inter Bold"/>
              </a:rPr>
              <a:t>Cuidados com o laço</a:t>
            </a:r>
          </a:p>
        </p:txBody>
      </p:sp>
      <p:sp>
        <p:nvSpPr>
          <p:cNvPr id="3" name="Intro 3"/>
          <p:cNvSpPr txBox="1"/>
          <p:nvPr/>
        </p:nvSpPr>
        <p:spPr>
          <a:xfrm>
            <a:off x="800000" y="1550000"/>
            <a:ext cx="10800000" cy="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 dirty="0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Três erros comuns</a:t>
            </a:r>
            <a:r>
              <a:rPr lang="pt-BR" sz="18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 que vocês vão encontrar nos exercícios.</a:t>
            </a:r>
          </a:p>
        </p:txBody>
      </p:sp>
      <p:sp>
        <p:nvSpPr>
          <p:cNvPr id="4" name="Cartão 4"/>
          <p:cNvSpPr/>
          <p:nvPr/>
        </p:nvSpPr>
        <p:spPr>
          <a:xfrm>
            <a:off x="800000" y="2350000"/>
            <a:ext cx="3400000" cy="2950000"/>
          </a:xfrm>
          <a:prstGeom prst="roundRect">
            <a:avLst>
              <a:gd name="adj" fmla="val 6000"/>
            </a:avLst>
          </a:prstGeom>
          <a:solidFill>
            <a:srgbClr val="EEF0F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pt-BR"/>
          </a:p>
        </p:txBody>
      </p:sp>
      <p:sp>
        <p:nvSpPr>
          <p:cNvPr id="5" name="Número 5"/>
          <p:cNvSpPr/>
          <p:nvPr/>
        </p:nvSpPr>
        <p:spPr>
          <a:xfrm>
            <a:off x="1100000" y="2600000"/>
            <a:ext cx="500000" cy="500000"/>
          </a:xfrm>
          <a:prstGeom prst="ellipse">
            <a:avLst/>
          </a:prstGeom>
          <a:solidFill>
            <a:srgbClr val="04307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!</a:t>
            </a:r>
          </a:p>
        </p:txBody>
      </p:sp>
      <p:sp>
        <p:nvSpPr>
          <p:cNvPr id="6" name="Título 6"/>
          <p:cNvSpPr txBox="1"/>
          <p:nvPr/>
        </p:nvSpPr>
        <p:spPr>
          <a:xfrm>
            <a:off x="1750000" y="2600000"/>
            <a:ext cx="2300000" cy="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Laço infinito</a:t>
            </a:r>
          </a:p>
        </p:txBody>
      </p:sp>
      <p:sp>
        <p:nvSpPr>
          <p:cNvPr id="7" name="Código 7"/>
          <p:cNvSpPr/>
          <p:nvPr/>
        </p:nvSpPr>
        <p:spPr>
          <a:xfrm>
            <a:off x="1100000" y="3300000"/>
            <a:ext cx="2800000" cy="60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9CCE0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dirty="0">
                <a:solidFill>
                  <a:srgbClr val="272525"/>
                </a:solidFill>
                <a:latin typeface="Courier New"/>
                <a:ea typeface="Courier New"/>
                <a:cs typeface="Courier New"/>
              </a:rPr>
              <a:t>i nunca muda</a:t>
            </a:r>
          </a:p>
        </p:txBody>
      </p:sp>
      <p:sp>
        <p:nvSpPr>
          <p:cNvPr id="8" name="Texto 8"/>
          <p:cNvSpPr txBox="1"/>
          <p:nvPr/>
        </p:nvSpPr>
        <p:spPr>
          <a:xfrm>
            <a:off x="1100000" y="4050000"/>
            <a:ext cx="2800000" cy="11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Sem o passo i ← i + 1, a condição nunca vira Não e o programa não termina.</a:t>
            </a:r>
          </a:p>
        </p:txBody>
      </p:sp>
      <p:sp>
        <p:nvSpPr>
          <p:cNvPr id="9" name="Cartão 9"/>
          <p:cNvSpPr/>
          <p:nvPr/>
        </p:nvSpPr>
        <p:spPr>
          <a:xfrm>
            <a:off x="4500000" y="2350000"/>
            <a:ext cx="3400000" cy="2950000"/>
          </a:xfrm>
          <a:prstGeom prst="roundRect">
            <a:avLst>
              <a:gd name="adj" fmla="val 6000"/>
            </a:avLst>
          </a:prstGeom>
          <a:solidFill>
            <a:srgbClr val="EEF0F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pt-BR"/>
          </a:p>
        </p:txBody>
      </p:sp>
      <p:sp>
        <p:nvSpPr>
          <p:cNvPr id="10" name="Número 10"/>
          <p:cNvSpPr/>
          <p:nvPr/>
        </p:nvSpPr>
        <p:spPr>
          <a:xfrm>
            <a:off x="4800000" y="2600000"/>
            <a:ext cx="500000" cy="500000"/>
          </a:xfrm>
          <a:prstGeom prst="ellipse">
            <a:avLst/>
          </a:prstGeom>
          <a:solidFill>
            <a:srgbClr val="04307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!</a:t>
            </a:r>
          </a:p>
        </p:txBody>
      </p:sp>
      <p:sp>
        <p:nvSpPr>
          <p:cNvPr id="11" name="Título 11"/>
          <p:cNvSpPr txBox="1"/>
          <p:nvPr/>
        </p:nvSpPr>
        <p:spPr>
          <a:xfrm>
            <a:off x="5450000" y="2600000"/>
            <a:ext cx="2300000" cy="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Fora por um</a:t>
            </a:r>
          </a:p>
        </p:txBody>
      </p:sp>
      <p:sp>
        <p:nvSpPr>
          <p:cNvPr id="12" name="Código 12"/>
          <p:cNvSpPr/>
          <p:nvPr/>
        </p:nvSpPr>
        <p:spPr>
          <a:xfrm>
            <a:off x="4800000" y="3300000"/>
            <a:ext cx="2800000" cy="60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9CCE0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dirty="0">
                <a:solidFill>
                  <a:srgbClr val="272525"/>
                </a:solidFill>
                <a:latin typeface="Courier New"/>
                <a:ea typeface="Courier New"/>
                <a:cs typeface="Courier New"/>
              </a:rPr>
              <a:t>range(1, 11)</a:t>
            </a:r>
          </a:p>
        </p:txBody>
      </p:sp>
      <p:sp>
        <p:nvSpPr>
          <p:cNvPr id="13" name="Texto 13"/>
          <p:cNvSpPr txBox="1"/>
          <p:nvPr/>
        </p:nvSpPr>
        <p:spPr>
          <a:xfrm>
            <a:off x="4800000" y="4050000"/>
            <a:ext cx="2800000" cy="11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range(1, 6) vai até 5. Para chegar até 10, o limite é 11.</a:t>
            </a:r>
          </a:p>
        </p:txBody>
      </p:sp>
      <p:sp>
        <p:nvSpPr>
          <p:cNvPr id="14" name="Cartão 14"/>
          <p:cNvSpPr/>
          <p:nvPr/>
        </p:nvSpPr>
        <p:spPr>
          <a:xfrm>
            <a:off x="8200000" y="2350000"/>
            <a:ext cx="3400000" cy="2950000"/>
          </a:xfrm>
          <a:prstGeom prst="roundRect">
            <a:avLst>
              <a:gd name="adj" fmla="val 6000"/>
            </a:avLst>
          </a:prstGeom>
          <a:solidFill>
            <a:srgbClr val="EEF0F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pt-BR"/>
          </a:p>
        </p:txBody>
      </p:sp>
      <p:sp>
        <p:nvSpPr>
          <p:cNvPr id="15" name="Número 15"/>
          <p:cNvSpPr/>
          <p:nvPr/>
        </p:nvSpPr>
        <p:spPr>
          <a:xfrm>
            <a:off x="8500000" y="2600000"/>
            <a:ext cx="500000" cy="500000"/>
          </a:xfrm>
          <a:prstGeom prst="ellipse">
            <a:avLst/>
          </a:prstGeom>
          <a:solidFill>
            <a:srgbClr val="04307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!</a:t>
            </a:r>
          </a:p>
        </p:txBody>
      </p:sp>
      <p:sp>
        <p:nvSpPr>
          <p:cNvPr id="16" name="Título 16"/>
          <p:cNvSpPr txBox="1"/>
          <p:nvPr/>
        </p:nvSpPr>
        <p:spPr>
          <a:xfrm>
            <a:off x="9150000" y="2600000"/>
            <a:ext cx="2300000" cy="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Acumulador</a:t>
            </a:r>
          </a:p>
        </p:txBody>
      </p:sp>
      <p:sp>
        <p:nvSpPr>
          <p:cNvPr id="17" name="Código 17"/>
          <p:cNvSpPr/>
          <p:nvPr/>
        </p:nvSpPr>
        <p:spPr>
          <a:xfrm>
            <a:off x="8500000" y="3300000"/>
            <a:ext cx="2800000" cy="60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9CCE0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dirty="0">
                <a:solidFill>
                  <a:srgbClr val="272525"/>
                </a:solidFill>
                <a:latin typeface="Courier New"/>
                <a:ea typeface="Courier New"/>
                <a:cs typeface="Courier New"/>
              </a:rPr>
              <a:t>soma = 0</a:t>
            </a:r>
          </a:p>
        </p:txBody>
      </p:sp>
      <p:sp>
        <p:nvSpPr>
          <p:cNvPr id="18" name="Texto 18"/>
          <p:cNvSpPr txBox="1"/>
          <p:nvPr/>
        </p:nvSpPr>
        <p:spPr>
          <a:xfrm>
            <a:off x="8500000" y="4050000"/>
            <a:ext cx="2800000" cy="11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Zere a soma antes do laço. Sem isso, o resultado sai errado.</a:t>
            </a:r>
          </a:p>
        </p:txBody>
      </p:sp>
      <p:sp>
        <p:nvSpPr>
          <p:cNvPr id="19" name="Destaque 19"/>
          <p:cNvSpPr/>
          <p:nvPr/>
        </p:nvSpPr>
        <p:spPr>
          <a:xfrm>
            <a:off x="800000" y="5600000"/>
            <a:ext cx="10800000" cy="750000"/>
          </a:xfrm>
          <a:prstGeom prst="roundRect">
            <a:avLst>
              <a:gd name="adj" fmla="val 12000"/>
            </a:avLst>
          </a:prstGeom>
          <a:solidFill>
            <a:srgbClr val="E3E5F6"/>
          </a:solidFill>
          <a:ln>
            <a:noFill/>
          </a:ln>
        </p:spPr>
        <p:txBody>
          <a:bodyPr wrap="square" lIns="250000" tIns="0" rIns="15000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Na dúvida, </a:t>
            </a:r>
            <a:r>
              <a:rPr lang="pt-BR" sz="16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faça o teste de mesa: anote i e as saídas, volta por volta.</a:t>
            </a:r>
          </a:p>
        </p:txBody>
      </p:sp>
    </p:spTree>
    <p:extLst>
      <p:ext uri="{BB962C8B-B14F-4D97-AF65-F5344CB8AC3E}">
        <p14:creationId xmlns:p14="http://schemas.microsoft.com/office/powerpoint/2010/main" val="109439188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2"/>
          <p:cNvSpPr txBox="1"/>
          <p:nvPr/>
        </p:nvSpPr>
        <p:spPr>
          <a:xfrm>
            <a:off x="966267" y="832247"/>
            <a:ext cx="10868745" cy="590649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pt-BR" sz="2350" b="1" spc="-72" dirty="0">
                <a:solidFill>
                  <a:srgbClr val="000000"/>
                </a:solidFill>
                <a:latin typeface="Inter Bold"/>
                <a:ea typeface="Inter Bold"/>
                <a:cs typeface="Inter Bold"/>
              </a:rPr>
              <a:t>Desafios: laço FOR</a:t>
            </a:r>
          </a:p>
        </p:txBody>
      </p:sp>
      <p:sp>
        <p:nvSpPr>
          <p:cNvPr id="3" name="Cartão 3"/>
          <p:cNvSpPr/>
          <p:nvPr/>
        </p:nvSpPr>
        <p:spPr>
          <a:xfrm>
            <a:off x="800000" y="1750000"/>
            <a:ext cx="3400000" cy="3900000"/>
          </a:xfrm>
          <a:prstGeom prst="roundRect">
            <a:avLst>
              <a:gd name="adj" fmla="val 5000"/>
            </a:avLst>
          </a:prstGeom>
          <a:solidFill>
            <a:srgbClr val="EEF0F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pt-BR"/>
          </a:p>
        </p:txBody>
      </p:sp>
      <p:sp>
        <p:nvSpPr>
          <p:cNvPr id="4" name="Número 4"/>
          <p:cNvSpPr/>
          <p:nvPr/>
        </p:nvSpPr>
        <p:spPr>
          <a:xfrm>
            <a:off x="1100000" y="2030000"/>
            <a:ext cx="500000" cy="500000"/>
          </a:xfrm>
          <a:prstGeom prst="ellipse">
            <a:avLst/>
          </a:prstGeom>
          <a:solidFill>
            <a:srgbClr val="04307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1</a:t>
            </a:r>
          </a:p>
        </p:txBody>
      </p:sp>
      <p:sp>
        <p:nvSpPr>
          <p:cNvPr id="5" name="Título 5"/>
          <p:cNvSpPr txBox="1"/>
          <p:nvPr/>
        </p:nvSpPr>
        <p:spPr>
          <a:xfrm>
            <a:off x="1750000" y="2030000"/>
            <a:ext cx="2200000" cy="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Contagem regressiva</a:t>
            </a:r>
          </a:p>
        </p:txBody>
      </p:sp>
      <p:sp>
        <p:nvSpPr>
          <p:cNvPr id="6" name="Texto 6"/>
          <p:cNvSpPr txBox="1"/>
          <p:nvPr/>
        </p:nvSpPr>
        <p:spPr>
          <a:xfrm>
            <a:off x="1100000" y="2750000"/>
            <a:ext cx="2800000" cy="17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Mostre os números de 10 até 1 e, no final, a mensagem Fim! Dica: o contador diminui a cada volta.</a:t>
            </a:r>
          </a:p>
        </p:txBody>
      </p:sp>
      <p:sp>
        <p:nvSpPr>
          <p:cNvPr id="7" name="Exemplo 7"/>
          <p:cNvSpPr/>
          <p:nvPr/>
        </p:nvSpPr>
        <p:spPr>
          <a:xfrm>
            <a:off x="1100000" y="4650000"/>
            <a:ext cx="2800000" cy="70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9CCE0"/>
            </a:solidFill>
          </a:ln>
        </p:spPr>
        <p:txBody>
          <a:bodyPr wrap="square" lIns="60000" tIns="0" rIns="6000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dirty="0">
                <a:solidFill>
                  <a:srgbClr val="272525"/>
                </a:solidFill>
                <a:latin typeface="Courier New"/>
                <a:ea typeface="Courier New"/>
                <a:cs typeface="Courier New"/>
              </a:rPr>
              <a:t>10  9  8  ...  1  Fim!</a:t>
            </a:r>
          </a:p>
        </p:txBody>
      </p:sp>
      <p:sp>
        <p:nvSpPr>
          <p:cNvPr id="8" name="Cartão 8"/>
          <p:cNvSpPr/>
          <p:nvPr/>
        </p:nvSpPr>
        <p:spPr>
          <a:xfrm>
            <a:off x="4500000" y="1750000"/>
            <a:ext cx="3400000" cy="3900000"/>
          </a:xfrm>
          <a:prstGeom prst="roundRect">
            <a:avLst>
              <a:gd name="adj" fmla="val 5000"/>
            </a:avLst>
          </a:prstGeom>
          <a:solidFill>
            <a:srgbClr val="EEF0F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pt-BR"/>
          </a:p>
        </p:txBody>
      </p:sp>
      <p:sp>
        <p:nvSpPr>
          <p:cNvPr id="9" name="Número 9"/>
          <p:cNvSpPr/>
          <p:nvPr/>
        </p:nvSpPr>
        <p:spPr>
          <a:xfrm>
            <a:off x="4800000" y="2030000"/>
            <a:ext cx="500000" cy="500000"/>
          </a:xfrm>
          <a:prstGeom prst="ellipse">
            <a:avLst/>
          </a:prstGeom>
          <a:solidFill>
            <a:srgbClr val="04307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2</a:t>
            </a:r>
          </a:p>
        </p:txBody>
      </p:sp>
      <p:sp>
        <p:nvSpPr>
          <p:cNvPr id="10" name="Título 10"/>
          <p:cNvSpPr txBox="1"/>
          <p:nvPr/>
        </p:nvSpPr>
        <p:spPr>
          <a:xfrm>
            <a:off x="5450000" y="2030000"/>
            <a:ext cx="2200000" cy="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Tabuada</a:t>
            </a:r>
          </a:p>
        </p:txBody>
      </p:sp>
      <p:sp>
        <p:nvSpPr>
          <p:cNvPr id="11" name="Texto 11"/>
          <p:cNvSpPr txBox="1"/>
          <p:nvPr/>
        </p:nvSpPr>
        <p:spPr>
          <a:xfrm>
            <a:off x="4800000" y="2750000"/>
            <a:ext cx="2800000" cy="17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Leia um número n e mostre a tabuada dele de 1 a 10, no formato n x i = resultado.</a:t>
            </a:r>
          </a:p>
        </p:txBody>
      </p:sp>
      <p:sp>
        <p:nvSpPr>
          <p:cNvPr id="12" name="Exemplo 12"/>
          <p:cNvSpPr/>
          <p:nvPr/>
        </p:nvSpPr>
        <p:spPr>
          <a:xfrm>
            <a:off x="4800000" y="4650000"/>
            <a:ext cx="2800000" cy="70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9CCE0"/>
            </a:solidFill>
          </a:ln>
        </p:spPr>
        <p:txBody>
          <a:bodyPr wrap="square" lIns="60000" tIns="0" rIns="6000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dirty="0">
                <a:solidFill>
                  <a:srgbClr val="272525"/>
                </a:solidFill>
                <a:latin typeface="Courier New"/>
                <a:ea typeface="Courier New"/>
                <a:cs typeface="Courier New"/>
              </a:rPr>
              <a:t>5 x 1 = 5 ... 5 x 10 = 50</a:t>
            </a:r>
          </a:p>
        </p:txBody>
      </p:sp>
      <p:sp>
        <p:nvSpPr>
          <p:cNvPr id="13" name="Cartão 13"/>
          <p:cNvSpPr/>
          <p:nvPr/>
        </p:nvSpPr>
        <p:spPr>
          <a:xfrm>
            <a:off x="8200000" y="1750000"/>
            <a:ext cx="3400000" cy="3900000"/>
          </a:xfrm>
          <a:prstGeom prst="roundRect">
            <a:avLst>
              <a:gd name="adj" fmla="val 5000"/>
            </a:avLst>
          </a:prstGeom>
          <a:solidFill>
            <a:srgbClr val="EEF0F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pt-BR"/>
          </a:p>
        </p:txBody>
      </p:sp>
      <p:sp>
        <p:nvSpPr>
          <p:cNvPr id="14" name="Número 14"/>
          <p:cNvSpPr/>
          <p:nvPr/>
        </p:nvSpPr>
        <p:spPr>
          <a:xfrm>
            <a:off x="8500000" y="2030000"/>
            <a:ext cx="500000" cy="500000"/>
          </a:xfrm>
          <a:prstGeom prst="ellipse">
            <a:avLst/>
          </a:prstGeom>
          <a:solidFill>
            <a:srgbClr val="04307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3</a:t>
            </a:r>
          </a:p>
        </p:txBody>
      </p:sp>
      <p:sp>
        <p:nvSpPr>
          <p:cNvPr id="15" name="Título 15"/>
          <p:cNvSpPr txBox="1"/>
          <p:nvPr/>
        </p:nvSpPr>
        <p:spPr>
          <a:xfrm>
            <a:off x="9150000" y="2030000"/>
            <a:ext cx="2200000" cy="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Média das notas</a:t>
            </a:r>
          </a:p>
        </p:txBody>
      </p:sp>
      <p:sp>
        <p:nvSpPr>
          <p:cNvPr id="16" name="Texto 16"/>
          <p:cNvSpPr txBox="1"/>
          <p:nvPr/>
        </p:nvSpPr>
        <p:spPr>
          <a:xfrm>
            <a:off x="8500000" y="2750000"/>
            <a:ext cx="2800000" cy="17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Leia 5 notas, uma por vez, some todas e mostre a média. Dica: use um acumulador, como na soma.</a:t>
            </a:r>
          </a:p>
        </p:txBody>
      </p:sp>
      <p:sp>
        <p:nvSpPr>
          <p:cNvPr id="17" name="Exemplo 17"/>
          <p:cNvSpPr/>
          <p:nvPr/>
        </p:nvSpPr>
        <p:spPr>
          <a:xfrm>
            <a:off x="8500000" y="4650000"/>
            <a:ext cx="2800000" cy="70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9CCE0"/>
            </a:solidFill>
          </a:ln>
        </p:spPr>
        <p:txBody>
          <a:bodyPr wrap="square" lIns="60000" tIns="0" rIns="6000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dirty="0">
                <a:solidFill>
                  <a:srgbClr val="272525"/>
                </a:solidFill>
                <a:latin typeface="Courier New"/>
                <a:ea typeface="Courier New"/>
                <a:cs typeface="Courier New"/>
              </a:rPr>
              <a:t>8 6 7 9 5 → Média = 7.0</a:t>
            </a:r>
          </a:p>
        </p:txBody>
      </p:sp>
      <p:sp>
        <p:nvSpPr>
          <p:cNvPr id="18" name="Legenda 18"/>
          <p:cNvSpPr txBox="1"/>
          <p:nvPr/>
        </p:nvSpPr>
        <p:spPr>
          <a:xfrm>
            <a:off x="800000" y="5900000"/>
            <a:ext cx="10800000" cy="4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043073"/>
                </a:solidFill>
                <a:latin typeface="Inter Bold"/>
                <a:ea typeface="Inter Bold"/>
                <a:cs typeface="Inter Bold"/>
              </a:rPr>
              <a:t>Em cada desafio: </a:t>
            </a:r>
            <a:r>
              <a:rPr lang="pt-BR" sz="16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desenhe o fluxograma e depois escreva o código em Python.</a:t>
            </a:r>
          </a:p>
        </p:txBody>
      </p:sp>
    </p:spTree>
    <p:extLst>
      <p:ext uri="{BB962C8B-B14F-4D97-AF65-F5344CB8AC3E}">
        <p14:creationId xmlns:p14="http://schemas.microsoft.com/office/powerpoint/2010/main" val="109439188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2"/>
          <p:cNvSpPr txBox="1"/>
          <p:nvPr/>
        </p:nvSpPr>
        <p:spPr>
          <a:xfrm>
            <a:off x="966267" y="832247"/>
            <a:ext cx="10868745" cy="590649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pt-BR" sz="2350" b="1" spc="-72" dirty="0">
                <a:solidFill>
                  <a:srgbClr val="000000"/>
                </a:solidFill>
                <a:latin typeface="Inter Bold"/>
                <a:ea typeface="Inter Bold"/>
                <a:cs typeface="Inter Bold"/>
              </a:rPr>
              <a:t>Desafios: FOR com IF</a:t>
            </a:r>
          </a:p>
        </p:txBody>
      </p:sp>
      <p:sp>
        <p:nvSpPr>
          <p:cNvPr id="3" name="Cartão 3"/>
          <p:cNvSpPr/>
          <p:nvPr/>
        </p:nvSpPr>
        <p:spPr>
          <a:xfrm>
            <a:off x="800000" y="1750000"/>
            <a:ext cx="5250000" cy="3900000"/>
          </a:xfrm>
          <a:prstGeom prst="roundRect">
            <a:avLst>
              <a:gd name="adj" fmla="val 5000"/>
            </a:avLst>
          </a:prstGeom>
          <a:solidFill>
            <a:srgbClr val="EEF0F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pt-BR"/>
          </a:p>
        </p:txBody>
      </p:sp>
      <p:sp>
        <p:nvSpPr>
          <p:cNvPr id="4" name="Número 4"/>
          <p:cNvSpPr/>
          <p:nvPr/>
        </p:nvSpPr>
        <p:spPr>
          <a:xfrm>
            <a:off x="1100000" y="2030000"/>
            <a:ext cx="500000" cy="500000"/>
          </a:xfrm>
          <a:prstGeom prst="ellipse">
            <a:avLst/>
          </a:prstGeom>
          <a:solidFill>
            <a:srgbClr val="04307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4</a:t>
            </a:r>
          </a:p>
        </p:txBody>
      </p:sp>
      <p:sp>
        <p:nvSpPr>
          <p:cNvPr id="5" name="Título 5"/>
          <p:cNvSpPr txBox="1"/>
          <p:nvPr/>
        </p:nvSpPr>
        <p:spPr>
          <a:xfrm>
            <a:off x="1750000" y="2030000"/>
            <a:ext cx="4050000" cy="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Múltiplos de 3</a:t>
            </a:r>
          </a:p>
        </p:txBody>
      </p:sp>
      <p:sp>
        <p:nvSpPr>
          <p:cNvPr id="6" name="Texto 6"/>
          <p:cNvSpPr txBox="1"/>
          <p:nvPr/>
        </p:nvSpPr>
        <p:spPr>
          <a:xfrm>
            <a:off x="1100000" y="2750000"/>
            <a:ext cx="4650000" cy="17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Para os números de 1 até 30, mostre só os múltiplos de 3 e, no final, quantos eles são. Dica: use i % 3 == 0 e um contador.</a:t>
            </a:r>
          </a:p>
        </p:txBody>
      </p:sp>
      <p:sp>
        <p:nvSpPr>
          <p:cNvPr id="7" name="Exemplo 7"/>
          <p:cNvSpPr/>
          <p:nvPr/>
        </p:nvSpPr>
        <p:spPr>
          <a:xfrm>
            <a:off x="1100000" y="4650000"/>
            <a:ext cx="4650000" cy="70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9CCE0"/>
            </a:solidFill>
          </a:ln>
        </p:spPr>
        <p:txBody>
          <a:bodyPr wrap="square" lIns="60000" tIns="0" rIns="6000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dirty="0">
                <a:solidFill>
                  <a:srgbClr val="272525"/>
                </a:solidFill>
                <a:latin typeface="Courier New"/>
                <a:ea typeface="Courier New"/>
                <a:cs typeface="Courier New"/>
              </a:rPr>
              <a:t>3 6 9 ... 30 | Total: 10</a:t>
            </a:r>
          </a:p>
        </p:txBody>
      </p:sp>
      <p:sp>
        <p:nvSpPr>
          <p:cNvPr id="8" name="Cartão 8"/>
          <p:cNvSpPr/>
          <p:nvPr/>
        </p:nvSpPr>
        <p:spPr>
          <a:xfrm>
            <a:off x="6350000" y="1750000"/>
            <a:ext cx="5250000" cy="3900000"/>
          </a:xfrm>
          <a:prstGeom prst="roundRect">
            <a:avLst>
              <a:gd name="adj" fmla="val 5000"/>
            </a:avLst>
          </a:prstGeom>
          <a:solidFill>
            <a:srgbClr val="EEF0F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pt-BR"/>
          </a:p>
        </p:txBody>
      </p:sp>
      <p:sp>
        <p:nvSpPr>
          <p:cNvPr id="9" name="Número 9"/>
          <p:cNvSpPr/>
          <p:nvPr/>
        </p:nvSpPr>
        <p:spPr>
          <a:xfrm>
            <a:off x="6650000" y="2030000"/>
            <a:ext cx="500000" cy="500000"/>
          </a:xfrm>
          <a:prstGeom prst="ellipse">
            <a:avLst/>
          </a:prstGeom>
          <a:solidFill>
            <a:srgbClr val="04307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5</a:t>
            </a:r>
          </a:p>
        </p:txBody>
      </p:sp>
      <p:sp>
        <p:nvSpPr>
          <p:cNvPr id="10" name="Título 10"/>
          <p:cNvSpPr txBox="1"/>
          <p:nvPr/>
        </p:nvSpPr>
        <p:spPr>
          <a:xfrm>
            <a:off x="7300000" y="2030000"/>
            <a:ext cx="4050000" cy="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Contando aprovados</a:t>
            </a:r>
          </a:p>
        </p:txBody>
      </p:sp>
      <p:sp>
        <p:nvSpPr>
          <p:cNvPr id="11" name="Texto 11"/>
          <p:cNvSpPr txBox="1"/>
          <p:nvPr/>
        </p:nvSpPr>
        <p:spPr>
          <a:xfrm>
            <a:off x="6650000" y="2750000"/>
            <a:ext cx="4650000" cy="17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Leia 5 notas, uma por vez. Conte quantas são maiores ou iguais a 7 e mostre o total de aprovados. Dica: o contador só aumenta quando o IF é Sim.</a:t>
            </a:r>
          </a:p>
        </p:txBody>
      </p:sp>
      <p:sp>
        <p:nvSpPr>
          <p:cNvPr id="12" name="Exemplo 12"/>
          <p:cNvSpPr/>
          <p:nvPr/>
        </p:nvSpPr>
        <p:spPr>
          <a:xfrm>
            <a:off x="6650000" y="4650000"/>
            <a:ext cx="4650000" cy="70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9CCE0"/>
            </a:solidFill>
          </a:ln>
        </p:spPr>
        <p:txBody>
          <a:bodyPr wrap="square" lIns="60000" tIns="0" rIns="6000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dirty="0">
                <a:solidFill>
                  <a:srgbClr val="272525"/>
                </a:solidFill>
                <a:latin typeface="Courier New"/>
                <a:ea typeface="Courier New"/>
                <a:cs typeface="Courier New"/>
              </a:rPr>
              <a:t>Notas 8, 5, 7, 3, 9 → 3 aprovados</a:t>
            </a:r>
          </a:p>
        </p:txBody>
      </p:sp>
      <p:sp>
        <p:nvSpPr>
          <p:cNvPr id="13" name="Legenda 13"/>
          <p:cNvSpPr txBox="1"/>
          <p:nvPr/>
        </p:nvSpPr>
        <p:spPr>
          <a:xfrm>
            <a:off x="800000" y="5900000"/>
            <a:ext cx="10800000" cy="4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043073"/>
                </a:solidFill>
                <a:latin typeface="Inter Bold"/>
                <a:ea typeface="Inter Bold"/>
                <a:cs typeface="Inter Bold"/>
              </a:rPr>
              <a:t>Em cada desafio: </a:t>
            </a:r>
            <a:r>
              <a:rPr lang="pt-BR" sz="16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desenhe o fluxograma e depois escreva o código em Python.</a:t>
            </a:r>
          </a:p>
        </p:txBody>
      </p:sp>
    </p:spTree>
    <p:extLst>
      <p:ext uri="{BB962C8B-B14F-4D97-AF65-F5344CB8AC3E}">
        <p14:creationId xmlns:p14="http://schemas.microsoft.com/office/powerpoint/2010/main" val="1094391883"/>
      </p:ext>
    </p:extLst>
  </p:cSld>
  <p:clrMapOvr>
    <a:masterClrMapping/>
  </p:clrMapOvr>
</p:sld>
</file>

<file path=ppt/theme/theme1.xml><?xml version="1.0" encoding="utf-8"?>
<a:theme xmlns:a="http://schemas.openxmlformats.org/drawingml/2006/main" name="Tema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ma2" id="{F00C9D64-B4F3-4CB8-9DF2-59685944CDDB}" vid="{148A88D6-2EA5-4E01-8808-5075C10EAE98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Tema2</Template>
  <TotalTime>151</TotalTime>
  <Words>922</Words>
  <Application>Microsoft Office PowerPoint</Application>
  <PresentationFormat>Widescreen</PresentationFormat>
  <Paragraphs>171</Paragraphs>
  <Slides>16</Slides>
  <Notes>8</Notes>
  <HiddenSlides>0</HiddenSlides>
  <MMClips>0</MMClips>
  <ScaleCrop>false</ScaleCrop>
  <HeadingPairs>
    <vt:vector size="6" baseType="variant">
      <vt:variant>
        <vt:lpstr>Fontes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16</vt:i4>
      </vt:variant>
    </vt:vector>
  </HeadingPairs>
  <TitlesOfParts>
    <vt:vector size="25" baseType="lpstr">
      <vt:lpstr>Consolas</vt:lpstr>
      <vt:lpstr>Inter</vt:lpstr>
      <vt:lpstr>Calibri</vt:lpstr>
      <vt:lpstr>Inter Light</vt:lpstr>
      <vt:lpstr>Arial</vt:lpstr>
      <vt:lpstr>Inter Bold</vt:lpstr>
      <vt:lpstr>Twemoji Mozilla</vt:lpstr>
      <vt:lpstr>Times New Roman</vt:lpstr>
      <vt:lpstr>Tema2</vt:lpstr>
      <vt:lpstr>Introdução à Lógica de Programação: Pensando como um Programador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Variáveis</vt:lpstr>
      <vt:lpstr>Maneiras de declarar Classes</vt:lpstr>
      <vt:lpstr>Maneiras de declarar Classes</vt:lpstr>
      <vt:lpstr>Apresentação do PowerPoint</vt:lpstr>
      <vt:lpstr>Apresentação do PowerPoint</vt:lpstr>
      <vt:lpstr>Apresentação do PowerPoint</vt:lpstr>
      <vt:lpstr>Apresentação do PowerPoint</vt:lpstr>
      <vt:lpstr>Desafios</vt:lpstr>
      <vt:lpstr>Desafios</vt:lpstr>
      <vt:lpstr>Desafios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Introdução à Lógica de Programação: Pensando como um Programador</dc:title>
  <dc:subject/>
  <dc:creator/>
  <cp:lastModifiedBy>Pedro Miho</cp:lastModifiedBy>
  <cp:revision>7</cp:revision>
  <dcterms:created xsi:type="dcterms:W3CDTF">2026-08-24T01:16:08Z</dcterms:created>
  <dcterms:modified xsi:type="dcterms:W3CDTF">2026-08-25T00:44:57Z</dcterms:modified>
</cp:coreProperties>
</file>