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sldIdLst>
    <p:sldId id="256" r:id="rIdWhile1"/>
    <p:sldId id="257" r:id="rIdWhile2"/>
    <p:sldId id="258" r:id="rIdWhile3"/>
    <p:sldId id="259" r:id="rIdWhile4"/>
    <p:sldId id="260" r:id="rIdWhile5"/>
    <p:sldId id="261" r:id="rIdWhile6"/>
    <p:sldId id="262" r:id="rIdWhile7"/>
    <p:sldId id="263" r:id="rIdWhile8"/>
    <p:sldId id="264" r:id="rIdWhile9"/>
    <p:sldId id="265" r:id="rIdWhile10"/>
    <p:sldId id="266" r:id="rIdWhile11"/>
    <p:sldId id="267" r:id="rIdWhile12"/>
    <p:sldId id="268" r:id="rIdWhile13"/>
    <p:sldId id="269" r:id="rIdWhile14"/>
    <p:sldId id="270" r:id="rIdWhile15"/>
    <p:sldId id="271" r:id="rIdWhile16"/>
    <p:sldId id="272" r:id="rIdWhile17"/>
    <p:sldId id="273" r:id="rIdWhile18"/>
    <p:sldId id="274" r:id="rIdWhile19"/>
    <p:sldId id="275" r:id="rIdWhile20"/>
    <p:sldId id="276" r:id="rIdWhile21"/>
    <p:sldId id="277" r:id="rIdWhile22"/>
  </p:sldIdLst>
  <p:notesMasterIdLst>
    <p:notesMasterId r:id="rIdWhileNotes"/>
  </p:notesMasterIdLst>
  <p:sldSz cx="12192000" cy="6858000"/>
  <p:notesSz cx="6858000" cy="12192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Inter Bold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viewProps" Target="viewProps.xml"/><Relationship Id="rId21" Type="http://schemas.openxmlformats.org/officeDocument/2006/relationships/font" Target="fonts/font3.fntdata"/><Relationship Id="rId25" Type="http://schemas.openxmlformats.org/officeDocument/2006/relationships/presProps" Target="presProps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9" Type="http://schemas.openxmlformats.org/officeDocument/2006/relationships/font" Target="fonts/font1.fntdata"/><Relationship Id="rId22" Type="http://schemas.openxmlformats.org/officeDocument/2006/relationships/font" Target="fonts/font4.fntdata"/><Relationship Id="rId27" Type="http://schemas.openxmlformats.org/officeDocument/2006/relationships/theme" Target="theme/theme1.xml"/>  <Relationship Id="rIdWhile1" Type="http://schemas.openxmlformats.org/officeDocument/2006/relationships/slide" Target="slides/slide1.xml"/><Relationship Id="rIdWhile2" Type="http://schemas.openxmlformats.org/officeDocument/2006/relationships/slide" Target="slides/slide2.xml"/><Relationship Id="rIdWhile3" Type="http://schemas.openxmlformats.org/officeDocument/2006/relationships/slide" Target="slides/slide3.xml"/><Relationship Id="rIdWhile4" Type="http://schemas.openxmlformats.org/officeDocument/2006/relationships/slide" Target="slides/slide4.xml"/><Relationship Id="rIdWhile5" Type="http://schemas.openxmlformats.org/officeDocument/2006/relationships/slide" Target="slides/slide5.xml"/><Relationship Id="rIdWhile6" Type="http://schemas.openxmlformats.org/officeDocument/2006/relationships/slide" Target="slides/slide6.xml"/><Relationship Id="rIdWhile7" Type="http://schemas.openxmlformats.org/officeDocument/2006/relationships/slide" Target="slides/slide7.xml"/><Relationship Id="rIdWhile8" Type="http://schemas.openxmlformats.org/officeDocument/2006/relationships/slide" Target="slides/slide8.xml"/><Relationship Id="rIdWhile9" Type="http://schemas.openxmlformats.org/officeDocument/2006/relationships/slide" Target="slides/slide9.xml"/><Relationship Id="rIdWhile10" Type="http://schemas.openxmlformats.org/officeDocument/2006/relationships/slide" Target="slides/slide10.xml"/><Relationship Id="rIdWhile11" Type="http://schemas.openxmlformats.org/officeDocument/2006/relationships/slide" Target="slides/slide11.xml"/><Relationship Id="rIdWhile12" Type="http://schemas.openxmlformats.org/officeDocument/2006/relationships/slide" Target="slides/slide12.xml"/><Relationship Id="rIdWhile13" Type="http://schemas.openxmlformats.org/officeDocument/2006/relationships/slide" Target="slides/slide13.xml"/><Relationship Id="rIdWhile14" Type="http://schemas.openxmlformats.org/officeDocument/2006/relationships/slide" Target="slides/slide14.xml"/><Relationship Id="rIdWhile15" Type="http://schemas.openxmlformats.org/officeDocument/2006/relationships/slide" Target="slides/slide15.xml"/><Relationship Id="rIdWhile16" Type="http://schemas.openxmlformats.org/officeDocument/2006/relationships/slide" Target="slides/slide16.xml"/><Relationship Id="rIdWhile17" Type="http://schemas.openxmlformats.org/officeDocument/2006/relationships/slide" Target="slides/slide17.xml"/><Relationship Id="rIdWhile18" Type="http://schemas.openxmlformats.org/officeDocument/2006/relationships/slide" Target="slides/slide18.xml"/><Relationship Id="rIdWhile19" Type="http://schemas.openxmlformats.org/officeDocument/2006/relationships/slide" Target="slides/slide19.xml"/><Relationship Id="rIdWhile20" Type="http://schemas.openxmlformats.org/officeDocument/2006/relationships/slide" Target="slides/slide20.xml"/><Relationship Id="rIdWhile21" Type="http://schemas.openxmlformats.org/officeDocument/2006/relationships/slide" Target="slides/slide21.xml"/><Relationship Id="rIdWhile22" Type="http://schemas.openxmlformats.org/officeDocument/2006/relationships/slide" Target="slides/slide22.xml"/><Relationship Id="rIdWhileNotes" Type="http://schemas.openxmlformats.org/officeDocument/2006/relationships/notesMaster" Target="notesMasters/notes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5af8200fbd4f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5827d26bb44b9c" /><Relationship Type="http://schemas.openxmlformats.org/officeDocument/2006/relationships/notesMaster" Target="/ppt/notesMasters/notesMaster1.xml" Id="R9548199b4a4d46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e1decf6f2649b4" /><Relationship Type="http://schemas.openxmlformats.org/officeDocument/2006/relationships/notesMaster" Target="/ppt/notesMasters/notesMaster1.xml" Id="Rb23748507e4844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09d9e4f98542a6" /><Relationship Type="http://schemas.openxmlformats.org/officeDocument/2006/relationships/notesMaster" Target="/ppt/notesMasters/notesMaster1.xml" Id="Rf26348737a3144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4065e2c6b547a2" /><Relationship Type="http://schemas.openxmlformats.org/officeDocument/2006/relationships/notesMaster" Target="/ppt/notesMasters/notesMaster1.xml" Id="R9b26f0e4cfb240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fc5a11d1af465a" /><Relationship Type="http://schemas.openxmlformats.org/officeDocument/2006/relationships/notesMaster" Target="/ppt/notesMasters/notesMaster1.xml" Id="R01724f3415b347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f5d8fda973425f" /><Relationship Type="http://schemas.openxmlformats.org/officeDocument/2006/relationships/notesMaster" Target="/ppt/notesMasters/notesMaster1.xml" Id="Rb924b80f012c46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ef278000ff4f7f" /><Relationship Type="http://schemas.openxmlformats.org/officeDocument/2006/relationships/notesMaster" Target="/ppt/notesMasters/notesMaster1.xml" Id="Rf3328999309d4f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369dba04334ca0" /><Relationship Type="http://schemas.openxmlformats.org/officeDocument/2006/relationships/notesMaster" Target="/ppt/notesMasters/notesMaster1.xml" Id="Ra7b94da7463f4e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51c236849d4767" /><Relationship Type="http://schemas.openxmlformats.org/officeDocument/2006/relationships/notesMaster" Target="/ppt/notesMasters/notesMaster1.xml" Id="Rb4c77a9ce1a248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391c8b48884b82" /><Relationship Type="http://schemas.openxmlformats.org/officeDocument/2006/relationships/notesMaster" Target="/ppt/notesMasters/notesMaster1.xml" Id="Rd00e75e3c06248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9f076698f748f5" /><Relationship Type="http://schemas.openxmlformats.org/officeDocument/2006/relationships/notesMaster" Target="/ppt/notesMasters/notesMaster1.xml" Id="Rd89143e793b448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bd6f48660440d2" /><Relationship Type="http://schemas.openxmlformats.org/officeDocument/2006/relationships/notesMaster" Target="/ppt/notesMasters/notesMaster1.xml" Id="R25b909a898c24c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99a53b60b740fa" /><Relationship Type="http://schemas.openxmlformats.org/officeDocument/2006/relationships/notesMaster" Target="/ppt/notesMasters/notesMaster1.xml" Id="R2432a2dc26a34c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76fba7e6f34fb5" /><Relationship Type="http://schemas.openxmlformats.org/officeDocument/2006/relationships/notesMaster" Target="/ppt/notesMasters/notesMaster1.xml" Id="R86c17e44a60646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c1e4de43ed4651" /><Relationship Type="http://schemas.openxmlformats.org/officeDocument/2006/relationships/notesMaster" Target="/ppt/notesMasters/notesMaster1.xml" Id="R20075efe7fc640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5e5fd5cbb442e0" /><Relationship Type="http://schemas.openxmlformats.org/officeDocument/2006/relationships/notesMaster" Target="/ppt/notesMasters/notesMaster1.xml" Id="R66647cb72f6045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fd385687e54275" /><Relationship Type="http://schemas.openxmlformats.org/officeDocument/2006/relationships/notesMaster" Target="/ppt/notesMasters/notesMaster1.xml" Id="Ra194dfd55b3840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1819661f8646d8" /><Relationship Type="http://schemas.openxmlformats.org/officeDocument/2006/relationships/notesMaster" Target="/ppt/notesMasters/notesMaster1.xml" Id="R6bc93b4aa4d848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f4e2ed37a6a4592" /><Relationship Type="http://schemas.openxmlformats.org/officeDocument/2006/relationships/notesMaster" Target="/ppt/notesMasters/notesMaster1.xml" Id="R808cc4f2ba3444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77c48a40754708" /><Relationship Type="http://schemas.openxmlformats.org/officeDocument/2006/relationships/notesMaster" Target="/ppt/notesMasters/notesMaster1.xml" Id="R4239c3ce0ac74c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b9cd9c2477463f" /><Relationship Type="http://schemas.openxmlformats.org/officeDocument/2006/relationships/notesMaster" Target="/ppt/notesMasters/notesMaster1.xml" Id="Rfa4e60414bee4a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b17c16b3e542e4" /><Relationship Type="http://schemas.openxmlformats.org/officeDocument/2006/relationships/notesMaster" Target="/ppt/notesMasters/notesMaster1.xml" Id="Rd63a250508ea47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2 minutos. Faixa na aula: 0–2 minutos.</a:t>
            </a:r>
          </a:p>
          <a:p xmlns:a="http://schemas.openxmlformats.org/drawingml/2006/main">
            <a:r>
              <a:t>Apresente a repetição enquanto uma condição for verdadeira. Aula apenas de fluxogramas. Materiais: papel, lápis e borracha.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3 minutos. Faixa na aula: 2–5 minutos.</a:t>
            </a:r>
          </a:p>
          <a:p xmlns:a="http://schemas.openxmlformats.org/drawingml/2006/main">
            <a:r>
              <a:t>Plano: abertura 5min, explicações 85min, intervalo10min, exercícios55min, correção20min, fechamento5min. Cronometre para proteger o tempo de prática.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8 minutos. Faixa na aula: 5–13 minutos.</a:t>
            </a:r>
          </a:p>
          <a:p xmlns:a="http://schemas.openxmlformats.org/drawingml/2006/main">
            <a:r>
              <a:t>Faça uma analogia com receber pedidos enquanto a loja estiver aberta. Nem todo WHILE usa um contador: o estado pode mudar por nova entrada. Explique ≠ como diferente 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5 minutos. Faixa na aula: 13–18 minutos.</a:t>
            </a:r>
          </a:p>
          <a:p xmlns:a="http://schemas.openxmlformats.org/drawingml/2006/main">
            <a:r>
              <a:t>Evite afirmar que WHILE nunca tem contagem conhecida. A diferença é o controle explícito por condição. Compare os dois usos sem mostrar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10 minutos. Faixa na aula: 18–28 minutos.</a:t>
            </a:r>
          </a:p>
          <a:p xmlns:a="http://schemas.openxmlformats.org/drawingml/2006/main">
            <a:r>
              <a:t>Percorra as cinco iterações no quadro. O teste também acontece com i=6, mas o corpo não executa nessa passagem. Destaque o retorno à condição.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6 minutos. Faixa na aula: 28–34 minutos.</a:t>
            </a:r>
          </a:p>
          <a:p xmlns:a="http://schemas.openxmlformats.org/drawingml/2006/main">
            <a:r>
              <a:t>Pergunte se a atualização será executada. Não: ela está dentro do corpo. O fluxo vai direto ao Fim. Isso distingue WHILE de uma repetição que testa apenas depois de executar.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12 minutos. Faixa na aula: 34–46 minutos.</a:t>
            </a:r>
          </a:p>
          <a:p xmlns:a="http://schemas.openxmlformats.org/drawingml/2006/main">
            <a:r>
              <a:t>Valor sentinela: serve para encerrar e não entra no processamento. Faça três simulações: 4,7,0; 0; e 9,0. O zero pode ser a primeira entrada. Não se sabe antecipadamente quantos valores serão lidos.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6 minutos. Faixa na aula: 46–52 minutos.</a:t>
            </a:r>
          </a:p>
          <a:p xmlns:a="http://schemas.openxmlformats.org/drawingml/2006/main">
            <a:r>
              <a:t>Desenho propositalmente incorreto. Faça duas passagens: a atribuição mantém o mesmo valor. Se a entrada inicial fosse 0, terminaria. Não diga que todo WHILE precisa somar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10 minutos. Faixa na aula: 52–62 minutos.</a:t>
            </a:r>
          </a:p>
          <a:p xmlns:a="http://schemas.openxmlformats.org/drawingml/2006/main">
            <a:r>
              <a:t>O gráfico separa inicialização, primeira leitura, decisão, soma, nova leitura e saída. Simule entradas 10,20,0 e depois apenas0. Zero como primeira entrada resulta total0.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8 minutos. Faixa na aula: 62–70 minutos.</a:t>
            </a:r>
          </a:p>
          <a:p xmlns:a="http://schemas.openxmlformats.org/drawingml/2006/main">
            <a:r>
              <a:t>Preencha no quadro colunas entrada, condição número≠0, total antes e total depois. Resposta ao final:0, sem execução do corpo. Estes são momentos guiados, não novos exercícios formais.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10 minutos. Faixa na aula: 70–80 minutos.</a:t>
            </a:r>
          </a:p>
          <a:p xmlns:a="http://schemas.openxmlformats.org/drawingml/2006/main">
            <a:r>
              <a:t>Regra didática: idade inteira entre0e120, inclusive. Condição do WHILE: idade&lt;0 OU idade&gt;120. A condição significa continuar enquanto inválida. Com0 ou120 como primeira entrada, o corpo não executa. Explique OU usando os dois limites.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10 minutos. Faixa na aula: 80–90 minutos.</a:t>
            </a:r>
          </a:p>
          <a:p xmlns:a="http://schemas.openxmlformats.org/drawingml/2006/main">
            <a:r>
              <a:t>Considere notas válidas entre0e10 ou−1 para encerrar. A decisão interna testa nota≥7. Os dois caminhos se encontram antes da nova leitura. Acumulador soma valores; contador soma ocorrências.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10 minutos. Faixa na aula: 90–100 minutos.</a:t>
            </a:r>
          </a:p>
          <a:p xmlns:a="http://schemas.openxmlformats.org/drawingml/2006/main">
            <a:r>
              <a:t>Intervalo dos minutos90a100. Retome com leitura dos dois primeiros desafios.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18 minutos. Faixa na aula: 100–118 minutos.</a:t>
            </a:r>
          </a:p>
          <a:p xmlns:a="http://schemas.openxmlformats.org/drawingml/2006/main">
            <a:r>
              <a:t>100–118min. Exercício1:8min, exercício2:10min. Observe atualização do contador e nova leitura. O aluno deve explicar o primeiro teste falso. Não solicitar programação.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22 minutos. Faixa na aula: 118–140 minutos.</a:t>
            </a:r>
          </a:p>
          <a:p xmlns:a="http://schemas.openxmlformats.org/drawingml/2006/main">
            <a:r>
              <a:t>118–140min. Exercício3:12min, exercício4:10min. Exigir soma fora de inicialização repetida; condição inválida com OU; nova leitura dentro do ciclo. Preços válidos: não exigir validação extra.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15 minutos. Faixa na aula: 140–155 minutos.</a:t>
            </a:r>
          </a:p>
          <a:p xmlns:a="http://schemas.openxmlformats.org/drawingml/2006/main">
            <a:r>
              <a:t>140–155min. Todos os dados são notas válidas ou a sentinela−1, sem tratamento de outras entradas. Conte ocorrências, não some notas. Exigir decisão externa e interna distintas.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4 minutos. Faixa na aula: 155–159 minutos.</a:t>
            </a:r>
          </a:p>
          <a:p xmlns:a="http://schemas.openxmlformats.org/drawingml/2006/main">
            <a:r>
              <a:t>155–159min. A saída Fim vem depois da condição falsa. No desenho, o terminador Fim representa o término; o símbolo de saída escreve a mensagem antes dele.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4 minutos. Faixa na aula: 159–163 minutos.</a:t>
            </a:r>
          </a:p>
          <a:p xmlns:a="http://schemas.openxmlformats.org/drawingml/2006/main">
            <a:r>
              <a:t>159–163min. Mostrar o caso da primeira entrada0. Corpo executa zero vezes e o fluxo termina. A quantidade de pedidos depende das entradas.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4 minutos. Faixa na aula: 163–167 minutos.</a:t>
            </a:r>
          </a:p>
          <a:p xmlns:a="http://schemas.openxmlformats.org/drawingml/2006/main">
            <a:r>
              <a:t>163–167min. Os preços são assumidos válidos e não negativos. Total0 para sentinela na primeira leitura. Os testes do slide anterior são reutilizados para avaliar o desenho.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4 minutos. Faixa na aula: 167–171 minutos.</a:t>
            </a:r>
          </a:p>
          <a:p xmlns:a="http://schemas.openxmlformats.org/drawingml/2006/main">
            <a:r>
              <a:t>167–171min. Teste os limites0e120 e depois−1e121. Usar OU entre as condições inválidas. Com E, a idade teria que ser simultaneamente menor0 e maior120, o que não acontece.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4 minutos. Faixa na aula: 171–175 minutos.</a:t>
            </a:r>
          </a:p>
          <a:p xmlns:a="http://schemas.openxmlformats.org/drawingml/2006/main">
            <a:r>
              <a:t>171–175min. Aceite fluxogramas equivalentes. Critério por exercício:1ponto lógica correta,0,5teste de mesa,0,5justificativa. Identifique quem confunde valor sentinela e valor processado.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5 minutos. Faixa na aula: 175–180 minutos.</a:t>
            </a:r>
          </a:p>
          <a:p xmlns:a="http://schemas.openxmlformats.org/drawingml/2006/main">
            <a:r>
              <a:t>175–180min. Respostas:Sim mantém a repetição; atualização muda os dados usados no teste; zero execuções quando a primeira condição é falsa. Recolha os cinco exercícios. Encerramento dentro de180min.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35912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B9411-69F7-EFE2-E8A8-43455A05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87DA8-D59F-5DFA-55C8-48BC1BA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99D26-DA4B-D0AF-3054-103CA613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81AA659-8FD3-461F-8FBC-BDBF8F913D9D}" type="datetimeFigureOut">
              <a:rPr lang="pt-BR" smtClean="0"/>
              <a:pPr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6EC41-5B15-2A4A-34B9-2E8C0BCE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4FFF6-E682-D349-81F9-96FA3093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50E8CF1-C835-4717-86DC-68B0F02605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685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2646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068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07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3418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4140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7093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51565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While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67B25-BC0F-8242-8D31-3A145B121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400" dirty="0"/>
              <a:t>Estrutura de Repetição: Laço WHILE em Fluxograma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E6AFBF-4C86-4557-83B0-AF907C1EE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276900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Nossa aula: 180 minutos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Hoje: desenhar, percorrer e testar fluxogramas com WHILE.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Entender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90 minutos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Condição, valor de parada, validação e acumulador.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Praticar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55 minutos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Cinco exercícios individuais com desenho e teste de mesa.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Conferir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25 minutos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20 minutos de correção e 5 de verificação final.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Intervalo: 10 minutos após a explicação. Total da aula: 180 minutos.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Laço de Repetição: o WHILE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WHILE repete um bloco enquanto a condição for verdadeira.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Preparação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Leia número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primeiro dado precisa existir antes do teste.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número ≠ 0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Sim executa o bloco. Não segue para a saída.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Atualização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Leia de novo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Um novo dado permite reavaliar a condição.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WHILE significa ENQUANTO. A condição é testada antes de cada passagem.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FOR e WHILE: qual condição organiza a repetição?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FOR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Usado com frequência quando a contagem é conhecida. Exemplo: chamar as senhas de 1 até 5.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5 senhas: quantidade conhecida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WHILE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Útil quando a continuidade depende de uma condição. Exemplo: ler pedidos até receber a opção 0.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Quantos pedidos? Depende da entrada.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Os dois podem representar uma contagem. A escolha depende da lógica do problema.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WHILE em Fluxograma: contando de 1 a 5</a:t>
            </a:r>
          </a:p>
        </p:txBody>
      </p:sp>
      <p:sp>
        <p:nvSpPr>
          <p:cNvPr id="3" name="Fluxo 3"/>
          <p:cNvSpPr/>
          <p:nvPr/>
        </p:nvSpPr>
        <p:spPr>
          <a:xfrm>
            <a:off x="2300000" y="1600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4" name="Fluxo 4"/>
          <p:cNvSpPr/>
          <p:nvPr/>
        </p:nvSpPr>
        <p:spPr>
          <a:xfrm>
            <a:off x="2000000" y="2320000"/>
            <a:ext cx="2000000" cy="42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sp>
        <p:nvSpPr>
          <p:cNvPr id="5" name="Decisão 5"/>
          <p:cNvSpPr/>
          <p:nvPr/>
        </p:nvSpPr>
        <p:spPr>
          <a:xfrm>
            <a:off x="1800000" y="3040000"/>
            <a:ext cx="2400000" cy="85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 ?</a:t>
            </a:r>
          </a:p>
        </p:txBody>
      </p:sp>
      <p:sp>
        <p:nvSpPr>
          <p:cNvPr id="6" name="Fluxo 6"/>
          <p:cNvSpPr/>
          <p:nvPr/>
        </p:nvSpPr>
        <p:spPr>
          <a:xfrm>
            <a:off x="2000000" y="429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</a:t>
            </a:r>
          </a:p>
        </p:txBody>
      </p:sp>
      <p:sp>
        <p:nvSpPr>
          <p:cNvPr id="7" name="Fluxo 7"/>
          <p:cNvSpPr/>
          <p:nvPr/>
        </p:nvSpPr>
        <p:spPr>
          <a:xfrm>
            <a:off x="2000000" y="5010000"/>
            <a:ext cx="2000000" cy="42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3000000" y="2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9" name="Conector 9"/>
          <p:cNvCxnSpPr/>
          <p:nvPr/>
        </p:nvCxnSpPr>
        <p:spPr>
          <a:xfrm>
            <a:off x="3000000" y="27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0" name="Conector 10"/>
          <p:cNvCxnSpPr/>
          <p:nvPr/>
        </p:nvCxnSpPr>
        <p:spPr>
          <a:xfrm>
            <a:off x="3000000" y="389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1" name="Conector 11"/>
          <p:cNvCxnSpPr/>
          <p:nvPr/>
        </p:nvCxnSpPr>
        <p:spPr>
          <a:xfrm>
            <a:off x="3000000" y="471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2" name="Conector 12"/>
          <p:cNvCxnSpPr/>
          <p:nvPr/>
        </p:nvCxnSpPr>
        <p:spPr>
          <a:xfrm flipH="1">
            <a:off x="1350000" y="5220000"/>
            <a:ext cx="6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3" name="Conector 13"/>
          <p:cNvCxnSpPr/>
          <p:nvPr/>
        </p:nvCxnSpPr>
        <p:spPr>
          <a:xfrm flipV="1">
            <a:off x="1350000" y="3465000"/>
            <a:ext cx="0" cy="1755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>
            <a:off x="1350000" y="3465000"/>
            <a:ext cx="4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5" name="Conector 15"/>
          <p:cNvCxnSpPr/>
          <p:nvPr/>
        </p:nvCxnSpPr>
        <p:spPr>
          <a:xfrm>
            <a:off x="4200000" y="3465000"/>
            <a:ext cx="10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>
            <a:off x="5200000" y="3465000"/>
            <a:ext cx="0" cy="55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7" name="Fluxo 17"/>
          <p:cNvSpPr/>
          <p:nvPr/>
        </p:nvSpPr>
        <p:spPr>
          <a:xfrm>
            <a:off x="4500000" y="4015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18" name="Rótulo 18"/>
          <p:cNvSpPr txBox="1"/>
          <p:nvPr/>
        </p:nvSpPr>
        <p:spPr>
          <a:xfrm>
            <a:off x="3100000" y="392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9" name="Rótulo 19"/>
          <p:cNvSpPr txBox="1"/>
          <p:nvPr/>
        </p:nvSpPr>
        <p:spPr>
          <a:xfrm>
            <a:off x="4300000" y="3115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1: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5: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6: Não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Preparação: i começa em 1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Condição: Sim repete, Não termina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Atualização: i aumenta a cada volta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1  2  3  4  5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Condição falsa: o corpo pode executar zero vezes</a:t>
            </a:r>
          </a:p>
        </p:txBody>
      </p:sp>
      <p:sp>
        <p:nvSpPr>
          <p:cNvPr id="3" name="Fluxo 3"/>
          <p:cNvSpPr/>
          <p:nvPr/>
        </p:nvSpPr>
        <p:spPr>
          <a:xfrm>
            <a:off x="2300000" y="1600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4" name="Fluxo 4"/>
          <p:cNvSpPr/>
          <p:nvPr/>
        </p:nvSpPr>
        <p:spPr>
          <a:xfrm>
            <a:off x="2000000" y="2320000"/>
            <a:ext cx="2000000" cy="42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6</a:t>
            </a:r>
          </a:p>
        </p:txBody>
      </p:sp>
      <p:sp>
        <p:nvSpPr>
          <p:cNvPr id="5" name="Decisão 5"/>
          <p:cNvSpPr/>
          <p:nvPr/>
        </p:nvSpPr>
        <p:spPr>
          <a:xfrm>
            <a:off x="1800000" y="3040000"/>
            <a:ext cx="2400000" cy="85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 ?</a:t>
            </a:r>
          </a:p>
        </p:txBody>
      </p:sp>
      <p:sp>
        <p:nvSpPr>
          <p:cNvPr id="6" name="Fluxo 6"/>
          <p:cNvSpPr/>
          <p:nvPr/>
        </p:nvSpPr>
        <p:spPr>
          <a:xfrm>
            <a:off x="2000000" y="429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</a:t>
            </a:r>
          </a:p>
        </p:txBody>
      </p:sp>
      <p:sp>
        <p:nvSpPr>
          <p:cNvPr id="7" name="Fluxo 7"/>
          <p:cNvSpPr/>
          <p:nvPr/>
        </p:nvSpPr>
        <p:spPr>
          <a:xfrm>
            <a:off x="2000000" y="5010000"/>
            <a:ext cx="2000000" cy="42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3000000" y="2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9" name="Conector 9"/>
          <p:cNvCxnSpPr/>
          <p:nvPr/>
        </p:nvCxnSpPr>
        <p:spPr>
          <a:xfrm>
            <a:off x="3000000" y="27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0" name="Conector 10"/>
          <p:cNvCxnSpPr/>
          <p:nvPr/>
        </p:nvCxnSpPr>
        <p:spPr>
          <a:xfrm>
            <a:off x="3000000" y="389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1" name="Conector 11"/>
          <p:cNvCxnSpPr/>
          <p:nvPr/>
        </p:nvCxnSpPr>
        <p:spPr>
          <a:xfrm>
            <a:off x="3000000" y="471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2" name="Conector 12"/>
          <p:cNvCxnSpPr/>
          <p:nvPr/>
        </p:nvCxnSpPr>
        <p:spPr>
          <a:xfrm flipH="1">
            <a:off x="1350000" y="5220000"/>
            <a:ext cx="6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3" name="Conector 13"/>
          <p:cNvCxnSpPr/>
          <p:nvPr/>
        </p:nvCxnSpPr>
        <p:spPr>
          <a:xfrm flipV="1">
            <a:off x="1350000" y="3465000"/>
            <a:ext cx="0" cy="1755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>
            <a:off x="1350000" y="3465000"/>
            <a:ext cx="4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5" name="Conector 15"/>
          <p:cNvCxnSpPr/>
          <p:nvPr/>
        </p:nvCxnSpPr>
        <p:spPr>
          <a:xfrm>
            <a:off x="4200000" y="3465000"/>
            <a:ext cx="10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>
            <a:off x="5200000" y="3465000"/>
            <a:ext cx="0" cy="55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7" name="Fluxo 17"/>
          <p:cNvSpPr/>
          <p:nvPr/>
        </p:nvSpPr>
        <p:spPr>
          <a:xfrm>
            <a:off x="4500000" y="4015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18" name="Rótulo 18"/>
          <p:cNvSpPr txBox="1"/>
          <p:nvPr/>
        </p:nvSpPr>
        <p:spPr>
          <a:xfrm>
            <a:off x="3100000" y="392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9" name="Rótulo 19"/>
          <p:cNvSpPr txBox="1"/>
          <p:nvPr/>
        </p:nvSpPr>
        <p:spPr>
          <a:xfrm>
            <a:off x="4300000" y="3115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Primeiro teste: 6 ≤ 5?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Resultado: Não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Corpo: zero execuções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Preparação: i começa em 6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Primeiro teste: a condição é falsa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fluxo segue direto para Fim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nenhum número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Valor de parada: ler até receber zero</a:t>
            </a:r>
          </a:p>
        </p:txBody>
      </p:sp>
      <p:sp>
        <p:nvSpPr>
          <p:cNvPr id="3" name="Fluxo 3"/>
          <p:cNvSpPr/>
          <p:nvPr/>
        </p:nvSpPr>
        <p:spPr>
          <a:xfrm>
            <a:off x="2300000" y="1600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4" name="Fluxo 4"/>
          <p:cNvSpPr/>
          <p:nvPr/>
        </p:nvSpPr>
        <p:spPr>
          <a:xfrm>
            <a:off x="2000000" y="232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número</a:t>
            </a:r>
          </a:p>
        </p:txBody>
      </p:sp>
      <p:sp>
        <p:nvSpPr>
          <p:cNvPr id="5" name="Decisão 5"/>
          <p:cNvSpPr/>
          <p:nvPr/>
        </p:nvSpPr>
        <p:spPr>
          <a:xfrm>
            <a:off x="1800000" y="3040000"/>
            <a:ext cx="2400000" cy="85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número ≠ 0 ?</a:t>
            </a:r>
          </a:p>
        </p:txBody>
      </p:sp>
      <p:sp>
        <p:nvSpPr>
          <p:cNvPr id="6" name="Fluxo 6"/>
          <p:cNvSpPr/>
          <p:nvPr/>
        </p:nvSpPr>
        <p:spPr>
          <a:xfrm>
            <a:off x="2000000" y="429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número</a:t>
            </a:r>
          </a:p>
        </p:txBody>
      </p:sp>
      <p:sp>
        <p:nvSpPr>
          <p:cNvPr id="7" name="Fluxo 7"/>
          <p:cNvSpPr/>
          <p:nvPr/>
        </p:nvSpPr>
        <p:spPr>
          <a:xfrm>
            <a:off x="2000000" y="501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número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3000000" y="2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9" name="Conector 9"/>
          <p:cNvCxnSpPr/>
          <p:nvPr/>
        </p:nvCxnSpPr>
        <p:spPr>
          <a:xfrm>
            <a:off x="3000000" y="27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0" name="Conector 10"/>
          <p:cNvCxnSpPr/>
          <p:nvPr/>
        </p:nvCxnSpPr>
        <p:spPr>
          <a:xfrm>
            <a:off x="3000000" y="389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1" name="Conector 11"/>
          <p:cNvCxnSpPr/>
          <p:nvPr/>
        </p:nvCxnSpPr>
        <p:spPr>
          <a:xfrm>
            <a:off x="3000000" y="471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2" name="Conector 12"/>
          <p:cNvCxnSpPr/>
          <p:nvPr/>
        </p:nvCxnSpPr>
        <p:spPr>
          <a:xfrm flipH="1">
            <a:off x="1350000" y="5220000"/>
            <a:ext cx="6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3" name="Conector 13"/>
          <p:cNvCxnSpPr/>
          <p:nvPr/>
        </p:nvCxnSpPr>
        <p:spPr>
          <a:xfrm flipV="1">
            <a:off x="1350000" y="3465000"/>
            <a:ext cx="0" cy="1755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>
            <a:off x="1350000" y="3465000"/>
            <a:ext cx="4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5" name="Conector 15"/>
          <p:cNvCxnSpPr/>
          <p:nvPr/>
        </p:nvCxnSpPr>
        <p:spPr>
          <a:xfrm>
            <a:off x="4200000" y="3465000"/>
            <a:ext cx="10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>
            <a:off x="5200000" y="3465000"/>
            <a:ext cx="0" cy="55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7" name="Fluxo 17"/>
          <p:cNvSpPr/>
          <p:nvPr/>
        </p:nvSpPr>
        <p:spPr>
          <a:xfrm>
            <a:off x="4500000" y="4015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18" name="Rótulo 18"/>
          <p:cNvSpPr txBox="1"/>
          <p:nvPr/>
        </p:nvSpPr>
        <p:spPr>
          <a:xfrm>
            <a:off x="3100000" y="392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9" name="Rótulo 19"/>
          <p:cNvSpPr txBox="1"/>
          <p:nvPr/>
        </p:nvSpPr>
        <p:spPr>
          <a:xfrm>
            <a:off x="4300000" y="3115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Entradas: 4, 7, 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4 e 7: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0: Não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Leia o primeiro valor antes do teste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Zero é o valor que encerra o fluxo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Leia um novo valor dentro do ciclo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4  7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Erro: o dado nunca muda</a:t>
            </a:r>
          </a:p>
        </p:txBody>
      </p:sp>
      <p:sp>
        <p:nvSpPr>
          <p:cNvPr id="3" name="Fluxo 3"/>
          <p:cNvSpPr/>
          <p:nvPr/>
        </p:nvSpPr>
        <p:spPr>
          <a:xfrm>
            <a:off x="2300000" y="1600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4" name="Fluxo 4"/>
          <p:cNvSpPr/>
          <p:nvPr/>
        </p:nvSpPr>
        <p:spPr>
          <a:xfrm>
            <a:off x="2000000" y="232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número</a:t>
            </a:r>
          </a:p>
        </p:txBody>
      </p:sp>
      <p:sp>
        <p:nvSpPr>
          <p:cNvPr id="5" name="Decisão 5"/>
          <p:cNvSpPr/>
          <p:nvPr/>
        </p:nvSpPr>
        <p:spPr>
          <a:xfrm>
            <a:off x="1800000" y="3040000"/>
            <a:ext cx="2400000" cy="85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número ≠ 0 ?</a:t>
            </a:r>
          </a:p>
        </p:txBody>
      </p:sp>
      <p:sp>
        <p:nvSpPr>
          <p:cNvPr id="6" name="Fluxo 6"/>
          <p:cNvSpPr/>
          <p:nvPr/>
        </p:nvSpPr>
        <p:spPr>
          <a:xfrm>
            <a:off x="2000000" y="429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número</a:t>
            </a:r>
          </a:p>
        </p:txBody>
      </p:sp>
      <p:sp>
        <p:nvSpPr>
          <p:cNvPr id="7" name="Fluxo 7"/>
          <p:cNvSpPr/>
          <p:nvPr/>
        </p:nvSpPr>
        <p:spPr>
          <a:xfrm>
            <a:off x="2000000" y="5010000"/>
            <a:ext cx="2000000" cy="42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número ← número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3000000" y="2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9" name="Conector 9"/>
          <p:cNvCxnSpPr/>
          <p:nvPr/>
        </p:nvCxnSpPr>
        <p:spPr>
          <a:xfrm>
            <a:off x="3000000" y="27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0" name="Conector 10"/>
          <p:cNvCxnSpPr/>
          <p:nvPr/>
        </p:nvCxnSpPr>
        <p:spPr>
          <a:xfrm>
            <a:off x="3000000" y="389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1" name="Conector 11"/>
          <p:cNvCxnSpPr/>
          <p:nvPr/>
        </p:nvCxnSpPr>
        <p:spPr>
          <a:xfrm>
            <a:off x="3000000" y="471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2" name="Conector 12"/>
          <p:cNvCxnSpPr/>
          <p:nvPr/>
        </p:nvCxnSpPr>
        <p:spPr>
          <a:xfrm flipH="1">
            <a:off x="1350000" y="5220000"/>
            <a:ext cx="6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3" name="Conector 13"/>
          <p:cNvCxnSpPr/>
          <p:nvPr/>
        </p:nvCxnSpPr>
        <p:spPr>
          <a:xfrm flipV="1">
            <a:off x="1350000" y="3465000"/>
            <a:ext cx="0" cy="1755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>
            <a:off x="1350000" y="3465000"/>
            <a:ext cx="4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5" name="Conector 15"/>
          <p:cNvCxnSpPr/>
          <p:nvPr/>
        </p:nvCxnSpPr>
        <p:spPr>
          <a:xfrm>
            <a:off x="4200000" y="3465000"/>
            <a:ext cx="10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>
            <a:off x="5200000" y="3465000"/>
            <a:ext cx="0" cy="55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7" name="Fluxo 17"/>
          <p:cNvSpPr/>
          <p:nvPr/>
        </p:nvSpPr>
        <p:spPr>
          <a:xfrm>
            <a:off x="4500000" y="4015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18" name="Rótulo 18"/>
          <p:cNvSpPr txBox="1"/>
          <p:nvPr/>
        </p:nvSpPr>
        <p:spPr>
          <a:xfrm>
            <a:off x="3100000" y="392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9" name="Rótulo 19"/>
          <p:cNvSpPr txBox="1"/>
          <p:nvPr/>
        </p:nvSpPr>
        <p:spPr>
          <a:xfrm>
            <a:off x="4300000" y="3115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Entrada inicial: 4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4 ≠ 0?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O valor continua 4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entrada inicial define o valor 4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condição continuará verdadeira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Correção: ler um novo número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Problema: a repetição não termina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Acumulador: somar valores até zero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Entradas: 10, 20, 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Total: 0, 10, 30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Zero encerra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Total começa em 0, antes do ciclo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valor zero encerra sem entrar na soma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Uma nova leitura permite continuar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total = 30</a:t>
            </a:r>
          </a:p>
        </p:txBody>
      </p:sp>
      <p:sp>
        <p:nvSpPr>
          <p:cNvPr id="1000" name="node0">
            <a:extLst>
              <a:ext uri="{FF2B5EF4-FFF2-40B4-BE49-F238E27FC236}">
                <a16:creationId xmlns:a16="http://schemas.microsoft.com/office/drawing/2014/main" id="{DF4ABDC4-A56E-41F2-A9B1-CF9C5A88CB8A}"/>
              </a:ext>
            </a:extLst>
          </p:cNvPr>
          <p:cNvSpPr>
            <a:spLocks noGrp="1"/>
          </p:cNvSpPr>
          <p:nvPr/>
        </p:nvSpPr>
        <p:spPr>
          <a:xfrm>
            <a:off x="2295525" y="1571625"/>
            <a:ext cx="1400175" cy="3238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1">
            <a:extLst>
              <a:ext uri="{FF2B5EF4-FFF2-40B4-BE49-F238E27FC236}">
                <a16:creationId xmlns:a16="http://schemas.microsoft.com/office/drawing/2014/main" id="{C969FD93-1ED5-4B86-9B83-AB9BD4B46937}"/>
              </a:ext>
            </a:extLst>
          </p:cNvPr>
          <p:cNvSpPr>
            <a:spLocks noGrp="1"/>
          </p:cNvSpPr>
          <p:nvPr/>
        </p:nvSpPr>
        <p:spPr>
          <a:xfrm>
            <a:off x="2000250" y="2105025"/>
            <a:ext cx="2000250" cy="361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total ← 0</a:t>
            </a:r>
          </a:p>
        </p:txBody>
      </p:sp>
      <p:cxnSp>
        <p:nvCxnSpPr>
          <p:cNvPr id="1002" name="arrow2">
            <a:extLst>
              <a:ext uri="{FF2B5EF4-FFF2-40B4-BE49-F238E27FC236}">
                <a16:creationId xmlns:a16="http://schemas.microsoft.com/office/drawing/2014/main" id="{6920E3CF-89E4-4EC7-A919-1C5D94575339}"/>
              </a:ext>
            </a:extLst>
          </p:cNvPr>
          <p:cNvCxnSpPr/>
          <p:nvPr/>
        </p:nvCxnSpPr>
        <p:spPr>
          <a:xfrm flipH="0" flipV="0">
            <a:off x="3000375" y="1895475"/>
            <a:ext cx="0" cy="2095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3">
            <a:extLst>
              <a:ext uri="{FF2B5EF4-FFF2-40B4-BE49-F238E27FC236}">
                <a16:creationId xmlns:a16="http://schemas.microsoft.com/office/drawing/2014/main" id="{C4B06495-61DE-44FA-861E-94FC8F7F4233}"/>
              </a:ext>
            </a:extLst>
          </p:cNvPr>
          <p:cNvSpPr>
            <a:spLocks noGrp="1"/>
          </p:cNvSpPr>
          <p:nvPr/>
        </p:nvSpPr>
        <p:spPr>
          <a:xfrm>
            <a:off x="2000250" y="27051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número</a:t>
            </a:r>
          </a:p>
        </p:txBody>
      </p:sp>
      <p:cxnSp>
        <p:nvCxnSpPr>
          <p:cNvPr id="1004" name="arrow4">
            <a:extLst>
              <a:ext uri="{FF2B5EF4-FFF2-40B4-BE49-F238E27FC236}">
                <a16:creationId xmlns:a16="http://schemas.microsoft.com/office/drawing/2014/main" id="{D5E3180B-B626-4A19-9DA8-EC2FF0821B6B}"/>
              </a:ext>
            </a:extLst>
          </p:cNvPr>
          <p:cNvCxnSpPr/>
          <p:nvPr/>
        </p:nvCxnSpPr>
        <p:spPr>
          <a:xfrm flipH="0" flipV="0">
            <a:off x="3000375" y="2466975"/>
            <a:ext cx="0" cy="2381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5">
            <a:extLst>
              <a:ext uri="{FF2B5EF4-FFF2-40B4-BE49-F238E27FC236}">
                <a16:creationId xmlns:a16="http://schemas.microsoft.com/office/drawing/2014/main" id="{003B3DF3-F35E-4FCC-90F8-B84E7F78BFEB}"/>
              </a:ext>
            </a:extLst>
          </p:cNvPr>
          <p:cNvSpPr>
            <a:spLocks noGrp="1"/>
          </p:cNvSpPr>
          <p:nvPr/>
        </p:nvSpPr>
        <p:spPr>
          <a:xfrm>
            <a:off x="1762125" y="3352800"/>
            <a:ext cx="2476500" cy="6858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número ≠ 0 ?</a:t>
            </a:r>
          </a:p>
        </p:txBody>
      </p:sp>
      <p:cxnSp>
        <p:nvCxnSpPr>
          <p:cNvPr id="1006" name="arrow6">
            <a:extLst>
              <a:ext uri="{FF2B5EF4-FFF2-40B4-BE49-F238E27FC236}">
                <a16:creationId xmlns:a16="http://schemas.microsoft.com/office/drawing/2014/main" id="{77C29936-8D57-4B30-98DC-D3FD510FB238}"/>
              </a:ext>
            </a:extLst>
          </p:cNvPr>
          <p:cNvCxnSpPr/>
          <p:nvPr/>
        </p:nvCxnSpPr>
        <p:spPr>
          <a:xfrm flipH="0" flipV="0">
            <a:off x="3000375" y="3067050"/>
            <a:ext cx="0" cy="2857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7">
            <a:extLst>
              <a:ext uri="{FF2B5EF4-FFF2-40B4-BE49-F238E27FC236}">
                <a16:creationId xmlns:a16="http://schemas.microsoft.com/office/drawing/2014/main" id="{029BF253-BDEA-46BF-961D-2D3630436458}"/>
              </a:ext>
            </a:extLst>
          </p:cNvPr>
          <p:cNvSpPr>
            <a:spLocks noGrp="1"/>
          </p:cNvSpPr>
          <p:nvPr/>
        </p:nvSpPr>
        <p:spPr>
          <a:xfrm>
            <a:off x="3124200" y="40957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08" name="node8">
            <a:extLst>
              <a:ext uri="{FF2B5EF4-FFF2-40B4-BE49-F238E27FC236}">
                <a16:creationId xmlns:a16="http://schemas.microsoft.com/office/drawing/2014/main" id="{44B8DA01-9DC1-470B-B282-77A3991DEC9B}"/>
              </a:ext>
            </a:extLst>
          </p:cNvPr>
          <p:cNvSpPr>
            <a:spLocks noGrp="1"/>
          </p:cNvSpPr>
          <p:nvPr/>
        </p:nvSpPr>
        <p:spPr>
          <a:xfrm>
            <a:off x="1714500" y="4514850"/>
            <a:ext cx="25717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total ← total + número</a:t>
            </a:r>
          </a:p>
        </p:txBody>
      </p:sp>
      <p:cxnSp>
        <p:nvCxnSpPr>
          <p:cNvPr id="1009" name="arrow9">
            <a:extLst>
              <a:ext uri="{FF2B5EF4-FFF2-40B4-BE49-F238E27FC236}">
                <a16:creationId xmlns:a16="http://schemas.microsoft.com/office/drawing/2014/main" id="{32D02E10-1EE1-4FCC-8FD3-6F3B8515DF5A}"/>
              </a:ext>
            </a:extLst>
          </p:cNvPr>
          <p:cNvCxnSpPr/>
          <p:nvPr/>
        </p:nvCxnSpPr>
        <p:spPr>
          <a:xfrm flipH="0" flipV="0">
            <a:off x="3000375" y="4038600"/>
            <a:ext cx="0" cy="4762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0" name="node10">
            <a:extLst>
              <a:ext uri="{FF2B5EF4-FFF2-40B4-BE49-F238E27FC236}">
                <a16:creationId xmlns:a16="http://schemas.microsoft.com/office/drawing/2014/main" id="{69409C41-1DB1-41FE-8D3D-CCF8A01CF2A9}"/>
              </a:ext>
            </a:extLst>
          </p:cNvPr>
          <p:cNvSpPr>
            <a:spLocks noGrp="1"/>
          </p:cNvSpPr>
          <p:nvPr/>
        </p:nvSpPr>
        <p:spPr>
          <a:xfrm>
            <a:off x="2000250" y="52959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número</a:t>
            </a:r>
          </a:p>
        </p:txBody>
      </p:sp>
      <p:cxnSp>
        <p:nvCxnSpPr>
          <p:cNvPr id="1011" name="arrow11">
            <a:extLst>
              <a:ext uri="{FF2B5EF4-FFF2-40B4-BE49-F238E27FC236}">
                <a16:creationId xmlns:a16="http://schemas.microsoft.com/office/drawing/2014/main" id="{8E1FE092-7F9B-4F09-9750-10B25A5EA655}"/>
              </a:ext>
            </a:extLst>
          </p:cNvPr>
          <p:cNvCxnSpPr/>
          <p:nvPr/>
        </p:nvCxnSpPr>
        <p:spPr>
          <a:xfrm flipH="0" flipV="0">
            <a:off x="3000375" y="4933950"/>
            <a:ext cx="0" cy="3619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2" name="arrow12">
            <a:extLst>
              <a:ext uri="{FF2B5EF4-FFF2-40B4-BE49-F238E27FC236}">
                <a16:creationId xmlns:a16="http://schemas.microsoft.com/office/drawing/2014/main" id="{4D4ACD39-E6A0-4EFC-A802-97BF649D8A24}"/>
              </a:ext>
            </a:extLst>
          </p:cNvPr>
          <p:cNvCxnSpPr/>
          <p:nvPr/>
        </p:nvCxnSpPr>
        <p:spPr>
          <a:xfrm flipH="1" flipV="0">
            <a:off x="1190625" y="5476875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3" name="arrow13">
            <a:extLst>
              <a:ext uri="{FF2B5EF4-FFF2-40B4-BE49-F238E27FC236}">
                <a16:creationId xmlns:a16="http://schemas.microsoft.com/office/drawing/2014/main" id="{6A222E35-80E4-41F1-8505-DEB1195ABD48}"/>
              </a:ext>
            </a:extLst>
          </p:cNvPr>
          <p:cNvCxnSpPr/>
          <p:nvPr/>
        </p:nvCxnSpPr>
        <p:spPr>
          <a:xfrm flipH="0" flipV="1">
            <a:off x="1190625" y="3695700"/>
            <a:ext cx="0" cy="17811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4" name="arrow14">
            <a:extLst>
              <a:ext uri="{FF2B5EF4-FFF2-40B4-BE49-F238E27FC236}">
                <a16:creationId xmlns:a16="http://schemas.microsoft.com/office/drawing/2014/main" id="{CA88BB67-325E-400B-9302-8C7DA14E6268}"/>
              </a:ext>
            </a:extLst>
          </p:cNvPr>
          <p:cNvCxnSpPr/>
          <p:nvPr/>
        </p:nvCxnSpPr>
        <p:spPr>
          <a:xfrm flipH="0" flipV="0">
            <a:off x="1190625" y="3695700"/>
            <a:ext cx="571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5" name="arrow15">
            <a:extLst>
              <a:ext uri="{FF2B5EF4-FFF2-40B4-BE49-F238E27FC236}">
                <a16:creationId xmlns:a16="http://schemas.microsoft.com/office/drawing/2014/main" id="{9F1CFC81-2C51-4B1A-9A4F-ECA7BCAD34B0}"/>
              </a:ext>
            </a:extLst>
          </p:cNvPr>
          <p:cNvCxnSpPr/>
          <p:nvPr/>
        </p:nvCxnSpPr>
        <p:spPr>
          <a:xfrm flipH="0" flipV="0">
            <a:off x="4238625" y="3695700"/>
            <a:ext cx="123825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6" name="arrow16">
            <a:extLst>
              <a:ext uri="{FF2B5EF4-FFF2-40B4-BE49-F238E27FC236}">
                <a16:creationId xmlns:a16="http://schemas.microsoft.com/office/drawing/2014/main" id="{B537D898-4BA2-41C9-9480-1B2D03E5473F}"/>
              </a:ext>
            </a:extLst>
          </p:cNvPr>
          <p:cNvCxnSpPr/>
          <p:nvPr/>
        </p:nvCxnSpPr>
        <p:spPr>
          <a:xfrm flipH="0" flipV="0">
            <a:off x="5476875" y="3695700"/>
            <a:ext cx="0" cy="8763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7" name="label17">
            <a:extLst>
              <a:ext uri="{FF2B5EF4-FFF2-40B4-BE49-F238E27FC236}">
                <a16:creationId xmlns:a16="http://schemas.microsoft.com/office/drawing/2014/main" id="{D5768113-D5D0-4C45-A15A-1043582A7B87}"/>
              </a:ext>
            </a:extLst>
          </p:cNvPr>
          <p:cNvSpPr>
            <a:spLocks noGrp="1"/>
          </p:cNvSpPr>
          <p:nvPr/>
        </p:nvSpPr>
        <p:spPr>
          <a:xfrm>
            <a:off x="4429125" y="33337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18" name="node18">
            <a:extLst>
              <a:ext uri="{FF2B5EF4-FFF2-40B4-BE49-F238E27FC236}">
                <a16:creationId xmlns:a16="http://schemas.microsoft.com/office/drawing/2014/main" id="{3295F83F-65F7-4FFA-AC4A-577F685A0523}"/>
              </a:ext>
            </a:extLst>
          </p:cNvPr>
          <p:cNvSpPr>
            <a:spLocks noGrp="1"/>
          </p:cNvSpPr>
          <p:nvPr/>
        </p:nvSpPr>
        <p:spPr>
          <a:xfrm>
            <a:off x="4619625" y="4572000"/>
            <a:ext cx="171450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total</a:t>
            </a:r>
          </a:p>
        </p:txBody>
      </p:sp>
      <p:sp>
        <p:nvSpPr>
          <p:cNvPr id="1019" name="node19">
            <a:extLst>
              <a:ext uri="{FF2B5EF4-FFF2-40B4-BE49-F238E27FC236}">
                <a16:creationId xmlns:a16="http://schemas.microsoft.com/office/drawing/2014/main" id="{37C507C4-EB2A-4813-B3D1-D78652A3023D}"/>
              </a:ext>
            </a:extLst>
          </p:cNvPr>
          <p:cNvSpPr>
            <a:spLocks noGrp="1"/>
          </p:cNvSpPr>
          <p:nvPr/>
        </p:nvSpPr>
        <p:spPr>
          <a:xfrm>
            <a:off x="4781550" y="5476875"/>
            <a:ext cx="1400175" cy="3619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20" name="arrow20">
            <a:extLst>
              <a:ext uri="{FF2B5EF4-FFF2-40B4-BE49-F238E27FC236}">
                <a16:creationId xmlns:a16="http://schemas.microsoft.com/office/drawing/2014/main" id="{C0D70D48-F199-4B9E-8081-167DC475ADD3}"/>
              </a:ext>
            </a:extLst>
          </p:cNvPr>
          <p:cNvCxnSpPr/>
          <p:nvPr/>
        </p:nvCxnSpPr>
        <p:spPr>
          <a:xfrm flipH="0" flipV="0">
            <a:off x="5476875" y="4991100"/>
            <a:ext cx="0" cy="4857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Teste de mesa: o valor de parada fica de fora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Entradas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Faça uma linha para cada teste. Quando o valor for zero, siga pela saída Não.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10 → 20 → 0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Total acumulado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total começa em zero. Depois das somas, vale 10 e depois 30. O zero encerra o ciclo.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0 → 10 → 30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Antes de seguir: com a primeira entrada igual a 0, qual será o total?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Validação: repetir até receber uma idade válida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Entradas: −2, 130, 24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−2 e 130: inválidas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24: válida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Leia a primeira idade antes do teste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Inválida: menor que 0 ou maior que 120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Uma nova leitura substitui a anterior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idade válida = 24</a:t>
            </a:r>
          </a:p>
        </p:txBody>
      </p:sp>
      <p:sp>
        <p:nvSpPr>
          <p:cNvPr id="1000" name="node21">
            <a:extLst>
              <a:ext uri="{FF2B5EF4-FFF2-40B4-BE49-F238E27FC236}">
                <a16:creationId xmlns:a16="http://schemas.microsoft.com/office/drawing/2014/main" id="{E6CD1867-ADFB-48AF-8BC2-133450A21776}"/>
              </a:ext>
            </a:extLst>
          </p:cNvPr>
          <p:cNvSpPr>
            <a:spLocks noGrp="1"/>
          </p:cNvSpPr>
          <p:nvPr/>
        </p:nvSpPr>
        <p:spPr>
          <a:xfrm>
            <a:off x="2295525" y="1619250"/>
            <a:ext cx="1400175" cy="4000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22">
            <a:extLst>
              <a:ext uri="{FF2B5EF4-FFF2-40B4-BE49-F238E27FC236}">
                <a16:creationId xmlns:a16="http://schemas.microsoft.com/office/drawing/2014/main" id="{63D1187A-2795-4927-AB8A-6E5031790C30}"/>
              </a:ext>
            </a:extLst>
          </p:cNvPr>
          <p:cNvSpPr>
            <a:spLocks noGrp="1"/>
          </p:cNvSpPr>
          <p:nvPr/>
        </p:nvSpPr>
        <p:spPr>
          <a:xfrm>
            <a:off x="2000250" y="2333625"/>
            <a:ext cx="200025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idade</a:t>
            </a:r>
          </a:p>
        </p:txBody>
      </p:sp>
      <p:cxnSp>
        <p:nvCxnSpPr>
          <p:cNvPr id="1002" name="arrow23">
            <a:extLst>
              <a:ext uri="{FF2B5EF4-FFF2-40B4-BE49-F238E27FC236}">
                <a16:creationId xmlns:a16="http://schemas.microsoft.com/office/drawing/2014/main" id="{14227BDE-E345-45DE-946B-910B30F06502}"/>
              </a:ext>
            </a:extLst>
          </p:cNvPr>
          <p:cNvCxnSpPr/>
          <p:nvPr/>
        </p:nvCxnSpPr>
        <p:spPr>
          <a:xfrm flipH="0" flipV="0">
            <a:off x="3000375" y="2019300"/>
            <a:ext cx="0" cy="3143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24">
            <a:extLst>
              <a:ext uri="{FF2B5EF4-FFF2-40B4-BE49-F238E27FC236}">
                <a16:creationId xmlns:a16="http://schemas.microsoft.com/office/drawing/2014/main" id="{58CA4EBE-6B56-4EB3-93B8-1DC947A47238}"/>
              </a:ext>
            </a:extLst>
          </p:cNvPr>
          <p:cNvSpPr>
            <a:spLocks noGrp="1"/>
          </p:cNvSpPr>
          <p:nvPr/>
        </p:nvSpPr>
        <p:spPr>
          <a:xfrm>
            <a:off x="1571625" y="3190875"/>
            <a:ext cx="2857500" cy="8572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idade &lt; 0 OU</a:t>
            </a:r>
          </a:p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idade &gt; 120 ?</a:t>
            </a:r>
          </a:p>
        </p:txBody>
      </p:sp>
      <p:cxnSp>
        <p:nvCxnSpPr>
          <p:cNvPr id="1004" name="arrow25">
            <a:extLst>
              <a:ext uri="{FF2B5EF4-FFF2-40B4-BE49-F238E27FC236}">
                <a16:creationId xmlns:a16="http://schemas.microsoft.com/office/drawing/2014/main" id="{11C6BD4E-D44B-47C8-8886-EAD6D382C95A}"/>
              </a:ext>
            </a:extLst>
          </p:cNvPr>
          <p:cNvCxnSpPr/>
          <p:nvPr/>
        </p:nvCxnSpPr>
        <p:spPr>
          <a:xfrm flipH="0" flipV="0">
            <a:off x="3000375" y="2752725"/>
            <a:ext cx="0" cy="4381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26">
            <a:extLst>
              <a:ext uri="{FF2B5EF4-FFF2-40B4-BE49-F238E27FC236}">
                <a16:creationId xmlns:a16="http://schemas.microsoft.com/office/drawing/2014/main" id="{8C22BE1C-86E4-4BA2-9318-B19DB61CFC03}"/>
              </a:ext>
            </a:extLst>
          </p:cNvPr>
          <p:cNvSpPr>
            <a:spLocks noGrp="1"/>
          </p:cNvSpPr>
          <p:nvPr/>
        </p:nvSpPr>
        <p:spPr>
          <a:xfrm>
            <a:off x="2000250" y="4572000"/>
            <a:ext cx="200025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idade</a:t>
            </a:r>
          </a:p>
        </p:txBody>
      </p:sp>
      <p:cxnSp>
        <p:nvCxnSpPr>
          <p:cNvPr id="1006" name="arrow27">
            <a:extLst>
              <a:ext uri="{FF2B5EF4-FFF2-40B4-BE49-F238E27FC236}">
                <a16:creationId xmlns:a16="http://schemas.microsoft.com/office/drawing/2014/main" id="{83DB1CD7-6A12-4414-B400-4AAD144536C2}"/>
              </a:ext>
            </a:extLst>
          </p:cNvPr>
          <p:cNvCxnSpPr/>
          <p:nvPr/>
        </p:nvCxnSpPr>
        <p:spPr>
          <a:xfrm flipH="0" flipV="0">
            <a:off x="3000375" y="4048125"/>
            <a:ext cx="0" cy="5238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28">
            <a:extLst>
              <a:ext uri="{FF2B5EF4-FFF2-40B4-BE49-F238E27FC236}">
                <a16:creationId xmlns:a16="http://schemas.microsoft.com/office/drawing/2014/main" id="{03F7899B-5E9B-4342-A929-77C7717AB4A7}"/>
              </a:ext>
            </a:extLst>
          </p:cNvPr>
          <p:cNvSpPr>
            <a:spLocks noGrp="1"/>
          </p:cNvSpPr>
          <p:nvPr/>
        </p:nvSpPr>
        <p:spPr>
          <a:xfrm>
            <a:off x="3124200" y="415290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cxnSp>
        <p:nvCxnSpPr>
          <p:cNvPr id="1008" name="arrow29">
            <a:extLst>
              <a:ext uri="{FF2B5EF4-FFF2-40B4-BE49-F238E27FC236}">
                <a16:creationId xmlns:a16="http://schemas.microsoft.com/office/drawing/2014/main" id="{90EF13D2-54DC-45EF-8755-E526378C65D5}"/>
              </a:ext>
            </a:extLst>
          </p:cNvPr>
          <p:cNvCxnSpPr/>
          <p:nvPr/>
        </p:nvCxnSpPr>
        <p:spPr>
          <a:xfrm flipH="1" flipV="0">
            <a:off x="1190625" y="4781550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09" name="arrow30">
            <a:extLst>
              <a:ext uri="{FF2B5EF4-FFF2-40B4-BE49-F238E27FC236}">
                <a16:creationId xmlns:a16="http://schemas.microsoft.com/office/drawing/2014/main" id="{A9C01CAA-1C53-49FE-9AF0-16AE986136F8}"/>
              </a:ext>
            </a:extLst>
          </p:cNvPr>
          <p:cNvCxnSpPr/>
          <p:nvPr/>
        </p:nvCxnSpPr>
        <p:spPr>
          <a:xfrm flipH="0" flipV="1">
            <a:off x="1190625" y="3619500"/>
            <a:ext cx="0" cy="11620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0" name="arrow31">
            <a:extLst>
              <a:ext uri="{FF2B5EF4-FFF2-40B4-BE49-F238E27FC236}">
                <a16:creationId xmlns:a16="http://schemas.microsoft.com/office/drawing/2014/main" id="{190C50BB-8882-4FD6-8B34-DF86366EAA61}"/>
              </a:ext>
            </a:extLst>
          </p:cNvPr>
          <p:cNvCxnSpPr/>
          <p:nvPr/>
        </p:nvCxnSpPr>
        <p:spPr>
          <a:xfrm flipH="0" flipV="0">
            <a:off x="1190625" y="3619500"/>
            <a:ext cx="3810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1" name="arrow32">
            <a:extLst>
              <a:ext uri="{FF2B5EF4-FFF2-40B4-BE49-F238E27FC236}">
                <a16:creationId xmlns:a16="http://schemas.microsoft.com/office/drawing/2014/main" id="{90A71671-A45B-4EC1-83E1-2990DFB75DE2}"/>
              </a:ext>
            </a:extLst>
          </p:cNvPr>
          <p:cNvCxnSpPr/>
          <p:nvPr/>
        </p:nvCxnSpPr>
        <p:spPr>
          <a:xfrm flipH="0" flipV="0">
            <a:off x="4429125" y="3619500"/>
            <a:ext cx="952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2" name="arrow33">
            <a:extLst>
              <a:ext uri="{FF2B5EF4-FFF2-40B4-BE49-F238E27FC236}">
                <a16:creationId xmlns:a16="http://schemas.microsoft.com/office/drawing/2014/main" id="{C8D5A48B-8132-4780-B4C2-100DECC090A0}"/>
              </a:ext>
            </a:extLst>
          </p:cNvPr>
          <p:cNvCxnSpPr/>
          <p:nvPr/>
        </p:nvCxnSpPr>
        <p:spPr>
          <a:xfrm flipH="0" flipV="0">
            <a:off x="5381625" y="3619500"/>
            <a:ext cx="0" cy="9525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3" name="label34">
            <a:extLst>
              <a:ext uri="{FF2B5EF4-FFF2-40B4-BE49-F238E27FC236}">
                <a16:creationId xmlns:a16="http://schemas.microsoft.com/office/drawing/2014/main" id="{AE6BEAC2-A8E9-4ECA-B90F-B14A938170EB}"/>
              </a:ext>
            </a:extLst>
          </p:cNvPr>
          <p:cNvSpPr>
            <a:spLocks noGrp="1"/>
          </p:cNvSpPr>
          <p:nvPr/>
        </p:nvSpPr>
        <p:spPr>
          <a:xfrm>
            <a:off x="4524375" y="32861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14" name="node35">
            <a:extLst>
              <a:ext uri="{FF2B5EF4-FFF2-40B4-BE49-F238E27FC236}">
                <a16:creationId xmlns:a16="http://schemas.microsoft.com/office/drawing/2014/main" id="{88D63B50-8F02-4338-A36D-CDE0C51D7B20}"/>
              </a:ext>
            </a:extLst>
          </p:cNvPr>
          <p:cNvSpPr>
            <a:spLocks noGrp="1"/>
          </p:cNvSpPr>
          <p:nvPr/>
        </p:nvSpPr>
        <p:spPr>
          <a:xfrm>
            <a:off x="4619625" y="4572000"/>
            <a:ext cx="152400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idade</a:t>
            </a:r>
          </a:p>
        </p:txBody>
      </p:sp>
      <p:sp>
        <p:nvSpPr>
          <p:cNvPr id="1015" name="node36">
            <a:extLst>
              <a:ext uri="{FF2B5EF4-FFF2-40B4-BE49-F238E27FC236}">
                <a16:creationId xmlns:a16="http://schemas.microsoft.com/office/drawing/2014/main" id="{C56C92C9-3103-4C6B-9A2F-E526E23501AD}"/>
              </a:ext>
            </a:extLst>
          </p:cNvPr>
          <p:cNvSpPr>
            <a:spLocks noGrp="1"/>
          </p:cNvSpPr>
          <p:nvPr/>
        </p:nvSpPr>
        <p:spPr>
          <a:xfrm>
            <a:off x="4686300" y="5429250"/>
            <a:ext cx="1400175" cy="4000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16" name="arrow37">
            <a:extLst>
              <a:ext uri="{FF2B5EF4-FFF2-40B4-BE49-F238E27FC236}">
                <a16:creationId xmlns:a16="http://schemas.microsoft.com/office/drawing/2014/main" id="{DC1E9BD9-C2A7-4EEE-9BA1-0651FA05CF73}"/>
              </a:ext>
            </a:extLst>
          </p:cNvPr>
          <p:cNvCxnSpPr/>
          <p:nvPr/>
        </p:nvCxnSpPr>
        <p:spPr>
          <a:xfrm flipH="0" flipV="0">
            <a:off x="5381625" y="4991100"/>
            <a:ext cx="0" cy="4381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WHILE com decisão: contando aprovados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Notas: 8, 5, 7, −1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8 e 7: aprovadas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−1: encerra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Aprovados começa em 0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Nota −1 encerra antes da avaliação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Só nota ≥ 7 aumenta o contador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2 aprovados</a:t>
            </a:r>
          </a:p>
        </p:txBody>
      </p:sp>
      <p:sp>
        <p:nvSpPr>
          <p:cNvPr id="1000" name="node38">
            <a:extLst>
              <a:ext uri="{FF2B5EF4-FFF2-40B4-BE49-F238E27FC236}">
                <a16:creationId xmlns:a16="http://schemas.microsoft.com/office/drawing/2014/main" id="{8B106024-DFC3-4F5E-BBDC-819ECF0533CD}"/>
              </a:ext>
            </a:extLst>
          </p:cNvPr>
          <p:cNvSpPr>
            <a:spLocks noGrp="1"/>
          </p:cNvSpPr>
          <p:nvPr/>
        </p:nvSpPr>
        <p:spPr>
          <a:xfrm>
            <a:off x="2295525" y="1524000"/>
            <a:ext cx="1400175" cy="3238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39">
            <a:extLst>
              <a:ext uri="{FF2B5EF4-FFF2-40B4-BE49-F238E27FC236}">
                <a16:creationId xmlns:a16="http://schemas.microsoft.com/office/drawing/2014/main" id="{35838B12-E300-4193-BEF9-A91BD8209D58}"/>
              </a:ext>
            </a:extLst>
          </p:cNvPr>
          <p:cNvSpPr>
            <a:spLocks noGrp="1"/>
          </p:cNvSpPr>
          <p:nvPr/>
        </p:nvSpPr>
        <p:spPr>
          <a:xfrm>
            <a:off x="2000250" y="2057400"/>
            <a:ext cx="2000250" cy="361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← 0</a:t>
            </a:r>
          </a:p>
        </p:txBody>
      </p:sp>
      <p:cxnSp>
        <p:nvCxnSpPr>
          <p:cNvPr id="1002" name="arrow40">
            <a:extLst>
              <a:ext uri="{FF2B5EF4-FFF2-40B4-BE49-F238E27FC236}">
                <a16:creationId xmlns:a16="http://schemas.microsoft.com/office/drawing/2014/main" id="{9ECAFEB7-A87D-48DD-B646-E6BE835F3EBB}"/>
              </a:ext>
            </a:extLst>
          </p:cNvPr>
          <p:cNvCxnSpPr/>
          <p:nvPr/>
        </p:nvCxnSpPr>
        <p:spPr>
          <a:xfrm flipH="0" flipV="0">
            <a:off x="3000375" y="1847850"/>
            <a:ext cx="0" cy="2095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41">
            <a:extLst>
              <a:ext uri="{FF2B5EF4-FFF2-40B4-BE49-F238E27FC236}">
                <a16:creationId xmlns:a16="http://schemas.microsoft.com/office/drawing/2014/main" id="{6FB0CCD5-8269-48C5-B29D-F76BAA9992A2}"/>
              </a:ext>
            </a:extLst>
          </p:cNvPr>
          <p:cNvSpPr>
            <a:spLocks noGrp="1"/>
          </p:cNvSpPr>
          <p:nvPr/>
        </p:nvSpPr>
        <p:spPr>
          <a:xfrm>
            <a:off x="2000250" y="264795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nota</a:t>
            </a:r>
          </a:p>
        </p:txBody>
      </p:sp>
      <p:cxnSp>
        <p:nvCxnSpPr>
          <p:cNvPr id="1004" name="arrow42">
            <a:extLst>
              <a:ext uri="{FF2B5EF4-FFF2-40B4-BE49-F238E27FC236}">
                <a16:creationId xmlns:a16="http://schemas.microsoft.com/office/drawing/2014/main" id="{DB20B9A0-636F-44E6-B241-F67C5EC01FA4}"/>
              </a:ext>
            </a:extLst>
          </p:cNvPr>
          <p:cNvCxnSpPr/>
          <p:nvPr/>
        </p:nvCxnSpPr>
        <p:spPr>
          <a:xfrm flipH="0" flipV="0">
            <a:off x="3000375" y="2419350"/>
            <a:ext cx="0" cy="2286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43">
            <a:extLst>
              <a:ext uri="{FF2B5EF4-FFF2-40B4-BE49-F238E27FC236}">
                <a16:creationId xmlns:a16="http://schemas.microsoft.com/office/drawing/2014/main" id="{099757A0-EAFB-4246-8EDC-33CC0B629D1C}"/>
              </a:ext>
            </a:extLst>
          </p:cNvPr>
          <p:cNvSpPr>
            <a:spLocks noGrp="1"/>
          </p:cNvSpPr>
          <p:nvPr/>
        </p:nvSpPr>
        <p:spPr>
          <a:xfrm>
            <a:off x="1762125" y="3257550"/>
            <a:ext cx="2476500" cy="609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nota ≠ −1 ?</a:t>
            </a:r>
          </a:p>
        </p:txBody>
      </p:sp>
      <p:cxnSp>
        <p:nvCxnSpPr>
          <p:cNvPr id="1006" name="arrow44">
            <a:extLst>
              <a:ext uri="{FF2B5EF4-FFF2-40B4-BE49-F238E27FC236}">
                <a16:creationId xmlns:a16="http://schemas.microsoft.com/office/drawing/2014/main" id="{B3AB4CE5-3850-427D-98C6-0D06C99FC48A}"/>
              </a:ext>
            </a:extLst>
          </p:cNvPr>
          <p:cNvCxnSpPr/>
          <p:nvPr/>
        </p:nvCxnSpPr>
        <p:spPr>
          <a:xfrm flipH="0" flipV="0">
            <a:off x="3000375" y="3009900"/>
            <a:ext cx="0" cy="2476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45">
            <a:extLst>
              <a:ext uri="{FF2B5EF4-FFF2-40B4-BE49-F238E27FC236}">
                <a16:creationId xmlns:a16="http://schemas.microsoft.com/office/drawing/2014/main" id="{A0E87315-3E2F-4370-A4A1-07CCBACA0831}"/>
              </a:ext>
            </a:extLst>
          </p:cNvPr>
          <p:cNvSpPr>
            <a:spLocks noGrp="1"/>
          </p:cNvSpPr>
          <p:nvPr/>
        </p:nvSpPr>
        <p:spPr>
          <a:xfrm>
            <a:off x="3124200" y="39052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08" name="node46">
            <a:extLst>
              <a:ext uri="{FF2B5EF4-FFF2-40B4-BE49-F238E27FC236}">
                <a16:creationId xmlns:a16="http://schemas.microsoft.com/office/drawing/2014/main" id="{B9259114-9504-4D8B-BE93-34B1817425E9}"/>
              </a:ext>
            </a:extLst>
          </p:cNvPr>
          <p:cNvSpPr>
            <a:spLocks noGrp="1"/>
          </p:cNvSpPr>
          <p:nvPr/>
        </p:nvSpPr>
        <p:spPr>
          <a:xfrm>
            <a:off x="1762125" y="4267200"/>
            <a:ext cx="2476500" cy="609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nota ≥ 7 ?</a:t>
            </a:r>
          </a:p>
        </p:txBody>
      </p:sp>
      <p:cxnSp>
        <p:nvCxnSpPr>
          <p:cNvPr id="1009" name="arrow47">
            <a:extLst>
              <a:ext uri="{FF2B5EF4-FFF2-40B4-BE49-F238E27FC236}">
                <a16:creationId xmlns:a16="http://schemas.microsoft.com/office/drawing/2014/main" id="{0F184AFD-4086-43FE-9745-F5419A57669F}"/>
              </a:ext>
            </a:extLst>
          </p:cNvPr>
          <p:cNvCxnSpPr/>
          <p:nvPr/>
        </p:nvCxnSpPr>
        <p:spPr>
          <a:xfrm flipH="0" flipV="0">
            <a:off x="3000375" y="3867150"/>
            <a:ext cx="0" cy="4000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0" name="label48">
            <a:extLst>
              <a:ext uri="{FF2B5EF4-FFF2-40B4-BE49-F238E27FC236}">
                <a16:creationId xmlns:a16="http://schemas.microsoft.com/office/drawing/2014/main" id="{EF097C9C-E642-45CF-83DD-8B6044E5A9FD}"/>
              </a:ext>
            </a:extLst>
          </p:cNvPr>
          <p:cNvSpPr>
            <a:spLocks noGrp="1"/>
          </p:cNvSpPr>
          <p:nvPr/>
        </p:nvSpPr>
        <p:spPr>
          <a:xfrm>
            <a:off x="3095625" y="491490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11" name="node49">
            <a:extLst>
              <a:ext uri="{FF2B5EF4-FFF2-40B4-BE49-F238E27FC236}">
                <a16:creationId xmlns:a16="http://schemas.microsoft.com/office/drawing/2014/main" id="{5F3C214A-4B68-41D2-AE90-ABD7D33EBA5B}"/>
              </a:ext>
            </a:extLst>
          </p:cNvPr>
          <p:cNvSpPr>
            <a:spLocks noGrp="1"/>
          </p:cNvSpPr>
          <p:nvPr/>
        </p:nvSpPr>
        <p:spPr>
          <a:xfrm>
            <a:off x="2000250" y="5200650"/>
            <a:ext cx="20002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←</a:t>
            </a:r>
          </a:p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+ 1</a:t>
            </a:r>
          </a:p>
        </p:txBody>
      </p:sp>
      <p:cxnSp>
        <p:nvCxnSpPr>
          <p:cNvPr id="1012" name="arrow50">
            <a:extLst>
              <a:ext uri="{FF2B5EF4-FFF2-40B4-BE49-F238E27FC236}">
                <a16:creationId xmlns:a16="http://schemas.microsoft.com/office/drawing/2014/main" id="{986A7558-F5E8-4A2E-8C65-7EA265B666A1}"/>
              </a:ext>
            </a:extLst>
          </p:cNvPr>
          <p:cNvCxnSpPr/>
          <p:nvPr/>
        </p:nvCxnSpPr>
        <p:spPr>
          <a:xfrm flipH="0" flipV="0">
            <a:off x="3000375" y="487680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3" name="node51">
            <a:extLst>
              <a:ext uri="{FF2B5EF4-FFF2-40B4-BE49-F238E27FC236}">
                <a16:creationId xmlns:a16="http://schemas.microsoft.com/office/drawing/2014/main" id="{CCAF2349-68FA-429A-A983-3F8A1DACA19F}"/>
              </a:ext>
            </a:extLst>
          </p:cNvPr>
          <p:cNvSpPr>
            <a:spLocks noGrp="1"/>
          </p:cNvSpPr>
          <p:nvPr/>
        </p:nvSpPr>
        <p:spPr>
          <a:xfrm>
            <a:off x="2000250" y="59436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nota</a:t>
            </a:r>
          </a:p>
        </p:txBody>
      </p:sp>
      <p:cxnSp>
        <p:nvCxnSpPr>
          <p:cNvPr id="1014" name="arrow52">
            <a:extLst>
              <a:ext uri="{FF2B5EF4-FFF2-40B4-BE49-F238E27FC236}">
                <a16:creationId xmlns:a16="http://schemas.microsoft.com/office/drawing/2014/main" id="{B01AE031-E3A0-4ED3-BD98-AC64723DD05D}"/>
              </a:ext>
            </a:extLst>
          </p:cNvPr>
          <p:cNvCxnSpPr/>
          <p:nvPr/>
        </p:nvCxnSpPr>
        <p:spPr>
          <a:xfrm flipH="0" flipV="0">
            <a:off x="3000375" y="561975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5" name="arrow53">
            <a:extLst>
              <a:ext uri="{FF2B5EF4-FFF2-40B4-BE49-F238E27FC236}">
                <a16:creationId xmlns:a16="http://schemas.microsoft.com/office/drawing/2014/main" id="{3DE0D602-E1F6-4CF1-8770-77B12B586E3B}"/>
              </a:ext>
            </a:extLst>
          </p:cNvPr>
          <p:cNvCxnSpPr/>
          <p:nvPr/>
        </p:nvCxnSpPr>
        <p:spPr>
          <a:xfrm flipH="1" flipV="0">
            <a:off x="1190625" y="6124575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6" name="arrow54">
            <a:extLst>
              <a:ext uri="{FF2B5EF4-FFF2-40B4-BE49-F238E27FC236}">
                <a16:creationId xmlns:a16="http://schemas.microsoft.com/office/drawing/2014/main" id="{BEDD1A26-A1D6-4823-9365-E29F40868587}"/>
              </a:ext>
            </a:extLst>
          </p:cNvPr>
          <p:cNvCxnSpPr/>
          <p:nvPr/>
        </p:nvCxnSpPr>
        <p:spPr>
          <a:xfrm flipH="0" flipV="1">
            <a:off x="1190625" y="3562350"/>
            <a:ext cx="0" cy="25622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7" name="arrow55">
            <a:extLst>
              <a:ext uri="{FF2B5EF4-FFF2-40B4-BE49-F238E27FC236}">
                <a16:creationId xmlns:a16="http://schemas.microsoft.com/office/drawing/2014/main" id="{6F74EB4A-2B90-4AEE-9CA8-61539B9165D2}"/>
              </a:ext>
            </a:extLst>
          </p:cNvPr>
          <p:cNvCxnSpPr/>
          <p:nvPr/>
        </p:nvCxnSpPr>
        <p:spPr>
          <a:xfrm flipH="0" flipV="0">
            <a:off x="1190625" y="3562350"/>
            <a:ext cx="571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8" name="arrow56">
            <a:extLst>
              <a:ext uri="{FF2B5EF4-FFF2-40B4-BE49-F238E27FC236}">
                <a16:creationId xmlns:a16="http://schemas.microsoft.com/office/drawing/2014/main" id="{A835076A-F390-4A47-9934-1ACEBBA5EB54}"/>
              </a:ext>
            </a:extLst>
          </p:cNvPr>
          <p:cNvCxnSpPr/>
          <p:nvPr/>
        </p:nvCxnSpPr>
        <p:spPr>
          <a:xfrm flipH="0" flipV="0">
            <a:off x="4238625" y="4572000"/>
            <a:ext cx="28575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9" name="arrow57">
            <a:extLst>
              <a:ext uri="{FF2B5EF4-FFF2-40B4-BE49-F238E27FC236}">
                <a16:creationId xmlns:a16="http://schemas.microsoft.com/office/drawing/2014/main" id="{94725A60-9BA9-4E9B-821B-9CBEBE871293}"/>
              </a:ext>
            </a:extLst>
          </p:cNvPr>
          <p:cNvCxnSpPr/>
          <p:nvPr/>
        </p:nvCxnSpPr>
        <p:spPr>
          <a:xfrm flipH="0" flipV="0">
            <a:off x="4524375" y="4572000"/>
            <a:ext cx="0" cy="15525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0" name="arrow58">
            <a:extLst>
              <a:ext uri="{FF2B5EF4-FFF2-40B4-BE49-F238E27FC236}">
                <a16:creationId xmlns:a16="http://schemas.microsoft.com/office/drawing/2014/main" id="{FE5D28FF-D976-41B5-B5CC-A83D6B6B3169}"/>
              </a:ext>
            </a:extLst>
          </p:cNvPr>
          <p:cNvCxnSpPr/>
          <p:nvPr/>
        </p:nvCxnSpPr>
        <p:spPr>
          <a:xfrm flipH="1" flipV="0">
            <a:off x="4000500" y="6124575"/>
            <a:ext cx="52387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21" name="label59">
            <a:extLst>
              <a:ext uri="{FF2B5EF4-FFF2-40B4-BE49-F238E27FC236}">
                <a16:creationId xmlns:a16="http://schemas.microsoft.com/office/drawing/2014/main" id="{6DCE3DCF-902A-47F5-9BF9-CB41B3CF6709}"/>
              </a:ext>
            </a:extLst>
          </p:cNvPr>
          <p:cNvSpPr>
            <a:spLocks noGrp="1"/>
          </p:cNvSpPr>
          <p:nvPr/>
        </p:nvSpPr>
        <p:spPr>
          <a:xfrm>
            <a:off x="4286250" y="42386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cxnSp>
        <p:nvCxnSpPr>
          <p:cNvPr id="1022" name="arrow60">
            <a:extLst>
              <a:ext uri="{FF2B5EF4-FFF2-40B4-BE49-F238E27FC236}">
                <a16:creationId xmlns:a16="http://schemas.microsoft.com/office/drawing/2014/main" id="{0227A9A3-A616-48E1-BA90-0EA76C982426}"/>
              </a:ext>
            </a:extLst>
          </p:cNvPr>
          <p:cNvCxnSpPr/>
          <p:nvPr/>
        </p:nvCxnSpPr>
        <p:spPr>
          <a:xfrm flipH="0" flipV="0">
            <a:off x="4238625" y="3562350"/>
            <a:ext cx="1333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3" name="arrow61">
            <a:extLst>
              <a:ext uri="{FF2B5EF4-FFF2-40B4-BE49-F238E27FC236}">
                <a16:creationId xmlns:a16="http://schemas.microsoft.com/office/drawing/2014/main" id="{E9153157-CCC5-49FA-BCB8-1F7F33CE14A1}"/>
              </a:ext>
            </a:extLst>
          </p:cNvPr>
          <p:cNvCxnSpPr/>
          <p:nvPr/>
        </p:nvCxnSpPr>
        <p:spPr>
          <a:xfrm flipH="0" flipV="0">
            <a:off x="5572125" y="3562350"/>
            <a:ext cx="0" cy="14287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24" name="label62">
            <a:extLst>
              <a:ext uri="{FF2B5EF4-FFF2-40B4-BE49-F238E27FC236}">
                <a16:creationId xmlns:a16="http://schemas.microsoft.com/office/drawing/2014/main" id="{E4C77C66-85CA-43D8-A0B9-EE994E1C2884}"/>
              </a:ext>
            </a:extLst>
          </p:cNvPr>
          <p:cNvSpPr>
            <a:spLocks noGrp="1"/>
          </p:cNvSpPr>
          <p:nvPr/>
        </p:nvSpPr>
        <p:spPr>
          <a:xfrm>
            <a:off x="4572000" y="32194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25" name="node63">
            <a:extLst>
              <a:ext uri="{FF2B5EF4-FFF2-40B4-BE49-F238E27FC236}">
                <a16:creationId xmlns:a16="http://schemas.microsoft.com/office/drawing/2014/main" id="{940B534F-29F1-432E-AC6D-49409A8119DD}"/>
              </a:ext>
            </a:extLst>
          </p:cNvPr>
          <p:cNvSpPr>
            <a:spLocks noGrp="1"/>
          </p:cNvSpPr>
          <p:nvPr/>
        </p:nvSpPr>
        <p:spPr>
          <a:xfrm>
            <a:off x="4714875" y="4991100"/>
            <a:ext cx="1714500" cy="4953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</a:t>
            </a:r>
          </a:p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</a:t>
            </a:r>
          </a:p>
        </p:txBody>
      </p:sp>
      <p:sp>
        <p:nvSpPr>
          <p:cNvPr id="1026" name="node64">
            <a:extLst>
              <a:ext uri="{FF2B5EF4-FFF2-40B4-BE49-F238E27FC236}">
                <a16:creationId xmlns:a16="http://schemas.microsoft.com/office/drawing/2014/main" id="{AC1291BC-35C2-4B43-9F0B-E10B4E3634DC}"/>
              </a:ext>
            </a:extLst>
          </p:cNvPr>
          <p:cNvSpPr>
            <a:spLocks noGrp="1"/>
          </p:cNvSpPr>
          <p:nvPr/>
        </p:nvSpPr>
        <p:spPr>
          <a:xfrm>
            <a:off x="4876800" y="5810250"/>
            <a:ext cx="1400175" cy="3619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27" name="arrow65">
            <a:extLst>
              <a:ext uri="{FF2B5EF4-FFF2-40B4-BE49-F238E27FC236}">
                <a16:creationId xmlns:a16="http://schemas.microsoft.com/office/drawing/2014/main" id="{E0FCB670-F3D2-4B6C-AF23-7DC48C71D699}"/>
              </a:ext>
            </a:extLst>
          </p:cNvPr>
          <p:cNvCxnSpPr/>
          <p:nvPr/>
        </p:nvCxnSpPr>
        <p:spPr>
          <a:xfrm flipH="0" flipV="0">
            <a:off x="5572125" y="548640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Intervalo: 10 minutos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Na volta, cinco desafios com WHILE.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Desenhar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Fluxograma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Use os símbolos e identifique Sim e Não.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Simular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Teste de mesa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Anote entradas, condições e valores que mudam.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Explicar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Parada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Mostre por que o fluxo consegue chegar ao fim.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Prepare papel e lápis. Todas as atividades são somente de fluxograma.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Desafios 1 e 2: contador e valor de parada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Contagem regressiva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Desenhe um WHILE que mostre de 10 até 1 e depois Fim. Faça o teste de mesa e indique o valor que encerra o ciclo. Tempo: 8 minutos.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10  9  8  …  1  Fim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Pedidos até zero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códigos inteiros de pedidos. Mostre cada código diferente de 0. Ao receber 0, encerre. Teste também com 0 na primeira leitura. Tempo: 10 minutos.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12, 35, 0 → mostra 12 e 35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cada desafio: desenhe o fluxograma, faça o teste de mesa e explique a parada.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Desafios 3 e 4: somar e validar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Total da compra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preços não negativos até receber 0. Some os preços e mostre o total ao final. Considere as entradas válidas. Tempo: 12 minutos.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20, 15, 5, 0 → total = 40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4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Idade válida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uma idade inteira. Enquanto ela estiver fora de 0 a 120, leia novamente. Ao receber uma idade válida, mostre-a e encerre. Tempo: 10 minutos.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−5, 125, 18 → idade = 18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cada desafio: desenhe o fluxo e teste a condição antes e depois da atualização.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Desafio 5: WHILE com decisão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5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Contando aprovados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notas de 0 a 10, uma por vez. A nota −1 encerra a entrada. Conte quantas notas são maiores ou iguais a 7. Mostre o total ao final. Tempo: 15 minutos.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8, 5, 7, 3, 9, −1 → 3 aprovados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?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Antes de entregar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 nota −1 ficou fora da contagem? Os dois caminhos da decisão interna chegam a uma nova leitura? Seu fluxo termina se a primeira entrada for −1?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Somente −1 → 0 aprovados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Entrega: fluxograma com todas as setas, teste de mesa e justificativa da parada.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 1: contagem regressiva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10: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1: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0: Não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Preparação: i começa em 10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Cada valor de 10 até 1 é mostrado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atualização diminui i em 1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10  9  …  1  Fim</a:t>
            </a:r>
          </a:p>
        </p:txBody>
      </p:sp>
      <p:sp>
        <p:nvSpPr>
          <p:cNvPr id="1000" name="node66">
            <a:extLst>
              <a:ext uri="{FF2B5EF4-FFF2-40B4-BE49-F238E27FC236}">
                <a16:creationId xmlns:a16="http://schemas.microsoft.com/office/drawing/2014/main" id="{F5E1F421-D933-4CAA-A2AF-F099AC7106A7}"/>
              </a:ext>
            </a:extLst>
          </p:cNvPr>
          <p:cNvSpPr>
            <a:spLocks noGrp="1"/>
          </p:cNvSpPr>
          <p:nvPr/>
        </p:nvSpPr>
        <p:spPr>
          <a:xfrm>
            <a:off x="2295525" y="1600200"/>
            <a:ext cx="1400175" cy="41910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67">
            <a:extLst>
              <a:ext uri="{FF2B5EF4-FFF2-40B4-BE49-F238E27FC236}">
                <a16:creationId xmlns:a16="http://schemas.microsoft.com/office/drawing/2014/main" id="{1EF4AFBB-D8EC-4088-AC93-084FE3A2914A}"/>
              </a:ext>
            </a:extLst>
          </p:cNvPr>
          <p:cNvSpPr>
            <a:spLocks noGrp="1"/>
          </p:cNvSpPr>
          <p:nvPr/>
        </p:nvSpPr>
        <p:spPr>
          <a:xfrm>
            <a:off x="2000250" y="2324100"/>
            <a:ext cx="20002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10</a:t>
            </a:r>
          </a:p>
        </p:txBody>
      </p:sp>
      <p:cxnSp>
        <p:nvCxnSpPr>
          <p:cNvPr id="1002" name="arrow68">
            <a:extLst>
              <a:ext uri="{FF2B5EF4-FFF2-40B4-BE49-F238E27FC236}">
                <a16:creationId xmlns:a16="http://schemas.microsoft.com/office/drawing/2014/main" id="{DA01F911-87A5-40FE-84D9-CC5ED793D76F}"/>
              </a:ext>
            </a:extLst>
          </p:cNvPr>
          <p:cNvCxnSpPr/>
          <p:nvPr/>
        </p:nvCxnSpPr>
        <p:spPr>
          <a:xfrm flipH="0" flipV="0">
            <a:off x="3000375" y="2019300"/>
            <a:ext cx="0" cy="3048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69">
            <a:extLst>
              <a:ext uri="{FF2B5EF4-FFF2-40B4-BE49-F238E27FC236}">
                <a16:creationId xmlns:a16="http://schemas.microsoft.com/office/drawing/2014/main" id="{AEB64FCA-C224-4A00-BDA8-8B1CDD154DDD}"/>
              </a:ext>
            </a:extLst>
          </p:cNvPr>
          <p:cNvSpPr>
            <a:spLocks noGrp="1"/>
          </p:cNvSpPr>
          <p:nvPr/>
        </p:nvSpPr>
        <p:spPr>
          <a:xfrm>
            <a:off x="1762125" y="3038475"/>
            <a:ext cx="2476500" cy="847725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≥ 1 ?</a:t>
            </a:r>
          </a:p>
        </p:txBody>
      </p:sp>
      <p:cxnSp>
        <p:nvCxnSpPr>
          <p:cNvPr id="1004" name="arrow70">
            <a:extLst>
              <a:ext uri="{FF2B5EF4-FFF2-40B4-BE49-F238E27FC236}">
                <a16:creationId xmlns:a16="http://schemas.microsoft.com/office/drawing/2014/main" id="{2C2050F8-378D-4548-BAD7-CB7DB57888B9}"/>
              </a:ext>
            </a:extLst>
          </p:cNvPr>
          <p:cNvCxnSpPr/>
          <p:nvPr/>
        </p:nvCxnSpPr>
        <p:spPr>
          <a:xfrm flipH="0" flipV="0">
            <a:off x="3000375" y="2743200"/>
            <a:ext cx="0" cy="2952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71">
            <a:extLst>
              <a:ext uri="{FF2B5EF4-FFF2-40B4-BE49-F238E27FC236}">
                <a16:creationId xmlns:a16="http://schemas.microsoft.com/office/drawing/2014/main" id="{1489CBF8-3979-48DC-9504-E7EB092B7BD1}"/>
              </a:ext>
            </a:extLst>
          </p:cNvPr>
          <p:cNvSpPr>
            <a:spLocks noGrp="1"/>
          </p:cNvSpPr>
          <p:nvPr/>
        </p:nvSpPr>
        <p:spPr>
          <a:xfrm>
            <a:off x="2000250" y="4286250"/>
            <a:ext cx="200025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</a:t>
            </a:r>
          </a:p>
        </p:txBody>
      </p:sp>
      <p:cxnSp>
        <p:nvCxnSpPr>
          <p:cNvPr id="1006" name="arrow72">
            <a:extLst>
              <a:ext uri="{FF2B5EF4-FFF2-40B4-BE49-F238E27FC236}">
                <a16:creationId xmlns:a16="http://schemas.microsoft.com/office/drawing/2014/main" id="{E309C32D-DE56-4DFF-8D5B-73EB572DAC2F}"/>
              </a:ext>
            </a:extLst>
          </p:cNvPr>
          <p:cNvCxnSpPr/>
          <p:nvPr/>
        </p:nvCxnSpPr>
        <p:spPr>
          <a:xfrm flipH="0" flipV="0">
            <a:off x="3000375" y="3886200"/>
            <a:ext cx="0" cy="4000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73">
            <a:extLst>
              <a:ext uri="{FF2B5EF4-FFF2-40B4-BE49-F238E27FC236}">
                <a16:creationId xmlns:a16="http://schemas.microsoft.com/office/drawing/2014/main" id="{1759F30F-614A-45D7-B03F-B99981BB51BF}"/>
              </a:ext>
            </a:extLst>
          </p:cNvPr>
          <p:cNvSpPr>
            <a:spLocks noGrp="1"/>
          </p:cNvSpPr>
          <p:nvPr/>
        </p:nvSpPr>
        <p:spPr>
          <a:xfrm>
            <a:off x="3124200" y="392430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08" name="node74">
            <a:extLst>
              <a:ext uri="{FF2B5EF4-FFF2-40B4-BE49-F238E27FC236}">
                <a16:creationId xmlns:a16="http://schemas.microsoft.com/office/drawing/2014/main" id="{F4D36B49-F8F6-4C40-9AEA-BB54E5DFD753}"/>
              </a:ext>
            </a:extLst>
          </p:cNvPr>
          <p:cNvSpPr>
            <a:spLocks noGrp="1"/>
          </p:cNvSpPr>
          <p:nvPr/>
        </p:nvSpPr>
        <p:spPr>
          <a:xfrm>
            <a:off x="2000250" y="5010150"/>
            <a:ext cx="20002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− 1</a:t>
            </a:r>
          </a:p>
        </p:txBody>
      </p:sp>
      <p:cxnSp>
        <p:nvCxnSpPr>
          <p:cNvPr id="1009" name="arrow75">
            <a:extLst>
              <a:ext uri="{FF2B5EF4-FFF2-40B4-BE49-F238E27FC236}">
                <a16:creationId xmlns:a16="http://schemas.microsoft.com/office/drawing/2014/main" id="{846A7E76-0534-4C71-9201-6407F37DCF22}"/>
              </a:ext>
            </a:extLst>
          </p:cNvPr>
          <p:cNvCxnSpPr/>
          <p:nvPr/>
        </p:nvCxnSpPr>
        <p:spPr>
          <a:xfrm flipH="0" flipV="0">
            <a:off x="3000375" y="4705350"/>
            <a:ext cx="0" cy="3048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0" name="arrow76">
            <a:extLst>
              <a:ext uri="{FF2B5EF4-FFF2-40B4-BE49-F238E27FC236}">
                <a16:creationId xmlns:a16="http://schemas.microsoft.com/office/drawing/2014/main" id="{506BE5C3-060D-4FF8-A0B5-B8D34886F6A2}"/>
              </a:ext>
            </a:extLst>
          </p:cNvPr>
          <p:cNvCxnSpPr/>
          <p:nvPr/>
        </p:nvCxnSpPr>
        <p:spPr>
          <a:xfrm flipH="1" flipV="0">
            <a:off x="1190625" y="5219700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1" name="arrow77">
            <a:extLst>
              <a:ext uri="{FF2B5EF4-FFF2-40B4-BE49-F238E27FC236}">
                <a16:creationId xmlns:a16="http://schemas.microsoft.com/office/drawing/2014/main" id="{72C3A664-25B7-423D-8EBB-19322B9DF903}"/>
              </a:ext>
            </a:extLst>
          </p:cNvPr>
          <p:cNvCxnSpPr/>
          <p:nvPr/>
        </p:nvCxnSpPr>
        <p:spPr>
          <a:xfrm flipH="0" flipV="1">
            <a:off x="1190625" y="3462338"/>
            <a:ext cx="0" cy="1757363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2" name="arrow78">
            <a:extLst>
              <a:ext uri="{FF2B5EF4-FFF2-40B4-BE49-F238E27FC236}">
                <a16:creationId xmlns:a16="http://schemas.microsoft.com/office/drawing/2014/main" id="{A92CB1E1-0D92-44D7-B928-B11549AF73E5}"/>
              </a:ext>
            </a:extLst>
          </p:cNvPr>
          <p:cNvCxnSpPr/>
          <p:nvPr/>
        </p:nvCxnSpPr>
        <p:spPr>
          <a:xfrm flipH="0" flipV="0">
            <a:off x="1190625" y="3462338"/>
            <a:ext cx="571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3" name="arrow79">
            <a:extLst>
              <a:ext uri="{FF2B5EF4-FFF2-40B4-BE49-F238E27FC236}">
                <a16:creationId xmlns:a16="http://schemas.microsoft.com/office/drawing/2014/main" id="{B065B98C-4116-47D6-A4FE-AE5BBF86B217}"/>
              </a:ext>
            </a:extLst>
          </p:cNvPr>
          <p:cNvCxnSpPr/>
          <p:nvPr/>
        </p:nvCxnSpPr>
        <p:spPr>
          <a:xfrm flipH="0" flipV="0">
            <a:off x="4238625" y="3462338"/>
            <a:ext cx="123825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4" name="arrow80">
            <a:extLst>
              <a:ext uri="{FF2B5EF4-FFF2-40B4-BE49-F238E27FC236}">
                <a16:creationId xmlns:a16="http://schemas.microsoft.com/office/drawing/2014/main" id="{04E00B7E-8BA6-44EB-B5F2-67D67247CEF9}"/>
              </a:ext>
            </a:extLst>
          </p:cNvPr>
          <p:cNvCxnSpPr/>
          <p:nvPr/>
        </p:nvCxnSpPr>
        <p:spPr>
          <a:xfrm flipH="0" flipV="0">
            <a:off x="5476875" y="3462338"/>
            <a:ext cx="0" cy="823913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5" name="label81">
            <a:extLst>
              <a:ext uri="{FF2B5EF4-FFF2-40B4-BE49-F238E27FC236}">
                <a16:creationId xmlns:a16="http://schemas.microsoft.com/office/drawing/2014/main" id="{0885BDCB-C322-427E-9D3E-2D3ED6C2A42E}"/>
              </a:ext>
            </a:extLst>
          </p:cNvPr>
          <p:cNvSpPr>
            <a:spLocks noGrp="1"/>
          </p:cNvSpPr>
          <p:nvPr/>
        </p:nvSpPr>
        <p:spPr>
          <a:xfrm>
            <a:off x="4381500" y="31337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16" name="node82">
            <a:extLst>
              <a:ext uri="{FF2B5EF4-FFF2-40B4-BE49-F238E27FC236}">
                <a16:creationId xmlns:a16="http://schemas.microsoft.com/office/drawing/2014/main" id="{E498A73A-57E6-4E61-80AB-7B9B5C60FB4A}"/>
              </a:ext>
            </a:extLst>
          </p:cNvPr>
          <p:cNvSpPr>
            <a:spLocks noGrp="1"/>
          </p:cNvSpPr>
          <p:nvPr/>
        </p:nvSpPr>
        <p:spPr>
          <a:xfrm>
            <a:off x="4619625" y="4286250"/>
            <a:ext cx="171450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“Fim”</a:t>
            </a:r>
          </a:p>
        </p:txBody>
      </p:sp>
      <p:sp>
        <p:nvSpPr>
          <p:cNvPr id="1017" name="node83">
            <a:extLst>
              <a:ext uri="{FF2B5EF4-FFF2-40B4-BE49-F238E27FC236}">
                <a16:creationId xmlns:a16="http://schemas.microsoft.com/office/drawing/2014/main" id="{3AA17817-67DE-4349-86B8-D128DFC5BED5}"/>
              </a:ext>
            </a:extLst>
          </p:cNvPr>
          <p:cNvSpPr>
            <a:spLocks noGrp="1"/>
          </p:cNvSpPr>
          <p:nvPr/>
        </p:nvSpPr>
        <p:spPr>
          <a:xfrm>
            <a:off x="4781550" y="5286375"/>
            <a:ext cx="1400175" cy="41910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18" name="arrow84">
            <a:extLst>
              <a:ext uri="{FF2B5EF4-FFF2-40B4-BE49-F238E27FC236}">
                <a16:creationId xmlns:a16="http://schemas.microsoft.com/office/drawing/2014/main" id="{37966E74-86D9-4C1C-8644-42ED5888789C}"/>
              </a:ext>
            </a:extLst>
          </p:cNvPr>
          <p:cNvCxnSpPr/>
          <p:nvPr/>
        </p:nvCxnSpPr>
        <p:spPr>
          <a:xfrm flipH="0" flipV="0">
            <a:off x="5476875" y="4705350"/>
            <a:ext cx="0" cy="5810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 2: códigos de pedidos</a:t>
            </a:r>
          </a:p>
        </p:txBody>
      </p:sp>
      <p:sp>
        <p:nvSpPr>
          <p:cNvPr id="3" name="Fluxo 3"/>
          <p:cNvSpPr/>
          <p:nvPr/>
        </p:nvSpPr>
        <p:spPr>
          <a:xfrm>
            <a:off x="2300000" y="1600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4" name="Fluxo 4"/>
          <p:cNvSpPr/>
          <p:nvPr/>
        </p:nvSpPr>
        <p:spPr>
          <a:xfrm>
            <a:off x="2000000" y="232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código</a:t>
            </a:r>
          </a:p>
        </p:txBody>
      </p:sp>
      <p:sp>
        <p:nvSpPr>
          <p:cNvPr id="5" name="Decisão 5"/>
          <p:cNvSpPr/>
          <p:nvPr/>
        </p:nvSpPr>
        <p:spPr>
          <a:xfrm>
            <a:off x="1800000" y="3040000"/>
            <a:ext cx="2400000" cy="85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código ≠ 0 ?</a:t>
            </a:r>
          </a:p>
        </p:txBody>
      </p:sp>
      <p:sp>
        <p:nvSpPr>
          <p:cNvPr id="6" name="Fluxo 6"/>
          <p:cNvSpPr/>
          <p:nvPr/>
        </p:nvSpPr>
        <p:spPr>
          <a:xfrm>
            <a:off x="2000000" y="429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código</a:t>
            </a:r>
          </a:p>
        </p:txBody>
      </p:sp>
      <p:sp>
        <p:nvSpPr>
          <p:cNvPr id="7" name="Fluxo 7"/>
          <p:cNvSpPr/>
          <p:nvPr/>
        </p:nvSpPr>
        <p:spPr>
          <a:xfrm>
            <a:off x="2000000" y="501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código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3000000" y="2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9" name="Conector 9"/>
          <p:cNvCxnSpPr/>
          <p:nvPr/>
        </p:nvCxnSpPr>
        <p:spPr>
          <a:xfrm>
            <a:off x="3000000" y="27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0" name="Conector 10"/>
          <p:cNvCxnSpPr/>
          <p:nvPr/>
        </p:nvCxnSpPr>
        <p:spPr>
          <a:xfrm>
            <a:off x="3000000" y="389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1" name="Conector 11"/>
          <p:cNvCxnSpPr/>
          <p:nvPr/>
        </p:nvCxnSpPr>
        <p:spPr>
          <a:xfrm>
            <a:off x="3000000" y="471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2" name="Conector 12"/>
          <p:cNvCxnSpPr/>
          <p:nvPr/>
        </p:nvCxnSpPr>
        <p:spPr>
          <a:xfrm flipH="1">
            <a:off x="1350000" y="5220000"/>
            <a:ext cx="6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3" name="Conector 13"/>
          <p:cNvCxnSpPr/>
          <p:nvPr/>
        </p:nvCxnSpPr>
        <p:spPr>
          <a:xfrm flipV="1">
            <a:off x="1350000" y="3465000"/>
            <a:ext cx="0" cy="1755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>
            <a:off x="1350000" y="3465000"/>
            <a:ext cx="4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5" name="Conector 15"/>
          <p:cNvCxnSpPr/>
          <p:nvPr/>
        </p:nvCxnSpPr>
        <p:spPr>
          <a:xfrm>
            <a:off x="4200000" y="3465000"/>
            <a:ext cx="10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>
            <a:off x="5200000" y="3465000"/>
            <a:ext cx="0" cy="55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7" name="Fluxo 17"/>
          <p:cNvSpPr/>
          <p:nvPr/>
        </p:nvSpPr>
        <p:spPr>
          <a:xfrm>
            <a:off x="4500000" y="4015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18" name="Rótulo 18"/>
          <p:cNvSpPr txBox="1"/>
          <p:nvPr/>
        </p:nvSpPr>
        <p:spPr>
          <a:xfrm>
            <a:off x="3100000" y="392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9" name="Rótulo 19"/>
          <p:cNvSpPr txBox="1"/>
          <p:nvPr/>
        </p:nvSpPr>
        <p:spPr>
          <a:xfrm>
            <a:off x="4300000" y="3115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12: mostra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35: mostra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0: encerra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Primeira leitura antes da condição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Zero não aparece como pedido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Nova leitura em toda passagem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12  35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 3: total da compra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20: total = 20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15: total = 35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5: total = 40; 0: sai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Total começa em zero uma única vez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Preço zero encerra sem nova soma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saída do total fica após o ciclo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total = 40</a:t>
            </a:r>
          </a:p>
        </p:txBody>
      </p:sp>
      <p:sp>
        <p:nvSpPr>
          <p:cNvPr id="1000" name="node85">
            <a:extLst>
              <a:ext uri="{FF2B5EF4-FFF2-40B4-BE49-F238E27FC236}">
                <a16:creationId xmlns:a16="http://schemas.microsoft.com/office/drawing/2014/main" id="{BB656EDC-CBCB-4BD5-BD40-38FDAB344EA0}"/>
              </a:ext>
            </a:extLst>
          </p:cNvPr>
          <p:cNvSpPr>
            <a:spLocks noGrp="1"/>
          </p:cNvSpPr>
          <p:nvPr/>
        </p:nvSpPr>
        <p:spPr>
          <a:xfrm>
            <a:off x="2295525" y="1571625"/>
            <a:ext cx="1400175" cy="3238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86">
            <a:extLst>
              <a:ext uri="{FF2B5EF4-FFF2-40B4-BE49-F238E27FC236}">
                <a16:creationId xmlns:a16="http://schemas.microsoft.com/office/drawing/2014/main" id="{22538259-15CC-4436-B654-C7D3869AFA96}"/>
              </a:ext>
            </a:extLst>
          </p:cNvPr>
          <p:cNvSpPr>
            <a:spLocks noGrp="1"/>
          </p:cNvSpPr>
          <p:nvPr/>
        </p:nvSpPr>
        <p:spPr>
          <a:xfrm>
            <a:off x="2000250" y="2105025"/>
            <a:ext cx="2000250" cy="361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total ← 0</a:t>
            </a:r>
          </a:p>
        </p:txBody>
      </p:sp>
      <p:cxnSp>
        <p:nvCxnSpPr>
          <p:cNvPr id="1002" name="arrow87">
            <a:extLst>
              <a:ext uri="{FF2B5EF4-FFF2-40B4-BE49-F238E27FC236}">
                <a16:creationId xmlns:a16="http://schemas.microsoft.com/office/drawing/2014/main" id="{C03470FB-44A8-4C82-A22D-558AED164A3F}"/>
              </a:ext>
            </a:extLst>
          </p:cNvPr>
          <p:cNvCxnSpPr/>
          <p:nvPr/>
        </p:nvCxnSpPr>
        <p:spPr>
          <a:xfrm flipH="0" flipV="0">
            <a:off x="3000375" y="1895475"/>
            <a:ext cx="0" cy="2095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88">
            <a:extLst>
              <a:ext uri="{FF2B5EF4-FFF2-40B4-BE49-F238E27FC236}">
                <a16:creationId xmlns:a16="http://schemas.microsoft.com/office/drawing/2014/main" id="{047CBBB9-D64C-4A0A-8A07-5BC3A45DD11D}"/>
              </a:ext>
            </a:extLst>
          </p:cNvPr>
          <p:cNvSpPr>
            <a:spLocks noGrp="1"/>
          </p:cNvSpPr>
          <p:nvPr/>
        </p:nvSpPr>
        <p:spPr>
          <a:xfrm>
            <a:off x="2000250" y="27051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preço</a:t>
            </a:r>
          </a:p>
        </p:txBody>
      </p:sp>
      <p:cxnSp>
        <p:nvCxnSpPr>
          <p:cNvPr id="1004" name="arrow89">
            <a:extLst>
              <a:ext uri="{FF2B5EF4-FFF2-40B4-BE49-F238E27FC236}">
                <a16:creationId xmlns:a16="http://schemas.microsoft.com/office/drawing/2014/main" id="{B9AA3A57-552E-462E-9AF5-BDC6F6AAA303}"/>
              </a:ext>
            </a:extLst>
          </p:cNvPr>
          <p:cNvCxnSpPr/>
          <p:nvPr/>
        </p:nvCxnSpPr>
        <p:spPr>
          <a:xfrm flipH="0" flipV="0">
            <a:off x="3000375" y="2466975"/>
            <a:ext cx="0" cy="2381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90">
            <a:extLst>
              <a:ext uri="{FF2B5EF4-FFF2-40B4-BE49-F238E27FC236}">
                <a16:creationId xmlns:a16="http://schemas.microsoft.com/office/drawing/2014/main" id="{EB46E2ED-B918-416F-9976-9FB65774E77A}"/>
              </a:ext>
            </a:extLst>
          </p:cNvPr>
          <p:cNvSpPr>
            <a:spLocks noGrp="1"/>
          </p:cNvSpPr>
          <p:nvPr/>
        </p:nvSpPr>
        <p:spPr>
          <a:xfrm>
            <a:off x="1762125" y="3352800"/>
            <a:ext cx="2476500" cy="6858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preço ≠ 0 ?</a:t>
            </a:r>
          </a:p>
        </p:txBody>
      </p:sp>
      <p:cxnSp>
        <p:nvCxnSpPr>
          <p:cNvPr id="1006" name="arrow91">
            <a:extLst>
              <a:ext uri="{FF2B5EF4-FFF2-40B4-BE49-F238E27FC236}">
                <a16:creationId xmlns:a16="http://schemas.microsoft.com/office/drawing/2014/main" id="{7809DAE8-B6FA-4CBA-B761-E54215544BA2}"/>
              </a:ext>
            </a:extLst>
          </p:cNvPr>
          <p:cNvCxnSpPr/>
          <p:nvPr/>
        </p:nvCxnSpPr>
        <p:spPr>
          <a:xfrm flipH="0" flipV="0">
            <a:off x="3000375" y="3067050"/>
            <a:ext cx="0" cy="2857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92">
            <a:extLst>
              <a:ext uri="{FF2B5EF4-FFF2-40B4-BE49-F238E27FC236}">
                <a16:creationId xmlns:a16="http://schemas.microsoft.com/office/drawing/2014/main" id="{749E9785-41AF-42C8-9993-BCFF14F2536F}"/>
              </a:ext>
            </a:extLst>
          </p:cNvPr>
          <p:cNvSpPr>
            <a:spLocks noGrp="1"/>
          </p:cNvSpPr>
          <p:nvPr/>
        </p:nvSpPr>
        <p:spPr>
          <a:xfrm>
            <a:off x="3124200" y="40957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08" name="node93">
            <a:extLst>
              <a:ext uri="{FF2B5EF4-FFF2-40B4-BE49-F238E27FC236}">
                <a16:creationId xmlns:a16="http://schemas.microsoft.com/office/drawing/2014/main" id="{AA09CD35-FE46-4531-97F8-C59961CD5591}"/>
              </a:ext>
            </a:extLst>
          </p:cNvPr>
          <p:cNvSpPr>
            <a:spLocks noGrp="1"/>
          </p:cNvSpPr>
          <p:nvPr/>
        </p:nvSpPr>
        <p:spPr>
          <a:xfrm>
            <a:off x="1714500" y="4514850"/>
            <a:ext cx="25717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total ← total + preço</a:t>
            </a:r>
          </a:p>
        </p:txBody>
      </p:sp>
      <p:cxnSp>
        <p:nvCxnSpPr>
          <p:cNvPr id="1009" name="arrow94">
            <a:extLst>
              <a:ext uri="{FF2B5EF4-FFF2-40B4-BE49-F238E27FC236}">
                <a16:creationId xmlns:a16="http://schemas.microsoft.com/office/drawing/2014/main" id="{EDCF90FE-64C6-4764-A033-325EA3E702FF}"/>
              </a:ext>
            </a:extLst>
          </p:cNvPr>
          <p:cNvCxnSpPr/>
          <p:nvPr/>
        </p:nvCxnSpPr>
        <p:spPr>
          <a:xfrm flipH="0" flipV="0">
            <a:off x="3000375" y="4038600"/>
            <a:ext cx="0" cy="4762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0" name="node95">
            <a:extLst>
              <a:ext uri="{FF2B5EF4-FFF2-40B4-BE49-F238E27FC236}">
                <a16:creationId xmlns:a16="http://schemas.microsoft.com/office/drawing/2014/main" id="{9FF2DD5D-A91A-4783-831C-CED8E167DAD9}"/>
              </a:ext>
            </a:extLst>
          </p:cNvPr>
          <p:cNvSpPr>
            <a:spLocks noGrp="1"/>
          </p:cNvSpPr>
          <p:nvPr/>
        </p:nvSpPr>
        <p:spPr>
          <a:xfrm>
            <a:off x="2000250" y="52959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preço</a:t>
            </a:r>
          </a:p>
        </p:txBody>
      </p:sp>
      <p:cxnSp>
        <p:nvCxnSpPr>
          <p:cNvPr id="1011" name="arrow96">
            <a:extLst>
              <a:ext uri="{FF2B5EF4-FFF2-40B4-BE49-F238E27FC236}">
                <a16:creationId xmlns:a16="http://schemas.microsoft.com/office/drawing/2014/main" id="{A547381C-8521-4B72-ADB5-299D568783D7}"/>
              </a:ext>
            </a:extLst>
          </p:cNvPr>
          <p:cNvCxnSpPr/>
          <p:nvPr/>
        </p:nvCxnSpPr>
        <p:spPr>
          <a:xfrm flipH="0" flipV="0">
            <a:off x="3000375" y="4933950"/>
            <a:ext cx="0" cy="3619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2" name="arrow97">
            <a:extLst>
              <a:ext uri="{FF2B5EF4-FFF2-40B4-BE49-F238E27FC236}">
                <a16:creationId xmlns:a16="http://schemas.microsoft.com/office/drawing/2014/main" id="{84F0D885-A1BD-474F-8F93-6549A1D86CDE}"/>
              </a:ext>
            </a:extLst>
          </p:cNvPr>
          <p:cNvCxnSpPr/>
          <p:nvPr/>
        </p:nvCxnSpPr>
        <p:spPr>
          <a:xfrm flipH="1" flipV="0">
            <a:off x="1190625" y="5476875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3" name="arrow98">
            <a:extLst>
              <a:ext uri="{FF2B5EF4-FFF2-40B4-BE49-F238E27FC236}">
                <a16:creationId xmlns:a16="http://schemas.microsoft.com/office/drawing/2014/main" id="{C44D72A0-C483-4697-B5BD-12812F068C2F}"/>
              </a:ext>
            </a:extLst>
          </p:cNvPr>
          <p:cNvCxnSpPr/>
          <p:nvPr/>
        </p:nvCxnSpPr>
        <p:spPr>
          <a:xfrm flipH="0" flipV="1">
            <a:off x="1190625" y="3695700"/>
            <a:ext cx="0" cy="17811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4" name="arrow99">
            <a:extLst>
              <a:ext uri="{FF2B5EF4-FFF2-40B4-BE49-F238E27FC236}">
                <a16:creationId xmlns:a16="http://schemas.microsoft.com/office/drawing/2014/main" id="{DF561766-8725-4E96-A208-AB2B2E1A1776}"/>
              </a:ext>
            </a:extLst>
          </p:cNvPr>
          <p:cNvCxnSpPr/>
          <p:nvPr/>
        </p:nvCxnSpPr>
        <p:spPr>
          <a:xfrm flipH="0" flipV="0">
            <a:off x="1190625" y="3695700"/>
            <a:ext cx="571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5" name="arrow100">
            <a:extLst>
              <a:ext uri="{FF2B5EF4-FFF2-40B4-BE49-F238E27FC236}">
                <a16:creationId xmlns:a16="http://schemas.microsoft.com/office/drawing/2014/main" id="{8DD1BC75-CCDE-4087-8EEF-B5BF979DE21E}"/>
              </a:ext>
            </a:extLst>
          </p:cNvPr>
          <p:cNvCxnSpPr/>
          <p:nvPr/>
        </p:nvCxnSpPr>
        <p:spPr>
          <a:xfrm flipH="0" flipV="0">
            <a:off x="4238625" y="3695700"/>
            <a:ext cx="123825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6" name="arrow101">
            <a:extLst>
              <a:ext uri="{FF2B5EF4-FFF2-40B4-BE49-F238E27FC236}">
                <a16:creationId xmlns:a16="http://schemas.microsoft.com/office/drawing/2014/main" id="{03AE35ED-C855-4853-ACEA-6640FD5582F0}"/>
              </a:ext>
            </a:extLst>
          </p:cNvPr>
          <p:cNvCxnSpPr/>
          <p:nvPr/>
        </p:nvCxnSpPr>
        <p:spPr>
          <a:xfrm flipH="0" flipV="0">
            <a:off x="5476875" y="3695700"/>
            <a:ext cx="0" cy="8763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7" name="label102">
            <a:extLst>
              <a:ext uri="{FF2B5EF4-FFF2-40B4-BE49-F238E27FC236}">
                <a16:creationId xmlns:a16="http://schemas.microsoft.com/office/drawing/2014/main" id="{609CC015-C6B5-4664-8E8E-42CF2E7E3681}"/>
              </a:ext>
            </a:extLst>
          </p:cNvPr>
          <p:cNvSpPr>
            <a:spLocks noGrp="1"/>
          </p:cNvSpPr>
          <p:nvPr/>
        </p:nvSpPr>
        <p:spPr>
          <a:xfrm>
            <a:off x="4429125" y="33337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18" name="node103">
            <a:extLst>
              <a:ext uri="{FF2B5EF4-FFF2-40B4-BE49-F238E27FC236}">
                <a16:creationId xmlns:a16="http://schemas.microsoft.com/office/drawing/2014/main" id="{568868F8-0D9F-4FC9-A7E2-6DFD24B98DB9}"/>
              </a:ext>
            </a:extLst>
          </p:cNvPr>
          <p:cNvSpPr>
            <a:spLocks noGrp="1"/>
          </p:cNvSpPr>
          <p:nvPr/>
        </p:nvSpPr>
        <p:spPr>
          <a:xfrm>
            <a:off x="4619625" y="4572000"/>
            <a:ext cx="171450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total</a:t>
            </a:r>
          </a:p>
        </p:txBody>
      </p:sp>
      <p:sp>
        <p:nvSpPr>
          <p:cNvPr id="1019" name="node104">
            <a:extLst>
              <a:ext uri="{FF2B5EF4-FFF2-40B4-BE49-F238E27FC236}">
                <a16:creationId xmlns:a16="http://schemas.microsoft.com/office/drawing/2014/main" id="{F70A94E4-5C77-4061-B687-FCB554FCCEC1}"/>
              </a:ext>
            </a:extLst>
          </p:cNvPr>
          <p:cNvSpPr>
            <a:spLocks noGrp="1"/>
          </p:cNvSpPr>
          <p:nvPr/>
        </p:nvSpPr>
        <p:spPr>
          <a:xfrm>
            <a:off x="4781550" y="5476875"/>
            <a:ext cx="1400175" cy="3619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20" name="arrow105">
            <a:extLst>
              <a:ext uri="{FF2B5EF4-FFF2-40B4-BE49-F238E27FC236}">
                <a16:creationId xmlns:a16="http://schemas.microsoft.com/office/drawing/2014/main" id="{0D28EA94-B4FD-4274-A62F-DA79D7BCEC98}"/>
              </a:ext>
            </a:extLst>
          </p:cNvPr>
          <p:cNvCxnSpPr/>
          <p:nvPr/>
        </p:nvCxnSpPr>
        <p:spPr>
          <a:xfrm flipH="0" flipV="0">
            <a:off x="5476875" y="4991100"/>
            <a:ext cx="0" cy="4857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 4: idade válida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−5: lê novamente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125: lê novamente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18: aceita e sai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 de repetição: idade inválida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Inválida = fora de 0 a 120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0 e 120 são valores aceitos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idade = 18</a:t>
            </a:r>
          </a:p>
        </p:txBody>
      </p:sp>
      <p:sp>
        <p:nvSpPr>
          <p:cNvPr id="1000" name="node106">
            <a:extLst>
              <a:ext uri="{FF2B5EF4-FFF2-40B4-BE49-F238E27FC236}">
                <a16:creationId xmlns:a16="http://schemas.microsoft.com/office/drawing/2014/main" id="{FC5070E5-D2A4-4FD2-812F-C51BBF579A04}"/>
              </a:ext>
            </a:extLst>
          </p:cNvPr>
          <p:cNvSpPr>
            <a:spLocks noGrp="1"/>
          </p:cNvSpPr>
          <p:nvPr/>
        </p:nvSpPr>
        <p:spPr>
          <a:xfrm>
            <a:off x="2295525" y="1619250"/>
            <a:ext cx="1400175" cy="4000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107">
            <a:extLst>
              <a:ext uri="{FF2B5EF4-FFF2-40B4-BE49-F238E27FC236}">
                <a16:creationId xmlns:a16="http://schemas.microsoft.com/office/drawing/2014/main" id="{937C4031-62B1-40A3-9847-B026028CD3B9}"/>
              </a:ext>
            </a:extLst>
          </p:cNvPr>
          <p:cNvSpPr>
            <a:spLocks noGrp="1"/>
          </p:cNvSpPr>
          <p:nvPr/>
        </p:nvSpPr>
        <p:spPr>
          <a:xfrm>
            <a:off x="2000250" y="2333625"/>
            <a:ext cx="200025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idade</a:t>
            </a:r>
          </a:p>
        </p:txBody>
      </p:sp>
      <p:cxnSp>
        <p:nvCxnSpPr>
          <p:cNvPr id="1002" name="arrow108">
            <a:extLst>
              <a:ext uri="{FF2B5EF4-FFF2-40B4-BE49-F238E27FC236}">
                <a16:creationId xmlns:a16="http://schemas.microsoft.com/office/drawing/2014/main" id="{0B42CA19-F813-447C-A9B0-420600811AB3}"/>
              </a:ext>
            </a:extLst>
          </p:cNvPr>
          <p:cNvCxnSpPr/>
          <p:nvPr/>
        </p:nvCxnSpPr>
        <p:spPr>
          <a:xfrm flipH="0" flipV="0">
            <a:off x="3000375" y="2019300"/>
            <a:ext cx="0" cy="3143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109">
            <a:extLst>
              <a:ext uri="{FF2B5EF4-FFF2-40B4-BE49-F238E27FC236}">
                <a16:creationId xmlns:a16="http://schemas.microsoft.com/office/drawing/2014/main" id="{E4638D21-8253-40D3-99BC-5C1EEFE210DA}"/>
              </a:ext>
            </a:extLst>
          </p:cNvPr>
          <p:cNvSpPr>
            <a:spLocks noGrp="1"/>
          </p:cNvSpPr>
          <p:nvPr/>
        </p:nvSpPr>
        <p:spPr>
          <a:xfrm>
            <a:off x="1571625" y="3190875"/>
            <a:ext cx="2857500" cy="8572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idade &lt; 0 OU</a:t>
            </a:r>
          </a:p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idade &gt; 120 ?</a:t>
            </a:r>
          </a:p>
        </p:txBody>
      </p:sp>
      <p:cxnSp>
        <p:nvCxnSpPr>
          <p:cNvPr id="1004" name="arrow110">
            <a:extLst>
              <a:ext uri="{FF2B5EF4-FFF2-40B4-BE49-F238E27FC236}">
                <a16:creationId xmlns:a16="http://schemas.microsoft.com/office/drawing/2014/main" id="{DB6BFB6A-CF96-494B-8239-558D330FF1AF}"/>
              </a:ext>
            </a:extLst>
          </p:cNvPr>
          <p:cNvCxnSpPr/>
          <p:nvPr/>
        </p:nvCxnSpPr>
        <p:spPr>
          <a:xfrm flipH="0" flipV="0">
            <a:off x="3000375" y="2752725"/>
            <a:ext cx="0" cy="4381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111">
            <a:extLst>
              <a:ext uri="{FF2B5EF4-FFF2-40B4-BE49-F238E27FC236}">
                <a16:creationId xmlns:a16="http://schemas.microsoft.com/office/drawing/2014/main" id="{7C673254-05FB-4D04-B3E2-E7592F20A287}"/>
              </a:ext>
            </a:extLst>
          </p:cNvPr>
          <p:cNvSpPr>
            <a:spLocks noGrp="1"/>
          </p:cNvSpPr>
          <p:nvPr/>
        </p:nvSpPr>
        <p:spPr>
          <a:xfrm>
            <a:off x="2000250" y="4572000"/>
            <a:ext cx="200025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idade</a:t>
            </a:r>
          </a:p>
        </p:txBody>
      </p:sp>
      <p:cxnSp>
        <p:nvCxnSpPr>
          <p:cNvPr id="1006" name="arrow112">
            <a:extLst>
              <a:ext uri="{FF2B5EF4-FFF2-40B4-BE49-F238E27FC236}">
                <a16:creationId xmlns:a16="http://schemas.microsoft.com/office/drawing/2014/main" id="{183922CC-4A7C-4990-8329-4EA8D2BA378C}"/>
              </a:ext>
            </a:extLst>
          </p:cNvPr>
          <p:cNvCxnSpPr/>
          <p:nvPr/>
        </p:nvCxnSpPr>
        <p:spPr>
          <a:xfrm flipH="0" flipV="0">
            <a:off x="3000375" y="4048125"/>
            <a:ext cx="0" cy="5238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113">
            <a:extLst>
              <a:ext uri="{FF2B5EF4-FFF2-40B4-BE49-F238E27FC236}">
                <a16:creationId xmlns:a16="http://schemas.microsoft.com/office/drawing/2014/main" id="{4BE45AF0-92BB-450B-B19C-76B8F1739B94}"/>
              </a:ext>
            </a:extLst>
          </p:cNvPr>
          <p:cNvSpPr>
            <a:spLocks noGrp="1"/>
          </p:cNvSpPr>
          <p:nvPr/>
        </p:nvSpPr>
        <p:spPr>
          <a:xfrm>
            <a:off x="3124200" y="415290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cxnSp>
        <p:nvCxnSpPr>
          <p:cNvPr id="1008" name="arrow114">
            <a:extLst>
              <a:ext uri="{FF2B5EF4-FFF2-40B4-BE49-F238E27FC236}">
                <a16:creationId xmlns:a16="http://schemas.microsoft.com/office/drawing/2014/main" id="{395F331A-B2F1-4A24-814A-75E561600BBA}"/>
              </a:ext>
            </a:extLst>
          </p:cNvPr>
          <p:cNvCxnSpPr/>
          <p:nvPr/>
        </p:nvCxnSpPr>
        <p:spPr>
          <a:xfrm flipH="1" flipV="0">
            <a:off x="1190625" y="4781550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09" name="arrow115">
            <a:extLst>
              <a:ext uri="{FF2B5EF4-FFF2-40B4-BE49-F238E27FC236}">
                <a16:creationId xmlns:a16="http://schemas.microsoft.com/office/drawing/2014/main" id="{4C6C7351-8107-4DFF-8888-975A43BC57F6}"/>
              </a:ext>
            </a:extLst>
          </p:cNvPr>
          <p:cNvCxnSpPr/>
          <p:nvPr/>
        </p:nvCxnSpPr>
        <p:spPr>
          <a:xfrm flipH="0" flipV="1">
            <a:off x="1190625" y="3619500"/>
            <a:ext cx="0" cy="11620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0" name="arrow116">
            <a:extLst>
              <a:ext uri="{FF2B5EF4-FFF2-40B4-BE49-F238E27FC236}">
                <a16:creationId xmlns:a16="http://schemas.microsoft.com/office/drawing/2014/main" id="{ED018CFE-A614-403C-B731-CF355972315A}"/>
              </a:ext>
            </a:extLst>
          </p:cNvPr>
          <p:cNvCxnSpPr/>
          <p:nvPr/>
        </p:nvCxnSpPr>
        <p:spPr>
          <a:xfrm flipH="0" flipV="0">
            <a:off x="1190625" y="3619500"/>
            <a:ext cx="3810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1" name="arrow117">
            <a:extLst>
              <a:ext uri="{FF2B5EF4-FFF2-40B4-BE49-F238E27FC236}">
                <a16:creationId xmlns:a16="http://schemas.microsoft.com/office/drawing/2014/main" id="{0D4FB538-E89C-4590-8661-F9969068E9B4}"/>
              </a:ext>
            </a:extLst>
          </p:cNvPr>
          <p:cNvCxnSpPr/>
          <p:nvPr/>
        </p:nvCxnSpPr>
        <p:spPr>
          <a:xfrm flipH="0" flipV="0">
            <a:off x="4429125" y="3619500"/>
            <a:ext cx="952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2" name="arrow118">
            <a:extLst>
              <a:ext uri="{FF2B5EF4-FFF2-40B4-BE49-F238E27FC236}">
                <a16:creationId xmlns:a16="http://schemas.microsoft.com/office/drawing/2014/main" id="{61249199-69B6-45C9-BDAE-651983A1C0BA}"/>
              </a:ext>
            </a:extLst>
          </p:cNvPr>
          <p:cNvCxnSpPr/>
          <p:nvPr/>
        </p:nvCxnSpPr>
        <p:spPr>
          <a:xfrm flipH="0" flipV="0">
            <a:off x="5381625" y="3619500"/>
            <a:ext cx="0" cy="9525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3" name="label119">
            <a:extLst>
              <a:ext uri="{FF2B5EF4-FFF2-40B4-BE49-F238E27FC236}">
                <a16:creationId xmlns:a16="http://schemas.microsoft.com/office/drawing/2014/main" id="{14BBCE25-84CF-40CF-B898-A72CD73C1FD1}"/>
              </a:ext>
            </a:extLst>
          </p:cNvPr>
          <p:cNvSpPr>
            <a:spLocks noGrp="1"/>
          </p:cNvSpPr>
          <p:nvPr/>
        </p:nvSpPr>
        <p:spPr>
          <a:xfrm>
            <a:off x="4524375" y="32861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14" name="node120">
            <a:extLst>
              <a:ext uri="{FF2B5EF4-FFF2-40B4-BE49-F238E27FC236}">
                <a16:creationId xmlns:a16="http://schemas.microsoft.com/office/drawing/2014/main" id="{F97F861F-6F34-4265-A7CC-7CD5C224707B}"/>
              </a:ext>
            </a:extLst>
          </p:cNvPr>
          <p:cNvSpPr>
            <a:spLocks noGrp="1"/>
          </p:cNvSpPr>
          <p:nvPr/>
        </p:nvSpPr>
        <p:spPr>
          <a:xfrm>
            <a:off x="4619625" y="4572000"/>
            <a:ext cx="152400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idade</a:t>
            </a:r>
          </a:p>
        </p:txBody>
      </p:sp>
      <p:sp>
        <p:nvSpPr>
          <p:cNvPr id="1015" name="node121">
            <a:extLst>
              <a:ext uri="{FF2B5EF4-FFF2-40B4-BE49-F238E27FC236}">
                <a16:creationId xmlns:a16="http://schemas.microsoft.com/office/drawing/2014/main" id="{67E4A67C-1CC4-4707-9394-5A59D1980799}"/>
              </a:ext>
            </a:extLst>
          </p:cNvPr>
          <p:cNvSpPr>
            <a:spLocks noGrp="1"/>
          </p:cNvSpPr>
          <p:nvPr/>
        </p:nvSpPr>
        <p:spPr>
          <a:xfrm>
            <a:off x="4686300" y="5429250"/>
            <a:ext cx="1400175" cy="4000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16" name="arrow122">
            <a:extLst>
              <a:ext uri="{FF2B5EF4-FFF2-40B4-BE49-F238E27FC236}">
                <a16:creationId xmlns:a16="http://schemas.microsoft.com/office/drawing/2014/main" id="{0915D036-367D-4760-8772-4C3A71729508}"/>
              </a:ext>
            </a:extLst>
          </p:cNvPr>
          <p:cNvCxnSpPr/>
          <p:nvPr/>
        </p:nvCxnSpPr>
        <p:spPr>
          <a:xfrm flipH="0" flipV="0">
            <a:off x="5381625" y="4991100"/>
            <a:ext cx="0" cy="4381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 5: contador de aprovados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8, 7 e 9: contam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5 e 3: não contam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−1: encerra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Aprovados começa em zero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teste externo exclui a nota −1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nova leitura acontece nos dois caminhos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3 aprovados</a:t>
            </a:r>
          </a:p>
        </p:txBody>
      </p:sp>
      <p:sp>
        <p:nvSpPr>
          <p:cNvPr id="1000" name="node123">
            <a:extLst>
              <a:ext uri="{FF2B5EF4-FFF2-40B4-BE49-F238E27FC236}">
                <a16:creationId xmlns:a16="http://schemas.microsoft.com/office/drawing/2014/main" id="{908297FF-958B-4C36-8AF8-F5F5A2249B7A}"/>
              </a:ext>
            </a:extLst>
          </p:cNvPr>
          <p:cNvSpPr>
            <a:spLocks noGrp="1"/>
          </p:cNvSpPr>
          <p:nvPr/>
        </p:nvSpPr>
        <p:spPr>
          <a:xfrm>
            <a:off x="2295525" y="1524000"/>
            <a:ext cx="1400175" cy="3238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124">
            <a:extLst>
              <a:ext uri="{FF2B5EF4-FFF2-40B4-BE49-F238E27FC236}">
                <a16:creationId xmlns:a16="http://schemas.microsoft.com/office/drawing/2014/main" id="{CB94068E-0707-4D7E-B6B8-4C89DE25D47C}"/>
              </a:ext>
            </a:extLst>
          </p:cNvPr>
          <p:cNvSpPr>
            <a:spLocks noGrp="1"/>
          </p:cNvSpPr>
          <p:nvPr/>
        </p:nvSpPr>
        <p:spPr>
          <a:xfrm>
            <a:off x="2000250" y="2057400"/>
            <a:ext cx="2000250" cy="361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← 0</a:t>
            </a:r>
          </a:p>
        </p:txBody>
      </p:sp>
      <p:cxnSp>
        <p:nvCxnSpPr>
          <p:cNvPr id="1002" name="arrow125">
            <a:extLst>
              <a:ext uri="{FF2B5EF4-FFF2-40B4-BE49-F238E27FC236}">
                <a16:creationId xmlns:a16="http://schemas.microsoft.com/office/drawing/2014/main" id="{49EE986E-844C-4495-803D-FE0E02067BD6}"/>
              </a:ext>
            </a:extLst>
          </p:cNvPr>
          <p:cNvCxnSpPr/>
          <p:nvPr/>
        </p:nvCxnSpPr>
        <p:spPr>
          <a:xfrm flipH="0" flipV="0">
            <a:off x="3000375" y="1847850"/>
            <a:ext cx="0" cy="2095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126">
            <a:extLst>
              <a:ext uri="{FF2B5EF4-FFF2-40B4-BE49-F238E27FC236}">
                <a16:creationId xmlns:a16="http://schemas.microsoft.com/office/drawing/2014/main" id="{E0D9CF89-8608-415B-8859-6C60FDE331E8}"/>
              </a:ext>
            </a:extLst>
          </p:cNvPr>
          <p:cNvSpPr>
            <a:spLocks noGrp="1"/>
          </p:cNvSpPr>
          <p:nvPr/>
        </p:nvSpPr>
        <p:spPr>
          <a:xfrm>
            <a:off x="2000250" y="264795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nota</a:t>
            </a:r>
          </a:p>
        </p:txBody>
      </p:sp>
      <p:cxnSp>
        <p:nvCxnSpPr>
          <p:cNvPr id="1004" name="arrow127">
            <a:extLst>
              <a:ext uri="{FF2B5EF4-FFF2-40B4-BE49-F238E27FC236}">
                <a16:creationId xmlns:a16="http://schemas.microsoft.com/office/drawing/2014/main" id="{BAC7484C-4860-4F91-932D-E87817CEF01B}"/>
              </a:ext>
            </a:extLst>
          </p:cNvPr>
          <p:cNvCxnSpPr/>
          <p:nvPr/>
        </p:nvCxnSpPr>
        <p:spPr>
          <a:xfrm flipH="0" flipV="0">
            <a:off x="3000375" y="2419350"/>
            <a:ext cx="0" cy="2286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128">
            <a:extLst>
              <a:ext uri="{FF2B5EF4-FFF2-40B4-BE49-F238E27FC236}">
                <a16:creationId xmlns:a16="http://schemas.microsoft.com/office/drawing/2014/main" id="{A26D12D8-F04C-4BAE-9C54-0654B33ACF10}"/>
              </a:ext>
            </a:extLst>
          </p:cNvPr>
          <p:cNvSpPr>
            <a:spLocks noGrp="1"/>
          </p:cNvSpPr>
          <p:nvPr/>
        </p:nvSpPr>
        <p:spPr>
          <a:xfrm>
            <a:off x="1762125" y="3257550"/>
            <a:ext cx="2476500" cy="609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nota ≠ −1 ?</a:t>
            </a:r>
          </a:p>
        </p:txBody>
      </p:sp>
      <p:cxnSp>
        <p:nvCxnSpPr>
          <p:cNvPr id="1006" name="arrow129">
            <a:extLst>
              <a:ext uri="{FF2B5EF4-FFF2-40B4-BE49-F238E27FC236}">
                <a16:creationId xmlns:a16="http://schemas.microsoft.com/office/drawing/2014/main" id="{B8C56D08-8D20-47AE-92AF-9F211691D2DD}"/>
              </a:ext>
            </a:extLst>
          </p:cNvPr>
          <p:cNvCxnSpPr/>
          <p:nvPr/>
        </p:nvCxnSpPr>
        <p:spPr>
          <a:xfrm flipH="0" flipV="0">
            <a:off x="3000375" y="3009900"/>
            <a:ext cx="0" cy="2476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130">
            <a:extLst>
              <a:ext uri="{FF2B5EF4-FFF2-40B4-BE49-F238E27FC236}">
                <a16:creationId xmlns:a16="http://schemas.microsoft.com/office/drawing/2014/main" id="{9F537161-D886-442B-A3DD-34713E10B429}"/>
              </a:ext>
            </a:extLst>
          </p:cNvPr>
          <p:cNvSpPr>
            <a:spLocks noGrp="1"/>
          </p:cNvSpPr>
          <p:nvPr/>
        </p:nvSpPr>
        <p:spPr>
          <a:xfrm>
            <a:off x="3124200" y="39052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08" name="node131">
            <a:extLst>
              <a:ext uri="{FF2B5EF4-FFF2-40B4-BE49-F238E27FC236}">
                <a16:creationId xmlns:a16="http://schemas.microsoft.com/office/drawing/2014/main" id="{6B5DA4C2-6C98-49FD-9957-47FAA0F25A31}"/>
              </a:ext>
            </a:extLst>
          </p:cNvPr>
          <p:cNvSpPr>
            <a:spLocks noGrp="1"/>
          </p:cNvSpPr>
          <p:nvPr/>
        </p:nvSpPr>
        <p:spPr>
          <a:xfrm>
            <a:off x="1762125" y="4267200"/>
            <a:ext cx="2476500" cy="609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nota ≥ 7 ?</a:t>
            </a:r>
          </a:p>
        </p:txBody>
      </p:sp>
      <p:cxnSp>
        <p:nvCxnSpPr>
          <p:cNvPr id="1009" name="arrow132">
            <a:extLst>
              <a:ext uri="{FF2B5EF4-FFF2-40B4-BE49-F238E27FC236}">
                <a16:creationId xmlns:a16="http://schemas.microsoft.com/office/drawing/2014/main" id="{E9E1587D-D02B-4EA6-9B29-475A53087F33}"/>
              </a:ext>
            </a:extLst>
          </p:cNvPr>
          <p:cNvCxnSpPr/>
          <p:nvPr/>
        </p:nvCxnSpPr>
        <p:spPr>
          <a:xfrm flipH="0" flipV="0">
            <a:off x="3000375" y="3867150"/>
            <a:ext cx="0" cy="4000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0" name="label133">
            <a:extLst>
              <a:ext uri="{FF2B5EF4-FFF2-40B4-BE49-F238E27FC236}">
                <a16:creationId xmlns:a16="http://schemas.microsoft.com/office/drawing/2014/main" id="{E4F05E2B-C981-49C2-8D33-0E488FA333AA}"/>
              </a:ext>
            </a:extLst>
          </p:cNvPr>
          <p:cNvSpPr>
            <a:spLocks noGrp="1"/>
          </p:cNvSpPr>
          <p:nvPr/>
        </p:nvSpPr>
        <p:spPr>
          <a:xfrm>
            <a:off x="3095625" y="491490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11" name="node134">
            <a:extLst>
              <a:ext uri="{FF2B5EF4-FFF2-40B4-BE49-F238E27FC236}">
                <a16:creationId xmlns:a16="http://schemas.microsoft.com/office/drawing/2014/main" id="{E4EE8CBF-0D6C-433F-ACB6-6528853698AF}"/>
              </a:ext>
            </a:extLst>
          </p:cNvPr>
          <p:cNvSpPr>
            <a:spLocks noGrp="1"/>
          </p:cNvSpPr>
          <p:nvPr/>
        </p:nvSpPr>
        <p:spPr>
          <a:xfrm>
            <a:off x="2000250" y="5200650"/>
            <a:ext cx="20002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←</a:t>
            </a:r>
          </a:p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+ 1</a:t>
            </a:r>
          </a:p>
        </p:txBody>
      </p:sp>
      <p:cxnSp>
        <p:nvCxnSpPr>
          <p:cNvPr id="1012" name="arrow135">
            <a:extLst>
              <a:ext uri="{FF2B5EF4-FFF2-40B4-BE49-F238E27FC236}">
                <a16:creationId xmlns:a16="http://schemas.microsoft.com/office/drawing/2014/main" id="{88C8CE76-146B-47C2-8742-0D8B4739AAFC}"/>
              </a:ext>
            </a:extLst>
          </p:cNvPr>
          <p:cNvCxnSpPr/>
          <p:nvPr/>
        </p:nvCxnSpPr>
        <p:spPr>
          <a:xfrm flipH="0" flipV="0">
            <a:off x="3000375" y="487680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3" name="node136">
            <a:extLst>
              <a:ext uri="{FF2B5EF4-FFF2-40B4-BE49-F238E27FC236}">
                <a16:creationId xmlns:a16="http://schemas.microsoft.com/office/drawing/2014/main" id="{08588B11-E680-4FC9-9D9C-1C294966199A}"/>
              </a:ext>
            </a:extLst>
          </p:cNvPr>
          <p:cNvSpPr>
            <a:spLocks noGrp="1"/>
          </p:cNvSpPr>
          <p:nvPr/>
        </p:nvSpPr>
        <p:spPr>
          <a:xfrm>
            <a:off x="2000250" y="59436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nota</a:t>
            </a:r>
          </a:p>
        </p:txBody>
      </p:sp>
      <p:cxnSp>
        <p:nvCxnSpPr>
          <p:cNvPr id="1014" name="arrow137">
            <a:extLst>
              <a:ext uri="{FF2B5EF4-FFF2-40B4-BE49-F238E27FC236}">
                <a16:creationId xmlns:a16="http://schemas.microsoft.com/office/drawing/2014/main" id="{704ECF9E-A1E7-494A-A9E8-FCB0EB0A7CCD}"/>
              </a:ext>
            </a:extLst>
          </p:cNvPr>
          <p:cNvCxnSpPr/>
          <p:nvPr/>
        </p:nvCxnSpPr>
        <p:spPr>
          <a:xfrm flipH="0" flipV="0">
            <a:off x="3000375" y="561975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5" name="arrow138">
            <a:extLst>
              <a:ext uri="{FF2B5EF4-FFF2-40B4-BE49-F238E27FC236}">
                <a16:creationId xmlns:a16="http://schemas.microsoft.com/office/drawing/2014/main" id="{06AB80AD-B8E7-4694-870C-5F339D02FF9C}"/>
              </a:ext>
            </a:extLst>
          </p:cNvPr>
          <p:cNvCxnSpPr/>
          <p:nvPr/>
        </p:nvCxnSpPr>
        <p:spPr>
          <a:xfrm flipH="1" flipV="0">
            <a:off x="1190625" y="6124575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6" name="arrow139">
            <a:extLst>
              <a:ext uri="{FF2B5EF4-FFF2-40B4-BE49-F238E27FC236}">
                <a16:creationId xmlns:a16="http://schemas.microsoft.com/office/drawing/2014/main" id="{0AA3D255-E610-4B89-94C0-CBC1617BA043}"/>
              </a:ext>
            </a:extLst>
          </p:cNvPr>
          <p:cNvCxnSpPr/>
          <p:nvPr/>
        </p:nvCxnSpPr>
        <p:spPr>
          <a:xfrm flipH="0" flipV="1">
            <a:off x="1190625" y="3562350"/>
            <a:ext cx="0" cy="25622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7" name="arrow140">
            <a:extLst>
              <a:ext uri="{FF2B5EF4-FFF2-40B4-BE49-F238E27FC236}">
                <a16:creationId xmlns:a16="http://schemas.microsoft.com/office/drawing/2014/main" id="{27CE6B3F-D1BD-4841-ACE8-2CD7B4211ED3}"/>
              </a:ext>
            </a:extLst>
          </p:cNvPr>
          <p:cNvCxnSpPr/>
          <p:nvPr/>
        </p:nvCxnSpPr>
        <p:spPr>
          <a:xfrm flipH="0" flipV="0">
            <a:off x="1190625" y="3562350"/>
            <a:ext cx="571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8" name="arrow141">
            <a:extLst>
              <a:ext uri="{FF2B5EF4-FFF2-40B4-BE49-F238E27FC236}">
                <a16:creationId xmlns:a16="http://schemas.microsoft.com/office/drawing/2014/main" id="{B50D475C-4F0E-4AE3-85B6-A91C21830186}"/>
              </a:ext>
            </a:extLst>
          </p:cNvPr>
          <p:cNvCxnSpPr/>
          <p:nvPr/>
        </p:nvCxnSpPr>
        <p:spPr>
          <a:xfrm flipH="0" flipV="0">
            <a:off x="4238625" y="4572000"/>
            <a:ext cx="28575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9" name="arrow142">
            <a:extLst>
              <a:ext uri="{FF2B5EF4-FFF2-40B4-BE49-F238E27FC236}">
                <a16:creationId xmlns:a16="http://schemas.microsoft.com/office/drawing/2014/main" id="{2A93FB90-EFCC-41D5-9219-2D3E10219624}"/>
              </a:ext>
            </a:extLst>
          </p:cNvPr>
          <p:cNvCxnSpPr/>
          <p:nvPr/>
        </p:nvCxnSpPr>
        <p:spPr>
          <a:xfrm flipH="0" flipV="0">
            <a:off x="4524375" y="4572000"/>
            <a:ext cx="0" cy="15525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0" name="arrow143">
            <a:extLst>
              <a:ext uri="{FF2B5EF4-FFF2-40B4-BE49-F238E27FC236}">
                <a16:creationId xmlns:a16="http://schemas.microsoft.com/office/drawing/2014/main" id="{D641711A-D0B2-481A-A40B-9503F6208F2F}"/>
              </a:ext>
            </a:extLst>
          </p:cNvPr>
          <p:cNvCxnSpPr/>
          <p:nvPr/>
        </p:nvCxnSpPr>
        <p:spPr>
          <a:xfrm flipH="1" flipV="0">
            <a:off x="4000500" y="6124575"/>
            <a:ext cx="52387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21" name="label144">
            <a:extLst>
              <a:ext uri="{FF2B5EF4-FFF2-40B4-BE49-F238E27FC236}">
                <a16:creationId xmlns:a16="http://schemas.microsoft.com/office/drawing/2014/main" id="{972E7973-C3CB-4FC4-BB12-5F102A1A018B}"/>
              </a:ext>
            </a:extLst>
          </p:cNvPr>
          <p:cNvSpPr>
            <a:spLocks noGrp="1"/>
          </p:cNvSpPr>
          <p:nvPr/>
        </p:nvSpPr>
        <p:spPr>
          <a:xfrm>
            <a:off x="4286250" y="42386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cxnSp>
        <p:nvCxnSpPr>
          <p:cNvPr id="1022" name="arrow145">
            <a:extLst>
              <a:ext uri="{FF2B5EF4-FFF2-40B4-BE49-F238E27FC236}">
                <a16:creationId xmlns:a16="http://schemas.microsoft.com/office/drawing/2014/main" id="{9F899832-CBC8-4211-BC72-2024D7D8DEDC}"/>
              </a:ext>
            </a:extLst>
          </p:cNvPr>
          <p:cNvCxnSpPr/>
          <p:nvPr/>
        </p:nvCxnSpPr>
        <p:spPr>
          <a:xfrm flipH="0" flipV="0">
            <a:off x="4238625" y="3562350"/>
            <a:ext cx="1333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3" name="arrow146">
            <a:extLst>
              <a:ext uri="{FF2B5EF4-FFF2-40B4-BE49-F238E27FC236}">
                <a16:creationId xmlns:a16="http://schemas.microsoft.com/office/drawing/2014/main" id="{044D049F-B191-4557-BECC-1CC586AF4157}"/>
              </a:ext>
            </a:extLst>
          </p:cNvPr>
          <p:cNvCxnSpPr/>
          <p:nvPr/>
        </p:nvCxnSpPr>
        <p:spPr>
          <a:xfrm flipH="0" flipV="0">
            <a:off x="5572125" y="3562350"/>
            <a:ext cx="0" cy="14287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24" name="label147">
            <a:extLst>
              <a:ext uri="{FF2B5EF4-FFF2-40B4-BE49-F238E27FC236}">
                <a16:creationId xmlns:a16="http://schemas.microsoft.com/office/drawing/2014/main" id="{2B854EDA-CA4A-4451-82B9-8B47DD832CA3}"/>
              </a:ext>
            </a:extLst>
          </p:cNvPr>
          <p:cNvSpPr>
            <a:spLocks noGrp="1"/>
          </p:cNvSpPr>
          <p:nvPr/>
        </p:nvSpPr>
        <p:spPr>
          <a:xfrm>
            <a:off x="4572000" y="32194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25" name="node148">
            <a:extLst>
              <a:ext uri="{FF2B5EF4-FFF2-40B4-BE49-F238E27FC236}">
                <a16:creationId xmlns:a16="http://schemas.microsoft.com/office/drawing/2014/main" id="{4FE33A28-1B8F-4128-A198-3FA71B27BBD1}"/>
              </a:ext>
            </a:extLst>
          </p:cNvPr>
          <p:cNvSpPr>
            <a:spLocks noGrp="1"/>
          </p:cNvSpPr>
          <p:nvPr/>
        </p:nvSpPr>
        <p:spPr>
          <a:xfrm>
            <a:off x="4714875" y="4991100"/>
            <a:ext cx="1714500" cy="4953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</a:t>
            </a:r>
          </a:p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</a:t>
            </a:r>
          </a:p>
        </p:txBody>
      </p:sp>
      <p:sp>
        <p:nvSpPr>
          <p:cNvPr id="1026" name="node149">
            <a:extLst>
              <a:ext uri="{FF2B5EF4-FFF2-40B4-BE49-F238E27FC236}">
                <a16:creationId xmlns:a16="http://schemas.microsoft.com/office/drawing/2014/main" id="{C5DA8F15-8F3E-4B14-8ADC-02B708F185A6}"/>
              </a:ext>
            </a:extLst>
          </p:cNvPr>
          <p:cNvSpPr>
            <a:spLocks noGrp="1"/>
          </p:cNvSpPr>
          <p:nvPr/>
        </p:nvSpPr>
        <p:spPr>
          <a:xfrm>
            <a:off x="4876800" y="5810250"/>
            <a:ext cx="1400175" cy="3619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27" name="arrow150">
            <a:extLst>
              <a:ext uri="{FF2B5EF4-FFF2-40B4-BE49-F238E27FC236}">
                <a16:creationId xmlns:a16="http://schemas.microsoft.com/office/drawing/2014/main" id="{707E685D-CF77-4D75-A224-2F115608D98B}"/>
              </a:ext>
            </a:extLst>
          </p:cNvPr>
          <p:cNvCxnSpPr/>
          <p:nvPr/>
        </p:nvCxnSpPr>
        <p:spPr>
          <a:xfrm flipH="0" flipV="0">
            <a:off x="5572125" y="548640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Verificação final: seu WHILE consegue terminar?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Explique uma passagem pelo seu fluxograma sem olhar o gabarito.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Sim ou Não?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Qual resultado mantém o bloco em repetição?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Atualização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O que muda?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Onde o contador avança ou uma nova leitura acontece?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Parada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Pode ser zero?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Em qual situação o corpo executa zero vezes?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condição vem antes do corpo. O retorno passa pela condição em toda volta.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2" id="{F00C9D64-B4F3-4CB8-9DF2-59685944CDDB}" vid="{148A88D6-2EA5-4E01-8808-5075C10EAE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151</TotalTime>
  <Words>922</Words>
  <Application>Microsoft Office PowerPoint</Application>
  <PresentationFormat>Widescreen</PresentationFormat>
  <Paragraphs>171</Paragraphs>
  <Slides>16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5" baseType="lpstr">
      <vt:lpstr>Consolas</vt:lpstr>
      <vt:lpstr>Inter</vt:lpstr>
      <vt:lpstr>Calibri</vt:lpstr>
      <vt:lpstr>Inter Light</vt:lpstr>
      <vt:lpstr>Arial</vt:lpstr>
      <vt:lpstr>Inter Bold</vt:lpstr>
      <vt:lpstr>Twemoji Mozilla</vt:lpstr>
      <vt:lpstr>Times New Roman</vt:lpstr>
      <vt:lpstr>Tema2</vt:lpstr>
      <vt:lpstr>Introdução à Lógica de Programação: Pensando como um Programador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Variáveis</vt:lpstr>
      <vt:lpstr>Maneiras de declarar Classes</vt:lpstr>
      <vt:lpstr>Maneiras de declarar Classes</vt:lpstr>
      <vt:lpstr>Apresentação do PowerPoint</vt:lpstr>
      <vt:lpstr>Apresentação do PowerPoint</vt:lpstr>
      <vt:lpstr>Apresentação do PowerPoint</vt:lpstr>
      <vt:lpstr>Apresentação do PowerPoint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Lógica de Programação: Pensando como um Programador</dc:title>
  <dc:subject/>
  <dc:creator/>
  <cp:lastModifiedBy>Pedro Miho</cp:lastModifiedBy>
  <cp:revision>7</cp:revision>
  <dcterms:created xsi:type="dcterms:W3CDTF">2026-08-24T01:16:08Z</dcterms:created>
  <dcterms:modified xsi:type="dcterms:W3CDTF">2026-08-25T00:44:57Z</dcterms:modified>
</cp:coreProperties>
</file>