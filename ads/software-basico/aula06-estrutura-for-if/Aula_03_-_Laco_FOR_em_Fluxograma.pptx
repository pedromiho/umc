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5"/>
  </p:notesMasterIdLst>
  <p:sldIdLst>
    <p:sldId id="266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</p:sldIdLst>
  <p:sldSz cx="12192000" cy="6858000"/>
  <p:notesSz cx="6858000" cy="12192000"/>
  <p:embeddedFontLs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Estrutura de Repetição: Laço FOR em Fluxograma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Laço de Repetição: o FOR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laço </a:t>
            </a:r>
            <a:r>
              <a:rPr lang="pt-BR" sz="18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FOR</a:t>
            </a: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repete um bloco de instruções um </a:t>
            </a:r>
            <a:r>
              <a:rPr lang="pt-BR" sz="18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número conhecido de vezes</a:t>
            </a: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Início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← 1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Define o valor inicial do contador: de onde a contagem parte.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≤ 5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Pergunta se o laço continua: Sim repete o bloco, Não sai do laço.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Passo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← i + 1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Atualiza o contador a cada volta, para o laço chegar ao fim.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Em Python: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  começa em 1, para antes do 6 e avança de 1 em 1.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em Fluxograma: contando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22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264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86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324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346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419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418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Fluxo 10"/>
          <p:cNvSpPr/>
          <p:nvPr/>
        </p:nvSpPr>
        <p:spPr>
          <a:xfrm>
            <a:off x="1900000" y="448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86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Fluxo 12"/>
          <p:cNvSpPr/>
          <p:nvPr/>
        </p:nvSpPr>
        <p:spPr>
          <a:xfrm>
            <a:off x="1900000" y="508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3" name="Conector 13"/>
          <p:cNvCxnSpPr/>
          <p:nvPr/>
        </p:nvCxnSpPr>
        <p:spPr>
          <a:xfrm flipH="1">
            <a:off x="1200000" y="527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 flipV="1">
            <a:off x="1200000" y="382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5" name="Conector 15"/>
          <p:cNvCxnSpPr/>
          <p:nvPr/>
        </p:nvCxnSpPr>
        <p:spPr>
          <a:xfrm>
            <a:off x="1200000" y="382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Rótulo 16"/>
          <p:cNvSpPr txBox="1"/>
          <p:nvPr/>
        </p:nvSpPr>
        <p:spPr>
          <a:xfrm>
            <a:off x="4200000" y="3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7" name="Conector 17"/>
          <p:cNvCxnSpPr/>
          <p:nvPr/>
        </p:nvCxnSpPr>
        <p:spPr>
          <a:xfrm>
            <a:off x="4100000" y="382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>
            <a:off x="5550000" y="382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9" name="Fluxo 19"/>
          <p:cNvSpPr/>
          <p:nvPr/>
        </p:nvSpPr>
        <p:spPr>
          <a:xfrm>
            <a:off x="4850000" y="422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1" name="Código 21"/>
          <p:cNvSpPr/>
          <p:nvPr/>
        </p:nvSpPr>
        <p:spPr>
          <a:xfrm>
            <a:off x="7100000" y="1950000"/>
            <a:ext cx="45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print(i)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7100000" y="303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range(1, 6) vai de 1 até 5: o 6 não entra!</a:t>
            </a:r>
          </a:p>
        </p:txBody>
      </p:sp>
      <p:sp>
        <p:nvSpPr>
          <p:cNvPr id="23" name="Número 23"/>
          <p:cNvSpPr/>
          <p:nvPr/>
        </p:nvSpPr>
        <p:spPr>
          <a:xfrm>
            <a:off x="7100000" y="36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650000" y="360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Início: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começa em 1</a:t>
            </a:r>
          </a:p>
        </p:txBody>
      </p:sp>
      <p:sp>
        <p:nvSpPr>
          <p:cNvPr id="25" name="Número 25"/>
          <p:cNvSpPr/>
          <p:nvPr/>
        </p:nvSpPr>
        <p:spPr>
          <a:xfrm>
            <a:off x="7100000" y="429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650000" y="422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5? Sim repete, Não termina</a:t>
            </a:r>
          </a:p>
        </p:txBody>
      </p:sp>
      <p:sp>
        <p:nvSpPr>
          <p:cNvPr id="27" name="Número 27"/>
          <p:cNvSpPr/>
          <p:nvPr/>
        </p:nvSpPr>
        <p:spPr>
          <a:xfrm>
            <a:off x="7100000" y="491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650000" y="484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Passo: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aumenta 1 a cada volta</a:t>
            </a:r>
          </a:p>
        </p:txBody>
      </p:sp>
      <p:sp>
        <p:nvSpPr>
          <p:cNvPr id="29" name="Saída 29"/>
          <p:cNvSpPr/>
          <p:nvPr/>
        </p:nvSpPr>
        <p:spPr>
          <a:xfrm>
            <a:off x="7100000" y="5600000"/>
            <a:ext cx="45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1  2  3  4  5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Teste de mesa: acompanhando o FOR</a:t>
            </a:r>
          </a:p>
        </p:txBody>
      </p:sp>
      <p:graphicFrame>
        <p:nvGraphicFramePr>
          <p:cNvPr id="3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568162"/>
              </p:ext>
            </p:extLst>
          </p:nvPr>
        </p:nvGraphicFramePr>
        <p:xfrm>
          <a:off x="800000" y="2075753"/>
          <a:ext cx="6000000" cy="3850000"/>
        </p:xfrm>
        <a:graphic>
          <a:graphicData uri="http://schemas.openxmlformats.org/drawingml/2006/table">
            <a:tbl>
              <a:tblPr firstRow="1"/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Volta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 ≤ 5 ?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Saída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6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fim do laço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ótulo 4"/>
          <p:cNvSpPr txBox="1"/>
          <p:nvPr/>
        </p:nvSpPr>
        <p:spPr>
          <a:xfrm>
            <a:off x="7600000" y="2075753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Como ler a tabela</a:t>
            </a:r>
          </a:p>
        </p:txBody>
      </p:sp>
      <p:sp>
        <p:nvSpPr>
          <p:cNvPr id="5" name="Número 5"/>
          <p:cNvSpPr/>
          <p:nvPr/>
        </p:nvSpPr>
        <p:spPr>
          <a:xfrm>
            <a:off x="7600000" y="2800753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150000" y="2725753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cada volta,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i aumenta 1</a:t>
            </a:r>
          </a:p>
        </p:txBody>
      </p:sp>
      <p:sp>
        <p:nvSpPr>
          <p:cNvPr id="7" name="Número 7"/>
          <p:cNvSpPr/>
          <p:nvPr/>
        </p:nvSpPr>
        <p:spPr>
          <a:xfrm>
            <a:off x="7600000" y="3420753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8150000" y="3345753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condição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é testada antes de cada volta</a:t>
            </a:r>
          </a:p>
        </p:txBody>
      </p:sp>
      <p:sp>
        <p:nvSpPr>
          <p:cNvPr id="9" name="Número 9"/>
          <p:cNvSpPr/>
          <p:nvPr/>
        </p:nvSpPr>
        <p:spPr>
          <a:xfrm>
            <a:off x="7600000" y="4040753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8150000" y="3965753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Quando i = 6,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vira Não e o laço termina</a:t>
            </a:r>
          </a:p>
        </p:txBody>
      </p:sp>
      <p:sp>
        <p:nvSpPr>
          <p:cNvPr id="11" name="Destaque 11"/>
          <p:cNvSpPr/>
          <p:nvPr/>
        </p:nvSpPr>
        <p:spPr>
          <a:xfrm>
            <a:off x="7600000" y="4925753"/>
            <a:ext cx="4000000" cy="110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Dica: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refaça a tabela com i ← 0 e veja o que muda.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1: soma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0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Fluxo 7"/>
          <p:cNvSpPr/>
          <p:nvPr/>
        </p:nvSpPr>
        <p:spPr>
          <a:xfrm>
            <a:off x="1900000" y="27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2900000" y="30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9" name="Decisão 9"/>
          <p:cNvSpPr/>
          <p:nvPr/>
        </p:nvSpPr>
        <p:spPr>
          <a:xfrm>
            <a:off x="1700000" y="33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10" name="Rótulo 10"/>
          <p:cNvSpPr txBox="1"/>
          <p:nvPr/>
        </p:nvSpPr>
        <p:spPr>
          <a:xfrm>
            <a:off x="3000000" y="40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Fluxo 12"/>
          <p:cNvSpPr/>
          <p:nvPr/>
        </p:nvSpPr>
        <p:spPr>
          <a:xfrm>
            <a:off x="1900000" y="43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soma + i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2900000" y="470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4" name="Fluxo 14"/>
          <p:cNvSpPr/>
          <p:nvPr/>
        </p:nvSpPr>
        <p:spPr>
          <a:xfrm>
            <a:off x="1900000" y="49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5" name="Conector 15"/>
          <p:cNvCxnSpPr/>
          <p:nvPr/>
        </p:nvCxnSpPr>
        <p:spPr>
          <a:xfrm flipH="1">
            <a:off x="1200000" y="511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 flipV="1">
            <a:off x="1200000" y="366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7" name="Conector 17"/>
          <p:cNvCxnSpPr/>
          <p:nvPr/>
        </p:nvCxnSpPr>
        <p:spPr>
          <a:xfrm>
            <a:off x="1200000" y="36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8" name="Rótulo 18"/>
          <p:cNvSpPr txBox="1"/>
          <p:nvPr/>
        </p:nvSpPr>
        <p:spPr>
          <a:xfrm>
            <a:off x="4200000" y="33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9" name="Conector 19"/>
          <p:cNvCxnSpPr/>
          <p:nvPr/>
        </p:nvCxnSpPr>
        <p:spPr>
          <a:xfrm>
            <a:off x="4100000" y="36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0" name="Conector 20"/>
          <p:cNvCxnSpPr/>
          <p:nvPr/>
        </p:nvCxnSpPr>
        <p:spPr>
          <a:xfrm>
            <a:off x="5550000" y="36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1" name="Fluxo 21"/>
          <p:cNvSpPr/>
          <p:nvPr/>
        </p:nvSpPr>
        <p:spPr>
          <a:xfrm>
            <a:off x="4650000" y="4060000"/>
            <a:ext cx="18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soma</a:t>
            </a:r>
          </a:p>
        </p:txBody>
      </p:sp>
      <p:cxnSp>
        <p:nvCxnSpPr>
          <p:cNvPr id="22" name="Conector 22"/>
          <p:cNvCxnSpPr/>
          <p:nvPr/>
        </p:nvCxnSpPr>
        <p:spPr>
          <a:xfrm>
            <a:off x="5550000" y="444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3" name="Fluxo 23"/>
          <p:cNvSpPr/>
          <p:nvPr/>
        </p:nvSpPr>
        <p:spPr>
          <a:xfrm>
            <a:off x="4850000" y="46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4" name="Rótulo 24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5" name="Código 25"/>
          <p:cNvSpPr/>
          <p:nvPr/>
        </p:nvSpPr>
        <p:spPr>
          <a:xfrm>
            <a:off x="7100000" y="1950000"/>
            <a:ext cx="4500000" cy="162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soma =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soma = soma + 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print(soma)</a:t>
            </a:r>
          </a:p>
        </p:txBody>
      </p:sp>
      <p:sp>
        <p:nvSpPr>
          <p:cNvPr id="26" name="Pergunta 26"/>
          <p:cNvSpPr/>
          <p:nvPr/>
        </p:nvSpPr>
        <p:spPr>
          <a:xfrm>
            <a:off x="7100000" y="387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quanto vale soma no fim de cada volta? (1, 3, 6, 10, 15)</a:t>
            </a:r>
          </a:p>
        </p:txBody>
      </p:sp>
      <p:sp>
        <p:nvSpPr>
          <p:cNvPr id="27" name="Saída 27"/>
          <p:cNvSpPr/>
          <p:nvPr/>
        </p:nvSpPr>
        <p:spPr>
          <a:xfrm>
            <a:off x="7100000" y="527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2: quadrados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22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25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8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31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34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41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41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Fluxo 10"/>
          <p:cNvSpPr/>
          <p:nvPr/>
        </p:nvSpPr>
        <p:spPr>
          <a:xfrm>
            <a:off x="1900000" y="44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 × i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80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Fluxo 12"/>
          <p:cNvSpPr/>
          <p:nvPr/>
        </p:nvSpPr>
        <p:spPr>
          <a:xfrm>
            <a:off x="1900000" y="50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3" name="Conector 13"/>
          <p:cNvCxnSpPr/>
          <p:nvPr/>
        </p:nvCxnSpPr>
        <p:spPr>
          <a:xfrm flipH="1">
            <a:off x="1200000" y="521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 flipV="1">
            <a:off x="1200000" y="376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5" name="Conector 15"/>
          <p:cNvCxnSpPr/>
          <p:nvPr/>
        </p:nvCxnSpPr>
        <p:spPr>
          <a:xfrm>
            <a:off x="1200000" y="37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Rótulo 16"/>
          <p:cNvSpPr txBox="1"/>
          <p:nvPr/>
        </p:nvSpPr>
        <p:spPr>
          <a:xfrm>
            <a:off x="4200000" y="34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7" name="Conector 17"/>
          <p:cNvCxnSpPr/>
          <p:nvPr/>
        </p:nvCxnSpPr>
        <p:spPr>
          <a:xfrm>
            <a:off x="4100000" y="37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>
            <a:off x="5550000" y="37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9" name="Fluxo 19"/>
          <p:cNvSpPr/>
          <p:nvPr/>
        </p:nvSpPr>
        <p:spPr>
          <a:xfrm>
            <a:off x="4850000" y="41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7100000" y="22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1" name="Código 21"/>
          <p:cNvSpPr/>
          <p:nvPr/>
        </p:nvSpPr>
        <p:spPr>
          <a:xfrm>
            <a:off x="7100000" y="2650000"/>
            <a:ext cx="4500000" cy="96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print(i * i)</a:t>
            </a:r>
          </a:p>
        </p:txBody>
      </p:sp>
      <p:sp>
        <p:nvSpPr>
          <p:cNvPr id="22" name="Pergunta 22"/>
          <p:cNvSpPr/>
          <p:nvPr/>
        </p:nvSpPr>
        <p:spPr>
          <a:xfrm>
            <a:off x="7100000" y="391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que muda no fluxograma se quisermos até 10?</a:t>
            </a:r>
          </a:p>
        </p:txBody>
      </p:sp>
      <p:sp>
        <p:nvSpPr>
          <p:cNvPr id="23" name="Saída 23"/>
          <p:cNvSpPr/>
          <p:nvPr/>
        </p:nvSpPr>
        <p:spPr>
          <a:xfrm>
            <a:off x="7100000" y="531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1  4  9  16  25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com IF: mostrando só os números pares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27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10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34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34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Decisão 10"/>
          <p:cNvSpPr/>
          <p:nvPr/>
        </p:nvSpPr>
        <p:spPr>
          <a:xfrm>
            <a:off x="1700000" y="372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% 2 = 0 ?</a:t>
            </a:r>
          </a:p>
        </p:txBody>
      </p:sp>
      <p:sp>
        <p:nvSpPr>
          <p:cNvPr id="11" name="Rótulo 11"/>
          <p:cNvSpPr txBox="1"/>
          <p:nvPr/>
        </p:nvSpPr>
        <p:spPr>
          <a:xfrm>
            <a:off x="3000000" y="44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2" name="Rótulo 12"/>
          <p:cNvSpPr txBox="1"/>
          <p:nvPr/>
        </p:nvSpPr>
        <p:spPr>
          <a:xfrm>
            <a:off x="4200000" y="37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2900000" y="44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4" name="Fluxo 14"/>
          <p:cNvSpPr/>
          <p:nvPr/>
        </p:nvSpPr>
        <p:spPr>
          <a:xfrm>
            <a:off x="1900000" y="47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2900000" y="512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Fluxo 16"/>
          <p:cNvSpPr/>
          <p:nvPr/>
        </p:nvSpPr>
        <p:spPr>
          <a:xfrm>
            <a:off x="1900000" y="53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7" name="Conector 17"/>
          <p:cNvCxnSpPr/>
          <p:nvPr/>
        </p:nvCxnSpPr>
        <p:spPr>
          <a:xfrm flipH="1">
            <a:off x="1200000" y="553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 flipV="1">
            <a:off x="1200000" y="3060000"/>
            <a:ext cx="0" cy="247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9" name="Conector 19"/>
          <p:cNvCxnSpPr/>
          <p:nvPr/>
        </p:nvCxnSpPr>
        <p:spPr>
          <a:xfrm>
            <a:off x="1200000" y="30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20" name="Conector 20"/>
          <p:cNvCxnSpPr/>
          <p:nvPr/>
        </p:nvCxnSpPr>
        <p:spPr>
          <a:xfrm>
            <a:off x="4100000" y="4080000"/>
            <a:ext cx="3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4450000" y="408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2" name="Conector 22"/>
          <p:cNvCxnSpPr/>
          <p:nvPr/>
        </p:nvCxnSpPr>
        <p:spPr>
          <a:xfrm flipH="1">
            <a:off x="3900000" y="5530000"/>
            <a:ext cx="5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3" name="Rótulo 23"/>
          <p:cNvSpPr txBox="1"/>
          <p:nvPr/>
        </p:nvSpPr>
        <p:spPr>
          <a:xfrm>
            <a:off x="4200000" y="27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24" name="Conector 24"/>
          <p:cNvCxnSpPr/>
          <p:nvPr/>
        </p:nvCxnSpPr>
        <p:spPr>
          <a:xfrm>
            <a:off x="4100000" y="30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5" name="Conector 25"/>
          <p:cNvCxnSpPr/>
          <p:nvPr/>
        </p:nvCxnSpPr>
        <p:spPr>
          <a:xfrm>
            <a:off x="5550000" y="30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6" name="Fluxo 26"/>
          <p:cNvSpPr/>
          <p:nvPr/>
        </p:nvSpPr>
        <p:spPr>
          <a:xfrm>
            <a:off x="4850000" y="34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7" name="Rótulo 27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8" name="Código 28"/>
          <p:cNvSpPr/>
          <p:nvPr/>
        </p:nvSpPr>
        <p:spPr>
          <a:xfrm>
            <a:off x="7100000" y="1950000"/>
            <a:ext cx="4500000" cy="14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11):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i % 2 == 0: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print(i)</a:t>
            </a:r>
          </a:p>
        </p:txBody>
      </p:sp>
      <p:sp>
        <p:nvSpPr>
          <p:cNvPr id="29" name="Legenda 29"/>
          <p:cNvSpPr txBox="1"/>
          <p:nvPr/>
        </p:nvSpPr>
        <p:spPr>
          <a:xfrm>
            <a:off x="7100000" y="343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if fica dentro do for: observe o recuo.</a:t>
            </a:r>
          </a:p>
        </p:txBody>
      </p:sp>
      <p:sp>
        <p:nvSpPr>
          <p:cNvPr id="30" name="Número 30"/>
          <p:cNvSpPr/>
          <p:nvPr/>
        </p:nvSpPr>
        <p:spPr>
          <a:xfrm>
            <a:off x="7100000" y="4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31" name="Texto 31"/>
          <p:cNvSpPr txBox="1"/>
          <p:nvPr/>
        </p:nvSpPr>
        <p:spPr>
          <a:xfrm>
            <a:off x="7650000" y="395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FOR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gera cada i, de 1 a 10</a:t>
            </a:r>
          </a:p>
        </p:txBody>
      </p:sp>
      <p:sp>
        <p:nvSpPr>
          <p:cNvPr id="32" name="Número 32"/>
          <p:cNvSpPr/>
          <p:nvPr/>
        </p:nvSpPr>
        <p:spPr>
          <a:xfrm>
            <a:off x="7100000" y="464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33" name="Texto 33"/>
          <p:cNvSpPr txBox="1"/>
          <p:nvPr/>
        </p:nvSpPr>
        <p:spPr>
          <a:xfrm>
            <a:off x="7650000" y="457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IF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pergunta: i é par?</a:t>
            </a:r>
          </a:p>
        </p:txBody>
      </p:sp>
      <p:sp>
        <p:nvSpPr>
          <p:cNvPr id="34" name="Número 34"/>
          <p:cNvSpPr/>
          <p:nvPr/>
        </p:nvSpPr>
        <p:spPr>
          <a:xfrm>
            <a:off x="7100000" y="526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35" name="Texto 35"/>
          <p:cNvSpPr txBox="1"/>
          <p:nvPr/>
        </p:nvSpPr>
        <p:spPr>
          <a:xfrm>
            <a:off x="7650000" y="519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Só se Sim,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valor é mostrado</a:t>
            </a:r>
          </a:p>
        </p:txBody>
      </p:sp>
      <p:sp>
        <p:nvSpPr>
          <p:cNvPr id="36" name="Saída 36"/>
          <p:cNvSpPr/>
          <p:nvPr/>
        </p:nvSpPr>
        <p:spPr>
          <a:xfrm>
            <a:off x="7100000" y="590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2  4  6  8  10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Teste de mesa: FOR com IF</a:t>
            </a:r>
          </a:p>
        </p:txBody>
      </p:sp>
      <p:graphicFrame>
        <p:nvGraphicFramePr>
          <p:cNvPr id="3" name="Tabela 3"/>
          <p:cNvGraphicFramePr>
            <a:graphicFrameLocks noGrp="1"/>
          </p:cNvGraphicFramePr>
          <p:nvPr/>
        </p:nvGraphicFramePr>
        <p:xfrm>
          <a:off x="800000" y="1550000"/>
          <a:ext cx="6400000" cy="4800000"/>
        </p:xfrm>
        <a:graphic>
          <a:graphicData uri="http://schemas.openxmlformats.org/drawingml/2006/table">
            <a:tbl>
              <a:tblPr first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 ≤ 10 ?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 % 2 = 0 ?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Saída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6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6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7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8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8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9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10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10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11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fim do laço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Rótulo 4"/>
          <p:cNvSpPr txBox="1"/>
          <p:nvPr/>
        </p:nvSpPr>
        <p:spPr>
          <a:xfrm>
            <a:off x="7600000" y="155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Como ler a tabela</a:t>
            </a:r>
          </a:p>
        </p:txBody>
      </p:sp>
      <p:sp>
        <p:nvSpPr>
          <p:cNvPr id="5" name="Número 5"/>
          <p:cNvSpPr/>
          <p:nvPr/>
        </p:nvSpPr>
        <p:spPr>
          <a:xfrm>
            <a:off x="7600000" y="22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150000" y="220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FOR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testa i ≤ 10 a cada volta</a:t>
            </a:r>
          </a:p>
        </p:txBody>
      </p:sp>
      <p:sp>
        <p:nvSpPr>
          <p:cNvPr id="7" name="Número 7"/>
          <p:cNvSpPr/>
          <p:nvPr/>
        </p:nvSpPr>
        <p:spPr>
          <a:xfrm>
            <a:off x="7600000" y="289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8150000" y="282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IF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testa se i é par</a:t>
            </a:r>
          </a:p>
        </p:txBody>
      </p:sp>
      <p:sp>
        <p:nvSpPr>
          <p:cNvPr id="9" name="Número 9"/>
          <p:cNvSpPr/>
          <p:nvPr/>
        </p:nvSpPr>
        <p:spPr>
          <a:xfrm>
            <a:off x="7600000" y="351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8150000" y="344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 só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quando o IF é Sim</a:t>
            </a:r>
          </a:p>
        </p:txBody>
      </p:sp>
      <p:sp>
        <p:nvSpPr>
          <p:cNvPr id="11" name="Saída 11"/>
          <p:cNvSpPr/>
          <p:nvPr/>
        </p:nvSpPr>
        <p:spPr>
          <a:xfrm>
            <a:off x="7600000" y="4400000"/>
            <a:ext cx="4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2  4  6  8  10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3: par ou ímpar de 1 a 6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68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206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28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66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288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6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36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360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Decisão 10"/>
          <p:cNvSpPr/>
          <p:nvPr/>
        </p:nvSpPr>
        <p:spPr>
          <a:xfrm>
            <a:off x="1700000" y="39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% 2 = 0 ?</a:t>
            </a:r>
          </a:p>
        </p:txBody>
      </p:sp>
      <p:sp>
        <p:nvSpPr>
          <p:cNvPr id="11" name="Rótulo 11"/>
          <p:cNvSpPr txBox="1"/>
          <p:nvPr/>
        </p:nvSpPr>
        <p:spPr>
          <a:xfrm>
            <a:off x="3000000" y="46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2" name="Rótulo 12"/>
          <p:cNvSpPr txBox="1"/>
          <p:nvPr/>
        </p:nvSpPr>
        <p:spPr>
          <a:xfrm>
            <a:off x="4200000" y="39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2900000" y="46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4" name="Fluxo 14"/>
          <p:cNvSpPr/>
          <p:nvPr/>
        </p:nvSpPr>
        <p:spPr>
          <a:xfrm>
            <a:off x="1900000" y="49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i: par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2900000" y="530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Fluxo 16"/>
          <p:cNvSpPr/>
          <p:nvPr/>
        </p:nvSpPr>
        <p:spPr>
          <a:xfrm>
            <a:off x="1900000" y="55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7" name="Conector 17"/>
          <p:cNvCxnSpPr/>
          <p:nvPr/>
        </p:nvCxnSpPr>
        <p:spPr>
          <a:xfrm flipH="1">
            <a:off x="1200000" y="571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 flipV="1">
            <a:off x="1200000" y="3240000"/>
            <a:ext cx="0" cy="247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9" name="Conector 19"/>
          <p:cNvCxnSpPr/>
          <p:nvPr/>
        </p:nvCxnSpPr>
        <p:spPr>
          <a:xfrm>
            <a:off x="1200000" y="324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20" name="Conector 20"/>
          <p:cNvCxnSpPr/>
          <p:nvPr/>
        </p:nvCxnSpPr>
        <p:spPr>
          <a:xfrm>
            <a:off x="4100000" y="4260000"/>
            <a:ext cx="13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5450000" y="4260000"/>
            <a:ext cx="0" cy="66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2" name="Fluxo 22"/>
          <p:cNvSpPr/>
          <p:nvPr/>
        </p:nvSpPr>
        <p:spPr>
          <a:xfrm>
            <a:off x="4450000" y="49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i: ímpar</a:t>
            </a:r>
          </a:p>
        </p:txBody>
      </p:sp>
      <p:cxnSp>
        <p:nvCxnSpPr>
          <p:cNvPr id="23" name="Conector 23"/>
          <p:cNvCxnSpPr/>
          <p:nvPr/>
        </p:nvCxnSpPr>
        <p:spPr>
          <a:xfrm>
            <a:off x="5450000" y="5300000"/>
            <a:ext cx="0" cy="41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4" name="Conector 24"/>
          <p:cNvCxnSpPr/>
          <p:nvPr/>
        </p:nvCxnSpPr>
        <p:spPr>
          <a:xfrm flipH="1">
            <a:off x="3900000" y="5710000"/>
            <a:ext cx="15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5" name="Rótulo 25"/>
          <p:cNvSpPr txBox="1"/>
          <p:nvPr/>
        </p:nvSpPr>
        <p:spPr>
          <a:xfrm>
            <a:off x="4200000" y="289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26" name="Conector 26"/>
          <p:cNvCxnSpPr/>
          <p:nvPr/>
        </p:nvCxnSpPr>
        <p:spPr>
          <a:xfrm>
            <a:off x="4100000" y="324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7" name="Conector 27"/>
          <p:cNvCxnSpPr/>
          <p:nvPr/>
        </p:nvCxnSpPr>
        <p:spPr>
          <a:xfrm>
            <a:off x="5550000" y="324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8" name="Fluxo 28"/>
          <p:cNvSpPr/>
          <p:nvPr/>
        </p:nvSpPr>
        <p:spPr>
          <a:xfrm>
            <a:off x="4850000" y="364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9" name="Rótulo 29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30" name="Código 30"/>
          <p:cNvSpPr/>
          <p:nvPr/>
        </p:nvSpPr>
        <p:spPr>
          <a:xfrm>
            <a:off x="7100000" y="1950000"/>
            <a:ext cx="4500000" cy="195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7):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i % 2 == 0: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print(i, "par")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else: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print(i, "ímpar")</a:t>
            </a:r>
          </a:p>
        </p:txBody>
      </p:sp>
      <p:sp>
        <p:nvSpPr>
          <p:cNvPr id="31" name="Pergunta 31"/>
          <p:cNvSpPr/>
          <p:nvPr/>
        </p:nvSpPr>
        <p:spPr>
          <a:xfrm>
            <a:off x="7100000" y="420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 se tirarmos o else, o que deixa de aparecer?</a:t>
            </a:r>
          </a:p>
        </p:txBody>
      </p:sp>
      <p:sp>
        <p:nvSpPr>
          <p:cNvPr id="32" name="Saída 32"/>
          <p:cNvSpPr/>
          <p:nvPr/>
        </p:nvSpPr>
        <p:spPr>
          <a:xfrm>
            <a:off x="7100000" y="560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 ímpar | 2 par ..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4: soma dos pares de 1 a 10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0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Fluxo 7"/>
          <p:cNvSpPr/>
          <p:nvPr/>
        </p:nvSpPr>
        <p:spPr>
          <a:xfrm>
            <a:off x="1900000" y="27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2900000" y="30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9" name="Decisão 9"/>
          <p:cNvSpPr/>
          <p:nvPr/>
        </p:nvSpPr>
        <p:spPr>
          <a:xfrm>
            <a:off x="1700000" y="33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10 ?</a:t>
            </a:r>
          </a:p>
        </p:txBody>
      </p:sp>
      <p:sp>
        <p:nvSpPr>
          <p:cNvPr id="10" name="Rótulo 10"/>
          <p:cNvSpPr txBox="1"/>
          <p:nvPr/>
        </p:nvSpPr>
        <p:spPr>
          <a:xfrm>
            <a:off x="3000000" y="40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Decisão 12"/>
          <p:cNvSpPr/>
          <p:nvPr/>
        </p:nvSpPr>
        <p:spPr>
          <a:xfrm>
            <a:off x="1700000" y="432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% 2 = 0 ?</a:t>
            </a:r>
          </a:p>
        </p:txBody>
      </p:sp>
      <p:sp>
        <p:nvSpPr>
          <p:cNvPr id="13" name="Rótulo 13"/>
          <p:cNvSpPr txBox="1"/>
          <p:nvPr/>
        </p:nvSpPr>
        <p:spPr>
          <a:xfrm>
            <a:off x="3000000" y="5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4" name="Rótulo 14"/>
          <p:cNvSpPr txBox="1"/>
          <p:nvPr/>
        </p:nvSpPr>
        <p:spPr>
          <a:xfrm>
            <a:off x="4200000" y="43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2900000" y="50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Fluxo 16"/>
          <p:cNvSpPr/>
          <p:nvPr/>
        </p:nvSpPr>
        <p:spPr>
          <a:xfrm>
            <a:off x="1900000" y="53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soma + i</a:t>
            </a:r>
          </a:p>
        </p:txBody>
      </p:sp>
      <p:cxnSp>
        <p:nvCxnSpPr>
          <p:cNvPr id="17" name="Conector 17"/>
          <p:cNvCxnSpPr/>
          <p:nvPr/>
        </p:nvCxnSpPr>
        <p:spPr>
          <a:xfrm>
            <a:off x="2900000" y="572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8" name="Fluxo 18"/>
          <p:cNvSpPr/>
          <p:nvPr/>
        </p:nvSpPr>
        <p:spPr>
          <a:xfrm>
            <a:off x="1900000" y="59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9" name="Conector 19"/>
          <p:cNvCxnSpPr/>
          <p:nvPr/>
        </p:nvCxnSpPr>
        <p:spPr>
          <a:xfrm flipH="1">
            <a:off x="1200000" y="613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0" name="Conector 20"/>
          <p:cNvCxnSpPr/>
          <p:nvPr/>
        </p:nvCxnSpPr>
        <p:spPr>
          <a:xfrm flipV="1">
            <a:off x="1200000" y="3660000"/>
            <a:ext cx="0" cy="247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1200000" y="36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22" name="Conector 22"/>
          <p:cNvCxnSpPr/>
          <p:nvPr/>
        </p:nvCxnSpPr>
        <p:spPr>
          <a:xfrm>
            <a:off x="4100000" y="4680000"/>
            <a:ext cx="3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3" name="Conector 23"/>
          <p:cNvCxnSpPr/>
          <p:nvPr/>
        </p:nvCxnSpPr>
        <p:spPr>
          <a:xfrm>
            <a:off x="4450000" y="468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4" name="Conector 24"/>
          <p:cNvCxnSpPr/>
          <p:nvPr/>
        </p:nvCxnSpPr>
        <p:spPr>
          <a:xfrm flipH="1">
            <a:off x="3900000" y="6130000"/>
            <a:ext cx="5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5" name="Rótulo 25"/>
          <p:cNvSpPr txBox="1"/>
          <p:nvPr/>
        </p:nvSpPr>
        <p:spPr>
          <a:xfrm>
            <a:off x="4200000" y="33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26" name="Conector 26"/>
          <p:cNvCxnSpPr/>
          <p:nvPr/>
        </p:nvCxnSpPr>
        <p:spPr>
          <a:xfrm>
            <a:off x="4100000" y="36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7" name="Conector 27"/>
          <p:cNvCxnSpPr/>
          <p:nvPr/>
        </p:nvCxnSpPr>
        <p:spPr>
          <a:xfrm>
            <a:off x="5550000" y="36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8" name="Fluxo 28"/>
          <p:cNvSpPr/>
          <p:nvPr/>
        </p:nvSpPr>
        <p:spPr>
          <a:xfrm>
            <a:off x="4650000" y="4060000"/>
            <a:ext cx="18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soma</a:t>
            </a:r>
          </a:p>
        </p:txBody>
      </p:sp>
      <p:cxnSp>
        <p:nvCxnSpPr>
          <p:cNvPr id="29" name="Conector 29"/>
          <p:cNvCxnSpPr/>
          <p:nvPr/>
        </p:nvCxnSpPr>
        <p:spPr>
          <a:xfrm>
            <a:off x="5550000" y="444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30" name="Fluxo 30"/>
          <p:cNvSpPr/>
          <p:nvPr/>
        </p:nvSpPr>
        <p:spPr>
          <a:xfrm>
            <a:off x="4850000" y="46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31" name="Rótulo 31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32" name="Código 32"/>
          <p:cNvSpPr/>
          <p:nvPr/>
        </p:nvSpPr>
        <p:spPr>
          <a:xfrm>
            <a:off x="7100000" y="1950000"/>
            <a:ext cx="4500000" cy="195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soma =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11):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i % 2 == 0: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soma = soma + 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print(soma)</a:t>
            </a:r>
          </a:p>
        </p:txBody>
      </p:sp>
      <p:sp>
        <p:nvSpPr>
          <p:cNvPr id="33" name="Pergunta 33"/>
          <p:cNvSpPr/>
          <p:nvPr/>
        </p:nvSpPr>
        <p:spPr>
          <a:xfrm>
            <a:off x="7100000" y="420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em quais voltas a soma muda? (2, 6, 12, 20, 30)</a:t>
            </a:r>
          </a:p>
        </p:txBody>
      </p:sp>
      <p:sp>
        <p:nvSpPr>
          <p:cNvPr id="34" name="Saída 34"/>
          <p:cNvSpPr/>
          <p:nvPr/>
        </p:nvSpPr>
        <p:spPr>
          <a:xfrm>
            <a:off x="7100000" y="560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Cuidados com o laço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Três erros comuns</a:t>
            </a: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que vocês vão encontrar nos exercícios.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!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Laço infinito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nunca muda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Sem o passo i ← i + 1, a condição nunca vira Não e o programa não termina.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!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Fora por um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range(1, 11)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range(1, 6) vai até 5. Para chegar até 10, o limite é 11.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!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Acumulador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soma = 0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Zere a soma antes do laço. Sem isso, o resultado sai errado.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Na dúvida, 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faça o teste de mesa: anote i e as saídas, volta por volta.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Desafios: laço FOR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340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Contagem regressiva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28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os números de 10 até 1 e, no final, a mensagem Fim! Dica: o contador diminui a cada volta.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280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10  9  8  ...  1  Fim!</a:t>
            </a:r>
          </a:p>
        </p:txBody>
      </p:sp>
      <p:sp>
        <p:nvSpPr>
          <p:cNvPr id="8" name="Cartão 8"/>
          <p:cNvSpPr/>
          <p:nvPr/>
        </p:nvSpPr>
        <p:spPr>
          <a:xfrm>
            <a:off x="4500000" y="1750000"/>
            <a:ext cx="340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48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5450000" y="203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Tabuada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4800000" y="2750000"/>
            <a:ext cx="28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um número n e mostre a tabuada dele de 1 a 10, no formato n x i = resultado.</a:t>
            </a:r>
          </a:p>
        </p:txBody>
      </p:sp>
      <p:sp>
        <p:nvSpPr>
          <p:cNvPr id="12" name="Exemplo 12"/>
          <p:cNvSpPr/>
          <p:nvPr/>
        </p:nvSpPr>
        <p:spPr>
          <a:xfrm>
            <a:off x="4800000" y="4650000"/>
            <a:ext cx="280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 x 1 = 5 ... 5 x 10 = 50</a:t>
            </a:r>
          </a:p>
        </p:txBody>
      </p:sp>
      <p:sp>
        <p:nvSpPr>
          <p:cNvPr id="13" name="Cartão 13"/>
          <p:cNvSpPr/>
          <p:nvPr/>
        </p:nvSpPr>
        <p:spPr>
          <a:xfrm>
            <a:off x="8200000" y="1750000"/>
            <a:ext cx="340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4" name="Número 14"/>
          <p:cNvSpPr/>
          <p:nvPr/>
        </p:nvSpPr>
        <p:spPr>
          <a:xfrm>
            <a:off x="85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5" name="Título 15"/>
          <p:cNvSpPr txBox="1"/>
          <p:nvPr/>
        </p:nvSpPr>
        <p:spPr>
          <a:xfrm>
            <a:off x="9150000" y="203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Média das notas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8500000" y="2750000"/>
            <a:ext cx="28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5 notas, uma por vez, some todas e mostre a média. Dica: use um acumulador, como na soma.</a:t>
            </a:r>
          </a:p>
        </p:txBody>
      </p:sp>
      <p:sp>
        <p:nvSpPr>
          <p:cNvPr id="17" name="Exemplo 17"/>
          <p:cNvSpPr/>
          <p:nvPr/>
        </p:nvSpPr>
        <p:spPr>
          <a:xfrm>
            <a:off x="8500000" y="4650000"/>
            <a:ext cx="280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 6 7 9 5 → Média = 7.0</a:t>
            </a:r>
          </a:p>
        </p:txBody>
      </p:sp>
      <p:sp>
        <p:nvSpPr>
          <p:cNvPr id="18" name="Legenda 18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o fluxograma e depois escreva o código em Python.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Desafios: FOR com IF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Múltiplos de 3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Para os números de 1 até 30, mostre só os múltiplos de 3 e, no final, quantos eles são. Dica: use i % 3 == 0 e um contador.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 6 9 ... 30 | Total: 10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5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Contando aprovados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5 notas, uma por vez. Conte quantas são maiores ou iguais a 7 e mostre o total de aprovados. Dica: o contador só aumenta quando o IF é Sim.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Notas 8, 5, 7, 3, 9 → 3 aprovados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o fluxograma e depois escreva o código em Python.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235</TotalTime>
  <Words>1233</Words>
  <Application>Microsoft Office PowerPoint</Application>
  <PresentationFormat>Widescreen</PresentationFormat>
  <Paragraphs>269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Inter</vt:lpstr>
      <vt:lpstr>Courier New</vt:lpstr>
      <vt:lpstr>Times New Roman</vt:lpstr>
      <vt:lpstr>Inter Bold</vt:lpstr>
      <vt:lpstr>Calibri</vt:lpstr>
      <vt:lpstr>Arial</vt:lpstr>
      <vt:lpstr>Tema2</vt:lpstr>
      <vt:lpstr>Estrutura de Repetição: Laço FOR em Fluxograma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9</cp:revision>
  <dcterms:created xsi:type="dcterms:W3CDTF">2026-08-24T01:16:08Z</dcterms:created>
  <dcterms:modified xsi:type="dcterms:W3CDTF">2026-10-26T23:34:37Z</dcterms:modified>
</cp:coreProperties>
</file>