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5"/>
  </p:notesMasterIdLst>
  <p:sldIdLst>
    <p:sldId id="266" r:id="rId2"/>
    <p:sldId id="328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39" r:id="rId14"/>
  </p:sldIdLst>
  <p:sldSz cx="12192000" cy="6858000"/>
  <p:notesSz cx="6858000" cy="12192000"/>
  <p:embeddedFontLst>
    <p:embeddedFont>
      <p:font typeface="Inter" panose="020B0604020202020204" charset="0"/>
      <p:regular r:id="rId16"/>
    </p:embeddedFont>
    <p:embeddedFont>
      <p:font typeface="Inter Bold" panose="020B0604020202020204" charset="0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534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pt-BR"/>
              <a:t>Clique para editar o estilo do subtítulo Mestre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1359123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FB9411-69F7-EFE2-E8A8-43455A05C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87DA8-D59F-5DFA-55C8-48BC1BA60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F99D26-DA4B-D0AF-3054-103CA613A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F81AA659-8FD3-461F-8FBC-BDBF8F913D9D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6EC41-5B15-2A4A-34B9-2E8C0BCEE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14FFF6-E682-D349-81F9-96FA3093F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950E8CF1-C835-4717-86DC-68B0F0260540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8685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Cabeçalho da Seçã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42646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Duas Partes de Conteúdo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Google Shape;30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9068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Comparação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 dirty="0"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70736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Somente Títul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43418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Em Branco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41409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Conteúdo com Legenda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pt-BR"/>
              <a:t>Clique para editar o título Mestre</a:t>
            </a:r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4" name="Google Shape;5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709362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906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292A86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  <a:ln>
            <a:noFill/>
          </a:ln>
        </p:spPr>
      </p:pic>
      <p:pic>
        <p:nvPicPr>
          <p:cNvPr id="12" name="Google Shape;12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515652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67B25-BC0F-8242-8D31-3A145B121E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400" dirty="0"/>
              <a:t>Estrutura de Repetição: Laço FOR em Fluxograma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E6AFBF-4C86-4557-83B0-AF907C1EE4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276900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Laço de Repetição: o FOR</a:t>
            </a:r>
          </a:p>
        </p:txBody>
      </p:sp>
      <p:sp>
        <p:nvSpPr>
          <p:cNvPr id="3" name="Intro 3"/>
          <p:cNvSpPr txBox="1"/>
          <p:nvPr/>
        </p:nvSpPr>
        <p:spPr>
          <a:xfrm>
            <a:off x="800000" y="1550000"/>
            <a:ext cx="108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laço </a:t>
            </a:r>
            <a:r>
              <a:rPr lang="pt-BR" sz="18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FOR</a:t>
            </a:r>
            <a:r>
              <a:rPr lang="pt-BR" sz="18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 repete um bloco de instruções um </a:t>
            </a:r>
            <a:r>
              <a:rPr lang="pt-BR" sz="18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número conhecido de vezes</a:t>
            </a:r>
            <a:r>
              <a:rPr lang="pt-BR" sz="18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.</a:t>
            </a:r>
          </a:p>
        </p:txBody>
      </p:sp>
      <p:sp>
        <p:nvSpPr>
          <p:cNvPr id="4" name="Cartão 4"/>
          <p:cNvSpPr/>
          <p:nvPr/>
        </p:nvSpPr>
        <p:spPr>
          <a:xfrm>
            <a:off x="8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5" name="Número 5"/>
          <p:cNvSpPr/>
          <p:nvPr/>
        </p:nvSpPr>
        <p:spPr>
          <a:xfrm>
            <a:off x="11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6" name="Título 6"/>
          <p:cNvSpPr txBox="1"/>
          <p:nvPr/>
        </p:nvSpPr>
        <p:spPr>
          <a:xfrm>
            <a:off x="17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Início</a:t>
            </a:r>
          </a:p>
        </p:txBody>
      </p:sp>
      <p:sp>
        <p:nvSpPr>
          <p:cNvPr id="7" name="Código 7"/>
          <p:cNvSpPr/>
          <p:nvPr/>
        </p:nvSpPr>
        <p:spPr>
          <a:xfrm>
            <a:off x="11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i ← 1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11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Define o valor inicial do contador: de onde a contagem parte.</a:t>
            </a:r>
          </a:p>
        </p:txBody>
      </p:sp>
      <p:sp>
        <p:nvSpPr>
          <p:cNvPr id="9" name="Cartão 9"/>
          <p:cNvSpPr/>
          <p:nvPr/>
        </p:nvSpPr>
        <p:spPr>
          <a:xfrm>
            <a:off x="45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10" name="Número 10"/>
          <p:cNvSpPr/>
          <p:nvPr/>
        </p:nvSpPr>
        <p:spPr>
          <a:xfrm>
            <a:off x="48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11" name="Título 11"/>
          <p:cNvSpPr txBox="1"/>
          <p:nvPr/>
        </p:nvSpPr>
        <p:spPr>
          <a:xfrm>
            <a:off x="54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Condição</a:t>
            </a:r>
          </a:p>
        </p:txBody>
      </p:sp>
      <p:sp>
        <p:nvSpPr>
          <p:cNvPr id="12" name="Código 12"/>
          <p:cNvSpPr/>
          <p:nvPr/>
        </p:nvSpPr>
        <p:spPr>
          <a:xfrm>
            <a:off x="48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i ≤ 5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48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Pergunta se o laço continua: Sim repete o bloco, Não sai do laço.</a:t>
            </a:r>
          </a:p>
        </p:txBody>
      </p:sp>
      <p:sp>
        <p:nvSpPr>
          <p:cNvPr id="14" name="Cartão 14"/>
          <p:cNvSpPr/>
          <p:nvPr/>
        </p:nvSpPr>
        <p:spPr>
          <a:xfrm>
            <a:off x="82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15" name="Número 15"/>
          <p:cNvSpPr/>
          <p:nvPr/>
        </p:nvSpPr>
        <p:spPr>
          <a:xfrm>
            <a:off x="85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16" name="Título 16"/>
          <p:cNvSpPr txBox="1"/>
          <p:nvPr/>
        </p:nvSpPr>
        <p:spPr>
          <a:xfrm>
            <a:off x="91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Passo</a:t>
            </a:r>
          </a:p>
        </p:txBody>
      </p:sp>
      <p:sp>
        <p:nvSpPr>
          <p:cNvPr id="17" name="Código 17"/>
          <p:cNvSpPr/>
          <p:nvPr/>
        </p:nvSpPr>
        <p:spPr>
          <a:xfrm>
            <a:off x="85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i ← i + 1</a:t>
            </a:r>
          </a:p>
        </p:txBody>
      </p:sp>
      <p:sp>
        <p:nvSpPr>
          <p:cNvPr id="18" name="Texto 18"/>
          <p:cNvSpPr txBox="1"/>
          <p:nvPr/>
        </p:nvSpPr>
        <p:spPr>
          <a:xfrm>
            <a:off x="85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Atualiza o contador a cada volta, para o laço chegar ao fim.</a:t>
            </a:r>
          </a:p>
        </p:txBody>
      </p:sp>
      <p:sp>
        <p:nvSpPr>
          <p:cNvPr id="19" name="Destaque 19"/>
          <p:cNvSpPr/>
          <p:nvPr/>
        </p:nvSpPr>
        <p:spPr>
          <a:xfrm>
            <a:off x="800000" y="5600000"/>
            <a:ext cx="10800000" cy="750000"/>
          </a:xfrm>
          <a:prstGeom prst="roundRect">
            <a:avLst>
              <a:gd name="adj" fmla="val 12000"/>
            </a:avLst>
          </a:prstGeom>
          <a:solidFill>
            <a:srgbClr val="E3E5F6"/>
          </a:solidFill>
          <a:ln>
            <a:noFill/>
          </a:ln>
        </p:spPr>
        <p:txBody>
          <a:bodyPr wrap="square" lIns="250000" tIns="0" rIns="1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Em Python: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6):</a:t>
            </a: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   começa em 1, para antes do 6 e avança de 1 em 1.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FOR em Fluxograma: contando de 1 a 5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226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264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86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324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Decisão 7"/>
          <p:cNvSpPr/>
          <p:nvPr/>
        </p:nvSpPr>
        <p:spPr>
          <a:xfrm>
            <a:off x="1700000" y="346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5 ?</a:t>
            </a:r>
          </a:p>
        </p:txBody>
      </p:sp>
      <p:sp>
        <p:nvSpPr>
          <p:cNvPr id="8" name="Rótulo 8"/>
          <p:cNvSpPr txBox="1"/>
          <p:nvPr/>
        </p:nvSpPr>
        <p:spPr>
          <a:xfrm>
            <a:off x="3000000" y="419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9" name="Conector 9"/>
          <p:cNvCxnSpPr/>
          <p:nvPr/>
        </p:nvCxnSpPr>
        <p:spPr>
          <a:xfrm>
            <a:off x="2900000" y="418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0" name="Fluxo 10"/>
          <p:cNvSpPr/>
          <p:nvPr/>
        </p:nvSpPr>
        <p:spPr>
          <a:xfrm>
            <a:off x="1900000" y="448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Escreva i</a:t>
            </a:r>
          </a:p>
        </p:txBody>
      </p:sp>
      <p:cxnSp>
        <p:nvCxnSpPr>
          <p:cNvPr id="11" name="Conector 11"/>
          <p:cNvCxnSpPr/>
          <p:nvPr/>
        </p:nvCxnSpPr>
        <p:spPr>
          <a:xfrm>
            <a:off x="2900000" y="486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2" name="Fluxo 12"/>
          <p:cNvSpPr/>
          <p:nvPr/>
        </p:nvSpPr>
        <p:spPr>
          <a:xfrm>
            <a:off x="1900000" y="508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3" name="Conector 13"/>
          <p:cNvCxnSpPr/>
          <p:nvPr/>
        </p:nvCxnSpPr>
        <p:spPr>
          <a:xfrm flipH="1">
            <a:off x="1200000" y="527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4" name="Conector 14"/>
          <p:cNvCxnSpPr/>
          <p:nvPr/>
        </p:nvCxnSpPr>
        <p:spPr>
          <a:xfrm flipV="1">
            <a:off x="1200000" y="3820000"/>
            <a:ext cx="0" cy="145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5" name="Conector 15"/>
          <p:cNvCxnSpPr/>
          <p:nvPr/>
        </p:nvCxnSpPr>
        <p:spPr>
          <a:xfrm>
            <a:off x="1200000" y="382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6" name="Rótulo 16"/>
          <p:cNvSpPr txBox="1"/>
          <p:nvPr/>
        </p:nvSpPr>
        <p:spPr>
          <a:xfrm>
            <a:off x="4200000" y="347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7" name="Conector 17"/>
          <p:cNvCxnSpPr/>
          <p:nvPr/>
        </p:nvCxnSpPr>
        <p:spPr>
          <a:xfrm>
            <a:off x="4100000" y="382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8" name="Conector 18"/>
          <p:cNvCxnSpPr/>
          <p:nvPr/>
        </p:nvCxnSpPr>
        <p:spPr>
          <a:xfrm>
            <a:off x="5550000" y="382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9" name="Fluxo 19"/>
          <p:cNvSpPr/>
          <p:nvPr/>
        </p:nvSpPr>
        <p:spPr>
          <a:xfrm>
            <a:off x="4850000" y="422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20" name="Rótulo 20"/>
          <p:cNvSpPr txBox="1"/>
          <p:nvPr/>
        </p:nvSpPr>
        <p:spPr>
          <a:xfrm>
            <a:off x="7100000" y="15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21" name="Código 21"/>
          <p:cNvSpPr/>
          <p:nvPr/>
        </p:nvSpPr>
        <p:spPr>
          <a:xfrm>
            <a:off x="7100000" y="1950000"/>
            <a:ext cx="4500000" cy="100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6):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print(i)</a:t>
            </a:r>
          </a:p>
        </p:txBody>
      </p:sp>
      <p:sp>
        <p:nvSpPr>
          <p:cNvPr id="22" name="Legenda 22"/>
          <p:cNvSpPr txBox="1"/>
          <p:nvPr/>
        </p:nvSpPr>
        <p:spPr>
          <a:xfrm>
            <a:off x="7100000" y="303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range(1, 6) vai de 1 até 5: o 6 não entra!</a:t>
            </a:r>
          </a:p>
        </p:txBody>
      </p:sp>
      <p:sp>
        <p:nvSpPr>
          <p:cNvPr id="23" name="Número 23"/>
          <p:cNvSpPr/>
          <p:nvPr/>
        </p:nvSpPr>
        <p:spPr>
          <a:xfrm>
            <a:off x="7100000" y="367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7650000" y="360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Início: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começa em 1</a:t>
            </a:r>
          </a:p>
        </p:txBody>
      </p:sp>
      <p:sp>
        <p:nvSpPr>
          <p:cNvPr id="25" name="Número 25"/>
          <p:cNvSpPr/>
          <p:nvPr/>
        </p:nvSpPr>
        <p:spPr>
          <a:xfrm>
            <a:off x="7100000" y="429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7650000" y="422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Condição: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5? Sim repete, Não termina</a:t>
            </a:r>
          </a:p>
        </p:txBody>
      </p:sp>
      <p:sp>
        <p:nvSpPr>
          <p:cNvPr id="27" name="Número 27"/>
          <p:cNvSpPr/>
          <p:nvPr/>
        </p:nvSpPr>
        <p:spPr>
          <a:xfrm>
            <a:off x="7100000" y="491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7650000" y="484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Passo: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aumenta 1 a cada volta</a:t>
            </a:r>
          </a:p>
        </p:txBody>
      </p:sp>
      <p:sp>
        <p:nvSpPr>
          <p:cNvPr id="29" name="Saída 29"/>
          <p:cNvSpPr/>
          <p:nvPr/>
        </p:nvSpPr>
        <p:spPr>
          <a:xfrm>
            <a:off x="7100000" y="5600000"/>
            <a:ext cx="4500000" cy="500000"/>
          </a:xfrm>
          <a:prstGeom prst="roundRect">
            <a:avLst>
              <a:gd name="adj" fmla="val 15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1  2  3  4  5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Teste de mesa: acompanhando o FOR</a:t>
            </a:r>
          </a:p>
        </p:txBody>
      </p:sp>
      <p:graphicFrame>
        <p:nvGraphicFramePr>
          <p:cNvPr id="3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568162"/>
              </p:ext>
            </p:extLst>
          </p:nvPr>
        </p:nvGraphicFramePr>
        <p:xfrm>
          <a:off x="800000" y="2075753"/>
          <a:ext cx="6000000" cy="3850000"/>
        </p:xfrm>
        <a:graphic>
          <a:graphicData uri="http://schemas.openxmlformats.org/drawingml/2006/table">
            <a:tbl>
              <a:tblPr firstRow="1"/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Volta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i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i ≤ 5 ?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Saída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2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2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2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3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3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3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4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4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4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5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5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5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6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fim do laço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ótulo 4"/>
          <p:cNvSpPr txBox="1"/>
          <p:nvPr/>
        </p:nvSpPr>
        <p:spPr>
          <a:xfrm>
            <a:off x="7600000" y="2075753"/>
            <a:ext cx="40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Como ler a tabela</a:t>
            </a:r>
          </a:p>
        </p:txBody>
      </p:sp>
      <p:sp>
        <p:nvSpPr>
          <p:cNvPr id="5" name="Número 5"/>
          <p:cNvSpPr/>
          <p:nvPr/>
        </p:nvSpPr>
        <p:spPr>
          <a:xfrm>
            <a:off x="7600000" y="2800753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8150000" y="2725753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A cada volta,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i aumenta 1</a:t>
            </a:r>
          </a:p>
        </p:txBody>
      </p:sp>
      <p:sp>
        <p:nvSpPr>
          <p:cNvPr id="7" name="Número 7"/>
          <p:cNvSpPr/>
          <p:nvPr/>
        </p:nvSpPr>
        <p:spPr>
          <a:xfrm>
            <a:off x="7600000" y="3420753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8150000" y="3345753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A condição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é testada antes de cada volta</a:t>
            </a:r>
          </a:p>
        </p:txBody>
      </p:sp>
      <p:sp>
        <p:nvSpPr>
          <p:cNvPr id="9" name="Número 9"/>
          <p:cNvSpPr/>
          <p:nvPr/>
        </p:nvSpPr>
        <p:spPr>
          <a:xfrm>
            <a:off x="7600000" y="4040753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8150000" y="3965753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Quando i = 6,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vira Não e o laço termina</a:t>
            </a:r>
          </a:p>
        </p:txBody>
      </p:sp>
      <p:sp>
        <p:nvSpPr>
          <p:cNvPr id="11" name="Destaque 11"/>
          <p:cNvSpPr/>
          <p:nvPr/>
        </p:nvSpPr>
        <p:spPr>
          <a:xfrm>
            <a:off x="7600000" y="4925753"/>
            <a:ext cx="4000000" cy="1100000"/>
          </a:xfrm>
          <a:prstGeom prst="roundRect">
            <a:avLst>
              <a:gd name="adj" fmla="val 8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80000" rIns="150000" bIns="8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Dica: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refaça a tabela com i ← 0 e veja o que muda.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Vamos fazer juntos 1: soma de 1 a 5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150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18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1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soma ← 0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24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Fluxo 7"/>
          <p:cNvSpPr/>
          <p:nvPr/>
        </p:nvSpPr>
        <p:spPr>
          <a:xfrm>
            <a:off x="1900000" y="27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8" name="Conector 8"/>
          <p:cNvCxnSpPr/>
          <p:nvPr/>
        </p:nvCxnSpPr>
        <p:spPr>
          <a:xfrm>
            <a:off x="2900000" y="30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9" name="Decisão 9"/>
          <p:cNvSpPr/>
          <p:nvPr/>
        </p:nvSpPr>
        <p:spPr>
          <a:xfrm>
            <a:off x="1700000" y="330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5 ?</a:t>
            </a:r>
          </a:p>
        </p:txBody>
      </p:sp>
      <p:sp>
        <p:nvSpPr>
          <p:cNvPr id="10" name="Rótulo 10"/>
          <p:cNvSpPr txBox="1"/>
          <p:nvPr/>
        </p:nvSpPr>
        <p:spPr>
          <a:xfrm>
            <a:off x="3000000" y="40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11" name="Conector 11"/>
          <p:cNvCxnSpPr/>
          <p:nvPr/>
        </p:nvCxnSpPr>
        <p:spPr>
          <a:xfrm>
            <a:off x="2900000" y="402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2" name="Fluxo 12"/>
          <p:cNvSpPr/>
          <p:nvPr/>
        </p:nvSpPr>
        <p:spPr>
          <a:xfrm>
            <a:off x="1900000" y="43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soma ← soma + i</a:t>
            </a:r>
          </a:p>
        </p:txBody>
      </p:sp>
      <p:cxnSp>
        <p:nvCxnSpPr>
          <p:cNvPr id="13" name="Conector 13"/>
          <p:cNvCxnSpPr/>
          <p:nvPr/>
        </p:nvCxnSpPr>
        <p:spPr>
          <a:xfrm>
            <a:off x="2900000" y="470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4" name="Fluxo 14"/>
          <p:cNvSpPr/>
          <p:nvPr/>
        </p:nvSpPr>
        <p:spPr>
          <a:xfrm>
            <a:off x="1900000" y="49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5" name="Conector 15"/>
          <p:cNvCxnSpPr/>
          <p:nvPr/>
        </p:nvCxnSpPr>
        <p:spPr>
          <a:xfrm flipH="1">
            <a:off x="1200000" y="511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6" name="Conector 16"/>
          <p:cNvCxnSpPr/>
          <p:nvPr/>
        </p:nvCxnSpPr>
        <p:spPr>
          <a:xfrm flipV="1">
            <a:off x="1200000" y="3660000"/>
            <a:ext cx="0" cy="145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7" name="Conector 17"/>
          <p:cNvCxnSpPr/>
          <p:nvPr/>
        </p:nvCxnSpPr>
        <p:spPr>
          <a:xfrm>
            <a:off x="1200000" y="366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8" name="Rótulo 18"/>
          <p:cNvSpPr txBox="1"/>
          <p:nvPr/>
        </p:nvSpPr>
        <p:spPr>
          <a:xfrm>
            <a:off x="4200000" y="33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9" name="Conector 19"/>
          <p:cNvCxnSpPr/>
          <p:nvPr/>
        </p:nvCxnSpPr>
        <p:spPr>
          <a:xfrm>
            <a:off x="4100000" y="366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0" name="Conector 20"/>
          <p:cNvCxnSpPr/>
          <p:nvPr/>
        </p:nvCxnSpPr>
        <p:spPr>
          <a:xfrm>
            <a:off x="5550000" y="366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1" name="Fluxo 21"/>
          <p:cNvSpPr/>
          <p:nvPr/>
        </p:nvSpPr>
        <p:spPr>
          <a:xfrm>
            <a:off x="4650000" y="4060000"/>
            <a:ext cx="18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Escreva soma</a:t>
            </a:r>
          </a:p>
        </p:txBody>
      </p:sp>
      <p:cxnSp>
        <p:nvCxnSpPr>
          <p:cNvPr id="22" name="Conector 22"/>
          <p:cNvCxnSpPr/>
          <p:nvPr/>
        </p:nvCxnSpPr>
        <p:spPr>
          <a:xfrm>
            <a:off x="5550000" y="444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3" name="Fluxo 23"/>
          <p:cNvSpPr/>
          <p:nvPr/>
        </p:nvSpPr>
        <p:spPr>
          <a:xfrm>
            <a:off x="4850000" y="466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24" name="Rótulo 24"/>
          <p:cNvSpPr txBox="1"/>
          <p:nvPr/>
        </p:nvSpPr>
        <p:spPr>
          <a:xfrm>
            <a:off x="7100000" y="15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25" name="Código 25"/>
          <p:cNvSpPr/>
          <p:nvPr/>
        </p:nvSpPr>
        <p:spPr>
          <a:xfrm>
            <a:off x="7100000" y="1950000"/>
            <a:ext cx="4500000" cy="162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soma = 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6):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soma = soma + 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print(soma)</a:t>
            </a:r>
          </a:p>
        </p:txBody>
      </p:sp>
      <p:sp>
        <p:nvSpPr>
          <p:cNvPr id="26" name="Pergunta 26"/>
          <p:cNvSpPr/>
          <p:nvPr/>
        </p:nvSpPr>
        <p:spPr>
          <a:xfrm>
            <a:off x="7100000" y="3870000"/>
            <a:ext cx="4500000" cy="1150000"/>
          </a:xfrm>
          <a:prstGeom prst="roundRect">
            <a:avLst>
              <a:gd name="adj" fmla="val 8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80000" rIns="150000" bIns="8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Pergunte à turma: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quanto vale soma no fim de cada volta? (1, 3, 6, 10, 15)</a:t>
            </a:r>
          </a:p>
        </p:txBody>
      </p:sp>
      <p:sp>
        <p:nvSpPr>
          <p:cNvPr id="27" name="Saída 27"/>
          <p:cNvSpPr/>
          <p:nvPr/>
        </p:nvSpPr>
        <p:spPr>
          <a:xfrm>
            <a:off x="7100000" y="5270000"/>
            <a:ext cx="4500000" cy="450000"/>
          </a:xfrm>
          <a:prstGeom prst="roundRect">
            <a:avLst>
              <a:gd name="adj" fmla="val 15000"/>
            </a:avLst>
          </a:prstGeom>
          <a:solidFill>
            <a:srgbClr val="EEF0FA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Vamos fazer juntos 2: quadrados de 1 a 5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220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25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8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31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Decisão 7"/>
          <p:cNvSpPr/>
          <p:nvPr/>
        </p:nvSpPr>
        <p:spPr>
          <a:xfrm>
            <a:off x="1700000" y="340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5 ?</a:t>
            </a:r>
          </a:p>
        </p:txBody>
      </p:sp>
      <p:sp>
        <p:nvSpPr>
          <p:cNvPr id="8" name="Rótulo 8"/>
          <p:cNvSpPr txBox="1"/>
          <p:nvPr/>
        </p:nvSpPr>
        <p:spPr>
          <a:xfrm>
            <a:off x="3000000" y="41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9" name="Conector 9"/>
          <p:cNvCxnSpPr/>
          <p:nvPr/>
        </p:nvCxnSpPr>
        <p:spPr>
          <a:xfrm>
            <a:off x="2900000" y="412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0" name="Fluxo 10"/>
          <p:cNvSpPr/>
          <p:nvPr/>
        </p:nvSpPr>
        <p:spPr>
          <a:xfrm>
            <a:off x="1900000" y="44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Escreva i × i</a:t>
            </a:r>
          </a:p>
        </p:txBody>
      </p:sp>
      <p:cxnSp>
        <p:nvCxnSpPr>
          <p:cNvPr id="11" name="Conector 11"/>
          <p:cNvCxnSpPr/>
          <p:nvPr/>
        </p:nvCxnSpPr>
        <p:spPr>
          <a:xfrm>
            <a:off x="2900000" y="480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2" name="Fluxo 12"/>
          <p:cNvSpPr/>
          <p:nvPr/>
        </p:nvSpPr>
        <p:spPr>
          <a:xfrm>
            <a:off x="1900000" y="50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3" name="Conector 13"/>
          <p:cNvCxnSpPr/>
          <p:nvPr/>
        </p:nvCxnSpPr>
        <p:spPr>
          <a:xfrm flipH="1">
            <a:off x="1200000" y="521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4" name="Conector 14"/>
          <p:cNvCxnSpPr/>
          <p:nvPr/>
        </p:nvCxnSpPr>
        <p:spPr>
          <a:xfrm flipV="1">
            <a:off x="1200000" y="3760000"/>
            <a:ext cx="0" cy="145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5" name="Conector 15"/>
          <p:cNvCxnSpPr/>
          <p:nvPr/>
        </p:nvCxnSpPr>
        <p:spPr>
          <a:xfrm>
            <a:off x="1200000" y="376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6" name="Rótulo 16"/>
          <p:cNvSpPr txBox="1"/>
          <p:nvPr/>
        </p:nvSpPr>
        <p:spPr>
          <a:xfrm>
            <a:off x="4200000" y="34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7" name="Conector 17"/>
          <p:cNvCxnSpPr/>
          <p:nvPr/>
        </p:nvCxnSpPr>
        <p:spPr>
          <a:xfrm>
            <a:off x="4100000" y="376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8" name="Conector 18"/>
          <p:cNvCxnSpPr/>
          <p:nvPr/>
        </p:nvCxnSpPr>
        <p:spPr>
          <a:xfrm>
            <a:off x="5550000" y="376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9" name="Fluxo 19"/>
          <p:cNvSpPr/>
          <p:nvPr/>
        </p:nvSpPr>
        <p:spPr>
          <a:xfrm>
            <a:off x="4850000" y="416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20" name="Rótulo 20"/>
          <p:cNvSpPr txBox="1"/>
          <p:nvPr/>
        </p:nvSpPr>
        <p:spPr>
          <a:xfrm>
            <a:off x="7100000" y="22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21" name="Código 21"/>
          <p:cNvSpPr/>
          <p:nvPr/>
        </p:nvSpPr>
        <p:spPr>
          <a:xfrm>
            <a:off x="7100000" y="2650000"/>
            <a:ext cx="4500000" cy="96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6):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print(i * i)</a:t>
            </a:r>
          </a:p>
        </p:txBody>
      </p:sp>
      <p:sp>
        <p:nvSpPr>
          <p:cNvPr id="22" name="Pergunta 22"/>
          <p:cNvSpPr/>
          <p:nvPr/>
        </p:nvSpPr>
        <p:spPr>
          <a:xfrm>
            <a:off x="7100000" y="3910000"/>
            <a:ext cx="4500000" cy="1150000"/>
          </a:xfrm>
          <a:prstGeom prst="roundRect">
            <a:avLst>
              <a:gd name="adj" fmla="val 8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80000" rIns="150000" bIns="8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Pergunte à turma: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que muda no fluxograma se quisermos até 10?</a:t>
            </a:r>
          </a:p>
        </p:txBody>
      </p:sp>
      <p:sp>
        <p:nvSpPr>
          <p:cNvPr id="23" name="Saída 23"/>
          <p:cNvSpPr/>
          <p:nvPr/>
        </p:nvSpPr>
        <p:spPr>
          <a:xfrm>
            <a:off x="7100000" y="5310000"/>
            <a:ext cx="4500000" cy="450000"/>
          </a:xfrm>
          <a:prstGeom prst="roundRect">
            <a:avLst>
              <a:gd name="adj" fmla="val 15000"/>
            </a:avLst>
          </a:prstGeom>
          <a:solidFill>
            <a:srgbClr val="EEF0FA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1  4  9  16  25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FOR com IF: mostrando só os números pares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150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18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1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24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Decisão 7"/>
          <p:cNvSpPr/>
          <p:nvPr/>
        </p:nvSpPr>
        <p:spPr>
          <a:xfrm>
            <a:off x="1700000" y="270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10 ?</a:t>
            </a:r>
          </a:p>
        </p:txBody>
      </p:sp>
      <p:sp>
        <p:nvSpPr>
          <p:cNvPr id="8" name="Rótulo 8"/>
          <p:cNvSpPr txBox="1"/>
          <p:nvPr/>
        </p:nvSpPr>
        <p:spPr>
          <a:xfrm>
            <a:off x="3000000" y="34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9" name="Conector 9"/>
          <p:cNvCxnSpPr/>
          <p:nvPr/>
        </p:nvCxnSpPr>
        <p:spPr>
          <a:xfrm>
            <a:off x="2900000" y="342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0" name="Decisão 10"/>
          <p:cNvSpPr/>
          <p:nvPr/>
        </p:nvSpPr>
        <p:spPr>
          <a:xfrm>
            <a:off x="1700000" y="372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% 2 = 0 ?</a:t>
            </a:r>
          </a:p>
        </p:txBody>
      </p:sp>
      <p:sp>
        <p:nvSpPr>
          <p:cNvPr id="11" name="Rótulo 11"/>
          <p:cNvSpPr txBox="1"/>
          <p:nvPr/>
        </p:nvSpPr>
        <p:spPr>
          <a:xfrm>
            <a:off x="3000000" y="44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sp>
        <p:nvSpPr>
          <p:cNvPr id="12" name="Rótulo 12"/>
          <p:cNvSpPr txBox="1"/>
          <p:nvPr/>
        </p:nvSpPr>
        <p:spPr>
          <a:xfrm>
            <a:off x="4200000" y="37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3" name="Conector 13"/>
          <p:cNvCxnSpPr/>
          <p:nvPr/>
        </p:nvCxnSpPr>
        <p:spPr>
          <a:xfrm>
            <a:off x="2900000" y="444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4" name="Fluxo 14"/>
          <p:cNvSpPr/>
          <p:nvPr/>
        </p:nvSpPr>
        <p:spPr>
          <a:xfrm>
            <a:off x="1900000" y="474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Escreva i</a:t>
            </a:r>
          </a:p>
        </p:txBody>
      </p:sp>
      <p:cxnSp>
        <p:nvCxnSpPr>
          <p:cNvPr id="15" name="Conector 15"/>
          <p:cNvCxnSpPr/>
          <p:nvPr/>
        </p:nvCxnSpPr>
        <p:spPr>
          <a:xfrm>
            <a:off x="2900000" y="512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6" name="Fluxo 16"/>
          <p:cNvSpPr/>
          <p:nvPr/>
        </p:nvSpPr>
        <p:spPr>
          <a:xfrm>
            <a:off x="1900000" y="534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7" name="Conector 17"/>
          <p:cNvCxnSpPr/>
          <p:nvPr/>
        </p:nvCxnSpPr>
        <p:spPr>
          <a:xfrm flipH="1">
            <a:off x="1200000" y="553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8" name="Conector 18"/>
          <p:cNvCxnSpPr/>
          <p:nvPr/>
        </p:nvCxnSpPr>
        <p:spPr>
          <a:xfrm flipV="1">
            <a:off x="1200000" y="3060000"/>
            <a:ext cx="0" cy="247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9" name="Conector 19"/>
          <p:cNvCxnSpPr/>
          <p:nvPr/>
        </p:nvCxnSpPr>
        <p:spPr>
          <a:xfrm>
            <a:off x="1200000" y="306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cxnSp>
        <p:nvCxnSpPr>
          <p:cNvPr id="20" name="Conector 20"/>
          <p:cNvCxnSpPr/>
          <p:nvPr/>
        </p:nvCxnSpPr>
        <p:spPr>
          <a:xfrm>
            <a:off x="4100000" y="4080000"/>
            <a:ext cx="3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1" name="Conector 21"/>
          <p:cNvCxnSpPr/>
          <p:nvPr/>
        </p:nvCxnSpPr>
        <p:spPr>
          <a:xfrm>
            <a:off x="4450000" y="4080000"/>
            <a:ext cx="0" cy="145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2" name="Conector 22"/>
          <p:cNvCxnSpPr/>
          <p:nvPr/>
        </p:nvCxnSpPr>
        <p:spPr>
          <a:xfrm flipH="1">
            <a:off x="3900000" y="5530000"/>
            <a:ext cx="55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3" name="Rótulo 23"/>
          <p:cNvSpPr txBox="1"/>
          <p:nvPr/>
        </p:nvSpPr>
        <p:spPr>
          <a:xfrm>
            <a:off x="4200000" y="27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24" name="Conector 24"/>
          <p:cNvCxnSpPr/>
          <p:nvPr/>
        </p:nvCxnSpPr>
        <p:spPr>
          <a:xfrm>
            <a:off x="4100000" y="306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5" name="Conector 25"/>
          <p:cNvCxnSpPr/>
          <p:nvPr/>
        </p:nvCxnSpPr>
        <p:spPr>
          <a:xfrm>
            <a:off x="5550000" y="306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6" name="Fluxo 26"/>
          <p:cNvSpPr/>
          <p:nvPr/>
        </p:nvSpPr>
        <p:spPr>
          <a:xfrm>
            <a:off x="4850000" y="346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27" name="Rótulo 27"/>
          <p:cNvSpPr txBox="1"/>
          <p:nvPr/>
        </p:nvSpPr>
        <p:spPr>
          <a:xfrm>
            <a:off x="7100000" y="15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28" name="Código 28"/>
          <p:cNvSpPr/>
          <p:nvPr/>
        </p:nvSpPr>
        <p:spPr>
          <a:xfrm>
            <a:off x="7100000" y="1950000"/>
            <a:ext cx="4500000" cy="140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11):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if i % 2 == 0: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    print(i)</a:t>
            </a:r>
          </a:p>
        </p:txBody>
      </p:sp>
      <p:sp>
        <p:nvSpPr>
          <p:cNvPr id="29" name="Legenda 29"/>
          <p:cNvSpPr txBox="1"/>
          <p:nvPr/>
        </p:nvSpPr>
        <p:spPr>
          <a:xfrm>
            <a:off x="7100000" y="343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if fica dentro do for: observe o recuo.</a:t>
            </a:r>
          </a:p>
        </p:txBody>
      </p:sp>
      <p:sp>
        <p:nvSpPr>
          <p:cNvPr id="30" name="Número 30"/>
          <p:cNvSpPr/>
          <p:nvPr/>
        </p:nvSpPr>
        <p:spPr>
          <a:xfrm>
            <a:off x="7100000" y="402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31" name="Texto 31"/>
          <p:cNvSpPr txBox="1"/>
          <p:nvPr/>
        </p:nvSpPr>
        <p:spPr>
          <a:xfrm>
            <a:off x="7650000" y="395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O FOR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gera cada i, de 1 a 10</a:t>
            </a:r>
          </a:p>
        </p:txBody>
      </p:sp>
      <p:sp>
        <p:nvSpPr>
          <p:cNvPr id="32" name="Número 32"/>
          <p:cNvSpPr/>
          <p:nvPr/>
        </p:nvSpPr>
        <p:spPr>
          <a:xfrm>
            <a:off x="7100000" y="464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33" name="Texto 33"/>
          <p:cNvSpPr txBox="1"/>
          <p:nvPr/>
        </p:nvSpPr>
        <p:spPr>
          <a:xfrm>
            <a:off x="7650000" y="457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O IF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pergunta: i é par?</a:t>
            </a:r>
          </a:p>
        </p:txBody>
      </p:sp>
      <p:sp>
        <p:nvSpPr>
          <p:cNvPr id="34" name="Número 34"/>
          <p:cNvSpPr/>
          <p:nvPr/>
        </p:nvSpPr>
        <p:spPr>
          <a:xfrm>
            <a:off x="7100000" y="526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35" name="Texto 35"/>
          <p:cNvSpPr txBox="1"/>
          <p:nvPr/>
        </p:nvSpPr>
        <p:spPr>
          <a:xfrm>
            <a:off x="7650000" y="5190000"/>
            <a:ext cx="39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Só se Sim,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valor é mostrado</a:t>
            </a:r>
          </a:p>
        </p:txBody>
      </p:sp>
      <p:sp>
        <p:nvSpPr>
          <p:cNvPr id="36" name="Saída 36"/>
          <p:cNvSpPr/>
          <p:nvPr/>
        </p:nvSpPr>
        <p:spPr>
          <a:xfrm>
            <a:off x="7100000" y="5900000"/>
            <a:ext cx="4500000" cy="450000"/>
          </a:xfrm>
          <a:prstGeom prst="roundRect">
            <a:avLst>
              <a:gd name="adj" fmla="val 15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2  4  6  8  10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Teste de mesa: FOR com IF</a:t>
            </a:r>
          </a:p>
        </p:txBody>
      </p:sp>
      <p:graphicFrame>
        <p:nvGraphicFramePr>
          <p:cNvPr id="3" name="Tabela 3"/>
          <p:cNvGraphicFramePr>
            <a:graphicFrameLocks noGrp="1"/>
          </p:cNvGraphicFramePr>
          <p:nvPr/>
        </p:nvGraphicFramePr>
        <p:xfrm>
          <a:off x="800000" y="1550000"/>
          <a:ext cx="6400000" cy="4800000"/>
        </p:xfrm>
        <a:graphic>
          <a:graphicData uri="http://schemas.openxmlformats.org/drawingml/2006/table">
            <a:tbl>
              <a:tblPr firstRow="1"/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i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i ≤ 10 ?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i % 2 = 0 ?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</a:rPr>
                        <a:t>Saída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2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2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3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4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4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5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6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6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7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8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8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9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10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Sim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rgbClr val="272525"/>
                          </a:solidFill>
                          <a:latin typeface="Inter"/>
                          <a:ea typeface="Inter"/>
                          <a:cs typeface="Inter"/>
                        </a:rPr>
                        <a:t>10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E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11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Não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—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 dirty="0">
                          <a:solidFill>
                            <a:srgbClr val="272525"/>
                          </a:solidFill>
                          <a:latin typeface="Inter Bold"/>
                          <a:ea typeface="Inter Bold"/>
                          <a:cs typeface="Inter Bold"/>
                        </a:rPr>
                        <a:t>fim do laço</a:t>
                      </a:r>
                    </a:p>
                  </a:txBody>
                  <a:tcPr marL="60000" marR="60000" marT="25000" marB="250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CE0"/>
                      </a:solidFill>
                    </a:lnB>
                    <a:solidFill>
                      <a:srgbClr val="E3E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Rótulo 4"/>
          <p:cNvSpPr txBox="1"/>
          <p:nvPr/>
        </p:nvSpPr>
        <p:spPr>
          <a:xfrm>
            <a:off x="7600000" y="1550000"/>
            <a:ext cx="40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Como ler a tabela</a:t>
            </a:r>
          </a:p>
        </p:txBody>
      </p:sp>
      <p:sp>
        <p:nvSpPr>
          <p:cNvPr id="5" name="Número 5"/>
          <p:cNvSpPr/>
          <p:nvPr/>
        </p:nvSpPr>
        <p:spPr>
          <a:xfrm>
            <a:off x="7600000" y="227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8150000" y="2200000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O FOR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testa i ≤ 10 a cada volta</a:t>
            </a:r>
          </a:p>
        </p:txBody>
      </p:sp>
      <p:sp>
        <p:nvSpPr>
          <p:cNvPr id="7" name="Número 7"/>
          <p:cNvSpPr/>
          <p:nvPr/>
        </p:nvSpPr>
        <p:spPr>
          <a:xfrm>
            <a:off x="7600000" y="289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8150000" y="2820000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O IF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testa se i é par</a:t>
            </a:r>
          </a:p>
        </p:txBody>
      </p:sp>
      <p:sp>
        <p:nvSpPr>
          <p:cNvPr id="9" name="Número 9"/>
          <p:cNvSpPr/>
          <p:nvPr/>
        </p:nvSpPr>
        <p:spPr>
          <a:xfrm>
            <a:off x="7600000" y="3515000"/>
            <a:ext cx="400000" cy="4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8150000" y="3440000"/>
            <a:ext cx="345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 só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quando o IF é Sim</a:t>
            </a:r>
          </a:p>
        </p:txBody>
      </p:sp>
      <p:sp>
        <p:nvSpPr>
          <p:cNvPr id="11" name="Saída 11"/>
          <p:cNvSpPr/>
          <p:nvPr/>
        </p:nvSpPr>
        <p:spPr>
          <a:xfrm>
            <a:off x="7600000" y="4400000"/>
            <a:ext cx="4000000" cy="500000"/>
          </a:xfrm>
          <a:prstGeom prst="roundRect">
            <a:avLst>
              <a:gd name="adj" fmla="val 15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2  4  6  8  10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Vamos fazer juntos 3: par ou ímpar de 1 a 6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168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206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28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266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Decisão 7"/>
          <p:cNvSpPr/>
          <p:nvPr/>
        </p:nvSpPr>
        <p:spPr>
          <a:xfrm>
            <a:off x="1700000" y="288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6 ?</a:t>
            </a:r>
          </a:p>
        </p:txBody>
      </p:sp>
      <p:sp>
        <p:nvSpPr>
          <p:cNvPr id="8" name="Rótulo 8"/>
          <p:cNvSpPr txBox="1"/>
          <p:nvPr/>
        </p:nvSpPr>
        <p:spPr>
          <a:xfrm>
            <a:off x="3000000" y="36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9" name="Conector 9"/>
          <p:cNvCxnSpPr/>
          <p:nvPr/>
        </p:nvCxnSpPr>
        <p:spPr>
          <a:xfrm>
            <a:off x="2900000" y="360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0" name="Decisão 10"/>
          <p:cNvSpPr/>
          <p:nvPr/>
        </p:nvSpPr>
        <p:spPr>
          <a:xfrm>
            <a:off x="1700000" y="390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% 2 = 0 ?</a:t>
            </a:r>
          </a:p>
        </p:txBody>
      </p:sp>
      <p:sp>
        <p:nvSpPr>
          <p:cNvPr id="11" name="Rótulo 11"/>
          <p:cNvSpPr txBox="1"/>
          <p:nvPr/>
        </p:nvSpPr>
        <p:spPr>
          <a:xfrm>
            <a:off x="3000000" y="46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sp>
        <p:nvSpPr>
          <p:cNvPr id="12" name="Rótulo 12"/>
          <p:cNvSpPr txBox="1"/>
          <p:nvPr/>
        </p:nvSpPr>
        <p:spPr>
          <a:xfrm>
            <a:off x="4200000" y="39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3" name="Conector 13"/>
          <p:cNvCxnSpPr/>
          <p:nvPr/>
        </p:nvCxnSpPr>
        <p:spPr>
          <a:xfrm>
            <a:off x="2900000" y="462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4" name="Fluxo 14"/>
          <p:cNvSpPr/>
          <p:nvPr/>
        </p:nvSpPr>
        <p:spPr>
          <a:xfrm>
            <a:off x="1900000" y="49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Mostre i: par</a:t>
            </a:r>
          </a:p>
        </p:txBody>
      </p:sp>
      <p:cxnSp>
        <p:nvCxnSpPr>
          <p:cNvPr id="15" name="Conector 15"/>
          <p:cNvCxnSpPr/>
          <p:nvPr/>
        </p:nvCxnSpPr>
        <p:spPr>
          <a:xfrm>
            <a:off x="2900000" y="530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6" name="Fluxo 16"/>
          <p:cNvSpPr/>
          <p:nvPr/>
        </p:nvSpPr>
        <p:spPr>
          <a:xfrm>
            <a:off x="1900000" y="55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7" name="Conector 17"/>
          <p:cNvCxnSpPr/>
          <p:nvPr/>
        </p:nvCxnSpPr>
        <p:spPr>
          <a:xfrm flipH="1">
            <a:off x="1200000" y="571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8" name="Conector 18"/>
          <p:cNvCxnSpPr/>
          <p:nvPr/>
        </p:nvCxnSpPr>
        <p:spPr>
          <a:xfrm flipV="1">
            <a:off x="1200000" y="3240000"/>
            <a:ext cx="0" cy="247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19" name="Conector 19"/>
          <p:cNvCxnSpPr/>
          <p:nvPr/>
        </p:nvCxnSpPr>
        <p:spPr>
          <a:xfrm>
            <a:off x="1200000" y="324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cxnSp>
        <p:nvCxnSpPr>
          <p:cNvPr id="20" name="Conector 20"/>
          <p:cNvCxnSpPr/>
          <p:nvPr/>
        </p:nvCxnSpPr>
        <p:spPr>
          <a:xfrm>
            <a:off x="4100000" y="4260000"/>
            <a:ext cx="13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1" name="Conector 21"/>
          <p:cNvCxnSpPr/>
          <p:nvPr/>
        </p:nvCxnSpPr>
        <p:spPr>
          <a:xfrm>
            <a:off x="5450000" y="4260000"/>
            <a:ext cx="0" cy="66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2" name="Fluxo 22"/>
          <p:cNvSpPr/>
          <p:nvPr/>
        </p:nvSpPr>
        <p:spPr>
          <a:xfrm>
            <a:off x="4450000" y="492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Mostre i: ímpar</a:t>
            </a:r>
          </a:p>
        </p:txBody>
      </p:sp>
      <p:cxnSp>
        <p:nvCxnSpPr>
          <p:cNvPr id="23" name="Conector 23"/>
          <p:cNvCxnSpPr/>
          <p:nvPr/>
        </p:nvCxnSpPr>
        <p:spPr>
          <a:xfrm>
            <a:off x="5450000" y="5300000"/>
            <a:ext cx="0" cy="41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4" name="Conector 24"/>
          <p:cNvCxnSpPr/>
          <p:nvPr/>
        </p:nvCxnSpPr>
        <p:spPr>
          <a:xfrm flipH="1">
            <a:off x="3900000" y="5710000"/>
            <a:ext cx="155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5" name="Rótulo 25"/>
          <p:cNvSpPr txBox="1"/>
          <p:nvPr/>
        </p:nvSpPr>
        <p:spPr>
          <a:xfrm>
            <a:off x="4200000" y="289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26" name="Conector 26"/>
          <p:cNvCxnSpPr/>
          <p:nvPr/>
        </p:nvCxnSpPr>
        <p:spPr>
          <a:xfrm>
            <a:off x="4100000" y="324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7" name="Conector 27"/>
          <p:cNvCxnSpPr/>
          <p:nvPr/>
        </p:nvCxnSpPr>
        <p:spPr>
          <a:xfrm>
            <a:off x="5550000" y="324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8" name="Fluxo 28"/>
          <p:cNvSpPr/>
          <p:nvPr/>
        </p:nvSpPr>
        <p:spPr>
          <a:xfrm>
            <a:off x="4850000" y="364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29" name="Rótulo 29"/>
          <p:cNvSpPr txBox="1"/>
          <p:nvPr/>
        </p:nvSpPr>
        <p:spPr>
          <a:xfrm>
            <a:off x="7100000" y="15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30" name="Código 30"/>
          <p:cNvSpPr/>
          <p:nvPr/>
        </p:nvSpPr>
        <p:spPr>
          <a:xfrm>
            <a:off x="7100000" y="1950000"/>
            <a:ext cx="4500000" cy="195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7):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if i % 2 == 0: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    print(i, "par")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else: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    print(i, "ímpar")</a:t>
            </a:r>
          </a:p>
        </p:txBody>
      </p:sp>
      <p:sp>
        <p:nvSpPr>
          <p:cNvPr id="31" name="Pergunta 31"/>
          <p:cNvSpPr/>
          <p:nvPr/>
        </p:nvSpPr>
        <p:spPr>
          <a:xfrm>
            <a:off x="7100000" y="4200000"/>
            <a:ext cx="4500000" cy="1150000"/>
          </a:xfrm>
          <a:prstGeom prst="roundRect">
            <a:avLst>
              <a:gd name="adj" fmla="val 8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80000" rIns="150000" bIns="8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Pergunte à turma: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 se tirarmos o else, o que deixa de aparecer?</a:t>
            </a:r>
          </a:p>
        </p:txBody>
      </p:sp>
      <p:sp>
        <p:nvSpPr>
          <p:cNvPr id="32" name="Saída 32"/>
          <p:cNvSpPr/>
          <p:nvPr/>
        </p:nvSpPr>
        <p:spPr>
          <a:xfrm>
            <a:off x="7100000" y="5600000"/>
            <a:ext cx="4500000" cy="450000"/>
          </a:xfrm>
          <a:prstGeom prst="roundRect">
            <a:avLst>
              <a:gd name="adj" fmla="val 15000"/>
            </a:avLst>
          </a:prstGeom>
          <a:solidFill>
            <a:srgbClr val="EEF0FA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1 ímpar | 2 par ..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Vamos fazer juntos 4: soma dos pares de 1 a 10</a:t>
            </a:r>
          </a:p>
        </p:txBody>
      </p:sp>
      <p:sp>
        <p:nvSpPr>
          <p:cNvPr id="3" name="Fluxo 3"/>
          <p:cNvSpPr/>
          <p:nvPr/>
        </p:nvSpPr>
        <p:spPr>
          <a:xfrm>
            <a:off x="2200000" y="150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Início</a:t>
            </a:r>
          </a:p>
        </p:txBody>
      </p:sp>
      <p:cxnSp>
        <p:nvCxnSpPr>
          <p:cNvPr id="4" name="Conector 4"/>
          <p:cNvCxnSpPr/>
          <p:nvPr/>
        </p:nvCxnSpPr>
        <p:spPr>
          <a:xfrm>
            <a:off x="2900000" y="18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5" name="Fluxo 5"/>
          <p:cNvSpPr/>
          <p:nvPr/>
        </p:nvSpPr>
        <p:spPr>
          <a:xfrm>
            <a:off x="1900000" y="21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soma ← 0</a:t>
            </a:r>
          </a:p>
        </p:txBody>
      </p:sp>
      <p:cxnSp>
        <p:nvCxnSpPr>
          <p:cNvPr id="6" name="Conector 6"/>
          <p:cNvCxnSpPr/>
          <p:nvPr/>
        </p:nvCxnSpPr>
        <p:spPr>
          <a:xfrm>
            <a:off x="2900000" y="24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7" name="Fluxo 7"/>
          <p:cNvSpPr/>
          <p:nvPr/>
        </p:nvSpPr>
        <p:spPr>
          <a:xfrm>
            <a:off x="1900000" y="270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1</a:t>
            </a:r>
          </a:p>
        </p:txBody>
      </p:sp>
      <p:cxnSp>
        <p:nvCxnSpPr>
          <p:cNvPr id="8" name="Conector 8"/>
          <p:cNvCxnSpPr/>
          <p:nvPr/>
        </p:nvCxnSpPr>
        <p:spPr>
          <a:xfrm>
            <a:off x="2900000" y="308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9" name="Decisão 9"/>
          <p:cNvSpPr/>
          <p:nvPr/>
        </p:nvSpPr>
        <p:spPr>
          <a:xfrm>
            <a:off x="1700000" y="330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≤ 10 ?</a:t>
            </a:r>
          </a:p>
        </p:txBody>
      </p:sp>
      <p:sp>
        <p:nvSpPr>
          <p:cNvPr id="10" name="Rótulo 10"/>
          <p:cNvSpPr txBox="1"/>
          <p:nvPr/>
        </p:nvSpPr>
        <p:spPr>
          <a:xfrm>
            <a:off x="3000000" y="40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cxnSp>
        <p:nvCxnSpPr>
          <p:cNvPr id="11" name="Conector 11"/>
          <p:cNvCxnSpPr/>
          <p:nvPr/>
        </p:nvCxnSpPr>
        <p:spPr>
          <a:xfrm>
            <a:off x="2900000" y="402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2" name="Decisão 12"/>
          <p:cNvSpPr/>
          <p:nvPr/>
        </p:nvSpPr>
        <p:spPr>
          <a:xfrm>
            <a:off x="1700000" y="4320000"/>
            <a:ext cx="2400000" cy="720000"/>
          </a:xfrm>
          <a:prstGeom prst="flowChartDecision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% 2 = 0 ?</a:t>
            </a:r>
          </a:p>
        </p:txBody>
      </p:sp>
      <p:sp>
        <p:nvSpPr>
          <p:cNvPr id="13" name="Rótulo 13"/>
          <p:cNvSpPr txBox="1"/>
          <p:nvPr/>
        </p:nvSpPr>
        <p:spPr>
          <a:xfrm>
            <a:off x="3000000" y="5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Sim</a:t>
            </a:r>
          </a:p>
        </p:txBody>
      </p:sp>
      <p:sp>
        <p:nvSpPr>
          <p:cNvPr id="14" name="Rótulo 14"/>
          <p:cNvSpPr txBox="1"/>
          <p:nvPr/>
        </p:nvSpPr>
        <p:spPr>
          <a:xfrm>
            <a:off x="4200000" y="43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15" name="Conector 15"/>
          <p:cNvCxnSpPr/>
          <p:nvPr/>
        </p:nvCxnSpPr>
        <p:spPr>
          <a:xfrm>
            <a:off x="2900000" y="5040000"/>
            <a:ext cx="0" cy="3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6" name="Fluxo 16"/>
          <p:cNvSpPr/>
          <p:nvPr/>
        </p:nvSpPr>
        <p:spPr>
          <a:xfrm>
            <a:off x="1900000" y="534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soma ← soma + i</a:t>
            </a:r>
          </a:p>
        </p:txBody>
      </p:sp>
      <p:cxnSp>
        <p:nvCxnSpPr>
          <p:cNvPr id="17" name="Conector 17"/>
          <p:cNvCxnSpPr/>
          <p:nvPr/>
        </p:nvCxnSpPr>
        <p:spPr>
          <a:xfrm>
            <a:off x="2900000" y="572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18" name="Fluxo 18"/>
          <p:cNvSpPr/>
          <p:nvPr/>
        </p:nvSpPr>
        <p:spPr>
          <a:xfrm>
            <a:off x="1900000" y="5940000"/>
            <a:ext cx="20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 ← i + 1</a:t>
            </a:r>
          </a:p>
        </p:txBody>
      </p:sp>
      <p:cxnSp>
        <p:nvCxnSpPr>
          <p:cNvPr id="19" name="Conector 19"/>
          <p:cNvCxnSpPr/>
          <p:nvPr/>
        </p:nvCxnSpPr>
        <p:spPr>
          <a:xfrm flipH="1">
            <a:off x="1200000" y="6130000"/>
            <a:ext cx="70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0" name="Conector 20"/>
          <p:cNvCxnSpPr/>
          <p:nvPr/>
        </p:nvCxnSpPr>
        <p:spPr>
          <a:xfrm flipV="1">
            <a:off x="1200000" y="3660000"/>
            <a:ext cx="0" cy="247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1" name="Conector 21"/>
          <p:cNvCxnSpPr/>
          <p:nvPr/>
        </p:nvCxnSpPr>
        <p:spPr>
          <a:xfrm>
            <a:off x="1200000" y="3660000"/>
            <a:ext cx="50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cxnSp>
        <p:nvCxnSpPr>
          <p:cNvPr id="22" name="Conector 22"/>
          <p:cNvCxnSpPr/>
          <p:nvPr/>
        </p:nvCxnSpPr>
        <p:spPr>
          <a:xfrm>
            <a:off x="4100000" y="4680000"/>
            <a:ext cx="3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3" name="Conector 23"/>
          <p:cNvCxnSpPr/>
          <p:nvPr/>
        </p:nvCxnSpPr>
        <p:spPr>
          <a:xfrm>
            <a:off x="4450000" y="4680000"/>
            <a:ext cx="0" cy="145000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4" name="Conector 24"/>
          <p:cNvCxnSpPr/>
          <p:nvPr/>
        </p:nvCxnSpPr>
        <p:spPr>
          <a:xfrm flipH="1">
            <a:off x="3900000" y="6130000"/>
            <a:ext cx="550000" cy="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5" name="Rótulo 25"/>
          <p:cNvSpPr txBox="1"/>
          <p:nvPr/>
        </p:nvSpPr>
        <p:spPr>
          <a:xfrm>
            <a:off x="4200000" y="331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Não</a:t>
            </a:r>
          </a:p>
        </p:txBody>
      </p:sp>
      <p:cxnSp>
        <p:nvCxnSpPr>
          <p:cNvPr id="26" name="Conector 26"/>
          <p:cNvCxnSpPr/>
          <p:nvPr/>
        </p:nvCxnSpPr>
        <p:spPr>
          <a:xfrm>
            <a:off x="4100000" y="3660000"/>
            <a:ext cx="1450000" cy="0"/>
          </a:xfrm>
          <a:prstGeom prst="straightConnector1">
            <a:avLst/>
          </a:prstGeom>
          <a:ln w="28575">
            <a:solidFill>
              <a:srgbClr val="043073"/>
            </a:solidFill>
          </a:ln>
        </p:spPr>
      </p:cxnSp>
      <p:cxnSp>
        <p:nvCxnSpPr>
          <p:cNvPr id="27" name="Conector 27"/>
          <p:cNvCxnSpPr/>
          <p:nvPr/>
        </p:nvCxnSpPr>
        <p:spPr>
          <a:xfrm>
            <a:off x="5550000" y="3660000"/>
            <a:ext cx="0" cy="40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28" name="Fluxo 28"/>
          <p:cNvSpPr/>
          <p:nvPr/>
        </p:nvSpPr>
        <p:spPr>
          <a:xfrm>
            <a:off x="4650000" y="4060000"/>
            <a:ext cx="1800000" cy="380000"/>
          </a:xfrm>
          <a:prstGeom prst="rect">
            <a:avLst/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Escreva soma</a:t>
            </a:r>
          </a:p>
        </p:txBody>
      </p:sp>
      <p:cxnSp>
        <p:nvCxnSpPr>
          <p:cNvPr id="29" name="Conector 29"/>
          <p:cNvCxnSpPr/>
          <p:nvPr/>
        </p:nvCxnSpPr>
        <p:spPr>
          <a:xfrm>
            <a:off x="5550000" y="4440000"/>
            <a:ext cx="0" cy="220000"/>
          </a:xfrm>
          <a:prstGeom prst="straightConnector1">
            <a:avLst/>
          </a:prstGeom>
          <a:ln w="28575">
            <a:solidFill>
              <a:srgbClr val="043073"/>
            </a:solidFill>
            <a:tailEnd type="triangle"/>
          </a:ln>
        </p:spPr>
      </p:cxnSp>
      <p:sp>
        <p:nvSpPr>
          <p:cNvPr id="30" name="Fluxo 30"/>
          <p:cNvSpPr/>
          <p:nvPr/>
        </p:nvSpPr>
        <p:spPr>
          <a:xfrm>
            <a:off x="4850000" y="4660000"/>
            <a:ext cx="1400000" cy="38000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4307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Fim</a:t>
            </a:r>
          </a:p>
        </p:txBody>
      </p:sp>
      <p:sp>
        <p:nvSpPr>
          <p:cNvPr id="31" name="Rótulo 31"/>
          <p:cNvSpPr txBox="1"/>
          <p:nvPr/>
        </p:nvSpPr>
        <p:spPr>
          <a:xfrm>
            <a:off x="7100000" y="150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Python</a:t>
            </a:r>
          </a:p>
        </p:txBody>
      </p:sp>
      <p:sp>
        <p:nvSpPr>
          <p:cNvPr id="32" name="Código 32"/>
          <p:cNvSpPr/>
          <p:nvPr/>
        </p:nvSpPr>
        <p:spPr>
          <a:xfrm>
            <a:off x="7100000" y="1950000"/>
            <a:ext cx="4500000" cy="1950000"/>
          </a:xfrm>
          <a:prstGeom prst="rect">
            <a:avLst/>
          </a:prstGeom>
          <a:solidFill>
            <a:srgbClr val="F3F4F8"/>
          </a:solidFill>
          <a:ln w="9525">
            <a:solidFill>
              <a:srgbClr val="C9CCE0"/>
            </a:solidFill>
          </a:ln>
        </p:spPr>
        <p:txBody>
          <a:bodyPr wrap="square" lIns="150000" tIns="90000" rIns="100000" bIns="9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soma = 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for i in range(1, 11):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if i % 2 == 0: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        soma = soma + 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print(soma)</a:t>
            </a:r>
          </a:p>
        </p:txBody>
      </p:sp>
      <p:sp>
        <p:nvSpPr>
          <p:cNvPr id="33" name="Pergunta 33"/>
          <p:cNvSpPr/>
          <p:nvPr/>
        </p:nvSpPr>
        <p:spPr>
          <a:xfrm>
            <a:off x="7100000" y="4200000"/>
            <a:ext cx="4500000" cy="1150000"/>
          </a:xfrm>
          <a:prstGeom prst="roundRect">
            <a:avLst>
              <a:gd name="adj" fmla="val 8000"/>
            </a:avLst>
          </a:prstGeom>
          <a:solidFill>
            <a:srgbClr val="E3E5F6"/>
          </a:solidFill>
          <a:ln>
            <a:noFill/>
          </a:ln>
        </p:spPr>
        <p:txBody>
          <a:bodyPr wrap="square" lIns="200000" tIns="80000" rIns="150000" bIns="8000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Pergunte à turma: </a:t>
            </a: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em quais voltas a soma muda? (2, 6, 12, 20, 30)</a:t>
            </a:r>
          </a:p>
        </p:txBody>
      </p:sp>
      <p:sp>
        <p:nvSpPr>
          <p:cNvPr id="34" name="Saída 34"/>
          <p:cNvSpPr/>
          <p:nvPr/>
        </p:nvSpPr>
        <p:spPr>
          <a:xfrm>
            <a:off x="7100000" y="5600000"/>
            <a:ext cx="4500000" cy="450000"/>
          </a:xfrm>
          <a:prstGeom prst="roundRect">
            <a:avLst>
              <a:gd name="adj" fmla="val 15000"/>
            </a:avLst>
          </a:prstGeom>
          <a:solidFill>
            <a:srgbClr val="EEF0FA"/>
          </a:solidFill>
          <a:ln>
            <a:noFill/>
          </a:ln>
        </p:spPr>
        <p:txBody>
          <a:bodyPr wrap="square" lIns="200000" tIns="0" rIns="10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Saída:  </a:t>
            </a:r>
            <a:r>
              <a:rPr lang="pt-BR" sz="16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Cuidados com o laço</a:t>
            </a:r>
          </a:p>
        </p:txBody>
      </p:sp>
      <p:sp>
        <p:nvSpPr>
          <p:cNvPr id="3" name="Intro 3"/>
          <p:cNvSpPr txBox="1"/>
          <p:nvPr/>
        </p:nvSpPr>
        <p:spPr>
          <a:xfrm>
            <a:off x="800000" y="1550000"/>
            <a:ext cx="108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Três erros comuns</a:t>
            </a:r>
            <a:r>
              <a:rPr lang="pt-BR" sz="18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 que vocês vão encontrar nos exercícios.</a:t>
            </a:r>
          </a:p>
        </p:txBody>
      </p:sp>
      <p:sp>
        <p:nvSpPr>
          <p:cNvPr id="4" name="Cartão 4"/>
          <p:cNvSpPr/>
          <p:nvPr/>
        </p:nvSpPr>
        <p:spPr>
          <a:xfrm>
            <a:off x="8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5" name="Número 5"/>
          <p:cNvSpPr/>
          <p:nvPr/>
        </p:nvSpPr>
        <p:spPr>
          <a:xfrm>
            <a:off x="11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!</a:t>
            </a:r>
          </a:p>
        </p:txBody>
      </p:sp>
      <p:sp>
        <p:nvSpPr>
          <p:cNvPr id="6" name="Título 6"/>
          <p:cNvSpPr txBox="1"/>
          <p:nvPr/>
        </p:nvSpPr>
        <p:spPr>
          <a:xfrm>
            <a:off x="17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Laço infinito</a:t>
            </a:r>
          </a:p>
        </p:txBody>
      </p:sp>
      <p:sp>
        <p:nvSpPr>
          <p:cNvPr id="7" name="Código 7"/>
          <p:cNvSpPr/>
          <p:nvPr/>
        </p:nvSpPr>
        <p:spPr>
          <a:xfrm>
            <a:off x="11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i nunca muda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11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Sem o passo i ← i + 1, a condição nunca vira Não e o programa não termina.</a:t>
            </a:r>
          </a:p>
        </p:txBody>
      </p:sp>
      <p:sp>
        <p:nvSpPr>
          <p:cNvPr id="9" name="Cartão 9"/>
          <p:cNvSpPr/>
          <p:nvPr/>
        </p:nvSpPr>
        <p:spPr>
          <a:xfrm>
            <a:off x="45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10" name="Número 10"/>
          <p:cNvSpPr/>
          <p:nvPr/>
        </p:nvSpPr>
        <p:spPr>
          <a:xfrm>
            <a:off x="48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!</a:t>
            </a:r>
          </a:p>
        </p:txBody>
      </p:sp>
      <p:sp>
        <p:nvSpPr>
          <p:cNvPr id="11" name="Título 11"/>
          <p:cNvSpPr txBox="1"/>
          <p:nvPr/>
        </p:nvSpPr>
        <p:spPr>
          <a:xfrm>
            <a:off x="54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Fora por um</a:t>
            </a:r>
          </a:p>
        </p:txBody>
      </p:sp>
      <p:sp>
        <p:nvSpPr>
          <p:cNvPr id="12" name="Código 12"/>
          <p:cNvSpPr/>
          <p:nvPr/>
        </p:nvSpPr>
        <p:spPr>
          <a:xfrm>
            <a:off x="48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range(1, 11)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48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range(1, 6) vai até 5. Para chegar até 10, o limite é 11.</a:t>
            </a:r>
          </a:p>
        </p:txBody>
      </p:sp>
      <p:sp>
        <p:nvSpPr>
          <p:cNvPr id="14" name="Cartão 14"/>
          <p:cNvSpPr/>
          <p:nvPr/>
        </p:nvSpPr>
        <p:spPr>
          <a:xfrm>
            <a:off x="8200000" y="2350000"/>
            <a:ext cx="3400000" cy="2950000"/>
          </a:xfrm>
          <a:prstGeom prst="roundRect">
            <a:avLst>
              <a:gd name="adj" fmla="val 6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15" name="Número 15"/>
          <p:cNvSpPr/>
          <p:nvPr/>
        </p:nvSpPr>
        <p:spPr>
          <a:xfrm>
            <a:off x="8500000" y="260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!</a:t>
            </a:r>
          </a:p>
        </p:txBody>
      </p:sp>
      <p:sp>
        <p:nvSpPr>
          <p:cNvPr id="16" name="Título 16"/>
          <p:cNvSpPr txBox="1"/>
          <p:nvPr/>
        </p:nvSpPr>
        <p:spPr>
          <a:xfrm>
            <a:off x="9150000" y="260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Acumulador</a:t>
            </a:r>
          </a:p>
        </p:txBody>
      </p:sp>
      <p:sp>
        <p:nvSpPr>
          <p:cNvPr id="17" name="Código 17"/>
          <p:cNvSpPr/>
          <p:nvPr/>
        </p:nvSpPr>
        <p:spPr>
          <a:xfrm>
            <a:off x="8500000" y="3300000"/>
            <a:ext cx="2800000" cy="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soma = 0</a:t>
            </a:r>
          </a:p>
        </p:txBody>
      </p:sp>
      <p:sp>
        <p:nvSpPr>
          <p:cNvPr id="18" name="Texto 18"/>
          <p:cNvSpPr txBox="1"/>
          <p:nvPr/>
        </p:nvSpPr>
        <p:spPr>
          <a:xfrm>
            <a:off x="8500000" y="4050000"/>
            <a:ext cx="28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Zere a soma antes do laço. Sem isso, o resultado sai errado.</a:t>
            </a:r>
          </a:p>
        </p:txBody>
      </p:sp>
      <p:sp>
        <p:nvSpPr>
          <p:cNvPr id="19" name="Destaque 19"/>
          <p:cNvSpPr/>
          <p:nvPr/>
        </p:nvSpPr>
        <p:spPr>
          <a:xfrm>
            <a:off x="800000" y="5600000"/>
            <a:ext cx="10800000" cy="750000"/>
          </a:xfrm>
          <a:prstGeom prst="roundRect">
            <a:avLst>
              <a:gd name="adj" fmla="val 12000"/>
            </a:avLst>
          </a:prstGeom>
          <a:solidFill>
            <a:srgbClr val="E3E5F6"/>
          </a:solidFill>
          <a:ln>
            <a:noFill/>
          </a:ln>
        </p:spPr>
        <p:txBody>
          <a:bodyPr wrap="square" lIns="250000" tIns="0" rIns="1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Na dúvida, </a:t>
            </a: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faça o teste de mesa: anote i e as saídas, volta por volta.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Desafios: laço FOR</a:t>
            </a:r>
          </a:p>
        </p:txBody>
      </p:sp>
      <p:sp>
        <p:nvSpPr>
          <p:cNvPr id="3" name="Cartão 3"/>
          <p:cNvSpPr/>
          <p:nvPr/>
        </p:nvSpPr>
        <p:spPr>
          <a:xfrm>
            <a:off x="800000" y="1750000"/>
            <a:ext cx="3400000" cy="3900000"/>
          </a:xfrm>
          <a:prstGeom prst="roundRect">
            <a:avLst>
              <a:gd name="adj" fmla="val 5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4" name="Número 4"/>
          <p:cNvSpPr/>
          <p:nvPr/>
        </p:nvSpPr>
        <p:spPr>
          <a:xfrm>
            <a:off x="1100000" y="203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1</a:t>
            </a:r>
          </a:p>
        </p:txBody>
      </p:sp>
      <p:sp>
        <p:nvSpPr>
          <p:cNvPr id="5" name="Título 5"/>
          <p:cNvSpPr txBox="1"/>
          <p:nvPr/>
        </p:nvSpPr>
        <p:spPr>
          <a:xfrm>
            <a:off x="1750000" y="2030000"/>
            <a:ext cx="22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Contagem regressiva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1100000" y="2750000"/>
            <a:ext cx="28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Mostre os números de 10 até 1 e, no final, a mensagem Fim! Dica: o contador diminui a cada volta.</a:t>
            </a:r>
          </a:p>
        </p:txBody>
      </p:sp>
      <p:sp>
        <p:nvSpPr>
          <p:cNvPr id="7" name="Exemplo 7"/>
          <p:cNvSpPr/>
          <p:nvPr/>
        </p:nvSpPr>
        <p:spPr>
          <a:xfrm>
            <a:off x="1100000" y="4650000"/>
            <a:ext cx="2800000" cy="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60000" tIns="0" rIns="6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10  9  8  ...  1  Fim!</a:t>
            </a:r>
          </a:p>
        </p:txBody>
      </p:sp>
      <p:sp>
        <p:nvSpPr>
          <p:cNvPr id="8" name="Cartão 8"/>
          <p:cNvSpPr/>
          <p:nvPr/>
        </p:nvSpPr>
        <p:spPr>
          <a:xfrm>
            <a:off x="4500000" y="1750000"/>
            <a:ext cx="3400000" cy="3900000"/>
          </a:xfrm>
          <a:prstGeom prst="roundRect">
            <a:avLst>
              <a:gd name="adj" fmla="val 5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9" name="Número 9"/>
          <p:cNvSpPr/>
          <p:nvPr/>
        </p:nvSpPr>
        <p:spPr>
          <a:xfrm>
            <a:off x="4800000" y="203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2</a:t>
            </a:r>
          </a:p>
        </p:txBody>
      </p:sp>
      <p:sp>
        <p:nvSpPr>
          <p:cNvPr id="10" name="Título 10"/>
          <p:cNvSpPr txBox="1"/>
          <p:nvPr/>
        </p:nvSpPr>
        <p:spPr>
          <a:xfrm>
            <a:off x="5450000" y="2030000"/>
            <a:ext cx="22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Tabuada</a:t>
            </a:r>
          </a:p>
        </p:txBody>
      </p:sp>
      <p:sp>
        <p:nvSpPr>
          <p:cNvPr id="11" name="Texto 11"/>
          <p:cNvSpPr txBox="1"/>
          <p:nvPr/>
        </p:nvSpPr>
        <p:spPr>
          <a:xfrm>
            <a:off x="4800000" y="2750000"/>
            <a:ext cx="28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Leia um número n e mostre a tabuada dele de 1 a 10, no formato n x i = resultado.</a:t>
            </a:r>
          </a:p>
        </p:txBody>
      </p:sp>
      <p:sp>
        <p:nvSpPr>
          <p:cNvPr id="12" name="Exemplo 12"/>
          <p:cNvSpPr/>
          <p:nvPr/>
        </p:nvSpPr>
        <p:spPr>
          <a:xfrm>
            <a:off x="4800000" y="4650000"/>
            <a:ext cx="2800000" cy="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60000" tIns="0" rIns="6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5 x 1 = 5 ... 5 x 10 = 50</a:t>
            </a:r>
          </a:p>
        </p:txBody>
      </p:sp>
      <p:sp>
        <p:nvSpPr>
          <p:cNvPr id="13" name="Cartão 13"/>
          <p:cNvSpPr/>
          <p:nvPr/>
        </p:nvSpPr>
        <p:spPr>
          <a:xfrm>
            <a:off x="8200000" y="1750000"/>
            <a:ext cx="3400000" cy="3900000"/>
          </a:xfrm>
          <a:prstGeom prst="roundRect">
            <a:avLst>
              <a:gd name="adj" fmla="val 5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14" name="Número 14"/>
          <p:cNvSpPr/>
          <p:nvPr/>
        </p:nvSpPr>
        <p:spPr>
          <a:xfrm>
            <a:off x="8500000" y="203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3</a:t>
            </a:r>
          </a:p>
        </p:txBody>
      </p:sp>
      <p:sp>
        <p:nvSpPr>
          <p:cNvPr id="15" name="Título 15"/>
          <p:cNvSpPr txBox="1"/>
          <p:nvPr/>
        </p:nvSpPr>
        <p:spPr>
          <a:xfrm>
            <a:off x="9150000" y="2030000"/>
            <a:ext cx="22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Média das notas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8500000" y="2750000"/>
            <a:ext cx="28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Leia 5 notas, uma por vez, some todas e mostre a média. Dica: use um acumulador, como na soma.</a:t>
            </a:r>
          </a:p>
        </p:txBody>
      </p:sp>
      <p:sp>
        <p:nvSpPr>
          <p:cNvPr id="17" name="Exemplo 17"/>
          <p:cNvSpPr/>
          <p:nvPr/>
        </p:nvSpPr>
        <p:spPr>
          <a:xfrm>
            <a:off x="8500000" y="4650000"/>
            <a:ext cx="2800000" cy="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60000" tIns="0" rIns="6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8 6 7 9 5 → Média = 7.0</a:t>
            </a:r>
          </a:p>
        </p:txBody>
      </p:sp>
      <p:sp>
        <p:nvSpPr>
          <p:cNvPr id="18" name="Legenda 18"/>
          <p:cNvSpPr txBox="1"/>
          <p:nvPr/>
        </p:nvSpPr>
        <p:spPr>
          <a:xfrm>
            <a:off x="800000" y="5900000"/>
            <a:ext cx="108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cada desafio: </a:t>
            </a: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desenhe o fluxograma e depois escreva o código em Python.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"/>
          <p:cNvSpPr txBox="1"/>
          <p:nvPr/>
        </p:nvSpPr>
        <p:spPr>
          <a:xfrm>
            <a:off x="966267" y="832247"/>
            <a:ext cx="10868745" cy="5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2350" b="1" spc="-72" dirty="0">
                <a:solidFill>
                  <a:srgbClr val="000000"/>
                </a:solidFill>
                <a:latin typeface="Inter Bold"/>
                <a:ea typeface="Inter Bold"/>
                <a:cs typeface="Inter Bold"/>
              </a:rPr>
              <a:t>Desafios: FOR com IF</a:t>
            </a:r>
          </a:p>
        </p:txBody>
      </p:sp>
      <p:sp>
        <p:nvSpPr>
          <p:cNvPr id="3" name="Cartão 3"/>
          <p:cNvSpPr/>
          <p:nvPr/>
        </p:nvSpPr>
        <p:spPr>
          <a:xfrm>
            <a:off x="800000" y="1750000"/>
            <a:ext cx="5250000" cy="3900000"/>
          </a:xfrm>
          <a:prstGeom prst="roundRect">
            <a:avLst>
              <a:gd name="adj" fmla="val 5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4" name="Número 4"/>
          <p:cNvSpPr/>
          <p:nvPr/>
        </p:nvSpPr>
        <p:spPr>
          <a:xfrm>
            <a:off x="1100000" y="203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4</a:t>
            </a:r>
          </a:p>
        </p:txBody>
      </p:sp>
      <p:sp>
        <p:nvSpPr>
          <p:cNvPr id="5" name="Título 5"/>
          <p:cNvSpPr txBox="1"/>
          <p:nvPr/>
        </p:nvSpPr>
        <p:spPr>
          <a:xfrm>
            <a:off x="1750000" y="2030000"/>
            <a:ext cx="40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Múltiplos de 3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1100000" y="2750000"/>
            <a:ext cx="465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Para os números de 1 até 30, mostre só os múltiplos de 3 e, no final, quantos eles são. Dica: use i % 3 == 0 e um contador.</a:t>
            </a:r>
          </a:p>
        </p:txBody>
      </p:sp>
      <p:sp>
        <p:nvSpPr>
          <p:cNvPr id="7" name="Exemplo 7"/>
          <p:cNvSpPr/>
          <p:nvPr/>
        </p:nvSpPr>
        <p:spPr>
          <a:xfrm>
            <a:off x="1100000" y="4650000"/>
            <a:ext cx="4650000" cy="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60000" tIns="0" rIns="6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3 6 9 ... 30 | Total: 10</a:t>
            </a:r>
          </a:p>
        </p:txBody>
      </p:sp>
      <p:sp>
        <p:nvSpPr>
          <p:cNvPr id="8" name="Cartão 8"/>
          <p:cNvSpPr/>
          <p:nvPr/>
        </p:nvSpPr>
        <p:spPr>
          <a:xfrm>
            <a:off x="6350000" y="1750000"/>
            <a:ext cx="5250000" cy="3900000"/>
          </a:xfrm>
          <a:prstGeom prst="roundRect">
            <a:avLst>
              <a:gd name="adj" fmla="val 5000"/>
            </a:avLst>
          </a:prstGeom>
          <a:solidFill>
            <a:srgbClr val="EEF0F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pt-BR"/>
          </a:p>
        </p:txBody>
      </p:sp>
      <p:sp>
        <p:nvSpPr>
          <p:cNvPr id="9" name="Número 9"/>
          <p:cNvSpPr/>
          <p:nvPr/>
        </p:nvSpPr>
        <p:spPr>
          <a:xfrm>
            <a:off x="6650000" y="2030000"/>
            <a:ext cx="500000" cy="500000"/>
          </a:xfrm>
          <a:prstGeom prst="ellipse">
            <a:avLst/>
          </a:prstGeom>
          <a:solidFill>
            <a:srgbClr val="04307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Inter Bold"/>
                <a:ea typeface="Inter Bold"/>
                <a:cs typeface="Inter Bold"/>
              </a:rPr>
              <a:t>5</a:t>
            </a:r>
          </a:p>
        </p:txBody>
      </p:sp>
      <p:sp>
        <p:nvSpPr>
          <p:cNvPr id="10" name="Título 10"/>
          <p:cNvSpPr txBox="1"/>
          <p:nvPr/>
        </p:nvSpPr>
        <p:spPr>
          <a:xfrm>
            <a:off x="7300000" y="2030000"/>
            <a:ext cx="40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272525"/>
                </a:solidFill>
                <a:latin typeface="Inter Bold"/>
                <a:ea typeface="Inter Bold"/>
                <a:cs typeface="Inter Bold"/>
              </a:rPr>
              <a:t>Contando aprovados</a:t>
            </a:r>
          </a:p>
        </p:txBody>
      </p:sp>
      <p:sp>
        <p:nvSpPr>
          <p:cNvPr id="11" name="Texto 11"/>
          <p:cNvSpPr txBox="1"/>
          <p:nvPr/>
        </p:nvSpPr>
        <p:spPr>
          <a:xfrm>
            <a:off x="6650000" y="2750000"/>
            <a:ext cx="465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Leia 5 notas, uma por vez. Conte quantas são maiores ou iguais a 7 e mostre o total de aprovados. Dica: o contador só aumenta quando o IF é Sim.</a:t>
            </a:r>
          </a:p>
        </p:txBody>
      </p:sp>
      <p:sp>
        <p:nvSpPr>
          <p:cNvPr id="12" name="Exemplo 12"/>
          <p:cNvSpPr/>
          <p:nvPr/>
        </p:nvSpPr>
        <p:spPr>
          <a:xfrm>
            <a:off x="6650000" y="4650000"/>
            <a:ext cx="4650000" cy="7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CE0"/>
            </a:solidFill>
          </a:ln>
        </p:spPr>
        <p:txBody>
          <a:bodyPr wrap="square" lIns="60000" tIns="0" rIns="6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dirty="0">
                <a:solidFill>
                  <a:srgbClr val="272525"/>
                </a:solidFill>
                <a:latin typeface="Courier New"/>
                <a:ea typeface="Courier New"/>
                <a:cs typeface="Courier New"/>
              </a:rPr>
              <a:t>Notas 8, 5, 7, 3, 9 → 3 aprovados</a:t>
            </a:r>
          </a:p>
        </p:txBody>
      </p:sp>
      <p:sp>
        <p:nvSpPr>
          <p:cNvPr id="13" name="Legenda 13"/>
          <p:cNvSpPr txBox="1"/>
          <p:nvPr/>
        </p:nvSpPr>
        <p:spPr>
          <a:xfrm>
            <a:off x="800000" y="5900000"/>
            <a:ext cx="108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043073"/>
                </a:solidFill>
                <a:latin typeface="Inter Bold"/>
                <a:ea typeface="Inter Bold"/>
                <a:cs typeface="Inter Bold"/>
              </a:rPr>
              <a:t>Em cada desafio: </a:t>
            </a:r>
            <a:r>
              <a:rPr lang="pt-BR" sz="1600" dirty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desenhe o fluxograma e depois escreva o código em Python.</a:t>
            </a:r>
          </a:p>
        </p:txBody>
      </p:sp>
    </p:spTree>
    <p:extLst>
      <p:ext uri="{BB962C8B-B14F-4D97-AF65-F5344CB8AC3E}">
        <p14:creationId xmlns:p14="http://schemas.microsoft.com/office/powerpoint/2010/main" val="10943918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2" id="{F00C9D64-B4F3-4CB8-9DF2-59685944CDDB}" vid="{148A88D6-2EA5-4E01-8808-5075C10EAE9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Tema2</Template>
  <TotalTime>157</TotalTime>
  <Words>1233</Words>
  <Application>Microsoft Office PowerPoint</Application>
  <PresentationFormat>Widescreen</PresentationFormat>
  <Paragraphs>269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Times New Roman</vt:lpstr>
      <vt:lpstr>Inter</vt:lpstr>
      <vt:lpstr>Inter Bold</vt:lpstr>
      <vt:lpstr>Calibri</vt:lpstr>
      <vt:lpstr>Arial</vt:lpstr>
      <vt:lpstr>Courier New</vt:lpstr>
      <vt:lpstr>Tema2</vt:lpstr>
      <vt:lpstr>Estrutura de Repetição: Laço FOR em Fluxograma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Introdução à Lógica de Programação: Pensando como um Programador</dc:title>
  <dc:subject/>
  <dc:creator/>
  <cp:lastModifiedBy>Pedro Miho</cp:lastModifiedBy>
  <cp:revision>8</cp:revision>
  <dcterms:created xsi:type="dcterms:W3CDTF">2026-08-24T01:16:08Z</dcterms:created>
  <dcterms:modified xsi:type="dcterms:W3CDTF">2026-10-19T23:22:00Z</dcterms:modified>
</cp:coreProperties>
</file>