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sldIdLst>
    <p:sldId id="256" r:id="rIdWhile1"/>
    <p:sldId id="257" r:id="rIdWhile2"/>
    <p:sldId id="258" r:id="rIdWhile3"/>
    <p:sldId id="259" r:id="rIdWhile4"/>
    <p:sldId id="260" r:id="rIdWhile5"/>
    <p:sldId id="261" r:id="rIdWhile6"/>
    <p:sldId id="262" r:id="rIdWhile7"/>
    <p:sldId id="263" r:id="rIdWhile8"/>
    <p:sldId id="264" r:id="rIdWhile9"/>
    <p:sldId id="265" r:id="rIdWhile10"/>
    <p:sldId id="266" r:id="rIdWhile11"/>
    <p:sldId id="267" r:id="rIdWhile12"/>
    <p:sldId id="268" r:id="rIdWhile13"/>
    <p:sldId id="269" r:id="rIdWhile14"/>
    <p:sldId id="270" r:id="rIdWhile15"/>
    <p:sldId id="271" r:id="rIdWhile16"/>
    <p:sldId id="272" r:id="rIdWhile17"/>
    <p:sldId id="273" r:id="rIdWhile18"/>
    <p:sldId id="274" r:id="rIdWhile19"/>
    <p:sldId id="275" r:id="rIdWhile20"/>
    <p:sldId id="276" r:id="rIdWhile21"/>
  </p:sldIdLst>
  <p:notesMasterIdLst>
    <p:notesMasterId r:id="rIdWhileNotes"/>
  </p:notesMasterIdLst>
  <p:sldSz cx="12192000" cy="6858000"/>
  <p:notesSz cx="6858000" cy="12192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</p:embeddedFont>
    <p:embeddedFont>
      <p:font typeface="Inter Bold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viewProps" Target="viewProps.xml"/><Relationship Id="rId21" Type="http://schemas.openxmlformats.org/officeDocument/2006/relationships/font" Target="fonts/font3.fntdata"/><Relationship Id="rId25" Type="http://schemas.openxmlformats.org/officeDocument/2006/relationships/presProps" Target="presProps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9" Type="http://schemas.openxmlformats.org/officeDocument/2006/relationships/font" Target="fonts/font1.fntdata"/><Relationship Id="rId22" Type="http://schemas.openxmlformats.org/officeDocument/2006/relationships/font" Target="fonts/font4.fntdata"/><Relationship Id="rId27" Type="http://schemas.openxmlformats.org/officeDocument/2006/relationships/theme" Target="theme/theme1.xml"/>  <Relationship Id="rIdWhile1" Type="http://schemas.openxmlformats.org/officeDocument/2006/relationships/slide" Target="slides/slide1.xml"/><Relationship Id="rIdWhile2" Type="http://schemas.openxmlformats.org/officeDocument/2006/relationships/slide" Target="slides/slide2.xml"/><Relationship Id="rIdWhile3" Type="http://schemas.openxmlformats.org/officeDocument/2006/relationships/slide" Target="slides/slide3.xml"/><Relationship Id="rIdWhile4" Type="http://schemas.openxmlformats.org/officeDocument/2006/relationships/slide" Target="slides/slide4.xml"/><Relationship Id="rIdWhile5" Type="http://schemas.openxmlformats.org/officeDocument/2006/relationships/slide" Target="slides/slide5.xml"/><Relationship Id="rIdWhile6" Type="http://schemas.openxmlformats.org/officeDocument/2006/relationships/slide" Target="slides/slide6.xml"/><Relationship Id="rIdWhile7" Type="http://schemas.openxmlformats.org/officeDocument/2006/relationships/slide" Target="slides/slide7.xml"/><Relationship Id="rIdWhile8" Type="http://schemas.openxmlformats.org/officeDocument/2006/relationships/slide" Target="slides/slide8.xml"/><Relationship Id="rIdWhile9" Type="http://schemas.openxmlformats.org/officeDocument/2006/relationships/slide" Target="slides/slide9.xml"/><Relationship Id="rIdWhile10" Type="http://schemas.openxmlformats.org/officeDocument/2006/relationships/slide" Target="slides/slide10.xml"/><Relationship Id="rIdWhile11" Type="http://schemas.openxmlformats.org/officeDocument/2006/relationships/slide" Target="slides/slide11.xml"/><Relationship Id="rIdWhile12" Type="http://schemas.openxmlformats.org/officeDocument/2006/relationships/slide" Target="slides/slide12.xml"/><Relationship Id="rIdWhile13" Type="http://schemas.openxmlformats.org/officeDocument/2006/relationships/slide" Target="slides/slide13.xml"/><Relationship Id="rIdWhile14" Type="http://schemas.openxmlformats.org/officeDocument/2006/relationships/slide" Target="slides/slide14.xml"/><Relationship Id="rIdWhile15" Type="http://schemas.openxmlformats.org/officeDocument/2006/relationships/slide" Target="slides/slide15.xml"/><Relationship Id="rIdWhile16" Type="http://schemas.openxmlformats.org/officeDocument/2006/relationships/slide" Target="slides/slide16.xml"/><Relationship Id="rIdWhile17" Type="http://schemas.openxmlformats.org/officeDocument/2006/relationships/slide" Target="slides/slide17.xml"/><Relationship Id="rIdWhile18" Type="http://schemas.openxmlformats.org/officeDocument/2006/relationships/slide" Target="slides/slide18.xml"/><Relationship Id="rIdWhile19" Type="http://schemas.openxmlformats.org/officeDocument/2006/relationships/slide" Target="slides/slide19.xml"/><Relationship Id="rIdWhile20" Type="http://schemas.openxmlformats.org/officeDocument/2006/relationships/slide" Target="slides/slide20.xml"/><Relationship Id="rIdWhile21" Type="http://schemas.openxmlformats.org/officeDocument/2006/relationships/slide" Target="slides/slide21.xml"/><Relationship Id="rIdWhileNotes" Type="http://schemas.openxmlformats.org/officeDocument/2006/relationships/notesMaster" Target="notesMasters/notes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e37902df9640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9f22a58d1a4d7a" /><Relationship Type="http://schemas.openxmlformats.org/officeDocument/2006/relationships/notesMaster" Target="/ppt/notesMasters/notesMaster1.xml" Id="Radb5b091e9ba47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89aabe2136499f" /><Relationship Type="http://schemas.openxmlformats.org/officeDocument/2006/relationships/notesMaster" Target="/ppt/notesMasters/notesMaster1.xml" Id="R480933dc406744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528d09d8e54812" /><Relationship Type="http://schemas.openxmlformats.org/officeDocument/2006/relationships/notesMaster" Target="/ppt/notesMasters/notesMaster1.xml" Id="R3fd7810e5a9b41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e7ab9f6c7d405b" /><Relationship Type="http://schemas.openxmlformats.org/officeDocument/2006/relationships/notesMaster" Target="/ppt/notesMasters/notesMaster1.xml" Id="R2b362975a32c4d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f143525c954631" /><Relationship Type="http://schemas.openxmlformats.org/officeDocument/2006/relationships/notesMaster" Target="/ppt/notesMasters/notesMaster1.xml" Id="R7e0749a21d8c47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13a15575d94780" /><Relationship Type="http://schemas.openxmlformats.org/officeDocument/2006/relationships/notesMaster" Target="/ppt/notesMasters/notesMaster1.xml" Id="R88259e72269b4d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8ac9b666674bba" /><Relationship Type="http://schemas.openxmlformats.org/officeDocument/2006/relationships/notesMaster" Target="/ppt/notesMasters/notesMaster1.xml" Id="R69e7f19f3e134f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808df9a31f4078" /><Relationship Type="http://schemas.openxmlformats.org/officeDocument/2006/relationships/notesMaster" Target="/ppt/notesMasters/notesMaster1.xml" Id="R91600529e2fd4b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6c50b3725040a3" /><Relationship Type="http://schemas.openxmlformats.org/officeDocument/2006/relationships/notesMaster" Target="/ppt/notesMasters/notesMaster1.xml" Id="Rb43250c4d85f4a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08b15ee6e44a72" /><Relationship Type="http://schemas.openxmlformats.org/officeDocument/2006/relationships/notesMaster" Target="/ppt/notesMasters/notesMaster1.xml" Id="Ra784d1921e2b4d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307c67d221495e" /><Relationship Type="http://schemas.openxmlformats.org/officeDocument/2006/relationships/notesMaster" Target="/ppt/notesMasters/notesMaster1.xml" Id="Rda30a3b4453a4a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4d54cb065047b1" /><Relationship Type="http://schemas.openxmlformats.org/officeDocument/2006/relationships/notesMaster" Target="/ppt/notesMasters/notesMaster1.xml" Id="Rd284b67a9e9449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49940f0fa94b82" /><Relationship Type="http://schemas.openxmlformats.org/officeDocument/2006/relationships/notesMaster" Target="/ppt/notesMasters/notesMaster1.xml" Id="Re4a851737be94f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7eba31a6b94b17" /><Relationship Type="http://schemas.openxmlformats.org/officeDocument/2006/relationships/notesMaster" Target="/ppt/notesMasters/notesMaster1.xml" Id="R68febe3def0d4d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0bcb2aaf93e4c5f" /><Relationship Type="http://schemas.openxmlformats.org/officeDocument/2006/relationships/notesMaster" Target="/ppt/notesMasters/notesMaster1.xml" Id="Rf574ce853ad344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b23679a2054488f" /><Relationship Type="http://schemas.openxmlformats.org/officeDocument/2006/relationships/notesMaster" Target="/ppt/notesMasters/notesMaster1.xml" Id="Rf015217d72384d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7623736aa1471b" /><Relationship Type="http://schemas.openxmlformats.org/officeDocument/2006/relationships/notesMaster" Target="/ppt/notesMasters/notesMaster1.xml" Id="R85e48fb46c8147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cde46f47d14721" /><Relationship Type="http://schemas.openxmlformats.org/officeDocument/2006/relationships/notesMaster" Target="/ppt/notesMasters/notesMaster1.xml" Id="R15b01d72bc5a41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6a61739428342d1" /><Relationship Type="http://schemas.openxmlformats.org/officeDocument/2006/relationships/notesMaster" Target="/ppt/notesMasters/notesMaster1.xml" Id="R19bc7e6de09a4c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7e1457045c44ba" /><Relationship Type="http://schemas.openxmlformats.org/officeDocument/2006/relationships/notesMaster" Target="/ppt/notesMasters/notesMaster1.xml" Id="R73d33946bcd9449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8fb2e96ec334618" /><Relationship Type="http://schemas.openxmlformats.org/officeDocument/2006/relationships/notesMaster" Target="/ppt/notesMasters/notesMaster1.xml" Id="R6d73357e716641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min. Faixa: 0–2 min.</a:t>
            </a:r>
          </a:p>
          <a:p xmlns:a="http://schemas.openxmlformats.org/drawingml/2006/main">
            <a:r>
              <a:t>Aula planejada para180min, incluindo intervalo10min e cinco exercícios55min. Prepare cartões8,3,5,2 e editorPython.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min. Faixa: 2–10 min.</a:t>
            </a:r>
          </a:p>
          <a:p xmlns:a="http://schemas.openxmlformats.org/drawingml/2006/main">
            <a:r>
              <a:t>Use exemplos: preços, notas e idades. Não confundir ordenar com excluir ou somar os elementos. Existem diferentes algoritmos que chegam à mesma ordem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min. Faixa: 10–16 min.</a:t>
            </a:r>
          </a:p>
          <a:p xmlns:a="http://schemas.openxmlformats.org/drawingml/2006/main">
            <a:r>
              <a:t>Escreva lista=[8,3,5,2]. Pergunte lista[0],lista[2],lista[3]. len(lista) retorna4. Explique que lista[1]=3 na expressão deste slide descreve o valor, não uma comparação. O código de acesso a ser digitado é print(lista[1]).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min. Faixa: 16–24 min.</a:t>
            </a:r>
          </a:p>
          <a:p xmlns:a="http://schemas.openxmlformats.org/drawingml/2006/main">
            <a:r>
              <a:t>No quadro, use caixas com nomes lista[0],lista[1],aux. Execute aux=lista[0];lista[0]=lista[1];lista[1]=aux. As expressões simplificadas nos cartões representam posições, não atribuições a números literais. Mostre que fazer apenas as duas cópias sem aux perde o8.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min. Faixa: 24–30 min.</a:t>
            </a:r>
          </a:p>
          <a:p xmlns:a="http://schemas.openxmlformats.org/drawingml/2006/main">
            <a:r>
              <a:t>Faça os dois procedimentos com os mesmos cartões. A diferença está no caminho para ordenar. Ambos os exemplos didáticos usam repetição externa e interna.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10 min. Faixa: 30–40 min.</a:t>
            </a:r>
          </a:p>
          <a:p xmlns:a="http://schemas.openxmlformats.org/drawingml/2006/main">
            <a:r>
              <a:t>Simule sem código. Segunda passagem:[3,2,5,8]. Terceira:[2,3,5,8]. Ao fim da primeira, só a última posição está garantida. Não trocar quando valores são iguais.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10 min. Faixa: 40–50 min.</a:t>
            </a:r>
          </a:p>
          <a:p xmlns:a="http://schemas.openxmlformats.org/drawingml/2006/main">
            <a:r>
              <a:t>Reutilize o fluxograma completo. FOR externo controla a passagem; FOR interno percorre pares vizinhos; IF controla a troca. No fluxograma, os incrementos aparecem separados, enquanto no Python o FOR os realiza automaticamente. As próximas duas telas comentam o código.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10 min. Faixa: 50–60 min.</a:t>
            </a:r>
          </a:p>
          <a:p xmlns:a="http://schemas.openxmlformats.org/drawingml/2006/main">
            <a:r>
              <a:t>Este é o início do mesmo programa. Continue na próxima tela mantendo o recuo. passagem recebe0,1,2. Na primeira passagem,j recebe0,1,2;na segunda0,1;na terceira0. Por isso j+1 não ultrapassa a última posição. Explique # como comentário. Não executar este trecho isolado: o corpo do segundo FOR está na tela seguinte.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9 min. Faixa: 60–69 min.</a:t>
            </a:r>
          </a:p>
          <a:p xmlns:a="http://schemas.openxmlformats.org/drawingml/2006/main">
            <a:r>
              <a:t>Este trecho continua os FOR da tela anterior. O IF tem8espaços, suas atribuições12 e o print final0. Construa junto dos alunos e execute. Para observar cada passagem, acrescente temporariamente print(lista) com4espaços, após o FOR interno. Resultado por passagem:[3,5,2,8],[3,2,5,8],[2,3,5,8].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min. Faixa: 69–77 min.</a:t>
            </a:r>
          </a:p>
          <a:p xmlns:a="http://schemas.openxmlformats.org/drawingml/2006/main">
            <a:r>
              <a:t>Importante: a variável menor guarda um índice. Na simulação, menor começa0;ao encontrar3vai1;ao encontrar2vai3. Trocar lista[0] e lista[3]. A lista escolhida fica ordenada incidentalmente após a primeira troca; isso não é uma regra do método. Faça oralmente também[4,2,3,1].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min. Faixa: 77–84 min.</a:t>
            </a:r>
          </a:p>
          <a:p xmlns:a="http://schemas.openxmlformats.org/drawingml/2006/main">
            <a:r>
              <a:t>Índices externos0,1,2. Para i=0, busca j=1,2,3. Diferencie menor=posição e lista[menor]=valor. Não troque dentro do FOR interno: primeiro conclua a busca. Continue na próxima tela.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min. Faixa: 84–89 min.</a:t>
            </a:r>
          </a:p>
          <a:p xmlns:a="http://schemas.openxmlformats.org/drawingml/2006/main">
            <a:r>
              <a:t>Este trecho continua a busca da tela anterior. IF menor!=i tem4espaços e as trocas8. O print tem0. Explique != como diferente de. A verificação evita uma troca da posição com ela mesma. Não é necessário usar uma atribuição múltipla nesta primeira abordagem.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min. Faixa: 89–94 min.</a:t>
            </a:r>
          </a:p>
          <a:p xmlns:a="http://schemas.openxmlformats.org/drawingml/2006/main">
            <a:r>
              <a:t>Ambos os códigos sem otimização por parada antecipada fazem n(n−1)/2 comparações entre valores. Não introduzir a fórmula se a turma ainda estiver consolidando os índices. Evite afirmar que menos trocas sempre significa menor tempo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min. Faixa: 94–100 min.</a:t>
            </a:r>
          </a:p>
          <a:p xmlns:a="http://schemas.openxmlformats.org/drawingml/2006/main">
            <a:r>
              <a:t>Demonstre append como inclusão de um valor ao final e copy como criação de outra lista. Peça quatro entradas, mostre a lista e faça as duas cópias antes de qualquer ordenação. A indentação de4espaços mantém a leitura dentro do FOR. Os algoritmos posteriores usam bubble e selecao no lugar de lista.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10 min. Faixa: 100–110 min.</a:t>
            </a:r>
          </a:p>
          <a:p xmlns:a="http://schemas.openxmlformats.org/drawingml/2006/main">
            <a:r>
              <a:t>Intervalo dos minutos100a110. Retome com exercícios individuais ou em duplas, exigindo justificativa individual.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18 min. Faixa: 110–128 min.</a:t>
            </a:r>
          </a:p>
          <a:p xmlns:a="http://schemas.openxmlformats.org/drawingml/2006/main">
            <a:r>
              <a:t>110–128min. Ex1:passagens[2,4,1,6],[2,1,4,6],[1,2,4,6]. Ex2:aux=lista[0];lista[0]=lista[1];lista[1]=aux. O objetivo é explicar por que a cópia temporária é necessária.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22 min. Faixa: 128–150 min.</a:t>
            </a:r>
          </a:p>
          <a:p xmlns:a="http://schemas.openxmlformats.org/drawingml/2006/main">
            <a:r>
              <a:t>128–150min. Ex3:i0menor3troca→[2,4,6,7];i1menor1semtroca;i2menor2semtroca. Ex4:trocar&gt;por&lt;na comparação entre vizinhos. Não alterar os intervalos para inverter a ordem.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15 min. Faixa: 150–165 min.</a:t>
            </a:r>
          </a:p>
          <a:p xmlns:a="http://schemas.openxmlformats.org/drawingml/2006/main">
            <a:r>
              <a:t>150–165min. Demonstre antes o uso de append para receber quatro dados e copy para criar listas independentes. Se entrada for novidade para a turma, permita começar com a lista literal fornecida, mantendo a comparação dos métodos. A leitura completa e a explicação de copy estão na correção das notas.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min. Faixa: 165–170 min.</a:t>
            </a:r>
          </a:p>
          <a:p xmlns:a="http://schemas.openxmlformats.org/drawingml/2006/main">
            <a:r>
              <a:t>165–170min. Peça a dois alunos que representem as posições e a outro que represente aux. Reforce que trocar valores não muda o tamanho da lista.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min. Faixa: 170–177 min.</a:t>
            </a:r>
          </a:p>
          <a:p xmlns:a="http://schemas.openxmlformats.org/drawingml/2006/main">
            <a:r>
              <a:t>170–177min. Leitura: lista=[]; para i em range(4):lista.append(int(input("Número: "))). Depois criar bubble e selecao usando copy. Adaptar os códigos completos trocando apenas o nome da lista. Atribuir selecao=lista sem copy cria outro nome para o mesmo objeto, não uma cópia. Critério:funcionamento, rastreamento e explicação dos comentários.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min. Faixa: 177–180 min.</a:t>
            </a:r>
          </a:p>
          <a:p xmlns:a="http://schemas.openxmlformats.org/drawingml/2006/main">
            <a:r>
              <a:t>177–180min. Recolha os cinco exercícios. Na próxima aula, retome apenas os equívocos identificados com índices, limites e posição das trocas.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135912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B9411-69F7-EFE2-E8A8-43455A05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87DA8-D59F-5DFA-55C8-48BC1BA6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99D26-DA4B-D0AF-3054-103CA613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81AA659-8FD3-461F-8FBC-BDBF8F913D9D}" type="datetimeFigureOut">
              <a:rPr lang="pt-BR" smtClean="0"/>
              <a:pPr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6EC41-5B15-2A4A-34B9-2E8C0BCE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14FFF6-E682-D349-81F9-96FA3093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950E8CF1-C835-4717-86DC-68B0F02605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8685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42646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9068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073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3418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4140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70936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90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51565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NotesWhile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NotesWhile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67B25-BC0F-8242-8D31-3A145B121E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4400" dirty="0"/>
              <a:t>Listas e Métodos de Ordenação</a:t>
            </a:r>
          </a:p>
          <a:p>
            <a:r>
              <a:rPr lang="pt-BR" sz="4400" dirty="0"/>
              <a:t>Bubble Sort e Selection Sort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E6AFBF-4C86-4557-83B0-AF907C1EE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2769005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O que é um método de ordenação?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É um algoritmo que reorganiza os elementos de uma lista segundo um critério.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Entrada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8  3  5  2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Os valores estão fora da ordem desejada.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Critério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Crescente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Organizar do menor para o maior.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Resultado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2  3  5  8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Os valores continuam os mesmos. Suas posições mudam.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Também podemos ordenar em ordem decrescente: 8, 5, 3, 2.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Lista: valores e posições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Em Python, a primeira posição tem índice 0.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Valor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8  3  5  2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A lista guarda vários elementos em uma sequência.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Índice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0  1  2  3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Cada posição permite acessar um elemento.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Acesso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lista[1] → 3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índice 1 indica o segundo elemento da lista.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Com 4 elementos, os índices válidos são 0, 1, 2 e 3. Não existe lista[4].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Troca de valores: para que serve aux?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Antes de sobrescrever uma posição, precisamos guardar seu valor.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Guardar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aux ← lista[0]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Copie o primeiro valor para uma variável auxiliar.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Substituir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lista[0] ← 3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valor da posição seguinte ocupa a primeira posição.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Recuperar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lista[1] ← aux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valor guardado ocupa a posição seguinte.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Antes: [8, 3, 5, 2]    Depois da troca: [3, 8, 5, 2]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Dois métodos para chegar à mesma ordem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Bubble Sort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Compara vizinhos e troca quando eles estão fora de ordem. Ao final de cada passagem, o maior valor restante chega ao fim.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Comparar vizinhos → trocar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Selection Sort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Procura o menor valor na parte ainda desordenada e o coloca na próxima posição correta.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Buscar o menor → posicionar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O critério será crescente. Os dois exemplos usam a lista [8, 3, 5, 2].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Bubble Sort: a primeira passagem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Compare cada par de vizinhos da esquerda para a direita.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8 e 3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3  8  5  2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8 &gt; 3: troque. O valor 8 avança uma posição.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8 e 5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3  5  8  2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8 &gt; 5: troque novamente.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8 e 2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3  5  2  8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8 &gt; 2: troque. O maior valor chegou ao fim.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 lista ainda não está ordenada. Novas passagens organizam os valores restantes.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Bubble Sort: visão geral do fluxograma e do código</a:t>
            </a:r>
          </a:p>
        </p:txBody>
      </p:sp>
      <p:sp>
        <p:nvSpPr>
          <p:cNvPr id="20" name="Rótulo 20"/>
          <p:cNvSpPr txBox="1"/>
          <p:nvPr/>
        </p:nvSpPr>
        <p:spPr>
          <a:xfrm>
            <a:off x="6600000" y="1550000"/>
            <a:ext cx="50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Construção em Python</a:t>
            </a:r>
          </a:p>
        </p:txBody>
      </p:sp>
      <p:sp>
        <p:nvSpPr>
          <p:cNvPr id="21" name="Código 21"/>
          <p:cNvSpPr/>
          <p:nvPr/>
        </p:nvSpPr>
        <p:spPr>
          <a:xfrm>
            <a:off x="6600000" y="2000250"/>
            <a:ext cx="5000000" cy="2952750"/>
          </a:xfrm>
          <a:prstGeom prst="rect">
            <a:avLst/>
          </a:prstGeom>
          <a:solidFill>
            <a:srgbClr val="F3F4F8"/>
          </a:solidFill>
          <a:ln w="9525">
            <a:solidFill>
              <a:srgbClr val="C9CCE0"/>
            </a:solidFill>
          </a:ln>
        </p:spPr>
        <p:txBody>
          <a:bodyPr wrap="square" lIns="150000" tIns="90000" rIns="100000" bIns="9000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lista = [8, 3, 5, 2]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n = len(lista)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passagem in range(n - 1):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for j in range(n - 1 - passagem):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if lista[j] &gt; lista[j + 1]: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    aux = lista[j]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    lista[j] = lista[j + 1]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    lista[j + 1] = aux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print("Ordenada:", lista)</a:t>
            </a:r>
          </a:p>
        </p:txBody>
      </p:sp>
      <p:sp>
        <p:nvSpPr>
          <p:cNvPr id="22" name="Legenda 22"/>
          <p:cNvSpPr txBox="1"/>
          <p:nvPr/>
        </p:nvSpPr>
        <p:spPr>
          <a:xfrm>
            <a:off x="6600000" y="5095875"/>
            <a:ext cx="500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Índices: 0, 1, 2 e 3. Compare sempre os vizinhos.</a:t>
            </a:r>
          </a:p>
        </p:txBody>
      </p:sp>
      <p:sp>
        <p:nvSpPr>
          <p:cNvPr id="23" name="Número 23"/>
          <p:cNvSpPr/>
          <p:nvPr/>
        </p:nvSpPr>
        <p:spPr>
          <a:xfrm>
            <a:off x="6600000" y="5572125"/>
            <a:ext cx="400000" cy="40005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7150000" y="5505450"/>
            <a:ext cx="4450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aux guarda o valor durante a troca.</a:t>
            </a:r>
          </a:p>
        </p:txBody>
      </p:sp>
      <p:sp>
        <p:nvSpPr>
          <p:cNvPr id="29" name="Saída 29"/>
          <p:cNvSpPr/>
          <p:nvPr/>
        </p:nvSpPr>
        <p:spPr>
          <a:xfrm>
            <a:off x="6600000" y="6048375"/>
            <a:ext cx="5000000" cy="571500"/>
          </a:xfrm>
          <a:prstGeom prst="roundRect">
            <a:avLst>
              <a:gd name="adj" fmla="val 15000"/>
            </a:avLst>
          </a:prstGeom>
          <a:solidFill>
            <a:srgbClr val="E3E5F6"/>
          </a:solidFill>
          <a:ln>
            <a:noFill/>
          </a:ln>
        </p:spPr>
        <p:txBody>
          <a:bodyPr wrap="square" lIns="200000" tIns="0" rIns="10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1ª passagem: [3, 5, 2, 8]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Resultado final: [2, 3, 5, 8]</a:t>
            </a:r>
          </a:p>
        </p:txBody>
      </p:sp>
      <p:sp>
        <p:nvSpPr>
          <p:cNvPr id="1000" name="node0">
            <a:extLst>
              <a:ext uri="{FF2B5EF4-FFF2-40B4-BE49-F238E27FC236}">
                <a16:creationId xmlns:a16="http://schemas.microsoft.com/office/drawing/2014/main" id="{B88370EB-45EA-492E-A8D6-E485B015B5A2}"/>
              </a:ext>
            </a:extLst>
          </p:cNvPr>
          <p:cNvSpPr>
            <a:spLocks noGrp="1"/>
          </p:cNvSpPr>
          <p:nvPr/>
        </p:nvSpPr>
        <p:spPr>
          <a:xfrm>
            <a:off x="2476500" y="1476375"/>
            <a:ext cx="1238250" cy="2857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Início</a:t>
            </a:r>
          </a:p>
        </p:txBody>
      </p:sp>
      <p:sp>
        <p:nvSpPr>
          <p:cNvPr id="1001" name="node1">
            <a:extLst>
              <a:ext uri="{FF2B5EF4-FFF2-40B4-BE49-F238E27FC236}">
                <a16:creationId xmlns:a16="http://schemas.microsoft.com/office/drawing/2014/main" id="{8566776C-4A97-42B4-8A7C-04A70BF1AA15}"/>
              </a:ext>
            </a:extLst>
          </p:cNvPr>
          <p:cNvSpPr>
            <a:spLocks noGrp="1"/>
          </p:cNvSpPr>
          <p:nvPr/>
        </p:nvSpPr>
        <p:spPr>
          <a:xfrm>
            <a:off x="1571625" y="1952625"/>
            <a:ext cx="3048000" cy="361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lista ← [8, 3, 5, 2]; n ← 4</a:t>
            </a:r>
          </a:p>
        </p:txBody>
      </p:sp>
      <p:cxnSp>
        <p:nvCxnSpPr>
          <p:cNvPr id="1002" name="arrow2">
            <a:extLst>
              <a:ext uri="{FF2B5EF4-FFF2-40B4-BE49-F238E27FC236}">
                <a16:creationId xmlns:a16="http://schemas.microsoft.com/office/drawing/2014/main" id="{120FCC0B-B23B-458D-99E5-501B50F06A75}"/>
              </a:ext>
            </a:extLst>
          </p:cNvPr>
          <p:cNvCxnSpPr/>
          <p:nvPr/>
        </p:nvCxnSpPr>
        <p:spPr>
          <a:xfrm flipH="0" flipV="0">
            <a:off x="3095625" y="1762125"/>
            <a:ext cx="0" cy="1905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3" name="node3">
            <a:extLst>
              <a:ext uri="{FF2B5EF4-FFF2-40B4-BE49-F238E27FC236}">
                <a16:creationId xmlns:a16="http://schemas.microsoft.com/office/drawing/2014/main" id="{39B4B968-B4EF-4C39-A0C2-5BA959070F35}"/>
              </a:ext>
            </a:extLst>
          </p:cNvPr>
          <p:cNvSpPr>
            <a:spLocks noGrp="1"/>
          </p:cNvSpPr>
          <p:nvPr/>
        </p:nvSpPr>
        <p:spPr>
          <a:xfrm>
            <a:off x="2238375" y="2524125"/>
            <a:ext cx="17145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passagem ← 0</a:t>
            </a:r>
          </a:p>
        </p:txBody>
      </p:sp>
      <p:cxnSp>
        <p:nvCxnSpPr>
          <p:cNvPr id="1004" name="arrow4">
            <a:extLst>
              <a:ext uri="{FF2B5EF4-FFF2-40B4-BE49-F238E27FC236}">
                <a16:creationId xmlns:a16="http://schemas.microsoft.com/office/drawing/2014/main" id="{09E2503B-9182-4CD6-9581-1D5E26A996F5}"/>
              </a:ext>
            </a:extLst>
          </p:cNvPr>
          <p:cNvCxnSpPr/>
          <p:nvPr/>
        </p:nvCxnSpPr>
        <p:spPr>
          <a:xfrm flipH="0" flipV="0">
            <a:off x="3095625" y="2314575"/>
            <a:ext cx="0" cy="2095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5" name="node5">
            <a:extLst>
              <a:ext uri="{FF2B5EF4-FFF2-40B4-BE49-F238E27FC236}">
                <a16:creationId xmlns:a16="http://schemas.microsoft.com/office/drawing/2014/main" id="{78D742F6-CFCF-4119-8568-1DAD2F477039}"/>
              </a:ext>
            </a:extLst>
          </p:cNvPr>
          <p:cNvSpPr>
            <a:spLocks noGrp="1"/>
          </p:cNvSpPr>
          <p:nvPr/>
        </p:nvSpPr>
        <p:spPr>
          <a:xfrm>
            <a:off x="1952625" y="3095625"/>
            <a:ext cx="2286000" cy="5715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35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35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272525"/>
                </a:solidFill>
                <a:latin typeface="Inter"/>
                <a:ea typeface="Inter"/>
                <a:cs typeface="Inter"/>
              </a:rPr>
              <a:t>passagem &lt; n − 1 ?</a:t>
            </a:r>
          </a:p>
        </p:txBody>
      </p:sp>
      <p:cxnSp>
        <p:nvCxnSpPr>
          <p:cNvPr id="1006" name="arrow6">
            <a:extLst>
              <a:ext uri="{FF2B5EF4-FFF2-40B4-BE49-F238E27FC236}">
                <a16:creationId xmlns:a16="http://schemas.microsoft.com/office/drawing/2014/main" id="{8EF508B8-FB5D-4BEE-885B-ECCC42F61F7C}"/>
              </a:ext>
            </a:extLst>
          </p:cNvPr>
          <p:cNvCxnSpPr/>
          <p:nvPr/>
        </p:nvCxnSpPr>
        <p:spPr>
          <a:xfrm flipH="0" flipV="0">
            <a:off x="3095625" y="2828925"/>
            <a:ext cx="0" cy="2667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7" name="node7">
            <a:extLst>
              <a:ext uri="{FF2B5EF4-FFF2-40B4-BE49-F238E27FC236}">
                <a16:creationId xmlns:a16="http://schemas.microsoft.com/office/drawing/2014/main" id="{FAE23020-CBB4-4A37-A578-1F668F19F2E9}"/>
              </a:ext>
            </a:extLst>
          </p:cNvPr>
          <p:cNvSpPr>
            <a:spLocks noGrp="1"/>
          </p:cNvSpPr>
          <p:nvPr/>
        </p:nvSpPr>
        <p:spPr>
          <a:xfrm>
            <a:off x="2524125" y="4000500"/>
            <a:ext cx="1143000" cy="30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j ← 0</a:t>
            </a:r>
          </a:p>
        </p:txBody>
      </p:sp>
      <p:cxnSp>
        <p:nvCxnSpPr>
          <p:cNvPr id="1008" name="arrow8">
            <a:extLst>
              <a:ext uri="{FF2B5EF4-FFF2-40B4-BE49-F238E27FC236}">
                <a16:creationId xmlns:a16="http://schemas.microsoft.com/office/drawing/2014/main" id="{4462D7C3-5E5C-4BEB-B244-3A078520D7D6}"/>
              </a:ext>
            </a:extLst>
          </p:cNvPr>
          <p:cNvCxnSpPr/>
          <p:nvPr/>
        </p:nvCxnSpPr>
        <p:spPr>
          <a:xfrm flipH="0" flipV="0">
            <a:off x="3095625" y="3667125"/>
            <a:ext cx="0" cy="3333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09" name="label9">
            <a:extLst>
              <a:ext uri="{FF2B5EF4-FFF2-40B4-BE49-F238E27FC236}">
                <a16:creationId xmlns:a16="http://schemas.microsoft.com/office/drawing/2014/main" id="{3D01E494-E502-4BE5-9EEF-F644B8FED158}"/>
              </a:ext>
            </a:extLst>
          </p:cNvPr>
          <p:cNvSpPr>
            <a:spLocks noGrp="1"/>
          </p:cNvSpPr>
          <p:nvPr/>
        </p:nvSpPr>
        <p:spPr>
          <a:xfrm>
            <a:off x="3190875" y="369570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10" name="node10">
            <a:extLst>
              <a:ext uri="{FF2B5EF4-FFF2-40B4-BE49-F238E27FC236}">
                <a16:creationId xmlns:a16="http://schemas.microsoft.com/office/drawing/2014/main" id="{4C7B5B5A-9722-425C-B49A-43D05D406144}"/>
              </a:ext>
            </a:extLst>
          </p:cNvPr>
          <p:cNvSpPr>
            <a:spLocks noGrp="1"/>
          </p:cNvSpPr>
          <p:nvPr/>
        </p:nvSpPr>
        <p:spPr>
          <a:xfrm>
            <a:off x="1952625" y="4572000"/>
            <a:ext cx="2286000" cy="59055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313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313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313">
                <a:solidFill>
                  <a:srgbClr val="272525"/>
                </a:solidFill>
                <a:latin typeface="Inter"/>
                <a:ea typeface="Inter"/>
                <a:cs typeface="Inter"/>
              </a:rPr>
              <a:t>j &lt; n − 1 − passagem ?</a:t>
            </a:r>
          </a:p>
        </p:txBody>
      </p:sp>
      <p:cxnSp>
        <p:nvCxnSpPr>
          <p:cNvPr id="1011" name="arrow11">
            <a:extLst>
              <a:ext uri="{FF2B5EF4-FFF2-40B4-BE49-F238E27FC236}">
                <a16:creationId xmlns:a16="http://schemas.microsoft.com/office/drawing/2014/main" id="{3C275FA0-7835-41C5-831B-75433D2394D4}"/>
              </a:ext>
            </a:extLst>
          </p:cNvPr>
          <p:cNvCxnSpPr/>
          <p:nvPr/>
        </p:nvCxnSpPr>
        <p:spPr>
          <a:xfrm flipH="0" flipV="0">
            <a:off x="3095625" y="4305300"/>
            <a:ext cx="0" cy="2667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2" name="node12">
            <a:extLst>
              <a:ext uri="{FF2B5EF4-FFF2-40B4-BE49-F238E27FC236}">
                <a16:creationId xmlns:a16="http://schemas.microsoft.com/office/drawing/2014/main" id="{003A0F95-4478-4EE2-8930-C40427490A49}"/>
              </a:ext>
            </a:extLst>
          </p:cNvPr>
          <p:cNvSpPr>
            <a:spLocks noGrp="1"/>
          </p:cNvSpPr>
          <p:nvPr/>
        </p:nvSpPr>
        <p:spPr>
          <a:xfrm>
            <a:off x="1952625" y="5572125"/>
            <a:ext cx="2286000" cy="59055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313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313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313">
                <a:solidFill>
                  <a:srgbClr val="272525"/>
                </a:solidFill>
                <a:latin typeface="Inter"/>
                <a:ea typeface="Inter"/>
                <a:cs typeface="Inter"/>
              </a:rPr>
              <a:t>lista[j] &gt; lista[j + 1] ?</a:t>
            </a:r>
          </a:p>
        </p:txBody>
      </p:sp>
      <p:cxnSp>
        <p:nvCxnSpPr>
          <p:cNvPr id="1013" name="arrow13">
            <a:extLst>
              <a:ext uri="{FF2B5EF4-FFF2-40B4-BE49-F238E27FC236}">
                <a16:creationId xmlns:a16="http://schemas.microsoft.com/office/drawing/2014/main" id="{250F4972-73A9-4A57-B2FC-FB7C14E34B54}"/>
              </a:ext>
            </a:extLst>
          </p:cNvPr>
          <p:cNvCxnSpPr/>
          <p:nvPr/>
        </p:nvCxnSpPr>
        <p:spPr>
          <a:xfrm flipH="0" flipV="0">
            <a:off x="3095625" y="5162550"/>
            <a:ext cx="0" cy="4095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4" name="label14">
            <a:extLst>
              <a:ext uri="{FF2B5EF4-FFF2-40B4-BE49-F238E27FC236}">
                <a16:creationId xmlns:a16="http://schemas.microsoft.com/office/drawing/2014/main" id="{41238BF4-1FCF-4DB1-B881-86B124987571}"/>
              </a:ext>
            </a:extLst>
          </p:cNvPr>
          <p:cNvSpPr>
            <a:spLocks noGrp="1"/>
          </p:cNvSpPr>
          <p:nvPr/>
        </p:nvSpPr>
        <p:spPr>
          <a:xfrm>
            <a:off x="3190875" y="52006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15" name="node15">
            <a:extLst>
              <a:ext uri="{FF2B5EF4-FFF2-40B4-BE49-F238E27FC236}">
                <a16:creationId xmlns:a16="http://schemas.microsoft.com/office/drawing/2014/main" id="{92F8A428-8BC3-4138-A3D3-2BD96B349690}"/>
              </a:ext>
            </a:extLst>
          </p:cNvPr>
          <p:cNvSpPr>
            <a:spLocks noGrp="1"/>
          </p:cNvSpPr>
          <p:nvPr/>
        </p:nvSpPr>
        <p:spPr>
          <a:xfrm>
            <a:off x="4619625" y="5572125"/>
            <a:ext cx="1666875" cy="66675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313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313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313">
                <a:solidFill>
                  <a:srgbClr val="272525"/>
                </a:solidFill>
                <a:latin typeface="Inter"/>
                <a:ea typeface="Inter"/>
                <a:cs typeface="Inter"/>
              </a:rPr>
              <a:t>aux ← lista[j]</a:t>
            </a:r>
          </a:p>
          <a:p>
            <a:pPr algn="ctr">
              <a:defRPr sz="1313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313">
                <a:solidFill>
                  <a:srgbClr val="272525"/>
                </a:solidFill>
                <a:latin typeface="Inter"/>
                <a:ea typeface="Inter"/>
                <a:cs typeface="Inter"/>
              </a:rPr>
              <a:t>lista[j] ← lista[j + 1]</a:t>
            </a:r>
          </a:p>
          <a:p>
            <a:pPr algn="ctr">
              <a:defRPr sz="1313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313">
                <a:solidFill>
                  <a:srgbClr val="272525"/>
                </a:solidFill>
                <a:latin typeface="Inter"/>
                <a:ea typeface="Inter"/>
                <a:cs typeface="Inter"/>
              </a:rPr>
              <a:t>lista[j + 1] ← aux</a:t>
            </a:r>
          </a:p>
        </p:txBody>
      </p:sp>
      <p:cxnSp>
        <p:nvCxnSpPr>
          <p:cNvPr id="1016" name="arrow16">
            <a:extLst>
              <a:ext uri="{FF2B5EF4-FFF2-40B4-BE49-F238E27FC236}">
                <a16:creationId xmlns:a16="http://schemas.microsoft.com/office/drawing/2014/main" id="{D9CE99F8-9AFF-40C7-A901-42812ECF8A6D}"/>
              </a:ext>
            </a:extLst>
          </p:cNvPr>
          <p:cNvCxnSpPr/>
          <p:nvPr/>
        </p:nvCxnSpPr>
        <p:spPr>
          <a:xfrm flipH="0" flipV="0">
            <a:off x="4238625" y="5867400"/>
            <a:ext cx="3810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17" name="label17">
            <a:extLst>
              <a:ext uri="{FF2B5EF4-FFF2-40B4-BE49-F238E27FC236}">
                <a16:creationId xmlns:a16="http://schemas.microsoft.com/office/drawing/2014/main" id="{E2BFF439-6138-46E5-90C9-5D3134248F71}"/>
              </a:ext>
            </a:extLst>
          </p:cNvPr>
          <p:cNvSpPr>
            <a:spLocks noGrp="1"/>
          </p:cNvSpPr>
          <p:nvPr/>
        </p:nvSpPr>
        <p:spPr>
          <a:xfrm>
            <a:off x="4333875" y="5257800"/>
            <a:ext cx="714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Sim</a:t>
            </a:r>
          </a:p>
        </p:txBody>
      </p:sp>
      <p:sp>
        <p:nvSpPr>
          <p:cNvPr id="1018" name="node18">
            <a:extLst>
              <a:ext uri="{FF2B5EF4-FFF2-40B4-BE49-F238E27FC236}">
                <a16:creationId xmlns:a16="http://schemas.microsoft.com/office/drawing/2014/main" id="{559D8EC3-A83F-4AF8-918C-4D43EA016B97}"/>
              </a:ext>
            </a:extLst>
          </p:cNvPr>
          <p:cNvSpPr>
            <a:spLocks noGrp="1"/>
          </p:cNvSpPr>
          <p:nvPr/>
        </p:nvSpPr>
        <p:spPr>
          <a:xfrm>
            <a:off x="666750" y="5524500"/>
            <a:ext cx="1143000" cy="361950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j ← j + 1</a:t>
            </a:r>
          </a:p>
        </p:txBody>
      </p:sp>
      <p:cxnSp>
        <p:nvCxnSpPr>
          <p:cNvPr id="1019" name="arrow19">
            <a:extLst>
              <a:ext uri="{FF2B5EF4-FFF2-40B4-BE49-F238E27FC236}">
                <a16:creationId xmlns:a16="http://schemas.microsoft.com/office/drawing/2014/main" id="{8469F255-D249-48D6-B629-E41A4B8610B4}"/>
              </a:ext>
            </a:extLst>
          </p:cNvPr>
          <p:cNvCxnSpPr/>
          <p:nvPr/>
        </p:nvCxnSpPr>
        <p:spPr>
          <a:xfrm flipH="0" flipV="1">
            <a:off x="1952625" y="5705475"/>
            <a:ext cx="0" cy="1619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20" name="arrow20">
            <a:extLst>
              <a:ext uri="{FF2B5EF4-FFF2-40B4-BE49-F238E27FC236}">
                <a16:creationId xmlns:a16="http://schemas.microsoft.com/office/drawing/2014/main" id="{1CD3E32D-C344-4D14-B5D5-6D360A3A7BE5}"/>
              </a:ext>
            </a:extLst>
          </p:cNvPr>
          <p:cNvCxnSpPr/>
          <p:nvPr/>
        </p:nvCxnSpPr>
        <p:spPr>
          <a:xfrm flipH="1" flipV="0">
            <a:off x="1809750" y="5705475"/>
            <a:ext cx="14287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21" name="label21">
            <a:extLst>
              <a:ext uri="{FF2B5EF4-FFF2-40B4-BE49-F238E27FC236}">
                <a16:creationId xmlns:a16="http://schemas.microsoft.com/office/drawing/2014/main" id="{4B2D27AB-E8B3-42E8-8385-D43376BC9EB6}"/>
              </a:ext>
            </a:extLst>
          </p:cNvPr>
          <p:cNvSpPr>
            <a:spLocks noGrp="1"/>
          </p:cNvSpPr>
          <p:nvPr/>
        </p:nvSpPr>
        <p:spPr>
          <a:xfrm>
            <a:off x="1619250" y="52387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cxnSp>
        <p:nvCxnSpPr>
          <p:cNvPr id="1022" name="arrow22">
            <a:extLst>
              <a:ext uri="{FF2B5EF4-FFF2-40B4-BE49-F238E27FC236}">
                <a16:creationId xmlns:a16="http://schemas.microsoft.com/office/drawing/2014/main" id="{068D4729-E249-477A-BADD-5E196166FC12}"/>
              </a:ext>
            </a:extLst>
          </p:cNvPr>
          <p:cNvCxnSpPr/>
          <p:nvPr/>
        </p:nvCxnSpPr>
        <p:spPr>
          <a:xfrm flipH="0" flipV="0">
            <a:off x="5448300" y="6238875"/>
            <a:ext cx="0" cy="2381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23" name="arrow23">
            <a:extLst>
              <a:ext uri="{FF2B5EF4-FFF2-40B4-BE49-F238E27FC236}">
                <a16:creationId xmlns:a16="http://schemas.microsoft.com/office/drawing/2014/main" id="{68C70041-24CF-4A64-ADA1-F53558686A4E}"/>
              </a:ext>
            </a:extLst>
          </p:cNvPr>
          <p:cNvCxnSpPr/>
          <p:nvPr/>
        </p:nvCxnSpPr>
        <p:spPr>
          <a:xfrm flipH="1" flipV="0">
            <a:off x="1238250" y="6477000"/>
            <a:ext cx="421005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24" name="arrow24">
            <a:extLst>
              <a:ext uri="{FF2B5EF4-FFF2-40B4-BE49-F238E27FC236}">
                <a16:creationId xmlns:a16="http://schemas.microsoft.com/office/drawing/2014/main" id="{737A91CC-E47A-4BB5-B69C-B16D14C29754}"/>
              </a:ext>
            </a:extLst>
          </p:cNvPr>
          <p:cNvCxnSpPr/>
          <p:nvPr/>
        </p:nvCxnSpPr>
        <p:spPr>
          <a:xfrm flipH="0" flipV="1">
            <a:off x="1238250" y="5886450"/>
            <a:ext cx="0" cy="59055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cxnSp>
        <p:nvCxnSpPr>
          <p:cNvPr id="1025" name="arrow25">
            <a:extLst>
              <a:ext uri="{FF2B5EF4-FFF2-40B4-BE49-F238E27FC236}">
                <a16:creationId xmlns:a16="http://schemas.microsoft.com/office/drawing/2014/main" id="{166E8540-ACFF-4667-BAF7-ABDFABD6D412}"/>
              </a:ext>
            </a:extLst>
          </p:cNvPr>
          <p:cNvCxnSpPr/>
          <p:nvPr/>
        </p:nvCxnSpPr>
        <p:spPr>
          <a:xfrm flipH="0" flipV="1">
            <a:off x="1238250" y="4867275"/>
            <a:ext cx="0" cy="6572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26" name="arrow26">
            <a:extLst>
              <a:ext uri="{FF2B5EF4-FFF2-40B4-BE49-F238E27FC236}">
                <a16:creationId xmlns:a16="http://schemas.microsoft.com/office/drawing/2014/main" id="{3508B3DA-0E90-4CEA-BAC3-B9D23A76D6E4}"/>
              </a:ext>
            </a:extLst>
          </p:cNvPr>
          <p:cNvCxnSpPr/>
          <p:nvPr/>
        </p:nvCxnSpPr>
        <p:spPr>
          <a:xfrm flipH="0" flipV="0">
            <a:off x="1238250" y="4867275"/>
            <a:ext cx="71437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27" name="node27">
            <a:extLst>
              <a:ext uri="{FF2B5EF4-FFF2-40B4-BE49-F238E27FC236}">
                <a16:creationId xmlns:a16="http://schemas.microsoft.com/office/drawing/2014/main" id="{FA7112B7-4764-4DA0-B823-91F9E6C8B3F7}"/>
              </a:ext>
            </a:extLst>
          </p:cNvPr>
          <p:cNvSpPr>
            <a:spLocks noGrp="1"/>
          </p:cNvSpPr>
          <p:nvPr/>
        </p:nvSpPr>
        <p:spPr>
          <a:xfrm>
            <a:off x="4762500" y="3905250"/>
            <a:ext cx="1571625" cy="428625"/>
          </a:xfrm>
          <a:prstGeom prst="rect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passagem ←</a:t>
            </a:r>
          </a:p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passagem + 1</a:t>
            </a:r>
          </a:p>
        </p:txBody>
      </p:sp>
      <p:cxnSp>
        <p:nvCxnSpPr>
          <p:cNvPr id="1028" name="arrow28">
            <a:extLst>
              <a:ext uri="{FF2B5EF4-FFF2-40B4-BE49-F238E27FC236}">
                <a16:creationId xmlns:a16="http://schemas.microsoft.com/office/drawing/2014/main" id="{3D5D2610-12E1-4DE4-A5CD-ACE236C1F196}"/>
              </a:ext>
            </a:extLst>
          </p:cNvPr>
          <p:cNvCxnSpPr/>
          <p:nvPr/>
        </p:nvCxnSpPr>
        <p:spPr>
          <a:xfrm flipH="0" flipV="0">
            <a:off x="4238625" y="4867275"/>
            <a:ext cx="19526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29" name="arrow29">
            <a:extLst>
              <a:ext uri="{FF2B5EF4-FFF2-40B4-BE49-F238E27FC236}">
                <a16:creationId xmlns:a16="http://schemas.microsoft.com/office/drawing/2014/main" id="{7B210062-545B-42A6-9E37-284340243E23}"/>
              </a:ext>
            </a:extLst>
          </p:cNvPr>
          <p:cNvCxnSpPr/>
          <p:nvPr/>
        </p:nvCxnSpPr>
        <p:spPr>
          <a:xfrm flipH="0" flipV="1">
            <a:off x="6191250" y="4476750"/>
            <a:ext cx="0" cy="39052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30" name="arrow30">
            <a:extLst>
              <a:ext uri="{FF2B5EF4-FFF2-40B4-BE49-F238E27FC236}">
                <a16:creationId xmlns:a16="http://schemas.microsoft.com/office/drawing/2014/main" id="{6C7CBDE0-CC1B-4CB1-8DC7-415F7B27C543}"/>
              </a:ext>
            </a:extLst>
          </p:cNvPr>
          <p:cNvCxnSpPr/>
          <p:nvPr/>
        </p:nvCxnSpPr>
        <p:spPr>
          <a:xfrm flipH="1" flipV="0">
            <a:off x="5543550" y="4476750"/>
            <a:ext cx="6477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31" name="arrow31">
            <a:extLst>
              <a:ext uri="{FF2B5EF4-FFF2-40B4-BE49-F238E27FC236}">
                <a16:creationId xmlns:a16="http://schemas.microsoft.com/office/drawing/2014/main" id="{00297DFC-2397-4612-B52A-8BB38E56C47B}"/>
              </a:ext>
            </a:extLst>
          </p:cNvPr>
          <p:cNvCxnSpPr/>
          <p:nvPr/>
        </p:nvCxnSpPr>
        <p:spPr>
          <a:xfrm flipH="0" flipV="1">
            <a:off x="5543550" y="4333875"/>
            <a:ext cx="0" cy="1428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32" name="label32">
            <a:extLst>
              <a:ext uri="{FF2B5EF4-FFF2-40B4-BE49-F238E27FC236}">
                <a16:creationId xmlns:a16="http://schemas.microsoft.com/office/drawing/2014/main" id="{88A7FE3C-C0A7-40A1-808B-AE1AEC9DDB7B}"/>
              </a:ext>
            </a:extLst>
          </p:cNvPr>
          <p:cNvSpPr>
            <a:spLocks noGrp="1"/>
          </p:cNvSpPr>
          <p:nvPr/>
        </p:nvSpPr>
        <p:spPr>
          <a:xfrm>
            <a:off x="4333875" y="4552950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cxnSp>
        <p:nvCxnSpPr>
          <p:cNvPr id="1033" name="arrow33">
            <a:extLst>
              <a:ext uri="{FF2B5EF4-FFF2-40B4-BE49-F238E27FC236}">
                <a16:creationId xmlns:a16="http://schemas.microsoft.com/office/drawing/2014/main" id="{DA790D1B-9D4A-4EF8-A402-FDA16747A4D6}"/>
              </a:ext>
            </a:extLst>
          </p:cNvPr>
          <p:cNvCxnSpPr/>
          <p:nvPr/>
        </p:nvCxnSpPr>
        <p:spPr>
          <a:xfrm flipH="0" flipV="1">
            <a:off x="5543550" y="3381375"/>
            <a:ext cx="0" cy="5238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34" name="arrow34">
            <a:extLst>
              <a:ext uri="{FF2B5EF4-FFF2-40B4-BE49-F238E27FC236}">
                <a16:creationId xmlns:a16="http://schemas.microsoft.com/office/drawing/2014/main" id="{78B686F3-B431-4C62-A130-81DDCAE57C28}"/>
              </a:ext>
            </a:extLst>
          </p:cNvPr>
          <p:cNvCxnSpPr/>
          <p:nvPr/>
        </p:nvCxnSpPr>
        <p:spPr>
          <a:xfrm flipH="1" flipV="0">
            <a:off x="4238625" y="3381375"/>
            <a:ext cx="1304925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35" name="node35">
            <a:extLst>
              <a:ext uri="{FF2B5EF4-FFF2-40B4-BE49-F238E27FC236}">
                <a16:creationId xmlns:a16="http://schemas.microsoft.com/office/drawing/2014/main" id="{D94D0119-700F-4D2D-93B2-89C97F3D7862}"/>
              </a:ext>
            </a:extLst>
          </p:cNvPr>
          <p:cNvSpPr>
            <a:spLocks noGrp="1"/>
          </p:cNvSpPr>
          <p:nvPr/>
        </p:nvSpPr>
        <p:spPr>
          <a:xfrm>
            <a:off x="333375" y="3952875"/>
            <a:ext cx="1381125" cy="38100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425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lista</a:t>
            </a:r>
          </a:p>
        </p:txBody>
      </p:sp>
      <p:cxnSp>
        <p:nvCxnSpPr>
          <p:cNvPr id="1036" name="arrow36">
            <a:extLst>
              <a:ext uri="{FF2B5EF4-FFF2-40B4-BE49-F238E27FC236}">
                <a16:creationId xmlns:a16="http://schemas.microsoft.com/office/drawing/2014/main" id="{537E5E22-6CAE-4F6F-8C3A-4E77950607F5}"/>
              </a:ext>
            </a:extLst>
          </p:cNvPr>
          <p:cNvCxnSpPr/>
          <p:nvPr/>
        </p:nvCxnSpPr>
        <p:spPr>
          <a:xfrm flipH="1" flipV="0">
            <a:off x="1000125" y="3381375"/>
            <a:ext cx="952500" cy="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none" w="sm" len="sm"/>
          </a:ln>
        </p:spPr>
      </p:cxnSp>
      <p:cxnSp>
        <p:nvCxnSpPr>
          <p:cNvPr id="1037" name="arrow37">
            <a:extLst>
              <a:ext uri="{FF2B5EF4-FFF2-40B4-BE49-F238E27FC236}">
                <a16:creationId xmlns:a16="http://schemas.microsoft.com/office/drawing/2014/main" id="{02F2C906-89A5-4AE2-BFF8-CF89070CA03C}"/>
              </a:ext>
            </a:extLst>
          </p:cNvPr>
          <p:cNvCxnSpPr/>
          <p:nvPr/>
        </p:nvCxnSpPr>
        <p:spPr>
          <a:xfrm flipH="0" flipV="0">
            <a:off x="1000125" y="3381375"/>
            <a:ext cx="0" cy="571500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  <p:sp>
        <p:nvSpPr>
          <p:cNvPr id="1038" name="label38">
            <a:extLst>
              <a:ext uri="{FF2B5EF4-FFF2-40B4-BE49-F238E27FC236}">
                <a16:creationId xmlns:a16="http://schemas.microsoft.com/office/drawing/2014/main" id="{32F0CAAA-4952-45BA-B8AB-FAE44770193F}"/>
              </a:ext>
            </a:extLst>
          </p:cNvPr>
          <p:cNvSpPr>
            <a:spLocks noGrp="1"/>
          </p:cNvSpPr>
          <p:nvPr/>
        </p:nvSpPr>
        <p:spPr>
          <a:xfrm>
            <a:off x="1143000" y="309562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Não</a:t>
            </a:r>
          </a:p>
        </p:txBody>
      </p:sp>
      <p:sp>
        <p:nvSpPr>
          <p:cNvPr id="1039" name="node39">
            <a:extLst>
              <a:ext uri="{FF2B5EF4-FFF2-40B4-BE49-F238E27FC236}">
                <a16:creationId xmlns:a16="http://schemas.microsoft.com/office/drawing/2014/main" id="{DEB02390-92AA-4AD6-BC6A-E2241A0FA940}"/>
              </a:ext>
            </a:extLst>
          </p:cNvPr>
          <p:cNvSpPr>
            <a:spLocks noGrp="1"/>
          </p:cNvSpPr>
          <p:nvPr/>
        </p:nvSpPr>
        <p:spPr>
          <a:xfrm>
            <a:off x="476250" y="4552950"/>
            <a:ext cx="1047750" cy="285750"/>
          </a:xfrm>
          <a:prstGeom prst="flowChartTerminator">
            <a:avLst/>
          </a:prstGeom>
          <a:solidFill>
            <a:srgbClr val="FFFFFF"/>
          </a:solidFill>
          <a:ln w="19050">
            <a:solidFill>
              <a:srgbClr val="043073"/>
            </a:solidFill>
            <a:prstDash val="solid"/>
          </a:ln>
        </p:spPr>
        <p:txBody>
          <a:bodyPr lIns="28575" tIns="28575" rIns="28575" bIns="28575" anchor="ctr"/>
          <a:lstStyle>
            <a:def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defPPr>
          </a:lstStyle>
          <a:p>
            <a:pPr algn="ctr">
              <a:defRPr sz="1500">
                <a:solidFill>
                  <a:srgbClr val="272525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272525"/>
                </a:solidFill>
                <a:latin typeface="Inter"/>
                <a:ea typeface="Inter"/>
                <a:cs typeface="Inter"/>
              </a:rPr>
              <a:t>Fim</a:t>
            </a:r>
          </a:p>
        </p:txBody>
      </p:sp>
      <p:cxnSp>
        <p:nvCxnSpPr>
          <p:cNvPr id="1040" name="arrow40">
            <a:extLst>
              <a:ext uri="{FF2B5EF4-FFF2-40B4-BE49-F238E27FC236}">
                <a16:creationId xmlns:a16="http://schemas.microsoft.com/office/drawing/2014/main" id="{044BE5EC-10FB-4B2F-BD4E-216F440CD58A}"/>
              </a:ext>
            </a:extLst>
          </p:cNvPr>
          <p:cNvCxnSpPr/>
          <p:nvPr/>
        </p:nvCxnSpPr>
        <p:spPr>
          <a:xfrm flipH="0" flipV="0">
            <a:off x="1000125" y="4333875"/>
            <a:ext cx="0" cy="219075"/>
          </a:xfrm>
          <a:prstGeom prst="straightConnector1">
            <a:avLst/>
          </a:prstGeom>
          <a:ln w="19050">
            <a:solidFill>
              <a:srgbClr val="04307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Bubble Sort comentado: 1. preparando as passagens</a:t>
            </a:r>
          </a:p>
        </p:txBody>
      </p:sp>
      <p:sp>
        <p:nvSpPr>
          <p:cNvPr id="1000" name="commented-code">
            <a:extLst>
              <a:ext uri="{FF2B5EF4-FFF2-40B4-BE49-F238E27FC236}">
                <a16:creationId xmlns:a16="http://schemas.microsoft.com/office/drawing/2014/main" id="{3CAF70EB-1F3F-49FB-9476-F5B1E9D0A32C}"/>
              </a:ext>
            </a:extLst>
          </p:cNvPr>
          <p:cNvSpPr>
            <a:spLocks noGrp="1"/>
          </p:cNvSpPr>
          <p:nvPr/>
        </p:nvSpPr>
        <p:spPr>
          <a:xfrm>
            <a:off x="904875" y="1733550"/>
            <a:ext cx="10668000" cy="4191000"/>
          </a:xfrm>
          <a:prstGeom prst="rect">
            <a:avLst/>
          </a:prstGeom>
          <a:solidFill>
            <a:srgbClr val="F5F5FA"/>
          </a:solidFill>
          <a:ln w="9525">
            <a:solidFill>
              <a:srgbClr val="B9BFDC"/>
            </a:solidFill>
            <a:prstDash val="solid"/>
          </a:ln>
        </p:spPr>
        <p:txBody>
          <a:bodyPr lIns="190500" tIns="190500" rIns="190500" bIns="190500"/>
          <a:lstStyle>
            <a:def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# Lista que vamos colocar em ordem crescente.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lista = [8, 3, 5, 2]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# Quantidade de elementos: 4.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n = len(lista)</a:t>
            </a:r>
          </a:p>
          <a:p>
            <a:r>
              <a:t/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# Com 4 elementos, faremos 3 passagens.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passagem in range(n - 1):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# O fim já ordenado fica fora das novas comparações.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for j in range(n - 1 - passagem):</a:t>
            </a:r>
          </a:p>
        </p:txBody>
      </p:sp>
      <p:sp>
        <p:nvSpPr>
          <p:cNvPr id="1001" name="label0">
            <a:extLst>
              <a:ext uri="{FF2B5EF4-FFF2-40B4-BE49-F238E27FC236}">
                <a16:creationId xmlns:a16="http://schemas.microsoft.com/office/drawing/2014/main" id="{55724588-84BF-4DCD-B8BD-B1951B9DECC8}"/>
              </a:ext>
            </a:extLst>
          </p:cNvPr>
          <p:cNvSpPr>
            <a:spLocks noGrp="1"/>
          </p:cNvSpPr>
          <p:nvPr/>
        </p:nvSpPr>
        <p:spPr>
          <a:xfrm>
            <a:off x="952500" y="6172200"/>
            <a:ext cx="1047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Os comentários com # explicam a função de cada trecho.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Bubble Sort comentado: 2. comparando e trocando</a:t>
            </a:r>
          </a:p>
        </p:txBody>
      </p:sp>
      <p:sp>
        <p:nvSpPr>
          <p:cNvPr id="1000" name="commented-code">
            <a:extLst>
              <a:ext uri="{FF2B5EF4-FFF2-40B4-BE49-F238E27FC236}">
                <a16:creationId xmlns:a16="http://schemas.microsoft.com/office/drawing/2014/main" id="{11B228FB-DF34-4AB8-B19F-3800554566C2}"/>
              </a:ext>
            </a:extLst>
          </p:cNvPr>
          <p:cNvSpPr>
            <a:spLocks noGrp="1"/>
          </p:cNvSpPr>
          <p:nvPr/>
        </p:nvSpPr>
        <p:spPr>
          <a:xfrm>
            <a:off x="904875" y="1733550"/>
            <a:ext cx="10668000" cy="4191000"/>
          </a:xfrm>
          <a:prstGeom prst="rect">
            <a:avLst/>
          </a:prstGeom>
          <a:solidFill>
            <a:srgbClr val="F5F5FA"/>
          </a:solidFill>
          <a:ln w="9525">
            <a:solidFill>
              <a:srgbClr val="B9BFDC"/>
            </a:solidFill>
            <a:prstDash val="solid"/>
          </a:ln>
        </p:spPr>
        <p:txBody>
          <a:bodyPr lIns="190500" tIns="190500" rIns="190500" bIns="190500"/>
          <a:lstStyle>
            <a:def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# Compara os dois vizinhos da passagem atual.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if lista[j] &gt; lista[j + 1]: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    # Guarda o valor da esquerda antes de substituí-lo.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    aux = lista[j]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    # O menor valor vai para a esquerda.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    lista[j] = lista[j + 1]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    # O valor guardado vai para a direita.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    lista[j + 1] = aux</a:t>
            </a:r>
          </a:p>
          <a:p>
            <a:r>
              <a:t/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# Fora dos dois laços: mostra a lista já ordenada.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print(lista)  # [2, 3, 5, 8]</a:t>
            </a:r>
          </a:p>
        </p:txBody>
      </p:sp>
      <p:sp>
        <p:nvSpPr>
          <p:cNvPr id="1001" name="label1">
            <a:extLst>
              <a:ext uri="{FF2B5EF4-FFF2-40B4-BE49-F238E27FC236}">
                <a16:creationId xmlns:a16="http://schemas.microsoft.com/office/drawing/2014/main" id="{9AD8FDA2-233D-47D5-87A1-328312BD5C28}"/>
              </a:ext>
            </a:extLst>
          </p:cNvPr>
          <p:cNvSpPr>
            <a:spLocks noGrp="1"/>
          </p:cNvSpPr>
          <p:nvPr/>
        </p:nvSpPr>
        <p:spPr>
          <a:xfrm>
            <a:off x="952500" y="6172200"/>
            <a:ext cx="1047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Os comentários com # explicam a função de cada trecho.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Selection Sort: a primeira seleção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Procure o menor elemento e coloque-o na primeira posição ainda desordenada.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Marcar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menor = 0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índice 0 aponta para o valor 8, o primeiro candidato a menor.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Procurar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menor: 1 → 3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Ao percorrer a lista, atualize a posição do menor encontrado.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Posicionar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2  3  5  8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Troque o menor encontrado com o elemento da posição atual.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Nesta lista, uma troca já deixa tudo ordenado. O algoritmo ainda verifica as posições restantes.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Selection Sort comentado: 1. buscando o menor</a:t>
            </a:r>
          </a:p>
        </p:txBody>
      </p:sp>
      <p:sp>
        <p:nvSpPr>
          <p:cNvPr id="1000" name="commented-code">
            <a:extLst>
              <a:ext uri="{FF2B5EF4-FFF2-40B4-BE49-F238E27FC236}">
                <a16:creationId xmlns:a16="http://schemas.microsoft.com/office/drawing/2014/main" id="{2A5CDC4E-1853-4E9A-BF60-E73941C1A381}"/>
              </a:ext>
            </a:extLst>
          </p:cNvPr>
          <p:cNvSpPr>
            <a:spLocks noGrp="1"/>
          </p:cNvSpPr>
          <p:nvPr/>
        </p:nvSpPr>
        <p:spPr>
          <a:xfrm>
            <a:off x="904875" y="1733550"/>
            <a:ext cx="10668000" cy="4191000"/>
          </a:xfrm>
          <a:prstGeom prst="rect">
            <a:avLst/>
          </a:prstGeom>
          <a:solidFill>
            <a:srgbClr val="F5F5FA"/>
          </a:solidFill>
          <a:ln w="9525">
            <a:solidFill>
              <a:srgbClr val="B9BFDC"/>
            </a:solidFill>
            <a:prstDash val="solid"/>
          </a:ln>
        </p:spPr>
        <p:txBody>
          <a:bodyPr lIns="190500" tIns="190500" rIns="190500" bIns="190500"/>
          <a:lstStyle>
            <a:def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# Mesma lista para comparar os dois métodos.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lista = [8, 3, 5, 2]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n = len(lista)</a:t>
            </a:r>
          </a:p>
          <a:p>
            <a:r>
              <a:t/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# i é a posição que receberá o menor valor restante.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range(n - 1):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# menor guarda uma POSIÇÃO, não o valor do elemento.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menor = i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# Procura somente na parte que ainda não foi ordenada.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for j in range(i + 1, n):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if lista[j] &lt; lista[menor]: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    menor = j  # Atualiza a posição do menor encontrado.</a:t>
            </a:r>
          </a:p>
        </p:txBody>
      </p:sp>
      <p:sp>
        <p:nvSpPr>
          <p:cNvPr id="1001" name="label2">
            <a:extLst>
              <a:ext uri="{FF2B5EF4-FFF2-40B4-BE49-F238E27FC236}">
                <a16:creationId xmlns:a16="http://schemas.microsoft.com/office/drawing/2014/main" id="{A0EC55C6-5888-4C2E-8E9F-637A15DC59DD}"/>
              </a:ext>
            </a:extLst>
          </p:cNvPr>
          <p:cNvSpPr>
            <a:spLocks noGrp="1"/>
          </p:cNvSpPr>
          <p:nvPr/>
        </p:nvSpPr>
        <p:spPr>
          <a:xfrm>
            <a:off x="952500" y="6172200"/>
            <a:ext cx="1047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Os comentários com # explicam a função de cada trecho.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Selection Sort comentado: 2. posicionando o menor</a:t>
            </a:r>
          </a:p>
        </p:txBody>
      </p:sp>
      <p:sp>
        <p:nvSpPr>
          <p:cNvPr id="1000" name="commented-code">
            <a:extLst>
              <a:ext uri="{FF2B5EF4-FFF2-40B4-BE49-F238E27FC236}">
                <a16:creationId xmlns:a16="http://schemas.microsoft.com/office/drawing/2014/main" id="{8ECD9D2F-ADA9-43C7-A25A-2391B3E070B2}"/>
              </a:ext>
            </a:extLst>
          </p:cNvPr>
          <p:cNvSpPr>
            <a:spLocks noGrp="1"/>
          </p:cNvSpPr>
          <p:nvPr/>
        </p:nvSpPr>
        <p:spPr>
          <a:xfrm>
            <a:off x="904875" y="1733550"/>
            <a:ext cx="10668000" cy="4191000"/>
          </a:xfrm>
          <a:prstGeom prst="rect">
            <a:avLst/>
          </a:prstGeom>
          <a:solidFill>
            <a:srgbClr val="F5F5FA"/>
          </a:solidFill>
          <a:ln w="9525">
            <a:solidFill>
              <a:srgbClr val="B9BFDC"/>
            </a:solidFill>
            <a:prstDash val="solid"/>
          </a:ln>
        </p:spPr>
        <p:txBody>
          <a:bodyPr lIns="190500" tIns="190500" rIns="190500" bIns="190500"/>
          <a:lstStyle>
            <a:def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# Este bloco fica DEPOIS do laço de busca (FOR interno).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# A troca ocorre apenas se o menor estiver em outra posição.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if menor != i: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aux = lista[i]  # Preserva o valor da posição atual.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lista[i] = lista[menor]  # Coloca o menor nessa posição.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    lista[menor] = aux  # Completa a troca.</a:t>
            </a:r>
          </a:p>
          <a:p>
            <a:r>
              <a:t/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# Fora dos dois laços: mostra o resultado final.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print(lista)  # [2, 3, 5, 8]</a:t>
            </a:r>
          </a:p>
        </p:txBody>
      </p:sp>
      <p:sp>
        <p:nvSpPr>
          <p:cNvPr id="1001" name="label3">
            <a:extLst>
              <a:ext uri="{FF2B5EF4-FFF2-40B4-BE49-F238E27FC236}">
                <a16:creationId xmlns:a16="http://schemas.microsoft.com/office/drawing/2014/main" id="{9962C466-D394-4783-904A-9ED53220F177}"/>
              </a:ext>
            </a:extLst>
          </p:cNvPr>
          <p:cNvSpPr>
            <a:spLocks noGrp="1"/>
          </p:cNvSpPr>
          <p:nvPr/>
        </p:nvSpPr>
        <p:spPr>
          <a:xfrm>
            <a:off x="952500" y="6172200"/>
            <a:ext cx="1047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Os comentários com # explicam a função de cada trecho.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Comparação: o que cada repetição faz?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Bubble Sort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laço interno compara vizinhos. Uma passagem pode realizar várias trocas. A parte ordenada cresce no final da lista.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A cada passagem: maior no fim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Selection Sort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 laço interno busca o menor. Ao concluir a busca, realiza no máximo uma troca. A parte ordenada cresce no início.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A cada seleção: menor no início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Os exemplos percorrem pares com dois FOR. Com mais dados, o número de comparações cresce rapidamente.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Preparação da prática: leitura e cópias</a:t>
            </a:r>
          </a:p>
        </p:txBody>
      </p:sp>
      <p:sp>
        <p:nvSpPr>
          <p:cNvPr id="1000" name="commented-code">
            <a:extLst>
              <a:ext uri="{FF2B5EF4-FFF2-40B4-BE49-F238E27FC236}">
                <a16:creationId xmlns:a16="http://schemas.microsoft.com/office/drawing/2014/main" id="{633B6D5B-A8A1-4E16-B442-AC620CC83DB1}"/>
              </a:ext>
            </a:extLst>
          </p:cNvPr>
          <p:cNvSpPr>
            <a:spLocks noGrp="1"/>
          </p:cNvSpPr>
          <p:nvPr/>
        </p:nvSpPr>
        <p:spPr>
          <a:xfrm>
            <a:off x="904875" y="1733550"/>
            <a:ext cx="10668000" cy="4191000"/>
          </a:xfrm>
          <a:prstGeom prst="rect">
            <a:avLst/>
          </a:prstGeom>
          <a:solidFill>
            <a:srgbClr val="F5F5FA"/>
          </a:solidFill>
          <a:ln w="9525">
            <a:solidFill>
              <a:srgbClr val="B9BFDC"/>
            </a:solidFill>
            <a:prstDash val="solid"/>
          </a:ln>
        </p:spPr>
        <p:txBody>
          <a:bodyPr lIns="190500" tIns="190500" rIns="190500" bIns="190500"/>
          <a:lstStyle>
            <a:def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# Começa com uma lista vazia.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lista = []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# Solicita quatro valores, um de cada vez.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for i in range(4):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valor = int(input("Digite um número: "))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    lista.append(valor)  # Adiciona o valor no final.</a:t>
            </a:r>
          </a:p>
          <a:p>
            <a:r>
              <a:t/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# Cópias independentes da mesma entrada original.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bubble = lista.copy()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selecao = lista.copy()</a:t>
            </a:r>
          </a:p>
          <a:p>
            <a:pPr>
              <a:def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defRPr>
            </a:pPr>
            <a:r>
              <a:rPr sz="1725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# Cada método vai ordenar sua própria cópia.</a:t>
            </a:r>
          </a:p>
        </p:txBody>
      </p:sp>
      <p:sp>
        <p:nvSpPr>
          <p:cNvPr id="1001" name="label4">
            <a:extLst>
              <a:ext uri="{FF2B5EF4-FFF2-40B4-BE49-F238E27FC236}">
                <a16:creationId xmlns:a16="http://schemas.microsoft.com/office/drawing/2014/main" id="{787C8579-FD53-4AC4-8EB5-B2D129F0575C}"/>
              </a:ext>
            </a:extLst>
          </p:cNvPr>
          <p:cNvSpPr>
            <a:spLocks noGrp="1"/>
          </p:cNvSpPr>
          <p:nvPr/>
        </p:nvSpPr>
        <p:spPr>
          <a:xfrm>
            <a:off x="952500" y="6172200"/>
            <a:ext cx="1047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defPPr>
          </a:lstStyle>
          <a:p>
            <a:pPr>
              <a:defRPr sz="1400" b="1">
                <a:solidFill>
                  <a:srgbClr val="043073"/>
                </a:solidFill>
                <a:latin typeface="Inter"/>
                <a:ea typeface="Inter"/>
                <a:cs typeface="Inter"/>
              </a:defRPr>
            </a:pPr>
            <a:r>
              <a:rPr sz="1400" b="1">
                <a:solidFill>
                  <a:srgbClr val="043073"/>
                </a:solidFill>
                <a:latin typeface="Inter"/>
                <a:ea typeface="Inter"/>
                <a:cs typeface="Inter"/>
              </a:rPr>
              <a:t>Os comentários com # explicam a função de cada trecho.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Intervalo: 10 minutos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Na volta: cinco exercícios para desenhar, simular e programar.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Desenhar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Fluxograma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Identifique repetição, condição e atualização.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Simular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Teste de mesa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Registre as listas após cada passagem.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Programar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Python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Escreva os comentários com suas próprias palavras.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Use as mesmas entradas no desenho e no código.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Exercícios 1 e 2: Bubble Sort e troca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Rastrear as passagens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Com a lista [6, 2, 4, 1], registre o resultado após cada passagem do Bubble Sort. Depois execute e confira. Tempo: 8 minutos.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Entrada: [6, 2, 4, 1]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Explicar a variável aux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Desenhe o fluxo para trocar os dois primeiros valores de [9, 3, 7]. Escreva as três atribuições comentadas e explique a função de aux. Tempo: 10 minutos.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Resultado: [3, 9, 7]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Entrega: desenho, rastreamento ou código, acompanhado de uma justificativa.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Exercícios 3 e 4: seleção e ordem decrescente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Localizar o menor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Simule o Selection Sort em [7, 4, 6, 2]. Registre a posição do menor a cada passagem e o resultado das trocas. Tempo: 12 minutos.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Índices iniciais: 0, 1, 2, 3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4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Inverter a ordem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Adapte o Bubble Sort para colocar [4, 1, 5, 2] em ordem decrescente. Altere a comparação, desenhe a decisão e comente o código. Tempo: 10 minutos.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Resultado: [5, 4, 2, 1]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Antes de executar, explique qual comparação faz o maior valor ir para a esquerda.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Exercício 5: os dois métodos na prática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5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Comparar os resultados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Leia quatro números inteiros. Ordene uma cópia com Bubble Sort e outra com Selection Sort. Mostre as duas listas. Comente os laços e a troca. Tempo: 15 minutos.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Teste: 5, 2, 5, 1 → [1, 2, 5, 5]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?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Verificar antes de entregar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Os dois métodos receberam a lista original? Os valores repetidos foram preservados? Teste também [1, 2, 3, 4] e [4, 3, 2, 1].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As duas saídas devem coincidir.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Use uma cópia independente para cada método: lista.copy(). Explique sua solução.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Correção: rastreamento e troca</a:t>
            </a:r>
          </a:p>
        </p:txBody>
      </p:sp>
      <p:sp>
        <p:nvSpPr>
          <p:cNvPr id="3" name="Cartão 3"/>
          <p:cNvSpPr/>
          <p:nvPr/>
        </p:nvSpPr>
        <p:spPr>
          <a:xfrm>
            <a:off x="80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4" name="Número 4"/>
          <p:cNvSpPr/>
          <p:nvPr/>
        </p:nvSpPr>
        <p:spPr>
          <a:xfrm>
            <a:off x="110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5" name="Título 5"/>
          <p:cNvSpPr txBox="1"/>
          <p:nvPr/>
        </p:nvSpPr>
        <p:spPr>
          <a:xfrm>
            <a:off x="175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Bubble Sort em [6, 2, 4, 1]</a:t>
            </a:r>
          </a:p>
        </p:txBody>
      </p:sp>
      <p:sp>
        <p:nvSpPr>
          <p:cNvPr id="6" name="Texto 6"/>
          <p:cNvSpPr txBox="1"/>
          <p:nvPr/>
        </p:nvSpPr>
        <p:spPr>
          <a:xfrm>
            <a:off x="110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Passagem 1: [2, 4, 1, 6]. Passagem 2: [2, 1, 4, 6]. Passagem 3: [1, 2, 4, 6].</a:t>
            </a:r>
          </a:p>
        </p:txBody>
      </p:sp>
      <p:sp>
        <p:nvSpPr>
          <p:cNvPr id="7" name="Exemplo 7"/>
          <p:cNvSpPr/>
          <p:nvPr/>
        </p:nvSpPr>
        <p:spPr>
          <a:xfrm>
            <a:off x="110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O final ordenado cresce a cada passagem.</a:t>
            </a:r>
          </a:p>
        </p:txBody>
      </p:sp>
      <p:sp>
        <p:nvSpPr>
          <p:cNvPr id="8" name="Cartão 8"/>
          <p:cNvSpPr/>
          <p:nvPr/>
        </p:nvSpPr>
        <p:spPr>
          <a:xfrm>
            <a:off x="6350000" y="1750000"/>
            <a:ext cx="5250000" cy="3900000"/>
          </a:xfrm>
          <a:prstGeom prst="roundRect">
            <a:avLst>
              <a:gd name="adj" fmla="val 5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9" name="Número 9"/>
          <p:cNvSpPr/>
          <p:nvPr/>
        </p:nvSpPr>
        <p:spPr>
          <a:xfrm>
            <a:off x="6650000" y="203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0" name="Título 10"/>
          <p:cNvSpPr txBox="1"/>
          <p:nvPr/>
        </p:nvSpPr>
        <p:spPr>
          <a:xfrm>
            <a:off x="7300000" y="2030000"/>
            <a:ext cx="40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Troca com aux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650000" y="2750000"/>
            <a:ext cx="465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aux guarda 9. A primeira posição recebe 3. A segunda recebe o 9 guardado. Sem aux, o valor sobrescrito seria perdido.</a:t>
            </a:r>
          </a:p>
        </p:txBody>
      </p:sp>
      <p:sp>
        <p:nvSpPr>
          <p:cNvPr id="12" name="Exemplo 12"/>
          <p:cNvSpPr/>
          <p:nvPr/>
        </p:nvSpPr>
        <p:spPr>
          <a:xfrm>
            <a:off x="6650000" y="4650000"/>
            <a:ext cx="4650000" cy="7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60000" tIns="0" rIns="6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[9, 3, 7] → [3, 9, 7]</a:t>
            </a:r>
          </a:p>
        </p:txBody>
      </p:sp>
      <p:sp>
        <p:nvSpPr>
          <p:cNvPr id="13" name="Legenda 13"/>
          <p:cNvSpPr txBox="1"/>
          <p:nvPr/>
        </p:nvSpPr>
        <p:spPr>
          <a:xfrm>
            <a:off x="800000" y="5900000"/>
            <a:ext cx="10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043073"/>
                </a:solidFill>
                <a:latin typeface="Inter Bold"/>
                <a:ea typeface="Inter Bold"/>
                <a:cs typeface="Inter Bold"/>
              </a:rPr>
              <a:t>Explique a troca apontando as posições da lista, e não apenas recitando as linhas.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Correção: seleção, comparação e cópias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Confira o resultado e justifique as decisões de cada algoritmo.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Exercício 3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menor = 3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Na primeira busca, o índice 3 guarda o valor 2. A lista fica [2, 4, 6, 7].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Exercício 4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Trocar &gt; por &lt;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A comparação invertida gera a ordem decrescente [5, 4, 2, 1].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Exercício 5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[1, 2, 5, 5]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Os dois métodos chegam à mesma lista e preservam os valores repetidos.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Criar as duas cópias antes de ordenar: bubble = lista.copy(); selecao = lista.copy().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/>
          <p:nvPr/>
        </p:nvSpPr>
        <p:spPr>
          <a:xfrm>
            <a:off x="966267" y="832247"/>
            <a:ext cx="10868745" cy="59064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2350" b="1" spc="-72" dirty="0">
                <a:solidFill>
                  <a:srgbClr val="000000"/>
                </a:solidFill>
                <a:latin typeface="Inter Bold"/>
                <a:ea typeface="Inter Bold"/>
                <a:cs typeface="Inter Bold"/>
              </a:rPr>
              <a:t>Verificação final: qual método faz isso?</a:t>
            </a:r>
          </a:p>
        </p:txBody>
      </p:sp>
      <p:sp>
        <p:nvSpPr>
          <p:cNvPr id="3" name="Intro 3"/>
          <p:cNvSpPr txBox="1"/>
          <p:nvPr/>
        </p:nvSpPr>
        <p:spPr>
          <a:xfrm>
            <a:off x="800000" y="1550000"/>
            <a:ext cx="108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Explique o procedimento sem depender do nome do algoritmo.</a:t>
            </a:r>
          </a:p>
        </p:txBody>
      </p:sp>
      <p:sp>
        <p:nvSpPr>
          <p:cNvPr id="4" name="Cartão 4"/>
          <p:cNvSpPr/>
          <p:nvPr/>
        </p:nvSpPr>
        <p:spPr>
          <a:xfrm>
            <a:off x="8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5" name="Número 5"/>
          <p:cNvSpPr/>
          <p:nvPr/>
        </p:nvSpPr>
        <p:spPr>
          <a:xfrm>
            <a:off x="11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6" name="Título 6"/>
          <p:cNvSpPr txBox="1"/>
          <p:nvPr/>
        </p:nvSpPr>
        <p:spPr>
          <a:xfrm>
            <a:off x="17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Vizinhos</a:t>
            </a:r>
          </a:p>
        </p:txBody>
      </p:sp>
      <p:sp>
        <p:nvSpPr>
          <p:cNvPr id="7" name="Código 7"/>
          <p:cNvSpPr/>
          <p:nvPr/>
        </p:nvSpPr>
        <p:spPr>
          <a:xfrm>
            <a:off x="11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Bubble Sort</a:t>
            </a:r>
          </a:p>
        </p:txBody>
      </p:sp>
      <p:sp>
        <p:nvSpPr>
          <p:cNvPr id="8" name="Texto 8"/>
          <p:cNvSpPr txBox="1"/>
          <p:nvPr/>
        </p:nvSpPr>
        <p:spPr>
          <a:xfrm>
            <a:off x="11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Qual comparação determina a troca?</a:t>
            </a:r>
          </a:p>
        </p:txBody>
      </p:sp>
      <p:sp>
        <p:nvSpPr>
          <p:cNvPr id="9" name="Cartão 9"/>
          <p:cNvSpPr/>
          <p:nvPr/>
        </p:nvSpPr>
        <p:spPr>
          <a:xfrm>
            <a:off x="45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0" name="Número 10"/>
          <p:cNvSpPr/>
          <p:nvPr/>
        </p:nvSpPr>
        <p:spPr>
          <a:xfrm>
            <a:off x="48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1" name="Título 11"/>
          <p:cNvSpPr txBox="1"/>
          <p:nvPr/>
        </p:nvSpPr>
        <p:spPr>
          <a:xfrm>
            <a:off x="54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Menor valor</a:t>
            </a:r>
          </a:p>
        </p:txBody>
      </p:sp>
      <p:sp>
        <p:nvSpPr>
          <p:cNvPr id="12" name="Código 12"/>
          <p:cNvSpPr/>
          <p:nvPr/>
        </p:nvSpPr>
        <p:spPr>
          <a:xfrm>
            <a:off x="48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Selection Sort</a:t>
            </a:r>
          </a:p>
        </p:txBody>
      </p:sp>
      <p:sp>
        <p:nvSpPr>
          <p:cNvPr id="13" name="Texto 13"/>
          <p:cNvSpPr txBox="1"/>
          <p:nvPr/>
        </p:nvSpPr>
        <p:spPr>
          <a:xfrm>
            <a:off x="48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Por que menor guarda um índice?</a:t>
            </a:r>
          </a:p>
        </p:txBody>
      </p:sp>
      <p:sp>
        <p:nvSpPr>
          <p:cNvPr id="14" name="Cartão 14"/>
          <p:cNvSpPr/>
          <p:nvPr/>
        </p:nvSpPr>
        <p:spPr>
          <a:xfrm>
            <a:off x="8200000" y="2350000"/>
            <a:ext cx="3400000" cy="2950000"/>
          </a:xfrm>
          <a:prstGeom prst="roundRect">
            <a:avLst>
              <a:gd name="adj" fmla="val 6000"/>
            </a:avLst>
          </a:prstGeom>
          <a:solidFill>
            <a:srgbClr val="EEF0F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pt-BR"/>
          </a:p>
        </p:txBody>
      </p:sp>
      <p:sp>
        <p:nvSpPr>
          <p:cNvPr id="15" name="Número 15"/>
          <p:cNvSpPr/>
          <p:nvPr/>
        </p:nvSpPr>
        <p:spPr>
          <a:xfrm>
            <a:off x="8500000" y="2600000"/>
            <a:ext cx="500000" cy="500000"/>
          </a:xfrm>
          <a:prstGeom prst="ellipse">
            <a:avLst/>
          </a:prstGeom>
          <a:solidFill>
            <a:srgbClr val="04307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6" name="Título 16"/>
          <p:cNvSpPr txBox="1"/>
          <p:nvPr/>
        </p:nvSpPr>
        <p:spPr>
          <a:xfrm>
            <a:off x="9150000" y="2600000"/>
            <a:ext cx="23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Troca</a:t>
            </a:r>
          </a:p>
        </p:txBody>
      </p:sp>
      <p:sp>
        <p:nvSpPr>
          <p:cNvPr id="17" name="Código 17"/>
          <p:cNvSpPr/>
          <p:nvPr/>
        </p:nvSpPr>
        <p:spPr>
          <a:xfrm>
            <a:off x="8500000" y="3300000"/>
            <a:ext cx="2800000" cy="6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CCE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272525"/>
                </a:solidFill>
                <a:latin typeface="Courier New"/>
                <a:ea typeface="Courier New"/>
                <a:cs typeface="Courier New"/>
              </a:rPr>
              <a:t>Variável aux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8500000" y="4050000"/>
            <a:ext cx="28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72525"/>
                </a:solidFill>
                <a:latin typeface="Inter"/>
                <a:ea typeface="Inter"/>
                <a:cs typeface="Inter"/>
              </a:rPr>
              <a:t>Qual valor seria perdido sem guardar uma cópia?</a:t>
            </a:r>
          </a:p>
        </p:txBody>
      </p:sp>
      <p:sp>
        <p:nvSpPr>
          <p:cNvPr id="19" name="Destaque 19"/>
          <p:cNvSpPr/>
          <p:nvPr/>
        </p:nvSpPr>
        <p:spPr>
          <a:xfrm>
            <a:off x="800000" y="5600000"/>
            <a:ext cx="10800000" cy="750000"/>
          </a:xfrm>
          <a:prstGeom prst="roundRect">
            <a:avLst>
              <a:gd name="adj" fmla="val 12000"/>
            </a:avLst>
          </a:prstGeom>
          <a:solidFill>
            <a:srgbClr val="E3E5F6"/>
          </a:solidFill>
          <a:ln>
            <a:noFill/>
          </a:ln>
        </p:spPr>
        <p:txBody>
          <a:bodyPr wrap="square" lIns="250000" tIns="0" rIns="15000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72525"/>
                </a:solidFill>
                <a:latin typeface="Inter Bold"/>
                <a:ea typeface="Inter Bold"/>
                <a:cs typeface="Inter Bold"/>
              </a:rPr>
              <a:t>Ordenar reorganiza posições. A lista mantém seus elementos, inclusive os repetidos.</a:t>
            </a:r>
          </a:p>
        </p:txBody>
      </p:sp>
    </p:spTree>
    <p:extLst>
      <p:ext uri="{BB962C8B-B14F-4D97-AF65-F5344CB8AC3E}">
        <p14:creationId xmlns:p14="http://schemas.microsoft.com/office/powerpoint/2010/main" val="1094391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2" id="{F00C9D64-B4F3-4CB8-9DF2-59685944CDDB}" vid="{148A88D6-2EA5-4E01-8808-5075C10EAE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Tema2</Template>
  <TotalTime>151</TotalTime>
  <Words>922</Words>
  <Application>Microsoft Office PowerPoint</Application>
  <PresentationFormat>Widescreen</PresentationFormat>
  <Paragraphs>171</Paragraphs>
  <Slides>16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5" baseType="lpstr">
      <vt:lpstr>Consolas</vt:lpstr>
      <vt:lpstr>Inter</vt:lpstr>
      <vt:lpstr>Calibri</vt:lpstr>
      <vt:lpstr>Inter Light</vt:lpstr>
      <vt:lpstr>Arial</vt:lpstr>
      <vt:lpstr>Inter Bold</vt:lpstr>
      <vt:lpstr>Twemoji Mozilla</vt:lpstr>
      <vt:lpstr>Times New Roman</vt:lpstr>
      <vt:lpstr>Tema2</vt:lpstr>
      <vt:lpstr>Introdução à Lógica de Programação: Pensando como um Programador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Variáveis</vt:lpstr>
      <vt:lpstr>Maneiras de declarar Classes</vt:lpstr>
      <vt:lpstr>Maneiras de declarar Classes</vt:lpstr>
      <vt:lpstr>Apresentação do PowerPoint</vt:lpstr>
      <vt:lpstr>Apresentação do PowerPoint</vt:lpstr>
      <vt:lpstr>Apresentação do PowerPoint</vt:lpstr>
      <vt:lpstr>Apresentação do PowerPoint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Lógica de Programação: Pensando como um Programador</dc:title>
  <dc:subject/>
  <dc:creator/>
  <cp:lastModifiedBy>Pedro Miho</cp:lastModifiedBy>
  <cp:revision>7</cp:revision>
  <dcterms:created xsi:type="dcterms:W3CDTF">2026-08-24T01:16:08Z</dcterms:created>
  <dcterms:modified xsi:type="dcterms:W3CDTF">2026-08-25T00:44:57Z</dcterms:modified>
</cp:coreProperties>
</file>