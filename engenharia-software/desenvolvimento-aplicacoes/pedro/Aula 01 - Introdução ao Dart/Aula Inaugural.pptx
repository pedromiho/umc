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4"/>
  </p:notesMasterIdLst>
  <p:handoutMasterIdLst>
    <p:handoutMasterId r:id="rId35"/>
  </p:handout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9" r:id="rId12"/>
    <p:sldId id="337" r:id="rId13"/>
    <p:sldId id="335" r:id="rId14"/>
    <p:sldId id="340" r:id="rId15"/>
    <p:sldId id="341" r:id="rId16"/>
    <p:sldId id="338" r:id="rId17"/>
    <p:sldId id="342" r:id="rId18"/>
    <p:sldId id="344" r:id="rId19"/>
    <p:sldId id="345" r:id="rId20"/>
    <p:sldId id="346" r:id="rId21"/>
    <p:sldId id="347" r:id="rId22"/>
    <p:sldId id="354" r:id="rId23"/>
    <p:sldId id="343" r:id="rId24"/>
    <p:sldId id="348" r:id="rId25"/>
    <p:sldId id="349" r:id="rId26"/>
    <p:sldId id="350" r:id="rId27"/>
    <p:sldId id="351" r:id="rId28"/>
    <p:sldId id="352" r:id="rId29"/>
    <p:sldId id="353" r:id="rId30"/>
    <p:sldId id="323" r:id="rId31"/>
    <p:sldId id="324" r:id="rId32"/>
    <p:sldId id="325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90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spcBef>
                <a:spcPts val="0"/>
              </a:spcBef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spcBef>
                <a:spcPts val="0"/>
              </a:spcBef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spcBef>
                <a:spcPts val="0"/>
              </a:spcBef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spcBef>
                <a:spcPts val="0"/>
              </a:spcBef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b="1" dirty="0"/>
              <a:t> </a:t>
            </a:r>
            <a:r>
              <a:rPr lang="pt-BR" sz="4800" b="1" dirty="0"/>
              <a:t>Desenvolvimento de Aplicações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B9DF3-D179-212B-B449-5F318F9B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F4897-24F2-C22B-29CD-0285CFDC5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1800" dirty="0"/>
              <a:t>Apresentar fundamentos do desenvolvimento com </a:t>
            </a:r>
            <a:r>
              <a:rPr lang="pt-BR" sz="1800" dirty="0" err="1"/>
              <a:t>Flutter</a:t>
            </a:r>
            <a:r>
              <a:rPr lang="pt-BR" sz="1800" dirty="0"/>
              <a:t> e Dart, capacitando-os a compreender os conceitos básicos da linguagem Dart e o funcionamento do controle de versão com </a:t>
            </a:r>
            <a:r>
              <a:rPr lang="pt-BR" sz="1800" dirty="0" err="1"/>
              <a:t>Git</a:t>
            </a:r>
            <a:r>
              <a:rPr lang="pt-BR" sz="1800" dirty="0"/>
              <a:t>/GitHub.</a:t>
            </a:r>
          </a:p>
          <a:p>
            <a:pPr algn="just"/>
            <a:r>
              <a:rPr lang="pt-BR" sz="1800" dirty="0"/>
              <a:t>Ao final desta aula, o aluno será capaz de:</a:t>
            </a:r>
          </a:p>
          <a:p>
            <a:pPr marL="971550" lvl="1" indent="-285750"/>
            <a:r>
              <a:rPr lang="pt-BR" sz="1400" dirty="0"/>
              <a:t>Compreender o que é o </a:t>
            </a:r>
            <a:r>
              <a:rPr lang="pt-BR" sz="1400" dirty="0" err="1"/>
              <a:t>Flutter</a:t>
            </a:r>
            <a:r>
              <a:rPr lang="pt-BR" sz="1400" dirty="0"/>
              <a:t> e o Dart, identificando suas principais características e aplicações no mercado de desenvolvimento mobile;</a:t>
            </a:r>
          </a:p>
          <a:p>
            <a:pPr marL="971550" lvl="1" indent="-285750"/>
            <a:r>
              <a:rPr lang="pt-BR" sz="1400" dirty="0"/>
              <a:t>Reconhecer as vantagens do desenvolvimento multiplataforma em relação ao desenvolvimento nativo tradicional;</a:t>
            </a:r>
          </a:p>
          <a:p>
            <a:pPr marL="971550" lvl="1" indent="-285750"/>
            <a:r>
              <a:rPr lang="pt-BR" sz="1400" dirty="0"/>
              <a:t>Utilizar o </a:t>
            </a:r>
            <a:r>
              <a:rPr lang="pt-BR" sz="1400" dirty="0" err="1"/>
              <a:t>Git</a:t>
            </a:r>
            <a:r>
              <a:rPr lang="pt-BR" sz="1400" dirty="0"/>
              <a:t> e GitHub para versionamento e controle do código-fonte, aplicando comandos básicos (</a:t>
            </a:r>
            <a:r>
              <a:rPr lang="pt-BR" sz="1400" dirty="0" err="1"/>
              <a:t>init</a:t>
            </a:r>
            <a:r>
              <a:rPr lang="pt-BR" sz="1400" dirty="0"/>
              <a:t>, </a:t>
            </a:r>
            <a:r>
              <a:rPr lang="pt-BR" sz="1400" dirty="0" err="1"/>
              <a:t>add</a:t>
            </a:r>
            <a:r>
              <a:rPr lang="pt-BR" sz="1400" dirty="0"/>
              <a:t>, </a:t>
            </a:r>
            <a:r>
              <a:rPr lang="pt-BR" sz="1400" dirty="0" err="1"/>
              <a:t>commit</a:t>
            </a:r>
            <a:r>
              <a:rPr lang="pt-BR" sz="1400" dirty="0"/>
              <a:t>, </a:t>
            </a:r>
            <a:r>
              <a:rPr lang="pt-BR" sz="1400" dirty="0" err="1"/>
              <a:t>push</a:t>
            </a:r>
            <a:r>
              <a:rPr lang="pt-BR" sz="1400" dirty="0"/>
              <a:t>);</a:t>
            </a:r>
          </a:p>
          <a:p>
            <a:pPr marL="971550" lvl="1" indent="-285750"/>
            <a:r>
              <a:rPr lang="pt-BR" sz="1400" dirty="0"/>
              <a:t>Declarar e manipular variáveis em Dart utilizando os principais tipos de dados (</a:t>
            </a:r>
            <a:r>
              <a:rPr lang="pt-BR" sz="1400" dirty="0" err="1"/>
              <a:t>int</a:t>
            </a:r>
            <a:r>
              <a:rPr lang="pt-BR" sz="1400" dirty="0"/>
              <a:t>, </a:t>
            </a:r>
            <a:r>
              <a:rPr lang="pt-BR" sz="1400" dirty="0" err="1"/>
              <a:t>double</a:t>
            </a:r>
            <a:r>
              <a:rPr lang="pt-BR" sz="1400" dirty="0"/>
              <a:t>, </a:t>
            </a:r>
            <a:r>
              <a:rPr lang="pt-BR" sz="1400" dirty="0" err="1"/>
              <a:t>String</a:t>
            </a:r>
            <a:r>
              <a:rPr lang="pt-BR" sz="1400" dirty="0"/>
              <a:t>, </a:t>
            </a:r>
            <a:r>
              <a:rPr lang="pt-BR" sz="1400" dirty="0" err="1"/>
              <a:t>bool</a:t>
            </a:r>
            <a:r>
              <a:rPr lang="pt-BR" sz="1400" dirty="0"/>
              <a:t>, var, </a:t>
            </a:r>
            <a:r>
              <a:rPr lang="pt-BR" sz="1400" dirty="0" err="1"/>
              <a:t>dynamic</a:t>
            </a:r>
            <a:r>
              <a:rPr lang="pt-BR" sz="1400" dirty="0"/>
              <a:t>);</a:t>
            </a:r>
          </a:p>
          <a:p>
            <a:pPr marL="971550" lvl="1" indent="-285750"/>
            <a:r>
              <a:rPr lang="pt-BR" sz="1400" dirty="0"/>
              <a:t>Implementar operações básicas de entrada e saída de dados em programas Dart;</a:t>
            </a:r>
          </a:p>
          <a:p>
            <a:pPr marL="971550" lvl="1" indent="-285750"/>
            <a:r>
              <a:rPr lang="pt-BR" sz="1400" dirty="0"/>
              <a:t>Aplicar bibliotecas nativas do Dart (como </a:t>
            </a:r>
            <a:r>
              <a:rPr lang="pt-BR" sz="1400" dirty="0" err="1"/>
              <a:t>dart:math</a:t>
            </a:r>
            <a:r>
              <a:rPr lang="pt-BR" sz="1400" dirty="0"/>
              <a:t>) em pequenos programas práticos.</a:t>
            </a:r>
          </a:p>
        </p:txBody>
      </p:sp>
    </p:spTree>
    <p:extLst>
      <p:ext uri="{BB962C8B-B14F-4D97-AF65-F5344CB8AC3E}">
        <p14:creationId xmlns:p14="http://schemas.microsoft.com/office/powerpoint/2010/main" val="336034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A38A-69F1-F342-FD8F-1FD92976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Dart?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12DE70-4D3D-E743-91E1-C4CC947D1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914806"/>
            <a:ext cx="11007306" cy="3016083"/>
          </a:xfrm>
        </p:spPr>
        <p:txBody>
          <a:bodyPr/>
          <a:lstStyle/>
          <a:p>
            <a:r>
              <a:rPr lang="pt-BR" b="1" dirty="0"/>
              <a:t>Dart</a:t>
            </a:r>
            <a:r>
              <a:rPr lang="pt-BR" dirty="0"/>
              <a:t> é uma linguagem de programação de código aberto criada pelo </a:t>
            </a:r>
            <a:r>
              <a:rPr lang="pt-BR" b="1" dirty="0"/>
              <a:t>Google</a:t>
            </a:r>
            <a:r>
              <a:rPr lang="pt-BR" dirty="0"/>
              <a:t> em 2011. Embora o plano inicial fosse substituir o </a:t>
            </a:r>
            <a:r>
              <a:rPr lang="pt-BR" dirty="0" err="1"/>
              <a:t>JavaScript</a:t>
            </a:r>
            <a:r>
              <a:rPr lang="pt-BR" dirty="0"/>
              <a:t> na web, ela ganhou enorme popularidade usado para criar aplicativos móveis.</a:t>
            </a:r>
          </a:p>
          <a:p>
            <a:pPr marL="1028700" lvl="1" indent="-342900"/>
            <a:r>
              <a:rPr lang="pt-BR" dirty="0"/>
              <a:t>Linguagem de programação criada pelo Google, orientada a objetos</a:t>
            </a:r>
          </a:p>
          <a:p>
            <a:pPr marL="1028700" lvl="1" indent="-342900"/>
            <a:r>
              <a:rPr lang="pt-BR" dirty="0"/>
              <a:t>Compilada tanto para código nativo (mobile/desktop) quanto para </a:t>
            </a:r>
            <a:r>
              <a:rPr lang="pt-BR" dirty="0" err="1"/>
              <a:t>JavaScript</a:t>
            </a:r>
            <a:r>
              <a:rPr lang="pt-BR" dirty="0"/>
              <a:t> (web)</a:t>
            </a:r>
          </a:p>
          <a:p>
            <a:pPr marL="1028700" lvl="1" indent="-342900"/>
            <a:r>
              <a:rPr lang="pt-BR" dirty="0"/>
              <a:t>Sintaxe similar a Java/</a:t>
            </a:r>
            <a:r>
              <a:rPr lang="pt-BR" dirty="0" err="1"/>
              <a:t>JavaScript</a:t>
            </a:r>
            <a:r>
              <a:rPr lang="pt-BR" dirty="0"/>
              <a:t> — facilita o aprendizado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26" name="Picture 2" descr="Dart: a Linguagem de Programação que quer substituir o Java">
            <a:extLst>
              <a:ext uri="{FF2B5EF4-FFF2-40B4-BE49-F238E27FC236}">
                <a16:creationId xmlns:a16="http://schemas.microsoft.com/office/drawing/2014/main" id="{24976A3F-420A-E993-511B-5DD3F3F07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599" y="4943194"/>
            <a:ext cx="3917114" cy="130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57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930F3-CEB0-3238-307F-25D7AB23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Flutter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42043B-21E7-AA8A-1870-096DE236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Flutter</a:t>
            </a:r>
            <a:r>
              <a:rPr lang="pt-BR" dirty="0"/>
              <a:t> é um kit de ferramentas de desenvolvimento de interface (framework) gratuito e de código aberto criado pelo Google. Ele permite criar aplicativos compilados de forma nativa para celular (Android e iOS), computadores (Windows, </a:t>
            </a:r>
            <a:r>
              <a:rPr lang="pt-BR" dirty="0" err="1"/>
              <a:t>macOS</a:t>
            </a:r>
            <a:r>
              <a:rPr lang="pt-BR" dirty="0"/>
              <a:t> e Linux) e web usando apenas uma única base de código.</a:t>
            </a:r>
          </a:p>
          <a:p>
            <a:pPr marL="1028700" lvl="1" indent="-342900"/>
            <a:r>
              <a:rPr lang="pt-BR" dirty="0"/>
              <a:t>Framework open-</a:t>
            </a:r>
            <a:r>
              <a:rPr lang="pt-BR" dirty="0" err="1"/>
              <a:t>source</a:t>
            </a:r>
            <a:r>
              <a:rPr lang="pt-BR" dirty="0"/>
              <a:t> criado pelo </a:t>
            </a:r>
            <a:r>
              <a:rPr lang="pt-BR" b="1" dirty="0"/>
              <a:t>Google</a:t>
            </a:r>
            <a:r>
              <a:rPr lang="pt-BR" dirty="0"/>
              <a:t> para desenvolvimento de aplicações multiplataforma</a:t>
            </a:r>
          </a:p>
          <a:p>
            <a:pPr marL="1028700" lvl="1" indent="-342900"/>
            <a:r>
              <a:rPr lang="pt-BR" dirty="0"/>
              <a:t>Permite criar apps para </a:t>
            </a:r>
            <a:r>
              <a:rPr lang="pt-BR" b="1" dirty="0"/>
              <a:t>Android, iOS, Web e Desktop</a:t>
            </a:r>
            <a:r>
              <a:rPr lang="pt-BR" dirty="0"/>
              <a:t> com uma única base de código</a:t>
            </a:r>
          </a:p>
          <a:p>
            <a:pPr marL="1028700" lvl="1" indent="-342900"/>
            <a:r>
              <a:rPr lang="pt-BR" dirty="0"/>
              <a:t>Usa o conceito de </a:t>
            </a:r>
            <a:r>
              <a:rPr lang="pt-BR" b="1" dirty="0"/>
              <a:t>Widgets</a:t>
            </a:r>
            <a:r>
              <a:rPr lang="pt-BR" dirty="0"/>
              <a:t> (tudo é widget!)</a:t>
            </a:r>
          </a:p>
          <a:p>
            <a:endParaRPr 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E40FFA-A6DE-6417-FAC4-439008D78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223" y="4809040"/>
            <a:ext cx="4859504" cy="138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84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33E72-4252-3652-E9CA-414DF4E1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de Hardware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70B8BF5-0961-1EC0-BDD9-CB4DB8EE3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443518"/>
              </p:ext>
            </p:extLst>
          </p:nvPr>
        </p:nvGraphicFramePr>
        <p:xfrm>
          <a:off x="838200" y="2440778"/>
          <a:ext cx="10515600" cy="3108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137391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76764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Requisitos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Mínimo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9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(Windows) Para virtualização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 Pro ou 11 Pro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88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nn-NO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i5 8600 / AMD Ryzen 5 2600x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54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8GB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763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Resolução de Tela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WXGA (1366 x 768)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60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Espaço livre de armazenamento em GB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GB</a:t>
                      </a:r>
                    </a:p>
                  </a:txBody>
                  <a:tcPr marL="121920" marR="121920"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033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107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F079E-8AEC-4D5B-2335-CF3836BF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</a:t>
            </a:r>
            <a:r>
              <a:rPr lang="pt-BR" dirty="0" err="1"/>
              <a:t>Flutter</a:t>
            </a:r>
            <a:r>
              <a:rPr lang="pt-BR" dirty="0"/>
              <a:t> SDK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CA2B55-A2ED-801B-F0B6-6C620FBEF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91557"/>
          </a:xfrm>
        </p:spPr>
        <p:txBody>
          <a:bodyPr/>
          <a:lstStyle/>
          <a:p>
            <a:r>
              <a:rPr lang="pt-BR" dirty="0"/>
              <a:t>Para trabalhar com </a:t>
            </a:r>
            <a:r>
              <a:rPr lang="pt-BR" dirty="0" err="1"/>
              <a:t>Flutter</a:t>
            </a:r>
            <a:r>
              <a:rPr lang="pt-BR" dirty="0"/>
              <a:t> e o Dart, devemos primeiro instalar o </a:t>
            </a:r>
            <a:r>
              <a:rPr lang="pt-BR" dirty="0" err="1"/>
              <a:t>Flutter</a:t>
            </a:r>
            <a:r>
              <a:rPr lang="pt-BR" dirty="0"/>
              <a:t> SDK, seguindo o link, https://flutter.dev/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0C94AD-AEC6-6047-1DFF-2FC83A9A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68" y="3318021"/>
            <a:ext cx="8359864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4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69C61-857B-7FF5-DF50-C71687BF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</a:t>
            </a:r>
            <a:r>
              <a:rPr lang="pt-BR" dirty="0" err="1"/>
              <a:t>Flutter</a:t>
            </a:r>
            <a:r>
              <a:rPr lang="pt-BR" dirty="0"/>
              <a:t> SDK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F5F8F8A-8A05-1950-4184-7538B128F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6153" y="2774366"/>
            <a:ext cx="7559695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5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A878-94F1-D88D-82BC-252EC0C0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EC4C8-6F2E-EE9D-116E-F64AEFD6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</a:t>
            </a:r>
            <a:r>
              <a:rPr lang="pt-BR" dirty="0" err="1"/>
              <a:t>Flutter</a:t>
            </a:r>
            <a:r>
              <a:rPr lang="pt-BR" dirty="0"/>
              <a:t> SDK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2116BA-07B2-3436-C13F-C2AF7771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25" y="2046349"/>
            <a:ext cx="8093141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6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4EE6C-A4F9-3853-65F1-D1FD0DB3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Mova o </a:t>
            </a:r>
            <a:r>
              <a:rPr lang="pt-BR" dirty="0" err="1"/>
              <a:t>Flutter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F68B04-AA82-1A21-A6EE-6CA6198B3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próximo passo é mover o </a:t>
            </a:r>
            <a:r>
              <a:rPr lang="pt-BR" dirty="0" err="1"/>
              <a:t>flutter</a:t>
            </a:r>
            <a:r>
              <a:rPr lang="pt-BR" dirty="0"/>
              <a:t> até o disco C://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507144-434E-7C5F-7E4B-82764E3C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798" y="2909076"/>
            <a:ext cx="4152403" cy="353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4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1C44C-783C-895A-1F2D-5423BB7A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de Ambiente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6D8FBA-3AD2-D87A-E8B1-569023A7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95" y="2394283"/>
            <a:ext cx="3631245" cy="33988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999E163-0441-54E6-B77B-2F8FECB1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789" y="1873932"/>
            <a:ext cx="4077053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6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7BDAD-6DA6-93D6-39D6-57B7D197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Adicionar o </a:t>
            </a:r>
            <a:r>
              <a:rPr lang="pt-BR" dirty="0" err="1"/>
              <a:t>Flutter</a:t>
            </a:r>
            <a:r>
              <a:rPr lang="pt-BR" dirty="0"/>
              <a:t> nas variáveis de ambiente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42E0039-8D68-1390-CA25-8459F388D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600" y="2312035"/>
            <a:ext cx="3505504" cy="385605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57B2487-3F50-0E52-20B3-2618C3F05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02" y="2208491"/>
            <a:ext cx="3467400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9C6EA-6822-EFFC-8636-AC39E0E8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Validando a Instalação do </a:t>
            </a:r>
            <a:r>
              <a:rPr lang="pt-BR" b="1" dirty="0" err="1"/>
              <a:t>Flutter</a:t>
            </a:r>
            <a:r>
              <a:rPr lang="pt-BR" b="1" dirty="0"/>
              <a:t> e Dart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862321-0FAE-21EB-CE78-211E62C2A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7317"/>
          </a:xfrm>
        </p:spPr>
        <p:txBody>
          <a:bodyPr/>
          <a:lstStyle/>
          <a:p>
            <a:r>
              <a:rPr lang="pt-BR" dirty="0"/>
              <a:t>Após concluir a instalação, é importante verificar se tudo foi configurado corretamente. Para isso, abra o </a:t>
            </a:r>
            <a:r>
              <a:rPr lang="pt-BR" b="1" dirty="0" err="1"/>
              <a:t>PowerShell</a:t>
            </a:r>
            <a:r>
              <a:rPr lang="pt-BR" dirty="0"/>
              <a:t> e execute os seguintes comandos: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4B1F52-F1C7-A727-A380-5CE24A77C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758" y="3424339"/>
            <a:ext cx="8588484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91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66693-58D8-A037-382C-0C6F9DA0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Extensão </a:t>
            </a:r>
            <a:r>
              <a:rPr lang="pt-BR" dirty="0" err="1"/>
              <a:t>VScode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2AAEB3-F871-E97C-F51A-FF8FB3E2C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09" y="3537078"/>
            <a:ext cx="9409982" cy="2189666"/>
          </a:xfrm>
          <a:prstGeom prst="rect">
            <a:avLst/>
          </a:prstGeom>
        </p:spPr>
      </p:pic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BDF13410-6867-3C1F-2E3E-CF480411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1301"/>
          </a:xfrm>
        </p:spPr>
        <p:txBody>
          <a:bodyPr/>
          <a:lstStyle/>
          <a:p>
            <a:r>
              <a:rPr lang="pt-BR" dirty="0"/>
              <a:t>Para desenvolver aplicações </a:t>
            </a:r>
            <a:r>
              <a:rPr lang="pt-BR" dirty="0" err="1"/>
              <a:t>Flutter</a:t>
            </a:r>
            <a:r>
              <a:rPr lang="pt-BR" dirty="0"/>
              <a:t> e Dart no </a:t>
            </a:r>
            <a:r>
              <a:rPr lang="pt-BR" b="1" dirty="0"/>
              <a:t>Visual Studio </a:t>
            </a:r>
            <a:r>
              <a:rPr lang="pt-BR" b="1" dirty="0" err="1"/>
              <a:t>Code</a:t>
            </a:r>
            <a:r>
              <a:rPr lang="pt-BR" dirty="0"/>
              <a:t>, é necessário instalar a extensão oficial do </a:t>
            </a:r>
            <a:r>
              <a:rPr lang="pt-BR" dirty="0" err="1"/>
              <a:t>Flutter</a:t>
            </a:r>
            <a:r>
              <a:rPr lang="pt-BR" dirty="0"/>
              <a:t>. Siga os passos abaixo:</a:t>
            </a:r>
          </a:p>
        </p:txBody>
      </p:sp>
    </p:spTree>
    <p:extLst>
      <p:ext uri="{BB962C8B-B14F-4D97-AF65-F5344CB8AC3E}">
        <p14:creationId xmlns:p14="http://schemas.microsoft.com/office/powerpoint/2010/main" val="4262871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D8FBE-7817-FCB2-88F3-F39FC7E5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primeiro projeto com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15029C-11F7-A93A-7C96-047C4B8B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02042"/>
          </a:xfrm>
        </p:spPr>
        <p:txBody>
          <a:bodyPr/>
          <a:lstStyle/>
          <a:p>
            <a:r>
              <a:rPr lang="pt-BR" dirty="0"/>
              <a:t>Com o SDK instalado e o VS </a:t>
            </a:r>
            <a:r>
              <a:rPr lang="pt-BR" dirty="0" err="1"/>
              <a:t>Code</a:t>
            </a:r>
            <a:r>
              <a:rPr lang="pt-BR" dirty="0"/>
              <a:t> configurado, podemos criar nosso primeiro projeto Dart. Para isso, abra o </a:t>
            </a:r>
            <a:r>
              <a:rPr lang="pt-BR" b="1" dirty="0"/>
              <a:t>terminal</a:t>
            </a:r>
            <a:r>
              <a:rPr lang="pt-BR" dirty="0"/>
              <a:t> e execute o seguinte comando: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6949D5-3FE2-16C2-8407-D16F5D06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48" y="3271943"/>
            <a:ext cx="6264183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30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B48B-81F4-1395-521A-957265DD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265D4-2079-0C56-04C4-6154F130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primeiro projeto com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C96851-8C07-1DB8-EDAD-660B1CB29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65406"/>
          </a:xfrm>
        </p:spPr>
        <p:txBody>
          <a:bodyPr/>
          <a:lstStyle/>
          <a:p>
            <a:r>
              <a:rPr lang="pt-BR" dirty="0"/>
              <a:t>Com o SDK instalado e o VS </a:t>
            </a:r>
            <a:r>
              <a:rPr lang="pt-BR" dirty="0" err="1"/>
              <a:t>Code</a:t>
            </a:r>
            <a:r>
              <a:rPr lang="pt-BR" dirty="0"/>
              <a:t> configurado, podemos criar nosso primeiro projeto Dart. Para isso, abra o </a:t>
            </a:r>
            <a:r>
              <a:rPr lang="pt-BR" b="1" dirty="0"/>
              <a:t>terminal</a:t>
            </a:r>
            <a:r>
              <a:rPr lang="pt-BR" dirty="0"/>
              <a:t> e execute o seguinte comando: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D565CE-127E-ADDE-E4AE-FE752BE4C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99" y="3047655"/>
            <a:ext cx="6264183" cy="2491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C32BB0B-EBD6-671A-1CB7-EE596A308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069" y="3181016"/>
            <a:ext cx="1585097" cy="22252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429CCD2-759E-A645-2D74-4E0C7600D18D}"/>
              </a:ext>
            </a:extLst>
          </p:cNvPr>
          <p:cNvSpPr txBox="1"/>
          <p:nvPr/>
        </p:nvSpPr>
        <p:spPr>
          <a:xfrm>
            <a:off x="592347" y="5922648"/>
            <a:ext cx="5170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programa principal é sempre o que está no bin</a:t>
            </a:r>
          </a:p>
        </p:txBody>
      </p:sp>
    </p:spTree>
    <p:extLst>
      <p:ext uri="{BB962C8B-B14F-4D97-AF65-F5344CB8AC3E}">
        <p14:creationId xmlns:p14="http://schemas.microsoft.com/office/powerpoint/2010/main" val="4174491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4C4C2-D185-36F3-C62F-9B485F18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Rodando o primeiro projeto </a:t>
            </a:r>
            <a:r>
              <a:rPr lang="pt-BR" dirty="0" err="1"/>
              <a:t>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DE9F90-F729-17E3-9591-81CFF42A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993416"/>
          </a:xfrm>
        </p:spPr>
        <p:txBody>
          <a:bodyPr/>
          <a:lstStyle/>
          <a:p>
            <a:r>
              <a:rPr lang="pt-BR" dirty="0"/>
              <a:t>Para rodar nosso projeto Dart, primeiro precisamos acessar, pelo terminal, a pasta onde o arquivo do projeto está localizado, utilizando o comando </a:t>
            </a:r>
            <a:r>
              <a:rPr lang="pt-BR" b="1" dirty="0" err="1">
                <a:solidFill>
                  <a:srgbClr val="292A86"/>
                </a:solidFill>
              </a:rPr>
              <a:t>cd</a:t>
            </a:r>
            <a:r>
              <a:rPr lang="pt-BR" dirty="0"/>
              <a:t>, e em seguida usar o comando </a:t>
            </a:r>
            <a:r>
              <a:rPr lang="pt-BR" b="1" dirty="0" err="1">
                <a:solidFill>
                  <a:srgbClr val="292A86"/>
                </a:solidFill>
              </a:rPr>
              <a:t>dart</a:t>
            </a:r>
            <a:r>
              <a:rPr lang="pt-BR" b="1" dirty="0">
                <a:solidFill>
                  <a:srgbClr val="292A86"/>
                </a:solidFill>
              </a:rPr>
              <a:t> </a:t>
            </a:r>
            <a:r>
              <a:rPr lang="pt-BR" b="1" dirty="0" err="1">
                <a:solidFill>
                  <a:srgbClr val="292A86"/>
                </a:solidFill>
              </a:rPr>
              <a:t>run</a:t>
            </a:r>
            <a:endParaRPr lang="pt-BR" b="1" dirty="0">
              <a:solidFill>
                <a:srgbClr val="292A86"/>
              </a:solidFill>
            </a:endParaRPr>
          </a:p>
          <a:p>
            <a:br>
              <a:rPr lang="pt-BR" dirty="0"/>
            </a:br>
            <a:endParaRPr lang="pt-BR" b="1" dirty="0">
              <a:solidFill>
                <a:srgbClr val="292A86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12860C-BDD4-9B5D-7C7C-9E5643B09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617" y="3754384"/>
            <a:ext cx="7216765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A8F62-DD91-7406-95D9-175F5885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Estrutura Básica de um Programa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5FCF15-BA15-6839-0045-6E6575EA0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1053"/>
          </a:xfrm>
        </p:spPr>
        <p:txBody>
          <a:bodyPr/>
          <a:lstStyle/>
          <a:p>
            <a:r>
              <a:rPr lang="pt-BR" dirty="0"/>
              <a:t>Para que um programa Dart seja executado, ele precisa, essencialmente, apenas da função 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{}, que representa o ponto de entrada da aplicação. É a partir dela que a execução do código se inicia.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8FCF0E-88E3-1E14-A55D-D904A5F9D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96" y="3139817"/>
            <a:ext cx="5456393" cy="16384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F8AA0B8-71CD-6BA6-03D2-C86E8A95C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855" y="5062157"/>
            <a:ext cx="3845700" cy="1278258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B290839-DB29-EBE6-E1FC-BAC85138A3F3}"/>
              </a:ext>
            </a:extLst>
          </p:cNvPr>
          <p:cNvCxnSpPr>
            <a:cxnSpLocks/>
          </p:cNvCxnSpPr>
          <p:nvPr/>
        </p:nvCxnSpPr>
        <p:spPr>
          <a:xfrm>
            <a:off x="6339789" y="4778259"/>
            <a:ext cx="1253066" cy="28389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457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2087E-323A-C2D4-336E-9ED1D505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Variáveis no 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358700-1FAA-BE2E-2E22-9BE83D4F2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19055"/>
            <a:ext cx="11007306" cy="2313257"/>
          </a:xfrm>
        </p:spPr>
        <p:txBody>
          <a:bodyPr/>
          <a:lstStyle/>
          <a:p>
            <a:r>
              <a:rPr lang="pt-BR" dirty="0"/>
              <a:t>Variáveis são espaços na memória utilizados para armazenar dados que podem ser manipulados durante a execução do programa. No Dart, existem diferentes formas de declarar variáveis.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146C2B-1E5A-465D-F735-6E40CF9744A6}"/>
              </a:ext>
            </a:extLst>
          </p:cNvPr>
          <p:cNvSpPr txBox="1"/>
          <p:nvPr/>
        </p:nvSpPr>
        <p:spPr>
          <a:xfrm>
            <a:off x="4246375" y="3938088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ADD1BE2-C99D-245C-B819-822E2CEB9B24}"/>
              </a:ext>
            </a:extLst>
          </p:cNvPr>
          <p:cNvGrpSpPr/>
          <p:nvPr/>
        </p:nvGrpSpPr>
        <p:grpSpPr>
          <a:xfrm>
            <a:off x="3692556" y="3536622"/>
            <a:ext cx="5134692" cy="2124371"/>
            <a:chOff x="6464961" y="3598918"/>
            <a:chExt cx="5134692" cy="2124371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B03F448B-A355-AA1D-94B7-00BD89885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39E39F13-B60A-6E45-1615-49D800A3D46E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C93E8171-6DB0-6839-DFA7-8B757E40AE88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C769B35C-5922-B1B1-4F6E-469E56658D26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A55DDDA5-0D76-9F31-2781-CF3EA6E2F567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7198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D4EC7-DDFE-5265-0421-3CC0B1BB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Tipagem Estática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4D223C-6F69-F29E-A32C-E25D7ADF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795008"/>
          </a:xfrm>
        </p:spPr>
        <p:txBody>
          <a:bodyPr/>
          <a:lstStyle/>
          <a:p>
            <a:r>
              <a:rPr lang="pt-BR" dirty="0"/>
              <a:t>Quando sabemos o tipo do dado, podemos declará-lo diretamente: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F9FB502-EDBF-412B-C294-FCE73C02C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356653"/>
              </p:ext>
            </p:extLst>
          </p:nvPr>
        </p:nvGraphicFramePr>
        <p:xfrm>
          <a:off x="838200" y="3181365"/>
          <a:ext cx="10515600" cy="2880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520747459"/>
                    </a:ext>
                  </a:extLst>
                </a:gridCol>
                <a:gridCol w="1872651">
                  <a:extLst>
                    <a:ext uri="{9D8B030D-6E8A-4147-A177-3AD203B41FA5}">
                      <a16:colId xmlns:a16="http://schemas.microsoft.com/office/drawing/2014/main" val="513709624"/>
                    </a:ext>
                  </a:extLst>
                </a:gridCol>
                <a:gridCol w="3605841">
                  <a:extLst>
                    <a:ext uri="{9D8B030D-6E8A-4147-A177-3AD203B41FA5}">
                      <a16:colId xmlns:a16="http://schemas.microsoft.com/office/drawing/2014/main" val="1342649059"/>
                    </a:ext>
                  </a:extLst>
                </a:gridCol>
                <a:gridCol w="2408208">
                  <a:extLst>
                    <a:ext uri="{9D8B030D-6E8A-4147-A177-3AD203B41FA5}">
                      <a16:colId xmlns:a16="http://schemas.microsoft.com/office/drawing/2014/main" val="142292445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Palavra-chave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 de declaração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Pode mudar de tipo?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8912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idade = 25;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97317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altura = 1.68;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75269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nome = 'Barbara';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15861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ativo = 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150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437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D6BF3-CC8C-8050-167A-9E053BDC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Tipagem Dinâmica com var e </a:t>
            </a:r>
            <a:r>
              <a:rPr lang="pt-BR" dirty="0" err="1"/>
              <a:t>dynamic</a:t>
            </a:r>
            <a:br>
              <a:rPr lang="pt-BR" b="1" dirty="0"/>
            </a:b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02F418-4666-EE6C-2D5A-76BA2EBF5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58910"/>
          </a:xfrm>
        </p:spPr>
        <p:txBody>
          <a:bodyPr/>
          <a:lstStyle/>
          <a:p>
            <a:r>
              <a:rPr lang="pt-BR" dirty="0"/>
              <a:t>A palavra-chave var permite que o Dart </a:t>
            </a:r>
            <a:r>
              <a:rPr lang="pt-BR" b="1" dirty="0"/>
              <a:t>infira o tipo automaticamente</a:t>
            </a:r>
            <a:r>
              <a:rPr lang="pt-BR" dirty="0"/>
              <a:t>, com base no valor atribuído, Diferente do var, o </a:t>
            </a:r>
            <a:r>
              <a:rPr lang="pt-BR" dirty="0" err="1"/>
              <a:t>dynamic</a:t>
            </a:r>
            <a:r>
              <a:rPr lang="pt-BR" dirty="0"/>
              <a:t> permite que a variável </a:t>
            </a:r>
            <a:r>
              <a:rPr lang="pt-BR" b="1" dirty="0"/>
              <a:t>mude de tipo</a:t>
            </a:r>
            <a:r>
              <a:rPr lang="pt-BR" dirty="0"/>
              <a:t> durante a execução: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2B9EF63-AF4F-C329-BDD6-B3021515C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329266"/>
              </p:ext>
            </p:extLst>
          </p:nvPr>
        </p:nvGraphicFramePr>
        <p:xfrm>
          <a:off x="838200" y="3724829"/>
          <a:ext cx="10515600" cy="1920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811916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797732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35089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276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Palavra-chave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Inferência de 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Pode mudar de tipo depois?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03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Sim, na primeira atribuição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idade = 25;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151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 fixa o 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valor = 'texto'; valor = 10;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993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146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8B48-DD53-AFC6-AB4C-B203CB7B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Constantes: final e </a:t>
            </a:r>
            <a:r>
              <a:rPr lang="pt-BR" dirty="0" err="1"/>
              <a:t>const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2BB49-F0E0-C431-0A57-55E95B0E5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38140"/>
          </a:xfrm>
        </p:spPr>
        <p:txBody>
          <a:bodyPr/>
          <a:lstStyle/>
          <a:p>
            <a:r>
              <a:rPr lang="pt-BR" dirty="0"/>
              <a:t>Usadas quando o valor </a:t>
            </a:r>
            <a:r>
              <a:rPr lang="pt-BR" b="1" dirty="0"/>
              <a:t>não deve ser alterado</a:t>
            </a:r>
            <a:r>
              <a:rPr lang="pt-BR" dirty="0"/>
              <a:t> após a atribuição, 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5D74B89-E09A-5DE6-DB50-91F7D0688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45081"/>
              </p:ext>
            </p:extLst>
          </p:nvPr>
        </p:nvGraphicFramePr>
        <p:xfrm>
          <a:off x="838200" y="3353088"/>
          <a:ext cx="10515600" cy="2194560"/>
        </p:xfrm>
        <a:graphic>
          <a:graphicData uri="http://schemas.openxmlformats.org/drawingml/2006/table">
            <a:tbl>
              <a:tblPr/>
              <a:tblGrid>
                <a:gridCol w="2043023">
                  <a:extLst>
                    <a:ext uri="{9D8B030D-6E8A-4147-A177-3AD203B41FA5}">
                      <a16:colId xmlns:a16="http://schemas.microsoft.com/office/drawing/2014/main" val="1185646214"/>
                    </a:ext>
                  </a:extLst>
                </a:gridCol>
                <a:gridCol w="2820837">
                  <a:extLst>
                    <a:ext uri="{9D8B030D-6E8A-4147-A177-3AD203B41FA5}">
                      <a16:colId xmlns:a16="http://schemas.microsoft.com/office/drawing/2014/main" val="3543564432"/>
                    </a:ext>
                  </a:extLst>
                </a:gridCol>
                <a:gridCol w="1751163">
                  <a:extLst>
                    <a:ext uri="{9D8B030D-6E8A-4147-A177-3AD203B41FA5}">
                      <a16:colId xmlns:a16="http://schemas.microsoft.com/office/drawing/2014/main" val="1448962663"/>
                    </a:ext>
                  </a:extLst>
                </a:gridCol>
                <a:gridCol w="3900577">
                  <a:extLst>
                    <a:ext uri="{9D8B030D-6E8A-4147-A177-3AD203B41FA5}">
                      <a16:colId xmlns:a16="http://schemas.microsoft.com/office/drawing/2014/main" val="1438867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Palavra-chave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Quando o valor é definido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Pode ser alterado depois?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183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 tempo de execução (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cidade = 'Mogi das Cruzes';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endParaRPr lang="pt-B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 tempo de compilação (compile-time)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r>
                        <a:rPr lang="pt-B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pi = 3.14;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29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964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6E8F5-D014-BF5A-E4CA-F53DB5B4F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Saída de Dados no Dart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BF6819-80CA-B460-94B9-E5C2687B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17600"/>
          </a:xfrm>
        </p:spPr>
        <p:txBody>
          <a:bodyPr/>
          <a:lstStyle/>
          <a:p>
            <a:r>
              <a:rPr lang="pt-BR" dirty="0"/>
              <a:t>A saída de dados é usada para exibir informações ao usuário, geralmente no terminal/console. No Dart, a principal função para isso é o print().</a:t>
            </a:r>
          </a:p>
          <a:p>
            <a:br>
              <a:rPr lang="pt-BR" dirty="0"/>
            </a:b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6E1C55F-3E76-B6C5-5D00-C9FAFDDCA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304"/>
              </p:ext>
            </p:extLst>
          </p:nvPr>
        </p:nvGraphicFramePr>
        <p:xfrm>
          <a:off x="2152650" y="3361082"/>
          <a:ext cx="7886700" cy="2880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852369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908924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5432816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Sintaxe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23719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print('texto')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print('Olá!')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36875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Interpolação simples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pt-BR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variavel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print('$nome')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23544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Interpolação com expressão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${expressao}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print('${a + b}')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62839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Concatenação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print('Nome: ' + nome)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642329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Multi-linha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'''texto'''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print('''linha1\nlinha2''')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569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745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1D5AB-F0C9-D5F4-79A9-9ACD6702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 no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C7499A-8D53-6635-C0ED-D71A8054A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40065"/>
          </a:xfrm>
        </p:spPr>
        <p:txBody>
          <a:bodyPr/>
          <a:lstStyle/>
          <a:p>
            <a:r>
              <a:rPr lang="pt-BR" dirty="0"/>
              <a:t>Para realizar a entrada de dados via terminal em Dart, utilizamos a classe </a:t>
            </a:r>
            <a:r>
              <a:rPr lang="pt-BR" dirty="0" err="1"/>
              <a:t>stdin</a:t>
            </a:r>
            <a:r>
              <a:rPr lang="pt-BR" dirty="0"/>
              <a:t>, disponível na biblioteca </a:t>
            </a:r>
            <a:r>
              <a:rPr lang="pt-BR" dirty="0" err="1"/>
              <a:t>dart:io</a:t>
            </a:r>
            <a:r>
              <a:rPr lang="pt-BR" dirty="0"/>
              <a:t>. É necessário importá-la no início do arquivo:</a:t>
            </a:r>
          </a:p>
          <a:p>
            <a:br>
              <a:rPr lang="pt-BR" dirty="0"/>
            </a:b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D35B36-C57C-EBC4-8A8D-A554397B7BC6}"/>
              </a:ext>
            </a:extLst>
          </p:cNvPr>
          <p:cNvSpPr txBox="1"/>
          <p:nvPr/>
        </p:nvSpPr>
        <p:spPr>
          <a:xfrm>
            <a:off x="4407020" y="3653287"/>
            <a:ext cx="3377960" cy="1918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dart:io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850"/>
              </a:lnSpc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85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28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stdin.readLineSync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8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5867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DF33E-1B4B-9F4E-B24C-E1448A26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 ! e ? no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079589-7DD6-E0C4-19C6-0A9102729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Esses símbolos fazem parte do sistema de 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b="1" dirty="0" err="1"/>
              <a:t>safety</a:t>
            </a:r>
            <a:r>
              <a:rPr lang="pt-BR" dirty="0"/>
              <a:t> do Dart, que ajuda a evitar erros com valores nulos.</a:t>
            </a:r>
          </a:p>
          <a:p>
            <a:r>
              <a:rPr lang="pt-BR" sz="1800" b="1" dirty="0"/>
              <a:t>? — Indica que a variável pode ser nula</a:t>
            </a:r>
          </a:p>
          <a:p>
            <a:pPr marL="457200" lvl="1" indent="0">
              <a:buNone/>
            </a:pPr>
            <a:r>
              <a:rPr lang="pt-BR" sz="1400" dirty="0"/>
              <a:t>Usado ao </a:t>
            </a:r>
            <a:r>
              <a:rPr lang="pt-BR" sz="1400" b="1" dirty="0"/>
              <a:t>declarar o tipo</a:t>
            </a:r>
            <a:r>
              <a:rPr lang="pt-BR" sz="1400" dirty="0"/>
              <a:t>, informando que a variável pode receber </a:t>
            </a:r>
            <a:r>
              <a:rPr lang="pt-BR" sz="1400" dirty="0" err="1"/>
              <a:t>null</a:t>
            </a:r>
            <a:r>
              <a:rPr lang="pt-BR" sz="1400" dirty="0"/>
              <a:t>:	</a:t>
            </a:r>
          </a:p>
          <a:p>
            <a:pPr marL="914400" lvl="2" indent="0">
              <a:buNone/>
            </a:pPr>
            <a:r>
              <a:rPr lang="pt-BR" dirty="0" err="1"/>
              <a:t>String</a:t>
            </a:r>
            <a:r>
              <a:rPr lang="pt-BR" dirty="0"/>
              <a:t>? nome; // pode ser </a:t>
            </a:r>
            <a:r>
              <a:rPr lang="pt-BR" dirty="0" err="1"/>
              <a:t>String</a:t>
            </a:r>
            <a:r>
              <a:rPr lang="pt-BR" dirty="0"/>
              <a:t> ou </a:t>
            </a:r>
            <a:r>
              <a:rPr lang="pt-BR" dirty="0" err="1"/>
              <a:t>null</a:t>
            </a:r>
            <a:endParaRPr lang="pt-BR" dirty="0"/>
          </a:p>
          <a:p>
            <a:pPr marL="914400" lvl="2" indent="0">
              <a:buNone/>
            </a:pPr>
            <a:r>
              <a:rPr lang="pt-BR" dirty="0"/>
              <a:t> nome = </a:t>
            </a:r>
            <a:r>
              <a:rPr lang="pt-BR" dirty="0" err="1"/>
              <a:t>null</a:t>
            </a:r>
            <a:r>
              <a:rPr lang="pt-BR" dirty="0"/>
              <a:t>;  // ✅ permitido</a:t>
            </a:r>
          </a:p>
          <a:p>
            <a:pPr marL="914400" lvl="2" indent="0">
              <a:buNone/>
            </a:pPr>
            <a:r>
              <a:rPr lang="pt-BR" dirty="0"/>
              <a:t> nome = 'Ana'; // ✅ permitido</a:t>
            </a:r>
          </a:p>
          <a:p>
            <a:pPr marL="0" lvl="2" indent="0">
              <a:spcBef>
                <a:spcPts val="1000"/>
              </a:spcBef>
              <a:buNone/>
            </a:pPr>
            <a:r>
              <a:rPr lang="pt-BR" sz="1800" b="1" dirty="0"/>
              <a:t>Sem o ?, o Dart não permite atribuir </a:t>
            </a:r>
            <a:r>
              <a:rPr lang="pt-BR" sz="1800" b="1" dirty="0" err="1"/>
              <a:t>null</a:t>
            </a:r>
            <a:r>
              <a:rPr lang="pt-BR" sz="1800" b="1" dirty="0"/>
              <a:t>:</a:t>
            </a:r>
          </a:p>
          <a:p>
            <a:pPr marL="457200" lvl="3" indent="0">
              <a:spcBef>
                <a:spcPts val="1000"/>
              </a:spcBef>
              <a:buNone/>
            </a:pPr>
            <a:r>
              <a:rPr lang="pt-BR" sz="1600" dirty="0" err="1"/>
              <a:t>String</a:t>
            </a:r>
            <a:r>
              <a:rPr lang="pt-BR" sz="1600" dirty="0"/>
              <a:t> nome2 = </a:t>
            </a:r>
            <a:r>
              <a:rPr lang="pt-BR" sz="1600" dirty="0" err="1"/>
              <a:t>null</a:t>
            </a:r>
            <a:r>
              <a:rPr lang="pt-BR" sz="1600" dirty="0"/>
              <a:t>; // ❌ erro! Sem o '?', não pode ser nulo</a:t>
            </a:r>
          </a:p>
          <a:p>
            <a:pPr marL="0" lvl="2" indent="0">
              <a:spcBef>
                <a:spcPts val="1000"/>
              </a:spcBef>
              <a:buNone/>
            </a:pPr>
            <a:endParaRPr lang="pt-BR" sz="1800" b="1" dirty="0"/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5622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C2D89-607A-221C-4A64-EDEFF77D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 ! e ? no Dart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68EF42-3595-9626-618B-33056BDC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! — Operador de asserção não-nula</a:t>
            </a:r>
          </a:p>
          <a:p>
            <a:pPr marL="457200" lvl="1" indent="0">
              <a:buNone/>
            </a:pPr>
            <a:r>
              <a:rPr lang="pt-BR" dirty="0"/>
              <a:t>Usado para </a:t>
            </a:r>
            <a:r>
              <a:rPr lang="pt-BR" b="1" dirty="0"/>
              <a:t>afirmar ao compilador</a:t>
            </a:r>
            <a:r>
              <a:rPr lang="pt-BR" dirty="0"/>
              <a:t> que, naquele momento, o valor </a:t>
            </a:r>
            <a:r>
              <a:rPr lang="pt-BR" b="1" dirty="0"/>
              <a:t>não é nulo</a:t>
            </a:r>
            <a:r>
              <a:rPr lang="pt-BR" dirty="0"/>
              <a:t>, mesmo que o tipo seja </a:t>
            </a:r>
            <a:r>
              <a:rPr lang="pt-BR" dirty="0" err="1"/>
              <a:t>String</a:t>
            </a:r>
            <a:r>
              <a:rPr lang="pt-BR" dirty="0"/>
              <a:t>?:</a:t>
            </a:r>
            <a:endParaRPr lang="pt-BR" b="1" dirty="0"/>
          </a:p>
          <a:p>
            <a:pPr marL="914400" lvl="2" indent="0">
              <a:buNone/>
            </a:pPr>
            <a:r>
              <a:rPr lang="pt-BR" dirty="0" err="1"/>
              <a:t>String</a:t>
            </a:r>
            <a:r>
              <a:rPr lang="pt-BR" dirty="0"/>
              <a:t>? entrada = </a:t>
            </a:r>
            <a:r>
              <a:rPr lang="pt-BR" dirty="0" err="1"/>
              <a:t>stdin.readLineSync</a:t>
            </a:r>
            <a:r>
              <a:rPr lang="pt-BR" dirty="0"/>
              <a:t>();</a:t>
            </a:r>
          </a:p>
          <a:p>
            <a:pPr marL="914400" lvl="2" indent="0">
              <a:buNone/>
            </a:pPr>
            <a:r>
              <a:rPr lang="pt-BR" dirty="0" err="1"/>
              <a:t>int</a:t>
            </a:r>
            <a:r>
              <a:rPr lang="pt-BR" dirty="0"/>
              <a:t> numero = </a:t>
            </a:r>
            <a:r>
              <a:rPr lang="pt-BR" dirty="0" err="1"/>
              <a:t>int.parse</a:t>
            </a:r>
            <a:r>
              <a:rPr lang="pt-BR" dirty="0"/>
              <a:t>(entrada!); // "eu garanto que entrada não é </a:t>
            </a:r>
            <a:r>
              <a:rPr lang="pt-BR" dirty="0" err="1"/>
              <a:t>null</a:t>
            </a:r>
            <a:r>
              <a:rPr lang="pt-BR" dirty="0"/>
              <a:t>"</a:t>
            </a:r>
          </a:p>
          <a:p>
            <a:pPr>
              <a:spcBef>
                <a:spcPts val="0"/>
              </a:spcBef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51314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A6A3D-DD7A-9DA5-BACF-BC5DEF3B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Conversões de Tipos no 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57B8E7-6997-B02E-1EEB-C174612F2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Dart, é comum precisar converter valores entre diferentes tipos de dados. Vamos ver as principais conversões.</a:t>
            </a:r>
          </a:p>
          <a:p>
            <a:r>
              <a:rPr lang="pt-BR" b="1" dirty="0" err="1"/>
              <a:t>String</a:t>
            </a:r>
            <a:r>
              <a:rPr lang="pt-BR" b="1" dirty="0"/>
              <a:t> → </a:t>
            </a:r>
            <a:r>
              <a:rPr lang="pt-BR" b="1" dirty="0" err="1"/>
              <a:t>int</a:t>
            </a:r>
            <a:endParaRPr lang="pt-BR" b="1" dirty="0"/>
          </a:p>
          <a:p>
            <a:pPr marL="457200" lvl="1" indent="0">
              <a:buNone/>
            </a:pPr>
            <a:r>
              <a:rPr lang="pt-BR" dirty="0"/>
              <a:t> </a:t>
            </a:r>
            <a:r>
              <a:rPr lang="pt-BR" dirty="0" err="1"/>
              <a:t>String</a:t>
            </a:r>
            <a:r>
              <a:rPr lang="pt-BR" dirty="0"/>
              <a:t> texto1 = '10';</a:t>
            </a:r>
          </a:p>
          <a:p>
            <a:pPr marL="457200" lvl="1" indent="0">
              <a:buNone/>
            </a:pPr>
            <a:r>
              <a:rPr lang="pt-BR" dirty="0"/>
              <a:t> </a:t>
            </a:r>
            <a:r>
              <a:rPr lang="pt-BR" dirty="0" err="1"/>
              <a:t>int</a:t>
            </a:r>
            <a:r>
              <a:rPr lang="pt-BR" dirty="0"/>
              <a:t> numero1 = </a:t>
            </a:r>
            <a:r>
              <a:rPr lang="pt-BR" dirty="0" err="1"/>
              <a:t>int.parse</a:t>
            </a:r>
            <a:r>
              <a:rPr lang="pt-BR" dirty="0"/>
              <a:t>(texto1);</a:t>
            </a:r>
          </a:p>
          <a:p>
            <a:pPr marL="457200" lvl="1" indent="0">
              <a:buNone/>
            </a:pPr>
            <a:r>
              <a:rPr lang="pt-BR" dirty="0"/>
              <a:t> print('</a:t>
            </a:r>
            <a:r>
              <a:rPr lang="pt-BR" dirty="0" err="1"/>
              <a:t>String</a:t>
            </a:r>
            <a:r>
              <a:rPr lang="pt-BR" dirty="0"/>
              <a:t> → </a:t>
            </a:r>
            <a:r>
              <a:rPr lang="pt-BR" dirty="0" err="1"/>
              <a:t>int</a:t>
            </a:r>
            <a:r>
              <a:rPr lang="pt-BR" dirty="0"/>
              <a:t>: $numero1');</a:t>
            </a:r>
          </a:p>
          <a:p>
            <a:r>
              <a:rPr lang="pt-BR" b="1" dirty="0" err="1"/>
              <a:t>String</a:t>
            </a:r>
            <a:r>
              <a:rPr lang="pt-BR" b="1" dirty="0"/>
              <a:t> → </a:t>
            </a:r>
            <a:r>
              <a:rPr lang="pt-BR" b="1" dirty="0" err="1"/>
              <a:t>double</a:t>
            </a:r>
            <a:endParaRPr lang="pt-BR" b="1" dirty="0"/>
          </a:p>
          <a:p>
            <a:pPr marL="457200" lvl="1" indent="0">
              <a:buNone/>
            </a:pPr>
            <a:r>
              <a:rPr lang="pt-BR" dirty="0"/>
              <a:t> </a:t>
            </a:r>
            <a:r>
              <a:rPr lang="pt-BR" dirty="0" err="1"/>
              <a:t>String</a:t>
            </a:r>
            <a:r>
              <a:rPr lang="pt-BR" dirty="0"/>
              <a:t> texto2 = '10.5';</a:t>
            </a:r>
          </a:p>
          <a:p>
            <a:pPr marL="457200" lvl="1" indent="0">
              <a:buNone/>
            </a:pPr>
            <a:r>
              <a:rPr lang="pt-BR" dirty="0"/>
              <a:t> </a:t>
            </a:r>
            <a:r>
              <a:rPr lang="pt-BR" dirty="0" err="1"/>
              <a:t>double</a:t>
            </a:r>
            <a:r>
              <a:rPr lang="pt-BR" dirty="0"/>
              <a:t> numero2 = </a:t>
            </a:r>
            <a:r>
              <a:rPr lang="pt-BR" dirty="0" err="1"/>
              <a:t>double.parse</a:t>
            </a:r>
            <a:r>
              <a:rPr lang="pt-BR" dirty="0"/>
              <a:t>(texto2);</a:t>
            </a:r>
          </a:p>
          <a:p>
            <a:pPr marL="457200" lvl="1" indent="0">
              <a:buNone/>
            </a:pPr>
            <a:r>
              <a:rPr lang="pt-BR" dirty="0"/>
              <a:t> print('</a:t>
            </a:r>
            <a:r>
              <a:rPr lang="pt-BR" dirty="0" err="1"/>
              <a:t>String</a:t>
            </a:r>
            <a:r>
              <a:rPr lang="pt-BR" dirty="0"/>
              <a:t> → </a:t>
            </a:r>
            <a:r>
              <a:rPr lang="pt-BR" dirty="0" err="1"/>
              <a:t>double</a:t>
            </a:r>
            <a:r>
              <a:rPr lang="pt-BR" dirty="0"/>
              <a:t>: $numero2');</a:t>
            </a:r>
          </a:p>
          <a:p>
            <a:endParaRPr lang="pt-BR" b="1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4374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7A02-F3DB-59FB-F489-BB998A77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1A038-5A25-CDA2-0B63-A5322250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Conversões de Tipos no 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55D79-ECC5-59A9-4966-F408FA01B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Dart, é comum precisar converter valores entre diferentes tipos de dados. Vamos ver as principais conversões.</a:t>
            </a:r>
          </a:p>
          <a:p>
            <a:r>
              <a:rPr lang="pt-BR" b="1" dirty="0" err="1"/>
              <a:t>int</a:t>
            </a:r>
            <a:r>
              <a:rPr lang="pt-BR" b="1" dirty="0"/>
              <a:t> → </a:t>
            </a:r>
            <a:r>
              <a:rPr lang="pt-BR" b="1" dirty="0" err="1"/>
              <a:t>String</a:t>
            </a:r>
            <a:endParaRPr lang="pt-BR" b="1" dirty="0"/>
          </a:p>
          <a:p>
            <a:pPr lvl="1" indent="0">
              <a:buNone/>
            </a:pPr>
            <a:r>
              <a:rPr lang="pt-BR" dirty="0" err="1"/>
              <a:t>int</a:t>
            </a:r>
            <a:r>
              <a:rPr lang="pt-BR" dirty="0"/>
              <a:t> numero3 = 10;</a:t>
            </a:r>
          </a:p>
          <a:p>
            <a:pPr lvl="1" indent="0">
              <a:buNone/>
            </a:pPr>
            <a:r>
              <a:rPr lang="pt-BR" dirty="0" err="1"/>
              <a:t>String</a:t>
            </a:r>
            <a:r>
              <a:rPr lang="pt-BR" dirty="0"/>
              <a:t> texto3 = numero3.toString();</a:t>
            </a:r>
          </a:p>
          <a:p>
            <a:pPr lvl="1" indent="0">
              <a:buNone/>
            </a:pPr>
            <a:r>
              <a:rPr lang="pt-BR" dirty="0"/>
              <a:t>print('</a:t>
            </a:r>
            <a:r>
              <a:rPr lang="pt-BR" dirty="0" err="1"/>
              <a:t>int</a:t>
            </a:r>
            <a:r>
              <a:rPr lang="pt-BR" dirty="0"/>
              <a:t> → </a:t>
            </a:r>
            <a:r>
              <a:rPr lang="pt-BR" dirty="0" err="1"/>
              <a:t>String</a:t>
            </a:r>
            <a:r>
              <a:rPr lang="pt-BR" dirty="0"/>
              <a:t>: $texto3');</a:t>
            </a:r>
          </a:p>
          <a:p>
            <a:r>
              <a:rPr lang="pt-BR" b="1" dirty="0" err="1"/>
              <a:t>double</a:t>
            </a:r>
            <a:r>
              <a:rPr lang="pt-BR" b="1" dirty="0"/>
              <a:t> → </a:t>
            </a:r>
            <a:r>
              <a:rPr lang="pt-BR" b="1" dirty="0" err="1"/>
              <a:t>String</a:t>
            </a:r>
            <a:endParaRPr lang="pt-BR" b="1" dirty="0"/>
          </a:p>
          <a:p>
            <a:pPr lvl="1" indent="0">
              <a:buNone/>
            </a:pPr>
            <a:r>
              <a:rPr lang="pt-BR" dirty="0" err="1"/>
              <a:t>double</a:t>
            </a:r>
            <a:r>
              <a:rPr lang="pt-BR" dirty="0"/>
              <a:t> numero4 = 10.5;</a:t>
            </a:r>
          </a:p>
          <a:p>
            <a:pPr lvl="1" indent="0">
              <a:buNone/>
            </a:pPr>
            <a:r>
              <a:rPr lang="pt-BR" dirty="0" err="1"/>
              <a:t>String</a:t>
            </a:r>
            <a:r>
              <a:rPr lang="pt-BR" dirty="0"/>
              <a:t> texto4 = numero4.toString();</a:t>
            </a:r>
          </a:p>
          <a:p>
            <a:pPr lvl="1" indent="0">
              <a:buNone/>
            </a:pPr>
            <a:r>
              <a:rPr lang="pt-BR" dirty="0"/>
              <a:t>print('</a:t>
            </a:r>
            <a:r>
              <a:rPr lang="pt-BR" dirty="0" err="1"/>
              <a:t>double</a:t>
            </a:r>
            <a:r>
              <a:rPr lang="pt-BR" dirty="0"/>
              <a:t> → </a:t>
            </a:r>
            <a:r>
              <a:rPr lang="pt-BR" dirty="0" err="1"/>
              <a:t>String</a:t>
            </a:r>
            <a:r>
              <a:rPr lang="pt-BR" dirty="0"/>
              <a:t>: $texto4');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7094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55B5-6BB8-6588-F7D0-9E29D71E2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CBA43-4405-806C-91B2-FEECB58E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Conversões de Tipos no 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A0BB89-993E-079B-B8ED-0942E3CBD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Dart, é comum precisar converter valores entre diferentes tipos de dados. Vamos ver as principais conversões.</a:t>
            </a:r>
          </a:p>
          <a:p>
            <a:r>
              <a:rPr lang="pt-BR" b="1" dirty="0" err="1"/>
              <a:t>int</a:t>
            </a:r>
            <a:r>
              <a:rPr lang="pt-BR" b="1" dirty="0"/>
              <a:t> → </a:t>
            </a:r>
            <a:r>
              <a:rPr lang="pt-BR" b="1" dirty="0" err="1"/>
              <a:t>double</a:t>
            </a:r>
            <a:endParaRPr lang="pt-BR" b="1" dirty="0"/>
          </a:p>
          <a:p>
            <a:pPr marL="457200" lvl="1" indent="0">
              <a:buNone/>
            </a:pPr>
            <a:r>
              <a:rPr lang="pt-BR" dirty="0" err="1"/>
              <a:t>int</a:t>
            </a:r>
            <a:r>
              <a:rPr lang="pt-BR" dirty="0"/>
              <a:t> numero5 = 10;</a:t>
            </a:r>
          </a:p>
          <a:p>
            <a:pPr marL="457200" lvl="1" indent="0">
              <a:buNone/>
            </a:pPr>
            <a:r>
              <a:rPr lang="pt-BR" dirty="0" err="1"/>
              <a:t>double</a:t>
            </a:r>
            <a:r>
              <a:rPr lang="pt-BR" dirty="0"/>
              <a:t> resultado5 = numero5.toDouble();</a:t>
            </a:r>
          </a:p>
          <a:p>
            <a:pPr marL="457200" lvl="1" indent="0">
              <a:buNone/>
            </a:pPr>
            <a:r>
              <a:rPr lang="pt-BR" dirty="0"/>
              <a:t>print('</a:t>
            </a:r>
            <a:r>
              <a:rPr lang="pt-BR" dirty="0" err="1"/>
              <a:t>int</a:t>
            </a:r>
            <a:r>
              <a:rPr lang="pt-BR" dirty="0"/>
              <a:t> → </a:t>
            </a:r>
            <a:r>
              <a:rPr lang="pt-BR" dirty="0" err="1"/>
              <a:t>double</a:t>
            </a:r>
            <a:r>
              <a:rPr lang="pt-BR" dirty="0"/>
              <a:t>: $resultado5’);</a:t>
            </a:r>
          </a:p>
          <a:p>
            <a:pPr marL="0" lvl="1" indent="0">
              <a:buNone/>
            </a:pPr>
            <a:r>
              <a:rPr lang="pt-BR" sz="2000" b="1" dirty="0" err="1"/>
              <a:t>double</a:t>
            </a:r>
            <a:r>
              <a:rPr lang="pt-BR" sz="2000" b="1" dirty="0"/>
              <a:t> → </a:t>
            </a:r>
            <a:r>
              <a:rPr lang="pt-BR" sz="2000" b="1" dirty="0" err="1"/>
              <a:t>int</a:t>
            </a:r>
            <a:endParaRPr lang="pt-BR" sz="2000" b="1" dirty="0"/>
          </a:p>
          <a:p>
            <a:pPr marL="457200" lvl="1" indent="0">
              <a:buNone/>
            </a:pPr>
            <a:r>
              <a:rPr lang="pt-BR" dirty="0" err="1"/>
              <a:t>double</a:t>
            </a:r>
            <a:r>
              <a:rPr lang="pt-BR" dirty="0"/>
              <a:t> numero6 = 10.5;</a:t>
            </a:r>
          </a:p>
          <a:p>
            <a:pPr marL="457200" lvl="1" indent="0">
              <a:buNone/>
            </a:pPr>
            <a:r>
              <a:rPr lang="pt-BR" dirty="0" err="1"/>
              <a:t>int</a:t>
            </a:r>
            <a:r>
              <a:rPr lang="pt-BR" dirty="0"/>
              <a:t> resultado6 = numero6.toInt();</a:t>
            </a:r>
          </a:p>
          <a:p>
            <a:pPr marL="457200" lvl="1" indent="0">
              <a:buNone/>
            </a:pPr>
            <a:r>
              <a:rPr lang="pt-BR" dirty="0"/>
              <a:t>print('</a:t>
            </a:r>
            <a:r>
              <a:rPr lang="pt-BR" dirty="0" err="1"/>
              <a:t>double</a:t>
            </a:r>
            <a:r>
              <a:rPr lang="pt-BR" dirty="0"/>
              <a:t> → </a:t>
            </a:r>
            <a:r>
              <a:rPr lang="pt-BR" dirty="0" err="1"/>
              <a:t>int</a:t>
            </a:r>
            <a:r>
              <a:rPr lang="pt-BR" dirty="0"/>
              <a:t> (</a:t>
            </a:r>
            <a:r>
              <a:rPr lang="pt-BR" dirty="0" err="1"/>
              <a:t>toInt</a:t>
            </a:r>
            <a:r>
              <a:rPr lang="pt-BR" dirty="0"/>
              <a:t>): $resultado6');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394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B606B-8B8E-65AD-8163-70987642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Operadores Aritméticos no Dart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B00003-0C93-3F6F-52D1-3925C80CE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93416"/>
          </a:xfrm>
        </p:spPr>
        <p:txBody>
          <a:bodyPr/>
          <a:lstStyle/>
          <a:p>
            <a:r>
              <a:rPr lang="pt-BR" dirty="0"/>
              <a:t>Os operadores aritméticos são usados para realizar cálculos matemáticos entre valores numéricos (</a:t>
            </a:r>
            <a:r>
              <a:rPr lang="pt-BR" dirty="0" err="1"/>
              <a:t>int</a:t>
            </a:r>
            <a:r>
              <a:rPr lang="pt-BR" dirty="0"/>
              <a:t>, </a:t>
            </a:r>
            <a:r>
              <a:rPr lang="pt-BR" dirty="0" err="1"/>
              <a:t>double</a:t>
            </a:r>
            <a:r>
              <a:rPr lang="pt-BR" dirty="0"/>
              <a:t> ou num).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36B1C20-F058-7535-3E3D-A646F12B1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792365"/>
              </p:ext>
            </p:extLst>
          </p:nvPr>
        </p:nvGraphicFramePr>
        <p:xfrm>
          <a:off x="1706492" y="3035300"/>
          <a:ext cx="8779015" cy="3085668"/>
        </p:xfrm>
        <a:graphic>
          <a:graphicData uri="http://schemas.openxmlformats.org/drawingml/2006/table">
            <a:tbl>
              <a:tblPr/>
              <a:tblGrid>
                <a:gridCol w="1417708">
                  <a:extLst>
                    <a:ext uri="{9D8B030D-6E8A-4147-A177-3AD203B41FA5}">
                      <a16:colId xmlns:a16="http://schemas.microsoft.com/office/drawing/2014/main" val="637719656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3308824722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1505675117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1108441981"/>
                    </a:ext>
                  </a:extLst>
                </a:gridCol>
                <a:gridCol w="1389132">
                  <a:extLst>
                    <a:ext uri="{9D8B030D-6E8A-4147-A177-3AD203B41FA5}">
                      <a16:colId xmlns:a16="http://schemas.microsoft.com/office/drawing/2014/main" val="37474399"/>
                    </a:ext>
                  </a:extLst>
                </a:gridCol>
              </a:tblGrid>
              <a:tr h="224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Operador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Resultado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89835"/>
                  </a:ext>
                </a:extLst>
              </a:tr>
              <a:tr h="2021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Adição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Soma dois valores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+ 3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509777"/>
                  </a:ext>
                </a:extLst>
              </a:tr>
              <a:tr h="353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Subtração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Subtrai um valor do outro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10 - 3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95874"/>
                  </a:ext>
                </a:extLst>
              </a:tr>
              <a:tr h="353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Multiplicação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 dois valores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* 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5763"/>
                  </a:ext>
                </a:extLst>
              </a:tr>
              <a:tr h="353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Divisão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e </a:t>
                      </a:r>
                      <a:r>
                        <a:rPr lang="pt-BR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sempre retorna </a:t>
                      </a:r>
                      <a:r>
                        <a:rPr lang="pt-BR" sz="15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/ 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3.333...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728738"/>
                  </a:ext>
                </a:extLst>
              </a:tr>
              <a:tr h="353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~/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Divisão inteira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e </a:t>
                      </a:r>
                      <a:r>
                        <a:rPr lang="pt-BR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descarta a parte decimal</a:t>
                      </a:r>
                      <a:endParaRPr lang="pt-BR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~/ 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255396"/>
                  </a:ext>
                </a:extLst>
              </a:tr>
              <a:tr h="353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Módulo (resto)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Retorna o </a:t>
                      </a:r>
                      <a:r>
                        <a:rPr lang="pt-BR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resto</a:t>
                      </a: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da divisão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10 % 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85342"/>
                  </a:ext>
                </a:extLst>
              </a:tr>
              <a:tr h="353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Soma 1 ao valor atual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contador++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contador + 1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2018"/>
                  </a:ext>
                </a:extLst>
              </a:tr>
              <a:tr h="353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Decremento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Subtrai 1 do valor atual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contador--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contador - 1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153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316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</TotalTime>
  <Words>1780</Words>
  <Application>Microsoft Office PowerPoint</Application>
  <PresentationFormat>Widescreen</PresentationFormat>
  <Paragraphs>251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Times New Roman</vt:lpstr>
      <vt:lpstr>Tema do Office</vt:lpstr>
      <vt:lpstr> Desenvolvimento de Aplicações</vt:lpstr>
      <vt:lpstr>Objetivo Geral</vt:lpstr>
      <vt:lpstr>O que é Dart?</vt:lpstr>
      <vt:lpstr>O que é o Flutter ?</vt:lpstr>
      <vt:lpstr>Requisitos de Hardware</vt:lpstr>
      <vt:lpstr>Instalação Flutter SDK</vt:lpstr>
      <vt:lpstr>Instalação Flutter SDK</vt:lpstr>
      <vt:lpstr>Instalação Flutter SDK</vt:lpstr>
      <vt:lpstr>Mova o Flutter</vt:lpstr>
      <vt:lpstr>Variáveis de Ambiente</vt:lpstr>
      <vt:lpstr>Adicionar o Flutter nas variáveis de ambiente</vt:lpstr>
      <vt:lpstr>Validando a Instalação do Flutter e Dart</vt:lpstr>
      <vt:lpstr>Extensão VScode</vt:lpstr>
      <vt:lpstr>Criando o primeiro projeto com Dart</vt:lpstr>
      <vt:lpstr>Criando o primeiro projeto com Dart</vt:lpstr>
      <vt:lpstr>Rodando o primeiro projeto dart</vt:lpstr>
      <vt:lpstr>A Estrutura Básica de um Programa Dart</vt:lpstr>
      <vt:lpstr>Variáveis no Dart</vt:lpstr>
      <vt:lpstr>Tipagem Estática </vt:lpstr>
      <vt:lpstr>Tipagem Dinâmica com var e dynamic  </vt:lpstr>
      <vt:lpstr>Constantes: final e const    </vt:lpstr>
      <vt:lpstr>Saída de Dados no Dart </vt:lpstr>
      <vt:lpstr>Entrada de Dados no Dart</vt:lpstr>
      <vt:lpstr>O que são ! e ? no Dart</vt:lpstr>
      <vt:lpstr>O que são ! e ? no Dart</vt:lpstr>
      <vt:lpstr>Conversões de Tipos no Dart</vt:lpstr>
      <vt:lpstr>Conversões de Tipos no Dart</vt:lpstr>
      <vt:lpstr>Conversões de Tipos no Dart</vt:lpstr>
      <vt:lpstr>Operadores Aritméticos no Dart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78</cp:revision>
  <dcterms:created xsi:type="dcterms:W3CDTF">2024-03-08T12:14:33Z</dcterms:created>
  <dcterms:modified xsi:type="dcterms:W3CDTF">2026-08-11T02:24:14Z</dcterms:modified>
</cp:coreProperties>
</file>