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12192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F5D5618-36ED-3759-CD5E-42CA8264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>
            <a:extLst>
              <a:ext uri="{FF2B5EF4-FFF2-40B4-BE49-F238E27FC236}">
                <a16:creationId xmlns:a16="http://schemas.microsoft.com/office/drawing/2014/main" id="{7FB1ED54-BCA1-11B1-4AB6-42B88CBC4F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>
            <a:extLst>
              <a:ext uri="{FF2B5EF4-FFF2-40B4-BE49-F238E27FC236}">
                <a16:creationId xmlns:a16="http://schemas.microsoft.com/office/drawing/2014/main" id="{723C978B-FCE6-5C4E-1004-F8B2BB272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:notes">
            <a:extLst>
              <a:ext uri="{FF2B5EF4-FFF2-40B4-BE49-F238E27FC236}">
                <a16:creationId xmlns:a16="http://schemas.microsoft.com/office/drawing/2014/main" id="{405E1F07-B51F-441D-DD38-F1178C7842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6598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833519" y="1825625"/>
            <a:ext cx="1076006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Times New Roman"/>
              <a:buNone/>
              <a:defRPr sz="26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lGpuHJZd-SvOhcWiO5tKzH4IX-Ed6Fcxo3b-uk14TYQ/edit?usp=sharing" TargetMode="External"/><Relationship Id="rId2" Type="http://schemas.openxmlformats.org/officeDocument/2006/relationships/hyperlink" Target="https://docs.google.com/document/d/14AYF0Qs_aDfgowgk9EHt6e7MODocoIsKShb-_gUdVRU/edit?usp=sharing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661475" y="2144316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lang="en-US" sz="37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Métodos e Encapsulamento em Dart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61475" y="3609082"/>
            <a:ext cx="629686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Programação Orientada a Objetos — Aula 2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4º Semestre · Engenharia de Software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61475" y="4426545"/>
            <a:ext cx="1359461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774879" y="4483199"/>
            <a:ext cx="1742238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POO COM DART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115390" y="4426545"/>
            <a:ext cx="1307670" cy="287139"/>
          </a:xfrm>
          <a:prstGeom prst="roundRect">
            <a:avLst>
              <a:gd name="adj" fmla="val 22118"/>
            </a:avLst>
          </a:prstGeom>
          <a:noFill/>
          <a:ln w="9525" cap="flat" cmpd="sng">
            <a:solidFill>
              <a:srgbClr val="4950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228794" y="4483199"/>
            <a:ext cx="1690447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950BC"/>
              </a:buClr>
              <a:buSzPts val="1150"/>
              <a:buFont typeface="Inter"/>
              <a:buNone/>
            </a:pPr>
            <a:r>
              <a:rPr lang="en-US" sz="115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rPr>
              <a:t>CONTINUAÇÃO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/>
          <p:nvPr/>
        </p:nvSpPr>
        <p:spPr>
          <a:xfrm>
            <a:off x="966159" y="825847"/>
            <a:ext cx="8876582" cy="484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4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Retomada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: Classe, </a:t>
            </a:r>
            <a:r>
              <a:rPr lang="en-US" sz="24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, Estado e </a:t>
            </a:r>
            <a:r>
              <a:rPr lang="en-US" sz="24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Comportamento</a:t>
            </a:r>
            <a:endParaRPr sz="24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21221" y="1925637"/>
            <a:ext cx="4572958" cy="42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 que já sabemos</a:t>
            </a:r>
            <a:endParaRPr sz="20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821221" y="2601190"/>
            <a:ext cx="6514547" cy="14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 </a:t>
            </a:r>
            <a:r>
              <a:rPr lang="en-US" sz="20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classe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é um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molde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define a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estrutura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um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 Um </a:t>
            </a:r>
            <a:r>
              <a:rPr lang="en-US" sz="20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é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instância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concreta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criada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a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partir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desse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molde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, com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valores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próprios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comportamentos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20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definidos</a:t>
            </a:r>
            <a:r>
              <a:rPr lang="en-US" sz="20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</a:t>
            </a:r>
            <a:endParaRPr sz="20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821220" y="4266005"/>
            <a:ext cx="6514547" cy="186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4000" marR="0" lvl="0" indent="-254000" algn="just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</a:t>
            </a:r>
            <a:r>
              <a:rPr lang="en-US" sz="160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o conjunto de valores armazenados nos atributos em um dado momento.</a:t>
            </a:r>
            <a:endParaRPr>
              <a:latin typeface="+mj-lt"/>
            </a:endParaRPr>
          </a:p>
          <a:p>
            <a:pPr marL="0" marR="0" lvl="0" indent="0" algn="just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54000" marR="0" lvl="0" indent="-254000" algn="just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Char char="•"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Comportamento</a:t>
            </a:r>
            <a:r>
              <a:rPr lang="en-US" sz="160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o conjunto de ações que o objeto é capaz de executar.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6"/>
          <p:cNvGrpSpPr/>
          <p:nvPr/>
        </p:nvGrpSpPr>
        <p:grpSpPr>
          <a:xfrm>
            <a:off x="7755147" y="1925637"/>
            <a:ext cx="3781423" cy="950416"/>
            <a:chOff x="8582703" y="1925637"/>
            <a:chExt cx="2953867" cy="950416"/>
          </a:xfrm>
        </p:grpSpPr>
        <p:sp>
          <p:nvSpPr>
            <p:cNvPr id="95" name="Google Shape;95;p16"/>
            <p:cNvSpPr/>
            <p:nvPr/>
          </p:nvSpPr>
          <p:spPr>
            <a:xfrm>
              <a:off x="8582703" y="1925637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8748494" y="2091432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🧱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Classe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8748494" y="2475111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Molde / Definição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7755147" y="3010595"/>
            <a:ext cx="3781423" cy="950416"/>
            <a:chOff x="8582703" y="3010595"/>
            <a:chExt cx="2953867" cy="950416"/>
          </a:xfrm>
        </p:grpSpPr>
        <p:sp>
          <p:nvSpPr>
            <p:cNvPr id="99" name="Google Shape;99;p16"/>
            <p:cNvSpPr/>
            <p:nvPr/>
          </p:nvSpPr>
          <p:spPr>
            <a:xfrm>
              <a:off x="8582703" y="3010595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8748494" y="3176389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📦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Objeto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8748494" y="3560068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Instância concreta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7755147" y="4095552"/>
            <a:ext cx="3781423" cy="950416"/>
            <a:chOff x="8582703" y="4095552"/>
            <a:chExt cx="2953867" cy="950416"/>
          </a:xfrm>
        </p:grpSpPr>
        <p:sp>
          <p:nvSpPr>
            <p:cNvPr id="103" name="Google Shape;103;p16"/>
            <p:cNvSpPr/>
            <p:nvPr/>
          </p:nvSpPr>
          <p:spPr>
            <a:xfrm>
              <a:off x="8582703" y="4095552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8748494" y="4261346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📋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Estado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8748494" y="4645025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Atributos (dados)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7755147" y="5180509"/>
            <a:ext cx="3781423" cy="950416"/>
            <a:chOff x="8582703" y="5180509"/>
            <a:chExt cx="2953867" cy="950416"/>
          </a:xfrm>
        </p:grpSpPr>
        <p:sp>
          <p:nvSpPr>
            <p:cNvPr id="107" name="Google Shape;107;p16"/>
            <p:cNvSpPr/>
            <p:nvPr/>
          </p:nvSpPr>
          <p:spPr>
            <a:xfrm>
              <a:off x="8582703" y="5180509"/>
              <a:ext cx="2953867" cy="950416"/>
            </a:xfrm>
            <a:prstGeom prst="roundRect">
              <a:avLst>
                <a:gd name="adj" fmla="val 7048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8748494" y="5346303"/>
              <a:ext cx="2622286" cy="2491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Arial"/>
                <a:buNone/>
              </a:pPr>
              <a:r>
                <a:rPr lang="en-US" sz="155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⚙️</a:t>
              </a:r>
              <a:r>
                <a:rPr lang="en-US" sz="1550" b="1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 Comportamento</a:t>
              </a:r>
              <a:endParaRPr sz="1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8748494" y="5729982"/>
              <a:ext cx="2622286" cy="23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50"/>
                <a:buFont typeface="Inter"/>
                <a:buNone/>
              </a:pPr>
              <a:r>
                <a:rPr lang="en-US" sz="1250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Métodos (ações)</a:t>
              </a:r>
              <a:endParaRPr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856832" y="763588"/>
            <a:ext cx="8249612" cy="49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Atributos</a:t>
            </a:r>
            <a:r>
              <a:rPr lang="en-US" sz="28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= Estado · </a:t>
            </a:r>
            <a:r>
              <a:rPr lang="en-US" sz="28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r>
              <a:rPr lang="en-US" sz="28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lang="en-US" sz="28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Comportamento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67825" y="1732260"/>
            <a:ext cx="1085604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Todo objeto possui </a:t>
            </a:r>
            <a:r>
              <a:rPr lang="en-US" sz="14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duas dimensões complementares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o que ele </a:t>
            </a:r>
            <a:r>
              <a:rPr lang="en-US" sz="1450" i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sabe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(estado) e o que ele </a:t>
            </a:r>
            <a:r>
              <a:rPr lang="en-US" sz="1450" i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faz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(comportamento).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61475" y="2247305"/>
            <a:ext cx="10868745" cy="2959642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856832" y="244266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lang="en-US" sz="18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ESTADO — Atributos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856833" y="2959883"/>
            <a:ext cx="467270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Armazenam os </a:t>
            </a:r>
            <a:r>
              <a:rPr lang="en-US" sz="14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dados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do objeto. Representam sua condição atual.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844133" y="3786662"/>
            <a:ext cx="5050009" cy="105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String titular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double saldo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 numeroConta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072988" y="2253655"/>
            <a:ext cx="45719" cy="2959642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284854" y="244266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r>
              <a:rPr lang="en-US" sz="18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COMPORTAMENTO — Métodos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6284854" y="2959883"/>
            <a:ext cx="5050009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Definem as </a:t>
            </a:r>
            <a:r>
              <a:rPr lang="en-US" sz="14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ações</a:t>
            </a:r>
            <a:r>
              <a:rPr lang="en-US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que o objeto pode executar. Operam sobre o estado.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6297553" y="3786662"/>
            <a:ext cx="5050009" cy="105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depositar()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sacar()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consultarSaldo()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17"/>
          <p:cNvGrpSpPr/>
          <p:nvPr/>
        </p:nvGrpSpPr>
        <p:grpSpPr>
          <a:xfrm>
            <a:off x="655126" y="5424235"/>
            <a:ext cx="10868745" cy="1058366"/>
            <a:chOff x="661475" y="5036046"/>
            <a:chExt cx="10868745" cy="1058366"/>
          </a:xfrm>
        </p:grpSpPr>
        <p:sp>
          <p:nvSpPr>
            <p:cNvPr id="126" name="Google Shape;126;p17"/>
            <p:cNvSpPr/>
            <p:nvPr/>
          </p:nvSpPr>
          <p:spPr>
            <a:xfrm>
              <a:off x="661475" y="5036046"/>
              <a:ext cx="10868745" cy="1058366"/>
            </a:xfrm>
            <a:prstGeom prst="roundRect">
              <a:avLst>
                <a:gd name="adj" fmla="val 7501"/>
              </a:avLst>
            </a:prstGeom>
            <a:solidFill>
              <a:srgbClr val="DADBF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7" name="Google Shape;127;p17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0482" y="5341713"/>
              <a:ext cx="236234" cy="1890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/>
            <p:nvPr/>
          </p:nvSpPr>
          <p:spPr>
            <a:xfrm>
              <a:off x="1275723" y="5272286"/>
              <a:ext cx="10065490" cy="604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Atributos e métodos juntos formam a </a:t>
              </a:r>
              <a:r>
                <a:rPr lang="en-US" sz="145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interface</a:t>
              </a:r>
              <a:r>
                <a:rPr lang="en-US" sz="14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e a </a:t>
              </a:r>
              <a:r>
                <a:rPr lang="en-US" sz="1450" b="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lógica</a:t>
              </a:r>
              <a:r>
                <a:rPr lang="en-US" sz="14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um objeto. Separá-los conceitualmente é o primeiro passo para entender a POO.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845389" y="775791"/>
            <a:ext cx="1068483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lang="en-US" sz="37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 </a:t>
            </a:r>
            <a:r>
              <a:rPr lang="en-US" sz="37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que</a:t>
            </a:r>
            <a:r>
              <a:rPr lang="en-US" sz="37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é um </a:t>
            </a:r>
            <a:r>
              <a:rPr lang="en-US" sz="370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r>
              <a:rPr lang="en-US" sz="370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?</a:t>
            </a:r>
            <a:endParaRPr sz="37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61475" y="2389313"/>
            <a:ext cx="5203794" cy="199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é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função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definida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dentro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classe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 Ele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encapsula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um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comportamento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específico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do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pode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ler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ou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modificar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o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interno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(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atributos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).</a:t>
            </a:r>
            <a:endParaRPr sz="14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Diferente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função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solta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no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código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, o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pertence</a:t>
            </a:r>
            <a:r>
              <a:rPr lang="en-US" sz="14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a um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tem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acesso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direto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aos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seus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atributos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via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this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(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implícito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em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Dart).</a:t>
            </a:r>
            <a:endParaRPr sz="14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61475" y="4550297"/>
            <a:ext cx="5203794" cy="1407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Representa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uma ação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que o objeto realiza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Pode receber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parâmetros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entrada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Pode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retornar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um valor ao chamador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Mantém o comportamento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coeso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e organizado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6326426" y="2126148"/>
            <a:ext cx="5203794" cy="4007048"/>
            <a:chOff x="6332776" y="1862534"/>
            <a:chExt cx="5203794" cy="4007048"/>
          </a:xfrm>
        </p:grpSpPr>
        <p:sp>
          <p:nvSpPr>
            <p:cNvPr id="138" name="Google Shape;138;p18"/>
            <p:cNvSpPr/>
            <p:nvPr/>
          </p:nvSpPr>
          <p:spPr>
            <a:xfrm>
              <a:off x="6332776" y="1862534"/>
              <a:ext cx="5203794" cy="4007048"/>
            </a:xfrm>
            <a:prstGeom prst="roundRect">
              <a:avLst>
                <a:gd name="adj" fmla="val 1981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6559584" y="2051546"/>
              <a:ext cx="4750177" cy="3629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class Conta {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String titular;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saldo;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0"/>
                <a:buFont typeface="Calibri"/>
                <a:buNone/>
              </a:pP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depositar(double valor) {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+= valor;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0"/>
                <a:buFont typeface="Calibri"/>
                <a:buNone/>
              </a:pP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sacar(double valor) {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-= valor;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450"/>
                <a:buFont typeface="Consolas"/>
                <a:buNone/>
              </a:pPr>
              <a:r>
                <a:rPr lang="en-US" sz="145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78C14C7-88FD-4AF5-AF36-27327118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4000"/>
              </a:lnSpc>
              <a:buClr>
                <a:srgbClr val="000000"/>
              </a:buClr>
              <a:buSzPts val="3700"/>
            </a:pPr>
            <a:r>
              <a:rPr lang="pt-BR" b="1" dirty="0">
                <a:solidFill>
                  <a:srgbClr val="000000"/>
                </a:solidFill>
                <a:latin typeface="+mj-lt"/>
                <a:ea typeface="Inter"/>
                <a:sym typeface="Arial"/>
              </a:rPr>
              <a:t>🎯 Objetivo da aula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1EE389-8B0D-EFD6-2A4D-807FB2CF9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pt-BR" dirty="0"/>
              <a:t>A partir de um problema de controle de estoque, vamos desenvolver uma classe Roupa para compreender, na prática: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O que são métodos;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Como criar métodos em Dart;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Como utilizar parâmetros;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Como retornar valores;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Como os métodos podem alterar e consultar o estado de um objeto.</a:t>
            </a:r>
          </a:p>
          <a:p>
            <a:pPr marL="0" indent="0">
              <a:spcBef>
                <a:spcPts val="0"/>
              </a:spcBef>
            </a:pPr>
            <a:r>
              <a:rPr lang="pt-BR" dirty="0"/>
              <a:t>Ao final, você será capaz de criar métodos para representar os comportamentos de um objeto em Dart.</a:t>
            </a:r>
          </a:p>
        </p:txBody>
      </p:sp>
    </p:spTree>
    <p:extLst>
      <p:ext uri="{BB962C8B-B14F-4D97-AF65-F5344CB8AC3E}">
        <p14:creationId xmlns:p14="http://schemas.microsoft.com/office/powerpoint/2010/main" val="1305578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ACF47FA3-B9B9-687F-3A88-BB15DB7C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3D1A0E8-6C30-FCBC-CC50-12A231872EA7}"/>
              </a:ext>
            </a:extLst>
          </p:cNvPr>
          <p:cNvSpPr/>
          <p:nvPr/>
        </p:nvSpPr>
        <p:spPr>
          <a:xfrm>
            <a:off x="856832" y="929184"/>
            <a:ext cx="8249612" cy="49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4000"/>
              </a:lnSpc>
              <a:buSzPts val="3700"/>
            </a:pPr>
            <a:r>
              <a:rPr lang="pt-BR" sz="3200" b="1" dirty="0">
                <a:latin typeface="+mj-lt"/>
                <a:ea typeface="Inter"/>
              </a:rPr>
              <a:t>👕 </a:t>
            </a:r>
            <a:r>
              <a:rPr lang="en-US" sz="3200" b="1" dirty="0">
                <a:latin typeface="+mj-lt"/>
                <a:ea typeface="Inter"/>
                <a:sym typeface="Inter"/>
              </a:rPr>
              <a:t>Classe </a:t>
            </a:r>
            <a:r>
              <a:rPr lang="en-US" sz="3200" b="1" dirty="0" err="1">
                <a:latin typeface="+mj-lt"/>
                <a:ea typeface="Inter"/>
                <a:sym typeface="Inter"/>
              </a:rPr>
              <a:t>Roupa</a:t>
            </a:r>
            <a:endParaRPr sz="3200" b="1" dirty="0">
              <a:latin typeface="+mj-lt"/>
              <a:ea typeface="Inter"/>
              <a:sym typeface="Calibri"/>
            </a:endParaRPr>
          </a:p>
        </p:txBody>
      </p:sp>
      <p:sp>
        <p:nvSpPr>
          <p:cNvPr id="116" name="Google Shape;116;p17">
            <a:extLst>
              <a:ext uri="{FF2B5EF4-FFF2-40B4-BE49-F238E27FC236}">
                <a16:creationId xmlns:a16="http://schemas.microsoft.com/office/drawing/2014/main" id="{E368EEEC-C3D0-CA73-5F36-A0C9092DDE5E}"/>
              </a:ext>
            </a:extLst>
          </p:cNvPr>
          <p:cNvSpPr/>
          <p:nvPr/>
        </p:nvSpPr>
        <p:spPr>
          <a:xfrm>
            <a:off x="667825" y="1732260"/>
            <a:ext cx="10856046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33000"/>
              </a:lnSpc>
              <a:buClr>
                <a:srgbClr val="272525"/>
              </a:buClr>
              <a:buSzPts val="1450"/>
            </a:pPr>
            <a:r>
              <a:rPr lang="pt-BR" sz="1600" dirty="0"/>
              <a:t>Para representar uma roupa no sistema, precisamos definir: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>
            <a:extLst>
              <a:ext uri="{FF2B5EF4-FFF2-40B4-BE49-F238E27FC236}">
                <a16:creationId xmlns:a16="http://schemas.microsoft.com/office/drawing/2014/main" id="{4B1FE279-C87C-2BE1-42A5-99D407E1A305}"/>
              </a:ext>
            </a:extLst>
          </p:cNvPr>
          <p:cNvSpPr/>
          <p:nvPr/>
        </p:nvSpPr>
        <p:spPr>
          <a:xfrm>
            <a:off x="655126" y="2247304"/>
            <a:ext cx="10868745" cy="3847107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809A9D43-11AF-8354-A6FD-5117A262D401}"/>
              </a:ext>
            </a:extLst>
          </p:cNvPr>
          <p:cNvSpPr/>
          <p:nvPr/>
        </p:nvSpPr>
        <p:spPr>
          <a:xfrm>
            <a:off x="856832" y="244266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r>
              <a:rPr lang="en-US" sz="18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ESTADO — Atributos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93BC77F5-526C-5E9F-CC28-71EAE1DC725B}"/>
              </a:ext>
            </a:extLst>
          </p:cNvPr>
          <p:cNvSpPr/>
          <p:nvPr/>
        </p:nvSpPr>
        <p:spPr>
          <a:xfrm>
            <a:off x="856833" y="2959883"/>
            <a:ext cx="4672700" cy="39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33000"/>
              </a:lnSpc>
              <a:buClr>
                <a:srgbClr val="272525"/>
              </a:buClr>
              <a:buSzPts val="1450"/>
            </a:pPr>
            <a:r>
              <a:rPr lang="pt-BR" sz="1600" dirty="0"/>
              <a:t>Representam as </a:t>
            </a:r>
            <a:r>
              <a:rPr lang="pt-BR" sz="1600" b="1" dirty="0"/>
              <a:t>características</a:t>
            </a:r>
            <a:r>
              <a:rPr lang="pt-BR" sz="1600" dirty="0"/>
              <a:t> do objeto: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059DCB01-EE54-0EF5-13A6-0BC7A5E4404C}"/>
              </a:ext>
            </a:extLst>
          </p:cNvPr>
          <p:cNvSpPr/>
          <p:nvPr/>
        </p:nvSpPr>
        <p:spPr>
          <a:xfrm>
            <a:off x="852600" y="3786662"/>
            <a:ext cx="4388267" cy="105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lvl="0" indent="-294640">
              <a:lnSpc>
                <a:spcPct val="133000"/>
              </a:lnSpc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tipo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Tipo da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roupa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lvl="0" indent="-294640">
              <a:lnSpc>
                <a:spcPct val="133000"/>
              </a:lnSpc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double valor 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Preço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da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roupa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lvl="0" indent="-294640">
              <a:lnSpc>
                <a:spcPct val="133000"/>
              </a:lnSpc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quantidade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Quantidade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disponível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655B8BCF-57D7-0551-B9EA-99C44D17ED35}"/>
              </a:ext>
            </a:extLst>
          </p:cNvPr>
          <p:cNvSpPr/>
          <p:nvPr/>
        </p:nvSpPr>
        <p:spPr>
          <a:xfrm>
            <a:off x="5717387" y="2253654"/>
            <a:ext cx="45719" cy="3840757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F1DDD4E3-0178-035A-A0C5-77B972CA2C30}"/>
              </a:ext>
            </a:extLst>
          </p:cNvPr>
          <p:cNvSpPr/>
          <p:nvPr/>
        </p:nvSpPr>
        <p:spPr>
          <a:xfrm>
            <a:off x="5946187" y="244266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lang="en-US" sz="185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r>
              <a:rPr lang="en-US" sz="185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COMPORTAMENTO — </a:t>
            </a:r>
            <a:r>
              <a:rPr lang="en-US" sz="185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endParaRPr sz="1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6FB55180-B104-DF6F-E677-718444DEB5A0}"/>
              </a:ext>
            </a:extLst>
          </p:cNvPr>
          <p:cNvSpPr/>
          <p:nvPr/>
        </p:nvSpPr>
        <p:spPr>
          <a:xfrm>
            <a:off x="6013919" y="2959883"/>
            <a:ext cx="5050009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33000"/>
              </a:lnSpc>
              <a:buClr>
                <a:srgbClr val="272525"/>
              </a:buClr>
              <a:buSzPts val="1450"/>
            </a:pPr>
            <a:r>
              <a:rPr lang="pt-BR" sz="1600" dirty="0"/>
              <a:t>Representam os </a:t>
            </a:r>
            <a:r>
              <a:rPr lang="pt-BR" sz="1600" b="1" dirty="0"/>
              <a:t>comportamentos</a:t>
            </a:r>
            <a:r>
              <a:rPr lang="pt-BR" sz="1600" dirty="0"/>
              <a:t> do objeto:</a:t>
            </a:r>
            <a:endParaRPr sz="14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>
            <a:extLst>
              <a:ext uri="{FF2B5EF4-FFF2-40B4-BE49-F238E27FC236}">
                <a16:creationId xmlns:a16="http://schemas.microsoft.com/office/drawing/2014/main" id="{00409E94-FAEC-0FF1-207C-4D05BBF56A81}"/>
              </a:ext>
            </a:extLst>
          </p:cNvPr>
          <p:cNvSpPr/>
          <p:nvPr/>
        </p:nvSpPr>
        <p:spPr>
          <a:xfrm>
            <a:off x="6013919" y="3786661"/>
            <a:ext cx="5333643" cy="217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pt-BR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acrescentarCamisa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 → adiciona peças ao estoque</a:t>
            </a: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pt-BR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decrementarCamisas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 → retira peças do estoque</a:t>
            </a: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pt-BR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valorTotal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 → calcula o valor total em estoque</a:t>
            </a:r>
            <a:endParaRPr lang="en-US" sz="1450" dirty="0">
              <a:solidFill>
                <a:schemeClr val="dk1"/>
              </a:solidFill>
              <a:highlight>
                <a:srgbClr val="F2F2F2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94640" indent="-294640">
              <a:lnSpc>
                <a:spcPct val="133000"/>
              </a:lnSpc>
              <a:buClr>
                <a:srgbClr val="272525"/>
              </a:buClr>
              <a:buSzPts val="1450"/>
              <a:buFont typeface="Consolas"/>
              <a:buChar char="•"/>
            </a:pPr>
            <a:r>
              <a:rPr lang="pt-BR" sz="1450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exibirInformacaoRoupa</a:t>
            </a:r>
            <a:r>
              <a:rPr lang="pt-BR" sz="1450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 → exibe as informações do produto</a:t>
            </a:r>
          </a:p>
        </p:txBody>
      </p:sp>
    </p:spTree>
    <p:extLst>
      <p:ext uri="{BB962C8B-B14F-4D97-AF65-F5344CB8AC3E}">
        <p14:creationId xmlns:p14="http://schemas.microsoft.com/office/powerpoint/2010/main" val="60493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957905" y="881053"/>
            <a:ext cx="5917027" cy="433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4000"/>
              </a:lnSpc>
              <a:buSzPts val="2800"/>
            </a:pPr>
            <a:r>
              <a:rPr lang="en-US" sz="2400" b="1" dirty="0" err="1">
                <a:latin typeface="+mj-lt"/>
                <a:ea typeface="Inter"/>
                <a:sym typeface="Inter"/>
              </a:rPr>
              <a:t>Anatomia</a:t>
            </a:r>
            <a:r>
              <a:rPr lang="en-US" sz="2400" b="1" dirty="0">
                <a:latin typeface="+mj-lt"/>
                <a:ea typeface="Inter"/>
                <a:sym typeface="Inter"/>
              </a:rPr>
              <a:t> de um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Método</a:t>
            </a:r>
            <a:r>
              <a:rPr lang="en-US" sz="2400" b="1" dirty="0">
                <a:latin typeface="+mj-lt"/>
                <a:ea typeface="Inter"/>
                <a:sym typeface="Inter"/>
              </a:rPr>
              <a:t>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em</a:t>
            </a:r>
            <a:r>
              <a:rPr lang="en-US" sz="2400" b="1" dirty="0">
                <a:latin typeface="+mj-lt"/>
                <a:ea typeface="Inter"/>
                <a:sym typeface="Inter"/>
              </a:rPr>
              <a:t> Dart</a:t>
            </a:r>
            <a:endParaRPr sz="2400" b="1" dirty="0">
              <a:latin typeface="+mj-lt"/>
              <a:ea typeface="Inter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12372" y="1497995"/>
            <a:ext cx="10868745" cy="31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Cada parte da declaração de um método tem um papel específico. Veja o detalhamento:</a:t>
            </a:r>
            <a:endParaRPr sz="14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61476" y="1909398"/>
            <a:ext cx="10868744" cy="2054027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827960" y="2048205"/>
            <a:ext cx="6219821" cy="177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double  calcularMedia  (double nota1, double nota2)  {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 ↑           ↑                   ↑                  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retorno     nome            parâmetros            corpo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return (nota1 + nota2) / 2;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   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 valor devolvido ao chamador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9"/>
          <p:cNvGrpSpPr/>
          <p:nvPr/>
        </p:nvGrpSpPr>
        <p:grpSpPr>
          <a:xfrm>
            <a:off x="661475" y="4078022"/>
            <a:ext cx="5383375" cy="1165820"/>
            <a:chOff x="661475" y="4078022"/>
            <a:chExt cx="5383375" cy="1165820"/>
          </a:xfrm>
        </p:grpSpPr>
        <p:sp>
          <p:nvSpPr>
            <p:cNvPr id="150" name="Google Shape;150;p19" descr="preencoded.png"/>
            <p:cNvSpPr/>
            <p:nvPr/>
          </p:nvSpPr>
          <p:spPr>
            <a:xfrm>
              <a:off x="661475" y="4078022"/>
              <a:ext cx="5383375" cy="116582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/>
            <a:p>
              <a:endParaRPr lang="pt-BR">
                <a:latin typeface="+mj-lt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3249035" y="4171982"/>
              <a:ext cx="208156" cy="260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600"/>
                <a:buFont typeface="Inter"/>
                <a:buNone/>
              </a:pPr>
              <a:r>
                <a:rPr lang="en-US" sz="160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1</a:t>
              </a:r>
              <a:endParaRPr sz="16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819328" y="4615391"/>
              <a:ext cx="5067669" cy="216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350"/>
                <a:buFont typeface="Inter"/>
                <a:buNone/>
              </a:pPr>
              <a:r>
                <a:rPr lang="en-US" sz="13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Tipo de Retorno</a:t>
              </a:r>
              <a:endParaRPr sz="13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819328" y="4893402"/>
              <a:ext cx="5067669" cy="1925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050"/>
                <a:buFont typeface="Consolas"/>
                <a:buNone/>
              </a:pPr>
              <a:r>
                <a:rPr lang="en-US" sz="1050" dirty="0">
                  <a:solidFill>
                    <a:srgbClr val="272525"/>
                  </a:solidFill>
                  <a:highlight>
                    <a:srgbClr val="F2F2F2"/>
                  </a:highlight>
                  <a:latin typeface="+mj-lt"/>
                  <a:ea typeface="Consolas"/>
                  <a:cs typeface="Consolas"/>
                  <a:sym typeface="Consolas"/>
                </a:rPr>
                <a:t>double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— indica o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tipo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do valor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devolvido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. Use </a:t>
              </a:r>
              <a:r>
                <a:rPr lang="en-US" sz="1050" dirty="0">
                  <a:solidFill>
                    <a:srgbClr val="272525"/>
                  </a:solidFill>
                  <a:highlight>
                    <a:srgbClr val="F2F2F2"/>
                  </a:highlight>
                  <a:latin typeface="+mj-lt"/>
                  <a:ea typeface="Consolas"/>
                  <a:cs typeface="Consolas"/>
                  <a:sym typeface="Consolas"/>
                </a:rPr>
                <a:t>void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quando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nada é </a:t>
              </a:r>
              <a:r>
                <a:rPr lang="en-US" sz="1050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retornado</a:t>
              </a:r>
              <a:r>
                <a:rPr lang="en-US" sz="1050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.</a:t>
              </a:r>
              <a:endParaRPr sz="105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9" descr="preencoded.png"/>
          <p:cNvSpPr/>
          <p:nvPr/>
        </p:nvSpPr>
        <p:spPr>
          <a:xfrm>
            <a:off x="6146745" y="4078022"/>
            <a:ext cx="5383475" cy="11658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8734405" y="4171982"/>
            <a:ext cx="208156" cy="26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2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304599" y="4615391"/>
            <a:ext cx="5067769" cy="2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Nome do </a:t>
            </a:r>
            <a:r>
              <a:rPr lang="en-US" sz="13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</a:t>
            </a:r>
            <a:endParaRPr sz="13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304599" y="4893402"/>
            <a:ext cx="5067769" cy="19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calcularMedia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— deve ser um verbo ou expressão verbal que descreva a ação.</a:t>
            </a:r>
            <a:endParaRPr sz="10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 descr="preencoded.png"/>
          <p:cNvSpPr/>
          <p:nvPr/>
        </p:nvSpPr>
        <p:spPr>
          <a:xfrm>
            <a:off x="661475" y="5345740"/>
            <a:ext cx="5383375" cy="135840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249035" y="5439700"/>
            <a:ext cx="208156" cy="26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3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819328" y="5883109"/>
            <a:ext cx="5067669" cy="2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Parâmetros</a:t>
            </a:r>
            <a:endParaRPr sz="13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19328" y="6161120"/>
            <a:ext cx="5067669" cy="385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(double nota1, double nota2)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— dados de entrada, tipados, separados por vírgula.</a:t>
            </a:r>
            <a:endParaRPr sz="10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 descr="preencoded.png"/>
          <p:cNvSpPr/>
          <p:nvPr/>
        </p:nvSpPr>
        <p:spPr>
          <a:xfrm>
            <a:off x="6146745" y="5345740"/>
            <a:ext cx="5383475" cy="135840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>
              <a:latin typeface="+mj-lt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8734405" y="5439700"/>
            <a:ext cx="208156" cy="260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lang="en-US" sz="160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4</a:t>
            </a:r>
            <a:endParaRPr sz="16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304599" y="5883109"/>
            <a:ext cx="5067769" cy="216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Corpo e Return</a:t>
            </a:r>
            <a:endParaRPr sz="13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304599" y="6161120"/>
            <a:ext cx="5067769" cy="19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Bloco </a:t>
            </a: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{}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com a lógica. O </a:t>
            </a:r>
            <a:r>
              <a:rPr lang="en-US" sz="10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return</a:t>
            </a:r>
            <a:r>
              <a:rPr lang="en-US" sz="10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devolve o resultado ao chamador.</a:t>
            </a:r>
            <a:endParaRPr sz="10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816751" y="867272"/>
            <a:ext cx="5377015" cy="49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4000"/>
              </a:lnSpc>
              <a:buSzPts val="2800"/>
            </a:pPr>
            <a:r>
              <a:rPr lang="en-US" sz="2400" b="1" dirty="0">
                <a:latin typeface="+mj-lt"/>
                <a:ea typeface="Inter"/>
                <a:sym typeface="Inter"/>
              </a:rPr>
              <a:t>void,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Retorno</a:t>
            </a:r>
            <a:r>
              <a:rPr lang="en-US" sz="2400" b="1" dirty="0">
                <a:latin typeface="+mj-lt"/>
                <a:ea typeface="Inter"/>
                <a:sym typeface="Inter"/>
              </a:rPr>
              <a:t> e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Parâmetros</a:t>
            </a:r>
            <a:endParaRPr sz="2400" b="1" dirty="0">
              <a:latin typeface="+mj-lt"/>
              <a:ea typeface="Inter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47739" y="1798340"/>
            <a:ext cx="5239810" cy="26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Quando usar </a:t>
            </a:r>
            <a:r>
              <a:rPr lang="en-US" sz="1550" b="1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void</a:t>
            </a:r>
            <a:r>
              <a:rPr lang="en-US" sz="15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?</a:t>
            </a:r>
            <a:endParaRPr sz="15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747739" y="2194719"/>
            <a:ext cx="5239810" cy="476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Use </a:t>
            </a:r>
            <a:r>
              <a:rPr lang="en-US" sz="12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void</a:t>
            </a: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quando o método realiza uma ação mas </a:t>
            </a:r>
            <a:r>
              <a:rPr lang="en-US" sz="12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não precisa devolver</a:t>
            </a: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nenhum valor ao chamador. Ex.: imprimir, registrar, atualizar estado.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47739" y="2822674"/>
            <a:ext cx="5239810" cy="1339255"/>
          </a:xfrm>
          <a:prstGeom prst="roundRect">
            <a:avLst>
              <a:gd name="adj" fmla="val 500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939028" y="2982119"/>
            <a:ext cx="4857232" cy="102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void depositar(double valor) {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saldo += valor;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// sem return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47739" y="4313237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Quando retornar um valor?</a:t>
            </a:r>
            <a:endParaRPr sz="15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47739" y="4696916"/>
            <a:ext cx="5239810" cy="47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Quando o chamador precisa </a:t>
            </a:r>
            <a:r>
              <a:rPr lang="en-US" sz="12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usar o resultado</a:t>
            </a: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da operação. O tipo declarado deve casar com o valor retornado.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747739" y="5318522"/>
            <a:ext cx="5239810" cy="1084163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939028" y="5477966"/>
            <a:ext cx="4857232" cy="7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double consultarSaldo() {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  return _saldo;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3620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383024" y="1798340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lang="en-US" sz="1550" b="1" dirty="0" err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Parâmetros</a:t>
            </a:r>
            <a:r>
              <a:rPr lang="en-US" sz="1550" b="1" dirty="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: entrada de dados</a:t>
            </a:r>
            <a:endParaRPr sz="15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383024" y="2182019"/>
            <a:ext cx="5239810" cy="47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Parâmetros permitem que o método receba informações externas para operar. São declarados com tipo e nome.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383024" y="2803624"/>
            <a:ext cx="5239810" cy="1084163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574313" y="2963069"/>
            <a:ext cx="4857232" cy="76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void sacar(double valor) {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saldo -= valor;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lang="en-US" sz="12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6383024" y="4039096"/>
            <a:ext cx="5239810" cy="798314"/>
          </a:xfrm>
          <a:prstGeom prst="roundRect">
            <a:avLst>
              <a:gd name="adj" fmla="val 8391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2465" y="4245273"/>
            <a:ext cx="199325" cy="1594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6901231" y="4199930"/>
            <a:ext cx="4562162" cy="476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Em Dart, parâmetros podem ser </a:t>
            </a:r>
            <a:r>
              <a:rPr lang="en-US" sz="12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posicionais</a:t>
            </a: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(padrão) ou </a:t>
            </a:r>
            <a:r>
              <a:rPr lang="en-US" sz="125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nomeados</a:t>
            </a: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 (entre </a:t>
            </a:r>
            <a:r>
              <a:rPr lang="en-US" sz="1250">
                <a:solidFill>
                  <a:srgbClr val="000000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{}</a:t>
            </a:r>
            <a:r>
              <a:rPr lang="en-US" sz="1250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). Nesta aula focamos nos posicionais.</a:t>
            </a:r>
            <a:endParaRPr sz="12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851257" y="810902"/>
            <a:ext cx="9156344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4000"/>
              </a:lnSpc>
              <a:buSzPts val="2800"/>
            </a:pPr>
            <a:r>
              <a:rPr lang="en-US" sz="2400" b="1" dirty="0" err="1">
                <a:latin typeface="+mj-lt"/>
                <a:ea typeface="Inter"/>
                <a:sym typeface="Inter"/>
              </a:rPr>
              <a:t>Função</a:t>
            </a:r>
            <a:r>
              <a:rPr lang="en-US" sz="2400" b="1" dirty="0">
                <a:latin typeface="+mj-lt"/>
                <a:ea typeface="Inter"/>
                <a:sym typeface="Inter"/>
              </a:rPr>
              <a:t> ×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Método</a:t>
            </a:r>
            <a:r>
              <a:rPr lang="en-US" sz="2400" b="1" dirty="0">
                <a:latin typeface="+mj-lt"/>
                <a:ea typeface="Inter"/>
                <a:sym typeface="Inter"/>
              </a:rPr>
              <a:t> ·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Métodos</a:t>
            </a:r>
            <a:r>
              <a:rPr lang="en-US" sz="2400" b="1" dirty="0">
                <a:latin typeface="+mj-lt"/>
                <a:ea typeface="Inter"/>
                <a:sym typeface="Inter"/>
              </a:rPr>
              <a:t> de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Instância</a:t>
            </a:r>
            <a:endParaRPr sz="2400" b="1" dirty="0">
              <a:latin typeface="+mj-lt"/>
              <a:ea typeface="Inter"/>
              <a:sym typeface="Calibri"/>
            </a:endParaRPr>
          </a:p>
        </p:txBody>
      </p:sp>
      <p:sp>
        <p:nvSpPr>
          <p:cNvPr id="193" name="Google Shape;193;p21" descr="preencoded.png"/>
          <p:cNvSpPr/>
          <p:nvPr/>
        </p:nvSpPr>
        <p:spPr>
          <a:xfrm>
            <a:off x="661880" y="1920345"/>
            <a:ext cx="5339820" cy="35450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4" name="Google Shape;194;p21"/>
          <p:cNvSpPr/>
          <p:nvPr/>
        </p:nvSpPr>
        <p:spPr>
          <a:xfrm>
            <a:off x="977479" y="2105917"/>
            <a:ext cx="48094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lang="en-US" sz="18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Função (top-level)</a:t>
            </a:r>
            <a:endParaRPr sz="18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977479" y="2514599"/>
            <a:ext cx="4809409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Declarada fora de qualquer classe. Não pertence a nenhum objeto. Pode ser chamada diretamente pelo nome.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977479" y="3634482"/>
            <a:ext cx="4809409" cy="1587698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204287" y="3823493"/>
            <a:ext cx="4355793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double calcularMedia(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double n1, double n2) {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return (n1 + n2) / 2;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 descr="preencoded.png"/>
          <p:cNvSpPr/>
          <p:nvPr/>
        </p:nvSpPr>
        <p:spPr>
          <a:xfrm>
            <a:off x="6190301" y="1891506"/>
            <a:ext cx="5339919" cy="354508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9" name="Google Shape;199;p21"/>
          <p:cNvSpPr/>
          <p:nvPr/>
        </p:nvSpPr>
        <p:spPr>
          <a:xfrm>
            <a:off x="6506305" y="2105917"/>
            <a:ext cx="48095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/>
              <a:buNone/>
            </a:pPr>
            <a:r>
              <a:rPr lang="en-US" sz="18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 de Instância</a:t>
            </a:r>
            <a:endParaRPr sz="18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506305" y="2514599"/>
            <a:ext cx="4809509" cy="913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Declarado dentro de uma classe. É chamado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sobre um objeto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 Tem acesso implícito a todos os atributos daquele objeto via </a:t>
            </a:r>
            <a:r>
              <a:rPr lang="en-US" sz="1450">
                <a:solidFill>
                  <a:srgbClr val="272525"/>
                </a:solidFill>
                <a:highlight>
                  <a:srgbClr val="F2F2F2"/>
                </a:highlight>
                <a:latin typeface="+mj-lt"/>
                <a:ea typeface="Consolas"/>
                <a:cs typeface="Consolas"/>
                <a:sym typeface="Consolas"/>
              </a:rPr>
              <a:t>this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506305" y="3640832"/>
            <a:ext cx="4809509" cy="98286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6733114" y="3829843"/>
            <a:ext cx="4355892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var c = Conta();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2863A"/>
              </a:buClr>
              <a:buSzPts val="1450"/>
              <a:buFont typeface="Consolas"/>
              <a:buNone/>
            </a:pPr>
            <a:r>
              <a:rPr lang="en-US" sz="1450">
                <a:solidFill>
                  <a:srgbClr val="22863A"/>
                </a:solidFill>
                <a:latin typeface="Consolas"/>
                <a:ea typeface="Consolas"/>
                <a:cs typeface="Consolas"/>
                <a:sym typeface="Consolas"/>
              </a:rPr>
              <a:t>c.depositar(500); // método de instância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61475" y="5649217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Métodos de instância são o coração do comportamento dos objetos. Cada objeto tem seu próprio estado, mas </a:t>
            </a:r>
            <a:r>
              <a:rPr lang="en-US" sz="1450" b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compartilha a definição do método</a:t>
            </a: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com todos os objetos da mesma classe.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782130" y="776188"/>
            <a:ext cx="7117270" cy="52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4000"/>
              </a:lnSpc>
              <a:buSzPts val="2800"/>
            </a:pPr>
            <a:r>
              <a:rPr lang="en-US" sz="2400" b="1" dirty="0" err="1">
                <a:latin typeface="+mj-lt"/>
                <a:ea typeface="Inter"/>
                <a:sym typeface="Inter"/>
              </a:rPr>
              <a:t>Exemplo</a:t>
            </a:r>
            <a:r>
              <a:rPr lang="en-US" sz="2400" b="1" dirty="0">
                <a:latin typeface="+mj-lt"/>
                <a:ea typeface="Inter"/>
                <a:sym typeface="Inter"/>
              </a:rPr>
              <a:t>: Classe Conta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Bancária</a:t>
            </a:r>
            <a:endParaRPr sz="2400" b="1" dirty="0">
              <a:latin typeface="+mj-lt"/>
              <a:ea typeface="Inter"/>
              <a:sym typeface="Calibri"/>
            </a:endParaRPr>
          </a:p>
        </p:txBody>
      </p:sp>
      <p:grpSp>
        <p:nvGrpSpPr>
          <p:cNvPr id="210" name="Google Shape;210;p22"/>
          <p:cNvGrpSpPr/>
          <p:nvPr/>
        </p:nvGrpSpPr>
        <p:grpSpPr>
          <a:xfrm>
            <a:off x="782129" y="1756568"/>
            <a:ext cx="5066579" cy="4646613"/>
            <a:chOff x="5233360" y="1481137"/>
            <a:chExt cx="2943052" cy="4646613"/>
          </a:xfrm>
        </p:grpSpPr>
        <p:sp>
          <p:nvSpPr>
            <p:cNvPr id="211" name="Google Shape;211;p22"/>
            <p:cNvSpPr/>
            <p:nvPr/>
          </p:nvSpPr>
          <p:spPr>
            <a:xfrm>
              <a:off x="5233360" y="1481137"/>
              <a:ext cx="2943052" cy="4646613"/>
            </a:xfrm>
            <a:prstGeom prst="roundRect">
              <a:avLst>
                <a:gd name="adj" fmla="val 2402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5435365" y="1649413"/>
              <a:ext cx="2539044" cy="43100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class Conta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String titular;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saldo;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depositar(double valor)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+= valor;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void sacar(double valor)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saldo -= valor;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double consultarSaldo() {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saldo;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73A49"/>
                </a:buClr>
                <a:buSzPts val="1300"/>
                <a:buFont typeface="Consolas"/>
                <a:buNone/>
              </a:pPr>
              <a:r>
                <a:rPr lang="en-US" sz="1300">
                  <a:solidFill>
                    <a:srgbClr val="D73A49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22"/>
          <p:cNvSpPr/>
          <p:nvPr/>
        </p:nvSpPr>
        <p:spPr>
          <a:xfrm>
            <a:off x="6343294" y="1717277"/>
            <a:ext cx="2943052" cy="263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lang="en-US" sz="16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Lendo o </a:t>
            </a:r>
            <a:r>
              <a:rPr lang="en-US" sz="16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endParaRPr sz="1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343294" y="2130226"/>
            <a:ext cx="4924075" cy="163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4160" marR="0" lvl="0" indent="-2641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2"/>
              <a:buFont typeface="Consolas"/>
              <a:buChar char="•"/>
            </a:pP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depositar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sacar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retornam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Apenas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modificam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estado</a:t>
            </a:r>
            <a:endParaRPr sz="1203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64160" marR="0" lvl="0" indent="-18783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Font typeface="Calibri"/>
              <a:buNone/>
            </a:pPr>
            <a:endParaRPr sz="120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2"/>
              <a:buFont typeface="Consolas"/>
              <a:buChar char="•"/>
            </a:pP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consultarSaldo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retorna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Informa o valor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atual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do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saldo</a:t>
            </a:r>
            <a:endParaRPr sz="1203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4160" marR="0" lvl="0" indent="-26416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2"/>
              <a:buFont typeface="Inter"/>
              <a:buChar char="•"/>
            </a:pP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Todos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métodos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acessam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diretamente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203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atributo</a:t>
            </a:r>
            <a:r>
              <a:rPr lang="en-US" sz="120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3" dirty="0" err="1">
                <a:solidFill>
                  <a:srgbClr val="272525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saldo</a:t>
            </a:r>
            <a:endParaRPr sz="120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264385" y="4267001"/>
            <a:ext cx="4924075" cy="1391927"/>
          </a:xfrm>
          <a:prstGeom prst="roundRect">
            <a:avLst>
              <a:gd name="adj" fmla="val 3310"/>
            </a:avLst>
          </a:prstGeom>
          <a:solidFill>
            <a:srgbClr val="FCF2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3294" y="4436775"/>
            <a:ext cx="210338" cy="16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6634093" y="4398636"/>
            <a:ext cx="4184658" cy="112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Atenção: nesta versão, </a:t>
            </a:r>
            <a:r>
              <a:rPr lang="en-US" sz="1300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saldo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é público. Qualquer código externo pode fazer </a:t>
            </a:r>
            <a:r>
              <a:rPr lang="en-US" sz="1300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conta.saldo = -9999</a:t>
            </a:r>
            <a:r>
              <a:rPr lang="en-US" sz="1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Isso é um problema! Veremos a solução com encapsulamento.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808124" y="813773"/>
            <a:ext cx="10868745" cy="59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4000"/>
              </a:lnSpc>
              <a:buSzPts val="2800"/>
            </a:pPr>
            <a:r>
              <a:rPr lang="en-US" sz="2400" b="1" dirty="0">
                <a:latin typeface="+mj-lt"/>
                <a:ea typeface="Inter"/>
              </a:rPr>
              <a:t>✅</a:t>
            </a:r>
            <a:r>
              <a:rPr lang="en-US" sz="2400" b="1" dirty="0">
                <a:latin typeface="+mj-lt"/>
                <a:ea typeface="Inter"/>
                <a:sym typeface="Inter"/>
              </a:rPr>
              <a:t> Checkpoint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Conceitual</a:t>
            </a:r>
            <a:endParaRPr sz="2400" b="1" dirty="0">
              <a:latin typeface="+mj-lt"/>
              <a:ea typeface="Inter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08124" y="1737856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Antes de avançar, verifique se você consegue responder com segurança:</a:t>
            </a:r>
            <a:endParaRPr sz="145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225" name="Google Shape;225;p23"/>
          <p:cNvGrpSpPr/>
          <p:nvPr/>
        </p:nvGrpSpPr>
        <p:grpSpPr>
          <a:xfrm>
            <a:off x="661475" y="3037086"/>
            <a:ext cx="3465426" cy="1978521"/>
            <a:chOff x="661475" y="3037086"/>
            <a:chExt cx="3465426" cy="1978521"/>
          </a:xfrm>
        </p:grpSpPr>
        <p:sp>
          <p:nvSpPr>
            <p:cNvPr id="226" name="Google Shape;226;p23"/>
            <p:cNvSpPr/>
            <p:nvPr/>
          </p:nvSpPr>
          <p:spPr>
            <a:xfrm>
              <a:off x="661475" y="3037086"/>
              <a:ext cx="425241" cy="425252"/>
            </a:xfrm>
            <a:prstGeom prst="roundRect">
              <a:avLst>
                <a:gd name="adj" fmla="val 18669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732365" y="3072507"/>
              <a:ext cx="283461" cy="354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200"/>
                <a:buFont typeface="Inter"/>
                <a:buNone/>
              </a:pPr>
              <a:r>
                <a:rPr lang="en-US" sz="22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1</a:t>
              </a:r>
              <a:endParaRPr sz="22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1275723" y="3101975"/>
              <a:ext cx="2851178" cy="590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Qual é a diferença entre atributo e método?</a:t>
              </a:r>
              <a:endParaRPr sz="18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1275723" y="3805932"/>
              <a:ext cx="2851178" cy="120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Atributo armazena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estado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; método define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comportamento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. Um guarda dados, o outro executa ações.</a:t>
              </a:r>
              <a:endParaRPr sz="14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4363135" y="3037086"/>
            <a:ext cx="3465426" cy="1984871"/>
            <a:chOff x="4363135" y="3037086"/>
            <a:chExt cx="3465426" cy="1984871"/>
          </a:xfrm>
        </p:grpSpPr>
        <p:sp>
          <p:nvSpPr>
            <p:cNvPr id="231" name="Google Shape;231;p23"/>
            <p:cNvSpPr/>
            <p:nvPr/>
          </p:nvSpPr>
          <p:spPr>
            <a:xfrm>
              <a:off x="4363135" y="3037086"/>
              <a:ext cx="425241" cy="425252"/>
            </a:xfrm>
            <a:prstGeom prst="roundRect">
              <a:avLst>
                <a:gd name="adj" fmla="val 18669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4434025" y="3072507"/>
              <a:ext cx="283461" cy="354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200"/>
                <a:buFont typeface="Inter"/>
                <a:buNone/>
              </a:pPr>
              <a:r>
                <a:rPr lang="en-US" sz="22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2</a:t>
              </a:r>
              <a:endParaRPr sz="22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4977383" y="3101975"/>
              <a:ext cx="2851178" cy="5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Quando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declarar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>
                  <a:solidFill>
                    <a:srgbClr val="272525"/>
                  </a:solidFill>
                  <a:highlight>
                    <a:srgbClr val="F2F2F2"/>
                  </a:highlight>
                  <a:latin typeface="+mj-lt"/>
                  <a:ea typeface="Consolas"/>
                  <a:cs typeface="Consolas"/>
                  <a:sym typeface="Consolas"/>
                </a:rPr>
                <a:t>void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como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tipo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retorno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?</a:t>
              </a:r>
              <a:endParaRPr sz="185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4977383" y="3812282"/>
              <a:ext cx="2851178" cy="120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Quando o método realiza uma ação mas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não precisa devolver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nenhum valor ao código chamador.</a:t>
              </a:r>
              <a:endParaRPr sz="14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3"/>
          <p:cNvGrpSpPr/>
          <p:nvPr/>
        </p:nvGrpSpPr>
        <p:grpSpPr>
          <a:xfrm>
            <a:off x="8064794" y="3037086"/>
            <a:ext cx="3465426" cy="2273796"/>
            <a:chOff x="8064794" y="3037086"/>
            <a:chExt cx="3465426" cy="2273796"/>
          </a:xfrm>
        </p:grpSpPr>
        <p:sp>
          <p:nvSpPr>
            <p:cNvPr id="236" name="Google Shape;236;p23"/>
            <p:cNvSpPr/>
            <p:nvPr/>
          </p:nvSpPr>
          <p:spPr>
            <a:xfrm>
              <a:off x="8064794" y="3037086"/>
              <a:ext cx="425241" cy="425252"/>
            </a:xfrm>
            <a:prstGeom prst="roundRect">
              <a:avLst>
                <a:gd name="adj" fmla="val 18669"/>
              </a:avLst>
            </a:prstGeom>
            <a:solidFill>
              <a:srgbClr val="DADBF1"/>
            </a:solidFill>
            <a:ln w="9525" cap="flat" cmpd="sng">
              <a:solidFill>
                <a:srgbClr val="C0C1D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8135684" y="3072507"/>
              <a:ext cx="283461" cy="354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2200"/>
                <a:buFont typeface="Inter"/>
                <a:buNone/>
              </a:pPr>
              <a:r>
                <a:rPr lang="en-US" sz="220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3</a:t>
              </a:r>
              <a:endParaRPr sz="22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8679042" y="3101975"/>
              <a:ext cx="2851178" cy="885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850"/>
                <a:buFont typeface="Inter"/>
                <a:buNone/>
              </a:pP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O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que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diferencia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um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método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instância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uma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sz="1850" b="1" dirty="0" err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função</a:t>
              </a:r>
              <a:r>
                <a:rPr lang="en-US" sz="1850" b="1" dirty="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top-level?</a:t>
              </a:r>
              <a:endParaRPr sz="185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8679042" y="4101207"/>
              <a:ext cx="2851178" cy="1209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50"/>
                <a:buFont typeface="Inter"/>
                <a:buNone/>
              </a:pP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O método pertence a um </a:t>
              </a:r>
              <a:r>
                <a:rPr lang="en-US" sz="1450" b="1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objeto específico</a:t>
              </a:r>
              <a:r>
                <a:rPr lang="en-US" sz="1450">
                  <a:solidFill>
                    <a:srgbClr val="272525"/>
                  </a:solidFill>
                  <a:latin typeface="+mj-lt"/>
                  <a:ea typeface="Inter"/>
                  <a:cs typeface="Inter"/>
                  <a:sym typeface="Inter"/>
                </a:rPr>
                <a:t> e acessa seus atributos; a função existe de forma independente.</a:t>
              </a:r>
              <a:endParaRPr sz="145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>
            <a:off x="773618" y="819893"/>
            <a:ext cx="10842649" cy="58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Inter"/>
              <a:buNone/>
            </a:pPr>
            <a:r>
              <a:rPr lang="en-US" sz="2400" b="1" dirty="0">
                <a:latin typeface="+mj-lt"/>
                <a:ea typeface="Inter"/>
                <a:sym typeface="Inter"/>
              </a:rPr>
              <a:t>O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Problema</a:t>
            </a:r>
            <a:r>
              <a:rPr lang="en-US" sz="2400" b="1" dirty="0">
                <a:latin typeface="+mj-lt"/>
                <a:ea typeface="Inter"/>
                <a:sym typeface="Inter"/>
              </a:rPr>
              <a:t> do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Acesso</a:t>
            </a:r>
            <a:r>
              <a:rPr lang="en-US" sz="2400" b="1" dirty="0">
                <a:latin typeface="+mj-lt"/>
                <a:ea typeface="Inter"/>
                <a:sym typeface="Inter"/>
              </a:rPr>
              <a:t>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Direto</a:t>
            </a:r>
            <a:r>
              <a:rPr lang="en-US" sz="2400" b="1" dirty="0">
                <a:latin typeface="+mj-lt"/>
                <a:ea typeface="Inter"/>
                <a:sym typeface="Inter"/>
              </a:rPr>
              <a:t>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aos</a:t>
            </a:r>
            <a:r>
              <a:rPr lang="en-US" sz="2400" b="1" dirty="0">
                <a:latin typeface="+mj-lt"/>
                <a:ea typeface="Inter"/>
                <a:sym typeface="Inter"/>
              </a:rPr>
              <a:t> </a:t>
            </a:r>
            <a:r>
              <a:rPr lang="en-US" sz="2400" b="1" dirty="0" err="1">
                <a:latin typeface="+mj-lt"/>
                <a:ea typeface="Inter"/>
                <a:sym typeface="Inter"/>
              </a:rPr>
              <a:t>Atributos</a:t>
            </a:r>
            <a:endParaRPr sz="2400" b="1" dirty="0">
              <a:latin typeface="+mj-lt"/>
              <a:ea typeface="Inter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61475" y="2030908"/>
            <a:ext cx="5207465" cy="29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O que acontece sem proteção?</a:t>
            </a: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61476" y="2504777"/>
            <a:ext cx="5096330" cy="182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Quando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os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atributos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são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públicos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, </a:t>
            </a:r>
            <a:r>
              <a:rPr lang="en-US" sz="16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qualquer</a:t>
            </a:r>
            <a:r>
              <a:rPr lang="en-US" sz="160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código</a:t>
            </a:r>
            <a:r>
              <a:rPr lang="en-US" sz="160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externo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pode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modificar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o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do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diretamente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,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sem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passar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pelos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métodos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da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classe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—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ignorando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completamente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as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regras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</a:t>
            </a:r>
            <a:r>
              <a:rPr lang="en-US" sz="160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negócio</a:t>
            </a:r>
            <a:r>
              <a:rPr lang="en-US" sz="160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.</a:t>
            </a:r>
            <a:endParaRPr sz="16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6329105" y="2030908"/>
            <a:ext cx="5207465" cy="29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>
                <a:solidFill>
                  <a:srgbClr val="000000"/>
                </a:solidFill>
                <a:latin typeface="+mj-lt"/>
                <a:ea typeface="Inter"/>
                <a:cs typeface="Inter"/>
                <a:sym typeface="Inter"/>
              </a:rPr>
              <a:t>Por que isso é perigoso?</a:t>
            </a:r>
            <a:endParaRPr sz="180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434196" y="2527597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Viola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regras</a:t>
            </a:r>
            <a:r>
              <a:rPr lang="en-US" sz="14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de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negócio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saldo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negativo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sem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a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lógica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do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saque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seja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consultada</a:t>
            </a:r>
            <a:endParaRPr sz="14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434196" y="3484463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inconsistente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o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objeto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fica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em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um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estado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a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própria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classe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jamais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permitiria</a:t>
            </a:r>
            <a:endParaRPr sz="14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434196" y="4441328"/>
            <a:ext cx="4602841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Manutenção</a:t>
            </a:r>
            <a:r>
              <a:rPr lang="en-US" sz="1450" b="1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b="1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difícil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: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qualquer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mudança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na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estrutura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interna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quebra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código</a:t>
            </a:r>
            <a:r>
              <a:rPr lang="en-US" sz="1450" dirty="0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 </a:t>
            </a:r>
            <a:r>
              <a:rPr lang="en-US" sz="1450" dirty="0" err="1">
                <a:solidFill>
                  <a:srgbClr val="272525"/>
                </a:solidFill>
                <a:latin typeface="+mj-lt"/>
                <a:ea typeface="Inter"/>
                <a:cs typeface="Inter"/>
                <a:sym typeface="Inter"/>
              </a:rPr>
              <a:t>externo</a:t>
            </a:r>
            <a:endParaRPr sz="145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836095E-0D22-1CF2-6834-380AE7EE03F6}"/>
              </a:ext>
            </a:extLst>
          </p:cNvPr>
          <p:cNvGrpSpPr/>
          <p:nvPr/>
        </p:nvGrpSpPr>
        <p:grpSpPr>
          <a:xfrm>
            <a:off x="661475" y="4377729"/>
            <a:ext cx="4706392" cy="1308298"/>
            <a:chOff x="6329105" y="5237857"/>
            <a:chExt cx="5207465" cy="1308298"/>
          </a:xfrm>
        </p:grpSpPr>
        <p:sp>
          <p:nvSpPr>
            <p:cNvPr id="255" name="Google Shape;255;p24"/>
            <p:cNvSpPr/>
            <p:nvPr/>
          </p:nvSpPr>
          <p:spPr>
            <a:xfrm>
              <a:off x="6329105" y="5237857"/>
              <a:ext cx="5207465" cy="1308298"/>
            </a:xfrm>
            <a:prstGeom prst="roundRect">
              <a:avLst>
                <a:gd name="adj" fmla="val 5973"/>
              </a:avLst>
            </a:prstGeom>
            <a:solidFill>
              <a:srgbClr val="FFB3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6" name="Google Shape;256;p24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15135" y="5514181"/>
              <a:ext cx="232563" cy="1860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4"/>
            <p:cNvSpPr/>
            <p:nvPr/>
          </p:nvSpPr>
          <p:spPr>
            <a:xfrm>
              <a:off x="6933729" y="5449093"/>
              <a:ext cx="4416811" cy="885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50"/>
                <a:buFont typeface="Inter"/>
                <a:buNone/>
              </a:pP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A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solução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é </a:t>
              </a:r>
              <a:r>
                <a:rPr lang="en-US" b="1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encapsular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: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esconder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o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estado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interno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e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expor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apenas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o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que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é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necessário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através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de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métodos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 </a:t>
              </a:r>
              <a:r>
                <a:rPr lang="en-US" dirty="0" err="1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controlados</a:t>
              </a:r>
              <a:r>
                <a:rPr lang="en-US" dirty="0">
                  <a:solidFill>
                    <a:srgbClr val="000000"/>
                  </a:solidFill>
                  <a:latin typeface="+mj-lt"/>
                  <a:ea typeface="Inter"/>
                  <a:cs typeface="Inter"/>
                  <a:sym typeface="Inter"/>
                </a:rPr>
                <a:t>.</a:t>
              </a:r>
              <a:endParaRPr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D416F3E-1ACC-40F0-8CA5-01D739708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519" y="1825625"/>
            <a:ext cx="10760065" cy="1323018"/>
          </a:xfrm>
        </p:spPr>
        <p:txBody>
          <a:bodyPr/>
          <a:lstStyle/>
          <a:p>
            <a:pPr marL="0" indent="0" algn="just">
              <a:buNone/>
            </a:pPr>
            <a:r>
              <a:rPr lang="pt-BR" sz="1600" dirty="0"/>
              <a:t>Neste desafio, você deverá responder a questões teóricas sobre os principais conceitos de </a:t>
            </a:r>
            <a:r>
              <a:rPr lang="pt-BR" sz="1600" b="1" dirty="0"/>
              <a:t>métodos em Programação Orientada a Objetos (POO) com Dart</a:t>
            </a:r>
            <a:r>
              <a:rPr lang="pt-BR" sz="1600" dirty="0"/>
              <a:t>, demonstrando sua compreensão sobre </a:t>
            </a:r>
            <a:r>
              <a:rPr lang="pt-BR" sz="1600" b="1" dirty="0"/>
              <a:t>métodos, parâmetros, retornos, métodos </a:t>
            </a:r>
            <a:r>
              <a:rPr lang="pt-BR" sz="1600" b="1" dirty="0" err="1"/>
              <a:t>void</a:t>
            </a:r>
            <a:r>
              <a:rPr lang="pt-BR" sz="1600" b="1" dirty="0"/>
              <a:t> e comportamentos dos objetos</a:t>
            </a:r>
            <a:r>
              <a:rPr lang="pt-BR" sz="1600" dirty="0"/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2A0E100-C50A-460D-8D94-133D7060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19" y="877911"/>
            <a:ext cx="8360355" cy="424678"/>
          </a:xfrm>
        </p:spPr>
        <p:txBody>
          <a:bodyPr/>
          <a:lstStyle/>
          <a:p>
            <a:r>
              <a:rPr lang="pt-BR" dirty="0"/>
              <a:t>Laboratório: Métodos com Dart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3DBE8-BE5E-4A3D-A444-5A8A26478A08}"/>
              </a:ext>
            </a:extLst>
          </p:cNvPr>
          <p:cNvSpPr txBox="1">
            <a:spLocks/>
          </p:cNvSpPr>
          <p:nvPr/>
        </p:nvSpPr>
        <p:spPr>
          <a:xfrm>
            <a:off x="974035" y="3698314"/>
            <a:ext cx="10243929" cy="2342755"/>
          </a:xfrm>
          <a:prstGeom prst="rect">
            <a:avLst/>
          </a:prstGeom>
          <a:ln w="28575">
            <a:solidFill>
              <a:srgbClr val="043073"/>
            </a:solidFill>
          </a:ln>
        </p:spPr>
        <p:txBody>
          <a:bodyPr lIns="91440" tIns="45720" rIns="91440" bIns="45720" anchor="t"/>
          <a:lstStyle>
            <a:lvl1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353" kern="1200" spc="-49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0" marR="0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Tx/>
              <a:buNone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marR="0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14367" rtl="0" eaLnBrk="1" fontAlgn="auto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16" indent="0" algn="l" defTabSz="914367" rtl="0" eaLnBrk="1" latinLnBrk="0" hangingPunct="1">
              <a:spcBef>
                <a:spcPct val="20000"/>
              </a:spcBef>
              <a:buFont typeface="Arial" pitchFamily="34" charset="0"/>
              <a:buNone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67" rtl="0" eaLnBrk="1" latinLnBrk="0" hangingPunct="1">
              <a:lnSpc>
                <a:spcPct val="100000"/>
              </a:lnSpc>
              <a:spcBef>
                <a:spcPts val="392"/>
              </a:spcBef>
              <a:spcAft>
                <a:spcPts val="588"/>
              </a:spcAft>
              <a:buFont typeface="Arial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 defTabSz="914400">
              <a:buAutoNum type="arabicPeriod"/>
              <a:defRPr sz="2400" kern="0">
                <a:latin typeface="Segoe UI"/>
                <a:cs typeface="Segoe UI"/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acessar a página do exercício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Clique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Aqui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914400">
              <a:buAutoNum type="arabicPeriod"/>
              <a:defRPr sz="2400" kern="0">
                <a:latin typeface="Segoe UI"/>
                <a:cs typeface="Segoe UI"/>
              </a:defRPr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defTabSz="914400">
              <a:buFont typeface="Wingdings" panose="05000000000000000000" pitchFamily="2" charset="2"/>
              <a:buAutoNum type="arabicPeriod"/>
              <a:defRPr sz="2400" kern="0">
                <a:latin typeface="Segoe UI"/>
                <a:cs typeface="Segoe UI"/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Siga as instruções para concluir o exercício</a:t>
            </a:r>
            <a:endParaRPr lang="pt-BR" sz="2400" kern="0" dirty="0">
              <a:latin typeface="Times New Roman" panose="02020603050405020304" pitchFamily="18" charset="0"/>
              <a:ea typeface="+mj-lt"/>
              <a:cs typeface="Times New Roman" panose="02020603050405020304" pitchFamily="18" charset="0"/>
            </a:endParaRPr>
          </a:p>
          <a:p>
            <a:pPr marL="457200" indent="-457200" defTabSz="914400">
              <a:buAutoNum type="arabicPeriod"/>
              <a:defRPr sz="2400" kern="0">
                <a:latin typeface="Segoe UI"/>
                <a:cs typeface="Segoe UI"/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583C1E38-FDCF-6210-593A-90021D65B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350" y="4869691"/>
            <a:ext cx="1119924" cy="111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44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1317</Words>
  <Application>Microsoft Office PowerPoint</Application>
  <PresentationFormat>Widescreen</PresentationFormat>
  <Paragraphs>183</Paragraphs>
  <Slides>13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Inter</vt:lpstr>
      <vt:lpstr>Times New Roman</vt:lpstr>
      <vt:lpstr>Consolas</vt:lpstr>
      <vt:lpstr>Calibri</vt:lpstr>
      <vt:lpstr>Wingdings</vt:lpstr>
      <vt:lpstr>Arial</vt:lpstr>
      <vt:lpstr>Tema1</vt:lpstr>
      <vt:lpstr>Apresentação do PowerPoint</vt:lpstr>
      <vt:lpstr>Apresentação do PowerPoint</vt:lpstr>
      <vt:lpstr>Apresentação do PowerPoint</vt:lpstr>
      <vt:lpstr>Apresentação do PowerPoint</vt:lpstr>
      <vt:lpstr>🎯 Objetivo da aula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Laboratório: Métodos com Dart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Pedro Miho</cp:lastModifiedBy>
  <cp:revision>9</cp:revision>
  <dcterms:modified xsi:type="dcterms:W3CDTF">2026-09-07T17:50:54Z</dcterms:modified>
</cp:coreProperties>
</file>