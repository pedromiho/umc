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boldItalic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>
            <a:extLst>
              <a:ext uri="{FF2B5EF4-FFF2-40B4-BE49-F238E27FC236}">
                <a16:creationId xmlns:a16="http://schemas.microsoft.com/office/drawing/2014/main" id="{1AB184A8-9218-4348-A46A-3A4126A24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>
            <a:extLst>
              <a:ext uri="{FF2B5EF4-FFF2-40B4-BE49-F238E27FC236}">
                <a16:creationId xmlns:a16="http://schemas.microsoft.com/office/drawing/2014/main" id="{7728FD31-FC06-426D-BD4A-1EF0B600B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>
            <a:extLst>
              <a:ext uri="{FF2B5EF4-FFF2-40B4-BE49-F238E27FC236}">
                <a16:creationId xmlns:a16="http://schemas.microsoft.com/office/drawing/2014/main" id="{0F1FD7F6-D306-4232-880F-40EE9F2F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5">
            <a:extLst>
              <a:ext uri="{FF2B5EF4-FFF2-40B4-BE49-F238E27FC236}">
                <a16:creationId xmlns:a16="http://schemas.microsoft.com/office/drawing/2014/main" id="{3F5D0F26-CB09-4B50-99D7-CEFEAF817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9" name="Google Shape;19;p5">
            <a:extLst>
              <a:ext uri="{FF2B5EF4-FFF2-40B4-BE49-F238E27FC236}">
                <a16:creationId xmlns:a16="http://schemas.microsoft.com/office/drawing/2014/main" id="{9481ABEE-584C-4D66-81AF-4331664A5CC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0" name="Google Shape;20;p5">
            <a:extLst>
              <a:ext uri="{FF2B5EF4-FFF2-40B4-BE49-F238E27FC236}">
                <a16:creationId xmlns:a16="http://schemas.microsoft.com/office/drawing/2014/main" id="{8A3E05D8-7F43-4EE9-839F-0911F0A3DC3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1CD44C37-55AF-4398-95C9-2355891C45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>
            <a:extLst>
              <a:ext uri="{FF2B5EF4-FFF2-40B4-BE49-F238E27FC236}">
                <a16:creationId xmlns:a16="http://schemas.microsoft.com/office/drawing/2014/main" id="{7F13D435-2ECC-428F-AB2E-A428E215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6">
            <a:extLst>
              <a:ext uri="{FF2B5EF4-FFF2-40B4-BE49-F238E27FC236}">
                <a16:creationId xmlns:a16="http://schemas.microsoft.com/office/drawing/2014/main" id="{8520D61B-0541-495D-A1B0-B2B403729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5" name="Google Shape;25;p6">
            <a:extLst>
              <a:ext uri="{FF2B5EF4-FFF2-40B4-BE49-F238E27FC236}">
                <a16:creationId xmlns:a16="http://schemas.microsoft.com/office/drawing/2014/main" id="{3F8B2F36-B175-4E95-9A49-26E55E483D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6099DCFF-FD07-4E18-B29B-E1DD841A8D0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9055EE1E-A039-4DA8-9BF4-BFBACAB1B1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8" name="Google Shape;28;p6">
            <a:extLst>
              <a:ext uri="{FF2B5EF4-FFF2-40B4-BE49-F238E27FC236}">
                <a16:creationId xmlns:a16="http://schemas.microsoft.com/office/drawing/2014/main" id="{EB9C10ED-2A7D-4D09-A3BD-45E9E7810F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7350B40C-FF8C-4F7B-987A-F8B2A9F2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B95D70BB-FA71-483D-B04B-924894451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2" name="Google Shape;32;p7">
            <a:extLst>
              <a:ext uri="{FF2B5EF4-FFF2-40B4-BE49-F238E27FC236}">
                <a16:creationId xmlns:a16="http://schemas.microsoft.com/office/drawing/2014/main" id="{83FF03F3-C529-4864-8788-EA3418AD74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3" name="Google Shape;33;p7">
            <a:extLst>
              <a:ext uri="{FF2B5EF4-FFF2-40B4-BE49-F238E27FC236}">
                <a16:creationId xmlns:a16="http://schemas.microsoft.com/office/drawing/2014/main" id="{6039DA70-A555-4598-BD25-D23ED87A0C8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4" name="Google Shape;34;p7">
            <a:extLst>
              <a:ext uri="{FF2B5EF4-FFF2-40B4-BE49-F238E27FC236}">
                <a16:creationId xmlns:a16="http://schemas.microsoft.com/office/drawing/2014/main" id="{A1DFAF9C-B081-4EBB-8E6C-0FEA50E3761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5" name="Google Shape;35;p7">
            <a:extLst>
              <a:ext uri="{FF2B5EF4-FFF2-40B4-BE49-F238E27FC236}">
                <a16:creationId xmlns:a16="http://schemas.microsoft.com/office/drawing/2014/main" id="{1F4B5594-81B2-4759-988F-3F4816B51F4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6" name="Google Shape;36;p7">
            <a:extLst>
              <a:ext uri="{FF2B5EF4-FFF2-40B4-BE49-F238E27FC236}">
                <a16:creationId xmlns:a16="http://schemas.microsoft.com/office/drawing/2014/main" id="{36F40655-81EE-41B7-B243-CD17CD8FCE3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37" name="Google Shape;37;p7">
            <a:extLst>
              <a:ext uri="{FF2B5EF4-FFF2-40B4-BE49-F238E27FC236}">
                <a16:creationId xmlns:a16="http://schemas.microsoft.com/office/drawing/2014/main" id="{A493D87D-D905-44E9-B758-6A9CABB2E7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>
            <a:extLst>
              <a:ext uri="{FF2B5EF4-FFF2-40B4-BE49-F238E27FC236}">
                <a16:creationId xmlns:a16="http://schemas.microsoft.com/office/drawing/2014/main" id="{5A38376B-6B7C-4F76-AA87-B8B3B5FD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8">
            <a:extLst>
              <a:ext uri="{FF2B5EF4-FFF2-40B4-BE49-F238E27FC236}">
                <a16:creationId xmlns:a16="http://schemas.microsoft.com/office/drawing/2014/main" id="{8DDE1854-8280-4C1B-B4EF-CA3001682B2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1" name="Google Shape;41;p8">
            <a:extLst>
              <a:ext uri="{FF2B5EF4-FFF2-40B4-BE49-F238E27FC236}">
                <a16:creationId xmlns:a16="http://schemas.microsoft.com/office/drawing/2014/main" id="{687B4987-15A7-43D0-B052-163BE17EC11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2" name="Google Shape;42;p8">
            <a:extLst>
              <a:ext uri="{FF2B5EF4-FFF2-40B4-BE49-F238E27FC236}">
                <a16:creationId xmlns:a16="http://schemas.microsoft.com/office/drawing/2014/main" id="{A4E36F4A-E3FD-4267-AD77-353CCF5123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>
            <a:extLst>
              <a:ext uri="{FF2B5EF4-FFF2-40B4-BE49-F238E27FC236}">
                <a16:creationId xmlns:a16="http://schemas.microsoft.com/office/drawing/2014/main" id="{562E93C8-0C56-4FCA-8874-777278E3E87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5" name="Google Shape;45;p9">
            <a:extLst>
              <a:ext uri="{FF2B5EF4-FFF2-40B4-BE49-F238E27FC236}">
                <a16:creationId xmlns:a16="http://schemas.microsoft.com/office/drawing/2014/main" id="{A5B1B866-6639-45F1-8C14-547D790DC7E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6" name="Google Shape;46;p9">
            <a:extLst>
              <a:ext uri="{FF2B5EF4-FFF2-40B4-BE49-F238E27FC236}">
                <a16:creationId xmlns:a16="http://schemas.microsoft.com/office/drawing/2014/main" id="{4BE8B554-1523-43E1-B616-0EDC8B24E0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>
            <a:extLst>
              <a:ext uri="{FF2B5EF4-FFF2-40B4-BE49-F238E27FC236}">
                <a16:creationId xmlns:a16="http://schemas.microsoft.com/office/drawing/2014/main" id="{50EF41F2-9983-4F51-977F-2886BC0C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0">
            <a:extLst>
              <a:ext uri="{FF2B5EF4-FFF2-40B4-BE49-F238E27FC236}">
                <a16:creationId xmlns:a16="http://schemas.microsoft.com/office/drawing/2014/main" id="{1DEFD9F1-7F08-494D-8583-79DBF5011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0" name="Google Shape;50;p10">
            <a:extLst>
              <a:ext uri="{FF2B5EF4-FFF2-40B4-BE49-F238E27FC236}">
                <a16:creationId xmlns:a16="http://schemas.microsoft.com/office/drawing/2014/main" id="{F2DEE061-EC43-41E0-8892-2CEED85D85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1" name="Google Shape;51;p10">
            <a:extLst>
              <a:ext uri="{FF2B5EF4-FFF2-40B4-BE49-F238E27FC236}">
                <a16:creationId xmlns:a16="http://schemas.microsoft.com/office/drawing/2014/main" id="{0AE08CD6-BFFF-4C45-A334-586AC32B9B8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2" name="Google Shape;52;p10">
            <a:extLst>
              <a:ext uri="{FF2B5EF4-FFF2-40B4-BE49-F238E27FC236}">
                <a16:creationId xmlns:a16="http://schemas.microsoft.com/office/drawing/2014/main" id="{7B40D977-383C-4FC2-9C22-FFBF33022C3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3" name="Google Shape;53;p10">
            <a:extLst>
              <a:ext uri="{FF2B5EF4-FFF2-40B4-BE49-F238E27FC236}">
                <a16:creationId xmlns:a16="http://schemas.microsoft.com/office/drawing/2014/main" id="{E014A309-3C30-427D-BE46-5A4E6F9D1B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869F30-78D9-4ADB-8B08-FF80F13F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B34B5DEB-E15A-4C56-95A8-590019AF18D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25F0849B-219C-4E69-98D9-765701B95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8" name="Google Shape;58;p11">
            <a:extLst>
              <a:ext uri="{FF2B5EF4-FFF2-40B4-BE49-F238E27FC236}">
                <a16:creationId xmlns:a16="http://schemas.microsoft.com/office/drawing/2014/main" id="{86C7E0F0-EE98-4686-82AD-DA4BD0DB44D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9" name="Google Shape;59;p11">
            <a:extLst>
              <a:ext uri="{FF2B5EF4-FFF2-40B4-BE49-F238E27FC236}">
                <a16:creationId xmlns:a16="http://schemas.microsoft.com/office/drawing/2014/main" id="{A01BD2F1-DDBE-4AFC-B6B1-AD3B5EA34E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0" name="Google Shape;60;p11">
            <a:extLst>
              <a:ext uri="{FF2B5EF4-FFF2-40B4-BE49-F238E27FC236}">
                <a16:creationId xmlns:a16="http://schemas.microsoft.com/office/drawing/2014/main" id="{58DF20BA-E321-45A8-B248-47CFD8F600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>
            <a:extLst>
              <a:ext uri="{FF2B5EF4-FFF2-40B4-BE49-F238E27FC236}">
                <a16:creationId xmlns:a16="http://schemas.microsoft.com/office/drawing/2014/main" id="{230961F4-1418-42A6-861E-18D8AF3C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2">
            <a:extLst>
              <a:ext uri="{FF2B5EF4-FFF2-40B4-BE49-F238E27FC236}">
                <a16:creationId xmlns:a16="http://schemas.microsoft.com/office/drawing/2014/main" id="{47DF84DD-DC14-4D91-B9CC-5226A2EA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812B66F7-EB6F-4A11-98CE-60A154E7D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2D1BFBCB-80BC-4CC0-BC42-669D86E7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D72E6F5A-30FF-4047-8118-43D84F32105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149CA73D-1013-4DB6-883C-95FDCF19CD6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69" name="Google Shape;69;p13">
            <a:extLst>
              <a:ext uri="{FF2B5EF4-FFF2-40B4-BE49-F238E27FC236}">
                <a16:creationId xmlns:a16="http://schemas.microsoft.com/office/drawing/2014/main" id="{267F6964-EFB7-4193-8AF5-D0FC2D6DF8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;p1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ln w="9525" cap="flat" cmpd="sng">
            <a:solidFill>
              <a:srgbClr val="292A86"/>
            </a:solidFill>
            <a:prstDash val="solid"/>
            <a:round/>
          </a:ln>
        </p:spPr>
      </p:pic>
      <p:pic>
        <p:nvPicPr>
          <p:cNvPr id="5" name="Google Shape;7;p1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ln>
            <a:noFill/>
          </a:ln>
        </p:spPr>
      </p:pic>
      <p:pic>
        <p:nvPicPr>
          <p:cNvPr id="6" name="Google Shape;8;p1"/>
          <p:cNvPicPr>
            <a:picLocks noChangeAspect="1"/>
          </p:cNvPicPr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78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ln>
            <a:noFill/>
          </a:ln>
        </p:spPr>
      </p:pic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E51A66C4-49DB-4B06-951F-D66BEB3FE4DB}"/>
              </a:ext>
            </a:extLst>
          </p:cNvPr>
          <p:cNvSpPr>
            <a:spLocks noGrp="1"/>
          </p:cNvSpPr>
          <p:nvPr/>
        </p:nvSpPr>
        <p:spPr>
          <a:xfrm>
            <a:off x="661475" y="2144316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pt-BR" sz="3700" b="1" i="0" u="none" cap="none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Encapsulamento em Dart</a:t>
            </a:r>
            <a:endParaRPr lang="pt-BR" sz="3700" b="0" i="0" u="non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5C2DA590-DFF9-4243-9D10-4344C143AFFB}"/>
              </a:ext>
            </a:extLst>
          </p:cNvPr>
          <p:cNvSpPr>
            <a:spLocks noGrp="1"/>
          </p:cNvSpPr>
          <p:nvPr/>
        </p:nvSpPr>
        <p:spPr>
          <a:xfrm>
            <a:off x="661475" y="3609082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450" b="0" i="0" u="none" cap="none" dirty="0" err="1">
                <a:solidFill>
                  <a:srgbClr val="272525"/>
                </a:solidFill>
                <a:latin typeface="Inter"/>
                <a:ea typeface="Inter"/>
                <a:cs typeface="Inter"/>
              </a:rPr>
              <a:t>Programação</a:t>
            </a: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</a:t>
            </a:r>
            <a:r>
              <a:rPr sz="1450" b="0" i="0" u="none" cap="none" dirty="0" err="1">
                <a:solidFill>
                  <a:srgbClr val="272525"/>
                </a:solidFill>
                <a:latin typeface="Inter"/>
                <a:ea typeface="Inter"/>
                <a:cs typeface="Inter"/>
              </a:rPr>
              <a:t>Orientada</a:t>
            </a: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a </a:t>
            </a:r>
            <a:r>
              <a:rPr sz="1450" b="0" i="0" u="none" cap="none" dirty="0" err="1">
                <a:solidFill>
                  <a:srgbClr val="272525"/>
                </a:solidFill>
                <a:latin typeface="Inter"/>
                <a:ea typeface="Inter"/>
                <a:cs typeface="Inter"/>
              </a:rPr>
              <a:t>Objetos</a:t>
            </a: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— Aula </a:t>
            </a:r>
            <a:r>
              <a:rPr lang="pt-BR" sz="145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6</a:t>
            </a:r>
            <a:endParaRPr sz="1450" b="0" i="0" u="non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4º </a:t>
            </a:r>
            <a:r>
              <a:rPr sz="1450" b="0" i="0" u="none" cap="none" dirty="0" err="1">
                <a:solidFill>
                  <a:srgbClr val="272525"/>
                </a:solidFill>
                <a:latin typeface="Inter"/>
                <a:ea typeface="Inter"/>
                <a:cs typeface="Inter"/>
              </a:rPr>
              <a:t>Semestre</a:t>
            </a: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· </a:t>
            </a:r>
            <a:r>
              <a:rPr sz="1450" b="0" i="0" u="none" cap="none" dirty="0" err="1">
                <a:solidFill>
                  <a:srgbClr val="272525"/>
                </a:solidFill>
                <a:latin typeface="Inter"/>
                <a:ea typeface="Inter"/>
                <a:cs typeface="Inter"/>
              </a:rPr>
              <a:t>Engenharia</a:t>
            </a:r>
            <a:r>
              <a:rPr sz="1450" b="0" i="0" u="none" cap="none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de Software</a:t>
            </a:r>
            <a:endParaRPr sz="1450" b="0" i="0" u="non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8556ABB7-70C3-4390-8282-0899ACB545CE}"/>
              </a:ext>
            </a:extLst>
          </p:cNvPr>
          <p:cNvSpPr>
            <a:spLocks noGrp="1"/>
          </p:cNvSpPr>
          <p:nvPr/>
        </p:nvSpPr>
        <p:spPr>
          <a:xfrm>
            <a:off x="661475" y="4426545"/>
            <a:ext cx="1359461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0F08E80D-774E-458E-B2EC-DEAB85FF4210}"/>
              </a:ext>
            </a:extLst>
          </p:cNvPr>
          <p:cNvSpPr>
            <a:spLocks noGrp="1"/>
          </p:cNvSpPr>
          <p:nvPr/>
        </p:nvSpPr>
        <p:spPr>
          <a:xfrm>
            <a:off x="774879" y="4483199"/>
            <a:ext cx="1742238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sz="1150">
                <a:solidFill>
                  <a:srgbClr val="272525"/>
                </a:solidFill>
                <a:latin typeface="Inter"/>
                <a:ea typeface="Inter"/>
                <a:cs typeface="Inter"/>
              </a:rPr>
              <a:t>POO COM DART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8572213B-C2BD-41AB-8497-DC5C559E9C7E}"/>
              </a:ext>
            </a:extLst>
          </p:cNvPr>
          <p:cNvSpPr>
            <a:spLocks noGrp="1"/>
          </p:cNvSpPr>
          <p:nvPr/>
        </p:nvSpPr>
        <p:spPr>
          <a:xfrm>
            <a:off x="2115390" y="4426545"/>
            <a:ext cx="1307670" cy="287139"/>
          </a:xfrm>
          <a:prstGeom prst="roundRect">
            <a:avLst>
              <a:gd name="adj" fmla="val 22118"/>
            </a:avLst>
          </a:prstGeom>
          <a:noFill/>
          <a:ln w="9525" cmpd="sng">
            <a:solidFill>
              <a:srgbClr val="4950B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32106940-04B9-4773-9F53-7829F7AB17A8}"/>
              </a:ext>
            </a:extLst>
          </p:cNvPr>
          <p:cNvSpPr>
            <a:spLocks noGrp="1"/>
          </p:cNvSpPr>
          <p:nvPr/>
        </p:nvSpPr>
        <p:spPr>
          <a:xfrm>
            <a:off x="2228794" y="4483199"/>
            <a:ext cx="1690447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1150"/>
              <a:buFont typeface="Inter"/>
              <a:buNone/>
            </a:pPr>
            <a:r>
              <a:rPr sz="1150">
                <a:solidFill>
                  <a:srgbClr val="4950BC"/>
                </a:solidFill>
                <a:latin typeface="Inter"/>
                <a:ea typeface="Inter"/>
                <a:cs typeface="Inter"/>
              </a:rPr>
              <a:t>CONTINUAÇÃO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888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>
            <a:extLst>
              <a:ext uri="{FF2B5EF4-FFF2-40B4-BE49-F238E27FC236}">
                <a16:creationId xmlns:a16="http://schemas.microsoft.com/office/drawing/2014/main" id="{90E17E2F-22C7-48E5-A565-880E29D777FC}"/>
              </a:ext>
            </a:extLst>
          </p:cNvPr>
          <p:cNvSpPr>
            <a:spLocks noGrp="1"/>
          </p:cNvSpPr>
          <p:nvPr/>
        </p:nvSpPr>
        <p:spPr>
          <a:xfrm>
            <a:off x="773618" y="819893"/>
            <a:ext cx="10842649" cy="58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Inter"/>
              <a:buNone/>
            </a:pPr>
            <a:r>
              <a:rPr sz="2400" b="1" dirty="0">
                <a:latin typeface="+mj-lt"/>
                <a:ea typeface="+mj-lt"/>
                <a:cs typeface="+mj-lt"/>
              </a:rPr>
              <a:t>O </a:t>
            </a: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Problema</a:t>
            </a:r>
            <a:r>
              <a:rPr sz="2400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do </a:t>
            </a: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Acesso</a:t>
            </a:r>
            <a:r>
              <a:rPr sz="2400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Direto</a:t>
            </a:r>
            <a:r>
              <a:rPr sz="2400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aos</a:t>
            </a:r>
            <a:r>
              <a:rPr sz="2400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Atributos</a:t>
            </a:r>
            <a:endParaRPr sz="2400" b="1" dirty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46" name="Google Shape;246;p24">
            <a:extLst>
              <a:ext uri="{FF2B5EF4-FFF2-40B4-BE49-F238E27FC236}">
                <a16:creationId xmlns:a16="http://schemas.microsoft.com/office/drawing/2014/main" id="{E2E71704-A0EC-4726-BD48-DC285A522899}"/>
              </a:ext>
            </a:extLst>
          </p:cNvPr>
          <p:cNvSpPr>
            <a:spLocks noGrp="1"/>
          </p:cNvSpPr>
          <p:nvPr/>
        </p:nvSpPr>
        <p:spPr>
          <a:xfrm>
            <a:off x="66147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sz="1800" b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O que acontece sem proteção?</a:t>
            </a:r>
            <a:endParaRPr sz="180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47" name="Google Shape;247;p24">
            <a:extLst>
              <a:ext uri="{FF2B5EF4-FFF2-40B4-BE49-F238E27FC236}">
                <a16:creationId xmlns:a16="http://schemas.microsoft.com/office/drawing/2014/main" id="{5AC29DE3-8CEB-431E-A042-BF3684CAB522}"/>
              </a:ext>
            </a:extLst>
          </p:cNvPr>
          <p:cNvSpPr>
            <a:spLocks noGrp="1"/>
          </p:cNvSpPr>
          <p:nvPr/>
        </p:nvSpPr>
        <p:spPr>
          <a:xfrm>
            <a:off x="661476" y="2504777"/>
            <a:ext cx="5096330" cy="182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Quando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os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atributos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são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públicos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, </a:t>
            </a:r>
            <a:r>
              <a:rPr sz="1600" b="1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qualquer</a:t>
            </a:r>
            <a:r>
              <a:rPr sz="1600" b="1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b="1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código</a:t>
            </a:r>
            <a:r>
              <a:rPr sz="1600" b="1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b="1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externo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pode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modificar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o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estado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do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objeto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diretamente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,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sem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passar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pelos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métodos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da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classe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—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ignorando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completamente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as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regras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 de </a:t>
            </a:r>
            <a:r>
              <a:rPr sz="1600" dirty="0" err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negócio</a:t>
            </a:r>
            <a:r>
              <a:rPr sz="1600" dirty="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.</a:t>
            </a:r>
            <a:endParaRPr sz="1600" dirty="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48" name="Google Shape;248;p24">
            <a:extLst>
              <a:ext uri="{FF2B5EF4-FFF2-40B4-BE49-F238E27FC236}">
                <a16:creationId xmlns:a16="http://schemas.microsoft.com/office/drawing/2014/main" id="{ADF4960D-8C4F-4EE6-8DD1-ECF0E6A131E3}"/>
              </a:ext>
            </a:extLst>
          </p:cNvPr>
          <p:cNvSpPr>
            <a:spLocks noGrp="1"/>
          </p:cNvSpPr>
          <p:nvPr/>
        </p:nvSpPr>
        <p:spPr>
          <a:xfrm>
            <a:off x="632910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sz="1800" b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Por que isso é perigoso?</a:t>
            </a:r>
            <a:endParaRPr sz="180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DE81E302-F7EA-441A-8F3B-7027957F585E}"/>
              </a:ext>
            </a:extLst>
          </p:cNvPr>
          <p:cNvSpPr>
            <a:spLocks noGrp="1"/>
          </p:cNvSpPr>
          <p:nvPr/>
        </p:nvSpPr>
        <p:spPr>
          <a:xfrm>
            <a:off x="6434196" y="2527597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450" b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Viola regras de negócio</a:t>
            </a:r>
            <a:r>
              <a:rPr sz="145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: saldo negativo sem que a lógica do saque seja consultada</a:t>
            </a:r>
            <a:endParaRPr sz="145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3F1B597E-844B-4CD4-AB35-CD3B88B807DA}"/>
              </a:ext>
            </a:extLst>
          </p:cNvPr>
          <p:cNvSpPr>
            <a:spLocks noGrp="1"/>
          </p:cNvSpPr>
          <p:nvPr/>
        </p:nvSpPr>
        <p:spPr>
          <a:xfrm>
            <a:off x="6434196" y="3484463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450" b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Estado inconsistente</a:t>
            </a:r>
            <a:r>
              <a:rPr sz="145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: o objeto fica em um estado que a própria classe jamais permitiria</a:t>
            </a:r>
            <a:endParaRPr sz="145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4" name="Google Shape;254;p24">
            <a:extLst>
              <a:ext uri="{FF2B5EF4-FFF2-40B4-BE49-F238E27FC236}">
                <a16:creationId xmlns:a16="http://schemas.microsoft.com/office/drawing/2014/main" id="{59ADAEBF-40F3-4773-9178-A48B67692618}"/>
              </a:ext>
            </a:extLst>
          </p:cNvPr>
          <p:cNvSpPr>
            <a:spLocks noGrp="1"/>
          </p:cNvSpPr>
          <p:nvPr/>
        </p:nvSpPr>
        <p:spPr>
          <a:xfrm>
            <a:off x="6434196" y="4441328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sz="1450" b="1">
                <a:solidFill>
                  <a:srgbClr val="272525"/>
                </a:solidFill>
                <a:latin typeface="+mj-lt"/>
                <a:ea typeface="+mj-lt"/>
                <a:cs typeface="+mj-lt"/>
              </a:rPr>
              <a:t>Manutenção difícil</a:t>
            </a:r>
            <a:r>
              <a:rPr sz="1450">
                <a:solidFill>
                  <a:srgbClr val="272525"/>
                </a:solidFill>
                <a:latin typeface="+mj-lt"/>
                <a:ea typeface="+mj-lt"/>
                <a:cs typeface="+mj-lt"/>
              </a:rPr>
              <a:t>: qualquer mudança na estrutura interna quebra código externo</a:t>
            </a:r>
            <a:endParaRPr sz="145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1C4B98D3-DFB9-4959-8AD7-380E0F1BA173}"/>
              </a:ext>
            </a:extLst>
          </p:cNvPr>
          <p:cNvSpPr>
            <a:spLocks noGrp="1"/>
          </p:cNvSpPr>
          <p:nvPr/>
        </p:nvSpPr>
        <p:spPr>
          <a:xfrm>
            <a:off x="661475" y="4377728"/>
            <a:ext cx="5096330" cy="1968207"/>
          </a:xfrm>
          <a:prstGeom prst="roundRect">
            <a:avLst>
              <a:gd name="adj" fmla="val 5973"/>
            </a:avLst>
          </a:prstGeom>
          <a:solidFill>
            <a:srgbClr val="FFB3B4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267" name="Google Shape;256;p2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618" y="4681485"/>
            <a:ext cx="210185" cy="186035"/>
          </a:xfrm>
          <a:prstGeom prst="rect">
            <a:avLst/>
          </a:prstGeom>
          <a:ln>
            <a:noFill/>
          </a:ln>
        </p:spPr>
      </p:pic>
      <p:sp>
        <p:nvSpPr>
          <p:cNvPr id="257" name="Google Shape;257;p24">
            <a:extLst>
              <a:ext uri="{FF2B5EF4-FFF2-40B4-BE49-F238E27FC236}">
                <a16:creationId xmlns:a16="http://schemas.microsoft.com/office/drawing/2014/main" id="{92BD95E9-E65C-4702-B230-D7D15E8D9882}"/>
              </a:ext>
            </a:extLst>
          </p:cNvPr>
          <p:cNvSpPr>
            <a:spLocks noGrp="1"/>
          </p:cNvSpPr>
          <p:nvPr/>
        </p:nvSpPr>
        <p:spPr>
          <a:xfrm>
            <a:off x="1084117" y="4593074"/>
            <a:ext cx="4251047" cy="153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solução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é </a:t>
            </a:r>
            <a:r>
              <a:rPr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encapsular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: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esconder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o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estado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interno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e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expor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apenas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o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que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é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necessário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através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de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métodos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  <a:r>
              <a:rPr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controlados</a:t>
            </a:r>
            <a:r>
              <a:rPr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.</a:t>
            </a:r>
            <a:endParaRPr dirty="0">
              <a:solidFill>
                <a:schemeClr val="dk1"/>
              </a:solidFill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096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6BB27CB-580A-4887-937C-182E38AD3733}"/>
              </a:ext>
            </a:extLst>
          </p:cNvPr>
          <p:cNvSpPr>
            <a:spLocks noGrp="1"/>
          </p:cNvSpPr>
          <p:nvPr/>
        </p:nvSpPr>
        <p:spPr>
          <a:xfrm>
            <a:off x="834009" y="872014"/>
            <a:ext cx="10668000" cy="58530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400" b="1" dirty="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Encapsulamento</a:t>
            </a:r>
            <a:endParaRPr sz="2400" b="1" dirty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5A8B75B-0FD4-424F-9743-5424C90C2E3A}"/>
              </a:ext>
            </a:extLst>
          </p:cNvPr>
          <p:cNvSpPr>
            <a:spLocks noGrp="1"/>
          </p:cNvSpPr>
          <p:nvPr/>
        </p:nvSpPr>
        <p:spPr>
          <a:xfrm>
            <a:off x="666750" y="1801178"/>
            <a:ext cx="10461498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1" dirty="0" err="1">
                <a:solidFill>
                  <a:srgbClr val="111827"/>
                </a:solidFill>
                <a:latin typeface="+mj-lt"/>
                <a:ea typeface="Inter"/>
              </a:rPr>
              <a:t>Proteção</a:t>
            </a:r>
            <a:r>
              <a:rPr sz="1600" b="1" dirty="0">
                <a:solidFill>
                  <a:srgbClr val="111827"/>
                </a:solidFill>
                <a:latin typeface="+mj-lt"/>
                <a:ea typeface="Inter"/>
              </a:rPr>
              <a:t> do </a:t>
            </a:r>
            <a:r>
              <a:rPr sz="1600" b="1" dirty="0" err="1">
                <a:solidFill>
                  <a:srgbClr val="111827"/>
                </a:solidFill>
                <a:latin typeface="+mj-lt"/>
                <a:ea typeface="Inter"/>
              </a:rPr>
              <a:t>estado</a:t>
            </a:r>
            <a:r>
              <a:rPr sz="1600" b="1" dirty="0">
                <a:solidFill>
                  <a:srgbClr val="111827"/>
                </a:solidFill>
                <a:latin typeface="+mj-lt"/>
                <a:ea typeface="Inter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+mj-lt"/>
                <a:ea typeface="Inter"/>
              </a:rPr>
              <a:t>interno</a:t>
            </a:r>
            <a:r>
              <a:rPr sz="1600" b="1" dirty="0">
                <a:solidFill>
                  <a:srgbClr val="111827"/>
                </a:solidFill>
                <a:latin typeface="+mj-lt"/>
                <a:ea typeface="Inter"/>
              </a:rPr>
              <a:t> de um </a:t>
            </a:r>
            <a:r>
              <a:rPr sz="1600" b="1" dirty="0" err="1">
                <a:solidFill>
                  <a:srgbClr val="111827"/>
                </a:solidFill>
                <a:latin typeface="+mj-lt"/>
                <a:ea typeface="Inter"/>
              </a:rPr>
              <a:t>objeto</a:t>
            </a:r>
            <a:endParaRPr sz="1600" b="1" dirty="0">
              <a:solidFill>
                <a:srgbClr val="111827"/>
              </a:solidFill>
              <a:latin typeface="+mj-lt"/>
              <a:ea typeface="Inter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F71F40-5450-4A6C-B256-C1E6EA99FBFD}"/>
              </a:ext>
            </a:extLst>
          </p:cNvPr>
          <p:cNvSpPr>
            <a:spLocks noGrp="1"/>
          </p:cNvSpPr>
          <p:nvPr/>
        </p:nvSpPr>
        <p:spPr>
          <a:xfrm>
            <a:off x="666750" y="2602230"/>
            <a:ext cx="5238750" cy="1466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60000"/>
              </a:lnSpc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 dirty="0" err="1">
                <a:latin typeface="+mj-lt"/>
                <a:ea typeface="Inter"/>
                <a:cs typeface="Inter"/>
              </a:rPr>
              <a:t>Encapsular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significa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controlar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como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outras</a:t>
            </a:r>
            <a:r>
              <a:rPr sz="1800" b="1" dirty="0">
                <a:latin typeface="+mj-lt"/>
                <a:ea typeface="Inter"/>
                <a:cs typeface="Inter"/>
              </a:rPr>
              <a:t> partes do </a:t>
            </a:r>
            <a:r>
              <a:rPr sz="1800" b="1" dirty="0" err="1">
                <a:latin typeface="+mj-lt"/>
                <a:ea typeface="Inter"/>
                <a:cs typeface="Inter"/>
              </a:rPr>
              <a:t>programa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consultam</a:t>
            </a:r>
            <a:r>
              <a:rPr sz="1800" b="1" dirty="0">
                <a:latin typeface="+mj-lt"/>
                <a:ea typeface="Inter"/>
                <a:cs typeface="Inter"/>
              </a:rPr>
              <a:t> e alteram </a:t>
            </a:r>
            <a:r>
              <a:rPr sz="1800" b="1" dirty="0" err="1">
                <a:latin typeface="+mj-lt"/>
                <a:ea typeface="Inter"/>
                <a:cs typeface="Inter"/>
              </a:rPr>
              <a:t>os</a:t>
            </a:r>
            <a:r>
              <a:rPr sz="1800" b="1" dirty="0">
                <a:latin typeface="+mj-lt"/>
                <a:ea typeface="Inter"/>
                <a:cs typeface="Inter"/>
              </a:rPr>
              <a:t> </a:t>
            </a:r>
            <a:r>
              <a:rPr sz="1800" b="1" dirty="0" err="1">
                <a:latin typeface="+mj-lt"/>
                <a:ea typeface="Inter"/>
                <a:cs typeface="Inter"/>
              </a:rPr>
              <a:t>atributos</a:t>
            </a:r>
            <a:r>
              <a:rPr sz="1800" b="1" dirty="0">
                <a:latin typeface="+mj-lt"/>
                <a:ea typeface="Inter"/>
                <a:cs typeface="Inter"/>
              </a:rPr>
              <a:t> de um </a:t>
            </a:r>
            <a:r>
              <a:rPr sz="1800" b="1" dirty="0" err="1">
                <a:latin typeface="+mj-lt"/>
                <a:ea typeface="Inter"/>
                <a:cs typeface="Inter"/>
              </a:rPr>
              <a:t>objeto</a:t>
            </a:r>
            <a:r>
              <a:rPr sz="1800" b="1" dirty="0">
                <a:latin typeface="+mj-lt"/>
                <a:ea typeface="Inter"/>
                <a:cs typeface="Inter"/>
              </a:rPr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ED466F-3951-424E-AC0A-E99FFEC31339}"/>
              </a:ext>
            </a:extLst>
          </p:cNvPr>
          <p:cNvSpPr>
            <a:spLocks noGrp="1"/>
          </p:cNvSpPr>
          <p:nvPr/>
        </p:nvSpPr>
        <p:spPr>
          <a:xfrm>
            <a:off x="666750" y="4335780"/>
            <a:ext cx="5238750" cy="154381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just">
              <a:lnSpc>
                <a:spcPct val="150000"/>
              </a:lnSpc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endParaRPr b="0" dirty="0">
              <a:latin typeface="+mj-lt"/>
              <a:ea typeface="Inter"/>
              <a:cs typeface="Inter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323E041-5103-4621-9B34-A19677DE836B}"/>
              </a:ext>
            </a:extLst>
          </p:cNvPr>
          <p:cNvSpPr>
            <a:spLocks noGrp="1"/>
          </p:cNvSpPr>
          <p:nvPr/>
        </p:nvSpPr>
        <p:spPr>
          <a:xfrm>
            <a:off x="6837426" y="2173605"/>
            <a:ext cx="4762500" cy="3095625"/>
          </a:xfrm>
          <a:prstGeom prst="roundRect">
            <a:avLst>
              <a:gd name="adj" fmla="val 2462"/>
            </a:avLst>
          </a:prstGeom>
          <a:solidFill>
            <a:srgbClr val="E7E8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B01EFB7-51F6-4016-A55A-A79F025FF6B1}"/>
              </a:ext>
            </a:extLst>
          </p:cNvPr>
          <p:cNvSpPr>
            <a:spLocks noGrp="1"/>
          </p:cNvSpPr>
          <p:nvPr/>
        </p:nvSpPr>
        <p:spPr>
          <a:xfrm>
            <a:off x="7123176" y="2459355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350" b="1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OBJETO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E09181-F609-423A-9055-72C17FFB923D}"/>
              </a:ext>
            </a:extLst>
          </p:cNvPr>
          <p:cNvSpPr>
            <a:spLocks noGrp="1"/>
          </p:cNvSpPr>
          <p:nvPr/>
        </p:nvSpPr>
        <p:spPr>
          <a:xfrm>
            <a:off x="7504176" y="3199638"/>
            <a:ext cx="1476375" cy="104355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6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6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endParaRPr sz="16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ctr">
              <a:defRPr sz="16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6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endParaRPr sz="16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ctr">
              <a:defRPr sz="16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6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endParaRPr sz="16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A16021-7DD4-4607-921D-AA506D67C7A0}"/>
              </a:ext>
            </a:extLst>
          </p:cNvPr>
          <p:cNvSpPr>
            <a:spLocks noGrp="1"/>
          </p:cNvSpPr>
          <p:nvPr/>
        </p:nvSpPr>
        <p:spPr>
          <a:xfrm>
            <a:off x="9504426" y="3249930"/>
            <a:ext cx="1476375" cy="942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650" b="0">
                <a:solidFill>
                  <a:srgbClr val="16835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16835B"/>
                </a:solidFill>
                <a:latin typeface="Consolas"/>
                <a:ea typeface="Consolas"/>
                <a:cs typeface="Consolas"/>
              </a:rPr>
              <a:t>getters</a:t>
            </a:r>
          </a:p>
          <a:p>
            <a:pPr algn="ctr">
              <a:defRPr sz="1650" b="0">
                <a:solidFill>
                  <a:srgbClr val="16835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16835B"/>
                </a:solidFill>
                <a:latin typeface="Consolas"/>
                <a:ea typeface="Consolas"/>
                <a:cs typeface="Consolas"/>
              </a:rPr>
              <a:t>setters</a:t>
            </a:r>
          </a:p>
          <a:p>
            <a:pPr algn="ctr">
              <a:defRPr sz="1650" b="0">
                <a:solidFill>
                  <a:srgbClr val="16835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 err="1">
                <a:solidFill>
                  <a:srgbClr val="16835B"/>
                </a:solidFill>
                <a:latin typeface="Consolas"/>
                <a:ea typeface="Consolas"/>
                <a:cs typeface="Consolas"/>
              </a:rPr>
              <a:t>métodos</a:t>
            </a:r>
            <a:endParaRPr sz="1650" b="0" dirty="0">
              <a:solidFill>
                <a:srgbClr val="16835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EF59459-B665-421F-9ABA-D1A643D2DA17}"/>
              </a:ext>
            </a:extLst>
          </p:cNvPr>
          <p:cNvSpPr>
            <a:spLocks noGrp="1"/>
          </p:cNvSpPr>
          <p:nvPr/>
        </p:nvSpPr>
        <p:spPr>
          <a:xfrm>
            <a:off x="6837426" y="5602605"/>
            <a:ext cx="4762500" cy="742950"/>
          </a:xfrm>
          <a:prstGeom prst="roundRect">
            <a:avLst>
              <a:gd name="adj" fmla="val 7692"/>
            </a:avLst>
          </a:prstGeom>
          <a:solidFill>
            <a:srgbClr val="DCEE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E09957-1EB1-4B74-917C-659D1E2DEB21}"/>
              </a:ext>
            </a:extLst>
          </p:cNvPr>
          <p:cNvSpPr>
            <a:spLocks noGrp="1"/>
          </p:cNvSpPr>
          <p:nvPr/>
        </p:nvSpPr>
        <p:spPr>
          <a:xfrm>
            <a:off x="7008876" y="5735955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73B78"/>
                </a:solidFill>
                <a:latin typeface="Inter"/>
                <a:ea typeface="Inter"/>
                <a:cs typeface="Inter"/>
              </a:rPr>
              <a:t>O objeto decide quais alterações são válidas.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F66F6C8-E461-77EC-C8DF-3DFB7D143D43}"/>
              </a:ext>
            </a:extLst>
          </p:cNvPr>
          <p:cNvSpPr txBox="1"/>
          <p:nvPr/>
        </p:nvSpPr>
        <p:spPr>
          <a:xfrm>
            <a:off x="834009" y="4554855"/>
            <a:ext cx="5071491" cy="1363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lang="pt-BR" dirty="0">
                <a:solidFill>
                  <a:srgbClr val="111827"/>
                </a:solidFill>
                <a:latin typeface="+mj-lt"/>
                <a:ea typeface="Inter"/>
              </a:rPr>
              <a:t>A classe mantém os dados sob sua responsabilidade e oferece métodos, </a:t>
            </a:r>
            <a:r>
              <a:rPr lang="pt-BR" dirty="0" err="1">
                <a:solidFill>
                  <a:srgbClr val="111827"/>
                </a:solidFill>
                <a:latin typeface="+mj-lt"/>
                <a:ea typeface="Inter"/>
              </a:rPr>
              <a:t>getters</a:t>
            </a:r>
            <a:r>
              <a:rPr lang="pt-BR" dirty="0">
                <a:solidFill>
                  <a:srgbClr val="111827"/>
                </a:solidFill>
                <a:latin typeface="+mj-lt"/>
                <a:ea typeface="Inter"/>
              </a:rPr>
              <a:t> e </a:t>
            </a:r>
            <a:r>
              <a:rPr lang="pt-BR" dirty="0" err="1">
                <a:solidFill>
                  <a:srgbClr val="111827"/>
                </a:solidFill>
                <a:latin typeface="+mj-lt"/>
                <a:ea typeface="Inter"/>
              </a:rPr>
              <a:t>setters</a:t>
            </a:r>
            <a:r>
              <a:rPr lang="pt-BR" dirty="0">
                <a:solidFill>
                  <a:srgbClr val="111827"/>
                </a:solidFill>
                <a:latin typeface="+mj-lt"/>
                <a:ea typeface="Inter"/>
              </a:rPr>
              <a:t> como pontos de acesso.</a:t>
            </a:r>
          </a:p>
        </p:txBody>
      </p:sp>
    </p:spTree>
    <p:extLst>
      <p:ext uri="{BB962C8B-B14F-4D97-AF65-F5344CB8AC3E}">
        <p14:creationId xmlns:p14="http://schemas.microsoft.com/office/powerpoint/2010/main" val="150675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7B00FA37-0F9C-48D2-BBFE-223795BD6C71}"/>
              </a:ext>
            </a:extLst>
          </p:cNvPr>
          <p:cNvSpPr>
            <a:spLocks noGrp="1"/>
          </p:cNvSpPr>
          <p:nvPr/>
        </p:nvSpPr>
        <p:spPr>
          <a:xfrm>
            <a:off x="762000" y="84772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8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Por </a:t>
            </a:r>
            <a:r>
              <a:rPr sz="28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que</a:t>
            </a:r>
            <a:r>
              <a:rPr sz="28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</a:t>
            </a:r>
            <a:r>
              <a:rPr sz="28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encapsular</a:t>
            </a:r>
            <a:r>
              <a:rPr sz="28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B1596D-1BC9-41B1-B49F-163BB9702171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</a:rPr>
              <a:t>Acesso</a:t>
            </a:r>
            <a:r>
              <a:rPr sz="1575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</a:rPr>
              <a:t>direto</a:t>
            </a:r>
            <a:r>
              <a:rPr sz="1575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</a:rPr>
              <a:t>permite</a:t>
            </a:r>
            <a:r>
              <a:rPr sz="1575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</a:rPr>
              <a:t>estados</a:t>
            </a:r>
            <a:r>
              <a:rPr sz="1575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</a:rPr>
              <a:t>inválidos</a:t>
            </a:r>
            <a:endParaRPr sz="1575" b="1" dirty="0">
              <a:solidFill>
                <a:srgbClr val="111827"/>
              </a:solidFill>
              <a:latin typeface="Inter"/>
              <a:ea typeface="Inter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1DF1219-31A0-4F29-A5A6-7A2DB3BFBE48}"/>
              </a:ext>
            </a:extLst>
          </p:cNvPr>
          <p:cNvSpPr>
            <a:spLocks noGrp="1"/>
          </p:cNvSpPr>
          <p:nvPr/>
        </p:nvSpPr>
        <p:spPr>
          <a:xfrm>
            <a:off x="666750" y="2374011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Sem </a:t>
            </a:r>
            <a:r>
              <a:rPr sz="1575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proteção</a:t>
            </a:r>
            <a:endParaRPr sz="1575" b="1" dirty="0">
              <a:solidFill>
                <a:srgbClr val="11182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4E7EE40-05B0-4506-9454-7C12BDA21D58}"/>
              </a:ext>
            </a:extLst>
          </p:cNvPr>
          <p:cNvSpPr>
            <a:spLocks noGrp="1"/>
          </p:cNvSpPr>
          <p:nvPr/>
        </p:nvSpPr>
        <p:spPr>
          <a:xfrm>
            <a:off x="666750" y="2897886"/>
            <a:ext cx="4953000" cy="247650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8F7BD5-2727-4532-9782-C80FC1A0A451}"/>
              </a:ext>
            </a:extLst>
          </p:cNvPr>
          <p:cNvSpPr>
            <a:spLocks noGrp="1"/>
          </p:cNvSpPr>
          <p:nvPr/>
        </p:nvSpPr>
        <p:spPr>
          <a:xfrm>
            <a:off x="857250" y="3050286"/>
            <a:ext cx="4572000" cy="2171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Teclado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', 150, 10);</a:t>
            </a:r>
          </a:p>
          <a:p>
            <a:endParaRPr sz="13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produto.preco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-500;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produto.quantidade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-20;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77CC52D-456C-44B9-9549-C49B09A41915}"/>
              </a:ext>
            </a:extLst>
          </p:cNvPr>
          <p:cNvSpPr>
            <a:spLocks noGrp="1"/>
          </p:cNvSpPr>
          <p:nvPr/>
        </p:nvSpPr>
        <p:spPr>
          <a:xfrm>
            <a:off x="6572250" y="2374011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Com encapsulamento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F5ED773-2D4C-42EE-915D-6F5A01464919}"/>
              </a:ext>
            </a:extLst>
          </p:cNvPr>
          <p:cNvSpPr>
            <a:spLocks noGrp="1"/>
          </p:cNvSpPr>
          <p:nvPr/>
        </p:nvSpPr>
        <p:spPr>
          <a:xfrm>
            <a:off x="6572250" y="2897886"/>
            <a:ext cx="4953000" cy="247650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0642A1E-941A-4529-873E-19660E2C0011}"/>
              </a:ext>
            </a:extLst>
          </p:cNvPr>
          <p:cNvSpPr>
            <a:spLocks noGrp="1"/>
          </p:cNvSpPr>
          <p:nvPr/>
        </p:nvSpPr>
        <p:spPr>
          <a:xfrm>
            <a:off x="6762750" y="3050286"/>
            <a:ext cx="4572000" cy="2171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produto.preco = -500;</a:t>
            </a:r>
          </a:p>
          <a:p>
            <a:endParaRPr sz="1350" b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// O setter verifica o valor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// e impede a alteração inválida.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56002DB-DF17-4262-BE11-FC6FAFE7EDA5}"/>
              </a:ext>
            </a:extLst>
          </p:cNvPr>
          <p:cNvSpPr>
            <a:spLocks noGrp="1"/>
          </p:cNvSpPr>
          <p:nvPr/>
        </p:nvSpPr>
        <p:spPr>
          <a:xfrm>
            <a:off x="666750" y="5803011"/>
            <a:ext cx="10858500" cy="781050"/>
          </a:xfrm>
          <a:prstGeom prst="roundRect">
            <a:avLst>
              <a:gd name="adj" fmla="val 7317"/>
            </a:avLst>
          </a:prstGeom>
          <a:solidFill>
            <a:srgbClr val="FCE2E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E908046-1DA5-4C9F-8CD2-49DB791FFF75}"/>
              </a:ext>
            </a:extLst>
          </p:cNvPr>
          <p:cNvSpPr>
            <a:spLocks noGrp="1"/>
          </p:cNvSpPr>
          <p:nvPr/>
        </p:nvSpPr>
        <p:spPr>
          <a:xfrm>
            <a:off x="838200" y="5936361"/>
            <a:ext cx="1051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8B1D2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B1D2C"/>
                </a:solidFill>
                <a:latin typeface="Inter"/>
                <a:ea typeface="Inter"/>
                <a:cs typeface="Inter"/>
              </a:rPr>
              <a:t>A classe protege suas regras mesmo quando o restante do sistema muda.</a:t>
            </a:r>
          </a:p>
        </p:txBody>
      </p:sp>
    </p:spTree>
    <p:extLst>
      <p:ext uri="{BB962C8B-B14F-4D97-AF65-F5344CB8AC3E}">
        <p14:creationId xmlns:p14="http://schemas.microsoft.com/office/powerpoint/2010/main" val="183571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D54F4C14-4D8E-43D7-A314-8F07BD0686CC}"/>
              </a:ext>
            </a:extLst>
          </p:cNvPr>
          <p:cNvSpPr>
            <a:spLocks noGrp="1"/>
          </p:cNvSpPr>
          <p:nvPr/>
        </p:nvSpPr>
        <p:spPr>
          <a:xfrm>
            <a:off x="685800" y="818388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Atributos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privados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em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Dart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06B9CF-FE8B-4FA5-9102-FE4509B9CA70}"/>
              </a:ext>
            </a:extLst>
          </p:cNvPr>
          <p:cNvSpPr>
            <a:spLocks noGrp="1"/>
          </p:cNvSpPr>
          <p:nvPr/>
        </p:nvSpPr>
        <p:spPr>
          <a:xfrm>
            <a:off x="666750" y="1828038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sublinhado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indica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privacidade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no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escopo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da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biblioteca</a:t>
            </a:r>
            <a:endParaRPr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BDFA8F-666B-4A2D-8361-0BD459D01F21}"/>
              </a:ext>
            </a:extLst>
          </p:cNvPr>
          <p:cNvSpPr>
            <a:spLocks noGrp="1"/>
          </p:cNvSpPr>
          <p:nvPr/>
        </p:nvSpPr>
        <p:spPr>
          <a:xfrm>
            <a:off x="666750" y="2740914"/>
            <a:ext cx="5810250" cy="2497074"/>
          </a:xfrm>
          <a:prstGeom prst="roundRect">
            <a:avLst>
              <a:gd name="adj" fmla="val 1538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B30C20-B5AF-4FE7-883D-6B6078240C77}"/>
              </a:ext>
            </a:extLst>
          </p:cNvPr>
          <p:cNvSpPr>
            <a:spLocks noGrp="1"/>
          </p:cNvSpPr>
          <p:nvPr/>
        </p:nvSpPr>
        <p:spPr>
          <a:xfrm>
            <a:off x="857250" y="2893314"/>
            <a:ext cx="5429250" cy="223494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int 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endParaRPr sz="150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(this._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, this._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, this._</a:t>
            </a: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0C2C50-648E-43A6-B7D5-F83B6C71AC4C}"/>
              </a:ext>
            </a:extLst>
          </p:cNvPr>
          <p:cNvSpPr>
            <a:spLocks noGrp="1"/>
          </p:cNvSpPr>
          <p:nvPr/>
        </p:nvSpPr>
        <p:spPr>
          <a:xfrm>
            <a:off x="7181850" y="2228088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endParaRPr sz="1575" b="1" dirty="0">
              <a:solidFill>
                <a:srgbClr val="11182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ADA037-EFDB-4377-89D7-E50CBAB53BF0}"/>
              </a:ext>
            </a:extLst>
          </p:cNvPr>
          <p:cNvSpPr>
            <a:spLocks noGrp="1"/>
          </p:cNvSpPr>
          <p:nvPr/>
        </p:nvSpPr>
        <p:spPr>
          <a:xfrm>
            <a:off x="7181850" y="2586609"/>
            <a:ext cx="409575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just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lang="pt-BR" sz="16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 que muda</a:t>
            </a:r>
          </a:p>
          <a:p>
            <a:pPr algn="just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endParaRPr lang="pt-BR"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just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1. O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atributo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recebe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_ antes do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nome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just"/>
            <a:endParaRPr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just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2.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Arquivos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externos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à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biblioteca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não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acessam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o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atributo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diretamente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just"/>
            <a:endParaRPr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just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3. A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classe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define a forma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correta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leitura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e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alteração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B2595DE-1BC8-47C4-AEDA-7252C4526019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58500" cy="609600"/>
          </a:xfrm>
          <a:prstGeom prst="roundRect">
            <a:avLst>
              <a:gd name="adj" fmla="val 9375"/>
            </a:avLst>
          </a:prstGeom>
          <a:solidFill>
            <a:srgbClr val="FFF2B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114A9A-0D21-4DB9-BEC3-2A3AED1A215E}"/>
              </a:ext>
            </a:extLst>
          </p:cNvPr>
          <p:cNvSpPr>
            <a:spLocks noGrp="1"/>
          </p:cNvSpPr>
          <p:nvPr/>
        </p:nvSpPr>
        <p:spPr>
          <a:xfrm>
            <a:off x="838200" y="5943600"/>
            <a:ext cx="10515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B4B0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B4B00"/>
                </a:solidFill>
                <a:latin typeface="Inter"/>
                <a:ea typeface="Inter"/>
                <a:cs typeface="Inter"/>
              </a:rPr>
              <a:t>Em Dart, privado significa privado para a biblioteca, não somente para a classe.</a:t>
            </a:r>
          </a:p>
        </p:txBody>
      </p:sp>
    </p:spTree>
    <p:extLst>
      <p:ext uri="{BB962C8B-B14F-4D97-AF65-F5344CB8AC3E}">
        <p14:creationId xmlns:p14="http://schemas.microsoft.com/office/powerpoint/2010/main" val="71657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44CE2E7A-C304-4C0C-8EF7-46105F8DC4AB}"/>
              </a:ext>
            </a:extLst>
          </p:cNvPr>
          <p:cNvSpPr>
            <a:spLocks noGrp="1"/>
          </p:cNvSpPr>
          <p:nvPr/>
        </p:nvSpPr>
        <p:spPr>
          <a:xfrm>
            <a:off x="685800" y="89344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4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Organização</a:t>
            </a:r>
            <a:r>
              <a:rPr sz="24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em</a:t>
            </a:r>
            <a:r>
              <a:rPr sz="24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arquivos</a:t>
            </a:r>
            <a:endParaRPr sz="2400" b="1" dirty="0">
              <a:solidFill>
                <a:srgbClr val="11182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B8CA6BD-49E2-4256-B085-414EC9A76FC8}"/>
              </a:ext>
            </a:extLst>
          </p:cNvPr>
          <p:cNvSpPr>
            <a:spLocks noGrp="1"/>
          </p:cNvSpPr>
          <p:nvPr/>
        </p:nvSpPr>
        <p:spPr>
          <a:xfrm>
            <a:off x="666750" y="1882521"/>
            <a:ext cx="10562082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Separar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a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classe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torna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a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privacidade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visível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na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</a:rPr>
              <a:t>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</a:rPr>
              <a:t>prática</a:t>
            </a:r>
            <a:endParaRPr sz="2100" b="1" dirty="0">
              <a:solidFill>
                <a:srgbClr val="111827"/>
              </a:solidFill>
              <a:latin typeface="Inter"/>
              <a:ea typeface="Inter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09F613-F952-4949-91D3-DF4713B12979}"/>
              </a:ext>
            </a:extLst>
          </p:cNvPr>
          <p:cNvSpPr>
            <a:spLocks noGrp="1"/>
          </p:cNvSpPr>
          <p:nvPr/>
        </p:nvSpPr>
        <p:spPr>
          <a:xfrm>
            <a:off x="666750" y="2928747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lib/produto.dart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2374F61-F72B-466A-AB4B-ED68D85070C2}"/>
              </a:ext>
            </a:extLst>
          </p:cNvPr>
          <p:cNvSpPr>
            <a:spLocks noGrp="1"/>
          </p:cNvSpPr>
          <p:nvPr/>
        </p:nvSpPr>
        <p:spPr>
          <a:xfrm>
            <a:off x="666750" y="3404997"/>
            <a:ext cx="4953000" cy="1978914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818234-B940-4A38-9271-041623A93BB1}"/>
              </a:ext>
            </a:extLst>
          </p:cNvPr>
          <p:cNvSpPr>
            <a:spLocks noGrp="1"/>
          </p:cNvSpPr>
          <p:nvPr/>
        </p:nvSpPr>
        <p:spPr>
          <a:xfrm>
            <a:off x="857250" y="3557397"/>
            <a:ext cx="4572000" cy="161239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endParaRPr sz="14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(this._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, this._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AB865F5-1F55-480F-B6C5-033A1663E6F9}"/>
              </a:ext>
            </a:extLst>
          </p:cNvPr>
          <p:cNvSpPr>
            <a:spLocks noGrp="1"/>
          </p:cNvSpPr>
          <p:nvPr/>
        </p:nvSpPr>
        <p:spPr>
          <a:xfrm>
            <a:off x="6572250" y="2928747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bin/main.dart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04A6933-AC22-4E64-BF04-77C674B8731A}"/>
              </a:ext>
            </a:extLst>
          </p:cNvPr>
          <p:cNvSpPr>
            <a:spLocks noGrp="1"/>
          </p:cNvSpPr>
          <p:nvPr/>
        </p:nvSpPr>
        <p:spPr>
          <a:xfrm>
            <a:off x="6572250" y="3404997"/>
            <a:ext cx="4953000" cy="1978914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457242-4728-4CBA-A534-F0041CE4FA10}"/>
              </a:ext>
            </a:extLst>
          </p:cNvPr>
          <p:cNvSpPr>
            <a:spLocks noGrp="1"/>
          </p:cNvSpPr>
          <p:nvPr/>
        </p:nvSpPr>
        <p:spPr>
          <a:xfrm>
            <a:off x="6762750" y="3557397"/>
            <a:ext cx="4572000" cy="1743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import '../lib/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produto.dart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';</a:t>
            </a:r>
          </a:p>
          <a:p>
            <a:endParaRPr sz="14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p =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('Mouse', 80);</a:t>
            </a:r>
          </a:p>
          <a:p>
            <a:endParaRPr sz="14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// print(p._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  //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erro</a:t>
            </a:r>
            <a:endParaRPr sz="14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6102B35-6262-4AC9-8043-BB79271311B1}"/>
              </a:ext>
            </a:extLst>
          </p:cNvPr>
          <p:cNvSpPr>
            <a:spLocks noGrp="1"/>
          </p:cNvSpPr>
          <p:nvPr/>
        </p:nvSpPr>
        <p:spPr>
          <a:xfrm>
            <a:off x="666750" y="5851779"/>
            <a:ext cx="10858500" cy="742950"/>
          </a:xfrm>
          <a:prstGeom prst="roundRect">
            <a:avLst>
              <a:gd name="adj" fmla="val 7692"/>
            </a:avLst>
          </a:prstGeom>
          <a:solidFill>
            <a:srgbClr val="DCEE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82F82C-C41C-4BE7-93DF-B7A28DD06BF3}"/>
              </a:ext>
            </a:extLst>
          </p:cNvPr>
          <p:cNvSpPr>
            <a:spLocks noGrp="1"/>
          </p:cNvSpPr>
          <p:nvPr/>
        </p:nvSpPr>
        <p:spPr>
          <a:xfrm>
            <a:off x="838200" y="5985129"/>
            <a:ext cx="10515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73B78"/>
                </a:solidFill>
                <a:latin typeface="Inter"/>
                <a:ea typeface="Inter"/>
                <a:cs typeface="Inter"/>
              </a:rPr>
              <a:t>A tentativa de acessar _preco fora da biblioteca gera erro de compilação.</a:t>
            </a:r>
          </a:p>
        </p:txBody>
      </p:sp>
    </p:spTree>
    <p:extLst>
      <p:ext uri="{BB962C8B-B14F-4D97-AF65-F5344CB8AC3E}">
        <p14:creationId xmlns:p14="http://schemas.microsoft.com/office/powerpoint/2010/main" val="88325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88D2237-ABCE-459F-9495-9E090A226A7D}"/>
              </a:ext>
            </a:extLst>
          </p:cNvPr>
          <p:cNvSpPr>
            <a:spLocks noGrp="1"/>
          </p:cNvSpPr>
          <p:nvPr/>
        </p:nvSpPr>
        <p:spPr>
          <a:xfrm>
            <a:off x="762000" y="81915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Getters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2C3FCED-5550-4865-A357-0EC401DEEF57}"/>
              </a:ext>
            </a:extLst>
          </p:cNvPr>
          <p:cNvSpPr>
            <a:spLocks noGrp="1"/>
          </p:cNvSpPr>
          <p:nvPr/>
        </p:nvSpPr>
        <p:spPr>
          <a:xfrm>
            <a:off x="696849" y="18002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Leitura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controlada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dos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atributos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privados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47835E3-C03D-4214-A17A-16CF79B5E657}"/>
              </a:ext>
            </a:extLst>
          </p:cNvPr>
          <p:cNvSpPr>
            <a:spLocks noGrp="1"/>
          </p:cNvSpPr>
          <p:nvPr/>
        </p:nvSpPr>
        <p:spPr>
          <a:xfrm>
            <a:off x="762000" y="2433255"/>
            <a:ext cx="5619750" cy="3152013"/>
          </a:xfrm>
          <a:prstGeom prst="roundRect">
            <a:avLst>
              <a:gd name="adj" fmla="val 125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969720-A18E-442A-AEAE-B7E7C790097C}"/>
              </a:ext>
            </a:extLst>
          </p:cNvPr>
          <p:cNvSpPr>
            <a:spLocks noGrp="1"/>
          </p:cNvSpPr>
          <p:nvPr/>
        </p:nvSpPr>
        <p:spPr>
          <a:xfrm>
            <a:off x="952500" y="2585655"/>
            <a:ext cx="5238750" cy="284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'';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0;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int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0;</a:t>
            </a:r>
          </a:p>
          <a:p>
            <a:endParaRPr sz="13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get 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return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endParaRPr sz="1350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get 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valorEmEstoque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return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* _</a:t>
            </a:r>
            <a:r>
              <a:rPr sz="135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35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77482E-2FD0-406F-8C5B-7855D1D2D63F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Uso no main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596FA85-D336-4E55-854B-E8DA35EEFFA0}"/>
              </a:ext>
            </a:extLst>
          </p:cNvPr>
          <p:cNvSpPr>
            <a:spLocks noGrp="1"/>
          </p:cNvSpPr>
          <p:nvPr/>
        </p:nvSpPr>
        <p:spPr>
          <a:xfrm>
            <a:off x="6953250" y="2324100"/>
            <a:ext cx="4095750" cy="883157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1459B4-2481-40FF-BA84-5DDA7F850A34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3714750" cy="57073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print(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print(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produto.valorEmEstoque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76E1B78-0453-479B-85C0-FD822699C879}"/>
              </a:ext>
            </a:extLst>
          </p:cNvPr>
          <p:cNvSpPr>
            <a:spLocks noGrp="1"/>
          </p:cNvSpPr>
          <p:nvPr/>
        </p:nvSpPr>
        <p:spPr>
          <a:xfrm>
            <a:off x="6953250" y="3650744"/>
            <a:ext cx="409575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just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getter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parece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um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atributo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durante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o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uso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, mas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executa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um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método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15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leitura</a:t>
            </a:r>
            <a:r>
              <a:rPr sz="15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714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434436D-8052-454A-994F-91BE559DFA00}"/>
              </a:ext>
            </a:extLst>
          </p:cNvPr>
          <p:cNvSpPr>
            <a:spLocks noGrp="1"/>
          </p:cNvSpPr>
          <p:nvPr/>
        </p:nvSpPr>
        <p:spPr>
          <a:xfrm>
            <a:off x="762000" y="9144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Setters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9D44C5-7F01-43D4-A60E-7FE201B4C1CA}"/>
              </a:ext>
            </a:extLst>
          </p:cNvPr>
          <p:cNvSpPr>
            <a:spLocks noGrp="1"/>
          </p:cNvSpPr>
          <p:nvPr/>
        </p:nvSpPr>
        <p:spPr>
          <a:xfrm>
            <a:off x="685800" y="1657349"/>
            <a:ext cx="588645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Alteração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controlada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com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validação</a:t>
            </a:r>
            <a:endParaRPr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AD4253-2479-4193-B4D4-9565462FDF9A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5905500" cy="2486025"/>
          </a:xfrm>
          <a:prstGeom prst="roundRect">
            <a:avLst>
              <a:gd name="adj" fmla="val 1644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AFEF6B-0558-4F0A-BB3F-3F937D5C240A}"/>
              </a:ext>
            </a:extLst>
          </p:cNvPr>
          <p:cNvSpPr>
            <a:spLocks noGrp="1"/>
          </p:cNvSpPr>
          <p:nvPr/>
        </p:nvSpPr>
        <p:spPr>
          <a:xfrm>
            <a:off x="857250" y="2556700"/>
            <a:ext cx="5524500" cy="21160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set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(double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if (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&lt;= 0) {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throw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ArgumentError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  'O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preço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deve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ser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maior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zero.'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);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endParaRPr sz="14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_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A0FC02-1E62-459B-9A23-30C67FEF546F}"/>
              </a:ext>
            </a:extLst>
          </p:cNvPr>
          <p:cNvSpPr>
            <a:spLocks noGrp="1"/>
          </p:cNvSpPr>
          <p:nvPr/>
        </p:nvSpPr>
        <p:spPr>
          <a:xfrm>
            <a:off x="7143750" y="1662112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 setter </a:t>
            </a:r>
            <a:r>
              <a:rPr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recebe</a:t>
            </a:r>
            <a:r>
              <a:rPr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um valor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2E6A54-B788-4F46-A98F-3E3D4E8B8EA3}"/>
              </a:ext>
            </a:extLst>
          </p:cNvPr>
          <p:cNvSpPr>
            <a:spLocks noGrp="1"/>
          </p:cNvSpPr>
          <p:nvPr/>
        </p:nvSpPr>
        <p:spPr>
          <a:xfrm>
            <a:off x="7143750" y="2098381"/>
            <a:ext cx="3810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Ele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verifica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a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regra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antes de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modificar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o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atributo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privado.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F7651CF-68B4-451F-BC0D-CBF4B25E1D1A}"/>
              </a:ext>
            </a:extLst>
          </p:cNvPr>
          <p:cNvSpPr>
            <a:spLocks noGrp="1"/>
          </p:cNvSpPr>
          <p:nvPr/>
        </p:nvSpPr>
        <p:spPr>
          <a:xfrm>
            <a:off x="7143750" y="305852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Uso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5625F0E-A3E3-414F-AFAC-6A20A6454633}"/>
              </a:ext>
            </a:extLst>
          </p:cNvPr>
          <p:cNvSpPr>
            <a:spLocks noGrp="1"/>
          </p:cNvSpPr>
          <p:nvPr/>
        </p:nvSpPr>
        <p:spPr>
          <a:xfrm>
            <a:off x="7143750" y="3494794"/>
            <a:ext cx="3810000" cy="714375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51BC56-7154-46B1-9BD8-64435FFCA4EF}"/>
              </a:ext>
            </a:extLst>
          </p:cNvPr>
          <p:cNvSpPr>
            <a:spLocks noGrp="1"/>
          </p:cNvSpPr>
          <p:nvPr/>
        </p:nvSpPr>
        <p:spPr>
          <a:xfrm>
            <a:off x="7334250" y="3663481"/>
            <a:ext cx="3429000" cy="37699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produto.preco</a:t>
            </a:r>
            <a:r>
              <a:rPr sz="1500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200;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48963B1-8D15-4ACA-9783-12FCC4A614A8}"/>
              </a:ext>
            </a:extLst>
          </p:cNvPr>
          <p:cNvSpPr>
            <a:spLocks noGrp="1"/>
          </p:cNvSpPr>
          <p:nvPr/>
        </p:nvSpPr>
        <p:spPr>
          <a:xfrm>
            <a:off x="666750" y="5667375"/>
            <a:ext cx="10858500" cy="685800"/>
          </a:xfrm>
          <a:prstGeom prst="roundRect">
            <a:avLst>
              <a:gd name="adj" fmla="val 8333"/>
            </a:avLst>
          </a:prstGeom>
          <a:solidFill>
            <a:srgbClr val="FFF2B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C6B9EE-8019-4732-9FAE-C004CED08952}"/>
              </a:ext>
            </a:extLst>
          </p:cNvPr>
          <p:cNvSpPr>
            <a:spLocks noGrp="1"/>
          </p:cNvSpPr>
          <p:nvPr/>
        </p:nvSpPr>
        <p:spPr>
          <a:xfrm>
            <a:off x="838200" y="5800725"/>
            <a:ext cx="105156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B4B00"/>
                </a:solidFill>
                <a:latin typeface="Inter"/>
                <a:ea typeface="Inter"/>
                <a:cs typeface="Inter"/>
              </a:defRPr>
            </a:pPr>
            <a:r>
              <a:rPr sz="1275" b="0" dirty="0">
                <a:solidFill>
                  <a:srgbClr val="6B4B00"/>
                </a:solidFill>
                <a:latin typeface="Inter"/>
                <a:ea typeface="Inter"/>
                <a:cs typeface="Inter"/>
              </a:rPr>
              <a:t>Se o valor for </a:t>
            </a:r>
            <a:r>
              <a:rPr sz="1275" b="0" dirty="0" err="1">
                <a:solidFill>
                  <a:srgbClr val="6B4B00"/>
                </a:solidFill>
                <a:latin typeface="Inter"/>
                <a:ea typeface="Inter"/>
                <a:cs typeface="Inter"/>
              </a:rPr>
              <a:t>inválido</a:t>
            </a:r>
            <a:r>
              <a:rPr sz="1275" b="0" dirty="0">
                <a:solidFill>
                  <a:srgbClr val="6B4B00"/>
                </a:solidFill>
                <a:latin typeface="Inter"/>
                <a:ea typeface="Inter"/>
                <a:cs typeface="Inter"/>
              </a:rPr>
              <a:t>, o </a:t>
            </a:r>
            <a:r>
              <a:rPr sz="1275" b="0" dirty="0" err="1">
                <a:solidFill>
                  <a:srgbClr val="6B4B00"/>
                </a:solidFill>
                <a:latin typeface="Inter"/>
                <a:ea typeface="Inter"/>
                <a:cs typeface="Inter"/>
              </a:rPr>
              <a:t>objeto</a:t>
            </a:r>
            <a:r>
              <a:rPr sz="1275" b="0" dirty="0">
                <a:solidFill>
                  <a:srgbClr val="6B4B00"/>
                </a:solidFill>
                <a:latin typeface="Inter"/>
                <a:ea typeface="Inter"/>
                <a:cs typeface="Inter"/>
              </a:rPr>
              <a:t> </a:t>
            </a:r>
            <a:r>
              <a:rPr sz="1275" b="0" dirty="0" err="1">
                <a:solidFill>
                  <a:srgbClr val="6B4B00"/>
                </a:solidFill>
                <a:latin typeface="Inter"/>
                <a:ea typeface="Inter"/>
                <a:cs typeface="Inter"/>
              </a:rPr>
              <a:t>preserva</a:t>
            </a:r>
            <a:r>
              <a:rPr sz="1275" b="0" dirty="0">
                <a:solidFill>
                  <a:srgbClr val="6B4B00"/>
                </a:solidFill>
                <a:latin typeface="Inter"/>
                <a:ea typeface="Inter"/>
                <a:cs typeface="Inter"/>
              </a:rPr>
              <a:t> o </a:t>
            </a:r>
            <a:r>
              <a:rPr sz="1275" b="0" dirty="0" err="1">
                <a:solidFill>
                  <a:srgbClr val="6B4B00"/>
                </a:solidFill>
                <a:latin typeface="Inter"/>
                <a:ea typeface="Inter"/>
                <a:cs typeface="Inter"/>
              </a:rPr>
              <a:t>estado</a:t>
            </a:r>
            <a:r>
              <a:rPr sz="1275" b="0" dirty="0">
                <a:solidFill>
                  <a:srgbClr val="6B4B00"/>
                </a:solidFill>
                <a:latin typeface="Inter"/>
                <a:ea typeface="Inter"/>
                <a:cs typeface="Inter"/>
              </a:rPr>
              <a:t> anterior.</a:t>
            </a:r>
          </a:p>
        </p:txBody>
      </p:sp>
    </p:spTree>
    <p:extLst>
      <p:ext uri="{BB962C8B-B14F-4D97-AF65-F5344CB8AC3E}">
        <p14:creationId xmlns:p14="http://schemas.microsoft.com/office/powerpoint/2010/main" val="123549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00E6CCE-13EB-444A-A7AB-FC90C2239221}"/>
              </a:ext>
            </a:extLst>
          </p:cNvPr>
          <p:cNvSpPr>
            <a:spLocks noGrp="1"/>
          </p:cNvSpPr>
          <p:nvPr/>
        </p:nvSpPr>
        <p:spPr>
          <a:xfrm>
            <a:off x="742569" y="82867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Construtor com validação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B0C3AA-E7B4-4C6B-9E70-695B9396B0A0}"/>
              </a:ext>
            </a:extLst>
          </p:cNvPr>
          <p:cNvSpPr>
            <a:spLocks noGrp="1"/>
          </p:cNvSpPr>
          <p:nvPr/>
        </p:nvSpPr>
        <p:spPr>
          <a:xfrm>
            <a:off x="742569" y="1781175"/>
            <a:ext cx="10858499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objeto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já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nasce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em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um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estado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válido</a:t>
            </a:r>
            <a:endParaRPr sz="20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EC6BB1A-05AB-4B95-BE12-88BAABD58A6B}"/>
              </a:ext>
            </a:extLst>
          </p:cNvPr>
          <p:cNvSpPr>
            <a:spLocks noGrp="1"/>
          </p:cNvSpPr>
          <p:nvPr/>
        </p:nvSpPr>
        <p:spPr>
          <a:xfrm>
            <a:off x="742569" y="2979420"/>
            <a:ext cx="6381750" cy="1567434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D98A96-AA60-46BF-8683-DB7B61A83864}"/>
              </a:ext>
            </a:extLst>
          </p:cNvPr>
          <p:cNvSpPr>
            <a:spLocks noGrp="1"/>
          </p:cNvSpPr>
          <p:nvPr/>
        </p:nvSpPr>
        <p:spPr>
          <a:xfrm>
            <a:off x="933069" y="3131820"/>
            <a:ext cx="6000750" cy="123215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(String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, double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, int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this.nome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this.preco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this.quantidade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4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71F2F1-EBC9-43B8-AE28-A183C1ED0521}"/>
              </a:ext>
            </a:extLst>
          </p:cNvPr>
          <p:cNvSpPr>
            <a:spLocks noGrp="1"/>
          </p:cNvSpPr>
          <p:nvPr/>
        </p:nvSpPr>
        <p:spPr>
          <a:xfrm>
            <a:off x="7821168" y="26574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Por que usar os setters?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4DF3E0-AAA6-4C10-A3A7-3C9AFB1EEAD4}"/>
              </a:ext>
            </a:extLst>
          </p:cNvPr>
          <p:cNvSpPr>
            <a:spLocks noGrp="1"/>
          </p:cNvSpPr>
          <p:nvPr/>
        </p:nvSpPr>
        <p:spPr>
          <a:xfrm>
            <a:off x="7821168" y="3181350"/>
            <a:ext cx="3333750" cy="1666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construtor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reutiliza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as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mesmas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validações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usadas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nas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alterações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posteriores. Assim, a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regra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fica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em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um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único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lugar</a:t>
            </a:r>
            <a:r>
              <a:rPr sz="1425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8617462-81CA-4F70-9ED0-8FE11DA78748}"/>
              </a:ext>
            </a:extLst>
          </p:cNvPr>
          <p:cNvSpPr>
            <a:spLocks noGrp="1"/>
          </p:cNvSpPr>
          <p:nvPr/>
        </p:nvSpPr>
        <p:spPr>
          <a:xfrm>
            <a:off x="666750" y="5646420"/>
            <a:ext cx="10858500" cy="904875"/>
          </a:xfrm>
          <a:prstGeom prst="roundRect">
            <a:avLst>
              <a:gd name="adj" fmla="val 6316"/>
            </a:avLst>
          </a:prstGeom>
          <a:solidFill>
            <a:srgbClr val="DCEE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27C7E9F-74F8-4BFC-B4AE-29692496BD8B}"/>
              </a:ext>
            </a:extLst>
          </p:cNvPr>
          <p:cNvSpPr>
            <a:spLocks noGrp="1"/>
          </p:cNvSpPr>
          <p:nvPr/>
        </p:nvSpPr>
        <p:spPr>
          <a:xfrm>
            <a:off x="838200" y="5779770"/>
            <a:ext cx="105156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this.nome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 chama o setter </a:t>
            </a: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nome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. _</a:t>
            </a: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nome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 </a:t>
            </a: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acessaria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 </a:t>
            </a: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diretamente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 o </a:t>
            </a:r>
            <a:r>
              <a:rPr sz="1275" b="0" dirty="0" err="1">
                <a:solidFill>
                  <a:srgbClr val="073B78"/>
                </a:solidFill>
                <a:latin typeface="Inter"/>
                <a:ea typeface="Inter"/>
                <a:cs typeface="Inter"/>
              </a:rPr>
              <a:t>atributo</a:t>
            </a:r>
            <a:r>
              <a:rPr sz="1275" b="0" dirty="0">
                <a:solidFill>
                  <a:srgbClr val="073B78"/>
                </a:solidFill>
                <a:latin typeface="Inter"/>
                <a:ea typeface="Inter"/>
                <a:cs typeface="Inter"/>
              </a:rPr>
              <a:t> privado.</a:t>
            </a:r>
          </a:p>
        </p:txBody>
      </p:sp>
    </p:spTree>
    <p:extLst>
      <p:ext uri="{BB962C8B-B14F-4D97-AF65-F5344CB8AC3E}">
        <p14:creationId xmlns:p14="http://schemas.microsoft.com/office/powerpoint/2010/main" val="144310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2579989-8073-4034-AC4B-6D2096BA947C}"/>
              </a:ext>
            </a:extLst>
          </p:cNvPr>
          <p:cNvSpPr>
            <a:spLocks noGrp="1"/>
          </p:cNvSpPr>
          <p:nvPr/>
        </p:nvSpPr>
        <p:spPr>
          <a:xfrm>
            <a:off x="809625" y="903732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Classe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Produto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</a:t>
            </a: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encapsulada</a:t>
            </a:r>
            <a:endParaRPr sz="2100" b="1" dirty="0">
              <a:solidFill>
                <a:srgbClr val="11182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93CBF6-224A-4019-BBE6-172E8A67615E}"/>
              </a:ext>
            </a:extLst>
          </p:cNvPr>
          <p:cNvSpPr>
            <a:spLocks noGrp="1"/>
          </p:cNvSpPr>
          <p:nvPr/>
        </p:nvSpPr>
        <p:spPr>
          <a:xfrm>
            <a:off x="552450" y="1677924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Exemplo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completo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para a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prática</a:t>
            </a:r>
            <a:r>
              <a:rPr sz="16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guiada</a:t>
            </a:r>
            <a:endParaRPr sz="16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4BAF5E8-EBFD-46CD-92B0-C21A53259563}"/>
              </a:ext>
            </a:extLst>
          </p:cNvPr>
          <p:cNvSpPr>
            <a:spLocks noGrp="1"/>
          </p:cNvSpPr>
          <p:nvPr/>
        </p:nvSpPr>
        <p:spPr>
          <a:xfrm>
            <a:off x="523875" y="2346960"/>
            <a:ext cx="5619750" cy="3340608"/>
          </a:xfrm>
          <a:prstGeom prst="roundRect">
            <a:avLst>
              <a:gd name="adj" fmla="val 1154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F5ACD1-4A5C-49B2-9499-BBD13D4934B6}"/>
              </a:ext>
            </a:extLst>
          </p:cNvPr>
          <p:cNvSpPr>
            <a:spLocks noGrp="1"/>
          </p:cNvSpPr>
          <p:nvPr/>
        </p:nvSpPr>
        <p:spPr>
          <a:xfrm>
            <a:off x="714375" y="2499360"/>
            <a:ext cx="5238750" cy="313503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class Produto {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_nome = '';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_preco = 0;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int _quantidade = 0;</a:t>
            </a:r>
          </a:p>
          <a:p>
            <a:endParaRPr sz="1200" b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Produto(String nome, double preco, int quantidade) {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this.nome = nome;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this.preco = preco;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this.quantidade = quantidade;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endParaRPr sz="1200" b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String get nome =&gt; _nome;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get preco =&gt; _preco;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int get quantidade =&gt; _quantidade;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double get valorEmEstoque =&gt; _preco * _quantidade;</a:t>
            </a:r>
          </a:p>
          <a:p>
            <a:pPr algn="l">
              <a:defRPr sz="12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9067079-46AC-4F1D-9B2F-207613D51999}"/>
              </a:ext>
            </a:extLst>
          </p:cNvPr>
          <p:cNvSpPr>
            <a:spLocks noGrp="1"/>
          </p:cNvSpPr>
          <p:nvPr/>
        </p:nvSpPr>
        <p:spPr>
          <a:xfrm>
            <a:off x="6286500" y="2346960"/>
            <a:ext cx="5381625" cy="3340608"/>
          </a:xfrm>
          <a:prstGeom prst="roundRect">
            <a:avLst>
              <a:gd name="adj" fmla="val 1154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0DD9F7-C9E3-4A4B-9908-1CE3409D3F33}"/>
              </a:ext>
            </a:extLst>
          </p:cNvPr>
          <p:cNvSpPr>
            <a:spLocks noGrp="1"/>
          </p:cNvSpPr>
          <p:nvPr/>
        </p:nvSpPr>
        <p:spPr>
          <a:xfrm>
            <a:off x="6477000" y="2448716"/>
            <a:ext cx="5000625" cy="313503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set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(String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novoNome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if (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novoNome.trim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isEmpty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throw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ArgumentError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('Nome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obrigatório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.');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_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novoNome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1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set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(double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if (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&lt;= 0)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throw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ArgumentError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Preço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inválido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.');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_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preco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novoPreco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12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set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(int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novaQuantidade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if (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novaQuantidade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&lt; 0) {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throw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ArgumentError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inválida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.');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_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2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novaQuantidade</a:t>
            </a: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defRPr sz="112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865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23F529C-28F6-4CFE-A0C0-157F2CFF13F5}"/>
              </a:ext>
            </a:extLst>
          </p:cNvPr>
          <p:cNvSpPr>
            <a:spLocks noGrp="1"/>
          </p:cNvSpPr>
          <p:nvPr/>
        </p:nvSpPr>
        <p:spPr>
          <a:xfrm>
            <a:off x="762000" y="890397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Testando</a:t>
            </a:r>
            <a:r>
              <a:rPr sz="21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no main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AFBF1D-CF62-407C-9BC2-B863B16BC168}"/>
              </a:ext>
            </a:extLst>
          </p:cNvPr>
          <p:cNvSpPr>
            <a:spLocks noGrp="1"/>
          </p:cNvSpPr>
          <p:nvPr/>
        </p:nvSpPr>
        <p:spPr>
          <a:xfrm>
            <a:off x="630174" y="16097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Leitura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,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alteração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válida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e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tratamento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de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erro</a:t>
            </a:r>
            <a:endParaRPr sz="20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F0D1874-0714-4750-9443-5FD681615E98}"/>
              </a:ext>
            </a:extLst>
          </p:cNvPr>
          <p:cNvSpPr>
            <a:spLocks noGrp="1"/>
          </p:cNvSpPr>
          <p:nvPr/>
        </p:nvSpPr>
        <p:spPr>
          <a:xfrm>
            <a:off x="630174" y="2381250"/>
            <a:ext cx="6191250" cy="3823335"/>
          </a:xfrm>
          <a:prstGeom prst="roundRect">
            <a:avLst>
              <a:gd name="adj" fmla="val 1154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A7113C-E083-4F7C-BF22-5A15169F87FE}"/>
              </a:ext>
            </a:extLst>
          </p:cNvPr>
          <p:cNvSpPr>
            <a:spLocks noGrp="1"/>
          </p:cNvSpPr>
          <p:nvPr/>
        </p:nvSpPr>
        <p:spPr>
          <a:xfrm>
            <a:off x="820674" y="2567178"/>
            <a:ext cx="5810250" cy="3451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import '../lib/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produto.dart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';</a:t>
            </a:r>
          </a:p>
          <a:p>
            <a:endParaRPr sz="127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('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Teclado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', 150, 10);</a:t>
            </a:r>
          </a:p>
          <a:p>
            <a:endParaRPr sz="127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print(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produto.nome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print(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produto.valorEmEstoque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endParaRPr sz="127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produto.preco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180;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print(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produto.preco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endParaRPr sz="1275" b="0" dirty="0">
              <a:solidFill>
                <a:srgbClr val="DC5A6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try {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produto.quantidade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= -5;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 catch (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erro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  print(</a:t>
            </a:r>
            <a:r>
              <a:rPr sz="1275" b="0" dirty="0" err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erro</a:t>
            </a: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275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C3BF57-0EB5-4C3D-A46C-2FB172E26322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Observe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FD3C41-0B0C-45CD-A498-7B7E701C9609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34290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leitura ocorre pelos getters.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alteração passa pelos setters.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try/catch permite tratar a validação sem encerrar o programa.</a:t>
            </a:r>
          </a:p>
        </p:txBody>
      </p:sp>
    </p:spTree>
    <p:extLst>
      <p:ext uri="{BB962C8B-B14F-4D97-AF65-F5344CB8AC3E}">
        <p14:creationId xmlns:p14="http://schemas.microsoft.com/office/powerpoint/2010/main" val="116786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4030D381-8A9E-4213-B6CE-6F99104AD359}"/>
              </a:ext>
            </a:extLst>
          </p:cNvPr>
          <p:cNvSpPr>
            <a:spLocks noGrp="1"/>
          </p:cNvSpPr>
          <p:nvPr/>
        </p:nvSpPr>
        <p:spPr>
          <a:xfrm>
            <a:off x="843153" y="831723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Encapsulamento no CRUD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1DCF25-FDE0-452D-84FC-434F160C941E}"/>
              </a:ext>
            </a:extLst>
          </p:cNvPr>
          <p:cNvSpPr>
            <a:spLocks noGrp="1"/>
          </p:cNvSpPr>
          <p:nvPr/>
        </p:nvSpPr>
        <p:spPr>
          <a:xfrm>
            <a:off x="843153" y="1412748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posição na lista funciona como identificador durante a execução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95A017-5508-4AAE-94B9-5E80A987E9F9}"/>
              </a:ext>
            </a:extLst>
          </p:cNvPr>
          <p:cNvSpPr>
            <a:spLocks noGrp="1"/>
          </p:cNvSpPr>
          <p:nvPr/>
        </p:nvSpPr>
        <p:spPr>
          <a:xfrm>
            <a:off x="1005078" y="2050923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List&lt;Produto&gt; produtos = [];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D78DCA-541F-4671-8AB6-7C06B0145A3C}"/>
              </a:ext>
            </a:extLst>
          </p:cNvPr>
          <p:cNvSpPr>
            <a:spLocks noGrp="1"/>
          </p:cNvSpPr>
          <p:nvPr/>
        </p:nvSpPr>
        <p:spPr>
          <a:xfrm>
            <a:off x="1195578" y="2955798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FA30702-D6AB-4E8E-94CD-1048797A76FA}"/>
              </a:ext>
            </a:extLst>
          </p:cNvPr>
          <p:cNvSpPr>
            <a:spLocks noGrp="1"/>
          </p:cNvSpPr>
          <p:nvPr/>
        </p:nvSpPr>
        <p:spPr>
          <a:xfrm>
            <a:off x="1862328" y="2955798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Cadastrar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B94F32-E493-4481-8A8E-2374C0E29896}"/>
              </a:ext>
            </a:extLst>
          </p:cNvPr>
          <p:cNvSpPr>
            <a:spLocks noGrp="1"/>
          </p:cNvSpPr>
          <p:nvPr/>
        </p:nvSpPr>
        <p:spPr>
          <a:xfrm>
            <a:off x="3814953" y="2955798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Cria um Produto válido e adiciona à lista.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AD69ABB-B7FA-4448-9EA9-20BEA72E2E02}"/>
              </a:ext>
            </a:extLst>
          </p:cNvPr>
          <p:cNvSpPr>
            <a:spLocks noGrp="1"/>
          </p:cNvSpPr>
          <p:nvPr/>
        </p:nvSpPr>
        <p:spPr>
          <a:xfrm>
            <a:off x="1195578" y="3736848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D9C7F8-E4F4-4E94-8DDD-D4EE3B7BE2CE}"/>
              </a:ext>
            </a:extLst>
          </p:cNvPr>
          <p:cNvSpPr>
            <a:spLocks noGrp="1"/>
          </p:cNvSpPr>
          <p:nvPr/>
        </p:nvSpPr>
        <p:spPr>
          <a:xfrm>
            <a:off x="1862328" y="3736848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Listar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E0F2D6E-84EF-45F5-BCAE-54E96C702F02}"/>
              </a:ext>
            </a:extLst>
          </p:cNvPr>
          <p:cNvSpPr>
            <a:spLocks noGrp="1"/>
          </p:cNvSpPr>
          <p:nvPr/>
        </p:nvSpPr>
        <p:spPr>
          <a:xfrm>
            <a:off x="3814953" y="3736848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Consulta os dados pelos getters.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232A22-A04D-4BE9-895F-DC004B9EA9AE}"/>
              </a:ext>
            </a:extLst>
          </p:cNvPr>
          <p:cNvSpPr>
            <a:spLocks noGrp="1"/>
          </p:cNvSpPr>
          <p:nvPr/>
        </p:nvSpPr>
        <p:spPr>
          <a:xfrm>
            <a:off x="1195578" y="4517898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8F3290C-06B8-4D7A-9064-20D84C41677D}"/>
              </a:ext>
            </a:extLst>
          </p:cNvPr>
          <p:cNvSpPr>
            <a:spLocks noGrp="1"/>
          </p:cNvSpPr>
          <p:nvPr/>
        </p:nvSpPr>
        <p:spPr>
          <a:xfrm>
            <a:off x="1862328" y="4517898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Atualizar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27071F3-4933-45D9-A940-68D7B74FB7A8}"/>
              </a:ext>
            </a:extLst>
          </p:cNvPr>
          <p:cNvSpPr>
            <a:spLocks noGrp="1"/>
          </p:cNvSpPr>
          <p:nvPr/>
        </p:nvSpPr>
        <p:spPr>
          <a:xfrm>
            <a:off x="3814953" y="4517898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Usa setters e aplica novamente as validações.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EB14176-894D-420F-B706-EEDFFEFCA1BA}"/>
              </a:ext>
            </a:extLst>
          </p:cNvPr>
          <p:cNvSpPr>
            <a:spLocks noGrp="1"/>
          </p:cNvSpPr>
          <p:nvPr/>
        </p:nvSpPr>
        <p:spPr>
          <a:xfrm>
            <a:off x="1195578" y="5298948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0336F0D-559E-473D-ABFC-7FF74A14794D}"/>
              </a:ext>
            </a:extLst>
          </p:cNvPr>
          <p:cNvSpPr>
            <a:spLocks noGrp="1"/>
          </p:cNvSpPr>
          <p:nvPr/>
        </p:nvSpPr>
        <p:spPr>
          <a:xfrm>
            <a:off x="1862328" y="5298948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Excluir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BC507DF-8FA9-418D-8E77-FCCF05199663}"/>
              </a:ext>
            </a:extLst>
          </p:cNvPr>
          <p:cNvSpPr>
            <a:spLocks noGrp="1"/>
          </p:cNvSpPr>
          <p:nvPr/>
        </p:nvSpPr>
        <p:spPr>
          <a:xfrm>
            <a:off x="3814953" y="5298948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Remove o elemento pela posição informada.</a:t>
            </a:r>
          </a:p>
        </p:txBody>
      </p:sp>
    </p:spTree>
    <p:extLst>
      <p:ext uri="{BB962C8B-B14F-4D97-AF65-F5344CB8AC3E}">
        <p14:creationId xmlns:p14="http://schemas.microsoft.com/office/powerpoint/2010/main" val="799046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033AE60-0D19-4C54-BC49-F74161379E9A}"/>
              </a:ext>
            </a:extLst>
          </p:cNvPr>
          <p:cNvSpPr>
            <a:spLocks noGrp="1"/>
          </p:cNvSpPr>
          <p:nvPr/>
        </p:nvSpPr>
        <p:spPr>
          <a:xfrm>
            <a:off x="857250" y="73342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Prática guiada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2CE817-8CF0-4078-8616-202BFF54F902}"/>
              </a:ext>
            </a:extLst>
          </p:cNvPr>
          <p:cNvSpPr>
            <a:spLocks noGrp="1"/>
          </p:cNvSpPr>
          <p:nvPr/>
        </p:nvSpPr>
        <p:spPr>
          <a:xfrm>
            <a:off x="857250" y="13144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Controle de produtos com List e encapsulamento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E3F48A2-5E5C-48E4-9D52-E9C3F2E2C2F5}"/>
              </a:ext>
            </a:extLst>
          </p:cNvPr>
          <p:cNvSpPr>
            <a:spLocks noGrp="1"/>
          </p:cNvSpPr>
          <p:nvPr/>
        </p:nvSpPr>
        <p:spPr>
          <a:xfrm>
            <a:off x="694182" y="200025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Etapas da construção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9D1D17-C8BB-4907-93B0-B17E560941B2}"/>
              </a:ext>
            </a:extLst>
          </p:cNvPr>
          <p:cNvSpPr>
            <a:spLocks noGrp="1"/>
          </p:cNvSpPr>
          <p:nvPr/>
        </p:nvSpPr>
        <p:spPr>
          <a:xfrm>
            <a:off x="694182" y="2524125"/>
            <a:ext cx="533400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1. Criar produto.dart com atributos privados.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2. Implementar getters e setters.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3. Validar nome, preço e quantidade.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4. Criar a lista de produtos no main.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5. Implementar cadastrar, listar, atualizar e excluir.</a:t>
            </a:r>
          </a:p>
          <a:p>
            <a:endParaRPr sz="1500" b="0">
              <a:solidFill>
                <a:srgbClr val="475569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6. Testar valores válidos e inválidos.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F98CD0C-BFE6-46B9-A0EB-A9DA83BDAA5C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476750" cy="3429000"/>
          </a:xfrm>
          <a:prstGeom prst="roundRect">
            <a:avLst>
              <a:gd name="adj" fmla="val 2222"/>
            </a:avLst>
          </a:prstGeom>
          <a:solidFill>
            <a:srgbClr val="E7E8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018493-2A92-4C14-9601-4DCD3E2F590B}"/>
              </a:ext>
            </a:extLst>
          </p:cNvPr>
          <p:cNvSpPr>
            <a:spLocks noGrp="1"/>
          </p:cNvSpPr>
          <p:nvPr/>
        </p:nvSpPr>
        <p:spPr>
          <a:xfrm>
            <a:off x="7143750" y="214312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Regras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9BA83A-DC33-4C5E-9ED6-EF3598B4AFFD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3714750" cy="2095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Nome não pode ficar vazio.</a:t>
            </a:r>
          </a:p>
          <a:p>
            <a:endParaRPr sz="1425" b="0">
              <a:solidFill>
                <a:srgbClr val="111827"/>
              </a:solidFill>
              <a:latin typeface="Inter"/>
              <a:ea typeface="Inter"/>
              <a:cs typeface="Inter"/>
            </a:endParaRPr>
          </a:p>
          <a:p>
            <a:pPr algn="l">
              <a:defRPr sz="14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Preço deve ser maior que zero.</a:t>
            </a:r>
          </a:p>
          <a:p>
            <a:endParaRPr sz="1425" b="0">
              <a:solidFill>
                <a:srgbClr val="111827"/>
              </a:solidFill>
              <a:latin typeface="Inter"/>
              <a:ea typeface="Inter"/>
              <a:cs typeface="Inter"/>
            </a:endParaRPr>
          </a:p>
          <a:p>
            <a:pPr algn="l">
              <a:defRPr sz="14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Quantidade não pode ser negativa.</a:t>
            </a:r>
          </a:p>
          <a:p>
            <a:endParaRPr sz="1425" b="0">
              <a:solidFill>
                <a:srgbClr val="111827"/>
              </a:solidFill>
              <a:latin typeface="Inter"/>
              <a:ea typeface="Inter"/>
              <a:cs typeface="Inter"/>
            </a:endParaRPr>
          </a:p>
          <a:p>
            <a:pPr algn="l">
              <a:defRPr sz="14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 posição exibida começa em 1 para o usuário.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33A16E9-6A98-48DB-A5CD-23F82BB344C4}"/>
              </a:ext>
            </a:extLst>
          </p:cNvPr>
          <p:cNvSpPr>
            <a:spLocks noGrp="1"/>
          </p:cNvSpPr>
          <p:nvPr/>
        </p:nvSpPr>
        <p:spPr>
          <a:xfrm>
            <a:off x="6762750" y="5572125"/>
            <a:ext cx="4476750" cy="628650"/>
          </a:xfrm>
          <a:prstGeom prst="roundRect">
            <a:avLst>
              <a:gd name="adj" fmla="val 9091"/>
            </a:avLst>
          </a:prstGeom>
          <a:solidFill>
            <a:srgbClr val="DCEE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F5B5D0-84A7-4109-9A63-7C70541FAF73}"/>
              </a:ext>
            </a:extLst>
          </p:cNvPr>
          <p:cNvSpPr>
            <a:spLocks noGrp="1"/>
          </p:cNvSpPr>
          <p:nvPr/>
        </p:nvSpPr>
        <p:spPr>
          <a:xfrm>
            <a:off x="6934200" y="5705475"/>
            <a:ext cx="41338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73B78"/>
                </a:solidFill>
                <a:latin typeface="Inter"/>
                <a:ea typeface="Inter"/>
                <a:cs typeface="Inter"/>
              </a:rPr>
              <a:t>Tempo sugerido: 45 minutos</a:t>
            </a:r>
          </a:p>
        </p:txBody>
      </p:sp>
    </p:spTree>
    <p:extLst>
      <p:ext uri="{BB962C8B-B14F-4D97-AF65-F5344CB8AC3E}">
        <p14:creationId xmlns:p14="http://schemas.microsoft.com/office/powerpoint/2010/main" val="81633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7C855118-4ED5-43DE-B456-1867439440E2}"/>
              </a:ext>
            </a:extLst>
          </p:cNvPr>
          <p:cNvSpPr>
            <a:spLocks noGrp="1"/>
          </p:cNvSpPr>
          <p:nvPr/>
        </p:nvSpPr>
        <p:spPr>
          <a:xfrm>
            <a:off x="742569" y="85915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Mini desafio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242AAE-23EB-42AA-BD13-1D14BC937F89}"/>
              </a:ext>
            </a:extLst>
          </p:cNvPr>
          <p:cNvSpPr>
            <a:spLocks noGrp="1"/>
          </p:cNvSpPr>
          <p:nvPr/>
        </p:nvSpPr>
        <p:spPr>
          <a:xfrm>
            <a:off x="742569" y="144018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Classe Eletrônico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13CAC3-8FB9-4291-B8FA-8AD3440F7B50}"/>
              </a:ext>
            </a:extLst>
          </p:cNvPr>
          <p:cNvSpPr>
            <a:spLocks noGrp="1"/>
          </p:cNvSpPr>
          <p:nvPr/>
        </p:nvSpPr>
        <p:spPr>
          <a:xfrm>
            <a:off x="904494" y="207835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Desenvolva uma classe Eletronico com encapsulamento e use uma List para armazenar os objetos.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20E6D8-64B1-4367-AA61-5A5FB1276A33}"/>
              </a:ext>
            </a:extLst>
          </p:cNvPr>
          <p:cNvSpPr>
            <a:spLocks noGrp="1"/>
          </p:cNvSpPr>
          <p:nvPr/>
        </p:nvSpPr>
        <p:spPr>
          <a:xfrm>
            <a:off x="904494" y="312610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Atributos privados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DE08C4-BD8B-414F-8364-14F0196B6398}"/>
              </a:ext>
            </a:extLst>
          </p:cNvPr>
          <p:cNvSpPr>
            <a:spLocks noGrp="1"/>
          </p:cNvSpPr>
          <p:nvPr/>
        </p:nvSpPr>
        <p:spPr>
          <a:xfrm>
            <a:off x="904494" y="3602355"/>
            <a:ext cx="28575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_nome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_marca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_preco</a:t>
            </a:r>
          </a:p>
          <a:p>
            <a:pPr algn="l">
              <a:defRPr sz="1500" b="0">
                <a:solidFill>
                  <a:srgbClr val="DC5A6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5A63"/>
                </a:solidFill>
                <a:latin typeface="Consolas"/>
                <a:ea typeface="Consolas"/>
                <a:cs typeface="Consolas"/>
              </a:rPr>
              <a:t>_estoque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9B9777-192D-4BD2-B726-0D1DE5DAC7C2}"/>
              </a:ext>
            </a:extLst>
          </p:cNvPr>
          <p:cNvSpPr>
            <a:spLocks noGrp="1"/>
          </p:cNvSpPr>
          <p:nvPr/>
        </p:nvSpPr>
        <p:spPr>
          <a:xfrm>
            <a:off x="4714494" y="312610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Validações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4C6684-B4A4-456E-A875-2E63516B341D}"/>
              </a:ext>
            </a:extLst>
          </p:cNvPr>
          <p:cNvSpPr>
            <a:spLocks noGrp="1"/>
          </p:cNvSpPr>
          <p:nvPr/>
        </p:nvSpPr>
        <p:spPr>
          <a:xfrm>
            <a:off x="4714494" y="3602355"/>
            <a:ext cx="30480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Nome e marca obrigatórios.</a:t>
            </a:r>
          </a:p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Preço maior que zero.</a:t>
            </a:r>
          </a:p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Estoque igual ou maior que zero.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8A0B1A4-BDE9-445F-BACB-9872C9849102}"/>
              </a:ext>
            </a:extLst>
          </p:cNvPr>
          <p:cNvSpPr>
            <a:spLocks noGrp="1"/>
          </p:cNvSpPr>
          <p:nvPr/>
        </p:nvSpPr>
        <p:spPr>
          <a:xfrm>
            <a:off x="8429244" y="312610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Operações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4B6ACF9-CC83-47BC-BB89-3CDF11EE6584}"/>
              </a:ext>
            </a:extLst>
          </p:cNvPr>
          <p:cNvSpPr>
            <a:spLocks noGrp="1"/>
          </p:cNvSpPr>
          <p:nvPr/>
        </p:nvSpPr>
        <p:spPr>
          <a:xfrm>
            <a:off x="8429244" y="3602355"/>
            <a:ext cx="30480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Cadastrar</a:t>
            </a:r>
          </a:p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Listar</a:t>
            </a:r>
          </a:p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Atualizar preço</a:t>
            </a:r>
          </a:p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Excluir pela posição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2C1E6F9-5046-43EF-B0F4-62FD0F5301A2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0858500" cy="742950"/>
          </a:xfrm>
          <a:prstGeom prst="roundRect">
            <a:avLst>
              <a:gd name="adj" fmla="val 7692"/>
            </a:avLst>
          </a:prstGeom>
          <a:solidFill>
            <a:srgbClr val="FFF2B2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C6B0C69-5244-45CB-BFA7-0804451546C3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10515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B4B0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B4B00"/>
                </a:solidFill>
                <a:latin typeface="Inter"/>
                <a:ea typeface="Inter"/>
                <a:cs typeface="Inter"/>
              </a:rPr>
              <a:t>Entrega: produto.dart e main.dart funcionando com pelo menos três eletrônicos.</a:t>
            </a:r>
          </a:p>
        </p:txBody>
      </p:sp>
    </p:spTree>
    <p:extLst>
      <p:ext uri="{BB962C8B-B14F-4D97-AF65-F5344CB8AC3E}">
        <p14:creationId xmlns:p14="http://schemas.microsoft.com/office/powerpoint/2010/main" val="1277302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0E3080C3-AF82-440E-89C6-3B5C15500499}"/>
              </a:ext>
            </a:extLst>
          </p:cNvPr>
          <p:cNvSpPr>
            <a:spLocks noGrp="1"/>
          </p:cNvSpPr>
          <p:nvPr/>
        </p:nvSpPr>
        <p:spPr>
          <a:xfrm>
            <a:off x="762000" y="882015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2400" b="1" dirty="0" err="1">
                <a:solidFill>
                  <a:srgbClr val="111827"/>
                </a:solidFill>
                <a:latin typeface="Inter"/>
                <a:ea typeface="Inter"/>
                <a:cs typeface="Inter"/>
              </a:rPr>
              <a:t>Síntese</a:t>
            </a:r>
            <a:r>
              <a:rPr sz="2400" b="1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da aula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288291B-C115-4F81-88A5-F8A0E8947B1D}"/>
              </a:ext>
            </a:extLst>
          </p:cNvPr>
          <p:cNvSpPr>
            <a:spLocks noGrp="1"/>
          </p:cNvSpPr>
          <p:nvPr/>
        </p:nvSpPr>
        <p:spPr>
          <a:xfrm>
            <a:off x="561213" y="17145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Conceitos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que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o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código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precisa</a:t>
            </a:r>
            <a:r>
              <a:rPr sz="2000" b="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demonstrar</a:t>
            </a:r>
            <a:endParaRPr sz="2000" b="0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430FEE-C7CD-4DE3-922A-00D442ED2F03}"/>
              </a:ext>
            </a:extLst>
          </p:cNvPr>
          <p:cNvSpPr>
            <a:spLocks noGrp="1"/>
          </p:cNvSpPr>
          <p:nvPr/>
        </p:nvSpPr>
        <p:spPr>
          <a:xfrm>
            <a:off x="561213" y="281368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Encapsulamento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C87FCD-4B12-4EA6-A273-08B8A6D9A06C}"/>
              </a:ext>
            </a:extLst>
          </p:cNvPr>
          <p:cNvSpPr>
            <a:spLocks noGrp="1"/>
          </p:cNvSpPr>
          <p:nvPr/>
        </p:nvSpPr>
        <p:spPr>
          <a:xfrm>
            <a:off x="561213" y="333756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classe controla o acesso ao próprio estado.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76D27DF-3372-4A43-8449-A8C8D0632BA0}"/>
              </a:ext>
            </a:extLst>
          </p:cNvPr>
          <p:cNvSpPr>
            <a:spLocks noGrp="1"/>
          </p:cNvSpPr>
          <p:nvPr/>
        </p:nvSpPr>
        <p:spPr>
          <a:xfrm>
            <a:off x="3609213" y="281368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Atributos privados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F8872B8-92DB-475D-83B9-5CA46D7210B5}"/>
              </a:ext>
            </a:extLst>
          </p:cNvPr>
          <p:cNvSpPr>
            <a:spLocks noGrp="1"/>
          </p:cNvSpPr>
          <p:nvPr/>
        </p:nvSpPr>
        <p:spPr>
          <a:xfrm>
            <a:off x="3609213" y="333756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O sublinhado protege membros no escopo da biblioteca.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5B651D-A5F9-449D-B434-E05FB639B276}"/>
              </a:ext>
            </a:extLst>
          </p:cNvPr>
          <p:cNvSpPr>
            <a:spLocks noGrp="1"/>
          </p:cNvSpPr>
          <p:nvPr/>
        </p:nvSpPr>
        <p:spPr>
          <a:xfrm>
            <a:off x="6657213" y="281368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Getters e setters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F79DE7E-8E03-40E0-8676-7CFABE79C303}"/>
              </a:ext>
            </a:extLst>
          </p:cNvPr>
          <p:cNvSpPr>
            <a:spLocks noGrp="1"/>
          </p:cNvSpPr>
          <p:nvPr/>
        </p:nvSpPr>
        <p:spPr>
          <a:xfrm>
            <a:off x="6657213" y="333756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Getters consultam. Setters validam antes de alterar.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EE57A6-F3C2-48DE-A12B-750EB6CE9C76}"/>
              </a:ext>
            </a:extLst>
          </p:cNvPr>
          <p:cNvSpPr>
            <a:spLocks noGrp="1"/>
          </p:cNvSpPr>
          <p:nvPr/>
        </p:nvSpPr>
        <p:spPr>
          <a:xfrm>
            <a:off x="9705213" y="281368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073B78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73B78"/>
                </a:solidFill>
                <a:latin typeface="Inter"/>
                <a:ea typeface="Inter"/>
                <a:cs typeface="Inter"/>
              </a:rPr>
              <a:t>Estado válido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647CD2-F0E3-481F-AE5B-4A9385588BF9}"/>
              </a:ext>
            </a:extLst>
          </p:cNvPr>
          <p:cNvSpPr>
            <a:spLocks noGrp="1"/>
          </p:cNvSpPr>
          <p:nvPr/>
        </p:nvSpPr>
        <p:spPr>
          <a:xfrm>
            <a:off x="9705213" y="3337560"/>
            <a:ext cx="1714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Construtor e setters aplicam as mesmas regras.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9795038-F407-40B1-9DA5-D3BB5E8374BF}"/>
              </a:ext>
            </a:extLst>
          </p:cNvPr>
          <p:cNvSpPr>
            <a:spLocks noGrp="1"/>
          </p:cNvSpPr>
          <p:nvPr/>
        </p:nvSpPr>
        <p:spPr>
          <a:xfrm>
            <a:off x="1238250" y="4785360"/>
            <a:ext cx="9715500" cy="1190625"/>
          </a:xfrm>
          <a:prstGeom prst="roundRect">
            <a:avLst>
              <a:gd name="adj" fmla="val 4800"/>
            </a:avLst>
          </a:prstGeom>
          <a:solidFill>
            <a:srgbClr val="E7E8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2F7BD27-8F0E-4D7A-8CF0-36CDF16A74B3}"/>
              </a:ext>
            </a:extLst>
          </p:cNvPr>
          <p:cNvSpPr>
            <a:spLocks noGrp="1"/>
          </p:cNvSpPr>
          <p:nvPr/>
        </p:nvSpPr>
        <p:spPr>
          <a:xfrm>
            <a:off x="1409700" y="4918710"/>
            <a:ext cx="93726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Pergunta final: qual problema surgiria se o main pudesse modificar _preco e _quantidade diretamente?</a:t>
            </a:r>
          </a:p>
        </p:txBody>
      </p:sp>
    </p:spTree>
    <p:extLst>
      <p:ext uri="{BB962C8B-B14F-4D97-AF65-F5344CB8AC3E}">
        <p14:creationId xmlns:p14="http://schemas.microsoft.com/office/powerpoint/2010/main" val="1787279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1331</Words>
  <Application>Microsoft Office PowerPoint</Application>
  <DocSecurity>0</DocSecurity>
  <PresentationFormat>Widescreen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Inter</vt:lpstr>
      <vt:lpstr>Times New Roman</vt:lpstr>
      <vt:lpstr>Consolas</vt:lpstr>
      <vt:lpstr>Calibri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3314lab001</cp:lastModifiedBy>
  <cp:revision>7</cp:revision>
  <dcterms:created xsi:type="dcterms:W3CDTF">2026-09-15T11:20:43Z</dcterms:created>
  <dcterms:modified xsi:type="dcterms:W3CDTF">2026-09-15T14:04:53Z</dcterms:modified>
</cp:coreProperties>
</file>