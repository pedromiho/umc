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Aula de 3 horas. Sugestão: teoria e exemplos 50 min, implementação guiada 70 min, intervalo 10 min, desafio 40 min e discussão final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a discussão com situações de estoque real. Código ilustrativo de uma classe ainda sem validações.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Perguntar: se apenas o menu validar o preço, o que acontece quando outra parte do programa altera o produto? Encapsulamento organiza o acesso ao estado, não é criptografia.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https://dart.dev/language/libraries . Cada arquivo Dart e suas partes formam uma biblioteca. Dart não usa a palavra private para essa declaração.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https://dart.dev/language/libraries . Os trechos representam dois arquivos separados, sem part. Se a classe e main estiverem no mesmo arquivo, o acesso a _preco será permitido.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https://dart.dev/language/methods . Trecho do getter dentro da classe. A variável produto representa uma instância já criada.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https://dart.dev/language/methods . Valor em estoque é um exemplo autoral de propriedade calculada. Perguntar: precisamos armazenar esse total em outro atributo?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da sintaxe: https://dart.dev/language/methods . Regra autoral: aceitar apenas valores finitos positivos. throw interrompe a execução do setter antes de modificar o atributo. O menu pode capturar ArgumentError para continuar.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da sintaxe: https://dart.dev/language/methods . Sem tratamento, a exceção interrompe o fluxo. Mostrar o estado preservado com try/on ArgumentError em demonstração no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da sintaxe: https://dart.dev/language/methods . Não usar preco = valor dentro do próprio setter: isso chamaria o setter novamente. Atualizar _preco.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Exemplo de projeto: codigo recebe valor pelo construtor. A propriedade calculada valorEmEstoque não oferece setter. Encapsular não exige disponibilizar alteração para todos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Esqueleto didático: incluir getter e setter dos slides anteriores para compilar. O valor inicial 1.0 satisfaz a inicialização do campo. Um preço inicial inválido faz a construção lançar ArgumentError. Este é um exemplo reduzido, anterior à classe completa do desafio.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3 minutos para discussão em dupla. Resposta: validar valor &gt;= 0 antes da atribuição. Usar throw ArgumentError para negativos. Somente tornar o campo privado e criar um setter não garante a regra.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o desafio e desenvolver o núcleo com a turma. A lista integra a aplicação, sem uma exposição teórica adicional sobre coleções.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Proposta: final int codigo; String _nome; double _preco; int _quantidade. O main gera os códigos com contador. Nome usa trim(). Construtor e setters devem preservar as mesmas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Lista sugerida: final produtos = &lt;Produto&gt;[]. Alterações de dados passam pelos setters. A exclusão remove o objeto da coleção. O cadastro valida antes de adicionar.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Levar a leitura do teclado e o menu preparados. Tratar conversões e capturar ArgumentError no menu para informar erros sem encerrar o programa. A lista se perde quando a execução termina.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Reservar 40 minutos para conclusão em duplas. Cada dupla deve demonstrar um cadastro, consulta, atualização válida, tentativa inválida e exclusão. Extensão opcional: getter valorEmEstoque.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Critérios esperados: cadastro válido, atualização válida, valores inválidos rejeitados, dados preservados e exclusão efetiva. Solicitar uma explicação de como o setter impediu uma alteração indevida.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Respostas: controlar acesso e manter regras do estado; getter lê e setter controla escrita; impedir objeto inicialmente inválido; demonstrar a privacidade por biblioteca. Referências: https://dart.dev/language/methods e https://dart.dev/language/libraries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13/09/2026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ln>
            <a:solidFill>
              <a:srgbClr val="292A86"/>
            </a:solidFill>
          </a:ln>
        </p:spPr>
      </p:pic>
      <p:pic>
        <p:nvPicPr>
          <p:cNvPr id="5" name="Imagem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</p:spPr>
      </p:pic>
      <p:pic>
        <p:nvPicPr>
          <p:cNvPr id="6" name="Imagem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5950"/>
            <a:ext cx="9144000" cy="1809750"/>
          </a:xfrm>
        </p:spPr>
        <p:txBody>
          <a:bodyPr lIns="0" tIns="0" rIns="0" bIns="0" anchor="t">
            <a:noAutofit/>
          </a:bodyPr>
          <a:lstStyle/>
          <a:p>
            <a:r>
              <a:t>Encapsulamento</a:t>
            </a:r>
            <a:endParaRPr b="1"/>
          </a:p>
          <a:p>
            <a:r>
              <a:t>em Dart</a:t>
            </a:r>
            <a:endParaRPr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9550"/>
            <a:ext cx="9144000" cy="2047875"/>
          </a:xfrm>
        </p:spPr>
        <p:txBody>
          <a:bodyPr lIns="0" tIns="0" rIns="0" bIns="0" anchor="t">
            <a:noAutofit/>
          </a:bodyPr>
          <a:lstStyle/>
          <a:p>
            <a:r>
              <a:rPr dirty="0"/>
              <a:t>Getters e setters</a:t>
            </a:r>
          </a:p>
          <a:p>
            <a:r>
              <a:rPr dirty="0" err="1"/>
              <a:t>Desafio</a:t>
            </a:r>
            <a:r>
              <a:rPr dirty="0"/>
              <a:t>: CRUD de </a:t>
            </a:r>
            <a:r>
              <a:rPr dirty="0" err="1"/>
              <a:t>produtos</a:t>
            </a:r>
            <a:endParaRPr dirty="0"/>
          </a:p>
          <a:p>
            <a:endParaRPr dirty="0"/>
          </a:p>
          <a:p>
            <a:r>
              <a:rPr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A9B13-5E4D-4A39-9B21-A1A065DC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 de hoje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6BA63-3166-439A-B2A6-02393F76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Nesta aula, vamos compreender o </a:t>
            </a:r>
            <a:r>
              <a:rPr lang="pt-BR" b="1" dirty="0"/>
              <a:t>encapsulamento em </a:t>
            </a:r>
            <a:r>
              <a:rPr lang="pt-BR" b="1" dirty="0" err="1"/>
              <a:t>Dart</a:t>
            </a:r>
            <a:r>
              <a:rPr lang="pt-BR" dirty="0"/>
              <a:t> e como ele permite controlar o acesso e a alteração dos dados de um objeto. Aprenderemos a utilizar </a:t>
            </a:r>
            <a:r>
              <a:rPr lang="pt-BR" b="1" dirty="0"/>
              <a:t>atributos privados,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r>
              <a:rPr lang="pt-BR" dirty="0"/>
              <a:t>, aplicando validações para manter os dados consistentes.</a:t>
            </a:r>
          </a:p>
          <a:p>
            <a:endParaRPr lang="pt-BR" dirty="0"/>
          </a:p>
          <a:p>
            <a:r>
              <a:rPr lang="pt-BR" dirty="0"/>
              <a:t>Na atividade prática, desenvolveremos um </a:t>
            </a:r>
            <a:r>
              <a:rPr lang="pt-BR" b="1" dirty="0"/>
              <a:t>CRUD de produtos no console</a:t>
            </a:r>
            <a:r>
              <a:rPr lang="pt-BR" dirty="0"/>
              <a:t>, utilizando uma lista para armazenar os objetos. O sistema permitirá cadastrar, consultar, atualizar e excluir produtos, aplicando as regras de encapsulamento durante o cadastro e a alteração das informações.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66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Dados sem controle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 código aceita a atribuição. Mas esses valores fazem sentido para uma loja?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13335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Atributos públicos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produto.preco = -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produto.quantidade = -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21225"/>
            <a:ext cx="10820400" cy="1407457"/>
          </a:xfrm>
        </p:spPr>
        <p:txBody>
          <a:bodyPr lIns="0" tIns="0" rIns="0" bIns="0" anchor="t"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encapsulamento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princípio da Programação Orientada a Objetos que permite à classe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controlar como seus dados são consultados e alterados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Dessa forma, podemos definir regras para impedir que o objeto fique com informações inválidas.</a:t>
            </a:r>
            <a:endParaRPr sz="1800" b="0" dirty="0">
              <a:solidFill>
                <a:srgbClr val="11111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B381F20-2A73-466A-9A30-4880D2F3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9" y="3762067"/>
            <a:ext cx="5239481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Atributos privados no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prefixo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_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restringe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acesso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à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biblioteca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Código da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mesma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biblioteca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ainda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consegue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acessar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esses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atributos</a:t>
            </a:r>
            <a:r>
              <a:rPr sz="2025" b="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1C073F6A-0CB0-4412-9144-0319F16C98AC}"/>
              </a:ext>
            </a:extLst>
          </p:cNvPr>
          <p:cNvSpPr>
            <a:spLocks noGrp="1"/>
          </p:cNvSpPr>
          <p:nvPr/>
        </p:nvSpPr>
        <p:spPr>
          <a:xfrm>
            <a:off x="685800" y="3523131"/>
            <a:ext cx="10610850" cy="15240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91033082-2264-4D58-BEBF-0EB4ABE36E98}"/>
              </a:ext>
            </a:extLst>
          </p:cNvPr>
          <p:cNvSpPr>
            <a:spLocks noGrp="1"/>
          </p:cNvSpPr>
          <p:nvPr/>
        </p:nvSpPr>
        <p:spPr>
          <a:xfrm>
            <a:off x="895350" y="3713631"/>
            <a:ext cx="3407709" cy="1181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_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00" dirty="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1.0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_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00" dirty="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para a </a:t>
            </a:r>
            <a:r>
              <a:rPr dirty="0" err="1"/>
              <a:t>prática</a:t>
            </a:r>
            <a:endParaRPr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25" y="2171700"/>
            <a:ext cx="2857500" cy="342900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Produto guarda os dados e as regras.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main.dart utiliza a interface pública da classe.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7667625" cy="3714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7239000" cy="3371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produto.dart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Produto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_preco = 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1.0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 =&gt; _preco;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main.dart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9BAD56"/>
                </a:solidFill>
                <a:latin typeface="Consolas"/>
                <a:ea typeface="Consolas"/>
                <a:cs typeface="Consolas"/>
              </a:rPr>
              <a:t>'produto.dart'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produto._preco: acesso inválido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produto.preco: consulta válida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Getter: consulta de uma propriedade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get define a leitura. O getter devolve um valor. O acesso ocorre sem parênteses.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20955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175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dirty="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_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 dirty="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800" dirty="0" err="1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Uso</a:t>
            </a:r>
            <a:r>
              <a:rPr sz="1800" dirty="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 no main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print(</a:t>
            </a:r>
            <a:r>
              <a:rPr sz="1800" dirty="0" err="1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produto.preco</a:t>
            </a:r>
            <a:r>
              <a:rPr sz="1800" dirty="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Getter com expressão curta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=&gt;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retorna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resultado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uma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expressão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 Um getter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também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pode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calcular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uma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informação</a:t>
            </a:r>
            <a:r>
              <a:rPr sz="2025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20955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175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 =&gt; _preco;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quantidade =&gt; _quantidade;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valorEmEstoque =&gt;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_preco * _quantidade;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Setter: alteração com uma regra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25" y="2171700"/>
            <a:ext cx="2857500" cy="342900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set recebe um valor.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validação vem antes da alteração.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 valor inválido gera um erro.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7667625" cy="3714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7239000" cy="3371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preco(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novoPreco)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(!novoPreco.isFinite ||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  novoPreco &lt;= 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ArgumentError(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800">
                <a:solidFill>
                  <a:srgbClr val="9BAD56"/>
                </a:solidFill>
                <a:latin typeface="Consolas"/>
                <a:ea typeface="Consolas"/>
                <a:cs typeface="Consolas"/>
              </a:rPr>
              <a:t>'Informe um preço positivo.'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_preco = novoPreco;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Como o setter é utilizado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atribuição chama o setter. O setter só atualiza _preco depois de validar.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20955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175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produto.preco = 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150.0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print(produto.preco); </a:t>
            </a: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150.0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9C9B99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produto.preco = -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20.0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Gera ArgumentError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O preço continua 150.0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Getter e setter: leitura e escrita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25" y="2171700"/>
            <a:ext cx="2857500" cy="342900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Leitura</a:t>
            </a: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print(produto.preco)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Escrita</a:t>
            </a: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produto.preco = 90.0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7667625" cy="3714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7239000" cy="3371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 =&gt; _preco;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preco(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valor)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(!valor.isFinite || valor &lt;= 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ArgumentError(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800">
                <a:solidFill>
                  <a:srgbClr val="9BAD56"/>
                </a:solidFill>
                <a:latin typeface="Consolas"/>
                <a:ea typeface="Consolas"/>
                <a:cs typeface="Consolas"/>
              </a:rPr>
              <a:t>'Preço inválido.'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_preco = valor;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Propriedades sem setter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 código identifica o produto e permanece fixo. O total do estoque é calculado a partir dos dados.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152400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1181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final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codigo;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valorEmEstoque =&gt;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_preco * _quantidade;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Validação também no cadastro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25" y="2171700"/>
            <a:ext cx="2857500" cy="342900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 construtor chama o setter.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Assim, cadastro e atualização seguem a mesma regra.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7667625" cy="3714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7239000" cy="3371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Produto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_preco = 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1.0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Produto(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precoInicial)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  preco = precoInicial;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Getter e setter de preco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definidos anteriormente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Análise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625"/>
            <a:ext cx="10858500" cy="89535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 que falta nessa implementação? Qual deve ser a condição para aceitar a quantidade?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11010900" cy="1809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53700" cy="1466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quantidade(</a:t>
            </a: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valor)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 _quantidade = valor;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produto.quantidade = -</a:t>
            </a:r>
            <a:r>
              <a:rPr sz="1800">
                <a:solidFill>
                  <a:srgbClr val="7EB8E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Desafio: CRUD de produtos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Uma loja precisa cadastrar, consultar, atualizar e excluir produtos pelo console.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Cada produto deve proteger seus dados com encapsulamento, getters e setters.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Dados e regras do produto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Código: inteiro, único e fixo após o cadastro.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Nome: texto privado, sem conteúdo vazio.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Preço: número privado, finito e maior que zero.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Quantidade: inteiro privado, maior ou igual a zero.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Getters consultam os dados. Setters validam alterações.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Operações obrigatórias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Cadastrar: criar um Produto e adicionar à lista.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Consultar: listar os produtos e seus dados.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Atualizar: buscar pelo código e usar os setters.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Excluir: buscar pelo código e remover da lista.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Código inexistente deve gerar uma mensagem clara.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3FB7-F56C-4139-9738-F3CC6382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Organização do programa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63429-C38B-40BC-8A37-23ACA67C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25" y="2171700"/>
            <a:ext cx="2857500" cy="3429000"/>
          </a:xfrm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produto.dart</a:t>
            </a: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Classe e validações.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main.dart</a:t>
            </a: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Menu e operações.</a:t>
            </a:r>
          </a:p>
          <a:p>
            <a:endParaRPr sz="2025" b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Dados apenas em memória.</a:t>
            </a:r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D75B3664-1711-449B-A727-882FC030877E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7667625" cy="3714750"/>
          </a:xfrm>
          <a:prstGeom prst="roundRect">
            <a:avLst>
              <a:gd name="adj" fmla="val 8081"/>
            </a:avLst>
          </a:prstGeom>
          <a:solidFill>
            <a:srgbClr val="1F2024"/>
          </a:solidFill>
        </p:spPr>
        <p:txBody>
          <a:bodyPr/>
          <a:lstStyle/>
          <a:p>
            <a:endParaRPr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CD54AD4E-F858-4D7A-A53A-D3332D1E78E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7239000" cy="3371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main.dart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>
                <a:solidFill>
                  <a:srgbClr val="9BAD56"/>
                </a:solidFill>
                <a:latin typeface="Consolas"/>
                <a:ea typeface="Consolas"/>
                <a:cs typeface="Consolas"/>
              </a:rPr>
              <a:t>'produto.dart'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C08D5F"/>
                </a:solidFill>
                <a:latin typeface="Consolas"/>
                <a:ea typeface="Consolas"/>
                <a:cs typeface="Consolas"/>
              </a:rPr>
              <a:t>final</a:t>
            </a:r>
            <a:r>
              <a:rPr sz="1800">
                <a:solidFill>
                  <a:srgbClr val="E2E2E2"/>
                </a:solidFill>
                <a:latin typeface="Consolas"/>
                <a:ea typeface="Consolas"/>
                <a:cs typeface="Consolas"/>
              </a:rPr>
              <a:t> produtos = &lt;Produto&gt;[];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endParaRPr sz="1800">
              <a:solidFill>
                <a:srgbClr val="E2E2E2"/>
              </a:solidFill>
              <a:latin typeface="Consolas"/>
              <a:ea typeface="Consolas"/>
              <a:cs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1 - Cadastrar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2 - Listar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3 - Atualizar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4 - Excluir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2E2E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9C9B99"/>
                </a:solidFill>
                <a:latin typeface="Consolas"/>
                <a:ea typeface="Consolas"/>
                <a:cs typeface="Consolas"/>
              </a:rPr>
              <a:t>// 0 - Sair</a:t>
            </a:r>
          </a:p>
        </p:txBody>
      </p:sp>
    </p:spTree>
    <p:extLst>
      <p:ext uri="{BB962C8B-B14F-4D97-AF65-F5344CB8AC3E}">
        <p14:creationId xmlns:p14="http://schemas.microsoft.com/office/powerpoint/2010/main" val="277922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Critérios de entrega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As quatro operações funcionam pelo menu.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Atributos privados ficam em produto.dart.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Consultas usam getters e alterações usam setters.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Cadastro e atualização rejeitam dados inválidos.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Após uma tentativa inválida, o valor anterior permanece.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Verificação do CRUD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Cadastrar Mouse com preço 80 e quantidade 10.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Alterar o preço para 90 e consultar o resultado.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Tentar preço −5 e quantidade −1.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Confirmar que os dados válidos permanecem.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Excluir o produto e consultar a lista novamente.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5"/>
            <a:ext cx="9172575" cy="571500"/>
          </a:xfrm>
        </p:spPr>
        <p:txBody>
          <a:bodyPr lIns="0" tIns="0" rIns="0" bIns="0" anchor="t">
            <a:noAutofit/>
          </a:bodyPr>
          <a:lstStyle/>
          <a:p>
            <a:r>
              <a:t>Revisão para 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8825"/>
            <a:ext cx="10820400" cy="4191000"/>
          </a:xfrm>
        </p:spPr>
        <p:txBody>
          <a:bodyPr lIns="0" tIns="0" rIns="0" bIns="0" anchor="t">
            <a:noAutofit/>
          </a:bodyPr>
          <a:lstStyle/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Qual é a função do encapsulamento?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 que muda entre consultar e alterar uma propriedade?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Por que o construtor também precisa validar?</a:t>
            </a:r>
          </a:p>
          <a:p>
            <a:pPr algn="l">
              <a:spcAft>
                <a:spcPts val="3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>
              <a:spcAft>
                <a:spcPts val="1250"/>
              </a:spcAft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Por que usamos dois arquivos nessa atividade?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1714</Words>
  <Application>Microsoft Office PowerPoint</Application>
  <DocSecurity>0</DocSecurity>
  <PresentationFormat>Widescreen</PresentationFormat>
  <Paragraphs>194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Times New Roman</vt:lpstr>
      <vt:lpstr>Tema do Office</vt:lpstr>
      <vt:lpstr>Encapsulamento em Dart</vt:lpstr>
      <vt:lpstr>Objetivo da aula de hoje</vt:lpstr>
      <vt:lpstr>Dados sem controle</vt:lpstr>
      <vt:lpstr>Encapsulamento</vt:lpstr>
      <vt:lpstr>Atributos privados no Dart</vt:lpstr>
      <vt:lpstr>Dois arquivos para a prática</vt:lpstr>
      <vt:lpstr>Getter: consulta de uma propriedade</vt:lpstr>
      <vt:lpstr>Getter com expressão curta</vt:lpstr>
      <vt:lpstr>Setter: alteração com uma regra</vt:lpstr>
      <vt:lpstr>Como o setter é utilizado</vt:lpstr>
      <vt:lpstr>Getter e setter: leitura e escrita</vt:lpstr>
      <vt:lpstr>Propriedades sem setter</vt:lpstr>
      <vt:lpstr>Validação também no cadastro</vt:lpstr>
      <vt:lpstr>Análise de código</vt:lpstr>
      <vt:lpstr>Desafio: CRUD de produtos</vt:lpstr>
      <vt:lpstr>Dados e regras do produto</vt:lpstr>
      <vt:lpstr>Operações obrigatórias</vt:lpstr>
      <vt:lpstr>Organização do programa</vt:lpstr>
      <vt:lpstr>Critérios de entrega</vt:lpstr>
      <vt:lpstr>Verificação do CRUD</vt:lpstr>
      <vt:lpstr>Revisão para discussão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Pedro Henrique Miho de Souza</cp:lastModifiedBy>
  <cp:revision>2</cp:revision>
  <dcterms:created xsi:type="dcterms:W3CDTF">2026-09-14T00:10:34Z</dcterms:created>
  <dcterms:modified xsi:type="dcterms:W3CDTF">2026-09-14T00:38:52Z</dcterms:modified>
</cp:coreProperties>
</file>