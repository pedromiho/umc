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Abertura. Retome rapidamente classes, objetos, métodos e encapsulamento. Explique que a aula fecha os principais conceitos de POO antes da M1.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Apresente a sequência e combine que todo conceito será aplicado no mesmo exemplo de funcionários.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Peça aos alunos que identifiquem atributos, construtor e método. Em seguida, introduza o problema da repetição entre cargos.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exemplos do cotidiano, mas reforce a relação 'é um'. Evite usar herança apenas para reaproveitar código quando não existe essa relação.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Leia o código com a turma. Destaque que a classe base ainda é concreta neste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Monte esse código ao vivo. Mostre o erro que acontece se o construtor pai exigir parâmetros e super não for chamado.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Faça uma leitura da esquerda para a direita e mostre quais valores ficam em cada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sobrescrita e sobrecarga. Em Dart, o foco aqui é sobrescrita: mesma assinatura, implementação diferente na subclasse.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Mostre que o construtor abstrato continua importante porque será chamado pelas subclasses.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Destaque a diferença entre o tipo da referência e o tipo real do objeto.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Pergunte: qual método será executado? Mostre que a resposta depende do objeto armazenado em cada posição.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Explique que um método ou getter sem corpo é abstrato. A subclasse concreta precisa implementá-lo.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Explique que toda classe Dart define implicitamente uma interface, mas o modificador interface deixa a intenção mais clara. Para contratos sem implementação, use abstract interface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Faça a turma observar que extends e implements aparecem juntos, mas cumprem papéis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Peça que os alunos justifiquem por que Estagiario não implementa a interface neste cenário.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Mostre que duas classes podem implementar o mesmo contrato com cálculos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Destaque que também existe polimorfismo quando usamos uma interface como tipo de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Execute o programa no DartPad ou no projeto local. Peça previsões antes de mostrar a saída.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 tabela como revisão. Peça um exemplo de cada recurso antes de revelar a terceira coluna.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Reserve cerca de 10 minutos. Respostas: herança; método sobrescrito de Vendedor; não cumpre o contrato; super chama a versão do pai e override redefine;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Acompanhe as duplas. Sugestão: Carro elétrico usa capacidadeBateria / consumoMedio. Moto pode usar outro cálculo simples. O foco está na estrutura POO, não na precisão física.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Peça que os alunos corrijam primeiro sem executar. Depois, compare as soluções e destaque o tipo Autenticavel da variável.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Fechamento. Retome os erros mais comuns observados na atividade e indique quais tópicos devem ser revisados para a M1.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19998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algn="just"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algn="just"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algn="just"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algn="just"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18950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9512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5256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39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2166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1701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52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449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57225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882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92EB726-D575-4374-ABD5-7364C993F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3519" y="1825625"/>
            <a:ext cx="10760065" cy="4351338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7" name="Holder 2">
            <a:extLst>
              <a:ext uri="{FF2B5EF4-FFF2-40B4-BE49-F238E27FC236}">
                <a16:creationId xmlns:a16="http://schemas.microsoft.com/office/drawing/2014/main" id="{D772D076-3AF2-4DC9-AC57-19C5A1F31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520" y="817526"/>
            <a:ext cx="8360355" cy="525090"/>
          </a:xfrm>
          <a:prstGeom prst="rect">
            <a:avLst/>
          </a:prstGeom>
        </p:spPr>
        <p:txBody>
          <a:bodyPr lIns="0" tIns="0" rIns="0" bIns="0"/>
          <a:lstStyle>
            <a:lvl1pPr algn="just">
              <a:defRPr sz="2600" b="0" i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6446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82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851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3" r:id="rId12"/>
    <p:sldLayoutId id="214748366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A4FEE08-9165-4768-A28C-FAFA6BD5D437}"/>
              </a:ext>
            </a:extLst>
          </p:cNvPr>
          <p:cNvSpPr>
            <a:spLocks noGrp="1"/>
          </p:cNvSpPr>
          <p:nvPr/>
        </p:nvSpPr>
        <p:spPr>
          <a:xfrm>
            <a:off x="7810500" y="0"/>
            <a:ext cx="4381500" cy="6858000"/>
          </a:xfrm>
          <a:prstGeom prst="rect">
            <a:avLst/>
          </a:prstGeom>
          <a:solidFill>
            <a:srgbClr val="071225"/>
          </a:solidFill>
          <a:ln w="0">
            <a:noFill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6935B41-C3A7-4406-A2B1-BA784F92561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63817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31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Herança, Polimorfismo</a:t>
            </a:r>
          </a:p>
          <a:p>
            <a:pPr>
              <a:defRPr sz="31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 Interfaces em Dart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272E3CD-91AA-4E0B-B412-0B203EEB4701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57150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3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dirty="0" err="1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Programação</a:t>
            </a:r>
            <a:r>
              <a:rPr sz="1350" b="0" dirty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Orientada</a:t>
            </a:r>
            <a:r>
              <a:rPr sz="1350" b="0" dirty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 a </a:t>
            </a:r>
            <a:r>
              <a:rPr sz="1350" b="0" dirty="0" err="1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Objetos</a:t>
            </a:r>
            <a:r>
              <a:rPr sz="1350" b="0" dirty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 · </a:t>
            </a:r>
            <a:endParaRPr lang="pt-BR" sz="1350" b="0" dirty="0">
              <a:solidFill>
                <a:srgbClr val="5A667A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13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dirty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4º </a:t>
            </a:r>
            <a:r>
              <a:rPr sz="1350" b="0" dirty="0" err="1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semestre</a:t>
            </a:r>
            <a:r>
              <a:rPr sz="1350" b="0" dirty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350" b="0" dirty="0" err="1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Engenharia</a:t>
            </a:r>
            <a:r>
              <a:rPr sz="1350" b="0" dirty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 de Software</a:t>
            </a:r>
          </a:p>
        </p:txBody>
      </p:sp>
      <p:pic>
        <p:nvPicPr>
          <p:cNvPr id="16" name="Imagem 15"/>
          <p:cNvPicPr>
            <a:picLocks noChangeAspect="1"/>
          </p:cNvPicPr>
          <p:nvPr/>
        </p:nvPicPr>
        <p:blipFill>
          <a:blip r:embed="rId3"/>
          <a:srcRect l="2083" r="2083"/>
          <a:stretch>
            <a:fillRect/>
          </a:stretch>
        </p:blipFill>
        <p:spPr>
          <a:xfrm>
            <a:off x="7810500" y="0"/>
            <a:ext cx="4381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19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F0F5AE5F-057C-4F8A-85A3-79A329516301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B22E8-5FE3-40E3-8808-3ABD415D6E46}"/>
              </a:ext>
            </a:extLst>
          </p:cNvPr>
          <p:cNvSpPr>
            <a:spLocks noGrp="1"/>
          </p:cNvSpPr>
          <p:nvPr/>
        </p:nvSpPr>
        <p:spPr>
          <a:xfrm>
            <a:off x="710453" y="776567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Objetivos e organização da aula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0969143-89AC-4FF3-B2B8-B82870531746}"/>
              </a:ext>
            </a:extLst>
          </p:cNvPr>
          <p:cNvSpPr>
            <a:spLocks noGrp="1"/>
          </p:cNvSpPr>
          <p:nvPr/>
        </p:nvSpPr>
        <p:spPr>
          <a:xfrm>
            <a:off x="710453" y="1309967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0E5F6CE0-00EF-4921-A284-1D0F669CC011}"/>
              </a:ext>
            </a:extLst>
          </p:cNvPr>
          <p:cNvSpPr>
            <a:spLocks noGrp="1"/>
          </p:cNvSpPr>
          <p:nvPr/>
        </p:nvSpPr>
        <p:spPr>
          <a:xfrm>
            <a:off x="468406" y="2202516"/>
            <a:ext cx="3429000" cy="2190750"/>
          </a:xfrm>
          <a:prstGeom prst="roundRect">
            <a:avLst>
              <a:gd name="adj" fmla="val 3478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B699F5F-44DB-4B2C-AF1A-70AFBDD253C9}"/>
              </a:ext>
            </a:extLst>
          </p:cNvPr>
          <p:cNvSpPr>
            <a:spLocks noGrp="1"/>
          </p:cNvSpPr>
          <p:nvPr/>
        </p:nvSpPr>
        <p:spPr>
          <a:xfrm>
            <a:off x="468406" y="2202516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2588ABC-4231-4319-A1F9-7508541A1D4D}"/>
              </a:ext>
            </a:extLst>
          </p:cNvPr>
          <p:cNvSpPr>
            <a:spLocks noGrp="1"/>
          </p:cNvSpPr>
          <p:nvPr/>
        </p:nvSpPr>
        <p:spPr>
          <a:xfrm>
            <a:off x="639856" y="2316816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1º bloco · 50 min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52CF242-243C-4E93-B60D-2CBD8C6D2982}"/>
              </a:ext>
            </a:extLst>
          </p:cNvPr>
          <p:cNvSpPr>
            <a:spLocks noGrp="1"/>
          </p:cNvSpPr>
          <p:nvPr/>
        </p:nvSpPr>
        <p:spPr>
          <a:xfrm>
            <a:off x="639856" y="2697816"/>
            <a:ext cx="3143250" cy="1581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Herança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 base e subclasses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Construtor super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Sobrescrita com @override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92C736F2-4FF6-4F03-BC33-D628DA35A1CB}"/>
              </a:ext>
            </a:extLst>
          </p:cNvPr>
          <p:cNvSpPr>
            <a:spLocks noGrp="1"/>
          </p:cNvSpPr>
          <p:nvPr/>
        </p:nvSpPr>
        <p:spPr>
          <a:xfrm>
            <a:off x="4354606" y="2202516"/>
            <a:ext cx="3429000" cy="2190750"/>
          </a:xfrm>
          <a:prstGeom prst="roundRect">
            <a:avLst>
              <a:gd name="adj" fmla="val 3478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777BC83-FB62-409A-B424-57B84538996D}"/>
              </a:ext>
            </a:extLst>
          </p:cNvPr>
          <p:cNvSpPr>
            <a:spLocks noGrp="1"/>
          </p:cNvSpPr>
          <p:nvPr/>
        </p:nvSpPr>
        <p:spPr>
          <a:xfrm>
            <a:off x="4354606" y="2202516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99DB84C-3244-4FA5-BC69-6187EB147A74}"/>
              </a:ext>
            </a:extLst>
          </p:cNvPr>
          <p:cNvSpPr>
            <a:spLocks noGrp="1"/>
          </p:cNvSpPr>
          <p:nvPr/>
        </p:nvSpPr>
        <p:spPr>
          <a:xfrm>
            <a:off x="4526056" y="2316816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2º bloco · 50 min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7310377-1A66-4FFF-8DE0-7D57C950497F}"/>
              </a:ext>
            </a:extLst>
          </p:cNvPr>
          <p:cNvSpPr>
            <a:spLocks noGrp="1"/>
          </p:cNvSpPr>
          <p:nvPr/>
        </p:nvSpPr>
        <p:spPr>
          <a:xfrm>
            <a:off x="4526056" y="2697816"/>
            <a:ext cx="3143250" cy="1581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Polimorfismo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Referência do tipo pai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Comportamentos diferentes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 abstrata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4FF1D97-3713-4659-B71D-ABAAC1B76659}"/>
              </a:ext>
            </a:extLst>
          </p:cNvPr>
          <p:cNvSpPr>
            <a:spLocks noGrp="1"/>
          </p:cNvSpPr>
          <p:nvPr/>
        </p:nvSpPr>
        <p:spPr>
          <a:xfrm>
            <a:off x="8240806" y="2202516"/>
            <a:ext cx="3429000" cy="2190750"/>
          </a:xfrm>
          <a:prstGeom prst="roundRect">
            <a:avLst>
              <a:gd name="adj" fmla="val 3478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6096AD8-10E6-4F06-B4EA-877DA96CFA97}"/>
              </a:ext>
            </a:extLst>
          </p:cNvPr>
          <p:cNvSpPr>
            <a:spLocks noGrp="1"/>
          </p:cNvSpPr>
          <p:nvPr/>
        </p:nvSpPr>
        <p:spPr>
          <a:xfrm>
            <a:off x="8240806" y="2202516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62FFF49-4538-428B-BFB4-1C521CAE79B7}"/>
              </a:ext>
            </a:extLst>
          </p:cNvPr>
          <p:cNvSpPr>
            <a:spLocks noGrp="1"/>
          </p:cNvSpPr>
          <p:nvPr/>
        </p:nvSpPr>
        <p:spPr>
          <a:xfrm>
            <a:off x="8412256" y="2316816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3º bloco · 60 min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2BC4B3AF-6720-4423-97C3-031317E50028}"/>
              </a:ext>
            </a:extLst>
          </p:cNvPr>
          <p:cNvSpPr>
            <a:spLocks noGrp="1"/>
          </p:cNvSpPr>
          <p:nvPr/>
        </p:nvSpPr>
        <p:spPr>
          <a:xfrm>
            <a:off x="8412256" y="2697816"/>
            <a:ext cx="3143250" cy="1581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Interfaces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implements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Projeto integrado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Atividade e revisão para a M1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B40C404-4DA0-4CA3-BA1D-4F6E332DDFFD}"/>
              </a:ext>
            </a:extLst>
          </p:cNvPr>
          <p:cNvSpPr>
            <a:spLocks noGrp="1"/>
          </p:cNvSpPr>
          <p:nvPr/>
        </p:nvSpPr>
        <p:spPr>
          <a:xfrm>
            <a:off x="468406" y="4917141"/>
            <a:ext cx="112014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Intervalos e correções: 20 minutos distribuídos entre os blocos.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C0401085-388A-437C-B79A-768D8C253DCB}"/>
              </a:ext>
            </a:extLst>
          </p:cNvPr>
          <p:cNvSpPr>
            <a:spLocks noGrp="1"/>
          </p:cNvSpPr>
          <p:nvPr/>
        </p:nvSpPr>
        <p:spPr>
          <a:xfrm>
            <a:off x="1461807" y="5687545"/>
            <a:ext cx="9429750" cy="838200"/>
          </a:xfrm>
          <a:prstGeom prst="roundRect">
            <a:avLst>
              <a:gd name="adj" fmla="val 9091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0370BAF-764E-4451-A315-BEAFE49E0870}"/>
              </a:ext>
            </a:extLst>
          </p:cNvPr>
          <p:cNvSpPr>
            <a:spLocks noGrp="1"/>
          </p:cNvSpPr>
          <p:nvPr/>
        </p:nvSpPr>
        <p:spPr>
          <a:xfrm>
            <a:off x="1699932" y="5811370"/>
            <a:ext cx="8953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37"/>
          </a:bodyPr>
          <a:lstStyle/>
          <a:p>
            <a:pPr>
              <a:defRPr sz="150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final, o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aluno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deverá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reconhecer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quando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usar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extends, @override e implements e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explicar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como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o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polimorfismo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permite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tratar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objetos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diferentes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pelo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mesmo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tipo</a:t>
            </a:r>
            <a:r>
              <a:rPr sz="150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639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D3248774-B8FA-4F7E-8418-774AA8A7F82D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89290C0-4654-413A-AB3F-C83E524EDCAF}"/>
              </a:ext>
            </a:extLst>
          </p:cNvPr>
          <p:cNvSpPr>
            <a:spLocks noGrp="1"/>
          </p:cNvSpPr>
          <p:nvPr/>
        </p:nvSpPr>
        <p:spPr>
          <a:xfrm>
            <a:off x="746311" y="749673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Retomada: o que já temos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2A89078-2753-444B-A5DB-6473FE1E33E8}"/>
              </a:ext>
            </a:extLst>
          </p:cNvPr>
          <p:cNvSpPr>
            <a:spLocks noGrp="1"/>
          </p:cNvSpPr>
          <p:nvPr/>
        </p:nvSpPr>
        <p:spPr>
          <a:xfrm>
            <a:off x="746311" y="1283073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14C21D4-473F-4546-8859-E4F1F83EE47A}"/>
              </a:ext>
            </a:extLst>
          </p:cNvPr>
          <p:cNvSpPr>
            <a:spLocks noGrp="1"/>
          </p:cNvSpPr>
          <p:nvPr/>
        </p:nvSpPr>
        <p:spPr>
          <a:xfrm>
            <a:off x="765361" y="1787898"/>
            <a:ext cx="4953000" cy="4095750"/>
          </a:xfrm>
          <a:prstGeom prst="roundRect">
            <a:avLst>
              <a:gd name="adj" fmla="val 1860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E8E5BEE-19BF-4CC6-BD73-6842D00CAD6E}"/>
              </a:ext>
            </a:extLst>
          </p:cNvPr>
          <p:cNvSpPr>
            <a:spLocks noGrp="1"/>
          </p:cNvSpPr>
          <p:nvPr/>
        </p:nvSpPr>
        <p:spPr>
          <a:xfrm>
            <a:off x="879661" y="1864098"/>
            <a:ext cx="4724400" cy="394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Funcionario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nome;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salario;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Funcionario(this.nome, this.salario);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void exibirInformacoes()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print('Nome: $nome');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print('Salário: R$ $salario');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839A627-D26D-4085-8E6B-C178086632FB}"/>
              </a:ext>
            </a:extLst>
          </p:cNvPr>
          <p:cNvSpPr>
            <a:spLocks noGrp="1"/>
          </p:cNvSpPr>
          <p:nvPr/>
        </p:nvSpPr>
        <p:spPr>
          <a:xfrm>
            <a:off x="6251761" y="1930773"/>
            <a:ext cx="5048250" cy="9525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F6DBEDE-F309-463F-B349-4C37673A06A9}"/>
              </a:ext>
            </a:extLst>
          </p:cNvPr>
          <p:cNvSpPr>
            <a:spLocks noGrp="1"/>
          </p:cNvSpPr>
          <p:nvPr/>
        </p:nvSpPr>
        <p:spPr>
          <a:xfrm>
            <a:off x="6251761" y="1930773"/>
            <a:ext cx="66675" cy="95250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D2A8856-02EB-4DFC-8A25-E5D3C5506B05}"/>
              </a:ext>
            </a:extLst>
          </p:cNvPr>
          <p:cNvSpPr>
            <a:spLocks noGrp="1"/>
          </p:cNvSpPr>
          <p:nvPr/>
        </p:nvSpPr>
        <p:spPr>
          <a:xfrm>
            <a:off x="6423211" y="2045073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Classe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5EBA520-068B-415D-A081-CB04BA0FC170}"/>
              </a:ext>
            </a:extLst>
          </p:cNvPr>
          <p:cNvSpPr>
            <a:spLocks noGrp="1"/>
          </p:cNvSpPr>
          <p:nvPr/>
        </p:nvSpPr>
        <p:spPr>
          <a:xfrm>
            <a:off x="6423211" y="2426073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Define os atributos e os comportamentos comuns.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23DCD7B-819A-4C46-BE52-5485CA7C7EAA}"/>
              </a:ext>
            </a:extLst>
          </p:cNvPr>
          <p:cNvSpPr>
            <a:spLocks noGrp="1"/>
          </p:cNvSpPr>
          <p:nvPr/>
        </p:nvSpPr>
        <p:spPr>
          <a:xfrm>
            <a:off x="6251761" y="3121398"/>
            <a:ext cx="5048250" cy="952500"/>
          </a:xfrm>
          <a:prstGeom prst="roundRect">
            <a:avLst>
              <a:gd name="adj" fmla="val 8000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0F48C84-B6F0-4AA8-BD75-D1A26DB59C1B}"/>
              </a:ext>
            </a:extLst>
          </p:cNvPr>
          <p:cNvSpPr>
            <a:spLocks noGrp="1"/>
          </p:cNvSpPr>
          <p:nvPr/>
        </p:nvSpPr>
        <p:spPr>
          <a:xfrm>
            <a:off x="6251761" y="3121398"/>
            <a:ext cx="66675" cy="952500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279F310-5D43-4876-99C0-80694BC2B867}"/>
              </a:ext>
            </a:extLst>
          </p:cNvPr>
          <p:cNvSpPr>
            <a:spLocks noGrp="1"/>
          </p:cNvSpPr>
          <p:nvPr/>
        </p:nvSpPr>
        <p:spPr>
          <a:xfrm>
            <a:off x="6423211" y="3235698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Encapsulamento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A108955-FA63-415B-A0F3-CD2829D593B2}"/>
              </a:ext>
            </a:extLst>
          </p:cNvPr>
          <p:cNvSpPr>
            <a:spLocks noGrp="1"/>
          </p:cNvSpPr>
          <p:nvPr/>
        </p:nvSpPr>
        <p:spPr>
          <a:xfrm>
            <a:off x="6423211" y="3616698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7409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Controla como o estado do objeto pode ser acessado e alterado.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B1EBAAF-6014-4074-86E4-9ADEF0E35631}"/>
              </a:ext>
            </a:extLst>
          </p:cNvPr>
          <p:cNvSpPr>
            <a:spLocks noGrp="1"/>
          </p:cNvSpPr>
          <p:nvPr/>
        </p:nvSpPr>
        <p:spPr>
          <a:xfrm>
            <a:off x="6251761" y="4312023"/>
            <a:ext cx="5048250" cy="1190625"/>
          </a:xfrm>
          <a:prstGeom prst="roundRect">
            <a:avLst>
              <a:gd name="adj" fmla="val 6400"/>
            </a:avLst>
          </a:prstGeom>
          <a:solidFill>
            <a:srgbClr val="FFF2C6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DE8DCFB-2F1D-4EC4-9C8B-ADFFFF4BCB21}"/>
              </a:ext>
            </a:extLst>
          </p:cNvPr>
          <p:cNvSpPr>
            <a:spLocks noGrp="1"/>
          </p:cNvSpPr>
          <p:nvPr/>
        </p:nvSpPr>
        <p:spPr>
          <a:xfrm>
            <a:off x="6251761" y="4312023"/>
            <a:ext cx="66675" cy="1190625"/>
          </a:xfrm>
          <a:prstGeom prst="roundRect">
            <a:avLst>
              <a:gd name="adj" fmla="val 50000"/>
            </a:avLst>
          </a:prstGeom>
          <a:solidFill>
            <a:srgbClr val="9B6B00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5DF317A7-35D5-4D92-A2D9-74BBF4DAC28F}"/>
              </a:ext>
            </a:extLst>
          </p:cNvPr>
          <p:cNvSpPr>
            <a:spLocks noGrp="1"/>
          </p:cNvSpPr>
          <p:nvPr/>
        </p:nvSpPr>
        <p:spPr>
          <a:xfrm>
            <a:off x="6423211" y="4426323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9B6B0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9B6B00"/>
                </a:solidFill>
                <a:latin typeface="DejaVu Sans"/>
                <a:ea typeface="DejaVu Sans"/>
                <a:cs typeface="DejaVu Sans"/>
              </a:rPr>
              <a:t>Pergunta da aula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06E0181-C54B-4AA9-BFD1-08DB5BC3128A}"/>
              </a:ext>
            </a:extLst>
          </p:cNvPr>
          <p:cNvSpPr>
            <a:spLocks noGrp="1"/>
          </p:cNvSpPr>
          <p:nvPr/>
        </p:nvSpPr>
        <p:spPr>
          <a:xfrm>
            <a:off x="6423211" y="4807323"/>
            <a:ext cx="4762500" cy="581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Como evitar repetir nome, salário e exibirInformacoes em cada cargo?</a:t>
            </a:r>
          </a:p>
        </p:txBody>
      </p:sp>
    </p:spTree>
    <p:extLst>
      <p:ext uri="{BB962C8B-B14F-4D97-AF65-F5344CB8AC3E}">
        <p14:creationId xmlns:p14="http://schemas.microsoft.com/office/powerpoint/2010/main" val="1637103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>
            <a:extLst>
              <a:ext uri="{FF2B5EF4-FFF2-40B4-BE49-F238E27FC236}">
                <a16:creationId xmlns:a16="http://schemas.microsoft.com/office/drawing/2014/main" id="{45870F5F-53FC-47BF-92FD-F2D2BB905996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7644328-1CF0-44B3-86BF-23D9CB8332CB}"/>
              </a:ext>
            </a:extLst>
          </p:cNvPr>
          <p:cNvSpPr>
            <a:spLocks noGrp="1"/>
          </p:cNvSpPr>
          <p:nvPr/>
        </p:nvSpPr>
        <p:spPr>
          <a:xfrm>
            <a:off x="737347" y="624168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Herança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1CE2491-8F4D-4D37-AAD7-1DD51143AA91}"/>
              </a:ext>
            </a:extLst>
          </p:cNvPr>
          <p:cNvSpPr>
            <a:spLocks noGrp="1"/>
          </p:cNvSpPr>
          <p:nvPr/>
        </p:nvSpPr>
        <p:spPr>
          <a:xfrm>
            <a:off x="737347" y="1184463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E8D7A7B-EA3F-43B9-A2BA-496467CC429D}"/>
              </a:ext>
            </a:extLst>
          </p:cNvPr>
          <p:cNvSpPr>
            <a:spLocks noGrp="1"/>
          </p:cNvSpPr>
          <p:nvPr/>
        </p:nvSpPr>
        <p:spPr>
          <a:xfrm>
            <a:off x="908797" y="1662393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0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Herança permite criar uma classe nova a partir de outra classe.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2CB2BEC-DF5E-4FB3-A8EE-F5AB0540C8B8}"/>
              </a:ext>
            </a:extLst>
          </p:cNvPr>
          <p:cNvSpPr>
            <a:spLocks noGrp="1"/>
          </p:cNvSpPr>
          <p:nvPr/>
        </p:nvSpPr>
        <p:spPr>
          <a:xfrm>
            <a:off x="908797" y="2836770"/>
            <a:ext cx="4381500" cy="2095500"/>
          </a:xfrm>
          <a:prstGeom prst="roundRect">
            <a:avLst>
              <a:gd name="adj" fmla="val 3636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E62D935-E393-4D39-9F7F-AE2202D18A33}"/>
              </a:ext>
            </a:extLst>
          </p:cNvPr>
          <p:cNvSpPr>
            <a:spLocks noGrp="1"/>
          </p:cNvSpPr>
          <p:nvPr/>
        </p:nvSpPr>
        <p:spPr>
          <a:xfrm>
            <a:off x="908797" y="2836770"/>
            <a:ext cx="66675" cy="209550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B03C927-0582-4701-A1E9-0164EF1758A3}"/>
              </a:ext>
            </a:extLst>
          </p:cNvPr>
          <p:cNvSpPr>
            <a:spLocks noGrp="1"/>
          </p:cNvSpPr>
          <p:nvPr/>
        </p:nvSpPr>
        <p:spPr>
          <a:xfrm>
            <a:off x="1080247" y="2951070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Classe pai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8358941-EC06-43C9-A480-533C124FBCAB}"/>
              </a:ext>
            </a:extLst>
          </p:cNvPr>
          <p:cNvSpPr>
            <a:spLocks noGrp="1"/>
          </p:cNvSpPr>
          <p:nvPr/>
        </p:nvSpPr>
        <p:spPr>
          <a:xfrm>
            <a:off x="1080247" y="3332070"/>
            <a:ext cx="4095750" cy="1485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Funcionario concentra o que todos os cargos possuem: nome, salário e exibição de informações.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5311866-0364-4411-940D-3D9B78DA5288}"/>
              </a:ext>
            </a:extLst>
          </p:cNvPr>
          <p:cNvSpPr>
            <a:spLocks noGrp="1"/>
          </p:cNvSpPr>
          <p:nvPr/>
        </p:nvSpPr>
        <p:spPr>
          <a:xfrm>
            <a:off x="6909547" y="2836770"/>
            <a:ext cx="4381500" cy="2095500"/>
          </a:xfrm>
          <a:prstGeom prst="roundRect">
            <a:avLst>
              <a:gd name="adj" fmla="val 3636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1BCF771-A1DC-4179-8FBF-7507911DC419}"/>
              </a:ext>
            </a:extLst>
          </p:cNvPr>
          <p:cNvSpPr>
            <a:spLocks noGrp="1"/>
          </p:cNvSpPr>
          <p:nvPr/>
        </p:nvSpPr>
        <p:spPr>
          <a:xfrm>
            <a:off x="6909547" y="2836770"/>
            <a:ext cx="66675" cy="2095500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4215919-65E7-406A-B51A-CEAEEE967814}"/>
              </a:ext>
            </a:extLst>
          </p:cNvPr>
          <p:cNvSpPr>
            <a:spLocks noGrp="1"/>
          </p:cNvSpPr>
          <p:nvPr/>
        </p:nvSpPr>
        <p:spPr>
          <a:xfrm>
            <a:off x="7080997" y="2951070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Classes filhas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8AC9B9A-DFAA-4692-AE34-12626F203CE9}"/>
              </a:ext>
            </a:extLst>
          </p:cNvPr>
          <p:cNvSpPr>
            <a:spLocks noGrp="1"/>
          </p:cNvSpPr>
          <p:nvPr/>
        </p:nvSpPr>
        <p:spPr>
          <a:xfrm>
            <a:off x="7080997" y="3332070"/>
            <a:ext cx="4095750" cy="1485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Gerente, Vendedor e Estagiario recebem os membros da classe pai e podem adicionar comportamentos próprios.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178A473-420B-43CB-8CBB-5D15B8BE0385}"/>
              </a:ext>
            </a:extLst>
          </p:cNvPr>
          <p:cNvSpPr>
            <a:spLocks noGrp="1"/>
          </p:cNvSpPr>
          <p:nvPr/>
        </p:nvSpPr>
        <p:spPr>
          <a:xfrm>
            <a:off x="5385547" y="3408270"/>
            <a:ext cx="1428750" cy="571500"/>
          </a:xfrm>
          <a:prstGeom prst="rect">
            <a:avLst/>
          </a:prstGeom>
          <a:solidFill>
            <a:srgbClr val="FFF2C6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875" b="1">
                <a:solidFill>
                  <a:srgbClr val="D6455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64550"/>
                </a:solidFill>
                <a:latin typeface="DejaVu Sans"/>
                <a:ea typeface="DejaVu Sans"/>
                <a:cs typeface="DejaVu Sans"/>
              </a:rPr>
              <a:t>extends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CD8B011-BE60-4F07-8945-A7056DA398D1}"/>
              </a:ext>
            </a:extLst>
          </p:cNvPr>
          <p:cNvSpPr>
            <a:spLocks noGrp="1"/>
          </p:cNvSpPr>
          <p:nvPr/>
        </p:nvSpPr>
        <p:spPr>
          <a:xfrm>
            <a:off x="1813672" y="5599020"/>
            <a:ext cx="8572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Relação conceitual: todo Gerente é um Funcionario.</a:t>
            </a:r>
          </a:p>
        </p:txBody>
      </p:sp>
    </p:spTree>
    <p:extLst>
      <p:ext uri="{BB962C8B-B14F-4D97-AF65-F5344CB8AC3E}">
        <p14:creationId xmlns:p14="http://schemas.microsoft.com/office/powerpoint/2010/main" val="809830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09ACEDEF-F9DA-4E1B-BB8D-1056149E3D29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051E0E3-F4F6-4A66-A443-6BB97C43EEF2}"/>
              </a:ext>
            </a:extLst>
          </p:cNvPr>
          <p:cNvSpPr>
            <a:spLocks noGrp="1"/>
          </p:cNvSpPr>
          <p:nvPr/>
        </p:nvSpPr>
        <p:spPr>
          <a:xfrm>
            <a:off x="746312" y="677956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</a:t>
            </a:r>
            <a:r>
              <a:rPr sz="225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base </a:t>
            </a:r>
            <a:r>
              <a:rPr sz="225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Funcionario</a:t>
            </a:r>
            <a:endParaRPr sz="2250" b="1" dirty="0">
              <a:solidFill>
                <a:srgbClr val="1720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DA3CB64-F625-4C74-991F-B00C1BF16506}"/>
              </a:ext>
            </a:extLst>
          </p:cNvPr>
          <p:cNvSpPr>
            <a:spLocks noGrp="1"/>
          </p:cNvSpPr>
          <p:nvPr/>
        </p:nvSpPr>
        <p:spPr>
          <a:xfrm>
            <a:off x="746312" y="1211356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C6413658-4BFD-4485-AB91-A1E6D29193F0}"/>
              </a:ext>
            </a:extLst>
          </p:cNvPr>
          <p:cNvSpPr>
            <a:spLocks noGrp="1"/>
          </p:cNvSpPr>
          <p:nvPr/>
        </p:nvSpPr>
        <p:spPr>
          <a:xfrm>
            <a:off x="822512" y="1668556"/>
            <a:ext cx="6000750" cy="4381500"/>
          </a:xfrm>
          <a:prstGeom prst="roundRect">
            <a:avLst>
              <a:gd name="adj" fmla="val 1739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5D418D5-4D99-432B-A52C-C678D75F9D97}"/>
              </a:ext>
            </a:extLst>
          </p:cNvPr>
          <p:cNvSpPr>
            <a:spLocks noGrp="1"/>
          </p:cNvSpPr>
          <p:nvPr/>
        </p:nvSpPr>
        <p:spPr>
          <a:xfrm>
            <a:off x="936812" y="1744756"/>
            <a:ext cx="5772150" cy="422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Funcionario {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nome;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salario;</a:t>
            </a:r>
          </a:p>
          <a:p>
            <a:endParaRPr sz="142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Funcionario(this.nome, this.salario);</a:t>
            </a:r>
          </a:p>
          <a:p>
            <a:endParaRPr sz="142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void exibirInformacoes() {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print('Nome: $nome');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print('Salário: R$ ${salario.toStringAsFixed(2)}');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1C345B2D-B0A6-47FC-A447-E19E487B0515}"/>
              </a:ext>
            </a:extLst>
          </p:cNvPr>
          <p:cNvSpPr>
            <a:spLocks noGrp="1"/>
          </p:cNvSpPr>
          <p:nvPr/>
        </p:nvSpPr>
        <p:spPr>
          <a:xfrm>
            <a:off x="7347137" y="2144806"/>
            <a:ext cx="4191000" cy="1762125"/>
          </a:xfrm>
          <a:prstGeom prst="roundRect">
            <a:avLst>
              <a:gd name="adj" fmla="val 4324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B15F4BE-12BC-49C8-B7A8-8D35A64C7576}"/>
              </a:ext>
            </a:extLst>
          </p:cNvPr>
          <p:cNvSpPr>
            <a:spLocks noGrp="1"/>
          </p:cNvSpPr>
          <p:nvPr/>
        </p:nvSpPr>
        <p:spPr>
          <a:xfrm>
            <a:off x="7347137" y="2144806"/>
            <a:ext cx="66675" cy="176212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93BEEB1-B82F-496B-B0CC-02F2A1C2A517}"/>
              </a:ext>
            </a:extLst>
          </p:cNvPr>
          <p:cNvSpPr>
            <a:spLocks noGrp="1"/>
          </p:cNvSpPr>
          <p:nvPr/>
        </p:nvSpPr>
        <p:spPr>
          <a:xfrm>
            <a:off x="7518587" y="2259106"/>
            <a:ext cx="3905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Responsabilidade da classe pai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768EA9C-7638-4FA5-8325-88268467E954}"/>
              </a:ext>
            </a:extLst>
          </p:cNvPr>
          <p:cNvSpPr>
            <a:spLocks noGrp="1"/>
          </p:cNvSpPr>
          <p:nvPr/>
        </p:nvSpPr>
        <p:spPr>
          <a:xfrm>
            <a:off x="7518587" y="2640106"/>
            <a:ext cx="3905250" cy="1152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Armazenar os dados comuns e oferecer um comportamento que pode ser reaproveitado ou sobrescrito pelas subclasses.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F7152A2-7244-4898-A700-A793C275C5DB}"/>
              </a:ext>
            </a:extLst>
          </p:cNvPr>
          <p:cNvSpPr>
            <a:spLocks noGrp="1"/>
          </p:cNvSpPr>
          <p:nvPr/>
        </p:nvSpPr>
        <p:spPr>
          <a:xfrm>
            <a:off x="7347137" y="4287931"/>
            <a:ext cx="4191000" cy="1143000"/>
          </a:xfrm>
          <a:prstGeom prst="roundRect">
            <a:avLst>
              <a:gd name="adj" fmla="val 6667"/>
            </a:avLst>
          </a:prstGeom>
          <a:solidFill>
            <a:srgbClr val="FFF2C6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3383160-BB6F-4387-86E8-6CE3139C84E6}"/>
              </a:ext>
            </a:extLst>
          </p:cNvPr>
          <p:cNvSpPr>
            <a:spLocks noGrp="1"/>
          </p:cNvSpPr>
          <p:nvPr/>
        </p:nvSpPr>
        <p:spPr>
          <a:xfrm>
            <a:off x="7347137" y="4287931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9B6B00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FE0521CD-6EAF-483F-BBAD-5823ADDE2D8C}"/>
              </a:ext>
            </a:extLst>
          </p:cNvPr>
          <p:cNvSpPr>
            <a:spLocks noGrp="1"/>
          </p:cNvSpPr>
          <p:nvPr/>
        </p:nvSpPr>
        <p:spPr>
          <a:xfrm>
            <a:off x="7518587" y="4402231"/>
            <a:ext cx="3905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9B6B0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9B6B00"/>
                </a:solidFill>
                <a:latin typeface="DejaVu Sans"/>
                <a:ea typeface="DejaVu Sans"/>
                <a:cs typeface="DejaVu Sans"/>
              </a:rPr>
              <a:t>Atenção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F0815A8-043E-4025-A2B6-921848F06FFD}"/>
              </a:ext>
            </a:extLst>
          </p:cNvPr>
          <p:cNvSpPr>
            <a:spLocks noGrp="1"/>
          </p:cNvSpPr>
          <p:nvPr/>
        </p:nvSpPr>
        <p:spPr>
          <a:xfrm>
            <a:off x="7518587" y="4783231"/>
            <a:ext cx="390525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 classe ainda pode ser instanciada. Mais adiante, vamos transformá-la em abstrata.</a:t>
            </a:r>
          </a:p>
        </p:txBody>
      </p:sp>
    </p:spTree>
    <p:extLst>
      <p:ext uri="{BB962C8B-B14F-4D97-AF65-F5344CB8AC3E}">
        <p14:creationId xmlns:p14="http://schemas.microsoft.com/office/powerpoint/2010/main" val="132197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5CB9C2DF-DD01-42CD-B0C1-3B5924F5D4BC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8C2991B-51CB-4E5A-BDF3-2C2BA4C97FEB}"/>
              </a:ext>
            </a:extLst>
          </p:cNvPr>
          <p:cNvSpPr>
            <a:spLocks noGrp="1"/>
          </p:cNvSpPr>
          <p:nvPr/>
        </p:nvSpPr>
        <p:spPr>
          <a:xfrm>
            <a:off x="746312" y="71381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Criando uma subclasse com extends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863B164-58FC-4DE9-9B2C-94196914846A}"/>
              </a:ext>
            </a:extLst>
          </p:cNvPr>
          <p:cNvSpPr>
            <a:spLocks noGrp="1"/>
          </p:cNvSpPr>
          <p:nvPr/>
        </p:nvSpPr>
        <p:spPr>
          <a:xfrm>
            <a:off x="746312" y="124721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55B00E5-5B72-424A-957D-A95D023E36AB}"/>
              </a:ext>
            </a:extLst>
          </p:cNvPr>
          <p:cNvSpPr>
            <a:spLocks noGrp="1"/>
          </p:cNvSpPr>
          <p:nvPr/>
        </p:nvSpPr>
        <p:spPr>
          <a:xfrm>
            <a:off x="917762" y="1894915"/>
            <a:ext cx="5857875" cy="2857500"/>
          </a:xfrm>
          <a:prstGeom prst="roundRect">
            <a:avLst>
              <a:gd name="adj" fmla="val 2667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ABBCC6B-43F1-44EC-BAFB-5F5CB70165AA}"/>
              </a:ext>
            </a:extLst>
          </p:cNvPr>
          <p:cNvSpPr>
            <a:spLocks noGrp="1"/>
          </p:cNvSpPr>
          <p:nvPr/>
        </p:nvSpPr>
        <p:spPr>
          <a:xfrm>
            <a:off x="1032062" y="1971115"/>
            <a:ext cx="5629275" cy="2705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Gerente extends Funcionario {</a:t>
            </a:r>
          </a:p>
          <a:p>
            <a:pPr>
              <a:def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setor;</a:t>
            </a:r>
          </a:p>
          <a:p>
            <a:endParaRPr sz="150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Gerente(String nome, double salario, this.setor)</a:t>
            </a:r>
          </a:p>
          <a:p>
            <a:pPr>
              <a:def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: super(nome, salario);</a:t>
            </a:r>
          </a:p>
          <a:p>
            <a:pPr>
              <a:def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C8C645FC-D458-40FF-B620-065A27C15803}"/>
              </a:ext>
            </a:extLst>
          </p:cNvPr>
          <p:cNvSpPr>
            <a:spLocks noGrp="1"/>
          </p:cNvSpPr>
          <p:nvPr/>
        </p:nvSpPr>
        <p:spPr>
          <a:xfrm>
            <a:off x="7251887" y="1847290"/>
            <a:ext cx="4286250" cy="1000125"/>
          </a:xfrm>
          <a:prstGeom prst="roundRect">
            <a:avLst>
              <a:gd name="adj" fmla="val 7619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AEA88996-5087-4D6A-B5C5-2EB8F2EA01B7}"/>
              </a:ext>
            </a:extLst>
          </p:cNvPr>
          <p:cNvSpPr>
            <a:spLocks noGrp="1"/>
          </p:cNvSpPr>
          <p:nvPr/>
        </p:nvSpPr>
        <p:spPr>
          <a:xfrm>
            <a:off x="7251887" y="1847290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3AEADE4-5129-4B05-BC83-0416C75B9EEF}"/>
              </a:ext>
            </a:extLst>
          </p:cNvPr>
          <p:cNvSpPr>
            <a:spLocks noGrp="1"/>
          </p:cNvSpPr>
          <p:nvPr/>
        </p:nvSpPr>
        <p:spPr>
          <a:xfrm>
            <a:off x="7423337" y="1961590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extends Funcionario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27121D2-22A3-435C-B2E0-A45F1C0967C2}"/>
              </a:ext>
            </a:extLst>
          </p:cNvPr>
          <p:cNvSpPr>
            <a:spLocks noGrp="1"/>
          </p:cNvSpPr>
          <p:nvPr/>
        </p:nvSpPr>
        <p:spPr>
          <a:xfrm>
            <a:off x="7423337" y="2342590"/>
            <a:ext cx="400050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4461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Indica que Gerente herda os membros disponíveis da classe Funcionario.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8925FCB-0307-4376-B021-0675407F7A2D}"/>
              </a:ext>
            </a:extLst>
          </p:cNvPr>
          <p:cNvSpPr>
            <a:spLocks noGrp="1"/>
          </p:cNvSpPr>
          <p:nvPr/>
        </p:nvSpPr>
        <p:spPr>
          <a:xfrm>
            <a:off x="7251887" y="3133165"/>
            <a:ext cx="4286250" cy="1000125"/>
          </a:xfrm>
          <a:prstGeom prst="roundRect">
            <a:avLst>
              <a:gd name="adj" fmla="val 7619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3825416D-7676-4CC9-82BE-CB4AC11C1F0E}"/>
              </a:ext>
            </a:extLst>
          </p:cNvPr>
          <p:cNvSpPr>
            <a:spLocks noGrp="1"/>
          </p:cNvSpPr>
          <p:nvPr/>
        </p:nvSpPr>
        <p:spPr>
          <a:xfrm>
            <a:off x="7251887" y="3133165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BF0430D1-1D3B-4C90-A840-D132F6C9416C}"/>
              </a:ext>
            </a:extLst>
          </p:cNvPr>
          <p:cNvSpPr>
            <a:spLocks noGrp="1"/>
          </p:cNvSpPr>
          <p:nvPr/>
        </p:nvSpPr>
        <p:spPr>
          <a:xfrm>
            <a:off x="7423337" y="3247465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Atributo próprio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2EF11AD-38C0-46D3-AFAE-89A823972443}"/>
              </a:ext>
            </a:extLst>
          </p:cNvPr>
          <p:cNvSpPr>
            <a:spLocks noGrp="1"/>
          </p:cNvSpPr>
          <p:nvPr/>
        </p:nvSpPr>
        <p:spPr>
          <a:xfrm>
            <a:off x="7423337" y="3628465"/>
            <a:ext cx="400050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4461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setor pertence apenas ao Gerente. A subclasse pode ampliar a estrutura herdada.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35458FE4-BC6C-4FDB-85BA-C2991E7CD6DB}"/>
              </a:ext>
            </a:extLst>
          </p:cNvPr>
          <p:cNvSpPr>
            <a:spLocks noGrp="1"/>
          </p:cNvSpPr>
          <p:nvPr/>
        </p:nvSpPr>
        <p:spPr>
          <a:xfrm>
            <a:off x="7251887" y="4419040"/>
            <a:ext cx="4286250" cy="1000125"/>
          </a:xfrm>
          <a:prstGeom prst="roundRect">
            <a:avLst>
              <a:gd name="adj" fmla="val 7619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CA1D54D-3560-4B28-B311-16D20AB1EB49}"/>
              </a:ext>
            </a:extLst>
          </p:cNvPr>
          <p:cNvSpPr>
            <a:spLocks noGrp="1"/>
          </p:cNvSpPr>
          <p:nvPr/>
        </p:nvSpPr>
        <p:spPr>
          <a:xfrm>
            <a:off x="7251887" y="4419040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CE160AA-CC39-4D5F-846E-2682D5F3CC58}"/>
              </a:ext>
            </a:extLst>
          </p:cNvPr>
          <p:cNvSpPr>
            <a:spLocks noGrp="1"/>
          </p:cNvSpPr>
          <p:nvPr/>
        </p:nvSpPr>
        <p:spPr>
          <a:xfrm>
            <a:off x="7423337" y="4533340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super(nome, salario)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F2C9796A-BAA3-442B-9DD6-6464451B8F05}"/>
              </a:ext>
            </a:extLst>
          </p:cNvPr>
          <p:cNvSpPr>
            <a:spLocks noGrp="1"/>
          </p:cNvSpPr>
          <p:nvPr/>
        </p:nvSpPr>
        <p:spPr>
          <a:xfrm>
            <a:off x="7423337" y="4914340"/>
            <a:ext cx="400050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2626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Envia os valores necessários ao construtor da classe pai.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053C323A-AA4B-4FFE-930E-59E275F75FE2}"/>
              </a:ext>
            </a:extLst>
          </p:cNvPr>
          <p:cNvSpPr>
            <a:spLocks noGrp="1"/>
          </p:cNvSpPr>
          <p:nvPr/>
        </p:nvSpPr>
        <p:spPr>
          <a:xfrm>
            <a:off x="1155887" y="5562040"/>
            <a:ext cx="10382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Gerente recebe nome, salário e exibirInformacoes sem repetir o código.</a:t>
            </a:r>
          </a:p>
        </p:txBody>
      </p:sp>
    </p:spTree>
    <p:extLst>
      <p:ext uri="{BB962C8B-B14F-4D97-AF65-F5344CB8AC3E}">
        <p14:creationId xmlns:p14="http://schemas.microsoft.com/office/powerpoint/2010/main" val="1017485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3FCFB3E2-2871-4BF0-B90F-1777190152E7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84E3953-8312-4FA1-A0FE-37F049CAA339}"/>
              </a:ext>
            </a:extLst>
          </p:cNvPr>
          <p:cNvSpPr>
            <a:spLocks noGrp="1"/>
          </p:cNvSpPr>
          <p:nvPr/>
        </p:nvSpPr>
        <p:spPr>
          <a:xfrm>
            <a:off x="710453" y="686921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 construtor super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E351B42-032F-4543-9A05-047B31E99FBC}"/>
              </a:ext>
            </a:extLst>
          </p:cNvPr>
          <p:cNvSpPr>
            <a:spLocks noGrp="1"/>
          </p:cNvSpPr>
          <p:nvPr/>
        </p:nvSpPr>
        <p:spPr>
          <a:xfrm>
            <a:off x="710453" y="1220321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D426B16-EC7A-4BF3-B084-7252B6778D8F}"/>
              </a:ext>
            </a:extLst>
          </p:cNvPr>
          <p:cNvSpPr>
            <a:spLocks noGrp="1"/>
          </p:cNvSpPr>
          <p:nvPr/>
        </p:nvSpPr>
        <p:spPr>
          <a:xfrm>
            <a:off x="1024778" y="2010896"/>
            <a:ext cx="4953000" cy="2762250"/>
          </a:xfrm>
          <a:prstGeom prst="roundRect">
            <a:avLst>
              <a:gd name="adj" fmla="val 2759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EBFD393-422A-4E7A-83E4-2CB92B7E77DA}"/>
              </a:ext>
            </a:extLst>
          </p:cNvPr>
          <p:cNvSpPr>
            <a:spLocks noGrp="1"/>
          </p:cNvSpPr>
          <p:nvPr/>
        </p:nvSpPr>
        <p:spPr>
          <a:xfrm>
            <a:off x="1139078" y="2087096"/>
            <a:ext cx="4724400" cy="2609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Gerente(</a:t>
            </a:r>
          </a:p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nome,</a:t>
            </a:r>
          </a:p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salario,</a:t>
            </a:r>
          </a:p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this.setor,</a:t>
            </a:r>
          </a:p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) : super(nome, salario);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2B2E716-65FA-40C8-BBF3-A4D5D2D5E7F5}"/>
              </a:ext>
            </a:extLst>
          </p:cNvPr>
          <p:cNvSpPr>
            <a:spLocks noGrp="1"/>
          </p:cNvSpPr>
          <p:nvPr/>
        </p:nvSpPr>
        <p:spPr>
          <a:xfrm>
            <a:off x="6501653" y="2010896"/>
            <a:ext cx="523875" cy="523875"/>
          </a:xfrm>
          <a:prstGeom prst="rect">
            <a:avLst/>
          </a:prstGeom>
          <a:solidFill>
            <a:srgbClr val="0B4EA2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9B399AB-7C76-44E3-BF59-5D51D8D91253}"/>
              </a:ext>
            </a:extLst>
          </p:cNvPr>
          <p:cNvSpPr>
            <a:spLocks noGrp="1"/>
          </p:cNvSpPr>
          <p:nvPr/>
        </p:nvSpPr>
        <p:spPr>
          <a:xfrm>
            <a:off x="7168403" y="2010896"/>
            <a:ext cx="4095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 programa recebe nome, salário e setor ao criar o Gerente.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815F22D-3E9E-4C5D-867D-E8D767ED5C13}"/>
              </a:ext>
            </a:extLst>
          </p:cNvPr>
          <p:cNvSpPr>
            <a:spLocks noGrp="1"/>
          </p:cNvSpPr>
          <p:nvPr/>
        </p:nvSpPr>
        <p:spPr>
          <a:xfrm>
            <a:off x="6501653" y="3011021"/>
            <a:ext cx="523875" cy="523875"/>
          </a:xfrm>
          <a:prstGeom prst="rect">
            <a:avLst/>
          </a:prstGeom>
          <a:solidFill>
            <a:srgbClr val="253494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55E29A9-1B2F-477B-9BC6-A7B7D5F0BC67}"/>
              </a:ext>
            </a:extLst>
          </p:cNvPr>
          <p:cNvSpPr>
            <a:spLocks noGrp="1"/>
          </p:cNvSpPr>
          <p:nvPr/>
        </p:nvSpPr>
        <p:spPr>
          <a:xfrm>
            <a:off x="7168403" y="3011021"/>
            <a:ext cx="4095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this.setor inicializa o atributo da própria subclasse.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4274A7C-15F3-45B3-AB6A-BD28D2FC8C72}"/>
              </a:ext>
            </a:extLst>
          </p:cNvPr>
          <p:cNvSpPr>
            <a:spLocks noGrp="1"/>
          </p:cNvSpPr>
          <p:nvPr/>
        </p:nvSpPr>
        <p:spPr>
          <a:xfrm>
            <a:off x="6501653" y="4011146"/>
            <a:ext cx="523875" cy="523875"/>
          </a:xfrm>
          <a:prstGeom prst="rect">
            <a:avLst/>
          </a:prstGeom>
          <a:solidFill>
            <a:srgbClr val="16835B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88BE8C4-2B33-4D1A-9C54-0989F4CB439B}"/>
              </a:ext>
            </a:extLst>
          </p:cNvPr>
          <p:cNvSpPr>
            <a:spLocks noGrp="1"/>
          </p:cNvSpPr>
          <p:nvPr/>
        </p:nvSpPr>
        <p:spPr>
          <a:xfrm>
            <a:off x="7168403" y="4011146"/>
            <a:ext cx="4095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super(nome, salario) inicializa os atributos definidos pelo pai.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F5289B54-4CCA-4CA3-8B55-D1D7A50DE15B}"/>
              </a:ext>
            </a:extLst>
          </p:cNvPr>
          <p:cNvSpPr>
            <a:spLocks noGrp="1"/>
          </p:cNvSpPr>
          <p:nvPr/>
        </p:nvSpPr>
        <p:spPr>
          <a:xfrm>
            <a:off x="1548653" y="5392271"/>
            <a:ext cx="9525000" cy="685800"/>
          </a:xfrm>
          <a:prstGeom prst="roundRect">
            <a:avLst>
              <a:gd name="adj" fmla="val 11111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03310FF-3A7C-45A5-A2AD-458AA9E2935E}"/>
              </a:ext>
            </a:extLst>
          </p:cNvPr>
          <p:cNvSpPr>
            <a:spLocks noGrp="1"/>
          </p:cNvSpPr>
          <p:nvPr/>
        </p:nvSpPr>
        <p:spPr>
          <a:xfrm>
            <a:off x="1739153" y="5506571"/>
            <a:ext cx="914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726"/>
          </a:bodyPr>
          <a:lstStyle/>
          <a:p>
            <a:pPr>
              <a:def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 construtor da classe pai executa antes da inicialização completa da classe filha.</a:t>
            </a:r>
          </a:p>
        </p:txBody>
      </p:sp>
    </p:spTree>
    <p:extLst>
      <p:ext uri="{BB962C8B-B14F-4D97-AF65-F5344CB8AC3E}">
        <p14:creationId xmlns:p14="http://schemas.microsoft.com/office/powerpoint/2010/main" val="486171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DD28787A-5ECA-4B17-961E-F8D49E1EAB6D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311AD20-168B-43FF-BE08-739A54BC16AD}"/>
              </a:ext>
            </a:extLst>
          </p:cNvPr>
          <p:cNvSpPr>
            <a:spLocks noGrp="1"/>
          </p:cNvSpPr>
          <p:nvPr/>
        </p:nvSpPr>
        <p:spPr>
          <a:xfrm>
            <a:off x="719418" y="668992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Sobrescrita com @override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A38593C-1209-41C3-8F0B-E4662BFC0E08}"/>
              </a:ext>
            </a:extLst>
          </p:cNvPr>
          <p:cNvSpPr>
            <a:spLocks noGrp="1"/>
          </p:cNvSpPr>
          <p:nvPr/>
        </p:nvSpPr>
        <p:spPr>
          <a:xfrm>
            <a:off x="719418" y="1202392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C2141E73-F565-4794-8D6D-6FB69F01C1F8}"/>
              </a:ext>
            </a:extLst>
          </p:cNvPr>
          <p:cNvSpPr>
            <a:spLocks noGrp="1"/>
          </p:cNvSpPr>
          <p:nvPr/>
        </p:nvSpPr>
        <p:spPr>
          <a:xfrm>
            <a:off x="747993" y="1611967"/>
            <a:ext cx="6191250" cy="4619625"/>
          </a:xfrm>
          <a:prstGeom prst="roundRect">
            <a:avLst>
              <a:gd name="adj" fmla="val 1649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FAB1680-EDCD-4F09-9CA7-1DC067B8DB88}"/>
              </a:ext>
            </a:extLst>
          </p:cNvPr>
          <p:cNvSpPr>
            <a:spLocks noGrp="1"/>
          </p:cNvSpPr>
          <p:nvPr/>
        </p:nvSpPr>
        <p:spPr>
          <a:xfrm>
            <a:off x="862293" y="1688167"/>
            <a:ext cx="5962650" cy="4467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Gerente extends Funcionario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setor;</a:t>
            </a:r>
          </a:p>
          <a:p>
            <a:endParaRPr sz="127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Gerente(String nome, double salario, this.setor)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: super(nome, salario);</a:t>
            </a:r>
          </a:p>
          <a:p>
            <a:endParaRPr sz="127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@override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void exibirInformacoes()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super.exibirInformacoes();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print('Setor: $setor');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38A6ACB-D9E0-4DDD-A311-25750782BB98}"/>
              </a:ext>
            </a:extLst>
          </p:cNvPr>
          <p:cNvSpPr>
            <a:spLocks noGrp="1"/>
          </p:cNvSpPr>
          <p:nvPr/>
        </p:nvSpPr>
        <p:spPr>
          <a:xfrm>
            <a:off x="7415493" y="1897717"/>
            <a:ext cx="4095750" cy="1285875"/>
          </a:xfrm>
          <a:prstGeom prst="roundRect">
            <a:avLst>
              <a:gd name="adj" fmla="val 5926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36CAF39-9DB2-4D2F-9C32-20EE9EDA27A2}"/>
              </a:ext>
            </a:extLst>
          </p:cNvPr>
          <p:cNvSpPr>
            <a:spLocks noGrp="1"/>
          </p:cNvSpPr>
          <p:nvPr/>
        </p:nvSpPr>
        <p:spPr>
          <a:xfrm>
            <a:off x="7415493" y="1897717"/>
            <a:ext cx="66675" cy="128587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BD1C95F-5C15-4D1E-A870-6293FD4FA309}"/>
              </a:ext>
            </a:extLst>
          </p:cNvPr>
          <p:cNvSpPr>
            <a:spLocks noGrp="1"/>
          </p:cNvSpPr>
          <p:nvPr/>
        </p:nvSpPr>
        <p:spPr>
          <a:xfrm>
            <a:off x="7586943" y="2012017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@override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3D356B1-8994-49C8-AD8A-45638363F61C}"/>
              </a:ext>
            </a:extLst>
          </p:cNvPr>
          <p:cNvSpPr>
            <a:spLocks noGrp="1"/>
          </p:cNvSpPr>
          <p:nvPr/>
        </p:nvSpPr>
        <p:spPr>
          <a:xfrm>
            <a:off x="7586943" y="2393017"/>
            <a:ext cx="3810000" cy="676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Informa que a subclasse está substituindo um método herdado com a mesma assinatura.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CCE7192-05C6-4239-AB9F-5AF0B01D9B31}"/>
              </a:ext>
            </a:extLst>
          </p:cNvPr>
          <p:cNvSpPr>
            <a:spLocks noGrp="1"/>
          </p:cNvSpPr>
          <p:nvPr/>
        </p:nvSpPr>
        <p:spPr>
          <a:xfrm>
            <a:off x="7415493" y="3516967"/>
            <a:ext cx="4095750" cy="1381125"/>
          </a:xfrm>
          <a:prstGeom prst="roundRect">
            <a:avLst>
              <a:gd name="adj" fmla="val 5517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E26A598-443A-4C88-AAA0-524844BC3959}"/>
              </a:ext>
            </a:extLst>
          </p:cNvPr>
          <p:cNvSpPr>
            <a:spLocks noGrp="1"/>
          </p:cNvSpPr>
          <p:nvPr/>
        </p:nvSpPr>
        <p:spPr>
          <a:xfrm>
            <a:off x="7415493" y="3516967"/>
            <a:ext cx="66675" cy="138112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E0264A0-7806-4AD8-9CE8-8149D827F5E2}"/>
              </a:ext>
            </a:extLst>
          </p:cNvPr>
          <p:cNvSpPr>
            <a:spLocks noGrp="1"/>
          </p:cNvSpPr>
          <p:nvPr/>
        </p:nvSpPr>
        <p:spPr>
          <a:xfrm>
            <a:off x="7586943" y="3631267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super.exibirInformacoes()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958B36A-C992-4B99-8306-750600E0F099}"/>
              </a:ext>
            </a:extLst>
          </p:cNvPr>
          <p:cNvSpPr>
            <a:spLocks noGrp="1"/>
          </p:cNvSpPr>
          <p:nvPr/>
        </p:nvSpPr>
        <p:spPr>
          <a:xfrm>
            <a:off x="7586943" y="4012267"/>
            <a:ext cx="3810000" cy="771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Reaproveita o comportamento do pai antes de acrescentar a informação do setor.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A2CD4A2B-CBA9-4C01-8909-949066D09368}"/>
              </a:ext>
            </a:extLst>
          </p:cNvPr>
          <p:cNvSpPr>
            <a:spLocks noGrp="1"/>
          </p:cNvSpPr>
          <p:nvPr/>
        </p:nvSpPr>
        <p:spPr>
          <a:xfrm>
            <a:off x="7415493" y="5231467"/>
            <a:ext cx="4095750" cy="952500"/>
          </a:xfrm>
          <a:prstGeom prst="roundRect">
            <a:avLst>
              <a:gd name="adj" fmla="val 8000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EF65CF2-9864-4603-9F24-203EE96CA1A0}"/>
              </a:ext>
            </a:extLst>
          </p:cNvPr>
          <p:cNvSpPr>
            <a:spLocks noGrp="1"/>
          </p:cNvSpPr>
          <p:nvPr/>
        </p:nvSpPr>
        <p:spPr>
          <a:xfrm>
            <a:off x="7415493" y="5231467"/>
            <a:ext cx="66675" cy="95250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502ADA96-A931-4C72-AB23-99A750AB4565}"/>
              </a:ext>
            </a:extLst>
          </p:cNvPr>
          <p:cNvSpPr>
            <a:spLocks noGrp="1"/>
          </p:cNvSpPr>
          <p:nvPr/>
        </p:nvSpPr>
        <p:spPr>
          <a:xfrm>
            <a:off x="7586943" y="5345767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Benefício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1D39676-72A5-4E30-A5B5-8844618C0848}"/>
              </a:ext>
            </a:extLst>
          </p:cNvPr>
          <p:cNvSpPr>
            <a:spLocks noGrp="1"/>
          </p:cNvSpPr>
          <p:nvPr/>
        </p:nvSpPr>
        <p:spPr>
          <a:xfrm>
            <a:off x="7586943" y="5726767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9706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Cada cargo pode exibir seus dados específicos sem perder o que já foi definido em Funcionario.</a:t>
            </a:r>
          </a:p>
        </p:txBody>
      </p:sp>
    </p:spTree>
    <p:extLst>
      <p:ext uri="{BB962C8B-B14F-4D97-AF65-F5344CB8AC3E}">
        <p14:creationId xmlns:p14="http://schemas.microsoft.com/office/powerpoint/2010/main" val="1684486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6416567F-6BCC-4A85-9A71-839FA5B88DAF}"/>
              </a:ext>
            </a:extLst>
          </p:cNvPr>
          <p:cNvSpPr>
            <a:spLocks noGrp="1"/>
          </p:cNvSpPr>
          <p:nvPr/>
        </p:nvSpPr>
        <p:spPr>
          <a:xfrm>
            <a:off x="800100" y="642097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 abstrata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3CE893F-D0E9-4058-A1CB-D256E466A248}"/>
              </a:ext>
            </a:extLst>
          </p:cNvPr>
          <p:cNvSpPr>
            <a:spLocks noGrp="1"/>
          </p:cNvSpPr>
          <p:nvPr/>
        </p:nvSpPr>
        <p:spPr>
          <a:xfrm>
            <a:off x="800100" y="1175497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22DD48F-1A55-4AAD-BC13-364DDD424C81}"/>
              </a:ext>
            </a:extLst>
          </p:cNvPr>
          <p:cNvSpPr>
            <a:spLocks noGrp="1"/>
          </p:cNvSpPr>
          <p:nvPr/>
        </p:nvSpPr>
        <p:spPr>
          <a:xfrm>
            <a:off x="971550" y="1585072"/>
            <a:ext cx="10858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626"/>
          </a:bodyPr>
          <a:lstStyle/>
          <a:p>
            <a:pPr>
              <a:defRPr sz="187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Uma classe abstrata representa um conceito geral e não pode ser instanciada diretamente.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C4F552F-CB4B-4E28-B27E-2F7C036D1DF2}"/>
              </a:ext>
            </a:extLst>
          </p:cNvPr>
          <p:cNvSpPr>
            <a:spLocks noGrp="1"/>
          </p:cNvSpPr>
          <p:nvPr/>
        </p:nvSpPr>
        <p:spPr>
          <a:xfrm>
            <a:off x="1066800" y="2489947"/>
            <a:ext cx="5619750" cy="3429000"/>
          </a:xfrm>
          <a:prstGeom prst="roundRect">
            <a:avLst>
              <a:gd name="adj" fmla="val 2222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51C4BF6-25E0-4259-B3C0-370BB0F5A84E}"/>
              </a:ext>
            </a:extLst>
          </p:cNvPr>
          <p:cNvSpPr>
            <a:spLocks noGrp="1"/>
          </p:cNvSpPr>
          <p:nvPr/>
        </p:nvSpPr>
        <p:spPr>
          <a:xfrm>
            <a:off x="1181100" y="2566147"/>
            <a:ext cx="5391150" cy="3276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abstract class Funcionario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nome;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salario;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Funcionario(this.nome, this.salario);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void exibirInformacoes()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print('Nome: $nome');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print('Salário: R$ $salario');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CC8F7A3A-81EC-4B7C-867A-0F573C034BCB}"/>
              </a:ext>
            </a:extLst>
          </p:cNvPr>
          <p:cNvSpPr>
            <a:spLocks noGrp="1"/>
          </p:cNvSpPr>
          <p:nvPr/>
        </p:nvSpPr>
        <p:spPr>
          <a:xfrm>
            <a:off x="7305675" y="2537572"/>
            <a:ext cx="4286250" cy="11430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D471333-5C14-4EF7-8FFF-5E87AFED36E3}"/>
              </a:ext>
            </a:extLst>
          </p:cNvPr>
          <p:cNvSpPr>
            <a:spLocks noGrp="1"/>
          </p:cNvSpPr>
          <p:nvPr/>
        </p:nvSpPr>
        <p:spPr>
          <a:xfrm>
            <a:off x="7305675" y="2537572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DA1A566-4D31-4E2E-B87D-3015EFAC0F62}"/>
              </a:ext>
            </a:extLst>
          </p:cNvPr>
          <p:cNvSpPr>
            <a:spLocks noGrp="1"/>
          </p:cNvSpPr>
          <p:nvPr/>
        </p:nvSpPr>
        <p:spPr>
          <a:xfrm>
            <a:off x="7477125" y="2651872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Pode conter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D924752-D97C-41AD-AB6D-804050112EEE}"/>
              </a:ext>
            </a:extLst>
          </p:cNvPr>
          <p:cNvSpPr>
            <a:spLocks noGrp="1"/>
          </p:cNvSpPr>
          <p:nvPr/>
        </p:nvSpPr>
        <p:spPr>
          <a:xfrm>
            <a:off x="7477125" y="3032872"/>
            <a:ext cx="400050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Atributos, construtor, métodos prontos e métodos abstratos.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34F2A40-CE70-4750-84AE-B0B47A87A3E3}"/>
              </a:ext>
            </a:extLst>
          </p:cNvPr>
          <p:cNvSpPr>
            <a:spLocks noGrp="1"/>
          </p:cNvSpPr>
          <p:nvPr/>
        </p:nvSpPr>
        <p:spPr>
          <a:xfrm>
            <a:off x="7305675" y="3966322"/>
            <a:ext cx="4286250" cy="1143000"/>
          </a:xfrm>
          <a:prstGeom prst="roundRect">
            <a:avLst>
              <a:gd name="adj" fmla="val 6667"/>
            </a:avLst>
          </a:prstGeom>
          <a:solidFill>
            <a:srgbClr val="FCEBEC"/>
          </a:solidFill>
          <a:ln w="9525">
            <a:solidFill>
              <a:srgbClr val="CBD5E1"/>
            </a:solidFill>
          </a:ln>
        </p:spPr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A9233A7-0410-45A3-8144-083FE3F26944}"/>
              </a:ext>
            </a:extLst>
          </p:cNvPr>
          <p:cNvSpPr>
            <a:spLocks noGrp="1"/>
          </p:cNvSpPr>
          <p:nvPr/>
        </p:nvSpPr>
        <p:spPr>
          <a:xfrm>
            <a:off x="7305675" y="3966322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0">
            <a:noFill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948492C-2215-47CF-BC28-0AAF4DF25EF8}"/>
              </a:ext>
            </a:extLst>
          </p:cNvPr>
          <p:cNvSpPr>
            <a:spLocks noGrp="1"/>
          </p:cNvSpPr>
          <p:nvPr/>
        </p:nvSpPr>
        <p:spPr>
          <a:xfrm>
            <a:off x="7477125" y="4080622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rPr>
              <a:t>Não permite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E6775EE-4F45-44BB-B544-48F64EE3F6D7}"/>
              </a:ext>
            </a:extLst>
          </p:cNvPr>
          <p:cNvSpPr>
            <a:spLocks noGrp="1"/>
          </p:cNvSpPr>
          <p:nvPr/>
        </p:nvSpPr>
        <p:spPr>
          <a:xfrm>
            <a:off x="7477125" y="4461622"/>
            <a:ext cx="400050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Funcionario('Ana', 3000) porque o conceito é genérico demais.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9C3F02C-FA9A-43CE-B4A2-DA9311BF3D00}"/>
              </a:ext>
            </a:extLst>
          </p:cNvPr>
          <p:cNvSpPr>
            <a:spLocks noGrp="1"/>
          </p:cNvSpPr>
          <p:nvPr/>
        </p:nvSpPr>
        <p:spPr>
          <a:xfrm>
            <a:off x="7305675" y="5395072"/>
            <a:ext cx="4286250" cy="762000"/>
          </a:xfrm>
          <a:prstGeom prst="roundRect">
            <a:avLst>
              <a:gd name="adj" fmla="val 10000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9601C97-067C-4BE4-8A36-C49CA3F779E7}"/>
              </a:ext>
            </a:extLst>
          </p:cNvPr>
          <p:cNvSpPr>
            <a:spLocks noGrp="1"/>
          </p:cNvSpPr>
          <p:nvPr/>
        </p:nvSpPr>
        <p:spPr>
          <a:xfrm>
            <a:off x="7305675" y="5395072"/>
            <a:ext cx="66675" cy="76200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C6A2C2B-4500-4E83-939F-E0D9D61A128D}"/>
              </a:ext>
            </a:extLst>
          </p:cNvPr>
          <p:cNvSpPr>
            <a:spLocks noGrp="1"/>
          </p:cNvSpPr>
          <p:nvPr/>
        </p:nvSpPr>
        <p:spPr>
          <a:xfrm>
            <a:off x="7477125" y="5509372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Permite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AC2F6D3-9A25-44DC-A720-11ACAE12868D}"/>
              </a:ext>
            </a:extLst>
          </p:cNvPr>
          <p:cNvSpPr>
            <a:spLocks noGrp="1"/>
          </p:cNvSpPr>
          <p:nvPr/>
        </p:nvSpPr>
        <p:spPr>
          <a:xfrm>
            <a:off x="7477125" y="5890372"/>
            <a:ext cx="40005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8873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Gerente e Vendedor herdarem a estrutura comum.</a:t>
            </a:r>
          </a:p>
        </p:txBody>
      </p:sp>
    </p:spTree>
    <p:extLst>
      <p:ext uri="{BB962C8B-B14F-4D97-AF65-F5344CB8AC3E}">
        <p14:creationId xmlns:p14="http://schemas.microsoft.com/office/powerpoint/2010/main" val="1550605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B7D48245-1F84-4ADE-9A94-233FDFB3126B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0E30DE6-F22E-46D8-BCD9-4D814DDCB0CD}"/>
              </a:ext>
            </a:extLst>
          </p:cNvPr>
          <p:cNvSpPr>
            <a:spLocks noGrp="1"/>
          </p:cNvSpPr>
          <p:nvPr/>
        </p:nvSpPr>
        <p:spPr>
          <a:xfrm>
            <a:off x="764241" y="71381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Polimorfismo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3A974A5-E393-48FA-8DA4-442DFA9B828F}"/>
              </a:ext>
            </a:extLst>
          </p:cNvPr>
          <p:cNvSpPr>
            <a:spLocks noGrp="1"/>
          </p:cNvSpPr>
          <p:nvPr/>
        </p:nvSpPr>
        <p:spPr>
          <a:xfrm>
            <a:off x="764241" y="124721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70E22FC-7F3D-4030-86A9-ED7A04FC42A6}"/>
              </a:ext>
            </a:extLst>
          </p:cNvPr>
          <p:cNvSpPr>
            <a:spLocks noGrp="1"/>
          </p:cNvSpPr>
          <p:nvPr/>
        </p:nvSpPr>
        <p:spPr>
          <a:xfrm>
            <a:off x="935691" y="1656790"/>
            <a:ext cx="1085850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950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Polimorfismo significa que uma referência do tipo pai pode apontar para objetos de diferentes subclasses.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05E1C1A-4003-462D-8CC5-0171ABE18BDA}"/>
              </a:ext>
            </a:extLst>
          </p:cNvPr>
          <p:cNvSpPr>
            <a:spLocks noGrp="1"/>
          </p:cNvSpPr>
          <p:nvPr/>
        </p:nvSpPr>
        <p:spPr>
          <a:xfrm>
            <a:off x="935691" y="2799790"/>
            <a:ext cx="5334000" cy="2905125"/>
          </a:xfrm>
          <a:prstGeom prst="roundRect">
            <a:avLst>
              <a:gd name="adj" fmla="val 2623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60C2EA8-F31F-40D8-AA87-B46D8B0297B2}"/>
              </a:ext>
            </a:extLst>
          </p:cNvPr>
          <p:cNvSpPr>
            <a:spLocks noGrp="1"/>
          </p:cNvSpPr>
          <p:nvPr/>
        </p:nvSpPr>
        <p:spPr>
          <a:xfrm>
            <a:off x="1049991" y="2875990"/>
            <a:ext cx="5105400" cy="27527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Funcionario gerente =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Gerente('Ana', 8000, 'TI');</a:t>
            </a:r>
          </a:p>
          <a:p>
            <a:endParaRPr sz="142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Funcionario vendedor =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Vendedor('Bruno', 3500, 20000);</a:t>
            </a:r>
          </a:p>
          <a:p>
            <a:endParaRPr sz="142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Funcionario estagiario =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Estagiario('Carla', 1800, 'ADS');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348F48C4-3E5C-4B18-B888-ED8A81255D1B}"/>
              </a:ext>
            </a:extLst>
          </p:cNvPr>
          <p:cNvSpPr>
            <a:spLocks noGrp="1"/>
          </p:cNvSpPr>
          <p:nvPr/>
        </p:nvSpPr>
        <p:spPr>
          <a:xfrm>
            <a:off x="6888816" y="2752165"/>
            <a:ext cx="4667250" cy="1000125"/>
          </a:xfrm>
          <a:prstGeom prst="roundRect">
            <a:avLst>
              <a:gd name="adj" fmla="val 7619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85738F1-9416-4BB9-8F1A-99DD50A32ED4}"/>
              </a:ext>
            </a:extLst>
          </p:cNvPr>
          <p:cNvSpPr>
            <a:spLocks noGrp="1"/>
          </p:cNvSpPr>
          <p:nvPr/>
        </p:nvSpPr>
        <p:spPr>
          <a:xfrm>
            <a:off x="6888816" y="2752165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1FEC1AE-42B1-49DA-964C-24C15114B9D3}"/>
              </a:ext>
            </a:extLst>
          </p:cNvPr>
          <p:cNvSpPr>
            <a:spLocks noGrp="1"/>
          </p:cNvSpPr>
          <p:nvPr/>
        </p:nvSpPr>
        <p:spPr>
          <a:xfrm>
            <a:off x="7060266" y="2866465"/>
            <a:ext cx="438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Mesmo tipo de referência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866D7A78-DA8C-4185-9E93-4E6D13460991}"/>
              </a:ext>
            </a:extLst>
          </p:cNvPr>
          <p:cNvSpPr>
            <a:spLocks noGrp="1"/>
          </p:cNvSpPr>
          <p:nvPr/>
        </p:nvSpPr>
        <p:spPr>
          <a:xfrm>
            <a:off x="7060266" y="3247465"/>
            <a:ext cx="438150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As três variáveis possuem o tipo Funcionario.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B7747F6-93F1-4A9B-9CF6-9835545F21E4}"/>
              </a:ext>
            </a:extLst>
          </p:cNvPr>
          <p:cNvSpPr>
            <a:spLocks noGrp="1"/>
          </p:cNvSpPr>
          <p:nvPr/>
        </p:nvSpPr>
        <p:spPr>
          <a:xfrm>
            <a:off x="6888816" y="4038040"/>
            <a:ext cx="4667250" cy="1000125"/>
          </a:xfrm>
          <a:prstGeom prst="roundRect">
            <a:avLst>
              <a:gd name="adj" fmla="val 7619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7F0AEBC9-80D2-4ADA-8D87-CA6525BBF0FC}"/>
              </a:ext>
            </a:extLst>
          </p:cNvPr>
          <p:cNvSpPr>
            <a:spLocks noGrp="1"/>
          </p:cNvSpPr>
          <p:nvPr/>
        </p:nvSpPr>
        <p:spPr>
          <a:xfrm>
            <a:off x="6888816" y="4038040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8137781D-C01B-4CB1-A9EE-FFAFB690AFEF}"/>
              </a:ext>
            </a:extLst>
          </p:cNvPr>
          <p:cNvSpPr>
            <a:spLocks noGrp="1"/>
          </p:cNvSpPr>
          <p:nvPr/>
        </p:nvSpPr>
        <p:spPr>
          <a:xfrm>
            <a:off x="7060266" y="4152340"/>
            <a:ext cx="438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Objetos diferentes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7481AC5-4892-4A8C-877A-0DE7E2840990}"/>
              </a:ext>
            </a:extLst>
          </p:cNvPr>
          <p:cNvSpPr>
            <a:spLocks noGrp="1"/>
          </p:cNvSpPr>
          <p:nvPr/>
        </p:nvSpPr>
        <p:spPr>
          <a:xfrm>
            <a:off x="7060266" y="4533340"/>
            <a:ext cx="438150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Cada variável aponta para uma subclasse distinta.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17E2212-4818-4DF0-99EA-E463922DFF00}"/>
              </a:ext>
            </a:extLst>
          </p:cNvPr>
          <p:cNvSpPr>
            <a:spLocks noGrp="1"/>
          </p:cNvSpPr>
          <p:nvPr/>
        </p:nvSpPr>
        <p:spPr>
          <a:xfrm>
            <a:off x="6888816" y="5323915"/>
            <a:ext cx="4667250" cy="1000125"/>
          </a:xfrm>
          <a:prstGeom prst="roundRect">
            <a:avLst>
              <a:gd name="adj" fmla="val 7619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E57E1A55-AE8B-46BD-B5A5-8E6213B77E4D}"/>
              </a:ext>
            </a:extLst>
          </p:cNvPr>
          <p:cNvSpPr>
            <a:spLocks noGrp="1"/>
          </p:cNvSpPr>
          <p:nvPr/>
        </p:nvSpPr>
        <p:spPr>
          <a:xfrm>
            <a:off x="6888816" y="5323915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D77DE8B-95BF-4010-A440-CD5B4EDCDB34}"/>
              </a:ext>
            </a:extLst>
          </p:cNvPr>
          <p:cNvSpPr>
            <a:spLocks noGrp="1"/>
          </p:cNvSpPr>
          <p:nvPr/>
        </p:nvSpPr>
        <p:spPr>
          <a:xfrm>
            <a:off x="7060266" y="5438215"/>
            <a:ext cx="438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Comportamento correto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6A579AA-305A-42DA-BC07-EB005E308028}"/>
              </a:ext>
            </a:extLst>
          </p:cNvPr>
          <p:cNvSpPr>
            <a:spLocks noGrp="1"/>
          </p:cNvSpPr>
          <p:nvPr/>
        </p:nvSpPr>
        <p:spPr>
          <a:xfrm>
            <a:off x="7060266" y="5819215"/>
            <a:ext cx="438150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4461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Ao chamar um método sobrescrito, Dart executa a versão do objeto real.</a:t>
            </a:r>
          </a:p>
        </p:txBody>
      </p:sp>
    </p:spTree>
    <p:extLst>
      <p:ext uri="{BB962C8B-B14F-4D97-AF65-F5344CB8AC3E}">
        <p14:creationId xmlns:p14="http://schemas.microsoft.com/office/powerpoint/2010/main" val="1677381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29496EED-9D6A-4764-B407-FA2E785A060B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447B891-F694-4CE5-9B88-714DA72334F7}"/>
              </a:ext>
            </a:extLst>
          </p:cNvPr>
          <p:cNvSpPr>
            <a:spLocks noGrp="1"/>
          </p:cNvSpPr>
          <p:nvPr/>
        </p:nvSpPr>
        <p:spPr>
          <a:xfrm>
            <a:off x="755276" y="776568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Polimorfismo em uma coleção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55E5119-B634-45C7-8C01-C9097E02504E}"/>
              </a:ext>
            </a:extLst>
          </p:cNvPr>
          <p:cNvSpPr>
            <a:spLocks noGrp="1"/>
          </p:cNvSpPr>
          <p:nvPr/>
        </p:nvSpPr>
        <p:spPr>
          <a:xfrm>
            <a:off x="755276" y="1309968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80153333-7D73-4486-9733-BD6D78B5FC1C}"/>
              </a:ext>
            </a:extLst>
          </p:cNvPr>
          <p:cNvSpPr>
            <a:spLocks noGrp="1"/>
          </p:cNvSpPr>
          <p:nvPr/>
        </p:nvSpPr>
        <p:spPr>
          <a:xfrm>
            <a:off x="879101" y="1862418"/>
            <a:ext cx="6191250" cy="4095750"/>
          </a:xfrm>
          <a:prstGeom prst="roundRect">
            <a:avLst>
              <a:gd name="adj" fmla="val 1860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31D724F-FE32-47DA-B6F9-83C07492871D}"/>
              </a:ext>
            </a:extLst>
          </p:cNvPr>
          <p:cNvSpPr>
            <a:spLocks noGrp="1"/>
          </p:cNvSpPr>
          <p:nvPr/>
        </p:nvSpPr>
        <p:spPr>
          <a:xfrm>
            <a:off x="993401" y="1938618"/>
            <a:ext cx="5962650" cy="394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List&lt;Funcionario&gt; equipe = [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Gerente('Ana', 8000, 'TI'),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Vendedor('Bruno', 3500, 20000),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Estagiario('Carla', 1800, 'ADS'),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];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for (Funcionario funcionario in equipe)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funcionario.exibirInformacoes();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print('----------------');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77FFFF65-6741-42CB-9CBD-DB31700ECFB2}"/>
              </a:ext>
            </a:extLst>
          </p:cNvPr>
          <p:cNvSpPr>
            <a:spLocks noGrp="1"/>
          </p:cNvSpPr>
          <p:nvPr/>
        </p:nvSpPr>
        <p:spPr>
          <a:xfrm>
            <a:off x="7594226" y="2005293"/>
            <a:ext cx="4000500" cy="1000125"/>
          </a:xfrm>
          <a:prstGeom prst="roundRect">
            <a:avLst>
              <a:gd name="adj" fmla="val 7619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5CADD12-B835-4C33-B9F3-70C7F5851C0D}"/>
              </a:ext>
            </a:extLst>
          </p:cNvPr>
          <p:cNvSpPr>
            <a:spLocks noGrp="1"/>
          </p:cNvSpPr>
          <p:nvPr/>
        </p:nvSpPr>
        <p:spPr>
          <a:xfrm>
            <a:off x="7594226" y="2005293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FE1F29C-8551-4C37-9682-7F329EF8B71F}"/>
              </a:ext>
            </a:extLst>
          </p:cNvPr>
          <p:cNvSpPr>
            <a:spLocks noGrp="1"/>
          </p:cNvSpPr>
          <p:nvPr/>
        </p:nvSpPr>
        <p:spPr>
          <a:xfrm>
            <a:off x="7765676" y="2119593"/>
            <a:ext cx="3714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Uma única lista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994C50C-B742-4C15-BB12-E9C863AEAC0B}"/>
              </a:ext>
            </a:extLst>
          </p:cNvPr>
          <p:cNvSpPr>
            <a:spLocks noGrp="1"/>
          </p:cNvSpPr>
          <p:nvPr/>
        </p:nvSpPr>
        <p:spPr>
          <a:xfrm>
            <a:off x="7765676" y="2500593"/>
            <a:ext cx="371475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4461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 coleção aceita qualquer objeto que seja um Funcionario.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A3C42DE-A8B9-4815-BBFC-4B347E100EC8}"/>
              </a:ext>
            </a:extLst>
          </p:cNvPr>
          <p:cNvSpPr>
            <a:spLocks noGrp="1"/>
          </p:cNvSpPr>
          <p:nvPr/>
        </p:nvSpPr>
        <p:spPr>
          <a:xfrm>
            <a:off x="7594226" y="3338793"/>
            <a:ext cx="4000500" cy="1000125"/>
          </a:xfrm>
          <a:prstGeom prst="roundRect">
            <a:avLst>
              <a:gd name="adj" fmla="val 7619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5357636-AAE0-4F09-ACBD-BC11216E3123}"/>
              </a:ext>
            </a:extLst>
          </p:cNvPr>
          <p:cNvSpPr>
            <a:spLocks noGrp="1"/>
          </p:cNvSpPr>
          <p:nvPr/>
        </p:nvSpPr>
        <p:spPr>
          <a:xfrm>
            <a:off x="7594226" y="3338793"/>
            <a:ext cx="66675" cy="100012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E7A56F5-8B5D-4F60-AFF9-4B976E0C1432}"/>
              </a:ext>
            </a:extLst>
          </p:cNvPr>
          <p:cNvSpPr>
            <a:spLocks noGrp="1"/>
          </p:cNvSpPr>
          <p:nvPr/>
        </p:nvSpPr>
        <p:spPr>
          <a:xfrm>
            <a:off x="7765676" y="3453093"/>
            <a:ext cx="3714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Um único laço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17B7621-7D3D-45FC-9007-5BD1640365F7}"/>
              </a:ext>
            </a:extLst>
          </p:cNvPr>
          <p:cNvSpPr>
            <a:spLocks noGrp="1"/>
          </p:cNvSpPr>
          <p:nvPr/>
        </p:nvSpPr>
        <p:spPr>
          <a:xfrm>
            <a:off x="7765676" y="3834093"/>
            <a:ext cx="3714750" cy="3905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 mesmo código percorre todos os cargos.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8C1183AD-52E7-4465-9AE0-7BA72D930A86}"/>
              </a:ext>
            </a:extLst>
          </p:cNvPr>
          <p:cNvSpPr>
            <a:spLocks noGrp="1"/>
          </p:cNvSpPr>
          <p:nvPr/>
        </p:nvSpPr>
        <p:spPr>
          <a:xfrm>
            <a:off x="7594226" y="4672293"/>
            <a:ext cx="4000500" cy="1190625"/>
          </a:xfrm>
          <a:prstGeom prst="roundRect">
            <a:avLst>
              <a:gd name="adj" fmla="val 6400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E06B752-5C9E-40BF-93C7-9BA7A48DA5A3}"/>
              </a:ext>
            </a:extLst>
          </p:cNvPr>
          <p:cNvSpPr>
            <a:spLocks noGrp="1"/>
          </p:cNvSpPr>
          <p:nvPr/>
        </p:nvSpPr>
        <p:spPr>
          <a:xfrm>
            <a:off x="7594226" y="4672293"/>
            <a:ext cx="66675" cy="119062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973E6A2B-B93E-456A-801D-0EFBB4A48B96}"/>
              </a:ext>
            </a:extLst>
          </p:cNvPr>
          <p:cNvSpPr>
            <a:spLocks noGrp="1"/>
          </p:cNvSpPr>
          <p:nvPr/>
        </p:nvSpPr>
        <p:spPr>
          <a:xfrm>
            <a:off x="7765676" y="4786593"/>
            <a:ext cx="3714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Várias respostas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AE7CEAB-4FC8-4E50-945F-C65503D63F37}"/>
              </a:ext>
            </a:extLst>
          </p:cNvPr>
          <p:cNvSpPr>
            <a:spLocks noGrp="1"/>
          </p:cNvSpPr>
          <p:nvPr/>
        </p:nvSpPr>
        <p:spPr>
          <a:xfrm>
            <a:off x="7765676" y="5167593"/>
            <a:ext cx="3714750" cy="581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Cada objeto executa sua própria versão de exibirInformacoes.</a:t>
            </a:r>
          </a:p>
        </p:txBody>
      </p:sp>
    </p:spTree>
    <p:extLst>
      <p:ext uri="{BB962C8B-B14F-4D97-AF65-F5344CB8AC3E}">
        <p14:creationId xmlns:p14="http://schemas.microsoft.com/office/powerpoint/2010/main" val="1003107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495890DB-BF09-4F15-BA70-0E9F253B42B5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29FD279-DAB1-4011-9AC9-D930956BFA7C}"/>
              </a:ext>
            </a:extLst>
          </p:cNvPr>
          <p:cNvSpPr>
            <a:spLocks noGrp="1"/>
          </p:cNvSpPr>
          <p:nvPr/>
        </p:nvSpPr>
        <p:spPr>
          <a:xfrm>
            <a:off x="862853" y="731744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Método abstrato e polimorfismo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1CA90F-7128-4AB5-9F65-12992BABC122}"/>
              </a:ext>
            </a:extLst>
          </p:cNvPr>
          <p:cNvSpPr>
            <a:spLocks noGrp="1"/>
          </p:cNvSpPr>
          <p:nvPr/>
        </p:nvSpPr>
        <p:spPr>
          <a:xfrm>
            <a:off x="862853" y="1265144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BC5A7DE-7357-4A8C-BB21-5D2BDB8A7DAF}"/>
              </a:ext>
            </a:extLst>
          </p:cNvPr>
          <p:cNvSpPr>
            <a:spLocks noGrp="1"/>
          </p:cNvSpPr>
          <p:nvPr/>
        </p:nvSpPr>
        <p:spPr>
          <a:xfrm>
            <a:off x="939053" y="1817594"/>
            <a:ext cx="5429250" cy="3905250"/>
          </a:xfrm>
          <a:prstGeom prst="roundRect">
            <a:avLst>
              <a:gd name="adj" fmla="val 1951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C6BDE1D-8836-4107-8CC8-FC1B8A00AD5F}"/>
              </a:ext>
            </a:extLst>
          </p:cNvPr>
          <p:cNvSpPr>
            <a:spLocks noGrp="1"/>
          </p:cNvSpPr>
          <p:nvPr/>
        </p:nvSpPr>
        <p:spPr>
          <a:xfrm>
            <a:off x="1053353" y="1893794"/>
            <a:ext cx="5200650" cy="3752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abstract class Funcionario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nome;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salario;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Funcionario(this.nome, this.salario);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get cargo;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void exibirInformacoes()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print('$cargo: $nome');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2AEA44E-30C2-41BD-B16A-E6103D6B8D6D}"/>
              </a:ext>
            </a:extLst>
          </p:cNvPr>
          <p:cNvSpPr>
            <a:spLocks noGrp="1"/>
          </p:cNvSpPr>
          <p:nvPr/>
        </p:nvSpPr>
        <p:spPr>
          <a:xfrm>
            <a:off x="6749303" y="1817594"/>
            <a:ext cx="5238750" cy="3905250"/>
          </a:xfrm>
          <a:prstGeom prst="roundRect">
            <a:avLst>
              <a:gd name="adj" fmla="val 1951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D493AE9-347C-4669-9884-C5C2C47B5941}"/>
              </a:ext>
            </a:extLst>
          </p:cNvPr>
          <p:cNvSpPr>
            <a:spLocks noGrp="1"/>
          </p:cNvSpPr>
          <p:nvPr/>
        </p:nvSpPr>
        <p:spPr>
          <a:xfrm>
            <a:off x="6863603" y="1893794"/>
            <a:ext cx="5010150" cy="3752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Estagiario extends Funcionario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curso;</a:t>
            </a:r>
          </a:p>
          <a:p>
            <a:endParaRPr sz="127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Estagiario(String nome, double salario, this.curso)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: super(nome, salario);</a:t>
            </a:r>
          </a:p>
          <a:p>
            <a:endParaRPr sz="127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@override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get cargo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return 'Estagiário';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8C229B8-1E33-4208-A13C-79EE53D00BD7}"/>
              </a:ext>
            </a:extLst>
          </p:cNvPr>
          <p:cNvSpPr>
            <a:spLocks noGrp="1"/>
          </p:cNvSpPr>
          <p:nvPr/>
        </p:nvSpPr>
        <p:spPr>
          <a:xfrm>
            <a:off x="1605803" y="6056219"/>
            <a:ext cx="9715500" cy="476250"/>
          </a:xfrm>
          <a:prstGeom prst="rect">
            <a:avLst/>
          </a:prstGeom>
          <a:solidFill>
            <a:srgbClr val="FFF2C6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 classe abstrata define a obrigação. Cada subclasse fornece a resposta adequada.</a:t>
            </a:r>
          </a:p>
        </p:txBody>
      </p:sp>
    </p:spTree>
    <p:extLst>
      <p:ext uri="{BB962C8B-B14F-4D97-AF65-F5344CB8AC3E}">
        <p14:creationId xmlns:p14="http://schemas.microsoft.com/office/powerpoint/2010/main" val="615102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08EB11BC-BD91-4E2C-B3E0-396A6C1F277C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A2A5C97-8E0E-4329-A67A-ED8539887C3D}"/>
              </a:ext>
            </a:extLst>
          </p:cNvPr>
          <p:cNvSpPr>
            <a:spLocks noGrp="1"/>
          </p:cNvSpPr>
          <p:nvPr/>
        </p:nvSpPr>
        <p:spPr>
          <a:xfrm>
            <a:off x="855009" y="651061"/>
            <a:ext cx="921067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Interface </a:t>
            </a:r>
            <a:r>
              <a:rPr sz="2250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em</a:t>
            </a:r>
            <a:r>
              <a:rPr sz="2250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Dart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6DD97AF-F590-4BDB-A76B-9499DB2B6CD9}"/>
              </a:ext>
            </a:extLst>
          </p:cNvPr>
          <p:cNvSpPr>
            <a:spLocks noGrp="1"/>
          </p:cNvSpPr>
          <p:nvPr/>
        </p:nvSpPr>
        <p:spPr>
          <a:xfrm>
            <a:off x="855009" y="1184461"/>
            <a:ext cx="55435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EF02FD5-9D6E-4E54-B527-788F3EA603E2}"/>
              </a:ext>
            </a:extLst>
          </p:cNvPr>
          <p:cNvSpPr>
            <a:spLocks noGrp="1"/>
          </p:cNvSpPr>
          <p:nvPr/>
        </p:nvSpPr>
        <p:spPr>
          <a:xfrm>
            <a:off x="902634" y="1641661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43"/>
          </a:bodyPr>
          <a:lstStyle/>
          <a:p>
            <a:pPr>
              <a:defRPr sz="20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Uma interface define um contrato: quais operações uma classe deve oferecer.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83F71F4-BAFC-4864-A5C1-F6F4C76857ED}"/>
              </a:ext>
            </a:extLst>
          </p:cNvPr>
          <p:cNvSpPr>
            <a:spLocks noGrp="1"/>
          </p:cNvSpPr>
          <p:nvPr/>
        </p:nvSpPr>
        <p:spPr>
          <a:xfrm>
            <a:off x="855009" y="2641786"/>
            <a:ext cx="3238500" cy="1809750"/>
          </a:xfrm>
          <a:prstGeom prst="roundRect">
            <a:avLst>
              <a:gd name="adj" fmla="val 4211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39847384-4DD9-4078-8267-98BB645B025A}"/>
              </a:ext>
            </a:extLst>
          </p:cNvPr>
          <p:cNvSpPr>
            <a:spLocks noGrp="1"/>
          </p:cNvSpPr>
          <p:nvPr/>
        </p:nvSpPr>
        <p:spPr>
          <a:xfrm>
            <a:off x="855009" y="2641786"/>
            <a:ext cx="66675" cy="180975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1D2F344-7DC9-4797-B47A-18A5D5FD2018}"/>
              </a:ext>
            </a:extLst>
          </p:cNvPr>
          <p:cNvSpPr>
            <a:spLocks noGrp="1"/>
          </p:cNvSpPr>
          <p:nvPr/>
        </p:nvSpPr>
        <p:spPr>
          <a:xfrm>
            <a:off x="1026459" y="2756086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Contrato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23B40FE5-3C78-47DE-B611-D20D29BB2856}"/>
              </a:ext>
            </a:extLst>
          </p:cNvPr>
          <p:cNvSpPr>
            <a:spLocks noGrp="1"/>
          </p:cNvSpPr>
          <p:nvPr/>
        </p:nvSpPr>
        <p:spPr>
          <a:xfrm>
            <a:off x="1026459" y="3137086"/>
            <a:ext cx="2952750" cy="1200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 interface declara capacidades esperadas, como calcularBonificacao().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68316E1-2149-4535-AA68-D0642517D224}"/>
              </a:ext>
            </a:extLst>
          </p:cNvPr>
          <p:cNvSpPr>
            <a:spLocks noGrp="1"/>
          </p:cNvSpPr>
          <p:nvPr/>
        </p:nvSpPr>
        <p:spPr>
          <a:xfrm>
            <a:off x="4665009" y="2641786"/>
            <a:ext cx="3238500" cy="1809750"/>
          </a:xfrm>
          <a:prstGeom prst="roundRect">
            <a:avLst>
              <a:gd name="adj" fmla="val 4211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106F8499-BA22-46A9-858D-F0AFEA1E11D6}"/>
              </a:ext>
            </a:extLst>
          </p:cNvPr>
          <p:cNvSpPr>
            <a:spLocks noGrp="1"/>
          </p:cNvSpPr>
          <p:nvPr/>
        </p:nvSpPr>
        <p:spPr>
          <a:xfrm>
            <a:off x="4665009" y="2641786"/>
            <a:ext cx="66675" cy="1809750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84C94F7-AD9E-4D60-8378-8FA65A46EFE7}"/>
              </a:ext>
            </a:extLst>
          </p:cNvPr>
          <p:cNvSpPr>
            <a:spLocks noGrp="1"/>
          </p:cNvSpPr>
          <p:nvPr/>
        </p:nvSpPr>
        <p:spPr>
          <a:xfrm>
            <a:off x="4836459" y="2756086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implements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83E213C-2960-451C-920E-379E3CF5A398}"/>
              </a:ext>
            </a:extLst>
          </p:cNvPr>
          <p:cNvSpPr>
            <a:spLocks noGrp="1"/>
          </p:cNvSpPr>
          <p:nvPr/>
        </p:nvSpPr>
        <p:spPr>
          <a:xfrm>
            <a:off x="4836459" y="3137086"/>
            <a:ext cx="2952750" cy="1200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 classe que implementa o contrato deve escrever os membros exigidos.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E48E759-EF01-4756-AF79-DA0ED78B2490}"/>
              </a:ext>
            </a:extLst>
          </p:cNvPr>
          <p:cNvSpPr>
            <a:spLocks noGrp="1"/>
          </p:cNvSpPr>
          <p:nvPr/>
        </p:nvSpPr>
        <p:spPr>
          <a:xfrm>
            <a:off x="8475009" y="2641786"/>
            <a:ext cx="3238500" cy="1809750"/>
          </a:xfrm>
          <a:prstGeom prst="roundRect">
            <a:avLst>
              <a:gd name="adj" fmla="val 4211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2A06173C-2890-4E41-AD01-C60AB75B78D4}"/>
              </a:ext>
            </a:extLst>
          </p:cNvPr>
          <p:cNvSpPr>
            <a:spLocks noGrp="1"/>
          </p:cNvSpPr>
          <p:nvPr/>
        </p:nvSpPr>
        <p:spPr>
          <a:xfrm>
            <a:off x="8475009" y="2641786"/>
            <a:ext cx="66675" cy="180975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7880A15-BF8C-4320-A529-B2C03DD9C909}"/>
              </a:ext>
            </a:extLst>
          </p:cNvPr>
          <p:cNvSpPr>
            <a:spLocks noGrp="1"/>
          </p:cNvSpPr>
          <p:nvPr/>
        </p:nvSpPr>
        <p:spPr>
          <a:xfrm>
            <a:off x="8646459" y="2756086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Flexibilidade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8B905E4-27DE-4412-B4C9-1BE4D9D80F01}"/>
              </a:ext>
            </a:extLst>
          </p:cNvPr>
          <p:cNvSpPr>
            <a:spLocks noGrp="1"/>
          </p:cNvSpPr>
          <p:nvPr/>
        </p:nvSpPr>
        <p:spPr>
          <a:xfrm>
            <a:off x="8646459" y="3137086"/>
            <a:ext cx="2952750" cy="1200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Classes de famílias diferentes podem compartilhar a mesma capacidade.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846D733-14DF-4766-94E0-0DDC1299D190}"/>
              </a:ext>
            </a:extLst>
          </p:cNvPr>
          <p:cNvSpPr>
            <a:spLocks noGrp="1"/>
          </p:cNvSpPr>
          <p:nvPr/>
        </p:nvSpPr>
        <p:spPr>
          <a:xfrm>
            <a:off x="1807509" y="5165911"/>
            <a:ext cx="8953500" cy="809625"/>
          </a:xfrm>
          <a:prstGeom prst="roundRect">
            <a:avLst>
              <a:gd name="adj" fmla="val 9412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B14EC6F-6BA7-411B-96F4-C7DC2924CC82}"/>
              </a:ext>
            </a:extLst>
          </p:cNvPr>
          <p:cNvSpPr>
            <a:spLocks noGrp="1"/>
          </p:cNvSpPr>
          <p:nvPr/>
        </p:nvSpPr>
        <p:spPr>
          <a:xfrm>
            <a:off x="2045634" y="5261161"/>
            <a:ext cx="84772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No Dart moderno, abstract interface class deixa explícito que a estrutura será usada como contrato.</a:t>
            </a:r>
          </a:p>
        </p:txBody>
      </p:sp>
    </p:spTree>
    <p:extLst>
      <p:ext uri="{BB962C8B-B14F-4D97-AF65-F5344CB8AC3E}">
        <p14:creationId xmlns:p14="http://schemas.microsoft.com/office/powerpoint/2010/main" val="1109710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>
            <a:extLst>
              <a:ext uri="{FF2B5EF4-FFF2-40B4-BE49-F238E27FC236}">
                <a16:creationId xmlns:a16="http://schemas.microsoft.com/office/drawing/2014/main" id="{F845ADDE-324A-42D5-8A1B-0D766524B05E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D359080-9029-4AB3-BD48-9E38130F02F0}"/>
              </a:ext>
            </a:extLst>
          </p:cNvPr>
          <p:cNvSpPr>
            <a:spLocks noGrp="1"/>
          </p:cNvSpPr>
          <p:nvPr/>
        </p:nvSpPr>
        <p:spPr>
          <a:xfrm>
            <a:off x="764241" y="740709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Criando a interface Bonificavel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F4A4A29-704E-4D6A-8EA1-AF9898891ECF}"/>
              </a:ext>
            </a:extLst>
          </p:cNvPr>
          <p:cNvSpPr>
            <a:spLocks noGrp="1"/>
          </p:cNvSpPr>
          <p:nvPr/>
        </p:nvSpPr>
        <p:spPr>
          <a:xfrm>
            <a:off x="764241" y="1274109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85FA420-C90A-4A62-9174-C7C63E8A948E}"/>
              </a:ext>
            </a:extLst>
          </p:cNvPr>
          <p:cNvSpPr>
            <a:spLocks noGrp="1"/>
          </p:cNvSpPr>
          <p:nvPr/>
        </p:nvSpPr>
        <p:spPr>
          <a:xfrm>
            <a:off x="1411941" y="2112309"/>
            <a:ext cx="4953000" cy="1714500"/>
          </a:xfrm>
          <a:prstGeom prst="roundRect">
            <a:avLst>
              <a:gd name="adj" fmla="val 4444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FCEC1D3-2B77-449E-B676-2D29C6C4E9EC}"/>
              </a:ext>
            </a:extLst>
          </p:cNvPr>
          <p:cNvSpPr>
            <a:spLocks noGrp="1"/>
          </p:cNvSpPr>
          <p:nvPr/>
        </p:nvSpPr>
        <p:spPr>
          <a:xfrm>
            <a:off x="1526241" y="2188509"/>
            <a:ext cx="4724400" cy="1562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abstract interface class Bonificavel {</a:t>
            </a:r>
          </a:p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calcularBonificacao();</a:t>
            </a:r>
          </a:p>
          <a:p>
            <a:pPr>
              <a:def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6B4888C-39F3-4E22-802B-26D0767B7A6F}"/>
              </a:ext>
            </a:extLst>
          </p:cNvPr>
          <p:cNvSpPr>
            <a:spLocks noGrp="1"/>
          </p:cNvSpPr>
          <p:nvPr/>
        </p:nvSpPr>
        <p:spPr>
          <a:xfrm>
            <a:off x="6841191" y="1874184"/>
            <a:ext cx="4572000" cy="266700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352C130-DC10-4BC8-9869-4376D627EA8F}"/>
              </a:ext>
            </a:extLst>
          </p:cNvPr>
          <p:cNvSpPr>
            <a:spLocks noGrp="1"/>
          </p:cNvSpPr>
          <p:nvPr/>
        </p:nvSpPr>
        <p:spPr>
          <a:xfrm>
            <a:off x="6955491" y="1950384"/>
            <a:ext cx="4343400" cy="251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Gerente extends Funcionario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implements Bonificavel {</a:t>
            </a:r>
          </a:p>
          <a:p>
            <a:endParaRPr sz="135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@override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calcularBonificacao() {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return salario * 0.20;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BE2E181-0437-4987-A399-986C1FE3C9D2}"/>
              </a:ext>
            </a:extLst>
          </p:cNvPr>
          <p:cNvSpPr>
            <a:spLocks noGrp="1"/>
          </p:cNvSpPr>
          <p:nvPr/>
        </p:nvSpPr>
        <p:spPr>
          <a:xfrm>
            <a:off x="1411941" y="4588809"/>
            <a:ext cx="4953000" cy="1095375"/>
          </a:xfrm>
          <a:prstGeom prst="roundRect">
            <a:avLst>
              <a:gd name="adj" fmla="val 6957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7CD32C9-9F4E-4032-BE57-C4C0B6EE2748}"/>
              </a:ext>
            </a:extLst>
          </p:cNvPr>
          <p:cNvSpPr>
            <a:spLocks noGrp="1"/>
          </p:cNvSpPr>
          <p:nvPr/>
        </p:nvSpPr>
        <p:spPr>
          <a:xfrm>
            <a:off x="1411941" y="4588809"/>
            <a:ext cx="66675" cy="109537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EE23BC3-766D-44D7-AF5A-C7422450EA05}"/>
              </a:ext>
            </a:extLst>
          </p:cNvPr>
          <p:cNvSpPr>
            <a:spLocks noGrp="1"/>
          </p:cNvSpPr>
          <p:nvPr/>
        </p:nvSpPr>
        <p:spPr>
          <a:xfrm>
            <a:off x="1583391" y="4703109"/>
            <a:ext cx="4667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Método sem corpo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14EAD11-2767-47A7-BB7A-10850581A8F6}"/>
              </a:ext>
            </a:extLst>
          </p:cNvPr>
          <p:cNvSpPr>
            <a:spLocks noGrp="1"/>
          </p:cNvSpPr>
          <p:nvPr/>
        </p:nvSpPr>
        <p:spPr>
          <a:xfrm>
            <a:off x="1583391" y="5084109"/>
            <a:ext cx="4667250" cy="4857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 interface informa o que deve existir, mas não calcula o valor.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1817369-B5B1-4AF7-B838-E1B454056214}"/>
              </a:ext>
            </a:extLst>
          </p:cNvPr>
          <p:cNvSpPr>
            <a:spLocks noGrp="1"/>
          </p:cNvSpPr>
          <p:nvPr/>
        </p:nvSpPr>
        <p:spPr>
          <a:xfrm>
            <a:off x="6841191" y="4969809"/>
            <a:ext cx="4572000" cy="1095375"/>
          </a:xfrm>
          <a:prstGeom prst="roundRect">
            <a:avLst>
              <a:gd name="adj" fmla="val 6957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00603A3-29FD-42F1-B245-205B9B5A3DD4}"/>
              </a:ext>
            </a:extLst>
          </p:cNvPr>
          <p:cNvSpPr>
            <a:spLocks noGrp="1"/>
          </p:cNvSpPr>
          <p:nvPr/>
        </p:nvSpPr>
        <p:spPr>
          <a:xfrm>
            <a:off x="6841191" y="4969809"/>
            <a:ext cx="66675" cy="109537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45A6F70-244B-41FC-BCFF-62C233EEED3A}"/>
              </a:ext>
            </a:extLst>
          </p:cNvPr>
          <p:cNvSpPr>
            <a:spLocks noGrp="1"/>
          </p:cNvSpPr>
          <p:nvPr/>
        </p:nvSpPr>
        <p:spPr>
          <a:xfrm>
            <a:off x="7012641" y="5084109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Implementação obrigatória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9928F7D-95FC-4D51-AC40-56D1C16AF859}"/>
              </a:ext>
            </a:extLst>
          </p:cNvPr>
          <p:cNvSpPr>
            <a:spLocks noGrp="1"/>
          </p:cNvSpPr>
          <p:nvPr/>
        </p:nvSpPr>
        <p:spPr>
          <a:xfrm>
            <a:off x="7012641" y="5465109"/>
            <a:ext cx="4286250" cy="4857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Gerente fornece sua regra de bonificação e usa @override.</a:t>
            </a:r>
          </a:p>
        </p:txBody>
      </p:sp>
    </p:spTree>
    <p:extLst>
      <p:ext uri="{BB962C8B-B14F-4D97-AF65-F5344CB8AC3E}">
        <p14:creationId xmlns:p14="http://schemas.microsoft.com/office/powerpoint/2010/main" val="1978578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tângulo 21">
            <a:extLst>
              <a:ext uri="{FF2B5EF4-FFF2-40B4-BE49-F238E27FC236}">
                <a16:creationId xmlns:a16="http://schemas.microsoft.com/office/drawing/2014/main" id="{CB34E208-706A-457E-8B08-4670CD8D5B89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F40C3CF-F5C1-432B-816E-1D432FCAD693}"/>
              </a:ext>
            </a:extLst>
          </p:cNvPr>
          <p:cNvSpPr>
            <a:spLocks noGrp="1"/>
          </p:cNvSpPr>
          <p:nvPr/>
        </p:nvSpPr>
        <p:spPr>
          <a:xfrm>
            <a:off x="791135" y="642097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Quem implementa Bonificavel?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5A1D824-8DEE-4AB7-BCEB-A25AE38BAC4E}"/>
              </a:ext>
            </a:extLst>
          </p:cNvPr>
          <p:cNvSpPr>
            <a:spLocks noGrp="1"/>
          </p:cNvSpPr>
          <p:nvPr/>
        </p:nvSpPr>
        <p:spPr>
          <a:xfrm>
            <a:off x="791135" y="1175497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C72F403-2967-4476-BB3A-E86B67C411D5}"/>
              </a:ext>
            </a:extLst>
          </p:cNvPr>
          <p:cNvSpPr>
            <a:spLocks noGrp="1"/>
          </p:cNvSpPr>
          <p:nvPr/>
        </p:nvSpPr>
        <p:spPr>
          <a:xfrm>
            <a:off x="676835" y="2113709"/>
            <a:ext cx="3333750" cy="2047875"/>
          </a:xfrm>
          <a:prstGeom prst="roundRect">
            <a:avLst>
              <a:gd name="adj" fmla="val 3721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E38BE07-E3E7-4CDD-961B-76610C5FF886}"/>
              </a:ext>
            </a:extLst>
          </p:cNvPr>
          <p:cNvSpPr>
            <a:spLocks noGrp="1"/>
          </p:cNvSpPr>
          <p:nvPr/>
        </p:nvSpPr>
        <p:spPr>
          <a:xfrm>
            <a:off x="676835" y="2113709"/>
            <a:ext cx="66675" cy="204787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BEF3999-DA81-4321-BA7E-C4CD755F2922}"/>
              </a:ext>
            </a:extLst>
          </p:cNvPr>
          <p:cNvSpPr>
            <a:spLocks noGrp="1"/>
          </p:cNvSpPr>
          <p:nvPr/>
        </p:nvSpPr>
        <p:spPr>
          <a:xfrm>
            <a:off x="848285" y="2228009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Gerente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D8D57FD-3D43-432D-8447-CC039FFA3EC1}"/>
              </a:ext>
            </a:extLst>
          </p:cNvPr>
          <p:cNvSpPr>
            <a:spLocks noGrp="1"/>
          </p:cNvSpPr>
          <p:nvPr/>
        </p:nvSpPr>
        <p:spPr>
          <a:xfrm>
            <a:off x="848285" y="2609009"/>
            <a:ext cx="3048000" cy="1438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implements Bonificavel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Bônus de 20% do salário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805F388-017E-47F5-B534-9E490B3C5E18}"/>
              </a:ext>
            </a:extLst>
          </p:cNvPr>
          <p:cNvSpPr>
            <a:spLocks noGrp="1"/>
          </p:cNvSpPr>
          <p:nvPr/>
        </p:nvSpPr>
        <p:spPr>
          <a:xfrm>
            <a:off x="4439210" y="2113709"/>
            <a:ext cx="3333750" cy="2047875"/>
          </a:xfrm>
          <a:prstGeom prst="roundRect">
            <a:avLst>
              <a:gd name="adj" fmla="val 3721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0C3B64D-8C1C-4F54-AC96-619E4172C8F0}"/>
              </a:ext>
            </a:extLst>
          </p:cNvPr>
          <p:cNvSpPr>
            <a:spLocks noGrp="1"/>
          </p:cNvSpPr>
          <p:nvPr/>
        </p:nvSpPr>
        <p:spPr>
          <a:xfrm>
            <a:off x="4439210" y="2113709"/>
            <a:ext cx="66675" cy="204787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7D18AA4-7D35-479C-81EB-ADA7B71F9220}"/>
              </a:ext>
            </a:extLst>
          </p:cNvPr>
          <p:cNvSpPr>
            <a:spLocks noGrp="1"/>
          </p:cNvSpPr>
          <p:nvPr/>
        </p:nvSpPr>
        <p:spPr>
          <a:xfrm>
            <a:off x="4610660" y="2228009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Vendedor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67DF44DA-0BBB-444E-B117-49560F9878B5}"/>
              </a:ext>
            </a:extLst>
          </p:cNvPr>
          <p:cNvSpPr>
            <a:spLocks noGrp="1"/>
          </p:cNvSpPr>
          <p:nvPr/>
        </p:nvSpPr>
        <p:spPr>
          <a:xfrm>
            <a:off x="4610660" y="2609009"/>
            <a:ext cx="3048000" cy="1438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implements Bonificavel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Bônus de 5% das vendas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36D2B05F-1B97-4C6A-B299-BCBBCECB2F79}"/>
              </a:ext>
            </a:extLst>
          </p:cNvPr>
          <p:cNvSpPr>
            <a:spLocks noGrp="1"/>
          </p:cNvSpPr>
          <p:nvPr/>
        </p:nvSpPr>
        <p:spPr>
          <a:xfrm>
            <a:off x="8201585" y="2113709"/>
            <a:ext cx="3333750" cy="2047875"/>
          </a:xfrm>
          <a:prstGeom prst="roundRect">
            <a:avLst>
              <a:gd name="adj" fmla="val 3721"/>
            </a:avLst>
          </a:prstGeom>
          <a:solidFill>
            <a:srgbClr val="FCEBEC"/>
          </a:solidFill>
          <a:ln w="9525">
            <a:solidFill>
              <a:srgbClr val="CBD5E1"/>
            </a:solidFill>
          </a:ln>
        </p:spPr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3855C89-CE9B-46EB-8AC2-7DDE6A8EB435}"/>
              </a:ext>
            </a:extLst>
          </p:cNvPr>
          <p:cNvSpPr>
            <a:spLocks noGrp="1"/>
          </p:cNvSpPr>
          <p:nvPr/>
        </p:nvSpPr>
        <p:spPr>
          <a:xfrm>
            <a:off x="8201585" y="2113709"/>
            <a:ext cx="66675" cy="2047875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0">
            <a:noFill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D2DCE92-8296-488D-B0AB-957608934F74}"/>
              </a:ext>
            </a:extLst>
          </p:cNvPr>
          <p:cNvSpPr>
            <a:spLocks noGrp="1"/>
          </p:cNvSpPr>
          <p:nvPr/>
        </p:nvSpPr>
        <p:spPr>
          <a:xfrm>
            <a:off x="8373035" y="2228009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rPr>
              <a:t>Estagiário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0A12E43-253A-4AC4-84D4-3FBD4DEE4DA5}"/>
              </a:ext>
            </a:extLst>
          </p:cNvPr>
          <p:cNvSpPr>
            <a:spLocks noGrp="1"/>
          </p:cNvSpPr>
          <p:nvPr/>
        </p:nvSpPr>
        <p:spPr>
          <a:xfrm>
            <a:off x="8373035" y="2609009"/>
            <a:ext cx="3048000" cy="1438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Herda de Funcionario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Não implementa Bonificavel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D167B7A-EA1C-46D9-8D6D-8425E919BAB4}"/>
              </a:ext>
            </a:extLst>
          </p:cNvPr>
          <p:cNvSpPr>
            <a:spLocks noGrp="1"/>
          </p:cNvSpPr>
          <p:nvPr/>
        </p:nvSpPr>
        <p:spPr>
          <a:xfrm>
            <a:off x="1248335" y="4871197"/>
            <a:ext cx="4762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767"/>
          </a:bodyPr>
          <a:lstStyle/>
          <a:p>
            <a:pPr>
              <a:defRPr sz="17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Herança responde: “o que o objeto é?”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123069BA-5EE7-458A-8862-84F585B84E15}"/>
              </a:ext>
            </a:extLst>
          </p:cNvPr>
          <p:cNvSpPr>
            <a:spLocks noGrp="1"/>
          </p:cNvSpPr>
          <p:nvPr/>
        </p:nvSpPr>
        <p:spPr>
          <a:xfrm>
            <a:off x="6487085" y="4871197"/>
            <a:ext cx="50482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593" lnSpcReduction="20000"/>
          </a:bodyPr>
          <a:lstStyle/>
          <a:p>
            <a:pPr>
              <a:defRPr sz="17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Interface responde: “o que o objeto sabe fazer?”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B2523146-BAE3-449A-921A-5BB4E366BB2E}"/>
              </a:ext>
            </a:extLst>
          </p:cNvPr>
          <p:cNvSpPr>
            <a:spLocks noGrp="1"/>
          </p:cNvSpPr>
          <p:nvPr/>
        </p:nvSpPr>
        <p:spPr>
          <a:xfrm>
            <a:off x="2200835" y="5728447"/>
            <a:ext cx="8382000" cy="552450"/>
          </a:xfrm>
          <a:prstGeom prst="roundRect">
            <a:avLst>
              <a:gd name="adj" fmla="val 13793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B8158E7-3633-407B-8C9A-F7D35DE17F03}"/>
              </a:ext>
            </a:extLst>
          </p:cNvPr>
          <p:cNvSpPr>
            <a:spLocks noGrp="1"/>
          </p:cNvSpPr>
          <p:nvPr/>
        </p:nvSpPr>
        <p:spPr>
          <a:xfrm>
            <a:off x="2438960" y="5795122"/>
            <a:ext cx="7905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Nem todo Funcionario precisa receber bonificação.</a:t>
            </a:r>
          </a:p>
        </p:txBody>
      </p:sp>
    </p:spTree>
    <p:extLst>
      <p:ext uri="{BB962C8B-B14F-4D97-AF65-F5344CB8AC3E}">
        <p14:creationId xmlns:p14="http://schemas.microsoft.com/office/powerpoint/2010/main" val="1009613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53800AA3-030E-477D-B28B-5AB507E49F14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C6AD096-4F59-426B-BBA1-4F0B17D65606}"/>
              </a:ext>
            </a:extLst>
          </p:cNvPr>
          <p:cNvSpPr>
            <a:spLocks noGrp="1"/>
          </p:cNvSpPr>
          <p:nvPr/>
        </p:nvSpPr>
        <p:spPr>
          <a:xfrm>
            <a:off x="871818" y="848286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Vendedor com bonificação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2308ABE-6889-41CB-9C64-CBAB6547CAA7}"/>
              </a:ext>
            </a:extLst>
          </p:cNvPr>
          <p:cNvSpPr>
            <a:spLocks noGrp="1"/>
          </p:cNvSpPr>
          <p:nvPr/>
        </p:nvSpPr>
        <p:spPr>
          <a:xfrm>
            <a:off x="871818" y="1381686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0CB25564-0684-48C1-A33A-616F9ABAC856}"/>
              </a:ext>
            </a:extLst>
          </p:cNvPr>
          <p:cNvSpPr>
            <a:spLocks noGrp="1"/>
          </p:cNvSpPr>
          <p:nvPr/>
        </p:nvSpPr>
        <p:spPr>
          <a:xfrm>
            <a:off x="995643" y="1743636"/>
            <a:ext cx="6667500" cy="3425638"/>
          </a:xfrm>
          <a:prstGeom prst="roundRect">
            <a:avLst>
              <a:gd name="adj" fmla="val 1538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BD2638F-71A3-4292-8157-D07A47D54808}"/>
              </a:ext>
            </a:extLst>
          </p:cNvPr>
          <p:cNvSpPr>
            <a:spLocks noGrp="1"/>
          </p:cNvSpPr>
          <p:nvPr/>
        </p:nvSpPr>
        <p:spPr>
          <a:xfrm>
            <a:off x="1109943" y="1819836"/>
            <a:ext cx="6438900" cy="4800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Vendedor extends Funcionario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implements Bonificavel {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totalVendas;</a:t>
            </a:r>
          </a:p>
          <a:p>
            <a:endParaRPr sz="120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Vendedor(String nome, double salario, this.totalVendas)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: super(nome, salario);</a:t>
            </a:r>
          </a:p>
          <a:p>
            <a:endParaRPr sz="120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@override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double calcularBonificacao() {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return totalVendas * 0.05;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endParaRPr sz="1200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@override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get cargo {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return 'Vendedor';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0FE4964-7AB7-466C-B998-2A37EA0BBCDC}"/>
              </a:ext>
            </a:extLst>
          </p:cNvPr>
          <p:cNvSpPr>
            <a:spLocks noGrp="1"/>
          </p:cNvSpPr>
          <p:nvPr/>
        </p:nvSpPr>
        <p:spPr>
          <a:xfrm>
            <a:off x="8187018" y="2077011"/>
            <a:ext cx="3619500" cy="11430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D7D659C-40CB-4615-8F2B-E793A7FDE6A9}"/>
              </a:ext>
            </a:extLst>
          </p:cNvPr>
          <p:cNvSpPr>
            <a:spLocks noGrp="1"/>
          </p:cNvSpPr>
          <p:nvPr/>
        </p:nvSpPr>
        <p:spPr>
          <a:xfrm>
            <a:off x="8187018" y="2077011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93F9A4A-FF02-40AC-9548-9D71063E37C9}"/>
              </a:ext>
            </a:extLst>
          </p:cNvPr>
          <p:cNvSpPr>
            <a:spLocks noGrp="1"/>
          </p:cNvSpPr>
          <p:nvPr/>
        </p:nvSpPr>
        <p:spPr>
          <a:xfrm>
            <a:off x="8358468" y="2191311"/>
            <a:ext cx="3333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Herança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FA78B18-1AAA-4DEA-8C90-C30448312AD6}"/>
              </a:ext>
            </a:extLst>
          </p:cNvPr>
          <p:cNvSpPr>
            <a:spLocks noGrp="1"/>
          </p:cNvSpPr>
          <p:nvPr/>
        </p:nvSpPr>
        <p:spPr>
          <a:xfrm>
            <a:off x="8358468" y="2572311"/>
            <a:ext cx="333375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Vendedor reaproveita nome, salário e exibirInformacoes.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D49A781-9E00-4685-8B0F-C604C3E5F1E3}"/>
              </a:ext>
            </a:extLst>
          </p:cNvPr>
          <p:cNvSpPr>
            <a:spLocks noGrp="1"/>
          </p:cNvSpPr>
          <p:nvPr/>
        </p:nvSpPr>
        <p:spPr>
          <a:xfrm>
            <a:off x="8187018" y="3553386"/>
            <a:ext cx="3619500" cy="1143000"/>
          </a:xfrm>
          <a:prstGeom prst="roundRect">
            <a:avLst>
              <a:gd name="adj" fmla="val 6667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A21E0ED-778B-4E21-AC43-A5317E68671B}"/>
              </a:ext>
            </a:extLst>
          </p:cNvPr>
          <p:cNvSpPr>
            <a:spLocks noGrp="1"/>
          </p:cNvSpPr>
          <p:nvPr/>
        </p:nvSpPr>
        <p:spPr>
          <a:xfrm>
            <a:off x="8187018" y="3553386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65CB65C2-4097-47BE-9885-2D83DA9D5482}"/>
              </a:ext>
            </a:extLst>
          </p:cNvPr>
          <p:cNvSpPr>
            <a:spLocks noGrp="1"/>
          </p:cNvSpPr>
          <p:nvPr/>
        </p:nvSpPr>
        <p:spPr>
          <a:xfrm>
            <a:off x="8358468" y="3667686"/>
            <a:ext cx="3333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Interface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1DCAC07-7B8A-4FBB-9D59-ECE627C7B7C5}"/>
              </a:ext>
            </a:extLst>
          </p:cNvPr>
          <p:cNvSpPr>
            <a:spLocks noGrp="1"/>
          </p:cNvSpPr>
          <p:nvPr/>
        </p:nvSpPr>
        <p:spPr>
          <a:xfrm>
            <a:off x="8358468" y="4048686"/>
            <a:ext cx="333375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Vendedor assume a obrigação de calcular a bonificação.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B2828D87-911E-4097-9561-CDF6ADBB4694}"/>
              </a:ext>
            </a:extLst>
          </p:cNvPr>
          <p:cNvSpPr>
            <a:spLocks noGrp="1"/>
          </p:cNvSpPr>
          <p:nvPr/>
        </p:nvSpPr>
        <p:spPr>
          <a:xfrm>
            <a:off x="8187018" y="5029761"/>
            <a:ext cx="3619500" cy="1143000"/>
          </a:xfrm>
          <a:prstGeom prst="roundRect">
            <a:avLst>
              <a:gd name="adj" fmla="val 6667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06E7EFFC-433D-484A-876B-C89BD78FCDF5}"/>
              </a:ext>
            </a:extLst>
          </p:cNvPr>
          <p:cNvSpPr>
            <a:spLocks noGrp="1"/>
          </p:cNvSpPr>
          <p:nvPr/>
        </p:nvSpPr>
        <p:spPr>
          <a:xfrm>
            <a:off x="8187018" y="5029761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14B7C7C8-0288-402D-8670-BE6355559216}"/>
              </a:ext>
            </a:extLst>
          </p:cNvPr>
          <p:cNvSpPr>
            <a:spLocks noGrp="1"/>
          </p:cNvSpPr>
          <p:nvPr/>
        </p:nvSpPr>
        <p:spPr>
          <a:xfrm>
            <a:off x="8358468" y="5144061"/>
            <a:ext cx="3333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Regra própria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4AC309C-0553-4B28-871F-E891AC5FD0CB}"/>
              </a:ext>
            </a:extLst>
          </p:cNvPr>
          <p:cNvSpPr>
            <a:spLocks noGrp="1"/>
          </p:cNvSpPr>
          <p:nvPr/>
        </p:nvSpPr>
        <p:spPr>
          <a:xfrm>
            <a:off x="8358468" y="5525061"/>
            <a:ext cx="333375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 bônus usa o total vendido, não o salário.</a:t>
            </a:r>
          </a:p>
        </p:txBody>
      </p:sp>
    </p:spTree>
    <p:extLst>
      <p:ext uri="{BB962C8B-B14F-4D97-AF65-F5344CB8AC3E}">
        <p14:creationId xmlns:p14="http://schemas.microsoft.com/office/powerpoint/2010/main" val="886179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D92813CA-FC63-4B6D-B9C7-FA6697A68C3D}"/>
              </a:ext>
            </a:extLst>
          </p:cNvPr>
          <p:cNvSpPr>
            <a:spLocks noGrp="1"/>
          </p:cNvSpPr>
          <p:nvPr/>
        </p:nvSpPr>
        <p:spPr>
          <a:xfrm>
            <a:off x="844924" y="69588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Polimorfismo pela interface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21A86CD-8C6E-4EEB-AD5E-D828A4453F31}"/>
              </a:ext>
            </a:extLst>
          </p:cNvPr>
          <p:cNvSpPr>
            <a:spLocks noGrp="1"/>
          </p:cNvSpPr>
          <p:nvPr/>
        </p:nvSpPr>
        <p:spPr>
          <a:xfrm>
            <a:off x="844924" y="122928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38C5290-E0CC-4D16-8801-EB72096D4C30}"/>
              </a:ext>
            </a:extLst>
          </p:cNvPr>
          <p:cNvSpPr>
            <a:spLocks noGrp="1"/>
          </p:cNvSpPr>
          <p:nvPr/>
        </p:nvSpPr>
        <p:spPr>
          <a:xfrm>
            <a:off x="1016374" y="2019860"/>
            <a:ext cx="5905500" cy="3333750"/>
          </a:xfrm>
          <a:prstGeom prst="roundRect">
            <a:avLst>
              <a:gd name="adj" fmla="val 2286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7D92301-ECA2-4D1F-AF21-4330B3533DFE}"/>
              </a:ext>
            </a:extLst>
          </p:cNvPr>
          <p:cNvSpPr>
            <a:spLocks noGrp="1"/>
          </p:cNvSpPr>
          <p:nvPr/>
        </p:nvSpPr>
        <p:spPr>
          <a:xfrm>
            <a:off x="1130674" y="2096060"/>
            <a:ext cx="5676900" cy="3181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List&lt;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Bonificavel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&gt; 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bonificados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= [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('Ana', 8000, 'TI'),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Vendedor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('Bruno', 3500, 20000),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];</a:t>
            </a:r>
          </a:p>
          <a:p>
            <a:endParaRPr sz="1425" b="0" dirty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for (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Bonificavel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pessoa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in 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bonificados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print(</a:t>
            </a:r>
            <a:r>
              <a:rPr sz="1425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pessoa.calcularBonificacao</a:t>
            </a: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());</a:t>
            </a:r>
          </a:p>
          <a:p>
            <a:pPr>
              <a:defRPr sz="142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8ADD222-7E37-48DE-85B0-E1EA04838454}"/>
              </a:ext>
            </a:extLst>
          </p:cNvPr>
          <p:cNvSpPr>
            <a:spLocks noGrp="1"/>
          </p:cNvSpPr>
          <p:nvPr/>
        </p:nvSpPr>
        <p:spPr>
          <a:xfrm>
            <a:off x="7493374" y="1972235"/>
            <a:ext cx="4191000" cy="1095375"/>
          </a:xfrm>
          <a:prstGeom prst="roundRect">
            <a:avLst>
              <a:gd name="adj" fmla="val 6957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4EE0073-BCA7-4513-AE64-CB80EAAEC568}"/>
              </a:ext>
            </a:extLst>
          </p:cNvPr>
          <p:cNvSpPr>
            <a:spLocks noGrp="1"/>
          </p:cNvSpPr>
          <p:nvPr/>
        </p:nvSpPr>
        <p:spPr>
          <a:xfrm>
            <a:off x="7493374" y="1972235"/>
            <a:ext cx="66675" cy="109537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C8679CF-A3BC-49D5-A303-7384373DFAE0}"/>
              </a:ext>
            </a:extLst>
          </p:cNvPr>
          <p:cNvSpPr>
            <a:spLocks noGrp="1"/>
          </p:cNvSpPr>
          <p:nvPr/>
        </p:nvSpPr>
        <p:spPr>
          <a:xfrm>
            <a:off x="7664824" y="2086535"/>
            <a:ext cx="3905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Tipo da lista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9365245-E1DE-4C10-98EC-DB2FAEA20E0D}"/>
              </a:ext>
            </a:extLst>
          </p:cNvPr>
          <p:cNvSpPr>
            <a:spLocks noGrp="1"/>
          </p:cNvSpPr>
          <p:nvPr/>
        </p:nvSpPr>
        <p:spPr>
          <a:xfrm>
            <a:off x="7664824" y="2467535"/>
            <a:ext cx="3905250" cy="4857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Bonificavel aceita qualquer objeto que cumpra o contrato.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579534E1-73B4-4A62-8941-8E7625152320}"/>
              </a:ext>
            </a:extLst>
          </p:cNvPr>
          <p:cNvSpPr>
            <a:spLocks noGrp="1"/>
          </p:cNvSpPr>
          <p:nvPr/>
        </p:nvSpPr>
        <p:spPr>
          <a:xfrm>
            <a:off x="7493374" y="3448610"/>
            <a:ext cx="4191000" cy="1143000"/>
          </a:xfrm>
          <a:prstGeom prst="roundRect">
            <a:avLst>
              <a:gd name="adj" fmla="val 6667"/>
            </a:avLst>
          </a:prstGeom>
          <a:solidFill>
            <a:srgbClr val="FCEBEC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EFD5E05-3FA8-42C7-BD03-E335D4F2E112}"/>
              </a:ext>
            </a:extLst>
          </p:cNvPr>
          <p:cNvSpPr>
            <a:spLocks noGrp="1"/>
          </p:cNvSpPr>
          <p:nvPr/>
        </p:nvSpPr>
        <p:spPr>
          <a:xfrm>
            <a:off x="7493374" y="3448610"/>
            <a:ext cx="66675" cy="114300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2477487-4740-4506-A373-79D814B0CD75}"/>
              </a:ext>
            </a:extLst>
          </p:cNvPr>
          <p:cNvSpPr>
            <a:spLocks noGrp="1"/>
          </p:cNvSpPr>
          <p:nvPr/>
        </p:nvSpPr>
        <p:spPr>
          <a:xfrm>
            <a:off x="7664824" y="3562910"/>
            <a:ext cx="3905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rPr>
              <a:t>Sem Estagiario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C09BA1C-741D-4FD3-B89C-5BCC0E376046}"/>
              </a:ext>
            </a:extLst>
          </p:cNvPr>
          <p:cNvSpPr>
            <a:spLocks noGrp="1"/>
          </p:cNvSpPr>
          <p:nvPr/>
        </p:nvSpPr>
        <p:spPr>
          <a:xfrm>
            <a:off x="7664824" y="3943910"/>
            <a:ext cx="390525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Estagiario não pode entrar na lista porque não implementa a interface.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5BD2984D-423C-4203-AD27-6D34EF977426}"/>
              </a:ext>
            </a:extLst>
          </p:cNvPr>
          <p:cNvSpPr>
            <a:spLocks noGrp="1"/>
          </p:cNvSpPr>
          <p:nvPr/>
        </p:nvSpPr>
        <p:spPr>
          <a:xfrm>
            <a:off x="7493374" y="4972610"/>
            <a:ext cx="4191000" cy="1095375"/>
          </a:xfrm>
          <a:prstGeom prst="roundRect">
            <a:avLst>
              <a:gd name="adj" fmla="val 6957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7055CFB-B256-435D-936E-4CD7E1EB354F}"/>
              </a:ext>
            </a:extLst>
          </p:cNvPr>
          <p:cNvSpPr>
            <a:spLocks noGrp="1"/>
          </p:cNvSpPr>
          <p:nvPr/>
        </p:nvSpPr>
        <p:spPr>
          <a:xfrm>
            <a:off x="7493374" y="4972610"/>
            <a:ext cx="66675" cy="109537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E84E2B9-4CFF-4B58-9419-62CE2415DC1B}"/>
              </a:ext>
            </a:extLst>
          </p:cNvPr>
          <p:cNvSpPr>
            <a:spLocks noGrp="1"/>
          </p:cNvSpPr>
          <p:nvPr/>
        </p:nvSpPr>
        <p:spPr>
          <a:xfrm>
            <a:off x="7664824" y="5086910"/>
            <a:ext cx="3905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Resultado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13BC3C5-2DE6-4973-9D09-E6A99B42A19D}"/>
              </a:ext>
            </a:extLst>
          </p:cNvPr>
          <p:cNvSpPr>
            <a:spLocks noGrp="1"/>
          </p:cNvSpPr>
          <p:nvPr/>
        </p:nvSpPr>
        <p:spPr>
          <a:xfrm>
            <a:off x="7664824" y="5467910"/>
            <a:ext cx="3905250" cy="4857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 mesmo método produz valores diferentes conforme a classe do objeto.</a:t>
            </a:r>
          </a:p>
        </p:txBody>
      </p:sp>
    </p:spTree>
    <p:extLst>
      <p:ext uri="{BB962C8B-B14F-4D97-AF65-F5344CB8AC3E}">
        <p14:creationId xmlns:p14="http://schemas.microsoft.com/office/powerpoint/2010/main" val="1993657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A90D11C6-260E-4C3C-94CA-362CBE3B175E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CFABC13-E4A5-49C0-BE05-2FEB3426A2DF}"/>
              </a:ext>
            </a:extLst>
          </p:cNvPr>
          <p:cNvSpPr>
            <a:spLocks noGrp="1"/>
          </p:cNvSpPr>
          <p:nvPr/>
        </p:nvSpPr>
        <p:spPr>
          <a:xfrm>
            <a:off x="764241" y="785533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Programa principal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F65A-7D7B-4CBD-BBF8-6690F68E5807}"/>
              </a:ext>
            </a:extLst>
          </p:cNvPr>
          <p:cNvSpPr>
            <a:spLocks noGrp="1"/>
          </p:cNvSpPr>
          <p:nvPr/>
        </p:nvSpPr>
        <p:spPr>
          <a:xfrm>
            <a:off x="764241" y="1318933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23F4333-9268-4FA6-94DF-4DE559C41A17}"/>
              </a:ext>
            </a:extLst>
          </p:cNvPr>
          <p:cNvSpPr>
            <a:spLocks noGrp="1"/>
          </p:cNvSpPr>
          <p:nvPr/>
        </p:nvSpPr>
        <p:spPr>
          <a:xfrm>
            <a:off x="764241" y="2104746"/>
            <a:ext cx="6953250" cy="3476625"/>
          </a:xfrm>
          <a:prstGeom prst="roundRect">
            <a:avLst>
              <a:gd name="adj" fmla="val 1509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F4F1681-DA46-4A38-8EEE-0B7AED5A0146}"/>
              </a:ext>
            </a:extLst>
          </p:cNvPr>
          <p:cNvSpPr>
            <a:spLocks noGrp="1"/>
          </p:cNvSpPr>
          <p:nvPr/>
        </p:nvSpPr>
        <p:spPr>
          <a:xfrm>
            <a:off x="878541" y="2180945"/>
            <a:ext cx="6724650" cy="328612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void main() {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Funcionario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=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('Ana', 8000, 'TI');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Funcionario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vendedor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=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Vendedor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('Bruno', 3500, 20000);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Funcionario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estagiario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=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Estagiario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('Carla', 1800, 'ADS');</a:t>
            </a:r>
          </a:p>
          <a:p>
            <a:endParaRPr sz="1200" b="0" dirty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gerente.exibirInformacoes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();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vendedor.exibirInformacoes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();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estagiario.exibirInformacoes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();</a:t>
            </a:r>
          </a:p>
          <a:p>
            <a:endParaRPr sz="1200" b="0" dirty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if (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is 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Bonificavel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  print('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Bônus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: ${</a:t>
            </a:r>
            <a:r>
              <a:rPr sz="1200" b="0" dirty="0" err="1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gerente.calcularBonificacao</a:t>
            </a: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()}');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}</a:t>
            </a:r>
          </a:p>
          <a:p>
            <a:pPr>
              <a:defRPr sz="1200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dirty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123DC319-27F7-4943-953C-DDB8AAC0DCD8}"/>
              </a:ext>
            </a:extLst>
          </p:cNvPr>
          <p:cNvSpPr>
            <a:spLocks noGrp="1"/>
          </p:cNvSpPr>
          <p:nvPr/>
        </p:nvSpPr>
        <p:spPr>
          <a:xfrm>
            <a:off x="8222316" y="2109508"/>
            <a:ext cx="3429000" cy="1285875"/>
          </a:xfrm>
          <a:prstGeom prst="roundRect">
            <a:avLst>
              <a:gd name="adj" fmla="val 5926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5F3E4835-7922-492F-9FAC-F70DDB3DDFE3}"/>
              </a:ext>
            </a:extLst>
          </p:cNvPr>
          <p:cNvSpPr>
            <a:spLocks noGrp="1"/>
          </p:cNvSpPr>
          <p:nvPr/>
        </p:nvSpPr>
        <p:spPr>
          <a:xfrm>
            <a:off x="8222316" y="2109508"/>
            <a:ext cx="66675" cy="128587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B07894B-6542-473F-AF84-1FB6C75D64C9}"/>
              </a:ext>
            </a:extLst>
          </p:cNvPr>
          <p:cNvSpPr>
            <a:spLocks noGrp="1"/>
          </p:cNvSpPr>
          <p:nvPr/>
        </p:nvSpPr>
        <p:spPr>
          <a:xfrm>
            <a:off x="8393766" y="2223808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is Bonificavel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6B02FF5-3312-4A01-A76E-351328FBBAA6}"/>
              </a:ext>
            </a:extLst>
          </p:cNvPr>
          <p:cNvSpPr>
            <a:spLocks noGrp="1"/>
          </p:cNvSpPr>
          <p:nvPr/>
        </p:nvSpPr>
        <p:spPr>
          <a:xfrm>
            <a:off x="8393766" y="2604808"/>
            <a:ext cx="3143250" cy="676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Verifica em tempo de execução se o objeto possui aquela capacidade.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D8D4179-D26A-4036-AAAF-0FFAD2C238A9}"/>
              </a:ext>
            </a:extLst>
          </p:cNvPr>
          <p:cNvSpPr>
            <a:spLocks noGrp="1"/>
          </p:cNvSpPr>
          <p:nvPr/>
        </p:nvSpPr>
        <p:spPr>
          <a:xfrm>
            <a:off x="8222316" y="3824008"/>
            <a:ext cx="3429000" cy="1285875"/>
          </a:xfrm>
          <a:prstGeom prst="roundRect">
            <a:avLst>
              <a:gd name="adj" fmla="val 5926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5B9A030-78CC-417A-9E57-26DC9B4CD91B}"/>
              </a:ext>
            </a:extLst>
          </p:cNvPr>
          <p:cNvSpPr>
            <a:spLocks noGrp="1"/>
          </p:cNvSpPr>
          <p:nvPr/>
        </p:nvSpPr>
        <p:spPr>
          <a:xfrm>
            <a:off x="8222316" y="3824008"/>
            <a:ext cx="66675" cy="128587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6712BDF-5E4D-4B21-8376-96FD4ABED4ED}"/>
              </a:ext>
            </a:extLst>
          </p:cNvPr>
          <p:cNvSpPr>
            <a:spLocks noGrp="1"/>
          </p:cNvSpPr>
          <p:nvPr/>
        </p:nvSpPr>
        <p:spPr>
          <a:xfrm>
            <a:off x="8393766" y="3938308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Promoção de tipo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11E53AA-3524-4C05-9598-227D308A28DC}"/>
              </a:ext>
            </a:extLst>
          </p:cNvPr>
          <p:cNvSpPr>
            <a:spLocks noGrp="1"/>
          </p:cNvSpPr>
          <p:nvPr/>
        </p:nvSpPr>
        <p:spPr>
          <a:xfrm>
            <a:off x="8393766" y="4319308"/>
            <a:ext cx="3143250" cy="676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Dentro do if, Dart permite chamar calcularBonificacao no objeto.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57E1088A-B507-4846-A76A-D1FA16CFF9C2}"/>
              </a:ext>
            </a:extLst>
          </p:cNvPr>
          <p:cNvSpPr>
            <a:spLocks noGrp="1"/>
          </p:cNvSpPr>
          <p:nvPr/>
        </p:nvSpPr>
        <p:spPr>
          <a:xfrm>
            <a:off x="8222316" y="5538508"/>
            <a:ext cx="3429000" cy="857250"/>
          </a:xfrm>
          <a:prstGeom prst="roundRect">
            <a:avLst>
              <a:gd name="adj" fmla="val 8889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9CC3500-F468-4280-AA56-645D15F1C1AA}"/>
              </a:ext>
            </a:extLst>
          </p:cNvPr>
          <p:cNvSpPr>
            <a:spLocks noGrp="1"/>
          </p:cNvSpPr>
          <p:nvPr/>
        </p:nvSpPr>
        <p:spPr>
          <a:xfrm>
            <a:off x="8222316" y="5538508"/>
            <a:ext cx="66675" cy="85725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9B46F3C7-5615-4E7C-83E4-4E5C5DED9C6C}"/>
              </a:ext>
            </a:extLst>
          </p:cNvPr>
          <p:cNvSpPr>
            <a:spLocks noGrp="1"/>
          </p:cNvSpPr>
          <p:nvPr/>
        </p:nvSpPr>
        <p:spPr>
          <a:xfrm>
            <a:off x="8393766" y="5652808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Prática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91B1460-C01C-4E43-B6CF-0EBEE6711361}"/>
              </a:ext>
            </a:extLst>
          </p:cNvPr>
          <p:cNvSpPr>
            <a:spLocks noGrp="1"/>
          </p:cNvSpPr>
          <p:nvPr/>
        </p:nvSpPr>
        <p:spPr>
          <a:xfrm>
            <a:off x="8393766" y="6033808"/>
            <a:ext cx="31432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273" lnSpcReduction="20000"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Teste também vendedor e estagiario e compare os resultados.</a:t>
            </a:r>
          </a:p>
        </p:txBody>
      </p:sp>
    </p:spTree>
    <p:extLst>
      <p:ext uri="{BB962C8B-B14F-4D97-AF65-F5344CB8AC3E}">
        <p14:creationId xmlns:p14="http://schemas.microsoft.com/office/powerpoint/2010/main" val="7327195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88FFC426-5787-4ABF-A6B2-65D64B528F5B}"/>
              </a:ext>
            </a:extLst>
          </p:cNvPr>
          <p:cNvSpPr>
            <a:spLocks noGrp="1"/>
          </p:cNvSpPr>
          <p:nvPr/>
        </p:nvSpPr>
        <p:spPr>
          <a:xfrm>
            <a:off x="773206" y="69588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extends, implements e @override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5E41EB3-C7BA-41A3-B057-69B9433DF07C}"/>
              </a:ext>
            </a:extLst>
          </p:cNvPr>
          <p:cNvSpPr>
            <a:spLocks noGrp="1"/>
          </p:cNvSpPr>
          <p:nvPr/>
        </p:nvSpPr>
        <p:spPr>
          <a:xfrm>
            <a:off x="773206" y="122928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graphicFrame>
        <p:nvGraphicFramePr>
          <p:cNvPr id="14" name="Tabela 13"/>
          <p:cNvGraphicFramePr/>
          <p:nvPr>
            <p:extLst>
              <p:ext uri="{D42A27DB-BD31-4B8C-83A1-F6EECF244321}">
                <p14:modId xmlns:p14="http://schemas.microsoft.com/office/powerpoint/2010/main" val="4149520639"/>
              </p:ext>
            </p:extLst>
          </p:nvPr>
        </p:nvGraphicFramePr>
        <p:xfrm>
          <a:off x="944656" y="1924610"/>
          <a:ext cx="10858500" cy="342900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9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Recurso</a:t>
                      </a:r>
                    </a:p>
                  </a:txBody>
                  <a:tcPr anchor="ctr">
                    <a:solidFill>
                      <a:srgbClr val="0B4E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Pergunta que responde</a:t>
                      </a:r>
                    </a:p>
                  </a:txBody>
                  <a:tcPr anchor="ctr">
                    <a:solidFill>
                      <a:srgbClr val="0B4EA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Efeito no código</a:t>
                      </a:r>
                    </a:p>
                  </a:txBody>
                  <a:tcPr anchor="ctr">
                    <a:solidFill>
                      <a:srgbClr val="0B4E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4EA2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extends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 que esta classe é?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Herda implementação e estado da classe pai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4EA2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implements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 que esta classe sabe fazer?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Assume um contrato e implementa seus membros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4EA2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@override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Qual comportamento será redefinido?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0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Confirma a substituição de um membro herdado ou exigido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957C4E5-089D-4151-873F-3FE683B514FE}"/>
              </a:ext>
            </a:extLst>
          </p:cNvPr>
          <p:cNvSpPr>
            <a:spLocks noGrp="1"/>
          </p:cNvSpPr>
          <p:nvPr/>
        </p:nvSpPr>
        <p:spPr>
          <a:xfrm>
            <a:off x="1801906" y="5829860"/>
            <a:ext cx="9144000" cy="609600"/>
          </a:xfrm>
          <a:prstGeom prst="roundRect">
            <a:avLst>
              <a:gd name="adj" fmla="val 12500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296DE4A-898B-4006-BD83-1F04E48CA766}"/>
              </a:ext>
            </a:extLst>
          </p:cNvPr>
          <p:cNvSpPr>
            <a:spLocks noGrp="1"/>
          </p:cNvSpPr>
          <p:nvPr/>
        </p:nvSpPr>
        <p:spPr>
          <a:xfrm>
            <a:off x="2040031" y="5915585"/>
            <a:ext cx="86677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Uma classe pode usar extends e implements ao mesmo tempo.</a:t>
            </a:r>
          </a:p>
        </p:txBody>
      </p:sp>
    </p:spTree>
    <p:extLst>
      <p:ext uri="{BB962C8B-B14F-4D97-AF65-F5344CB8AC3E}">
        <p14:creationId xmlns:p14="http://schemas.microsoft.com/office/powerpoint/2010/main" val="14491645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 25">
            <a:extLst>
              <a:ext uri="{FF2B5EF4-FFF2-40B4-BE49-F238E27FC236}">
                <a16:creationId xmlns:a16="http://schemas.microsoft.com/office/drawing/2014/main" id="{5AAEF306-26E4-430D-9571-90C3FDA71A48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B25FE9A-A451-494C-BF11-B5F0B5FDEAA5}"/>
              </a:ext>
            </a:extLst>
          </p:cNvPr>
          <p:cNvSpPr>
            <a:spLocks noGrp="1"/>
          </p:cNvSpPr>
          <p:nvPr/>
        </p:nvSpPr>
        <p:spPr>
          <a:xfrm>
            <a:off x="701488" y="71381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Checkpoint conceitual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581FD2E-FE37-43FF-9CFB-BD1D9D93E8EE}"/>
              </a:ext>
            </a:extLst>
          </p:cNvPr>
          <p:cNvSpPr>
            <a:spLocks noGrp="1"/>
          </p:cNvSpPr>
          <p:nvPr/>
        </p:nvSpPr>
        <p:spPr>
          <a:xfrm>
            <a:off x="701488" y="124721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FF05F34-1350-47F1-8029-E18EB6E9C97E}"/>
              </a:ext>
            </a:extLst>
          </p:cNvPr>
          <p:cNvSpPr>
            <a:spLocks noGrp="1"/>
          </p:cNvSpPr>
          <p:nvPr/>
        </p:nvSpPr>
        <p:spPr>
          <a:xfrm>
            <a:off x="634253" y="2138082"/>
            <a:ext cx="3429000" cy="1666875"/>
          </a:xfrm>
          <a:prstGeom prst="roundRect">
            <a:avLst>
              <a:gd name="adj" fmla="val 4571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6363C1CA-1BDB-4E29-A3C5-41BA6E2B2435}"/>
              </a:ext>
            </a:extLst>
          </p:cNvPr>
          <p:cNvSpPr>
            <a:spLocks noGrp="1"/>
          </p:cNvSpPr>
          <p:nvPr/>
        </p:nvSpPr>
        <p:spPr>
          <a:xfrm>
            <a:off x="634253" y="2138082"/>
            <a:ext cx="66675" cy="166687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793D326-92B1-4511-9349-5D8C31576F01}"/>
              </a:ext>
            </a:extLst>
          </p:cNvPr>
          <p:cNvSpPr>
            <a:spLocks noGrp="1"/>
          </p:cNvSpPr>
          <p:nvPr/>
        </p:nvSpPr>
        <p:spPr>
          <a:xfrm>
            <a:off x="805703" y="2252382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93C072-716B-4CCA-B992-CAF8385052A8}"/>
              </a:ext>
            </a:extLst>
          </p:cNvPr>
          <p:cNvSpPr>
            <a:spLocks noGrp="1"/>
          </p:cNvSpPr>
          <p:nvPr/>
        </p:nvSpPr>
        <p:spPr>
          <a:xfrm>
            <a:off x="805703" y="2633382"/>
            <a:ext cx="3143250" cy="1057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Por que Gerente pode usar nome e salario sem declarar esses atributos novamente?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81C0605-217D-4F2C-960B-C78F68793E9B}"/>
              </a:ext>
            </a:extLst>
          </p:cNvPr>
          <p:cNvSpPr>
            <a:spLocks noGrp="1"/>
          </p:cNvSpPr>
          <p:nvPr/>
        </p:nvSpPr>
        <p:spPr>
          <a:xfrm>
            <a:off x="4444253" y="2138082"/>
            <a:ext cx="3429000" cy="1666875"/>
          </a:xfrm>
          <a:prstGeom prst="roundRect">
            <a:avLst>
              <a:gd name="adj" fmla="val 4571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14C4B06-C637-4FDD-96D1-704FBA5A2714}"/>
              </a:ext>
            </a:extLst>
          </p:cNvPr>
          <p:cNvSpPr>
            <a:spLocks noGrp="1"/>
          </p:cNvSpPr>
          <p:nvPr/>
        </p:nvSpPr>
        <p:spPr>
          <a:xfrm>
            <a:off x="4444253" y="2138082"/>
            <a:ext cx="66675" cy="166687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CB6D9ED-A9DA-4A81-B931-963066F572BF}"/>
              </a:ext>
            </a:extLst>
          </p:cNvPr>
          <p:cNvSpPr>
            <a:spLocks noGrp="1"/>
          </p:cNvSpPr>
          <p:nvPr/>
        </p:nvSpPr>
        <p:spPr>
          <a:xfrm>
            <a:off x="4615703" y="2252382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271BFCF-99F4-4DF5-8D29-09B13D38B9DB}"/>
              </a:ext>
            </a:extLst>
          </p:cNvPr>
          <p:cNvSpPr>
            <a:spLocks noGrp="1"/>
          </p:cNvSpPr>
          <p:nvPr/>
        </p:nvSpPr>
        <p:spPr>
          <a:xfrm>
            <a:off x="4615703" y="2633382"/>
            <a:ext cx="3143250" cy="1057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Qual método será executado quando uma variável Funcionario aponta para um Vendedor?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C541097-5BF7-4F9E-B15B-FE0A6DF346F5}"/>
              </a:ext>
            </a:extLst>
          </p:cNvPr>
          <p:cNvSpPr>
            <a:spLocks noGrp="1"/>
          </p:cNvSpPr>
          <p:nvPr/>
        </p:nvSpPr>
        <p:spPr>
          <a:xfrm>
            <a:off x="8254253" y="2138082"/>
            <a:ext cx="3429000" cy="1666875"/>
          </a:xfrm>
          <a:prstGeom prst="roundRect">
            <a:avLst>
              <a:gd name="adj" fmla="val 4571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B29C105-534C-498C-A7B6-DB54071F92B1}"/>
              </a:ext>
            </a:extLst>
          </p:cNvPr>
          <p:cNvSpPr>
            <a:spLocks noGrp="1"/>
          </p:cNvSpPr>
          <p:nvPr/>
        </p:nvSpPr>
        <p:spPr>
          <a:xfrm>
            <a:off x="8254253" y="2138082"/>
            <a:ext cx="66675" cy="166687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DEB137C-CD4C-423F-BE2B-B02A4C8B7003}"/>
              </a:ext>
            </a:extLst>
          </p:cNvPr>
          <p:cNvSpPr>
            <a:spLocks noGrp="1"/>
          </p:cNvSpPr>
          <p:nvPr/>
        </p:nvSpPr>
        <p:spPr>
          <a:xfrm>
            <a:off x="8425703" y="2252382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B2E877C-087C-4CB9-B4EA-4B3685023D38}"/>
              </a:ext>
            </a:extLst>
          </p:cNvPr>
          <p:cNvSpPr>
            <a:spLocks noGrp="1"/>
          </p:cNvSpPr>
          <p:nvPr/>
        </p:nvSpPr>
        <p:spPr>
          <a:xfrm>
            <a:off x="8425703" y="2633382"/>
            <a:ext cx="3143250" cy="1057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Por que Estagiario não pode entrar em uma List&lt;Bonificavel&gt;?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E202CAA-121E-42DD-AC62-C588A4791622}"/>
              </a:ext>
            </a:extLst>
          </p:cNvPr>
          <p:cNvSpPr>
            <a:spLocks noGrp="1"/>
          </p:cNvSpPr>
          <p:nvPr/>
        </p:nvSpPr>
        <p:spPr>
          <a:xfrm>
            <a:off x="2539253" y="4471707"/>
            <a:ext cx="3429000" cy="1666875"/>
          </a:xfrm>
          <a:prstGeom prst="roundRect">
            <a:avLst>
              <a:gd name="adj" fmla="val 4571"/>
            </a:avLst>
          </a:prstGeom>
          <a:solidFill>
            <a:srgbClr val="FFF2C6"/>
          </a:solidFill>
          <a:ln w="9525">
            <a:solidFill>
              <a:srgbClr val="CBD5E1"/>
            </a:solidFill>
          </a:ln>
        </p:spPr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666B223-C073-4901-80ED-0710AF281C7F}"/>
              </a:ext>
            </a:extLst>
          </p:cNvPr>
          <p:cNvSpPr>
            <a:spLocks noGrp="1"/>
          </p:cNvSpPr>
          <p:nvPr/>
        </p:nvSpPr>
        <p:spPr>
          <a:xfrm>
            <a:off x="2539253" y="4471707"/>
            <a:ext cx="66675" cy="1666875"/>
          </a:xfrm>
          <a:prstGeom prst="roundRect">
            <a:avLst>
              <a:gd name="adj" fmla="val 50000"/>
            </a:avLst>
          </a:prstGeom>
          <a:solidFill>
            <a:srgbClr val="9B6B00"/>
          </a:solidFill>
          <a:ln w="0">
            <a:noFill/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08C5D67-3AE1-43B1-8D5A-E84A07B5C851}"/>
              </a:ext>
            </a:extLst>
          </p:cNvPr>
          <p:cNvSpPr>
            <a:spLocks noGrp="1"/>
          </p:cNvSpPr>
          <p:nvPr/>
        </p:nvSpPr>
        <p:spPr>
          <a:xfrm>
            <a:off x="2710703" y="4586007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9B6B0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9B6B00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278EC1C8-5C6B-45A5-B213-0B050421AA2C}"/>
              </a:ext>
            </a:extLst>
          </p:cNvPr>
          <p:cNvSpPr>
            <a:spLocks noGrp="1"/>
          </p:cNvSpPr>
          <p:nvPr/>
        </p:nvSpPr>
        <p:spPr>
          <a:xfrm>
            <a:off x="2710703" y="4967007"/>
            <a:ext cx="3143250" cy="1057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Qual é a diferença entre super.exibirInformacoes() e @override?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0ECB0163-AA8F-4077-882E-2454E60AE74F}"/>
              </a:ext>
            </a:extLst>
          </p:cNvPr>
          <p:cNvSpPr>
            <a:spLocks noGrp="1"/>
          </p:cNvSpPr>
          <p:nvPr/>
        </p:nvSpPr>
        <p:spPr>
          <a:xfrm>
            <a:off x="6349253" y="4471707"/>
            <a:ext cx="3429000" cy="1666875"/>
          </a:xfrm>
          <a:prstGeom prst="roundRect">
            <a:avLst>
              <a:gd name="adj" fmla="val 4571"/>
            </a:avLst>
          </a:prstGeom>
          <a:solidFill>
            <a:srgbClr val="FCEBEC"/>
          </a:solidFill>
          <a:ln w="9525">
            <a:solidFill>
              <a:srgbClr val="CBD5E1"/>
            </a:solidFill>
          </a:ln>
        </p:spPr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34D89DE0-18F9-4402-BFA9-E1B214F10727}"/>
              </a:ext>
            </a:extLst>
          </p:cNvPr>
          <p:cNvSpPr>
            <a:spLocks noGrp="1"/>
          </p:cNvSpPr>
          <p:nvPr/>
        </p:nvSpPr>
        <p:spPr>
          <a:xfrm>
            <a:off x="6349253" y="4471707"/>
            <a:ext cx="66675" cy="1666875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0">
            <a:noFill/>
          </a:ln>
        </p:spPr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3E7875D-2822-4D9E-91C4-0FEBF0290E33}"/>
              </a:ext>
            </a:extLst>
          </p:cNvPr>
          <p:cNvSpPr>
            <a:spLocks noGrp="1"/>
          </p:cNvSpPr>
          <p:nvPr/>
        </p:nvSpPr>
        <p:spPr>
          <a:xfrm>
            <a:off x="6520703" y="4586007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64550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3ABF385F-F6CC-4CF1-970F-1D2B3BCA4D1F}"/>
              </a:ext>
            </a:extLst>
          </p:cNvPr>
          <p:cNvSpPr>
            <a:spLocks noGrp="1"/>
          </p:cNvSpPr>
          <p:nvPr/>
        </p:nvSpPr>
        <p:spPr>
          <a:xfrm>
            <a:off x="6520703" y="4967007"/>
            <a:ext cx="3143250" cy="1057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Uma classe abstrata pode possuir construtor e métodos prontos?</a:t>
            </a:r>
          </a:p>
        </p:txBody>
      </p:sp>
    </p:spTree>
    <p:extLst>
      <p:ext uri="{BB962C8B-B14F-4D97-AF65-F5344CB8AC3E}">
        <p14:creationId xmlns:p14="http://schemas.microsoft.com/office/powerpoint/2010/main" val="17413396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0E606EC8-7CF8-47E7-B4BB-C16879FC265D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ABB8E1A-E6A0-42F2-B3CF-BA4AEE5EFB10}"/>
              </a:ext>
            </a:extLst>
          </p:cNvPr>
          <p:cNvSpPr>
            <a:spLocks noGrp="1"/>
          </p:cNvSpPr>
          <p:nvPr/>
        </p:nvSpPr>
        <p:spPr>
          <a:xfrm>
            <a:off x="755276" y="67627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Atividade guiada: sistema de veículos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4C13249-4F48-4D10-882A-AC2BF9A5F57E}"/>
              </a:ext>
            </a:extLst>
          </p:cNvPr>
          <p:cNvSpPr>
            <a:spLocks noGrp="1"/>
          </p:cNvSpPr>
          <p:nvPr/>
        </p:nvSpPr>
        <p:spPr>
          <a:xfrm>
            <a:off x="755276" y="120967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8BAADE2-EFC8-4384-AD94-374229E80EB5}"/>
              </a:ext>
            </a:extLst>
          </p:cNvPr>
          <p:cNvSpPr>
            <a:spLocks noGrp="1"/>
          </p:cNvSpPr>
          <p:nvPr/>
        </p:nvSpPr>
        <p:spPr>
          <a:xfrm>
            <a:off x="926726" y="157162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Desenvolvimento em duplas · 35 minutos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0E04D66-ECF9-4296-9BF4-06D1BFC21816}"/>
              </a:ext>
            </a:extLst>
          </p:cNvPr>
          <p:cNvSpPr>
            <a:spLocks noGrp="1"/>
          </p:cNvSpPr>
          <p:nvPr/>
        </p:nvSpPr>
        <p:spPr>
          <a:xfrm>
            <a:off x="535641" y="2392456"/>
            <a:ext cx="3333750" cy="2190750"/>
          </a:xfrm>
          <a:prstGeom prst="roundRect">
            <a:avLst>
              <a:gd name="adj" fmla="val 3478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E2400DE4-80FA-4D56-B657-D730390C5572}"/>
              </a:ext>
            </a:extLst>
          </p:cNvPr>
          <p:cNvSpPr>
            <a:spLocks noGrp="1"/>
          </p:cNvSpPr>
          <p:nvPr/>
        </p:nvSpPr>
        <p:spPr>
          <a:xfrm>
            <a:off x="535641" y="2392456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5BFAB59-F501-46DC-AD7A-85DEEF8B4EBD}"/>
              </a:ext>
            </a:extLst>
          </p:cNvPr>
          <p:cNvSpPr>
            <a:spLocks noGrp="1"/>
          </p:cNvSpPr>
          <p:nvPr/>
        </p:nvSpPr>
        <p:spPr>
          <a:xfrm>
            <a:off x="707091" y="2506756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Classe abstrata Veiculo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BC38E9A-4260-443A-B60B-5FE2B8168F1E}"/>
              </a:ext>
            </a:extLst>
          </p:cNvPr>
          <p:cNvSpPr>
            <a:spLocks noGrp="1"/>
          </p:cNvSpPr>
          <p:nvPr/>
        </p:nvSpPr>
        <p:spPr>
          <a:xfrm>
            <a:off x="707091" y="2887756"/>
            <a:ext cx="3048000" cy="1581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Atributos: modelo e velocidadeMaxima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Método: exibirInformacoes()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Getter abstrato: tipo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C5BA25A8-5192-4091-8951-8A81E1975E4B}"/>
              </a:ext>
            </a:extLst>
          </p:cNvPr>
          <p:cNvSpPr>
            <a:spLocks noGrp="1"/>
          </p:cNvSpPr>
          <p:nvPr/>
        </p:nvSpPr>
        <p:spPr>
          <a:xfrm>
            <a:off x="4393266" y="2392456"/>
            <a:ext cx="3333750" cy="2190750"/>
          </a:xfrm>
          <a:prstGeom prst="roundRect">
            <a:avLst>
              <a:gd name="adj" fmla="val 3478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D226F2C-DAAD-474D-8774-35DCDF18E25B}"/>
              </a:ext>
            </a:extLst>
          </p:cNvPr>
          <p:cNvSpPr>
            <a:spLocks noGrp="1"/>
          </p:cNvSpPr>
          <p:nvPr/>
        </p:nvSpPr>
        <p:spPr>
          <a:xfrm>
            <a:off x="4393266" y="2392456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74443A7E-B130-4A31-9356-E62C57292509}"/>
              </a:ext>
            </a:extLst>
          </p:cNvPr>
          <p:cNvSpPr>
            <a:spLocks noGrp="1"/>
          </p:cNvSpPr>
          <p:nvPr/>
        </p:nvSpPr>
        <p:spPr>
          <a:xfrm>
            <a:off x="4564716" y="2506756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Subclasses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61271211-6DD5-44FD-B5E9-1596719C0E0A}"/>
              </a:ext>
            </a:extLst>
          </p:cNvPr>
          <p:cNvSpPr>
            <a:spLocks noGrp="1"/>
          </p:cNvSpPr>
          <p:nvPr/>
        </p:nvSpPr>
        <p:spPr>
          <a:xfrm>
            <a:off x="4564716" y="2887756"/>
            <a:ext cx="3048000" cy="1581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Carro: quantidadePortas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Moto: cilindradas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Bicicleta: quantidadeMarchas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F7CAAE9-23B5-4608-B288-F8797FBA6333}"/>
              </a:ext>
            </a:extLst>
          </p:cNvPr>
          <p:cNvSpPr>
            <a:spLocks noGrp="1"/>
          </p:cNvSpPr>
          <p:nvPr/>
        </p:nvSpPr>
        <p:spPr>
          <a:xfrm>
            <a:off x="8250891" y="2392456"/>
            <a:ext cx="3333750" cy="2190750"/>
          </a:xfrm>
          <a:prstGeom prst="roundRect">
            <a:avLst>
              <a:gd name="adj" fmla="val 3478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DA1EB8E0-DB00-4B6C-93FE-81D4E6C207A2}"/>
              </a:ext>
            </a:extLst>
          </p:cNvPr>
          <p:cNvSpPr>
            <a:spLocks noGrp="1"/>
          </p:cNvSpPr>
          <p:nvPr/>
        </p:nvSpPr>
        <p:spPr>
          <a:xfrm>
            <a:off x="8250891" y="2392456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AC1D0ED8-0C61-474C-A4B2-B8C386210BB9}"/>
              </a:ext>
            </a:extLst>
          </p:cNvPr>
          <p:cNvSpPr>
            <a:spLocks noGrp="1"/>
          </p:cNvSpPr>
          <p:nvPr/>
        </p:nvSpPr>
        <p:spPr>
          <a:xfrm>
            <a:off x="8422341" y="2506756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Interface Eletrico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8413DAC9-3C10-4711-97B0-94BE1A93494D}"/>
              </a:ext>
            </a:extLst>
          </p:cNvPr>
          <p:cNvSpPr>
            <a:spLocks noGrp="1"/>
          </p:cNvSpPr>
          <p:nvPr/>
        </p:nvSpPr>
        <p:spPr>
          <a:xfrm>
            <a:off x="8422341" y="2887756"/>
            <a:ext cx="3048000" cy="1581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Método: double calcularAutonomia()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Somente Carro e Moto implementam a interface.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211C6282-0E4F-433D-AC04-1A1887661039}"/>
              </a:ext>
            </a:extLst>
          </p:cNvPr>
          <p:cNvSpPr>
            <a:spLocks noGrp="1"/>
          </p:cNvSpPr>
          <p:nvPr/>
        </p:nvSpPr>
        <p:spPr>
          <a:xfrm>
            <a:off x="1641101" y="5191125"/>
            <a:ext cx="9429750" cy="952500"/>
          </a:xfrm>
          <a:prstGeom prst="roundRect">
            <a:avLst>
              <a:gd name="adj" fmla="val 8000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E96D56FB-19DB-4B61-B376-016858342F68}"/>
              </a:ext>
            </a:extLst>
          </p:cNvPr>
          <p:cNvSpPr>
            <a:spLocks noGrp="1"/>
          </p:cNvSpPr>
          <p:nvPr/>
        </p:nvSpPr>
        <p:spPr>
          <a:xfrm>
            <a:off x="1879226" y="5286375"/>
            <a:ext cx="895350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No main, crie uma List&lt;Veiculo&gt;, percorra a coleção e exiba as informações. Depois, verifique com is Eletrico quais objetos possuem autonomia.</a:t>
            </a:r>
          </a:p>
        </p:txBody>
      </p:sp>
    </p:spTree>
    <p:extLst>
      <p:ext uri="{BB962C8B-B14F-4D97-AF65-F5344CB8AC3E}">
        <p14:creationId xmlns:p14="http://schemas.microsoft.com/office/powerpoint/2010/main" val="17035401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37BC4396-C582-4115-94D3-BC6FC8F1C696}"/>
              </a:ext>
            </a:extLst>
          </p:cNvPr>
          <p:cNvSpPr>
            <a:spLocks noGrp="1"/>
          </p:cNvSpPr>
          <p:nvPr/>
        </p:nvSpPr>
        <p:spPr>
          <a:xfrm>
            <a:off x="0" y="693532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E76168A-33EF-45CF-B6F6-1D294CC18D3C}"/>
              </a:ext>
            </a:extLst>
          </p:cNvPr>
          <p:cNvSpPr>
            <a:spLocks noGrp="1"/>
          </p:cNvSpPr>
          <p:nvPr/>
        </p:nvSpPr>
        <p:spPr>
          <a:xfrm>
            <a:off x="764241" y="624168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Desafio de análise de código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EC81037-D1F2-4542-AEF6-6141D682EC96}"/>
              </a:ext>
            </a:extLst>
          </p:cNvPr>
          <p:cNvSpPr>
            <a:spLocks noGrp="1"/>
          </p:cNvSpPr>
          <p:nvPr/>
        </p:nvSpPr>
        <p:spPr>
          <a:xfrm>
            <a:off x="764241" y="1292038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05F4947-9D4D-44A4-879C-131A250FACC6}"/>
              </a:ext>
            </a:extLst>
          </p:cNvPr>
          <p:cNvSpPr>
            <a:spLocks noGrp="1"/>
          </p:cNvSpPr>
          <p:nvPr/>
        </p:nvSpPr>
        <p:spPr>
          <a:xfrm>
            <a:off x="792816" y="1749238"/>
            <a:ext cx="6191250" cy="4476750"/>
          </a:xfrm>
          <a:prstGeom prst="roundRect">
            <a:avLst>
              <a:gd name="adj" fmla="val 1702"/>
            </a:avLst>
          </a:prstGeom>
          <a:solidFill>
            <a:srgbClr val="F5F6F8"/>
          </a:solidFill>
          <a:ln w="9525">
            <a:solidFill>
              <a:srgbClr val="CBD5E1"/>
            </a:solidFill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563FFD8-FDA5-44CF-8502-9F00F21754A1}"/>
              </a:ext>
            </a:extLst>
          </p:cNvPr>
          <p:cNvSpPr>
            <a:spLocks noGrp="1"/>
          </p:cNvSpPr>
          <p:nvPr/>
        </p:nvSpPr>
        <p:spPr>
          <a:xfrm>
            <a:off x="907116" y="1825438"/>
            <a:ext cx="5962650" cy="432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abstract interface class Autenticavel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bool autenticar(String senha);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>
            <a:endParaRPr sz="127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class Usuario implements Autenticavel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String nome;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Usuario(this.nome);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>
            <a:endParaRPr sz="1275" b="0">
              <a:solidFill>
                <a:srgbClr val="A92B3A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void main() {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Autenticavel usuario = Usuario('Pedro');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  print(usuario.autenticar('1234'));</a:t>
            </a:r>
          </a:p>
          <a:p>
            <a:pPr>
              <a:def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>
                <a:solidFill>
                  <a:srgbClr val="A92B3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0D97C6C-6CC8-4807-B606-4D6070D3EDC6}"/>
              </a:ext>
            </a:extLst>
          </p:cNvPr>
          <p:cNvSpPr>
            <a:spLocks noGrp="1"/>
          </p:cNvSpPr>
          <p:nvPr/>
        </p:nvSpPr>
        <p:spPr>
          <a:xfrm>
            <a:off x="7460316" y="1939738"/>
            <a:ext cx="4095750" cy="9525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64AD5EC-B0EA-4F32-A359-645D7E09594D}"/>
              </a:ext>
            </a:extLst>
          </p:cNvPr>
          <p:cNvSpPr>
            <a:spLocks noGrp="1"/>
          </p:cNvSpPr>
          <p:nvPr/>
        </p:nvSpPr>
        <p:spPr>
          <a:xfrm>
            <a:off x="7460316" y="1939738"/>
            <a:ext cx="66675" cy="952500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59FB865-4FCA-40C8-ADD8-2D772E58014D}"/>
              </a:ext>
            </a:extLst>
          </p:cNvPr>
          <p:cNvSpPr>
            <a:spLocks noGrp="1"/>
          </p:cNvSpPr>
          <p:nvPr/>
        </p:nvSpPr>
        <p:spPr>
          <a:xfrm>
            <a:off x="7631766" y="2054038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Pergunta 1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1C028AF-DCDB-4E6E-8C3D-B760E161D27D}"/>
              </a:ext>
            </a:extLst>
          </p:cNvPr>
          <p:cNvSpPr>
            <a:spLocks noGrp="1"/>
          </p:cNvSpPr>
          <p:nvPr/>
        </p:nvSpPr>
        <p:spPr>
          <a:xfrm>
            <a:off x="7631766" y="2435038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Por que o código não compila?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5E70667-A138-4866-9973-CF08BD7E5B4F}"/>
              </a:ext>
            </a:extLst>
          </p:cNvPr>
          <p:cNvSpPr>
            <a:spLocks noGrp="1"/>
          </p:cNvSpPr>
          <p:nvPr/>
        </p:nvSpPr>
        <p:spPr>
          <a:xfrm>
            <a:off x="7460316" y="3177988"/>
            <a:ext cx="4095750" cy="1095375"/>
          </a:xfrm>
          <a:prstGeom prst="roundRect">
            <a:avLst>
              <a:gd name="adj" fmla="val 6957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82FB6D9-94C9-4799-8FD4-0DD286B00E5C}"/>
              </a:ext>
            </a:extLst>
          </p:cNvPr>
          <p:cNvSpPr>
            <a:spLocks noGrp="1"/>
          </p:cNvSpPr>
          <p:nvPr/>
        </p:nvSpPr>
        <p:spPr>
          <a:xfrm>
            <a:off x="7460316" y="3177988"/>
            <a:ext cx="66675" cy="109537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0CD2640-69BD-4FDA-A192-BE4FFB0BBC24}"/>
              </a:ext>
            </a:extLst>
          </p:cNvPr>
          <p:cNvSpPr>
            <a:spLocks noGrp="1"/>
          </p:cNvSpPr>
          <p:nvPr/>
        </p:nvSpPr>
        <p:spPr>
          <a:xfrm>
            <a:off x="7631766" y="3292288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Pergunta 2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868DB20-0837-48E5-805A-E993200D9B2E}"/>
              </a:ext>
            </a:extLst>
          </p:cNvPr>
          <p:cNvSpPr>
            <a:spLocks noGrp="1"/>
          </p:cNvSpPr>
          <p:nvPr/>
        </p:nvSpPr>
        <p:spPr>
          <a:xfrm>
            <a:off x="7631766" y="3673288"/>
            <a:ext cx="3810000" cy="4857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Qual método precisa ser criado e em qual classe?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AB47B1B-6EE6-4C49-8A22-F64A367602EE}"/>
              </a:ext>
            </a:extLst>
          </p:cNvPr>
          <p:cNvSpPr>
            <a:spLocks noGrp="1"/>
          </p:cNvSpPr>
          <p:nvPr/>
        </p:nvSpPr>
        <p:spPr>
          <a:xfrm>
            <a:off x="7460316" y="4559113"/>
            <a:ext cx="4095750" cy="1095375"/>
          </a:xfrm>
          <a:prstGeom prst="roundRect">
            <a:avLst>
              <a:gd name="adj" fmla="val 6957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92FFD68-95E7-4E56-B90E-174B37AA2933}"/>
              </a:ext>
            </a:extLst>
          </p:cNvPr>
          <p:cNvSpPr>
            <a:spLocks noGrp="1"/>
          </p:cNvSpPr>
          <p:nvPr/>
        </p:nvSpPr>
        <p:spPr>
          <a:xfrm>
            <a:off x="7460316" y="4559113"/>
            <a:ext cx="66675" cy="109537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313A3B2-A1FA-4F51-9E4B-CDC1C1CE5E35}"/>
              </a:ext>
            </a:extLst>
          </p:cNvPr>
          <p:cNvSpPr>
            <a:spLocks noGrp="1"/>
          </p:cNvSpPr>
          <p:nvPr/>
        </p:nvSpPr>
        <p:spPr>
          <a:xfrm>
            <a:off x="7631766" y="4673413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Pergunta 3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BB84A638-F8B7-4C7A-BD97-3885CB146F9F}"/>
              </a:ext>
            </a:extLst>
          </p:cNvPr>
          <p:cNvSpPr>
            <a:spLocks noGrp="1"/>
          </p:cNvSpPr>
          <p:nvPr/>
        </p:nvSpPr>
        <p:spPr>
          <a:xfrm>
            <a:off x="7631766" y="5054413"/>
            <a:ext cx="3810000" cy="4857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Depois da correção, onde aparece o polimorfismo?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7F16B86-1C25-49B9-8692-EAB9531B6212}"/>
              </a:ext>
            </a:extLst>
          </p:cNvPr>
          <p:cNvSpPr>
            <a:spLocks noGrp="1"/>
          </p:cNvSpPr>
          <p:nvPr/>
        </p:nvSpPr>
        <p:spPr>
          <a:xfrm>
            <a:off x="1602441" y="6464113"/>
            <a:ext cx="9525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Correção esperada: Usuario deve implementar autenticar(String senha).</a:t>
            </a:r>
          </a:p>
        </p:txBody>
      </p:sp>
    </p:spTree>
    <p:extLst>
      <p:ext uri="{BB962C8B-B14F-4D97-AF65-F5344CB8AC3E}">
        <p14:creationId xmlns:p14="http://schemas.microsoft.com/office/powerpoint/2010/main" val="959112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EAB21A21-93F0-4BE8-8773-A277AFDA6F06}"/>
              </a:ext>
            </a:extLst>
          </p:cNvPr>
          <p:cNvSpPr>
            <a:spLocks noGrp="1"/>
          </p:cNvSpPr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082F66"/>
          </a:solidFill>
          <a:ln w="0">
            <a:noFill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B10F37B-F579-4B1B-8097-3DC8133B36C4}"/>
              </a:ext>
            </a:extLst>
          </p:cNvPr>
          <p:cNvSpPr>
            <a:spLocks noGrp="1"/>
          </p:cNvSpPr>
          <p:nvPr/>
        </p:nvSpPr>
        <p:spPr>
          <a:xfrm>
            <a:off x="826995" y="771525"/>
            <a:ext cx="9382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Revisão para a M1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A2A2CDF-A31E-4CAF-AF32-971DCDDEACE8}"/>
              </a:ext>
            </a:extLst>
          </p:cNvPr>
          <p:cNvSpPr>
            <a:spLocks noGrp="1"/>
          </p:cNvSpPr>
          <p:nvPr/>
        </p:nvSpPr>
        <p:spPr>
          <a:xfrm>
            <a:off x="826995" y="1304925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defRPr>
            </a:pPr>
            <a:r>
              <a:rPr sz="750" b="0">
                <a:solidFill>
                  <a:srgbClr val="5A667A"/>
                </a:solidFill>
                <a:latin typeface="DejaVu Sans"/>
                <a:ea typeface="DejaVu Sans"/>
                <a:cs typeface="DejaVu Sans"/>
              </a:rPr>
              <a:t>DESENVOLVIMENTO DE APLICAÇÕES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D859BD8-F91D-4192-9A37-59D2FDEF6414}"/>
              </a:ext>
            </a:extLst>
          </p:cNvPr>
          <p:cNvSpPr>
            <a:spLocks noGrp="1"/>
          </p:cNvSpPr>
          <p:nvPr/>
        </p:nvSpPr>
        <p:spPr>
          <a:xfrm>
            <a:off x="538444" y="2080372"/>
            <a:ext cx="3333750" cy="2333625"/>
          </a:xfrm>
          <a:prstGeom prst="roundRect">
            <a:avLst>
              <a:gd name="adj" fmla="val 3265"/>
            </a:avLst>
          </a:prstGeom>
          <a:solidFill>
            <a:srgbClr val="EEF3FB"/>
          </a:solidFill>
          <a:ln w="9525">
            <a:solidFill>
              <a:srgbClr val="CBD5E1"/>
            </a:solidFill>
          </a:ln>
        </p:spPr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578658F-4260-4ABC-9A5B-FB20CEEC08F8}"/>
              </a:ext>
            </a:extLst>
          </p:cNvPr>
          <p:cNvSpPr>
            <a:spLocks noGrp="1"/>
          </p:cNvSpPr>
          <p:nvPr/>
        </p:nvSpPr>
        <p:spPr>
          <a:xfrm>
            <a:off x="538444" y="2080372"/>
            <a:ext cx="66675" cy="2333625"/>
          </a:xfrm>
          <a:prstGeom prst="roundRect">
            <a:avLst>
              <a:gd name="adj" fmla="val 50000"/>
            </a:avLst>
          </a:prstGeom>
          <a:solidFill>
            <a:srgbClr val="0B4EA2"/>
          </a:solidFill>
          <a:ln w="0">
            <a:noFill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E0E41F8-5C5E-4759-AA37-DB2A25415BB6}"/>
              </a:ext>
            </a:extLst>
          </p:cNvPr>
          <p:cNvSpPr>
            <a:spLocks noGrp="1"/>
          </p:cNvSpPr>
          <p:nvPr/>
        </p:nvSpPr>
        <p:spPr>
          <a:xfrm>
            <a:off x="709894" y="2194672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Herança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6852C5A-6A9E-47DA-A61B-C6F1DD9B936C}"/>
              </a:ext>
            </a:extLst>
          </p:cNvPr>
          <p:cNvSpPr>
            <a:spLocks noGrp="1"/>
          </p:cNvSpPr>
          <p:nvPr/>
        </p:nvSpPr>
        <p:spPr>
          <a:xfrm>
            <a:off x="709894" y="2575672"/>
            <a:ext cx="3048000" cy="1724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extends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 pai e classe filha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Construtor super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Reutilização de membros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AC4FF8E8-0594-455D-8EB8-4A9249C6536B}"/>
              </a:ext>
            </a:extLst>
          </p:cNvPr>
          <p:cNvSpPr>
            <a:spLocks noGrp="1"/>
          </p:cNvSpPr>
          <p:nvPr/>
        </p:nvSpPr>
        <p:spPr>
          <a:xfrm>
            <a:off x="4348444" y="2080372"/>
            <a:ext cx="3333750" cy="2333625"/>
          </a:xfrm>
          <a:prstGeom prst="roundRect">
            <a:avLst>
              <a:gd name="adj" fmla="val 3265"/>
            </a:avLst>
          </a:prstGeom>
          <a:solidFill>
            <a:srgbClr val="E9EAF8"/>
          </a:solidFill>
          <a:ln w="9525">
            <a:solidFill>
              <a:srgbClr val="CBD5E1"/>
            </a:solidFill>
          </a:ln>
        </p:spPr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5DC4744-6F69-4B6B-8C3D-FD3A7A13FD2E}"/>
              </a:ext>
            </a:extLst>
          </p:cNvPr>
          <p:cNvSpPr>
            <a:spLocks noGrp="1"/>
          </p:cNvSpPr>
          <p:nvPr/>
        </p:nvSpPr>
        <p:spPr>
          <a:xfrm>
            <a:off x="4348444" y="2080372"/>
            <a:ext cx="66675" cy="2333625"/>
          </a:xfrm>
          <a:prstGeom prst="roundRect">
            <a:avLst>
              <a:gd name="adj" fmla="val 50000"/>
            </a:avLst>
          </a:prstGeom>
          <a:solidFill>
            <a:srgbClr val="253494"/>
          </a:solidFill>
          <a:ln w="0">
            <a:noFill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8C872430-C4DB-419F-A788-01F41B92FC66}"/>
              </a:ext>
            </a:extLst>
          </p:cNvPr>
          <p:cNvSpPr>
            <a:spLocks noGrp="1"/>
          </p:cNvSpPr>
          <p:nvPr/>
        </p:nvSpPr>
        <p:spPr>
          <a:xfrm>
            <a:off x="4519894" y="2194672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53494"/>
                </a:solidFill>
                <a:latin typeface="DejaVu Sans"/>
                <a:ea typeface="DejaVu Sans"/>
                <a:cs typeface="DejaVu Sans"/>
              </a:rPr>
              <a:t>Polimorfismo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FBBAA07-96BE-4DAA-B585-09280261FF6B}"/>
              </a:ext>
            </a:extLst>
          </p:cNvPr>
          <p:cNvSpPr>
            <a:spLocks noGrp="1"/>
          </p:cNvSpPr>
          <p:nvPr/>
        </p:nvSpPr>
        <p:spPr>
          <a:xfrm>
            <a:off x="4519894" y="2575672"/>
            <a:ext cx="3048000" cy="1724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Referência do tipo pai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Método sobrescrito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Objeto real define o comportamento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Coleções de tipos gerais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1A1AD2F8-E0BC-42C6-9237-4AFFD6D57E4C}"/>
              </a:ext>
            </a:extLst>
          </p:cNvPr>
          <p:cNvSpPr>
            <a:spLocks noGrp="1"/>
          </p:cNvSpPr>
          <p:nvPr/>
        </p:nvSpPr>
        <p:spPr>
          <a:xfrm>
            <a:off x="8158444" y="2080372"/>
            <a:ext cx="3333750" cy="2333625"/>
          </a:xfrm>
          <a:prstGeom prst="roundRect">
            <a:avLst>
              <a:gd name="adj" fmla="val 3265"/>
            </a:avLst>
          </a:prstGeom>
          <a:solidFill>
            <a:srgbClr val="E7F8F5"/>
          </a:solidFill>
          <a:ln w="9525">
            <a:solidFill>
              <a:srgbClr val="CBD5E1"/>
            </a:solidFill>
          </a:ln>
        </p:spPr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73E2F35-77BD-46A5-80B9-BA937AFEB004}"/>
              </a:ext>
            </a:extLst>
          </p:cNvPr>
          <p:cNvSpPr>
            <a:spLocks noGrp="1"/>
          </p:cNvSpPr>
          <p:nvPr/>
        </p:nvSpPr>
        <p:spPr>
          <a:xfrm>
            <a:off x="8158444" y="2080372"/>
            <a:ext cx="66675" cy="2333625"/>
          </a:xfrm>
          <a:prstGeom prst="roundRect">
            <a:avLst>
              <a:gd name="adj" fmla="val 50000"/>
            </a:avLst>
          </a:prstGeom>
          <a:solidFill>
            <a:srgbClr val="16835B"/>
          </a:solidFill>
          <a:ln w="0">
            <a:noFill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EB4AA47-3076-450A-9825-6D1DCDCD77CC}"/>
              </a:ext>
            </a:extLst>
          </p:cNvPr>
          <p:cNvSpPr>
            <a:spLocks noGrp="1"/>
          </p:cNvSpPr>
          <p:nvPr/>
        </p:nvSpPr>
        <p:spPr>
          <a:xfrm>
            <a:off x="8329894" y="2194672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835B"/>
                </a:solidFill>
                <a:latin typeface="DejaVu Sans"/>
                <a:ea typeface="DejaVu Sans"/>
                <a:cs typeface="DejaVu Sans"/>
              </a:rPr>
              <a:t>Interfaces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FF83B3E-0F01-4B9B-80EF-B6EE249A2375}"/>
              </a:ext>
            </a:extLst>
          </p:cNvPr>
          <p:cNvSpPr>
            <a:spLocks noGrp="1"/>
          </p:cNvSpPr>
          <p:nvPr/>
        </p:nvSpPr>
        <p:spPr>
          <a:xfrm>
            <a:off x="8329894" y="2575672"/>
            <a:ext cx="3048000" cy="1724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Contrato com implements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Implementação obrigatória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Capacidades compartilhadas</a:t>
            </a:r>
          </a:p>
          <a:p>
            <a:pPr>
              <a:def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Polimorfismo pela interface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6EA3736-903E-4B25-B3F6-ED14402F2828}"/>
              </a:ext>
            </a:extLst>
          </p:cNvPr>
          <p:cNvSpPr>
            <a:spLocks noGrp="1"/>
          </p:cNvSpPr>
          <p:nvPr/>
        </p:nvSpPr>
        <p:spPr>
          <a:xfrm>
            <a:off x="1652868" y="4867275"/>
            <a:ext cx="9334500" cy="1000125"/>
          </a:xfrm>
          <a:prstGeom prst="roundRect">
            <a:avLst>
              <a:gd name="adj" fmla="val 7619"/>
            </a:avLst>
          </a:prstGeom>
          <a:solidFill>
            <a:srgbClr val="FFF2C6"/>
          </a:solidFill>
          <a:ln w="9525">
            <a:solidFill>
              <a:srgbClr val="E8C85A"/>
            </a:solidFill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3F44E58-B5AC-49D8-926D-3EA9D20423B1}"/>
              </a:ext>
            </a:extLst>
          </p:cNvPr>
          <p:cNvSpPr>
            <a:spLocks noGrp="1"/>
          </p:cNvSpPr>
          <p:nvPr/>
        </p:nvSpPr>
        <p:spPr>
          <a:xfrm>
            <a:off x="1938618" y="4972050"/>
            <a:ext cx="87630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767"/>
          </a:bodyPr>
          <a:lstStyle/>
          <a:p>
            <a:pPr>
              <a:defRPr sz="1575" b="1">
                <a:solidFill>
                  <a:srgbClr val="172033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Para a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prova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pratique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leitura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de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código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: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identifique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a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classe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pai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, as subclasses,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métodos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sobrescritos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os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contratos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implementados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e o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resultado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 das </a:t>
            </a:r>
            <a:r>
              <a:rPr sz="1575" b="1" dirty="0" err="1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chamadas</a:t>
            </a:r>
            <a:r>
              <a:rPr sz="1575" b="1" dirty="0">
                <a:solidFill>
                  <a:srgbClr val="172033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C8E50C3-6639-4F8E-8C57-EE795247E1BA}"/>
              </a:ext>
            </a:extLst>
          </p:cNvPr>
          <p:cNvSpPr>
            <a:spLocks noGrp="1"/>
          </p:cNvSpPr>
          <p:nvPr/>
        </p:nvSpPr>
        <p:spPr>
          <a:xfrm>
            <a:off x="3843618" y="624840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1">
                <a:solidFill>
                  <a:srgbClr val="0B4EA2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B4EA2"/>
                </a:solidFill>
                <a:latin typeface="DejaVu Sans"/>
                <a:ea typeface="DejaVu Sans"/>
                <a:cs typeface="DejaVu Sans"/>
              </a:rPr>
              <a:t>Próxima aula: Avaliação M1</a:t>
            </a:r>
          </a:p>
        </p:txBody>
      </p:sp>
    </p:spTree>
    <p:extLst>
      <p:ext uri="{BB962C8B-B14F-4D97-AF65-F5344CB8AC3E}">
        <p14:creationId xmlns:p14="http://schemas.microsoft.com/office/powerpoint/2010/main" val="6907663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EB35D144-8C26-4290-B2C2-74E311BD898B}" vid="{B745A257-2FCE-4020-87BD-F058C26221A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Tema1</Template>
  <TotalTime>0</TotalTime>
  <Words>2446</Words>
  <Application>Microsoft Office PowerPoint</Application>
  <DocSecurity>0</DocSecurity>
  <PresentationFormat>Widescreen</PresentationFormat>
  <Paragraphs>410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DejaVu Sans</vt:lpstr>
      <vt:lpstr>DejaVu Sans Mono</vt:lpstr>
      <vt:lpstr>Times New Roman</vt:lpstr>
      <vt:lpstr>Tema1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Pedro Henrique Miho de Souza</cp:lastModifiedBy>
  <cp:revision>2</cp:revision>
  <dcterms:created xsi:type="dcterms:W3CDTF">2026-09-18T23:19:12Z</dcterms:created>
  <dcterms:modified xsi:type="dcterms:W3CDTF">2026-09-21T21:33:58Z</dcterms:modified>
</cp:coreProperties>
</file>