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c88545d7e44463" /><Relationship Type="http://schemas.openxmlformats.org/officeDocument/2006/relationships/extended-properties" Target="/docProps/app.xml" Id="Rb915afdfc1ec460f" /><Relationship Type="http://schemas.openxmlformats.org/officeDocument/2006/relationships/officeDocument" Target="/ppt/presentation.xml" Id="Rca1ba731e21b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1c2940d8244b0"/>
  </p:sldMasterIdLst>
  <p:notesMasterIdLst>
    <p:notesMasterId xmlns:r="http://schemas.openxmlformats.org/officeDocument/2006/relationships" r:id="R635b1617fdfd4107"/>
  </p:notesMasterIdLst>
  <p:sldIdLst>
    <p:sldId xmlns:r="http://schemas.openxmlformats.org/officeDocument/2006/relationships" id="256" r:id="Rb1d8829ad08b41e4"/>
    <p:sldId xmlns:r="http://schemas.openxmlformats.org/officeDocument/2006/relationships" id="257" r:id="R681f27e8233948f7"/>
    <p:sldId xmlns:r="http://schemas.openxmlformats.org/officeDocument/2006/relationships" id="258" r:id="R7beb2d9410ac40f7"/>
    <p:sldId xmlns:r="http://schemas.openxmlformats.org/officeDocument/2006/relationships" id="259" r:id="R3fbeda2753aa48d5"/>
    <p:sldId xmlns:r="http://schemas.openxmlformats.org/officeDocument/2006/relationships" id="260" r:id="R57a07629993b4dc2"/>
    <p:sldId xmlns:r="http://schemas.openxmlformats.org/officeDocument/2006/relationships" id="261" r:id="R99b29e1448184eb0"/>
    <p:sldId xmlns:r="http://schemas.openxmlformats.org/officeDocument/2006/relationships" id="262" r:id="R30748788a8304e6b"/>
    <p:sldId xmlns:r="http://schemas.openxmlformats.org/officeDocument/2006/relationships" id="263" r:id="R11d784b733ba4f5d"/>
    <p:sldId xmlns:r="http://schemas.openxmlformats.org/officeDocument/2006/relationships" id="264" r:id="Reabe026cbed04ccf"/>
    <p:sldId xmlns:r="http://schemas.openxmlformats.org/officeDocument/2006/relationships" id="265" r:id="Ra9efe3f2d6a04551"/>
    <p:sldId xmlns:r="http://schemas.openxmlformats.org/officeDocument/2006/relationships" id="266" r:id="R7c0ae5b3147a482b"/>
    <p:sldId xmlns:r="http://schemas.openxmlformats.org/officeDocument/2006/relationships" id="267" r:id="R991991589cf349f3"/>
    <p:sldId xmlns:r="http://schemas.openxmlformats.org/officeDocument/2006/relationships" id="268" r:id="R43e47990fffe4dc7"/>
    <p:sldId xmlns:r="http://schemas.openxmlformats.org/officeDocument/2006/relationships" id="269" r:id="R5802a4c7d8c74aec"/>
    <p:sldId xmlns:r="http://schemas.openxmlformats.org/officeDocument/2006/relationships" id="270" r:id="Rb6dd9376083a4d45"/>
    <p:sldId xmlns:r="http://schemas.openxmlformats.org/officeDocument/2006/relationships" id="271" r:id="Rdc41ef595e6a445d"/>
    <p:sldId xmlns:r="http://schemas.openxmlformats.org/officeDocument/2006/relationships" id="272" r:id="R91053b2b4c764a50"/>
    <p:sldId xmlns:r="http://schemas.openxmlformats.org/officeDocument/2006/relationships" id="273" r:id="R8c09c7e2f7ad4e3b"/>
    <p:sldId xmlns:r="http://schemas.openxmlformats.org/officeDocument/2006/relationships" id="274" r:id="R45c5944df71642ea"/>
    <p:sldId xmlns:r="http://schemas.openxmlformats.org/officeDocument/2006/relationships" id="275" r:id="Ra04af76f4b724db6"/>
    <p:sldId xmlns:r="http://schemas.openxmlformats.org/officeDocument/2006/relationships" id="276" r:id="R89a1b32884464192"/>
    <p:sldId xmlns:r="http://schemas.openxmlformats.org/officeDocument/2006/relationships" id="277" r:id="R563fee29d94d438f"/>
    <p:sldId xmlns:r="http://schemas.openxmlformats.org/officeDocument/2006/relationships" id="278" r:id="Rd6b65f31748f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de11da71d4d9a" /><Relationship Type="http://schemas.openxmlformats.org/officeDocument/2006/relationships/slideMaster" Target="/ppt/slideMasters/slideMaster1.xml" Id="R3141c2940d8244b0" /><Relationship Type="http://schemas.openxmlformats.org/officeDocument/2006/relationships/notesMaster" Target="/ppt/notesMasters/notesMaster1.xml" Id="R635b1617fdfd4107" /><Relationship Type="http://schemas.openxmlformats.org/officeDocument/2006/relationships/presProps" Target="/ppt/presProps.xml" Id="R2b901c43193c43bd" /><Relationship Type="http://schemas.openxmlformats.org/officeDocument/2006/relationships/tableStyles" Target="/ppt/tableStyles.xml" Id="R617f6e92bbd542cb" /><Relationship Type="http://schemas.openxmlformats.org/officeDocument/2006/relationships/slide" Target="/ppt/slides/slide1.xml" Id="Rb1d8829ad08b41e4" /><Relationship Type="http://schemas.openxmlformats.org/officeDocument/2006/relationships/slide" Target="/ppt/slides/slide2.xml" Id="R681f27e8233948f7" /><Relationship Type="http://schemas.openxmlformats.org/officeDocument/2006/relationships/slide" Target="/ppt/slides/slide3.xml" Id="R7beb2d9410ac40f7" /><Relationship Type="http://schemas.openxmlformats.org/officeDocument/2006/relationships/slide" Target="/ppt/slides/slide4.xml" Id="R3fbeda2753aa48d5" /><Relationship Type="http://schemas.openxmlformats.org/officeDocument/2006/relationships/slide" Target="/ppt/slides/slide5.xml" Id="R57a07629993b4dc2" /><Relationship Type="http://schemas.openxmlformats.org/officeDocument/2006/relationships/slide" Target="/ppt/slides/slide6.xml" Id="R99b29e1448184eb0" /><Relationship Type="http://schemas.openxmlformats.org/officeDocument/2006/relationships/slide" Target="/ppt/slides/slide7.xml" Id="R30748788a8304e6b" /><Relationship Type="http://schemas.openxmlformats.org/officeDocument/2006/relationships/slide" Target="/ppt/slides/slide8.xml" Id="R11d784b733ba4f5d" /><Relationship Type="http://schemas.openxmlformats.org/officeDocument/2006/relationships/slide" Target="/ppt/slides/slide9.xml" Id="Reabe026cbed04ccf" /><Relationship Type="http://schemas.openxmlformats.org/officeDocument/2006/relationships/slide" Target="/ppt/slides/slide10.xml" Id="Ra9efe3f2d6a04551" /><Relationship Type="http://schemas.openxmlformats.org/officeDocument/2006/relationships/slide" Target="/ppt/slides/slide11.xml" Id="R7c0ae5b3147a482b" /><Relationship Type="http://schemas.openxmlformats.org/officeDocument/2006/relationships/slide" Target="/ppt/slides/slide12.xml" Id="R991991589cf349f3" /><Relationship Type="http://schemas.openxmlformats.org/officeDocument/2006/relationships/slide" Target="/ppt/slides/slide13.xml" Id="R43e47990fffe4dc7" /><Relationship Type="http://schemas.openxmlformats.org/officeDocument/2006/relationships/slide" Target="/ppt/slides/slide14.xml" Id="R5802a4c7d8c74aec" /><Relationship Type="http://schemas.openxmlformats.org/officeDocument/2006/relationships/slide" Target="/ppt/slides/slide15.xml" Id="Rb6dd9376083a4d45" /><Relationship Type="http://schemas.openxmlformats.org/officeDocument/2006/relationships/slide" Target="/ppt/slides/slide16.xml" Id="Rdc41ef595e6a445d" /><Relationship Type="http://schemas.openxmlformats.org/officeDocument/2006/relationships/slide" Target="/ppt/slides/slide17.xml" Id="R91053b2b4c764a50" /><Relationship Type="http://schemas.openxmlformats.org/officeDocument/2006/relationships/slide" Target="/ppt/slides/slide18.xml" Id="R8c09c7e2f7ad4e3b" /><Relationship Type="http://schemas.openxmlformats.org/officeDocument/2006/relationships/slide" Target="/ppt/slides/slide19.xml" Id="R45c5944df71642ea" /><Relationship Type="http://schemas.openxmlformats.org/officeDocument/2006/relationships/slide" Target="/ppt/slides/slide20.xml" Id="Ra04af76f4b724db6" /><Relationship Type="http://schemas.openxmlformats.org/officeDocument/2006/relationships/slide" Target="/ppt/slides/slide21.xml" Id="R89a1b32884464192" /><Relationship Type="http://schemas.openxmlformats.org/officeDocument/2006/relationships/slide" Target="/ppt/slides/slide22.xml" Id="R563fee29d94d438f" /><Relationship Type="http://schemas.openxmlformats.org/officeDocument/2006/relationships/slide" Target="/ppt/slides/slide23.xml" Id="Rd6b65f31748f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d504136c840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c38d2482a4fe4" /><Relationship Type="http://schemas.openxmlformats.org/officeDocument/2006/relationships/notesMaster" Target="/ppt/notesMasters/notesMaster1.xml" Id="Rddedb11aaacd4e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a4536cf7749c8" /><Relationship Type="http://schemas.openxmlformats.org/officeDocument/2006/relationships/notesMaster" Target="/ppt/notesMasters/notesMaster1.xml" Id="R44436a879ef24c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5d9338a269469e" /><Relationship Type="http://schemas.openxmlformats.org/officeDocument/2006/relationships/notesMaster" Target="/ppt/notesMasters/notesMaster1.xml" Id="Ra0ed7693583d4a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65a5a1bb24479a" /><Relationship Type="http://schemas.openxmlformats.org/officeDocument/2006/relationships/notesMaster" Target="/ppt/notesMasters/notesMaster1.xml" Id="R27fd6b1af77444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f259d64cbb4efb" /><Relationship Type="http://schemas.openxmlformats.org/officeDocument/2006/relationships/notesMaster" Target="/ppt/notesMasters/notesMaster1.xml" Id="R0ea5444b3dcc42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9db87893224b36" /><Relationship Type="http://schemas.openxmlformats.org/officeDocument/2006/relationships/notesMaster" Target="/ppt/notesMasters/notesMaster1.xml" Id="R9453d4b5c9444e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b4e6403f414af8" /><Relationship Type="http://schemas.openxmlformats.org/officeDocument/2006/relationships/notesMaster" Target="/ppt/notesMasters/notesMaster1.xml" Id="Ra52cf13aef414e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32a885e9cb4cd0" /><Relationship Type="http://schemas.openxmlformats.org/officeDocument/2006/relationships/notesMaster" Target="/ppt/notesMasters/notesMaster1.xml" Id="Reedc9e5cd36348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0b685d50a744c3" /><Relationship Type="http://schemas.openxmlformats.org/officeDocument/2006/relationships/notesMaster" Target="/ppt/notesMasters/notesMaster1.xml" Id="R4f2d6113882243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912aa8256417e" /><Relationship Type="http://schemas.openxmlformats.org/officeDocument/2006/relationships/notesMaster" Target="/ppt/notesMasters/notesMaster1.xml" Id="R1b35e69c69eb4d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9e25706bdc4850" /><Relationship Type="http://schemas.openxmlformats.org/officeDocument/2006/relationships/notesMaster" Target="/ppt/notesMasters/notesMaster1.xml" Id="Re4ac7db666534e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95d290edf242d5" /><Relationship Type="http://schemas.openxmlformats.org/officeDocument/2006/relationships/notesMaster" Target="/ppt/notesMasters/notesMaster1.xml" Id="Re94a41da5e2a41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ae407193e84084" /><Relationship Type="http://schemas.openxmlformats.org/officeDocument/2006/relationships/notesMaster" Target="/ppt/notesMasters/notesMaster1.xml" Id="Reccd100e67c64d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f4f55466c1456b" /><Relationship Type="http://schemas.openxmlformats.org/officeDocument/2006/relationships/notesMaster" Target="/ppt/notesMasters/notesMaster1.xml" Id="Rb2c3c29ead69424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155314929d4eea" /><Relationship Type="http://schemas.openxmlformats.org/officeDocument/2006/relationships/notesMaster" Target="/ppt/notesMasters/notesMaster1.xml" Id="Re670ab80c20549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3b9c4508764892" /><Relationship Type="http://schemas.openxmlformats.org/officeDocument/2006/relationships/notesMaster" Target="/ppt/notesMasters/notesMaster1.xml" Id="Rc8151acfabdd4c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a1b796a77e45fd" /><Relationship Type="http://schemas.openxmlformats.org/officeDocument/2006/relationships/notesMaster" Target="/ppt/notesMasters/notesMaster1.xml" Id="Rbda0e614945e47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3916f391b73471d" /><Relationship Type="http://schemas.openxmlformats.org/officeDocument/2006/relationships/notesMaster" Target="/ppt/notesMasters/notesMaster1.xml" Id="Ra1d633ecbc1545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3ce8de249f4df3" /><Relationship Type="http://schemas.openxmlformats.org/officeDocument/2006/relationships/notesMaster" Target="/ppt/notesMasters/notesMaster1.xml" Id="R4a92ec8b9eaa40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1b6710a7f74f53" /><Relationship Type="http://schemas.openxmlformats.org/officeDocument/2006/relationships/notesMaster" Target="/ppt/notesMasters/notesMaster1.xml" Id="Rfb91af84a91b41b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0d832a86214ec9" /><Relationship Type="http://schemas.openxmlformats.org/officeDocument/2006/relationships/notesMaster" Target="/ppt/notesMasters/notesMaster1.xml" Id="R76276b3422f348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23761ce44c419d" /><Relationship Type="http://schemas.openxmlformats.org/officeDocument/2006/relationships/notesMaster" Target="/ppt/notesMasters/notesMaster1.xml" Id="Ra09146c9f99141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d4b258b2514774" /><Relationship Type="http://schemas.openxmlformats.org/officeDocument/2006/relationships/notesMaster" Target="/ppt/notesMasters/notesMaster1.xml" Id="R41818414bf8344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Abertura. Retome rapidamente classes, objetos, métodos e encapsulamento. Explique que a aula fecha os principais conceitos de POO antes da M1.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a sequência e combine que todo conceito será aplicado no mesmo exemplo de funcionários.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aos alunos que identifiquem atributos, construtor e método. Em seguida, introduza o problema da repetição entre cargos.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exemplos do cotidiano, mas reforce a relação 'é um'. Evite usar herança apenas para reaproveitar código quando não existe essa relação.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Leia o código com a turma. Destaque que a classe base ainda é concreta neste momento.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Monte esse código ao vivo. Mostre o erro que acontece se o construtor pai exigir parâmetros e super não for chamado.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uma leitura da esquerda para a direita e mostre quais valores ficam em cada classe.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sobrescrita e sobrecarga. Em Dart, o foco aqui é sobrescrita: mesma assinatura, implementação diferente na subclasse.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construtor abstrato continua importante porque será chamado pelas subclasses.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a diferença entre o tipo da referência e o tipo real do objeto.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Pergunte: qual método será executado? Mostre que a resposta depende do objeto armazenado em cada posição.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um método ou getter sem corpo é abstrato. A subclasse concreta precisa implementá-lo.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toda classe Dart define implicitamente uma interface, mas o modificador interface deixa a intenção mais clara. Para contratos sem implementação, use abstract interface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turma observar que extends e implements aparecem juntos, mas cumprem papéis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que os alunos justifiquem por que Estagiario não implementa a interface neste cenário.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duas classes podem implementar o mesmo contrato com cálculos diferentes.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também existe polimorfismo quando usamos uma interface como tipo de referência.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o programa no DartPad ou no projeto local. Peça previsões antes de mostrar a saída.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tabela como revisão. Peça um exemplo de cada recurso antes de revelar a terceira coluna.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Reserve cerca de 10 minutos. Respostas: herança; método sobrescrito de Vendedor; não cumpre o contrato; super chama a versão do pai e override redefine; sim.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Acompanhe as duplas. Sugestão: Carro elétrico usa capacidadeBateria / consumoMedio. Moto pode usar outro cálculo simples. O foco está na estrutura POO, não na precisão física.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Peça que os alunos corrijam primeiro sem executar. Depois, compare as soluções e destaque o tipo Autenticavel da variável.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Fechamento. Retome os erros mais comuns observados na atividade e indique quais tópicos devem ser revisados para a M1.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ebc62ff1f4c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82af13396e410f" /><Relationship Type="http://schemas.openxmlformats.org/officeDocument/2006/relationships/slideLayout" Target="/ppt/slideLayouts/slideLayout1.xml" Id="R2a524248439343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24248439343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58267ed2c4f07" /><Relationship Type="http://schemas.openxmlformats.org/officeDocument/2006/relationships/image" Target="/ppt/media/image.jpeg" Id="Rd4ed46c365f54da5" /><Relationship Type="http://schemas.openxmlformats.org/officeDocument/2006/relationships/notesSlide" Target="/ppt/notesSlides/notesSlide1.xml" Id="R29064fe835234f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8097973084c46" /><Relationship Type="http://schemas.openxmlformats.org/officeDocument/2006/relationships/image" Target="/ppt/media/image.png" Id="Rc5f57ff016f24ff6" /><Relationship Type="http://schemas.openxmlformats.org/officeDocument/2006/relationships/notesSlide" Target="/ppt/notesSlides/notesSlide2.xml" Id="R3669148e96314a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bd3eef6404ae0" /><Relationship Type="http://schemas.openxmlformats.org/officeDocument/2006/relationships/image" Target="/ppt/media/image2.png" Id="R6bd001be10a14304" /><Relationship Type="http://schemas.openxmlformats.org/officeDocument/2006/relationships/notesSlide" Target="/ppt/notesSlides/notesSlide3.xml" Id="Re6e97043c498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d787b92844fe7" /><Relationship Type="http://schemas.openxmlformats.org/officeDocument/2006/relationships/image" Target="/ppt/media/image3.png" Id="Rc09296c43db04844" /><Relationship Type="http://schemas.openxmlformats.org/officeDocument/2006/relationships/notesSlide" Target="/ppt/notesSlides/notesSlide4.xml" Id="Rb73dc871069442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8f929db6b4f2c" /><Relationship Type="http://schemas.openxmlformats.org/officeDocument/2006/relationships/image" Target="/ppt/media/image4.png" Id="Rf1bf71f30a0d4464" /><Relationship Type="http://schemas.openxmlformats.org/officeDocument/2006/relationships/notesSlide" Target="/ppt/notesSlides/notesSlide5.xml" Id="R8ee25cb77dee40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801eaebb04d5f" /><Relationship Type="http://schemas.openxmlformats.org/officeDocument/2006/relationships/image" Target="/ppt/media/image5.png" Id="R8f9f16b841794ce0" /><Relationship Type="http://schemas.openxmlformats.org/officeDocument/2006/relationships/notesSlide" Target="/ppt/notesSlides/notesSlide6.xml" Id="R48bb822a0d934d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06327690c48b0" /><Relationship Type="http://schemas.openxmlformats.org/officeDocument/2006/relationships/image" Target="/ppt/media/image6.png" Id="Rae08becb37954477" /><Relationship Type="http://schemas.openxmlformats.org/officeDocument/2006/relationships/notesSlide" Target="/ppt/notesSlides/notesSlide7.xml" Id="R835349c2f3a94c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69fa8bbc24ed9" /><Relationship Type="http://schemas.openxmlformats.org/officeDocument/2006/relationships/image" Target="/ppt/media/image7.png" Id="Ra3862ba2ae9b4fe1" /><Relationship Type="http://schemas.openxmlformats.org/officeDocument/2006/relationships/notesSlide" Target="/ppt/notesSlides/notesSlide8.xml" Id="R11363e1efc7a40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bb4a18a194a0d" /><Relationship Type="http://schemas.openxmlformats.org/officeDocument/2006/relationships/image" Target="/ppt/media/image8.png" Id="Rc02cb1af151c4e81" /><Relationship Type="http://schemas.openxmlformats.org/officeDocument/2006/relationships/notesSlide" Target="/ppt/notesSlides/notesSlide9.xml" Id="R8be18cc4010245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3ea0dd2604333" /><Relationship Type="http://schemas.openxmlformats.org/officeDocument/2006/relationships/image" Target="/ppt/media/image9.png" Id="Rce50a844519d444a" /><Relationship Type="http://schemas.openxmlformats.org/officeDocument/2006/relationships/notesSlide" Target="/ppt/notesSlides/notesSlide10.xml" Id="Rf1871e257cf840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cf4adf5d4468b" /><Relationship Type="http://schemas.openxmlformats.org/officeDocument/2006/relationships/image" Target="/ppt/media/image10.png" Id="Ra5d4c0222b094195" /><Relationship Type="http://schemas.openxmlformats.org/officeDocument/2006/relationships/notesSlide" Target="/ppt/notesSlides/notesSlide11.xml" Id="R6adf3c711eee46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751cbf684439c" /><Relationship Type="http://schemas.openxmlformats.org/officeDocument/2006/relationships/image" Target="/ppt/media/image11.png" Id="R882576ff4a154ad7" /><Relationship Type="http://schemas.openxmlformats.org/officeDocument/2006/relationships/notesSlide" Target="/ppt/notesSlides/notesSlide12.xml" Id="R86ea4aaa724d43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fe09b57a349f7" /><Relationship Type="http://schemas.openxmlformats.org/officeDocument/2006/relationships/image" Target="/ppt/media/image12.png" Id="Rcd168038fd674230" /><Relationship Type="http://schemas.openxmlformats.org/officeDocument/2006/relationships/notesSlide" Target="/ppt/notesSlides/notesSlide13.xml" Id="Rff95146e5f214b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3bb8b4ede4150" /><Relationship Type="http://schemas.openxmlformats.org/officeDocument/2006/relationships/image" Target="/ppt/media/image13.png" Id="R33becceabbe548f8" /><Relationship Type="http://schemas.openxmlformats.org/officeDocument/2006/relationships/notesSlide" Target="/ppt/notesSlides/notesSlide14.xml" Id="R0665cb0faca04e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9b3b2c8464d7e" /><Relationship Type="http://schemas.openxmlformats.org/officeDocument/2006/relationships/image" Target="/ppt/media/image14.png" Id="Ra3280c91834e4c87" /><Relationship Type="http://schemas.openxmlformats.org/officeDocument/2006/relationships/notesSlide" Target="/ppt/notesSlides/notesSlide15.xml" Id="Re38474d6006e47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ec88aa12b410f" /><Relationship Type="http://schemas.openxmlformats.org/officeDocument/2006/relationships/image" Target="/ppt/media/image15.png" Id="R48f7a4a7164b41bd" /><Relationship Type="http://schemas.openxmlformats.org/officeDocument/2006/relationships/notesSlide" Target="/ppt/notesSlides/notesSlide16.xml" Id="R61d518e42ef945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bbe7418024a4c" /><Relationship Type="http://schemas.openxmlformats.org/officeDocument/2006/relationships/image" Target="/ppt/media/image16.png" Id="Re5ad5a6dda374127" /><Relationship Type="http://schemas.openxmlformats.org/officeDocument/2006/relationships/notesSlide" Target="/ppt/notesSlides/notesSlide17.xml" Id="R2943cdcf388846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79859febe4d45" /><Relationship Type="http://schemas.openxmlformats.org/officeDocument/2006/relationships/image" Target="/ppt/media/image17.png" Id="R7d215f5632714d43" /><Relationship Type="http://schemas.openxmlformats.org/officeDocument/2006/relationships/notesSlide" Target="/ppt/notesSlides/notesSlide18.xml" Id="Rc2e1f2a5512e4f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83ef5e0964af8" /><Relationship Type="http://schemas.openxmlformats.org/officeDocument/2006/relationships/image" Target="/ppt/media/image18.png" Id="R56e7866ef97e422d" /><Relationship Type="http://schemas.openxmlformats.org/officeDocument/2006/relationships/notesSlide" Target="/ppt/notesSlides/notesSlide19.xml" Id="Rc070e3944ea647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64e5be75a4486" /><Relationship Type="http://schemas.openxmlformats.org/officeDocument/2006/relationships/image" Target="/ppt/media/image19.png" Id="R3f7171d6ef954913" /><Relationship Type="http://schemas.openxmlformats.org/officeDocument/2006/relationships/notesSlide" Target="/ppt/notesSlides/notesSlide20.xml" Id="R1de7d950e12546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7024b790b418b" /><Relationship Type="http://schemas.openxmlformats.org/officeDocument/2006/relationships/image" Target="/ppt/media/image20.png" Id="Rfa2e6e2667cc485c" /><Relationship Type="http://schemas.openxmlformats.org/officeDocument/2006/relationships/notesSlide" Target="/ppt/notesSlides/notesSlide21.xml" Id="R331cd914959c41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9adb8817b47f4" /><Relationship Type="http://schemas.openxmlformats.org/officeDocument/2006/relationships/image" Target="/ppt/media/image21.png" Id="Re52d55b684894c13" /><Relationship Type="http://schemas.openxmlformats.org/officeDocument/2006/relationships/notesSlide" Target="/ppt/notesSlides/notesSlide22.xml" Id="Rbe5fe77ac13d42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003dc825f4443" /><Relationship Type="http://schemas.openxmlformats.org/officeDocument/2006/relationships/image" Target="/ppt/media/image22.png" Id="Re120383e83ee4059" /><Relationship Type="http://schemas.openxmlformats.org/officeDocument/2006/relationships/notesSlide" Target="/ppt/notesSlides/notesSlide23.xml" Id="R8615744d37a34a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E8DDA-200F-4CBB-B340-3D77193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FEE08-9165-4768-A28C-FAFA6BD5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2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15482-0E86-4AA3-B94D-5D53B95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01B98-64C2-4775-BE36-288E2013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35B41-C3A7-4406-A2B1-BA784F92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Herança, Polimorfismo</a:t>
            </a:r>
          </a:p>
          <a:p xmlns:a="http://schemas.openxmlformats.org/drawingml/2006/main">
            <a:pPr>
              <a:defRPr sz="31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 Interfaces em Dart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2E3CD-91AA-4E0B-B412-0B203EEB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Programação Orientada a Objetos · Aula 3</a:t>
            </a:r>
          </a:p>
          <a:p xmlns:a="http://schemas.openxmlformats.org/drawingml/2006/main">
            <a:pPr>
              <a:defRPr sz="13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4º semestre · Engenharia de Software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C44CC-AA08-48A6-8DA5-818BF944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AULA DE 3 HORAS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d46c365f54da5"/>
          <a:srcRect xmlns:a="http://schemas.openxmlformats.org/drawingml/2006/main" l="2083" t="0" r="2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19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F5AE5F-057C-4F8A-85A3-79A32951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329A9-B39A-4F48-827E-CB0F0229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B22E8-5FE3-40E3-8808-3ABD415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Objetivos e organização da aula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69143-89AC-4FF3-B2B8-B8287053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57ff016f24ff6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F6CE0-00EF-4921-A284-1D0F669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99F5F-44DB-4B2C-AF1A-70AFBDD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85875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88ABC-4231-4319-A1F9-7508541A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01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1º bloco · 50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CF242-243C-4E93-B60D-2CBD8C6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81175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Herança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Classe base e subclasses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Construtor super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Sobrescrita com @override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736F2-4FF6-4F03-BC33-D628DA35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858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7BC83-FB62-409A-B424-57B8453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285875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DB84C-3244-4FA5-BC69-6187EB1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001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2º bloco · 50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10377-1A66-4FFF-8DE0-7D57C950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81175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Polimorfismo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Referência do tipo pai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Comportamentos diferentes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Classe abstrata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F1D97-3713-4659-B71D-ABAAC1B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85875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96AD8-10E6-4F06-B4EA-877DA96C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85875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FFF49-4538-428B-BFB4-1C521CAE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01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3º bloco · 60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4B3AF-6720-4423-97C3-031317E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81175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Interfaces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implements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Projeto integrado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Atividade e revisão para a M1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0C404-4DA0-4CA3-BA1D-4F6E332D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Intervalos e correções: 20 minutos distribuídos entre os blocos.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01085-388A-437C-B79A-768D8C2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942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70BAF-764E-4451-A315-BEAFE49E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292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3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Ao final, o aluno deverá reconhecer quando usar extends, @override e implements e explicar como o polimorfismo permite tratar objetos diferentes pelo mesmo tipo.</a:t>
            </a:r>
          </a:p>
        </p:txBody>
      </p:sp>
    </p:spTree>
    <p:extLst>
      <p:ext uri="{BB962C8B-B14F-4D97-AF65-F5344CB8AC3E}">
        <p14:creationId xmlns:p14="http://schemas.microsoft.com/office/powerpoint/2010/main" val="666398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48774-B8FA-4F7E-8418-774AA8A7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B018A-7C99-4245-8425-70AAF084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290C0-4654-413A-AB3F-C83E524E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Retomada: o que já temos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89078-2753-444B-A5DB-6473FE1E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001be10a14304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C21D4-473F-4546-8859-E4F1F83E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E5BEE-19BF-4CC6-BD73-6842D00C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47244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Funcionario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nome;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salario;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Funcionario(this.nome, this.salario);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void exibirInformacoes()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print('Nome: $nome');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print('Salário: R$ $salario');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9A627-D26D-4085-8E6B-C1780866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DBEDE-F309-463F-B349-4C37673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A8856-02EB-4DFC-8A25-E5D3C55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43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Classe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BA520-068B-415D-A081-CB04BA0F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Define os atributos e os comportamentos comuns.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DCD7B-819A-4C46-BE52-5485CA7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48C84-B6F0-4AA8-BD75-D1A26DB5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193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9F310-5D43-4876-99C0-80694BC2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336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Encapsulamento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08955-FA63-415B-A0F3-CD2829D5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146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40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Controla como o estado do objeto pode ser acessado e alterado.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EBAAF-6014-4074-86E4-9ADEF0E3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5048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8DCFB-2F1D-4EC4-9C8B-ADFFFF4B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0000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317A7-35D5-4D92-A2D9-74BBF4D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6B0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B6B00"/>
                </a:solidFill>
                <a:latin typeface="DejaVu Sans"/>
                <a:ea typeface="DejaVu Sans"/>
                <a:cs typeface="DejaVu Sans"/>
              </a:rPr>
              <a:t>Pergunta da aula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E0181-C54B-4AA9-BFD1-08DB5BC3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4762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Como evitar repetir nome, salário e exibirInformacoes em cada cargo?</a:t>
            </a:r>
          </a:p>
        </p:txBody>
      </p:sp>
    </p:spTree>
    <p:extLst>
      <p:ext uri="{BB962C8B-B14F-4D97-AF65-F5344CB8AC3E}">
        <p14:creationId xmlns:p14="http://schemas.microsoft.com/office/powerpoint/2010/main" val="1637103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70F5F-53FC-47BF-92FD-F2D2BB90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F054F-B286-46C0-8EF3-0E13463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44328-1CF0-44B3-86BF-23D9CB8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Herança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E2491-8F4D-4D37-AAD7-1DD51143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296c43db04844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D7A7B-EA3F-43B9-A2BA-496467C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Herança permite criar uma classe nova a partir de outra classe.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B2BEC-DF5E-4FB3-A8EE-F5AB054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2D935-E393-4D39-9F7F-AE2202D1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3C927-0582-4701-A1E9-0164EF17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00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Classe pai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58941-EC06-43C9-A480-533C124F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81300"/>
            <a:ext cx="4095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Funcionario concentra o que todos os cargos possuem: nome, salário e exibição de informações.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11866-0364-4411-940D-3D9B78DA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4381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CF771-A1DC-4179-8FBF-7507911D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66675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15919-65E7-406A-B51A-CEAEEE9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00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Classes filhas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C9B9A-DFAA-4692-AE34-12626F20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781300"/>
            <a:ext cx="4095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Gerente, Vendedor e Estagiario recebem os membros da classe pai e podem adicionar comportamentos próprios.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8A473-420B-43CB-8CBB-5D15B8BE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575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extends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8B011-BE60-4F07-8945-A7056DA3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Relação conceitual: todo Gerente é um Funcionario.</a:t>
            </a:r>
          </a:p>
        </p:txBody>
      </p:sp>
    </p:spTree>
    <p:extLst>
      <p:ext uri="{BB962C8B-B14F-4D97-AF65-F5344CB8AC3E}">
        <p14:creationId xmlns:p14="http://schemas.microsoft.com/office/powerpoint/2010/main" val="809830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CEDEF-F9DA-4E1B-BB8D-1056149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4E0CF-0650-4C2E-AFE0-6F73E4F6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1E0E3-F4F6-4A66-A443-6BB97C43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Classe base Funcionario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3CB64-F625-4C74-991F-B00C1BF1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f71f30a0d4464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13658-4BFD-4485-AB91-A1E6D291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600075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418D5-4D99-432B-A52C-C678D75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77215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Funcionario {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nome;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salario;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Funcionario(this.nome, this.salario);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void exibirInformacoes() {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print('Nome: $nome');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print('Salário: R$ ${salario.toStringAsFixed(2)}');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45B2D-B0A6-47FC-A447-E19E487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41910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5F4BE-12BC-49C8-B7A8-8D35A64C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66675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BEEB1-B82F-496B-B0CC-02F2A1C2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28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Responsabilidade da classe pai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8EA9C-7638-4FA5-8325-8826846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09800"/>
            <a:ext cx="3905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Armazenar os dados comuns e oferecer um comportamento que pode ser reaproveitado ou sobrescrito pelas subclasses.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152A2-7244-4898-A700-A793C275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4191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83160-BB6F-4387-86E8-6CE3139C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521CD-6EAF-483F-BBAD-5823ADDE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719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6B0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B6B00"/>
                </a:solidFill>
                <a:latin typeface="DejaVu Sans"/>
                <a:ea typeface="DejaVu Sans"/>
                <a:cs typeface="DejaVu Sans"/>
              </a:rPr>
              <a:t>Atenção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815A8-043E-4025-A2B6-921848F0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35292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classe ainda pode ser instanciada. Mais adiante, vamos transformá-la em abstrata.</a:t>
            </a:r>
          </a:p>
        </p:txBody>
      </p:sp>
    </p:spTree>
    <p:extLst>
      <p:ext uri="{BB962C8B-B14F-4D97-AF65-F5344CB8AC3E}">
        <p14:creationId xmlns:p14="http://schemas.microsoft.com/office/powerpoint/2010/main" val="132197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9C2DF-DD01-42CD-B0C1-3B5924F5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23FC1-AAD4-44EB-A26D-F551829F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2991B-51CB-4E5A-BDF3-2C2BA4C9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Criando uma subclasse com extends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3B164-58FC-4DE9-9B2C-94196914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f16b841794ce0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B00E5-5B72-424A-957D-A95D023E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857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BCC6B-43F1-44EC-BAFB-5F5CB70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562927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Gerente extends Funcionario {</a:t>
            </a:r>
          </a:p>
          <a:p xmlns:a="http://schemas.openxmlformats.org/drawingml/2006/main">
            <a:pPr>
              <a:def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setor;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Gerente(String nome, double salario, this.setor)</a:t>
            </a:r>
          </a:p>
          <a:p xmlns:a="http://schemas.openxmlformats.org/drawingml/2006/main">
            <a:pPr>
              <a:def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: super(nome, salario);</a:t>
            </a:r>
          </a:p>
          <a:p xmlns:a="http://schemas.openxmlformats.org/drawingml/2006/main">
            <a:pPr>
              <a:def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645FC-D458-40FF-B620-065A27C1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286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88996-5087-4D6A-B5C5-2EB8F2EA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EADE4-5129-4B05-BC83-0416C75B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495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extends Funcionario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121D2-22A3-435C-B2E0-A45F1C09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76425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6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Indica que Gerente herda os membros disponíveis da classe Funcionario.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25FCB-0307-4376-B021-0675407F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4286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5416D-7676-4CC9-82BE-CB4AC11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670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430D1-1D3B-4C90-A840-D132F6C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781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Atributo próprio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F11AD-38C0-46D3-AFAE-89A82397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62300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6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setor pertence apenas ao Gerente. A subclasse pode ampliar a estrutura herdada.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58FE4-BC6C-4FDB-85BA-C2991E7C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4286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1D54D-3560-4B28-B311-16D20AB1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160AA-CC39-4D5F-846E-2682D5F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671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super(nome, salario)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9796A-BAA3-442B-9DD6-6464451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448175"/>
            <a:ext cx="4000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62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Envia os valores necessários ao construtor da classe pai.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C323A-AA4B-4FFE-930E-59E275F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Gerente recebe nome, salário e exibirInformacoes sem repetir o código.</a:t>
            </a:r>
          </a:p>
        </p:txBody>
      </p:sp>
    </p:spTree>
    <p:extLst>
      <p:ext uri="{BB962C8B-B14F-4D97-AF65-F5344CB8AC3E}">
        <p14:creationId xmlns:p14="http://schemas.microsoft.com/office/powerpoint/2010/main" val="1017485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FB3E2-2871-4BF0-B90F-17771901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069EA-195E-45C1-B068-93D4EBE1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E3953-8312-4FA1-A0FE-37F049C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 construtor super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51B42-032F-4543-9A05-047B31E9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8becb37954477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26B16-EC7A-4BF3-B084-7252B677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4953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FD393-422A-4E7A-83E4-2CB92B7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647825"/>
            <a:ext cx="47244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Gerente(</a:t>
            </a:r>
          </a:p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nome,</a:t>
            </a:r>
          </a:p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salario,</a:t>
            </a:r>
          </a:p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this.setor,</a:t>
            </a:r>
          </a:p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) : super(nome, salario);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2E716-65FA-40C8-BBF3-A4D5D2D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399AB-7C76-44E3-BF59-5D51D8D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 programa recebe nome, salário e setor ao criar o Gerente.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5F22D-3E9E-4C5D-867D-E8D767E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E29A9-1B2F-477B-9BC6-A7B7D5F0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this.setor inicializa o atributo da própria subclasse.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74A7C-15F3-45B3-AB6A-BD28D2F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18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BE8C4-2B33-4D1A-9C54-0989F4CB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71875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super(nome, salario) inicializa os atributos definidos pelo pai.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89B54-4CCA-4CA3-8B55-D1D7A50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310FF-3A7C-45A5-A2AD-458AA9E2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2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 construtor da classe pai executa antes da inicialização completa da classe filha.</a:t>
            </a:r>
          </a:p>
        </p:txBody>
      </p:sp>
    </p:spTree>
    <p:extLst>
      <p:ext uri="{BB962C8B-B14F-4D97-AF65-F5344CB8AC3E}">
        <p14:creationId xmlns:p14="http://schemas.microsoft.com/office/powerpoint/2010/main" val="486171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8787A-5ECA-4B17-961E-F8D49E1E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F6D3B-99A0-480E-BF8D-ACB58890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1AD20-168B-43FF-BE08-739A54BC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Sobrescrita com @override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8593C-1209-41C3-8F0B-E4662BFC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62ba2ae9b4fe1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41E73-F565-4794-8D6D-6FB69F01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191250" cy="4619625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B1680-EDCD-4F09-9CA7-1DC067B8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66825"/>
            <a:ext cx="5962650" cy="446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Gerente extends Funcionario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setor;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Gerente(String nome, double salario, this.setor)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: super(nome, 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@override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void exibirInformacoes()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super.exibirInformacoes();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print('Setor: $setor');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A6ACB-D9E0-4DDD-A311-25750782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76375"/>
            <a:ext cx="4095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CAF39-9DB2-4D2F-9C32-20EE9EDA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7637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1C95F-5C15-4D1E-A870-6293FD4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5906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@override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356B1-8994-49C8-AD8A-45638363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1675"/>
            <a:ext cx="3810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Informa que a subclasse está substituindo um método herdado com a mesma assinatura.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E7192-05C6-4239-AB9F-5AF0B01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4095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6A598-443A-4C88-AAA0-524844BC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264A0-7806-4AD8-9CE8-8149D82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099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super.exibirInformacoes()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8B36A-C992-4B99-8306-750600E0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90925"/>
            <a:ext cx="3810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Reaproveita o comportamento do pai antes de acrescentar a informação do setor.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D4A2B-CBA9-4C01-8909-949066D0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65CF2-9864-4603-9F24-203EE96C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ADA96-A931-4C72-AB23-99A750A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9244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Benefício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39676-72A5-4E30-A5B5-8844618C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3054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70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Cada cargo pode exibir seus dados específicos sem perder o que já foi definido em Funcionario.</a:t>
            </a:r>
          </a:p>
        </p:txBody>
      </p:sp>
    </p:spTree>
    <p:extLst>
      <p:ext uri="{BB962C8B-B14F-4D97-AF65-F5344CB8AC3E}">
        <p14:creationId xmlns:p14="http://schemas.microsoft.com/office/powerpoint/2010/main" val="1684486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F3B49-7CC9-42DA-9E99-72CDCD1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5943E-928F-4169-B418-CFB6FEC1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6567F-6BCC-4A85-9A71-839FA5B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Classe abstrata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E893F-D0E9-4058-A1CB-D256E46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cb1af151c4e81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DD48F-1A55-4AAD-BC13-364DDD4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26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Uma classe abstrata representa um conceito geral e não pode ser instanciada diretamente.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F552F-CB4B-4E28-B27E-2F7C036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619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C4BF6-25E0-4259-B3C0-370BB0F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5391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abstract class Funcionario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nome;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salario;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Funcionario(this.nome, this.salario);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void exibirInformacoes()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print('Nome: $nome');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print('Salário: R$ $salario');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F7A3A-81EC-4B7C-867A-0F573C03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4286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71333-5C14-4EF7-8FFF-5E87AFED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4312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1A566-4D31-4E2E-B87D-3015EFAC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57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Pode conter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24752-D97C-41AD-AB6D-80405011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384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Atributos, construtor, métodos prontos e métodos abstratos.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F2A40-CE70-4750-84AE-B0B47A87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71875"/>
            <a:ext cx="4286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9233A7-0410-45A3-8144-083FE3F2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7187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8492C-2215-47CF-BC28-0AAF4DF2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861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Não permite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775EE-4F45-44BB-B544-48F64EE3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6717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Funcionario('Ana', 3000) porque o conceito é genérico demais.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3F02C-FA9A-43CE-B4A2-DA9311BF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00625"/>
            <a:ext cx="4286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01C97-067C-4BE4-8A36-C49CA3F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00625"/>
            <a:ext cx="66675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A2C2B-4500-4E83-939F-E0D9D61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1149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Permite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2F6D3-9A25-44DC-A720-11ACAE12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4959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137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Gerente e Vendedor herdarem a estrutura comum.</a:t>
            </a:r>
          </a:p>
        </p:txBody>
      </p:sp>
    </p:spTree>
    <p:extLst>
      <p:ext uri="{BB962C8B-B14F-4D97-AF65-F5344CB8AC3E}">
        <p14:creationId xmlns:p14="http://schemas.microsoft.com/office/powerpoint/2010/main" val="1550605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48245-1F84-4ADE-9A94-233FDFB3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E7CC8-1E8B-47B5-9836-0D1FD9A5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30DE6-F22E-46D8-BCD9-4D814DDC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Polimorfismo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974A5-E393-48FA-8DA4-442DFA9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0a844519d444a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E22FC-7F3D-4030-86A9-ED7A04F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Polimorfismo significa que uma referência do tipo pai pode apontar para objetos de diferentes subclasses.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E1C1A-4003-462D-8CC5-0171ABE1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3340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C2EA8-F31F-40D8-AA87-B46D8B02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5105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Funcionario gerente =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Gerente('Ana', 8000, 'TI');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Funcionario vendedor =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Vendedor('Bruno', 3500, 20000);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Funcionario estagiario =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Estagiario('Carla', 1800, 'ADS');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F48C4-3E5C-4B18-B888-ED8A8125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8600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738F1-9416-4BB9-8F1A-99DD50A3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8600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EC1AE-42B1-49DA-964C-24C15114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003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Mesmo tipo de referência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D7A78-DA8C-4185-9E93-4E6D1346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81300"/>
            <a:ext cx="438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As três variáveis possuem o tipo Funcionario.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747F6-93F1-4A9B-9CF6-9835545F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71875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AEBC9-80D2-4ADA-8D87-CA6525BB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7187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7781D-C01B-4CB1-A9EE-FFAFB690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86175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Objetos diferentes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81AC5-4892-4A8C-877A-0DE7E28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67175"/>
            <a:ext cx="438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Cada variável aponta para uma subclasse distinta.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E2212-4818-4DF0-99EA-E463922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57750"/>
            <a:ext cx="4667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E1A55-AE8B-46BD-B5A5-8E6213B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57750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7DE8B-95BF-4010-A440-CD5B4EDC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9720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Comportamento correto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579AA-305A-42DA-BC07-EB005E3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53050"/>
            <a:ext cx="4381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6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Ao chamar um método sobrescrito, Dart executa a versão do objeto real.</a:t>
            </a:r>
          </a:p>
        </p:txBody>
      </p:sp>
    </p:spTree>
    <p:extLst>
      <p:ext uri="{BB962C8B-B14F-4D97-AF65-F5344CB8AC3E}">
        <p14:creationId xmlns:p14="http://schemas.microsoft.com/office/powerpoint/2010/main" val="1677381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96EED-9D6A-4764-B407-FA2E785A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42B1F-8B7C-4FC4-A623-CFC6F519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7B891-F694-4CE5-9B88-714DA723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Polimorfismo em uma coleção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E5119-B634-45C7-8C01-C9097E0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4c0222b094195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53333-7D73-4486-9733-BD6D78B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6191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D724F-FE32-47DA-B6F9-83C07492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9700"/>
            <a:ext cx="596265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List&lt;Funcionario&gt; equipe = [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Gerente('Ana', 8000, 'TI'),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Vendedor('Bruno', 3500, 20000),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Estagiario('Carla', 1800, 'ADS'),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for (Funcionario funcionario in equipe)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funcionario.exibirInformacoes();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print('----------------');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FFF65-6741-42CB-9CBD-DB31700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ADD12-B835-4C33-B9F3-70C7F58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1F29C-8551-4C37-9682-7F329EF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906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Uma única lista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4C50C-B742-4C15-BB12-E9C863A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71675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96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coleção aceita qualquer objeto que seja um Funcionario.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C42DE-A8B9-4815-BBFC-4B347E1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4000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57636-AAE0-4F09-ACBD-BC11216E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A56F5-8B5D-4F60-AFF9-4B976E0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241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Um único laço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B7621-7D3D-45FC-9007-5BD1640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05175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 mesmo código percorre todos os cargos.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183AD-52E7-4465-9AE0-7BA72D93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4000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6B752-5C9E-40BF-93C7-9BA7A48D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66675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E6A2B-B93E-456A-801D-0EFBB4A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576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Várias respostas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7CEAB-4FC8-4E50-945F-C65503D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38675"/>
            <a:ext cx="371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Cada objeto executa sua própria versão de exibirInformacoes.</a:t>
            </a:r>
          </a:p>
        </p:txBody>
      </p:sp>
    </p:spTree>
    <p:extLst>
      <p:ext uri="{BB962C8B-B14F-4D97-AF65-F5344CB8AC3E}">
        <p14:creationId xmlns:p14="http://schemas.microsoft.com/office/powerpoint/2010/main" val="1003107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890DB-BF09-4F15-BA70-0E9F253B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5EEBF-8D4D-4421-A73C-A84378D7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FD279-DAB1-4011-9AC9-D930956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Método abstrato e polimorfismo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CA90F-7128-4AB5-9F65-12992BAB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2576ff4a154ad7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5A7DE-7357-4A8C-BB21-5D2BDB8A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5429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BDE1D-8836-4107-8CC8-FC1B8A0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52006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abstract class Funcionario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nome;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salario;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Funcionario(this.nome, this.salario);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get cargo;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void exibirInformacoes()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print('$cargo: $nome');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EA44E-30C2-41BD-B16A-E6103D6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33500"/>
            <a:ext cx="5238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93AE9-347C-4669-9884-C5C2C47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09700"/>
            <a:ext cx="50101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Estagiario extends Funcionario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curso;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Estagiario(String nome, double salario, this.curso)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: super(nome, 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@override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get cargo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return 'Estagiário';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229B8-1E33-4208-A13C-79EE53D0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71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classe abstrata define a obrigação. Cada subclasse fornece a resposta adequada.</a:t>
            </a:r>
          </a:p>
        </p:txBody>
      </p:sp>
    </p:spTree>
    <p:extLst>
      <p:ext uri="{BB962C8B-B14F-4D97-AF65-F5344CB8AC3E}">
        <p14:creationId xmlns:p14="http://schemas.microsoft.com/office/powerpoint/2010/main" val="6151022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B11BC-BD91-4E2C-B3E0-396A6C1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49746-9659-4986-A174-8142D3E9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A5C97-8E0E-4329-A67A-ED853988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Interface em Dart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D97AF-F590-4BDB-A76B-9499DB2B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68038fd674230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02FD5-9D6E-4E54-B527-788F3EA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4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Uma interface define um contrato: quais operações uma classe deve oferecer.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F71F4-BAFC-4864-A5C1-F6F4C768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47384-4DD9-4078-8267-98BB645B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2F344-7DC9-4797-B47A-18A5D5FD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Contrato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40FE5-3C78-47DE-B611-D20D29BB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interface declara capacidades esperadas, como calcularBonificacao().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316E1-2149-4535-AA68-D064251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F8499-BA22-46A9-858D-F0AFEA1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C94F7-AD9E-4D60-8378-8FA65A46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526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implements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E213C-2960-451C-920E-379E3CF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3367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classe que implementa o contrato deve escrever os membros exigidos.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8E759-EF01-4756-AF79-DA0ED78B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3238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6173C-2890-4E41-AD01-C60AB75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66675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80A15-BF8C-4320-A529-B2C03DD9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526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Flexibilidade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905E4-27DE-4412-B4C9-1BE4D9D8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33675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Classes de famílias diferentes podem compartilhar a mesma capacidade.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6D733-14DF-4766-94E0-0DDC129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4EC6F-6BA7-411B-96F4-C7DC292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57750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No Dart moderno, abstract interface class deixa explícito que a estrutura será usada como contrato.</a:t>
            </a:r>
          </a:p>
        </p:txBody>
      </p:sp>
    </p:spTree>
    <p:extLst>
      <p:ext uri="{BB962C8B-B14F-4D97-AF65-F5344CB8AC3E}">
        <p14:creationId xmlns:p14="http://schemas.microsoft.com/office/powerpoint/2010/main" val="1109710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5ADDE-324A-42D5-8A1B-0D766524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78D7D-B0A1-4BA9-82CC-EFDB074E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59080-9029-4AB3-BD48-9E38130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Criando a interface Bonificavel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A4A29-704E-4D6A-8EA1-AF989889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ecceabbe548f8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FA420-C90A-4A62-9174-C7C63E8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495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EC1D3-2B77-449E-B676-2D29C6C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4724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abstract interface class Bonificavel {</a:t>
            </a:r>
          </a:p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calcularBonificacao();</a:t>
            </a:r>
          </a:p>
          <a:p xmlns:a="http://schemas.openxmlformats.org/drawingml/2006/main">
            <a:pPr>
              <a:def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4888C-39F3-4E22-802B-26D0767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572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2C130-DC10-4BC8-9869-4376D62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57325"/>
            <a:ext cx="43434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Gerente extends Funcionario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implements Bonificavel {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@override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calcularBonificacao() {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return salario * 0.20;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2E181-0437-4987-A399-986C1FE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4953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D32C9-9F4E-4032-BE57-C4C0B6EE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23BC3-766D-44D7-AF5A-C7422450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00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Método sem corpo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EAD11-2767-47A7-BB7A-1085058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 interface informa o que deve existir, mas não calcula o valor.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17369-B5B1-4AF7-B838-E1B4540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572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603A3-29FD-42F1-B245-205B9B5A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A6F70-244B-41FC-BCFF-62C233EE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Implementação obrigatória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28F7D-95FC-4D51-AC40-56D1C16A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286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Gerente fornece sua regra de bonificação e usa @override.</a:t>
            </a:r>
          </a:p>
        </p:txBody>
      </p:sp>
    </p:spTree>
    <p:extLst>
      <p:ext uri="{BB962C8B-B14F-4D97-AF65-F5344CB8AC3E}">
        <p14:creationId xmlns:p14="http://schemas.microsoft.com/office/powerpoint/2010/main" val="1978578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4E208-706A-457E-8B08-4670CD8D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FB242-D74D-4B55-8B09-D9F31968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0C3CF-F5C1-432B-816E-1D432FCA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Quem implementa Bonificavel?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1D824-8DEE-4AB7-BCEB-A25AE38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80c91834e4c87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2F403-2967-4476-BB3A-E86B67C4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8BE07-E3E7-4CDD-961B-76610C5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F3999-DA81-4321-BA7E-C4CD755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Gerente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D57FD-3D43-432D-8447-CC039FFA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3048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implements Bonificavel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Bônus de 20% do salário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5F388-017E-47F5-B534-9E490B3C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3B64D-8C1C-4F54-AC96-619E417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18AA4-7D35-479C-81EB-ADA7B71F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33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Vendedor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F44DA-0BBB-444E-B117-49560F9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14550"/>
            <a:ext cx="3048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implements Bonificavel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Bônus de 5% das vendas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2B05F-1B97-4C6A-B299-BCBBCECB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33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55C89-CE9B-46EB-8AC2-7DDE6A8E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66675" cy="2047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5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DCE92-8296-488D-B0AB-95760893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Estagiário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12E43-253A-4AC4-84D4-3FBD4DEE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048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Herda de Funcionario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Não implementa Bonificavel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167B7A-EA1C-46D9-8D6D-8425E919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Herança responde: “o que o objeto é?”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069BA-5EE7-458A-8862-84F585B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9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Interface responde: “o que o objeto sabe fazer?”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23146-BAE3-449A-921A-5BB4E36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158E7-3633-407B-8C9A-F7D35DE1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0067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Nem todo Funcionario precisa receber bonificação.</a:t>
            </a:r>
          </a:p>
        </p:txBody>
      </p:sp>
    </p:spTree>
    <p:extLst>
      <p:ext uri="{BB962C8B-B14F-4D97-AF65-F5344CB8AC3E}">
        <p14:creationId xmlns:p14="http://schemas.microsoft.com/office/powerpoint/2010/main" val="1009613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00AA3-030E-477D-B28B-5AB507E4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C2701-D685-41DF-A289-3D80AAC2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AD096-4F59-426B-BBA1-4F0B17D6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Vendedor com bonificação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08ABE-6889-41CB-9C64-CBAB654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7a4a7164b41bd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25564-0684-48C1-A33A-616F9ABA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6667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2638F-71A3-4292-8157-D07A47D5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19200"/>
            <a:ext cx="643890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Vendedor extends Funcionario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implements Bonificavel {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totalVendas;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Vendedor(String nome, double salario, this.totalVendas)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: super(nome, salario);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@override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double calcularBonificacao() {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return totalVendas * 0.05;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@override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get cargo {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return 'Vendedor';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E4964-7AB7-466C-B998-2A37EA0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361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D659C-40CB-4615-8F2B-E793A7FD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F9A4A-FF02-40AC-9548-9D71063E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906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Herança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78B18-1AAA-4DEA-8C90-C304483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7167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Vendedor reaproveita nome, salário e exibirInformacoes.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9A781-9E00-4685-8B0F-C604C3E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61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1E0ED-778B-4E21-AC43-A5317E68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B65C2-4097-47BE-9885-2D83DA9D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CAC07-7B8A-4FBB-9D59-ECE627C7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480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Vendedor assume a obrigação de calcular a bonificação.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28D87-911E-4097-9561-CDF6ADB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3619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7EFFC-433D-484A-876B-C89BD78F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2912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7C7C8-0288-402D-8670-BE635555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434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Regra própria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C309C-0553-4B28-871F-E891AC5F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244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 bônus usa o total vendido, não o salário.</a:t>
            </a:r>
          </a:p>
        </p:txBody>
      </p:sp>
    </p:spTree>
    <p:extLst>
      <p:ext uri="{BB962C8B-B14F-4D97-AF65-F5344CB8AC3E}">
        <p14:creationId xmlns:p14="http://schemas.microsoft.com/office/powerpoint/2010/main" val="8861795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589BE-F30F-42DF-9B07-B756E22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57927-7E6A-4033-9837-DA635570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813CA-FC63-4B6D-B9C7-FA6697A6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Polimorfismo pela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A86CD-8C6E-4EEB-AD5E-D828A44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ad5a6dda374127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C5290-E0CC-4D16-8801-EB72096D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905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92301-ECA2-4D1F-AF21-4330B353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56769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List&lt;Bonificavel&gt; bonificados = [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Gerente('Ana', 8000, 'TI'),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Vendedor('Bruno', 3500, 20000),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for (Bonificavel pessoa in bonificados) {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print(pessoa.calcularBonificacao());</a:t>
            </a:r>
          </a:p>
          <a:p xmlns:a="http://schemas.openxmlformats.org/drawingml/2006/main">
            <a:pPr>
              <a:def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DD222-7E37-48DE-85B0-E1EA0483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4191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E0073-BCA7-4513-AE64-CB80EAAE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2400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679CF-A3BC-49D5-A303-7384373D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383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Tipo da lista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65245-E1DE-4C10-98EC-DB2FAEA2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Bonificavel aceita qualquer objeto que cumpra o contrato.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534E1-73B4-4A62-8941-8E762515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4191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D5E05-3FA8-42C7-BD03-E335D4F2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5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77487-4740-4506-A373-79D814B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146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Sem Estagiario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9BA1C-741D-4FD3-B89C-5BCC0E37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95675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Estagiario não pode entrar na lista porque não implementa a interface.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2984D-423C-4203-AD27-6D34EF97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24375"/>
            <a:ext cx="4191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55CFB-B256-435D-936E-4CD7E1E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24375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4E2B9-4CFF-4B58-9419-62CE241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386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BC3C5-2DE6-4973-9D09-E6A99B42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19675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 mesmo método produz valores diferentes conforme a classe do objeto.</a:t>
            </a:r>
          </a:p>
        </p:txBody>
      </p:sp>
    </p:spTree>
    <p:extLst>
      <p:ext uri="{BB962C8B-B14F-4D97-AF65-F5344CB8AC3E}">
        <p14:creationId xmlns:p14="http://schemas.microsoft.com/office/powerpoint/2010/main" val="19936578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D11C6-260E-4C3C-94CA-362CBE3B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D2ABF-7FB6-486A-9FB0-58AAA6DD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BC13-E4A5-49C0-BE05-2FEB3426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Programa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7F65A-7D7B-4CBD-BBF8-6690F68E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15f5632714d43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F4333-9268-4FA6-94DF-4DE559C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69532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1681-DA46-4A38-8EEE-0B7AED5A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171575"/>
            <a:ext cx="6724650" cy="489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void main() {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 gerente =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Gerente('Ana', 8000, 'TI');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 vendedor =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Vendedor('Bruno', 3500, 20000);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Funcionario estagiario =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  Estagiario('Carla', 1800, 'ADS');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gerente.exibirInformacoes();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vendedor.exibirInformacoes();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estagiario.exibirInformacoes();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if (gerente is Bonificavel) {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  print('Bônus: ${gerente.calcularBonificacao()}');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}</a:t>
            </a:r>
          </a:p>
          <a:p xmlns:a="http://schemas.openxmlformats.org/drawingml/2006/main">
            <a:pPr>
              <a:def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DC319-27F7-4943-953C-DDB8AAC0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429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E4835-7922-492F-9FAC-F70DDB3D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7894B-6542-473F-AF84-1FB6C75D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6859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is Bonificavel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02FF5-3312-4A01-A76E-351328FB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66925"/>
            <a:ext cx="314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Verifica em tempo de execução se o objeto possui aquela capacidade.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D4179-D26A-4036-AAAF-0FFAD2C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34290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9A030-78CC-417A-9E57-26DC9B4C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66675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12BDF-5E4D-4B21-8376-96FD4ABE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00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Promoção de tipo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E53AA-3524-4C05-9598-227D308A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81425"/>
            <a:ext cx="314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Dentro do if, Dart permite chamar calcularBonificacao no objeto.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1088A-B507-4846-A76A-D1FA16CF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C3500-F468-4280-AA56-645D15F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00625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6F3C7-5615-4E7C-83E4-4E5C5DE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1149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Prática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1460-C01C-4E43-B6CF-0EBEE67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4959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27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Teste também vendedor e estagiario e compare os resultados.</a:t>
            </a:r>
          </a:p>
        </p:txBody>
      </p:sp>
    </p:spTree>
    <p:extLst>
      <p:ext uri="{BB962C8B-B14F-4D97-AF65-F5344CB8AC3E}">
        <p14:creationId xmlns:p14="http://schemas.microsoft.com/office/powerpoint/2010/main" val="7327195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4BF67-1672-4841-B366-1A91AC36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FCAE8-8B98-4533-92FB-B80FAE5A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FC426-5787-4ABF-A6B2-65D64B52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extends, implements e @override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41EB3-C7BA-41A3-B057-69B9433D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7866ef97e422d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429000"/>
                <a:gridCol w="5429250"/>
              </a:tblGrid>
              <a:tr h="857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Recurso</a:t>
                      </a:r>
                    </a:p>
                  </a:txBody>
                  <a:tcPr marL="91440" marR="91440" marT="45720" marB="45720" anchor="ctr">
                    <a:solidFill>
                      <a:srgbClr val="0B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Pergunta que responde</a:t>
                      </a:r>
                    </a:p>
                  </a:txBody>
                  <a:tcPr marL="91440" marR="91440" marT="45720" marB="45720" anchor="ctr">
                    <a:solidFill>
                      <a:srgbClr val="0B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Efeito no código</a:t>
                      </a:r>
                    </a:p>
                  </a:txBody>
                  <a:tcPr marL="91440" marR="91440" marT="45720" marB="45720" anchor="ctr">
                    <a:solidFill>
                      <a:srgbClr val="0B4EA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4EA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extends</a:t>
                      </a:r>
                    </a:p>
                  </a:txBody>
                  <a:tcPr marL="91440" marR="91440" marT="45720" marB="4572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que esta classe é?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Herda implementação e estado da classe pai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4EA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implements</a:t>
                      </a:r>
                    </a:p>
                  </a:txBody>
                  <a:tcPr marL="91440" marR="91440" marT="45720" marB="4572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 que esta classe sabe fazer?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Assume um contrato e implementa seus membros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4EA2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@override</a:t>
                      </a:r>
                    </a:p>
                  </a:txBody>
                  <a:tcPr marL="91440" marR="91440" marT="45720" marB="4572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 comportamento será redefinido?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7203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Confirma a substituição de um membro herdado ou exigido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7C4E5-089D-4151-873F-3FE683B5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DE4A-898B-4006-BD83-1F04E48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673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Uma classe pode usar extends e implements ao mesmo tempo.</a:t>
            </a:r>
          </a:p>
        </p:txBody>
      </p:sp>
    </p:spTree>
    <p:extLst>
      <p:ext uri="{BB962C8B-B14F-4D97-AF65-F5344CB8AC3E}">
        <p14:creationId xmlns:p14="http://schemas.microsoft.com/office/powerpoint/2010/main" val="14491645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EF306-26E4-430D-9571-90C3FDA7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C21FE-DFA8-45C1-BC86-FF58162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5FE9A-A451-494C-BF11-B5F0B5FD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Checkpoint conceitual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1FD2E-FE37-43FF-9CFB-BD1D9D93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171d6ef954913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05F34-1350-47F1-8029-E18EB6E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3C1CA-1BDB-4E29-A3C5-41BA6E2B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3D326-92B1-4511-9349-5D8C3157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95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3C072-716B-4CCA-B992-CAF83850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7642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Por que Gerente pode usar nome e salario sem declarar esses atributos novamente?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C0605-217D-4F2C-960B-C78F687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C4B06-C637-4FDD-96D1-704FBA5A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6D9ED-A9DA-4A81-B931-963066F5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95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1BFCF-99F4-4DF5-8D29-09B13D38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7642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Qual método será executado quando uma variável Funcionario aponta para um Vendedor?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41097-5BF7-4F9E-B15B-FE0A6DF3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9C105-534C-498C-A7B6-DB54071F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B137C-CD4C-423F-BE2B-B02A4C8B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95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E877C-087C-4CB9-B4EA-4B368502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76425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Por que Estagiario não pode entrar em uma List&lt;Bonificavel&gt;?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02CAA-121E-42DD-AC62-C588A479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6B223-C073-4901-80ED-0710AF2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6B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C5D67-3AE1-43B1-8D5A-E84A07B5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29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6B0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B6B0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EC1C8-5C6B-45A5-B213-0B050421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Qual é a diferença entre super.exibirInformacoes() e @override?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CB0163-AA8F-4077-882E-2454E60A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3429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CEBE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89DE0-18F9-4402-BFA9-E1B214F1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66675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5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7875D-2822-4D9E-91C4-0FEBF02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64550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F385F-F6CC-4CF1-970F-1D2B3BCA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31432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Uma classe abstrata pode possuir construtor e métodos prontos?</a:t>
            </a:r>
          </a:p>
        </p:txBody>
      </p:sp>
    </p:spTree>
    <p:extLst>
      <p:ext uri="{BB962C8B-B14F-4D97-AF65-F5344CB8AC3E}">
        <p14:creationId xmlns:p14="http://schemas.microsoft.com/office/powerpoint/2010/main" val="17413396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06EC8-7CF8-47E7-B4BB-C16879FC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52EA-4FAB-4AD1-AF58-E270AB4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B8E1A-E6A0-42F2-B3CF-BA4AEE5E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Atividade guiada: sistema de veículos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13249-4F48-4D10-882A-AC2BF9A5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e6e2667cc485c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AADE2-EFC8-4384-AD94-374229E8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Desenvolvimento em duplas · 35 minutos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04D66-ECF9-4296-9BF4-06D1BFC2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00DE4-80FA-4D56-B657-D730390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FAB59-F501-46DC-AD7A-85DEEF8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Classe abstrata Veiculo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38E9A-4260-443A-B60B-5FE2B816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Atributos: modelo e velocidadeMaxima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Método: exibirInformacoes()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Getter abstrato: tipo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A25A8-5192-4091-8951-8A81E197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226F2C-DAAD-474D-8774-35DCDF18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0500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43A7E-B130-4A31-9356-E62C572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19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Subclasses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71211-6DD5-44FD-B5E9-1596719C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0030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Carro: quantidadePortas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Moto: cilindradas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Bicicleta: quantidadeMarchas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CAAE9-23B5-4608-B288-F8797FBA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EB8E0-DB00-4B6C-93FE-81D4E6C2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05000"/>
            <a:ext cx="66675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D0ED8-0C61-474C-A4B2-B8C38621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Interface Eletrico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3DAC9-3C10-4711-97B0-94BE1A9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304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Método: double calcularAutonomia()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Somente Carro e Moto implementam a interface.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C6282-0E4F-433D-AC04-1A188766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D56FB-19DB-4B61-B376-01685834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No main, crie uma List&lt;Veiculo&gt;, percorra a coleção e exiba as informações. Depois, verifique com is Eletrico quais objetos possuem autonomia.</a:t>
            </a:r>
          </a:p>
        </p:txBody>
      </p:sp>
    </p:spTree>
    <p:extLst>
      <p:ext uri="{BB962C8B-B14F-4D97-AF65-F5344CB8AC3E}">
        <p14:creationId xmlns:p14="http://schemas.microsoft.com/office/powerpoint/2010/main" val="17035401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C4396-C582-4115-94D3-BC6FC8F1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E43F9-46AB-422F-A45C-BEB829DB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6168A-33EF-45CF-B6F6-1D294CC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Desafio de análise de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81037-D1F2-4542-AEF6-6141D68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d55b684894c13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F4947-9D4D-44A4-879C-131A250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38250"/>
            <a:ext cx="6191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3FFD8-FDA5-44CF-8502-9F00F217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14450"/>
            <a:ext cx="5962650" cy="432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abstract interface class Autenticavel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bool autenticar(String senha);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class Usuario implements Autenticavel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String nome;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Usuario(this.nome);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void main() {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Autenticavel usuario = Usuario('Pedro');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  print(usuario.autenticar('1234'));</a:t>
            </a:r>
          </a:p>
          <a:p xmlns:a="http://schemas.openxmlformats.org/drawingml/2006/main">
            <a:pPr>
              <a:def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A92B3A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97C6C-6CC8-4807-B606-4D6070D3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AD5EC-B0EA-4F32-A359-645D7E09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FB865-4FCA-40C8-ADD8-2D772E58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543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Pergunta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028AF-DCDB-4E6E-8C3D-B760E161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24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Por que o código não compila?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70667-A138-4866-9973-CF08BD7E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4095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FB6D9-94C9-4799-8FD4-0DD286B0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D2640-69BD-4FDA-A192-BE4FFB0B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813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Pergunta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8DB20-0837-48E5-805A-E993200D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2300"/>
            <a:ext cx="381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Qual método precisa ser criado e em qual classe?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47B1B-6EE6-4C49-8A22-F64A3676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4095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FFD68-95E7-4E56-B90E-174B37AA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3A3B2-A1FA-4F51-9E4B-CDC1C1CE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624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Pergunta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4A638-F8B7-4C7A-BD97-3885CB14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43425"/>
            <a:ext cx="381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Depois da correção, onde aparece o polimorfismo?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16B86-1C25-49B9-8692-EAB9531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53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Correção esperada: Usuario deve implementar autenticar(String senha).</a:t>
            </a:r>
          </a:p>
        </p:txBody>
      </p:sp>
    </p:spTree>
    <p:extLst>
      <p:ext uri="{BB962C8B-B14F-4D97-AF65-F5344CB8AC3E}">
        <p14:creationId xmlns:p14="http://schemas.microsoft.com/office/powerpoint/2010/main" val="9591125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21A21-93F0-4BE8-8773-A277AFD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BD16-16ED-40AF-A75B-F6406789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1950"/>
            <a:ext cx="66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0F37B-F579-4B1B-8097-3DC8133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Revisão para a M1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A2CDF-A31E-4CAF-AF32-971DCDDE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A667A"/>
                </a:solidFill>
                <a:latin typeface="DejaVu Sans"/>
                <a:ea typeface="DejaVu Sans"/>
                <a:cs typeface="DejaVu Sans"/>
              </a:rPr>
              <a:t>DESENVOLVIMENTO DE APLICAÇÕES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0383e83ee4059"/>
          <a:stretch xmlns:a="http://schemas.openxmlformats.org/drawingml/2006/main"/>
        </p:blipFill>
        <p:spPr>
          <a:xfrm xmlns:a="http://schemas.openxmlformats.org/drawingml/2006/main">
            <a:off x="10646019" y="190500"/>
            <a:ext cx="977412" cy="552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59BD8-F91D-4192-9A37-59D2FDEF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8658F-4260-4ABC-9A5B-FB20CEE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6675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E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E41F8-5C5E-4759-AA37-DB2A2541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Herança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52C5A-6A9E-47DA-A61B-C6F1DD9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24050"/>
            <a:ext cx="30480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extends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Classe pai e classe filha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Construtor super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Reutilização de membros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FF8E8-0594-455D-8EB8-4A9249C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9EAF8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C4744-6F69-4B6B-8C3D-FD3A7A13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66675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49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72430-C4DB-419F-A788-01F41B92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43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53494"/>
                </a:solidFill>
                <a:latin typeface="DejaVu Sans"/>
                <a:ea typeface="DejaVu Sans"/>
                <a:cs typeface="DejaVu Sans"/>
              </a:rPr>
              <a:t>Polimorfismo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AA07-96BE-4DAA-B585-09280261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24050"/>
            <a:ext cx="30480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Referência do tipo pai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Método sobrescrito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Objeto real define o comportamento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Coleções de tipos gerais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AD2F8-E0BC-42C6-9237-4AFFD6D5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333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E2F35-77BD-46A5-80B9-BA937AFE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66675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3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4AA47-3076-450A-9825-6D1DCDC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43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6835B"/>
                </a:solidFill>
                <a:latin typeface="DejaVu Sans"/>
                <a:ea typeface="DejaVu Sans"/>
                <a:cs typeface="DejaVu Sans"/>
              </a:rPr>
              <a:t>Interfaces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83B3E-0F01-4B9B-80EF-B6EE249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24050"/>
            <a:ext cx="30480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Contrato com implements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Implementação obrigatória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Capacidades compartilhadas</a:t>
            </a:r>
          </a:p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Polimorfismo pela interface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A3736-903E-4B25-B3F6-ED14402F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9334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2C6"/>
          </a:solidFill>
          <a:ln xmlns:a="http://schemas.openxmlformats.org/drawingml/2006/main" w="9525">
            <a:solidFill>
              <a:srgbClr val="E8C8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44E58-B5AC-49D8-926D-3EA9D204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76775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6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2033"/>
                </a:solidFill>
                <a:latin typeface="DejaVu Sans"/>
                <a:ea typeface="DejaVu Sans"/>
                <a:cs typeface="DejaVu Sans"/>
              </a:rPr>
              <a:t>Para a prova, pratique leitura de código: identifique a classe pai, as subclasses, os métodos sobrescritos, os contratos implementados e o resultado das chamadas.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E50C3-6639-4F8E-8C57-EE79524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9531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EA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4EA2"/>
                </a:solidFill>
                <a:latin typeface="DejaVu Sans"/>
                <a:ea typeface="DejaVu Sans"/>
                <a:cs typeface="DejaVu Sans"/>
              </a:rPr>
              <a:t>Próxima aula: Avaliação M1</a:t>
            </a:r>
          </a:p>
        </p:txBody>
      </p:sp>
    </p:spTree>
    <p:extLst>
      <p:ext uri="{BB962C8B-B14F-4D97-AF65-F5344CB8AC3E}">
        <p14:creationId xmlns:p14="http://schemas.microsoft.com/office/powerpoint/2010/main" val="690766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2026-09-18T23:19:12.6500000Z</dcterms:created>
  <dcterms:modified xsi:type="dcterms:W3CDTF">2026-09-18T23:19:12.6500000Z</dcterms:modified>
</coreProperties>
</file>