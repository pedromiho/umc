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80" r:id="rId16"/>
    <p:sldId id="281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embeddedFontLst>
    <p:embeddedFont>
      <p:font typeface="Inter" panose="020B0604020202020204" charset="0"/>
      <p:regular r:id="rId28"/>
    </p:embeddedFont>
  </p:embeddedFont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compreender uma requisição HTTP e consumir uma lista de filmes. Apresente cada conceito antes de digitar o respectivo trecho. Material baseado no conteúdo e no código fornecidos pelo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Comece sem código. Pergunte: de onde vêm os filmes de um aplicativo? Explique que vamos solicitar uma lista já disponível em uma API, sem acessar diretamente seu banco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URL é o endereço representado como texto. Uri.parse interpreta esse texto e cria um objeto Uri, que a função get do package:http recebe. Não acessa a internet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executar, inclua package:http nas dependências: dart pub add http. Os trechos usam a mesma URL de filmes fornecida pelo professor. Explique a expressão de dentro para fora. O primeiro trecho demonstra Future; ainda não mostramos os dados.</a:t>
            </a:r>
          </a:p>
          <a:p>
            <a:r>
              <a:t>URL usada na aula: https://gist.githubusercontent.com/PedroMiho/5b42ec98845fe76c4ab6f6143d9af730/raw/51b41097a936ac411f95a4b915fad400f9b8db63/filmes.json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Future&lt;Response&gt; descreve um resultado futuro cujo valor, em caso de conclusão com sucesso, será um Response. Future também pode concluir com erro. O Response só representa a resposta HTTP recebida, não garante sucesso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Diferencie o erro de rede, que pode completar o Future com erro, de um status HTTP como 404 ou 500, que pode vir em um Response normalmente. Body é texto, mesmo quando contém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função anônima passada para then é um callback. Ela executa quando o Future conclui com valor. Não executa esse callback de sucesso se houver erro no Future. Por enquanto, explique sucesso; tratamento de erros aparece ao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Leia o trecho em voz alta: quando futureResponse concluir com sucesso, receba a resposta em response e mostre o body. Response é o tipo; response é o parâmetro.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JSON é um formato de texto para troca de dados. json é a instância de JsonCodec disponibilizada por dart:convert. decode interpreta JSON e pode retornar lista, mapa, número, booleano, string ou null, conforme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lista só é adequada se a raiz do JSON for um array. json.decode retorna dynamic; List&lt;dynamic&gt; declara o tipo da variável. No exemplo simplificado, assumimos uma resposta com o formato esperado.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o mesmo JSON no quadro. A lista contém os filmes em posições, iniciando em zero. Cada filme é um mapa cujas chaves são String, com valores de tipos variados. dynamic permite acessos sem verificação estática completa. listaProdutos foi renomeada para listaFilmes para refletir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Percorra a lista conceitualmente. Avatar atende à condição? Não. Interestelar atende? Sim. A busca retorna o primeiro item correspondente. A comparação de String diferencia maiúsculas e minúsculas. Se não houver correspondência e orElse não for informado, lança StateError.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operador =&gt; escreve uma função com uma única expressão e retorna o resultado dessa expressão. Aqui ela deve retornar bool. Mostre a forma longa: (filme) { return filme["titulo"] == "Interestelar"; }. O valor 169 é o resultado do JSON ilustrativo, sem consultar a API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analogia culinária. Síncrono: espera o ovo cozinhar para só então picar legumes. Assíncrono: inicia o cozimento e aproveita a espera para picar. Descascar depende de o ovo estar pronto. Assíncrono não significa necessariamente paralelo, nem elimina dependências.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depois de then executa no fluxo atual antes do callback de uma requisição HTTP. Pergunte qual mensagem aparecerá primeiro antes de revelar a resposta. Não diga que o último print do código é a última coisa a acontecer.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async permite await no corpo da função, cujas operações podem ser suspensas e retomadas. await aguarda a conclusão do Future e obtém seu valor, ou propaga o erro. Ele pausa a função atual, não toda a aplicação. Use Future&lt;void&gt; nos métodos sem valor de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Neste trecho, url é a variável com a mesma URL usada anteriormente. Primeiro aguardamos a resposta, depois convertemos o body. A lista deve conter pelo menos um item para acessar [0]. O último print executa depois desses passos dentro da função.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duas formas usam Future e são assíncronas. then registra um callback e retorna outro Future. await permite escrever a continuação em seguida na função async. Não descreva await como transformar a requisição em síncrona.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await da função chamada não pausa automaticamente quem a chamou. No código original, main chama requestDataAsync sem aguardar. Para que instruções posteriores de main dependam da conclusão, aguarde o Future retornado. Não afirme que o processo Dart necessariamente encerra sem await: operações de I/O pendentes podem manter o event loop 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Recapitule sem repetir todo o código: preparar o endereço, enviar GET, obter Response, interpretar JSON, procurar o filme e mostrar duração. Neste exemplo, validação de status e erros pode ser acrescentada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exemplos anteriores pressupõem conexão disponível, status HTTP adequado e JSON no formato esperado. Em uma aplicação real: capture falhas de rede com try/catch ou catchError; confira o status antes de interpretar; valide o formato e se a lista tem itens; trate a ausência de filme na busca. Não use orElse retornando null se o tipo não permitir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Proposta de prática após a exposição. Peça uma previsão da saída antes da execução. Use o código fornecido como base. Evite executar as duas funções de requisição ao mesmo tempo na primeira demonstração, pois isso pode confundir a ordem das saídas.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1AC01189-FB59-4B96-B959-10BE3A25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Clique para editar o título Mestre</a:t>
            </a:r>
          </a:p>
        </p:txBody>
      </p:sp>
      <p:sp>
        <p:nvSpPr>
          <p:cNvPr id="15" name="Google Shape;15;p2">
            <a:extLst>
              <a:ext uri="{FF2B5EF4-FFF2-40B4-BE49-F238E27FC236}">
                <a16:creationId xmlns:a16="http://schemas.microsoft.com/office/drawing/2014/main" id="{FE91E68C-1CDA-45C2-A985-19CF65E9E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r>
              <a:t>Clique para editar o estilo do subtítulo Mestre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228600" indent="-228600" algn="l" defTabSz="914400">
              <a:lnSpc>
                <a:spcPct val="150000"/>
              </a:lnSpc>
              <a:spcBef>
                <a:spcPts val="1000"/>
              </a:spcBef>
              <a:buFont typeface="Arial"/>
              <a:buNone/>
              <a:defRPr sz="2800" kern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>
              <a:lnSpc>
                <a:spcPct val="15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 algn="l"/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fld id="{F81AA659-8FD3-461F-8FBC-BDBF8F913D9D}" type="datetimeFigureOut">
              <a:t>26/10/2026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 algn="l"/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defPPr algn="l"/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fld id="{950E8CF1-C835-4717-86DC-68B0F0260540}" type="slidenum">
              <a:t>‹nº›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>
            <a:extLst>
              <a:ext uri="{FF2B5EF4-FFF2-40B4-BE49-F238E27FC236}">
                <a16:creationId xmlns:a16="http://schemas.microsoft.com/office/drawing/2014/main" id="{0B040685-576C-4090-83E5-34FDCD29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Clique para editar o título Mestre</a:t>
            </a:r>
          </a:p>
        </p:txBody>
      </p:sp>
      <p:sp>
        <p:nvSpPr>
          <p:cNvPr id="21" name="Google Shape;21;p4">
            <a:extLst>
              <a:ext uri="{FF2B5EF4-FFF2-40B4-BE49-F238E27FC236}">
                <a16:creationId xmlns:a16="http://schemas.microsoft.com/office/drawing/2014/main" id="{B7F75FE6-505F-40DF-8D5E-03B0DE32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22" name="Google Shape;22;p4">
            <a:extLst>
              <a:ext uri="{FF2B5EF4-FFF2-40B4-BE49-F238E27FC236}">
                <a16:creationId xmlns:a16="http://schemas.microsoft.com/office/drawing/2014/main" id="{4DEF0DCB-4582-4621-95E0-975AB362590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FC3BBD37-BB01-4055-A692-19F6896A434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A4AE3662-7CC6-411F-B139-44EE37033B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>
            <a:extLst>
              <a:ext uri="{FF2B5EF4-FFF2-40B4-BE49-F238E27FC236}">
                <a16:creationId xmlns:a16="http://schemas.microsoft.com/office/drawing/2014/main" id="{6360C658-94DE-415F-9B61-E8008A02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Clique para editar o título Mestre</a:t>
            </a:r>
          </a:p>
        </p:txBody>
      </p:sp>
      <p:sp>
        <p:nvSpPr>
          <p:cNvPr id="27" name="Google Shape;27;p5">
            <a:extLst>
              <a:ext uri="{FF2B5EF4-FFF2-40B4-BE49-F238E27FC236}">
                <a16:creationId xmlns:a16="http://schemas.microsoft.com/office/drawing/2014/main" id="{1194C77B-F2B0-49E7-8913-C4F3A3E4A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39983DCC-AAFB-4F83-8ABC-EACE4649F1E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11C28B16-DC31-4C46-9B5B-6453B869BCA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21F67F04-905E-4C2A-BA36-D2B8CD57E4A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ACE95E7E-B1F9-4D63-B5C6-A46EB51099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‹nº›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>
            <a:extLst>
              <a:ext uri="{FF2B5EF4-FFF2-40B4-BE49-F238E27FC236}">
                <a16:creationId xmlns:a16="http://schemas.microsoft.com/office/drawing/2014/main" id="{6FAF8417-FBA7-4899-8670-CB36512C0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Clique para editar o título Mestre</a:t>
            </a:r>
          </a:p>
        </p:txBody>
      </p:sp>
      <p:sp>
        <p:nvSpPr>
          <p:cNvPr id="34" name="Google Shape;34;p6">
            <a:extLst>
              <a:ext uri="{FF2B5EF4-FFF2-40B4-BE49-F238E27FC236}">
                <a16:creationId xmlns:a16="http://schemas.microsoft.com/office/drawing/2014/main" id="{B9F941B1-2770-40A0-80C8-2AC09F944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7F1C1883-802F-4152-9023-52AFF4383F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881AF57F-7862-42E3-B1EF-12792DD8414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25F93387-ECAF-4F0E-9334-17593C4F3D2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38" name="Google Shape;38;p6">
            <a:extLst>
              <a:ext uri="{FF2B5EF4-FFF2-40B4-BE49-F238E27FC236}">
                <a16:creationId xmlns:a16="http://schemas.microsoft.com/office/drawing/2014/main" id="{01029219-E268-40A0-98AC-4ED15203635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Google Shape;39;p6">
            <a:extLst>
              <a:ext uri="{FF2B5EF4-FFF2-40B4-BE49-F238E27FC236}">
                <a16:creationId xmlns:a16="http://schemas.microsoft.com/office/drawing/2014/main" id="{A10A405B-2B6C-44E3-B37C-ACDF0F36374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Google Shape;40;p6">
            <a:extLst>
              <a:ext uri="{FF2B5EF4-FFF2-40B4-BE49-F238E27FC236}">
                <a16:creationId xmlns:a16="http://schemas.microsoft.com/office/drawing/2014/main" id="{D75F3E53-6457-41B7-A299-3F75003E00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fld id="{00000000-1234-1234-1234-123412341234}" type="slidenum">
              <a:t>‹nº›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>
            <a:extLst>
              <a:ext uri="{FF2B5EF4-FFF2-40B4-BE49-F238E27FC236}">
                <a16:creationId xmlns:a16="http://schemas.microsoft.com/office/drawing/2014/main" id="{E32EACFB-A73B-4B4A-91B9-0283831F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Clique para editar o título Mestre</a:t>
            </a:r>
          </a:p>
        </p:txBody>
      </p:sp>
      <p:sp>
        <p:nvSpPr>
          <p:cNvPr id="43" name="Google Shape;43;p7">
            <a:extLst>
              <a:ext uri="{FF2B5EF4-FFF2-40B4-BE49-F238E27FC236}">
                <a16:creationId xmlns:a16="http://schemas.microsoft.com/office/drawing/2014/main" id="{4481C497-CFFE-40EC-95FF-9D43CE33310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0899A736-4705-4CAE-992A-84DE1CA824F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5" name="Google Shape;45;p7">
            <a:extLst>
              <a:ext uri="{FF2B5EF4-FFF2-40B4-BE49-F238E27FC236}">
                <a16:creationId xmlns:a16="http://schemas.microsoft.com/office/drawing/2014/main" id="{A5948E2D-C57C-4E58-AF9E-563547B8BF5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>
            <a:extLst>
              <a:ext uri="{FF2B5EF4-FFF2-40B4-BE49-F238E27FC236}">
                <a16:creationId xmlns:a16="http://schemas.microsoft.com/office/drawing/2014/main" id="{0793C9F7-B4E9-4EE2-81C4-6A4DBA3B33D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8" name="Google Shape;48;p8">
            <a:extLst>
              <a:ext uri="{FF2B5EF4-FFF2-40B4-BE49-F238E27FC236}">
                <a16:creationId xmlns:a16="http://schemas.microsoft.com/office/drawing/2014/main" id="{DFD695DD-B777-49EE-A1F6-77CE1C0EBE3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49" name="Google Shape;49;p8">
            <a:extLst>
              <a:ext uri="{FF2B5EF4-FFF2-40B4-BE49-F238E27FC236}">
                <a16:creationId xmlns:a16="http://schemas.microsoft.com/office/drawing/2014/main" id="{48EF7D38-D7C8-4957-BACE-2680C5697B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>
            <a:extLst>
              <a:ext uri="{FF2B5EF4-FFF2-40B4-BE49-F238E27FC236}">
                <a16:creationId xmlns:a16="http://schemas.microsoft.com/office/drawing/2014/main" id="{381100B5-57F0-4D3A-B5D9-344655F5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t>Clique para editar o título Mestre</a:t>
            </a:r>
          </a:p>
        </p:txBody>
      </p:sp>
      <p:sp>
        <p:nvSpPr>
          <p:cNvPr id="52" name="Google Shape;52;p9">
            <a:extLst>
              <a:ext uri="{FF2B5EF4-FFF2-40B4-BE49-F238E27FC236}">
                <a16:creationId xmlns:a16="http://schemas.microsoft.com/office/drawing/2014/main" id="{06B78317-48A1-46D4-A06A-B45985831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32EB6549-6ADF-43CE-AD17-DF17295C76B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457200" marR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4" name="Google Shape;54;p9">
            <a:extLst>
              <a:ext uri="{FF2B5EF4-FFF2-40B4-BE49-F238E27FC236}">
                <a16:creationId xmlns:a16="http://schemas.microsoft.com/office/drawing/2014/main" id="{C9D059ED-06F3-41B5-B6EE-710A4EE69D4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70399A69-385E-4105-B3B9-9B2E0D398C9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56" name="Google Shape;56;p9">
            <a:extLst>
              <a:ext uri="{FF2B5EF4-FFF2-40B4-BE49-F238E27FC236}">
                <a16:creationId xmlns:a16="http://schemas.microsoft.com/office/drawing/2014/main" id="{1711EEED-056C-480A-A76B-13D404F266F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>
            <a:lvl1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0" marR="0" indent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>
            <a:extLst>
              <a:ext uri="{FF2B5EF4-FFF2-40B4-BE49-F238E27FC236}">
                <a16:creationId xmlns:a16="http://schemas.microsoft.com/office/drawing/2014/main" id="{82E23F30-F96E-49A6-BF5F-530DD7AADDD8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ln w="9525" cap="flat" cmpd="sng">
            <a:solidFill>
              <a:srgbClr val="292A86"/>
            </a:solidFill>
            <a:prstDash val="solid"/>
            <a:round/>
          </a:ln>
        </p:spPr>
      </p:pic>
      <p:pic>
        <p:nvPicPr>
          <p:cNvPr id="11" name="Google Shape;11;p1">
            <a:extLst>
              <a:ext uri="{FF2B5EF4-FFF2-40B4-BE49-F238E27FC236}">
                <a16:creationId xmlns:a16="http://schemas.microsoft.com/office/drawing/2014/main" id="{F0A9527C-4F58-4792-869B-34585CB0C51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ln>
            <a:noFill/>
          </a:ln>
        </p:spPr>
      </p:pic>
      <p:pic>
        <p:nvPicPr>
          <p:cNvPr id="12" name="Google Shape;12;p1">
            <a:extLst>
              <a:ext uri="{FF2B5EF4-FFF2-40B4-BE49-F238E27FC236}">
                <a16:creationId xmlns:a16="http://schemas.microsoft.com/office/drawing/2014/main" id="{A7FA70D7-D149-4FBF-9437-52FF0E5FF9D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0" tIns="0" rIns="0" bIns="0"/>
          <a:lstStyle>
            <a:def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35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Requisições de API</a:t>
            </a:r>
          </a:p>
          <a:p>
            <a:pPr algn="ctr">
              <a:defRPr sz="435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35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Dart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0" tIns="0" rIns="0" bIns="0"/>
          <a:lstStyle>
            <a:def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40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">
            <a:extLst>
              <a:ext uri="{FF2B5EF4-FFF2-40B4-BE49-F238E27FC236}">
                <a16:creationId xmlns:a16="http://schemas.microsoft.com/office/drawing/2014/main" id="{2463FC08-31E0-40D6-981F-6F48FFD27CE9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aplicação conversando com uma API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081DCB53-2997-4BA9-B712-C4415C971B89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30BA4ABC-60B6-4001-B870-889ACF9F373F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aplicação pede os filmes. A API devolve uma resposta.</a:t>
            </a:r>
          </a:p>
        </p:txBody>
      </p:sp>
      <p:sp>
        <p:nvSpPr>
          <p:cNvPr id="4" name="surface-4">
            <a:extLst>
              <a:ext uri="{FF2B5EF4-FFF2-40B4-BE49-F238E27FC236}">
                <a16:creationId xmlns:a16="http://schemas.microsoft.com/office/drawing/2014/main" id="{9A04A4AC-807B-4A33-A881-DE5680E9C4D8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C5BBE1C1-AA14-4E42-8AD9-826C07748340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Aplicação Dart</a:t>
            </a:r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D767BCE8-1C14-4815-ADD9-E5DA35FD31A2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Envia uma requisição GET.</a:t>
            </a:r>
          </a:p>
        </p:txBody>
      </p:sp>
      <p:sp>
        <p:nvSpPr>
          <p:cNvPr id="7" name="surface-7">
            <a:extLst>
              <a:ext uri="{FF2B5EF4-FFF2-40B4-BE49-F238E27FC236}">
                <a16:creationId xmlns:a16="http://schemas.microsoft.com/office/drawing/2014/main" id="{982BB7BF-7EC8-47AC-B36F-42569685BA69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117597A4-FAD0-4159-8811-B9BABDB54D9D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de filmes</a:t>
            </a:r>
          </a:p>
        </p:txBody>
      </p:sp>
      <p:sp>
        <p:nvSpPr>
          <p:cNvPr id="9" name="text-9">
            <a:extLst>
              <a:ext uri="{FF2B5EF4-FFF2-40B4-BE49-F238E27FC236}">
                <a16:creationId xmlns:a16="http://schemas.microsoft.com/office/drawing/2014/main" id="{ED0742E0-7943-4D9D-BCB0-1D879BB62FC0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Devolve status, cabeçalhos e conteúdo.</a:t>
            </a:r>
          </a:p>
        </p:txBody>
      </p:sp>
      <p:sp>
        <p:nvSpPr>
          <p:cNvPr id="10" name="surface-10">
            <a:extLst>
              <a:ext uri="{FF2B5EF4-FFF2-40B4-BE49-F238E27FC236}">
                <a16:creationId xmlns:a16="http://schemas.microsoft.com/office/drawing/2014/main" id="{7A338718-B718-4F2C-BDCE-009350E9296B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B6D3B00D-68E6-4CBF-8326-7A8403A64C0F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Nossa tarefa: buscar os filmes e encontrar “Interestelar”.</a:t>
            </a:r>
          </a:p>
        </p:txBody>
      </p:sp>
    </p:spTree>
    <p:extLst>
      <p:ext uri="{BB962C8B-B14F-4D97-AF65-F5344CB8AC3E}">
        <p14:creationId xmlns:p14="http://schemas.microsoft.com/office/powerpoint/2010/main" val="28958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2">
            <a:extLst>
              <a:ext uri="{FF2B5EF4-FFF2-40B4-BE49-F238E27FC236}">
                <a16:creationId xmlns:a16="http://schemas.microsoft.com/office/drawing/2014/main" id="{B1CE9326-B761-4344-AB19-C5D2A875E192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Uri.parse(url)</a:t>
            </a:r>
          </a:p>
        </p:txBody>
      </p:sp>
      <p:sp>
        <p:nvSpPr>
          <p:cNvPr id="2" name="text-13">
            <a:extLst>
              <a:ext uri="{FF2B5EF4-FFF2-40B4-BE49-F238E27FC236}">
                <a16:creationId xmlns:a16="http://schemas.microsoft.com/office/drawing/2014/main" id="{C6C579BF-D82B-4D28-94C8-25D109C8A44C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3" name="text-14">
            <a:extLst>
              <a:ext uri="{FF2B5EF4-FFF2-40B4-BE49-F238E27FC236}">
                <a16:creationId xmlns:a16="http://schemas.microsoft.com/office/drawing/2014/main" id="{14B468A2-B586-4C78-80A6-A274D5722A6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endereço começa como texto. A requisição recebe um Uri.</a:t>
            </a:r>
          </a:p>
        </p:txBody>
      </p:sp>
      <p:sp>
        <p:nvSpPr>
          <p:cNvPr id="4" name="surface-15">
            <a:extLst>
              <a:ext uri="{FF2B5EF4-FFF2-40B4-BE49-F238E27FC236}">
                <a16:creationId xmlns:a16="http://schemas.microsoft.com/office/drawing/2014/main" id="{5C55607B-642C-4550-AF68-A85411F4BEDD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16">
            <a:extLst>
              <a:ext uri="{FF2B5EF4-FFF2-40B4-BE49-F238E27FC236}">
                <a16:creationId xmlns:a16="http://schemas.microsoft.com/office/drawing/2014/main" id="{AC6CD5B6-0B76-4908-9FE4-AA871A8237F2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</p:txBody>
      </p:sp>
      <p:sp>
        <p:nvSpPr>
          <p:cNvPr id="6" name="text-17">
            <a:extLst>
              <a:ext uri="{FF2B5EF4-FFF2-40B4-BE49-F238E27FC236}">
                <a16:creationId xmlns:a16="http://schemas.microsoft.com/office/drawing/2014/main" id="{E53F6DEF-8DF1-4A2C-B55E-A7FC53D39048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"https://exemplo.com/filmes"</a:t>
            </a:r>
          </a:p>
        </p:txBody>
      </p:sp>
      <p:sp>
        <p:nvSpPr>
          <p:cNvPr id="7" name="surface-18">
            <a:extLst>
              <a:ext uri="{FF2B5EF4-FFF2-40B4-BE49-F238E27FC236}">
                <a16:creationId xmlns:a16="http://schemas.microsoft.com/office/drawing/2014/main" id="{012B663A-0B82-4ED7-A0A0-39A4EA112591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19">
            <a:extLst>
              <a:ext uri="{FF2B5EF4-FFF2-40B4-BE49-F238E27FC236}">
                <a16:creationId xmlns:a16="http://schemas.microsoft.com/office/drawing/2014/main" id="{D0E5260F-3EB5-4301-BB7F-5C6949F5B124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</a:p>
        </p:txBody>
      </p:sp>
      <p:sp>
        <p:nvSpPr>
          <p:cNvPr id="9" name="text-20">
            <a:extLst>
              <a:ext uri="{FF2B5EF4-FFF2-40B4-BE49-F238E27FC236}">
                <a16:creationId xmlns:a16="http://schemas.microsoft.com/office/drawing/2014/main" id="{BD77FDC7-5B7B-4BC1-8BB6-5DF606F95C32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Uri.parse(url)</a:t>
            </a:r>
          </a:p>
        </p:txBody>
      </p:sp>
      <p:sp>
        <p:nvSpPr>
          <p:cNvPr id="10" name="surface-21">
            <a:extLst>
              <a:ext uri="{FF2B5EF4-FFF2-40B4-BE49-F238E27FC236}">
                <a16:creationId xmlns:a16="http://schemas.microsoft.com/office/drawing/2014/main" id="{46FC381C-14AB-40E5-858C-F9E17208A8BC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22">
            <a:extLst>
              <a:ext uri="{FF2B5EF4-FFF2-40B4-BE49-F238E27FC236}">
                <a16:creationId xmlns:a16="http://schemas.microsoft.com/office/drawing/2014/main" id="{A521B5E1-5CF9-4831-81A0-BFC6A25C566E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Uri.parse() prepara o endereço. get() envia a requisição.</a:t>
            </a:r>
          </a:p>
        </p:txBody>
      </p:sp>
    </p:spTree>
    <p:extLst>
      <p:ext uri="{BB962C8B-B14F-4D97-AF65-F5344CB8AC3E}">
        <p14:creationId xmlns:p14="http://schemas.microsoft.com/office/powerpoint/2010/main" val="107033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23">
            <a:extLst>
              <a:ext uri="{FF2B5EF4-FFF2-40B4-BE49-F238E27FC236}">
                <a16:creationId xmlns:a16="http://schemas.microsoft.com/office/drawing/2014/main" id="{7E0CECB2-7BC9-43E6-A763-12967A25732E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prática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iniciando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requisição</a:t>
            </a:r>
            <a:endParaRPr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-24">
            <a:extLst>
              <a:ext uri="{FF2B5EF4-FFF2-40B4-BE49-F238E27FC236}">
                <a16:creationId xmlns:a16="http://schemas.microsoft.com/office/drawing/2014/main" id="{14BC77B4-B5CA-4266-A14F-A9033E64042B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text-25">
            <a:extLst>
              <a:ext uri="{FF2B5EF4-FFF2-40B4-BE49-F238E27FC236}">
                <a16:creationId xmlns:a16="http://schemas.microsoft.com/office/drawing/2014/main" id="{678C86FB-41C1-400A-96E2-68A2DA0BDAF1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Cada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parte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responsabilidade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urface-26">
            <a:extLst>
              <a:ext uri="{FF2B5EF4-FFF2-40B4-BE49-F238E27FC236}">
                <a16:creationId xmlns:a16="http://schemas.microsoft.com/office/drawing/2014/main" id="{622F991D-FD47-4B42-A1BD-CD9FEDAD5FD5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10687050" cy="2190750"/>
          </a:xfrm>
          <a:prstGeom prst="roundRect">
            <a:avLst>
              <a:gd name="adj" fmla="val 6957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-27">
            <a:extLst>
              <a:ext uri="{FF2B5EF4-FFF2-40B4-BE49-F238E27FC236}">
                <a16:creationId xmlns:a16="http://schemas.microsoft.com/office/drawing/2014/main" id="{C66687BA-79A6-4A49-B933-3D07657B62E4}"/>
              </a:ext>
            </a:extLst>
          </p:cNvPr>
          <p:cNvSpPr>
            <a:spLocks noGrp="1"/>
          </p:cNvSpPr>
          <p:nvPr/>
        </p:nvSpPr>
        <p:spPr>
          <a:xfrm>
            <a:off x="1000125" y="2590800"/>
            <a:ext cx="1028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import 'package:http/http.dart';</a:t>
            </a:r>
          </a:p>
          <a:p>
            <a:endParaRPr sz="2100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Future&lt;Response&gt; futureResponse =</a:t>
            </a:r>
          </a:p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  get(Uri.parse(url));</a:t>
            </a:r>
          </a:p>
        </p:txBody>
      </p:sp>
      <p:sp>
        <p:nvSpPr>
          <p:cNvPr id="6" name="surface-28">
            <a:extLst>
              <a:ext uri="{FF2B5EF4-FFF2-40B4-BE49-F238E27FC236}">
                <a16:creationId xmlns:a16="http://schemas.microsoft.com/office/drawing/2014/main" id="{BC47AB05-F4AF-41B8-8847-C051949CCFAD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-29">
            <a:extLst>
              <a:ext uri="{FF2B5EF4-FFF2-40B4-BE49-F238E27FC236}">
                <a16:creationId xmlns:a16="http://schemas.microsoft.com/office/drawing/2014/main" id="{533667EE-2493-4A14-BEEC-E82C14378DAD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print(get(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Uri.parse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)))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imprime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Future,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não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976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0">
            <a:extLst>
              <a:ext uri="{FF2B5EF4-FFF2-40B4-BE49-F238E27FC236}">
                <a16:creationId xmlns:a16="http://schemas.microsoft.com/office/drawing/2014/main" id="{79B56E7C-C664-48F1-9DFF-12712F3F79A3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Future e Response</a:t>
            </a:r>
          </a:p>
        </p:txBody>
      </p:sp>
      <p:sp>
        <p:nvSpPr>
          <p:cNvPr id="2" name="text-31">
            <a:extLst>
              <a:ext uri="{FF2B5EF4-FFF2-40B4-BE49-F238E27FC236}">
                <a16:creationId xmlns:a16="http://schemas.microsoft.com/office/drawing/2014/main" id="{DDD07157-9F8D-45FA-9633-F079F07B7D2D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3" name="text-32">
            <a:extLst>
              <a:ext uri="{FF2B5EF4-FFF2-40B4-BE49-F238E27FC236}">
                <a16:creationId xmlns:a16="http://schemas.microsoft.com/office/drawing/2014/main" id="{FF08DF46-6AC9-440A-BF52-95B87EF167A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Pense em um pedido de restaurante.</a:t>
            </a:r>
          </a:p>
        </p:txBody>
      </p:sp>
      <p:sp>
        <p:nvSpPr>
          <p:cNvPr id="4" name="surface-33">
            <a:extLst>
              <a:ext uri="{FF2B5EF4-FFF2-40B4-BE49-F238E27FC236}">
                <a16:creationId xmlns:a16="http://schemas.microsoft.com/office/drawing/2014/main" id="{0F6A641A-3666-4120-9801-DF51A577A69D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34">
            <a:extLst>
              <a:ext uri="{FF2B5EF4-FFF2-40B4-BE49-F238E27FC236}">
                <a16:creationId xmlns:a16="http://schemas.microsoft.com/office/drawing/2014/main" id="{0DC7C2DD-436C-4A5B-8A67-6ACC1196FBB6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Future&lt;Response&gt;</a:t>
            </a:r>
          </a:p>
        </p:txBody>
      </p:sp>
      <p:sp>
        <p:nvSpPr>
          <p:cNvPr id="6" name="text-35">
            <a:extLst>
              <a:ext uri="{FF2B5EF4-FFF2-40B4-BE49-F238E27FC236}">
                <a16:creationId xmlns:a16="http://schemas.microsoft.com/office/drawing/2014/main" id="{B1161920-50C6-4827-90B1-6D7DD58356C4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pedido está em andamento.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 concluir com resposta ou erro.</a:t>
            </a:r>
          </a:p>
        </p:txBody>
      </p:sp>
      <p:sp>
        <p:nvSpPr>
          <p:cNvPr id="7" name="surface-36">
            <a:extLst>
              <a:ext uri="{FF2B5EF4-FFF2-40B4-BE49-F238E27FC236}">
                <a16:creationId xmlns:a16="http://schemas.microsoft.com/office/drawing/2014/main" id="{60B364A2-E8CB-438C-BC28-95003A3E5B6C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37">
            <a:extLst>
              <a:ext uri="{FF2B5EF4-FFF2-40B4-BE49-F238E27FC236}">
                <a16:creationId xmlns:a16="http://schemas.microsoft.com/office/drawing/2014/main" id="{DBBBF545-39D3-4EA4-AA8B-1396D28C7C4C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p:sp>
        <p:nvSpPr>
          <p:cNvPr id="9" name="text-38">
            <a:extLst>
              <a:ext uri="{FF2B5EF4-FFF2-40B4-BE49-F238E27FC236}">
                <a16:creationId xmlns:a16="http://schemas.microsoft.com/office/drawing/2014/main" id="{B44D1B75-83D7-4AD2-B040-D59779E062C0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resposta chegou.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Agora podemos ler seu conteúdo.</a:t>
            </a:r>
          </a:p>
        </p:txBody>
      </p:sp>
      <p:sp>
        <p:nvSpPr>
          <p:cNvPr id="10" name="surface-39">
            <a:extLst>
              <a:ext uri="{FF2B5EF4-FFF2-40B4-BE49-F238E27FC236}">
                <a16:creationId xmlns:a16="http://schemas.microsoft.com/office/drawing/2014/main" id="{8AA239C9-A635-4EA8-BA98-23BE2616E8FC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40">
            <a:extLst>
              <a:ext uri="{FF2B5EF4-FFF2-40B4-BE49-F238E27FC236}">
                <a16:creationId xmlns:a16="http://schemas.microsoft.com/office/drawing/2014/main" id="{1A403691-2585-4248-8F6F-2520396161BE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representa o resultado pendente. Response contém a resposta.</a:t>
            </a:r>
          </a:p>
        </p:txBody>
      </p:sp>
    </p:spTree>
    <p:extLst>
      <p:ext uri="{BB962C8B-B14F-4D97-AF65-F5344CB8AC3E}">
        <p14:creationId xmlns:p14="http://schemas.microsoft.com/office/powerpoint/2010/main" val="118666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41">
            <a:extLst>
              <a:ext uri="{FF2B5EF4-FFF2-40B4-BE49-F238E27FC236}">
                <a16:creationId xmlns:a16="http://schemas.microsoft.com/office/drawing/2014/main" id="{82F6DC75-FB43-4B5E-891C-09EB98478C44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que existe em um Response?</a:t>
            </a:r>
          </a:p>
        </p:txBody>
      </p:sp>
      <p:sp>
        <p:nvSpPr>
          <p:cNvPr id="2" name="text-42">
            <a:extLst>
              <a:ext uri="{FF2B5EF4-FFF2-40B4-BE49-F238E27FC236}">
                <a16:creationId xmlns:a16="http://schemas.microsoft.com/office/drawing/2014/main" id="{8A90C0A7-0717-4E5D-A532-4930C6170F2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3" name="text-43">
            <a:extLst>
              <a:ext uri="{FF2B5EF4-FFF2-40B4-BE49-F238E27FC236}">
                <a16:creationId xmlns:a16="http://schemas.microsoft.com/office/drawing/2014/main" id="{E4A3015C-7D04-4E8D-A004-2449AF22CC7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resposta traz mais do que os dados.</a:t>
            </a:r>
          </a:p>
        </p:txBody>
      </p:sp>
      <p:sp>
        <p:nvSpPr>
          <p:cNvPr id="4" name="surface-44">
            <a:extLst>
              <a:ext uri="{FF2B5EF4-FFF2-40B4-BE49-F238E27FC236}">
                <a16:creationId xmlns:a16="http://schemas.microsoft.com/office/drawing/2014/main" id="{F50FE4B4-DF82-4E7B-84FC-A1C7C2077D97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3397250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45">
            <a:extLst>
              <a:ext uri="{FF2B5EF4-FFF2-40B4-BE49-F238E27FC236}">
                <a16:creationId xmlns:a16="http://schemas.microsoft.com/office/drawing/2014/main" id="{06B1DADF-C75E-4975-9351-3A930D4062D2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28638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statusCode</a:t>
            </a:r>
          </a:p>
        </p:txBody>
      </p:sp>
      <p:sp>
        <p:nvSpPr>
          <p:cNvPr id="6" name="text-46">
            <a:extLst>
              <a:ext uri="{FF2B5EF4-FFF2-40B4-BE49-F238E27FC236}">
                <a16:creationId xmlns:a16="http://schemas.microsoft.com/office/drawing/2014/main" id="{DD863007-312A-4990-80AD-1035D5A185E9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8638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 HTTP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Exemplo: 200</a:t>
            </a:r>
          </a:p>
        </p:txBody>
      </p:sp>
      <p:sp>
        <p:nvSpPr>
          <p:cNvPr id="7" name="surface-47">
            <a:extLst>
              <a:ext uri="{FF2B5EF4-FFF2-40B4-BE49-F238E27FC236}">
                <a16:creationId xmlns:a16="http://schemas.microsoft.com/office/drawing/2014/main" id="{28D19BA4-964D-4079-86CC-1923C0341E1D}"/>
              </a:ext>
            </a:extLst>
          </p:cNvPr>
          <p:cNvSpPr>
            <a:spLocks noGrp="1"/>
          </p:cNvSpPr>
          <p:nvPr/>
        </p:nvSpPr>
        <p:spPr>
          <a:xfrm>
            <a:off x="4502150" y="2571750"/>
            <a:ext cx="3397250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48">
            <a:extLst>
              <a:ext uri="{FF2B5EF4-FFF2-40B4-BE49-F238E27FC236}">
                <a16:creationId xmlns:a16="http://schemas.microsoft.com/office/drawing/2014/main" id="{890FAE63-C168-4B09-A8CC-172B36E5FC7D}"/>
              </a:ext>
            </a:extLst>
          </p:cNvPr>
          <p:cNvSpPr>
            <a:spLocks noGrp="1"/>
          </p:cNvSpPr>
          <p:nvPr/>
        </p:nvSpPr>
        <p:spPr>
          <a:xfrm>
            <a:off x="4768850" y="2819400"/>
            <a:ext cx="28638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</a:p>
        </p:txBody>
      </p:sp>
      <p:sp>
        <p:nvSpPr>
          <p:cNvPr id="9" name="text-49">
            <a:extLst>
              <a:ext uri="{FF2B5EF4-FFF2-40B4-BE49-F238E27FC236}">
                <a16:creationId xmlns:a16="http://schemas.microsoft.com/office/drawing/2014/main" id="{EBBCE525-2BAE-49D8-A88A-1BAC547594D8}"/>
              </a:ext>
            </a:extLst>
          </p:cNvPr>
          <p:cNvSpPr>
            <a:spLocks noGrp="1"/>
          </p:cNvSpPr>
          <p:nvPr/>
        </p:nvSpPr>
        <p:spPr>
          <a:xfrm>
            <a:off x="4768850" y="3619500"/>
            <a:ext cx="28638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 como texto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Exemplo: lista em JSON</a:t>
            </a:r>
          </a:p>
        </p:txBody>
      </p:sp>
      <p:sp>
        <p:nvSpPr>
          <p:cNvPr id="10" name="surface-50">
            <a:extLst>
              <a:ext uri="{FF2B5EF4-FFF2-40B4-BE49-F238E27FC236}">
                <a16:creationId xmlns:a16="http://schemas.microsoft.com/office/drawing/2014/main" id="{B6C7BDA6-3A20-4902-962F-172B32AF8509}"/>
              </a:ext>
            </a:extLst>
          </p:cNvPr>
          <p:cNvSpPr>
            <a:spLocks noGrp="1"/>
          </p:cNvSpPr>
          <p:nvPr/>
        </p:nvSpPr>
        <p:spPr>
          <a:xfrm>
            <a:off x="8204200" y="2571750"/>
            <a:ext cx="3397250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51">
            <a:extLst>
              <a:ext uri="{FF2B5EF4-FFF2-40B4-BE49-F238E27FC236}">
                <a16:creationId xmlns:a16="http://schemas.microsoft.com/office/drawing/2014/main" id="{947809C7-0FB5-4275-B0D1-E32856E41FC7}"/>
              </a:ext>
            </a:extLst>
          </p:cNvPr>
          <p:cNvSpPr>
            <a:spLocks noGrp="1"/>
          </p:cNvSpPr>
          <p:nvPr/>
        </p:nvSpPr>
        <p:spPr>
          <a:xfrm>
            <a:off x="8470900" y="2819400"/>
            <a:ext cx="28638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headers</a:t>
            </a:r>
          </a:p>
        </p:txBody>
      </p:sp>
      <p:sp>
        <p:nvSpPr>
          <p:cNvPr id="12" name="text-52">
            <a:extLst>
              <a:ext uri="{FF2B5EF4-FFF2-40B4-BE49-F238E27FC236}">
                <a16:creationId xmlns:a16="http://schemas.microsoft.com/office/drawing/2014/main" id="{79FB4902-F335-496C-BD50-ED9AC80D7EE2}"/>
              </a:ext>
            </a:extLst>
          </p:cNvPr>
          <p:cNvSpPr>
            <a:spLocks noGrp="1"/>
          </p:cNvSpPr>
          <p:nvPr/>
        </p:nvSpPr>
        <p:spPr>
          <a:xfrm>
            <a:off x="8470900" y="3619500"/>
            <a:ext cx="28638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Metadados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Exemplo: tipo do conteúdo</a:t>
            </a:r>
          </a:p>
        </p:txBody>
      </p:sp>
      <p:sp>
        <p:nvSpPr>
          <p:cNvPr id="13" name="surface-53">
            <a:extLst>
              <a:ext uri="{FF2B5EF4-FFF2-40B4-BE49-F238E27FC236}">
                <a16:creationId xmlns:a16="http://schemas.microsoft.com/office/drawing/2014/main" id="{DADD3083-9545-46BC-AF9D-F9ABE47F4634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-54">
            <a:extLst>
              <a:ext uri="{FF2B5EF4-FFF2-40B4-BE49-F238E27FC236}">
                <a16:creationId xmlns:a16="http://schemas.microsoft.com/office/drawing/2014/main" id="{D50802F4-E72A-466B-957F-EF83A1B6E086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Depois de receber: print(response.statusCode);  print(response.body);</a:t>
            </a:r>
          </a:p>
        </p:txBody>
      </p:sp>
    </p:spTree>
    <p:extLst>
      <p:ext uri="{BB962C8B-B14F-4D97-AF65-F5344CB8AC3E}">
        <p14:creationId xmlns:p14="http://schemas.microsoft.com/office/powerpoint/2010/main" val="4117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55">
            <a:extLst>
              <a:ext uri="{FF2B5EF4-FFF2-40B4-BE49-F238E27FC236}">
                <a16:creationId xmlns:a16="http://schemas.microsoft.com/office/drawing/2014/main" id="{D4010B98-3FDA-4AF3-9EE5-82F78BD2079C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O método .then()</a:t>
            </a:r>
          </a:p>
        </p:txBody>
      </p:sp>
      <p:sp>
        <p:nvSpPr>
          <p:cNvPr id="2" name="text-56">
            <a:extLst>
              <a:ext uri="{FF2B5EF4-FFF2-40B4-BE49-F238E27FC236}">
                <a16:creationId xmlns:a16="http://schemas.microsoft.com/office/drawing/2014/main" id="{EF381CFD-0BB4-46CD-ACBD-4B43E12C453D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3" name="text-57">
            <a:extLst>
              <a:ext uri="{FF2B5EF4-FFF2-40B4-BE49-F238E27FC236}">
                <a16:creationId xmlns:a16="http://schemas.microsoft.com/office/drawing/2014/main" id="{4842C8F9-98C4-413F-8A29-923C26A30187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“Quando a resposta chegar, execute esta função.”</a:t>
            </a:r>
          </a:p>
        </p:txBody>
      </p:sp>
      <p:sp>
        <p:nvSpPr>
          <p:cNvPr id="4" name="surface-58">
            <a:extLst>
              <a:ext uri="{FF2B5EF4-FFF2-40B4-BE49-F238E27FC236}">
                <a16:creationId xmlns:a16="http://schemas.microsoft.com/office/drawing/2014/main" id="{48EF1345-F2B5-41D9-B123-EDDB869A7AD9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59">
            <a:extLst>
              <a:ext uri="{FF2B5EF4-FFF2-40B4-BE49-F238E27FC236}">
                <a16:creationId xmlns:a16="http://schemas.microsoft.com/office/drawing/2014/main" id="{BC2810CB-32C4-4D93-9F88-D50783D785CB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Antes da resposta</a:t>
            </a:r>
          </a:p>
        </p:txBody>
      </p:sp>
      <p:sp>
        <p:nvSpPr>
          <p:cNvPr id="6" name="text-60">
            <a:extLst>
              <a:ext uri="{FF2B5EF4-FFF2-40B4-BE49-F238E27FC236}">
                <a16:creationId xmlns:a16="http://schemas.microsoft.com/office/drawing/2014/main" id="{AFA84231-2831-4B98-B48F-25FBE43B93C8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requisição fica pendente.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código seguinte pode continuar.</a:t>
            </a:r>
          </a:p>
        </p:txBody>
      </p:sp>
      <p:sp>
        <p:nvSpPr>
          <p:cNvPr id="7" name="surface-61">
            <a:extLst>
              <a:ext uri="{FF2B5EF4-FFF2-40B4-BE49-F238E27FC236}">
                <a16:creationId xmlns:a16="http://schemas.microsoft.com/office/drawing/2014/main" id="{50477B16-57BA-49E1-9DFD-CDAD6010F939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62">
            <a:extLst>
              <a:ext uri="{FF2B5EF4-FFF2-40B4-BE49-F238E27FC236}">
                <a16:creationId xmlns:a16="http://schemas.microsoft.com/office/drawing/2014/main" id="{3D6109C8-2F7E-4DB2-BC54-953C2F813AE5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Quando ela chega</a:t>
            </a:r>
          </a:p>
        </p:txBody>
      </p:sp>
      <p:sp>
        <p:nvSpPr>
          <p:cNvPr id="9" name="text-63">
            <a:extLst>
              <a:ext uri="{FF2B5EF4-FFF2-40B4-BE49-F238E27FC236}">
                <a16:creationId xmlns:a16="http://schemas.microsoft.com/office/drawing/2014/main" id="{DD96C974-CF7F-41FA-AC5B-FDD0FCE4B527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callback recebe um Response.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Aqui lemos os dados.</a:t>
            </a:r>
          </a:p>
        </p:txBody>
      </p:sp>
      <p:sp>
        <p:nvSpPr>
          <p:cNvPr id="10" name="surface-64">
            <a:extLst>
              <a:ext uri="{FF2B5EF4-FFF2-40B4-BE49-F238E27FC236}">
                <a16:creationId xmlns:a16="http://schemas.microsoft.com/office/drawing/2014/main" id="{EA88EAB5-73EA-4172-BBC2-28CACA9D2CF5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65">
            <a:extLst>
              <a:ext uri="{FF2B5EF4-FFF2-40B4-BE49-F238E27FC236}">
                <a16:creationId xmlns:a16="http://schemas.microsoft.com/office/drawing/2014/main" id="{C8029F53-9136-4189-9226-E211B4028C46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Callback: uma função que será chamada na conclusão da operação.</a:t>
            </a:r>
          </a:p>
        </p:txBody>
      </p:sp>
    </p:spTree>
    <p:extLst>
      <p:ext uri="{BB962C8B-B14F-4D97-AF65-F5344CB8AC3E}">
        <p14:creationId xmlns:p14="http://schemas.microsoft.com/office/powerpoint/2010/main" val="225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66">
            <a:extLst>
              <a:ext uri="{FF2B5EF4-FFF2-40B4-BE49-F238E27FC236}">
                <a16:creationId xmlns:a16="http://schemas.microsoft.com/office/drawing/2014/main" id="{659CD90D-D5EE-4916-AB3F-F84BB45451EA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prática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recebendo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.then()</a:t>
            </a:r>
          </a:p>
        </p:txBody>
      </p:sp>
      <p:sp>
        <p:nvSpPr>
          <p:cNvPr id="2" name="text-67">
            <a:extLst>
              <a:ext uri="{FF2B5EF4-FFF2-40B4-BE49-F238E27FC236}">
                <a16:creationId xmlns:a16="http://schemas.microsoft.com/office/drawing/2014/main" id="{9DCAB1AE-6AA7-4839-8828-A0B2B8295B6F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surface-68">
            <a:extLst>
              <a:ext uri="{FF2B5EF4-FFF2-40B4-BE49-F238E27FC236}">
                <a16:creationId xmlns:a16="http://schemas.microsoft.com/office/drawing/2014/main" id="{78A9F55D-D99F-4D6B-A7FB-FBE30CA92A48}"/>
              </a:ext>
            </a:extLst>
          </p:cNvPr>
          <p:cNvSpPr>
            <a:spLocks noGrp="1"/>
          </p:cNvSpPr>
          <p:nvPr/>
        </p:nvSpPr>
        <p:spPr>
          <a:xfrm>
            <a:off x="800100" y="2057400"/>
            <a:ext cx="10687050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-69">
            <a:extLst>
              <a:ext uri="{FF2B5EF4-FFF2-40B4-BE49-F238E27FC236}">
                <a16:creationId xmlns:a16="http://schemas.microsoft.com/office/drawing/2014/main" id="{6DD5B472-94DE-400B-A75E-11F8ED69227F}"/>
              </a:ext>
            </a:extLst>
          </p:cNvPr>
          <p:cNvSpPr>
            <a:spLocks noGrp="1"/>
          </p:cNvSpPr>
          <p:nvPr/>
        </p:nvSpPr>
        <p:spPr>
          <a:xfrm>
            <a:off x="1000125" y="2247900"/>
            <a:ext cx="10287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futureResponse.then((Response response) {</a:t>
            </a:r>
          </a:p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print(response.statusCode);</a:t>
            </a:r>
          </a:p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print(response.body);</a:t>
            </a:r>
          </a:p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});</a:t>
            </a:r>
          </a:p>
        </p:txBody>
      </p:sp>
      <p:sp>
        <p:nvSpPr>
          <p:cNvPr id="5" name="surface-70">
            <a:extLst>
              <a:ext uri="{FF2B5EF4-FFF2-40B4-BE49-F238E27FC236}">
                <a16:creationId xmlns:a16="http://schemas.microsoft.com/office/drawing/2014/main" id="{B87AAC56-EF7C-411D-AA9B-DDCE63A50F6A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-71">
            <a:extLst>
              <a:ext uri="{FF2B5EF4-FFF2-40B4-BE49-F238E27FC236}">
                <a16:creationId xmlns:a16="http://schemas.microsoft.com/office/drawing/2014/main" id="{802F078E-CA1B-44F7-AF7B-F1E8872A2D81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=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parâmetro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response =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variável</a:t>
            </a:r>
            <a:endParaRPr sz="1725" b="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2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72">
            <a:extLst>
              <a:ext uri="{FF2B5EF4-FFF2-40B4-BE49-F238E27FC236}">
                <a16:creationId xmlns:a16="http://schemas.microsoft.com/office/drawing/2014/main" id="{8273289A-411D-41C2-8225-D74DE830416C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JSON e decode</a:t>
            </a:r>
          </a:p>
        </p:txBody>
      </p:sp>
      <p:sp>
        <p:nvSpPr>
          <p:cNvPr id="2" name="text-73">
            <a:extLst>
              <a:ext uri="{FF2B5EF4-FFF2-40B4-BE49-F238E27FC236}">
                <a16:creationId xmlns:a16="http://schemas.microsoft.com/office/drawing/2014/main" id="{19053636-410F-4A9A-8B29-616EB5762E85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text-74">
            <a:extLst>
              <a:ext uri="{FF2B5EF4-FFF2-40B4-BE49-F238E27FC236}">
                <a16:creationId xmlns:a16="http://schemas.microsoft.com/office/drawing/2014/main" id="{28256841-49EE-4750-9791-B7DBAD8498A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API envia texto. O Dart precisa interpretar sua estrutura.</a:t>
            </a:r>
          </a:p>
        </p:txBody>
      </p:sp>
      <p:sp>
        <p:nvSpPr>
          <p:cNvPr id="4" name="surface-75">
            <a:extLst>
              <a:ext uri="{FF2B5EF4-FFF2-40B4-BE49-F238E27FC236}">
                <a16:creationId xmlns:a16="http://schemas.microsoft.com/office/drawing/2014/main" id="{0371010E-7046-4FF0-8C09-B4004EF9D756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76">
            <a:extLst>
              <a:ext uri="{FF2B5EF4-FFF2-40B4-BE49-F238E27FC236}">
                <a16:creationId xmlns:a16="http://schemas.microsoft.com/office/drawing/2014/main" id="{6AF0C71E-ADD4-485F-871D-2D13ABFEBCC1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</p:txBody>
      </p:sp>
      <p:sp>
        <p:nvSpPr>
          <p:cNvPr id="6" name="text-77">
            <a:extLst>
              <a:ext uri="{FF2B5EF4-FFF2-40B4-BE49-F238E27FC236}">
                <a16:creationId xmlns:a16="http://schemas.microsoft.com/office/drawing/2014/main" id="{9B75DE51-6805-403E-9964-33A054CA7C75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Formato do texto recebido.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{"titulo": "Interestelar"}</a:t>
            </a:r>
          </a:p>
        </p:txBody>
      </p:sp>
      <p:sp>
        <p:nvSpPr>
          <p:cNvPr id="7" name="surface-78">
            <a:extLst>
              <a:ext uri="{FF2B5EF4-FFF2-40B4-BE49-F238E27FC236}">
                <a16:creationId xmlns:a16="http://schemas.microsoft.com/office/drawing/2014/main" id="{71577E3D-D696-486B-9AB5-D3A51779B377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79">
            <a:extLst>
              <a:ext uri="{FF2B5EF4-FFF2-40B4-BE49-F238E27FC236}">
                <a16:creationId xmlns:a16="http://schemas.microsoft.com/office/drawing/2014/main" id="{713C15B7-2CD6-4CA8-AC35-A49B874CEAFF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json.decode()</a:t>
            </a:r>
          </a:p>
        </p:txBody>
      </p:sp>
      <p:sp>
        <p:nvSpPr>
          <p:cNvPr id="9" name="text-80">
            <a:extLst>
              <a:ext uri="{FF2B5EF4-FFF2-40B4-BE49-F238E27FC236}">
                <a16:creationId xmlns:a16="http://schemas.microsoft.com/office/drawing/2014/main" id="{3C1AE8D6-FCC8-415F-AD2E-E6C01A46BB1D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 esse texto em objetos Dart.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Podemos acessar as informações.</a:t>
            </a:r>
          </a:p>
        </p:txBody>
      </p:sp>
      <p:sp>
        <p:nvSpPr>
          <p:cNvPr id="10" name="surface-81">
            <a:extLst>
              <a:ext uri="{FF2B5EF4-FFF2-40B4-BE49-F238E27FC236}">
                <a16:creationId xmlns:a16="http://schemas.microsoft.com/office/drawing/2014/main" id="{C7DDD790-28C3-4C57-8322-C198CA6D6C66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82">
            <a:extLst>
              <a:ext uri="{FF2B5EF4-FFF2-40B4-BE49-F238E27FC236}">
                <a16:creationId xmlns:a16="http://schemas.microsoft.com/office/drawing/2014/main" id="{4E63297D-5957-44CC-89D9-A57763DBEE0D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conversão depende da estrutura recebida: [...] lista, {...} mapa.</a:t>
            </a:r>
          </a:p>
        </p:txBody>
      </p:sp>
    </p:spTree>
    <p:extLst>
      <p:ext uri="{BB962C8B-B14F-4D97-AF65-F5344CB8AC3E}">
        <p14:creationId xmlns:p14="http://schemas.microsoft.com/office/powerpoint/2010/main" val="645844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83">
            <a:extLst>
              <a:ext uri="{FF2B5EF4-FFF2-40B4-BE49-F238E27FC236}">
                <a16:creationId xmlns:a16="http://schemas.microsoft.com/office/drawing/2014/main" id="{3E547449-57C8-4D86-A00D-6DFCD0CAF752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prática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interpretando</a:t>
            </a:r>
            <a:r>
              <a:rPr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JSON</a:t>
            </a:r>
          </a:p>
        </p:txBody>
      </p:sp>
      <p:sp>
        <p:nvSpPr>
          <p:cNvPr id="2" name="text-84">
            <a:extLst>
              <a:ext uri="{FF2B5EF4-FFF2-40B4-BE49-F238E27FC236}">
                <a16:creationId xmlns:a16="http://schemas.microsoft.com/office/drawing/2014/main" id="{DCEE3572-0F09-427E-BD91-6E99A7D43724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surface-85">
            <a:extLst>
              <a:ext uri="{FF2B5EF4-FFF2-40B4-BE49-F238E27FC236}">
                <a16:creationId xmlns:a16="http://schemas.microsoft.com/office/drawing/2014/main" id="{00261015-A003-4CAA-BEE5-D44F50EBB30A}"/>
              </a:ext>
            </a:extLst>
          </p:cNvPr>
          <p:cNvSpPr>
            <a:spLocks noGrp="1"/>
          </p:cNvSpPr>
          <p:nvPr/>
        </p:nvSpPr>
        <p:spPr>
          <a:xfrm>
            <a:off x="800100" y="2028825"/>
            <a:ext cx="10687050" cy="3048000"/>
          </a:xfrm>
          <a:prstGeom prst="roundRect">
            <a:avLst>
              <a:gd name="adj" fmla="val 5000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08B77C61-8D72-4871-AB36-5DD17FBD6CA3}"/>
              </a:ext>
            </a:extLst>
          </p:cNvPr>
          <p:cNvSpPr>
            <a:spLocks noGrp="1"/>
          </p:cNvSpPr>
          <p:nvPr/>
        </p:nvSpPr>
        <p:spPr>
          <a:xfrm>
            <a:off x="1000125" y="2219325"/>
            <a:ext cx="102870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import 'dart:convert';</a:t>
            </a:r>
          </a:p>
          <a:p>
            <a:endParaRPr sz="2100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List&lt;dynamic&gt; listaFilmes =</a:t>
            </a:r>
          </a:p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  json.decode(response.body);</a:t>
            </a:r>
          </a:p>
          <a:p>
            <a:endParaRPr sz="2100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print(listaFilmes[0]);</a:t>
            </a:r>
          </a:p>
        </p:txBody>
      </p:sp>
      <p:sp>
        <p:nvSpPr>
          <p:cNvPr id="5" name="surface-87">
            <a:extLst>
              <a:ext uri="{FF2B5EF4-FFF2-40B4-BE49-F238E27FC236}">
                <a16:creationId xmlns:a16="http://schemas.microsoft.com/office/drawing/2014/main" id="{2910EEA8-0FE9-42B9-8493-6CB0C89B8A02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-88">
            <a:extLst>
              <a:ext uri="{FF2B5EF4-FFF2-40B4-BE49-F238E27FC236}">
                <a16:creationId xmlns:a16="http://schemas.microsoft.com/office/drawing/2014/main" id="{9FA5E808-A65F-4365-BE16-6F373BA52CEF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response.body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String.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Depois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decode,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acessamos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77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89">
            <a:extLst>
              <a:ext uri="{FF2B5EF4-FFF2-40B4-BE49-F238E27FC236}">
                <a16:creationId xmlns:a16="http://schemas.microsoft.com/office/drawing/2014/main" id="{A9E65291-C091-410D-9518-8BB180D2F684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Lista 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dados 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" name="text-90">
            <a:extLst>
              <a:ext uri="{FF2B5EF4-FFF2-40B4-BE49-F238E27FC236}">
                <a16:creationId xmlns:a16="http://schemas.microsoft.com/office/drawing/2014/main" id="{4398DE1F-475D-4621-B148-0AE6538C52B1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ext-91">
            <a:extLst>
              <a:ext uri="{FF2B5EF4-FFF2-40B4-BE49-F238E27FC236}">
                <a16:creationId xmlns:a16="http://schemas.microsoft.com/office/drawing/2014/main" id="{80C9E8FC-9AA2-4F1B-B23A-FABC6C9A66AE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guarda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filmes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Um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guarda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dados de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urface-92">
            <a:extLst>
              <a:ext uri="{FF2B5EF4-FFF2-40B4-BE49-F238E27FC236}">
                <a16:creationId xmlns:a16="http://schemas.microsoft.com/office/drawing/2014/main" id="{750D5BCC-A13F-4F36-A835-F40DF79FAC26}"/>
              </a:ext>
            </a:extLst>
          </p:cNvPr>
          <p:cNvSpPr>
            <a:spLocks noGrp="1"/>
          </p:cNvSpPr>
          <p:nvPr/>
        </p:nvSpPr>
        <p:spPr>
          <a:xfrm>
            <a:off x="800100" y="2428875"/>
            <a:ext cx="10687050" cy="2143125"/>
          </a:xfrm>
          <a:prstGeom prst="roundRect">
            <a:avLst>
              <a:gd name="adj" fmla="val 7111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-93">
            <a:extLst>
              <a:ext uri="{FF2B5EF4-FFF2-40B4-BE49-F238E27FC236}">
                <a16:creationId xmlns:a16="http://schemas.microsoft.com/office/drawing/2014/main" id="{91099F3C-615D-4262-B9E1-9CBBDB4DBA48}"/>
              </a:ext>
            </a:extLst>
          </p:cNvPr>
          <p:cNvSpPr>
            <a:spLocks noGrp="1"/>
          </p:cNvSpPr>
          <p:nvPr/>
        </p:nvSpPr>
        <p:spPr>
          <a:xfrm>
            <a:off x="1000125" y="2619375"/>
            <a:ext cx="1028700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[</a:t>
            </a:r>
          </a:p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{"titulo": "Avatar", "duracaoMinutos": 162},</a:t>
            </a:r>
          </a:p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{"titulo": "Interestelar", "duracaoMinutos": 169}</a:t>
            </a:r>
          </a:p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6" name="surface-94">
            <a:extLst>
              <a:ext uri="{FF2B5EF4-FFF2-40B4-BE49-F238E27FC236}">
                <a16:creationId xmlns:a16="http://schemas.microsoft.com/office/drawing/2014/main" id="{AC018655-B2AB-4139-B09F-670A3168AB9E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-95">
            <a:extLst>
              <a:ext uri="{FF2B5EF4-FFF2-40B4-BE49-F238E27FC236}">
                <a16:creationId xmlns:a16="http://schemas.microsoft.com/office/drawing/2014/main" id="{03F327CB-7080-4128-8A9C-30F58D94EACB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listaFilmes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é 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primeiro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["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titulo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acessa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chave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890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96">
            <a:extLst>
              <a:ext uri="{FF2B5EF4-FFF2-40B4-BE49-F238E27FC236}">
                <a16:creationId xmlns:a16="http://schemas.microsoft.com/office/drawing/2014/main" id="{174FF18F-E563-4BD9-934E-F0C5FCC62F32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busca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firstWhere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2" name="text-97">
            <a:extLst>
              <a:ext uri="{FF2B5EF4-FFF2-40B4-BE49-F238E27FC236}">
                <a16:creationId xmlns:a16="http://schemas.microsoft.com/office/drawing/2014/main" id="{F354E3CB-3B57-4CCB-BB71-BCF113F4925E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" name="text-98">
            <a:extLst>
              <a:ext uri="{FF2B5EF4-FFF2-40B4-BE49-F238E27FC236}">
                <a16:creationId xmlns:a16="http://schemas.microsoft.com/office/drawing/2014/main" id="{BE1EBE04-E2F0-4FCE-8622-77AAB5477ECC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Retorna o primeiro item que atende a uma condição.</a:t>
            </a:r>
          </a:p>
        </p:txBody>
      </p:sp>
      <p:sp>
        <p:nvSpPr>
          <p:cNvPr id="4" name="surface-99">
            <a:extLst>
              <a:ext uri="{FF2B5EF4-FFF2-40B4-BE49-F238E27FC236}">
                <a16:creationId xmlns:a16="http://schemas.microsoft.com/office/drawing/2014/main" id="{CA95F7BE-BDFC-4706-9A50-9D0F76F3E5F4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100">
            <a:extLst>
              <a:ext uri="{FF2B5EF4-FFF2-40B4-BE49-F238E27FC236}">
                <a16:creationId xmlns:a16="http://schemas.microsoft.com/office/drawing/2014/main" id="{29FF1C69-61E2-4D05-9BC1-0F9DB8BB2625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Condição</a:t>
            </a:r>
          </a:p>
        </p:txBody>
      </p:sp>
      <p:sp>
        <p:nvSpPr>
          <p:cNvPr id="6" name="text-101">
            <a:extLst>
              <a:ext uri="{FF2B5EF4-FFF2-40B4-BE49-F238E27FC236}">
                <a16:creationId xmlns:a16="http://schemas.microsoft.com/office/drawing/2014/main" id="{5B9F837D-D8D5-42F8-85E1-3396EA0A6344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título é igual a “Interestelar”?</a:t>
            </a:r>
          </a:p>
        </p:txBody>
      </p:sp>
      <p:sp>
        <p:nvSpPr>
          <p:cNvPr id="7" name="surface-102">
            <a:extLst>
              <a:ext uri="{FF2B5EF4-FFF2-40B4-BE49-F238E27FC236}">
                <a16:creationId xmlns:a16="http://schemas.microsoft.com/office/drawing/2014/main" id="{C37F0639-10FB-493C-860A-D88BD42BAC7B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103">
            <a:extLst>
              <a:ext uri="{FF2B5EF4-FFF2-40B4-BE49-F238E27FC236}">
                <a16:creationId xmlns:a16="http://schemas.microsoft.com/office/drawing/2014/main" id="{7C2C86B5-F243-426F-82F0-BF26547CAE29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</a:p>
        </p:txBody>
      </p:sp>
      <p:sp>
        <p:nvSpPr>
          <p:cNvPr id="9" name="text-104">
            <a:extLst>
              <a:ext uri="{FF2B5EF4-FFF2-40B4-BE49-F238E27FC236}">
                <a16:creationId xmlns:a16="http://schemas.microsoft.com/office/drawing/2014/main" id="{E713A60F-A6D5-42B7-84D5-89B1DE99449E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mapa com os dados do filme encontrado.</a:t>
            </a:r>
          </a:p>
        </p:txBody>
      </p:sp>
      <p:sp>
        <p:nvSpPr>
          <p:cNvPr id="10" name="surface-105">
            <a:extLst>
              <a:ext uri="{FF2B5EF4-FFF2-40B4-BE49-F238E27FC236}">
                <a16:creationId xmlns:a16="http://schemas.microsoft.com/office/drawing/2014/main" id="{786B06DA-45DB-4227-B592-E4CBE59F5F34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106">
            <a:extLst>
              <a:ext uri="{FF2B5EF4-FFF2-40B4-BE49-F238E27FC236}">
                <a16:creationId xmlns:a16="http://schemas.microsoft.com/office/drawing/2014/main" id="{A78F2AE8-CE50-4F67-9CB5-26443A62CCF4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nenhum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atender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condição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firstWhere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lança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62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07">
            <a:extLst>
              <a:ext uri="{FF2B5EF4-FFF2-40B4-BE49-F238E27FC236}">
                <a16:creationId xmlns:a16="http://schemas.microsoft.com/office/drawing/2014/main" id="{90DBE317-C23E-4226-B099-883C6B1D7419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prática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encontrando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Interestelar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-108">
            <a:extLst>
              <a:ext uri="{FF2B5EF4-FFF2-40B4-BE49-F238E27FC236}">
                <a16:creationId xmlns:a16="http://schemas.microsoft.com/office/drawing/2014/main" id="{7B6E1447-D2E4-4902-B593-E0541A5C79F6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surface-109">
            <a:extLst>
              <a:ext uri="{FF2B5EF4-FFF2-40B4-BE49-F238E27FC236}">
                <a16:creationId xmlns:a16="http://schemas.microsoft.com/office/drawing/2014/main" id="{61F0F383-92CF-4907-B5D9-F0B5E612F0C2}"/>
              </a:ext>
            </a:extLst>
          </p:cNvPr>
          <p:cNvSpPr>
            <a:spLocks noGrp="1"/>
          </p:cNvSpPr>
          <p:nvPr/>
        </p:nvSpPr>
        <p:spPr>
          <a:xfrm>
            <a:off x="800100" y="1924050"/>
            <a:ext cx="10687050" cy="3429000"/>
          </a:xfrm>
          <a:prstGeom prst="roundRect">
            <a:avLst>
              <a:gd name="adj" fmla="val 4444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-110">
            <a:extLst>
              <a:ext uri="{FF2B5EF4-FFF2-40B4-BE49-F238E27FC236}">
                <a16:creationId xmlns:a16="http://schemas.microsoft.com/office/drawing/2014/main" id="{AB977356-4A6E-4193-92B1-7538E1D8CCE4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102870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Map&lt;String, dynamic&gt; interestelar =</a:t>
            </a:r>
          </a:p>
          <a:p>
            <a: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  listaFilmes.firstWhere(</a:t>
            </a:r>
          </a:p>
          <a:p>
            <a: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(filme) =&gt; filme["titulo"] == "Interestelar",</a:t>
            </a:r>
          </a:p>
          <a:p>
            <a: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);</a:t>
            </a:r>
          </a:p>
          <a:p>
            <a:endParaRPr sz="1950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print(interestelar["duracaoMinutos"]);</a:t>
            </a:r>
          </a:p>
        </p:txBody>
      </p:sp>
      <p:sp>
        <p:nvSpPr>
          <p:cNvPr id="5" name="surface-111">
            <a:extLst>
              <a:ext uri="{FF2B5EF4-FFF2-40B4-BE49-F238E27FC236}">
                <a16:creationId xmlns:a16="http://schemas.microsoft.com/office/drawing/2014/main" id="{42C0857D-E4AC-4390-B374-DFCE0FF28C39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-112">
            <a:extLst>
              <a:ext uri="{FF2B5EF4-FFF2-40B4-BE49-F238E27FC236}">
                <a16:creationId xmlns:a16="http://schemas.microsoft.com/office/drawing/2014/main" id="{C077ABB1-4CB7-4FB7-B44F-564752A848EF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analisado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saída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169.</a:t>
            </a:r>
          </a:p>
        </p:txBody>
      </p:sp>
    </p:spTree>
    <p:extLst>
      <p:ext uri="{BB962C8B-B14F-4D97-AF65-F5344CB8AC3E}">
        <p14:creationId xmlns:p14="http://schemas.microsoft.com/office/powerpoint/2010/main" val="207903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22BA7493-9C0A-4429-3339-01C534702443}"/>
              </a:ext>
            </a:extLst>
          </p:cNvPr>
          <p:cNvGrpSpPr/>
          <p:nvPr/>
        </p:nvGrpSpPr>
        <p:grpSpPr>
          <a:xfrm>
            <a:off x="2644501" y="2232984"/>
            <a:ext cx="6902998" cy="4149519"/>
            <a:chOff x="2207135" y="2232984"/>
            <a:chExt cx="6902998" cy="4149519"/>
          </a:xfrm>
        </p:grpSpPr>
        <p:sp>
          <p:nvSpPr>
            <p:cNvPr id="4" name="Freeform 4"/>
            <p:cNvSpPr/>
            <p:nvPr/>
          </p:nvSpPr>
          <p:spPr>
            <a:xfrm>
              <a:off x="2400299" y="2232984"/>
              <a:ext cx="1680633" cy="1524000"/>
            </a:xfrm>
            <a:custGeom>
              <a:avLst/>
              <a:gdLst/>
              <a:ahLst/>
              <a:cxnLst/>
              <a:rect l="l" t="t" r="r" b="b"/>
              <a:pathLst>
                <a:path w="2571750" h="2381250">
                  <a:moveTo>
                    <a:pt x="0" y="0"/>
                  </a:moveTo>
                  <a:lnTo>
                    <a:pt x="2571750" y="0"/>
                  </a:lnTo>
                  <a:lnTo>
                    <a:pt x="257175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5000" b="5000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207135" y="3828546"/>
              <a:ext cx="2178598" cy="281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Lavar os legumes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4762499" y="2232984"/>
              <a:ext cx="1680633" cy="1524000"/>
            </a:xfrm>
            <a:custGeom>
              <a:avLst/>
              <a:gdLst/>
              <a:ahLst/>
              <a:cxnLst/>
              <a:rect l="l" t="t" r="r" b="b"/>
              <a:pathLst>
                <a:path w="2571750" h="2381250">
                  <a:moveTo>
                    <a:pt x="0" y="0"/>
                  </a:moveTo>
                  <a:lnTo>
                    <a:pt x="2571750" y="0"/>
                  </a:lnTo>
                  <a:lnTo>
                    <a:pt x="257175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9567" r="9568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69335" y="3828546"/>
              <a:ext cx="2178598" cy="281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Cozinhar o ovo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7124699" y="2232984"/>
              <a:ext cx="1680633" cy="1524000"/>
            </a:xfrm>
            <a:custGeom>
              <a:avLst/>
              <a:gdLst/>
              <a:ahLst/>
              <a:cxnLst/>
              <a:rect l="l" t="t" r="r" b="b"/>
              <a:pathLst>
                <a:path w="2571750" h="2381250">
                  <a:moveTo>
                    <a:pt x="0" y="0"/>
                  </a:moveTo>
                  <a:lnTo>
                    <a:pt x="2571750" y="0"/>
                  </a:lnTo>
                  <a:lnTo>
                    <a:pt x="257175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1234" r="1234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1535" y="3828546"/>
              <a:ext cx="2178598" cy="281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Picar os legumes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428999" y="4505325"/>
              <a:ext cx="1680633" cy="1524000"/>
            </a:xfrm>
            <a:custGeom>
              <a:avLst/>
              <a:gdLst/>
              <a:ahLst/>
              <a:cxnLst/>
              <a:rect l="l" t="t" r="r" b="b"/>
              <a:pathLst>
                <a:path w="2571750" h="2381250">
                  <a:moveTo>
                    <a:pt x="0" y="0"/>
                  </a:moveTo>
                  <a:lnTo>
                    <a:pt x="2571750" y="0"/>
                  </a:lnTo>
                  <a:lnTo>
                    <a:pt x="257175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t="13013" b="13013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35835" y="6100887"/>
              <a:ext cx="2178598" cy="281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Descascar o ovo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91199" y="4505325"/>
              <a:ext cx="1680633" cy="1524000"/>
            </a:xfrm>
            <a:custGeom>
              <a:avLst/>
              <a:gdLst/>
              <a:ahLst/>
              <a:cxnLst/>
              <a:rect l="l" t="t" r="r" b="b"/>
              <a:pathLst>
                <a:path w="2571750" h="2381250">
                  <a:moveTo>
                    <a:pt x="0" y="0"/>
                  </a:moveTo>
                  <a:lnTo>
                    <a:pt x="2571750" y="0"/>
                  </a:lnTo>
                  <a:lnTo>
                    <a:pt x="2571750" y="2381250"/>
                  </a:lnTo>
                  <a:lnTo>
                    <a:pt x="0" y="2381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t="3714" b="3713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98035" y="6100887"/>
              <a:ext cx="2178598" cy="281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Montar a salada</a:t>
              </a:r>
            </a:p>
          </p:txBody>
        </p:sp>
      </p:grpSp>
      <p:sp>
        <p:nvSpPr>
          <p:cNvPr id="20" name="text-96">
            <a:extLst>
              <a:ext uri="{FF2B5EF4-FFF2-40B4-BE49-F238E27FC236}">
                <a16:creationId xmlns:a16="http://schemas.microsoft.com/office/drawing/2014/main" id="{F3871910-0601-DB80-1937-C16082F9BDC3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endParaRPr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-113">
            <a:extLst>
              <a:ext uri="{FF2B5EF4-FFF2-40B4-BE49-F238E27FC236}">
                <a16:creationId xmlns:a16="http://schemas.microsoft.com/office/drawing/2014/main" id="{8208D79A-A43A-0ACA-B5C3-2AB6EEC8E563}"/>
              </a:ext>
            </a:extLst>
          </p:cNvPr>
          <p:cNvSpPr>
            <a:spLocks noGrp="1"/>
          </p:cNvSpPr>
          <p:nvPr/>
        </p:nvSpPr>
        <p:spPr>
          <a:xfrm>
            <a:off x="952500" y="894710"/>
            <a:ext cx="5016500" cy="4311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Assi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ncronismo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Sincronismo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455420" y="2362200"/>
            <a:ext cx="1981200" cy="1219200"/>
          </a:xfrm>
          <a:custGeom>
            <a:avLst/>
            <a:gdLst/>
            <a:ahLst/>
            <a:cxnLst/>
            <a:rect l="l" t="t" r="r" b="b"/>
            <a:pathLst>
              <a:path w="2476500" h="1524000">
                <a:moveTo>
                  <a:pt x="0" y="0"/>
                </a:moveTo>
                <a:lnTo>
                  <a:pt x="2476500" y="0"/>
                </a:lnTo>
                <a:lnTo>
                  <a:pt x="24765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23128" r="23128"/>
            </a:stretch>
          </a:blipFill>
        </p:spPr>
        <p:txBody>
          <a:bodyPr/>
          <a:lstStyle/>
          <a:p>
            <a:endParaRPr lang="pt-BR" sz="1120" b="1">
              <a:solidFill>
                <a:srgbClr val="0430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50620" y="3596640"/>
            <a:ext cx="2590800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174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Cozinhar o ovo</a:t>
            </a:r>
          </a:p>
        </p:txBody>
      </p:sp>
      <p:sp>
        <p:nvSpPr>
          <p:cNvPr id="9" name="Freeform 9"/>
          <p:cNvSpPr/>
          <p:nvPr/>
        </p:nvSpPr>
        <p:spPr>
          <a:xfrm>
            <a:off x="1455420" y="4728048"/>
            <a:ext cx="1981200" cy="1219200"/>
          </a:xfrm>
          <a:custGeom>
            <a:avLst/>
            <a:gdLst/>
            <a:ahLst/>
            <a:cxnLst/>
            <a:rect l="l" t="t" r="r" b="b"/>
            <a:pathLst>
              <a:path w="2476500" h="1524000">
                <a:moveTo>
                  <a:pt x="0" y="0"/>
                </a:moveTo>
                <a:lnTo>
                  <a:pt x="2476500" y="0"/>
                </a:lnTo>
                <a:lnTo>
                  <a:pt x="24765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17589" r="17590"/>
            </a:stretch>
          </a:blipFill>
        </p:spPr>
        <p:txBody>
          <a:bodyPr/>
          <a:lstStyle/>
          <a:p>
            <a:endParaRPr lang="pt-BR" sz="1120" b="1">
              <a:solidFill>
                <a:srgbClr val="04307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50620" y="5962488"/>
            <a:ext cx="2590800" cy="281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174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Picar os legumes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4020" y="4068208"/>
            <a:ext cx="1524000" cy="36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THEN</a:t>
            </a:r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9CA6FC4-A4F7-1CAE-9AAB-640C80F4A5A7}"/>
              </a:ext>
            </a:extLst>
          </p:cNvPr>
          <p:cNvGrpSpPr/>
          <p:nvPr/>
        </p:nvGrpSpPr>
        <p:grpSpPr>
          <a:xfrm>
            <a:off x="4769124" y="3571022"/>
            <a:ext cx="2590800" cy="1211256"/>
            <a:chOff x="6934200" y="3657600"/>
            <a:chExt cx="2590800" cy="1211256"/>
          </a:xfrm>
        </p:grpSpPr>
        <p:sp>
          <p:nvSpPr>
            <p:cNvPr id="16" name="Freeform 16"/>
            <p:cNvSpPr/>
            <p:nvPr/>
          </p:nvSpPr>
          <p:spPr>
            <a:xfrm>
              <a:off x="7239000" y="3657600"/>
              <a:ext cx="1981200" cy="914400"/>
            </a:xfrm>
            <a:custGeom>
              <a:avLst/>
              <a:gdLst/>
              <a:ahLst/>
              <a:cxnLst/>
              <a:rect l="l" t="t" r="r" b="b"/>
              <a:pathLst>
                <a:path w="2476500" h="1143000">
                  <a:moveTo>
                    <a:pt x="0" y="0"/>
                  </a:moveTo>
                  <a:lnTo>
                    <a:pt x="2476500" y="0"/>
                  </a:lnTo>
                  <a:lnTo>
                    <a:pt x="24765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16307" r="16307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34200" y="4587240"/>
              <a:ext cx="2590800" cy="28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Descascar</a:t>
              </a:r>
              <a:r>
                <a:rPr lang="en-US" sz="1740" b="1" dirty="0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o </a:t>
              </a: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ovo</a:t>
              </a:r>
              <a:endParaRPr lang="en-US" sz="1740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126A810-C971-02A9-76AD-C8AC2EDF2DCF}"/>
              </a:ext>
            </a:extLst>
          </p:cNvPr>
          <p:cNvGrpSpPr/>
          <p:nvPr/>
        </p:nvGrpSpPr>
        <p:grpSpPr>
          <a:xfrm>
            <a:off x="8336280" y="3532922"/>
            <a:ext cx="2590800" cy="1287456"/>
            <a:chOff x="6934200" y="5410200"/>
            <a:chExt cx="2590800" cy="1287456"/>
          </a:xfrm>
        </p:grpSpPr>
        <p:sp>
          <p:nvSpPr>
            <p:cNvPr id="20" name="Freeform 20"/>
            <p:cNvSpPr/>
            <p:nvPr/>
          </p:nvSpPr>
          <p:spPr>
            <a:xfrm>
              <a:off x="7239000" y="5410200"/>
              <a:ext cx="1981200" cy="990600"/>
            </a:xfrm>
            <a:custGeom>
              <a:avLst/>
              <a:gdLst/>
              <a:ahLst/>
              <a:cxnLst/>
              <a:rect l="l" t="t" r="r" b="b"/>
              <a:pathLst>
                <a:path w="2476500" h="1238250">
                  <a:moveTo>
                    <a:pt x="0" y="0"/>
                  </a:moveTo>
                  <a:lnTo>
                    <a:pt x="2476500" y="0"/>
                  </a:lnTo>
                  <a:lnTo>
                    <a:pt x="247650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20833" r="20833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34200" y="6416040"/>
              <a:ext cx="2590800" cy="28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Montar</a:t>
              </a:r>
              <a:r>
                <a:rPr lang="en-US" sz="1740" b="1" dirty="0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a </a:t>
              </a: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salada</a:t>
              </a:r>
              <a:endParaRPr lang="en-US" sz="1740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2" name="text-113">
            <a:extLst>
              <a:ext uri="{FF2B5EF4-FFF2-40B4-BE49-F238E27FC236}">
                <a16:creationId xmlns:a16="http://schemas.microsoft.com/office/drawing/2014/main" id="{FBAA9A62-8EBF-62F8-3858-4F7ABF704235}"/>
              </a:ext>
            </a:extLst>
          </p:cNvPr>
          <p:cNvSpPr>
            <a:spLocks noGrp="1"/>
          </p:cNvSpPr>
          <p:nvPr/>
        </p:nvSpPr>
        <p:spPr>
          <a:xfrm>
            <a:off x="952500" y="894710"/>
            <a:ext cx="3263900" cy="4311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incronismo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789FA317-5027-6DA7-5A63-B3891439D156}"/>
              </a:ext>
            </a:extLst>
          </p:cNvPr>
          <p:cNvGrpSpPr/>
          <p:nvPr/>
        </p:nvGrpSpPr>
        <p:grpSpPr>
          <a:xfrm rot="16200000">
            <a:off x="7722603" y="3570131"/>
            <a:ext cx="198120" cy="1228279"/>
            <a:chOff x="7757160" y="2819400"/>
            <a:chExt cx="198120" cy="816588"/>
          </a:xfrm>
        </p:grpSpPr>
        <p:sp>
          <p:nvSpPr>
            <p:cNvPr id="25" name="AutoShape 10">
              <a:extLst>
                <a:ext uri="{FF2B5EF4-FFF2-40B4-BE49-F238E27FC236}">
                  <a16:creationId xmlns:a16="http://schemas.microsoft.com/office/drawing/2014/main" id="{FB269DB9-388B-C4EA-EDD4-B7EC5E579F4D}"/>
                </a:ext>
              </a:extLst>
            </p:cNvPr>
            <p:cNvSpPr/>
            <p:nvPr/>
          </p:nvSpPr>
          <p:spPr>
            <a:xfrm>
              <a:off x="7848600" y="2819400"/>
              <a:ext cx="15240" cy="723900"/>
            </a:xfrm>
            <a:prstGeom prst="rect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Box 11">
              <a:extLst>
                <a:ext uri="{FF2B5EF4-FFF2-40B4-BE49-F238E27FC236}">
                  <a16:creationId xmlns:a16="http://schemas.microsoft.com/office/drawing/2014/main" id="{CA29D3AF-4E65-95D2-A71A-B8F4896A24D1}"/>
                </a:ext>
              </a:extLst>
            </p:cNvPr>
            <p:cNvSpPr txBox="1"/>
            <p:nvPr/>
          </p:nvSpPr>
          <p:spPr>
            <a:xfrm>
              <a:off x="7757160" y="3494632"/>
              <a:ext cx="198120" cy="141356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8"/>
                </a:lnSpc>
              </a:pPr>
              <a:r>
                <a:rPr lang="en-US" sz="132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▼</a:t>
              </a:r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B7A9D45B-70B4-8C0C-F2E4-BDEE66CD2678}"/>
              </a:ext>
            </a:extLst>
          </p:cNvPr>
          <p:cNvGrpSpPr/>
          <p:nvPr/>
        </p:nvGrpSpPr>
        <p:grpSpPr>
          <a:xfrm rot="16200000">
            <a:off x="4345847" y="3596612"/>
            <a:ext cx="198120" cy="1160078"/>
            <a:chOff x="7757160" y="2819400"/>
            <a:chExt cx="198120" cy="821163"/>
          </a:xfrm>
        </p:grpSpPr>
        <p:sp>
          <p:nvSpPr>
            <p:cNvPr id="28" name="AutoShape 10">
              <a:extLst>
                <a:ext uri="{FF2B5EF4-FFF2-40B4-BE49-F238E27FC236}">
                  <a16:creationId xmlns:a16="http://schemas.microsoft.com/office/drawing/2014/main" id="{33CBAF91-4654-F8F8-F34E-00EC8963AE7C}"/>
                </a:ext>
              </a:extLst>
            </p:cNvPr>
            <p:cNvSpPr/>
            <p:nvPr/>
          </p:nvSpPr>
          <p:spPr>
            <a:xfrm>
              <a:off x="7848600" y="2819400"/>
              <a:ext cx="15240" cy="723900"/>
            </a:xfrm>
            <a:prstGeom prst="rect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TextBox 11">
              <a:extLst>
                <a:ext uri="{FF2B5EF4-FFF2-40B4-BE49-F238E27FC236}">
                  <a16:creationId xmlns:a16="http://schemas.microsoft.com/office/drawing/2014/main" id="{BCF56B89-644F-EB34-A57F-78593270EA16}"/>
                </a:ext>
              </a:extLst>
            </p:cNvPr>
            <p:cNvSpPr txBox="1"/>
            <p:nvPr/>
          </p:nvSpPr>
          <p:spPr>
            <a:xfrm>
              <a:off x="7757160" y="3490058"/>
              <a:ext cx="198120" cy="150505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8"/>
                </a:lnSpc>
              </a:pPr>
              <a:r>
                <a:rPr lang="en-US" sz="132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▼</a:t>
              </a:r>
            </a:p>
          </p:txBody>
        </p:sp>
      </p:grp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FFC536BF-E596-8FB0-089A-CB84CB75B06B}"/>
              </a:ext>
            </a:extLst>
          </p:cNvPr>
          <p:cNvCxnSpPr>
            <a:cxnSpLocks/>
          </p:cNvCxnSpPr>
          <p:nvPr/>
        </p:nvCxnSpPr>
        <p:spPr>
          <a:xfrm>
            <a:off x="3449955" y="2971800"/>
            <a:ext cx="428244" cy="0"/>
          </a:xfrm>
          <a:prstGeom prst="line">
            <a:avLst/>
          </a:prstGeom>
          <a:ln w="28575">
            <a:solidFill>
              <a:srgbClr val="0430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04AC8DCF-8981-C420-F62F-53618A9A11F2}"/>
              </a:ext>
            </a:extLst>
          </p:cNvPr>
          <p:cNvCxnSpPr>
            <a:cxnSpLocks/>
          </p:cNvCxnSpPr>
          <p:nvPr/>
        </p:nvCxnSpPr>
        <p:spPr>
          <a:xfrm>
            <a:off x="3436620" y="5336978"/>
            <a:ext cx="428244" cy="0"/>
          </a:xfrm>
          <a:prstGeom prst="line">
            <a:avLst/>
          </a:prstGeom>
          <a:ln w="28575">
            <a:solidFill>
              <a:srgbClr val="0430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C52491AF-CA82-DEB3-501D-D1217641F8DD}"/>
              </a:ext>
            </a:extLst>
          </p:cNvPr>
          <p:cNvCxnSpPr>
            <a:cxnSpLocks/>
          </p:cNvCxnSpPr>
          <p:nvPr/>
        </p:nvCxnSpPr>
        <p:spPr>
          <a:xfrm flipH="1">
            <a:off x="3864864" y="2971800"/>
            <a:ext cx="3" cy="2379147"/>
          </a:xfrm>
          <a:prstGeom prst="line">
            <a:avLst/>
          </a:prstGeom>
          <a:ln w="28575">
            <a:solidFill>
              <a:srgbClr val="0430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B3553FB-EFB2-A236-6948-8264BD8D8B6C}"/>
              </a:ext>
            </a:extLst>
          </p:cNvPr>
          <p:cNvGrpSpPr/>
          <p:nvPr/>
        </p:nvGrpSpPr>
        <p:grpSpPr>
          <a:xfrm rot="16200000">
            <a:off x="8534820" y="4577066"/>
            <a:ext cx="198120" cy="851741"/>
            <a:chOff x="7757160" y="1219200"/>
            <a:chExt cx="198120" cy="851741"/>
          </a:xfrm>
        </p:grpSpPr>
        <p:sp>
          <p:nvSpPr>
            <p:cNvPr id="6" name="AutoShape 6"/>
            <p:cNvSpPr/>
            <p:nvPr/>
          </p:nvSpPr>
          <p:spPr>
            <a:xfrm>
              <a:off x="7848600" y="1219200"/>
              <a:ext cx="15240" cy="723900"/>
            </a:xfrm>
            <a:prstGeom prst="rect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757160" y="1859280"/>
              <a:ext cx="198120" cy="211661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8"/>
                </a:lnSpc>
              </a:pPr>
              <a:r>
                <a:rPr lang="en-US" sz="132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▼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811FF1F-61DC-C82E-B69D-66951AC2A364}"/>
              </a:ext>
            </a:extLst>
          </p:cNvPr>
          <p:cNvGrpSpPr/>
          <p:nvPr/>
        </p:nvGrpSpPr>
        <p:grpSpPr>
          <a:xfrm rot="16200000">
            <a:off x="3337559" y="4533048"/>
            <a:ext cx="198120" cy="851741"/>
            <a:chOff x="7757160" y="2819400"/>
            <a:chExt cx="198120" cy="851741"/>
          </a:xfrm>
        </p:grpSpPr>
        <p:sp>
          <p:nvSpPr>
            <p:cNvPr id="10" name="AutoShape 10"/>
            <p:cNvSpPr/>
            <p:nvPr/>
          </p:nvSpPr>
          <p:spPr>
            <a:xfrm>
              <a:off x="7848600" y="2819400"/>
              <a:ext cx="15240" cy="723900"/>
            </a:xfrm>
            <a:prstGeom prst="rect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57160" y="3459480"/>
              <a:ext cx="198120" cy="211661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8"/>
                </a:lnSpc>
              </a:pPr>
              <a:r>
                <a:rPr lang="en-US" sz="132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▼</a:t>
              </a:r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A396FBE-C3ED-4396-8DFD-DAD4EEBE0EB9}"/>
              </a:ext>
            </a:extLst>
          </p:cNvPr>
          <p:cNvGrpSpPr/>
          <p:nvPr/>
        </p:nvGrpSpPr>
        <p:grpSpPr>
          <a:xfrm rot="16200000">
            <a:off x="5936190" y="4555055"/>
            <a:ext cx="198120" cy="851741"/>
            <a:chOff x="7757160" y="4419600"/>
            <a:chExt cx="198120" cy="851741"/>
          </a:xfrm>
        </p:grpSpPr>
        <p:sp>
          <p:nvSpPr>
            <p:cNvPr id="14" name="AutoShape 14"/>
            <p:cNvSpPr/>
            <p:nvPr/>
          </p:nvSpPr>
          <p:spPr>
            <a:xfrm>
              <a:off x="7848600" y="4419600"/>
              <a:ext cx="15240" cy="723900"/>
            </a:xfrm>
            <a:prstGeom prst="rect">
              <a:avLst/>
            </a:prstGeom>
            <a:solidFill>
              <a:srgbClr val="043073"/>
            </a:solidFill>
            <a:ln>
              <a:solidFill>
                <a:srgbClr val="043073"/>
              </a:solidFill>
            </a:ln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57160" y="5059680"/>
              <a:ext cx="198120" cy="211661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48"/>
                </a:lnSpc>
              </a:pPr>
              <a:r>
                <a:rPr lang="en-US" sz="132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▼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D0AF60F-6AA7-99F8-C2EF-8615FEF6F7A2}"/>
              </a:ext>
            </a:extLst>
          </p:cNvPr>
          <p:cNvGrpSpPr/>
          <p:nvPr/>
        </p:nvGrpSpPr>
        <p:grpSpPr>
          <a:xfrm>
            <a:off x="1207770" y="3211911"/>
            <a:ext cx="2362200" cy="1287456"/>
            <a:chOff x="4724400" y="190500"/>
            <a:chExt cx="2362200" cy="1287456"/>
          </a:xfrm>
        </p:grpSpPr>
        <p:sp>
          <p:nvSpPr>
            <p:cNvPr id="4" name="Freeform 4"/>
            <p:cNvSpPr/>
            <p:nvPr/>
          </p:nvSpPr>
          <p:spPr>
            <a:xfrm>
              <a:off x="5029200" y="190500"/>
              <a:ext cx="1752600" cy="990600"/>
            </a:xfrm>
            <a:custGeom>
              <a:avLst/>
              <a:gdLst/>
              <a:ahLst/>
              <a:cxnLst/>
              <a:rect l="l" t="t" r="r" b="b"/>
              <a:pathLst>
                <a:path w="2190750" h="1238250">
                  <a:moveTo>
                    <a:pt x="0" y="0"/>
                  </a:moveTo>
                  <a:lnTo>
                    <a:pt x="2190750" y="0"/>
                  </a:lnTo>
                  <a:lnTo>
                    <a:pt x="219075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25318" r="25319"/>
              </a:stretch>
            </a:blipFill>
          </p:spPr>
          <p:txBody>
            <a:bodyPr/>
            <a:lstStyle/>
            <a:p>
              <a:endParaRPr lang="pt-BR" sz="112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724400" y="1196340"/>
              <a:ext cx="2362200" cy="28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Cozinhar</a:t>
              </a:r>
              <a:r>
                <a:rPr lang="en-US" sz="1740" b="1" dirty="0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o </a:t>
              </a: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ovo</a:t>
              </a:r>
              <a:endParaRPr lang="en-US" sz="1740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398901F2-C8E5-D657-36FE-BB8BA5B030A5}"/>
              </a:ext>
            </a:extLst>
          </p:cNvPr>
          <p:cNvGrpSpPr/>
          <p:nvPr/>
        </p:nvGrpSpPr>
        <p:grpSpPr>
          <a:xfrm>
            <a:off x="3679190" y="3211911"/>
            <a:ext cx="2362200" cy="1287456"/>
            <a:chOff x="4724400" y="1790700"/>
            <a:chExt cx="2362200" cy="1287456"/>
          </a:xfrm>
        </p:grpSpPr>
        <p:sp>
          <p:nvSpPr>
            <p:cNvPr id="8" name="Freeform 8"/>
            <p:cNvSpPr/>
            <p:nvPr/>
          </p:nvSpPr>
          <p:spPr>
            <a:xfrm>
              <a:off x="5029200" y="1790700"/>
              <a:ext cx="1752600" cy="990600"/>
            </a:xfrm>
            <a:custGeom>
              <a:avLst/>
              <a:gdLst/>
              <a:ahLst/>
              <a:cxnLst/>
              <a:rect l="l" t="t" r="r" b="b"/>
              <a:pathLst>
                <a:path w="2190750" h="1238250">
                  <a:moveTo>
                    <a:pt x="0" y="0"/>
                  </a:moveTo>
                  <a:lnTo>
                    <a:pt x="2190750" y="0"/>
                  </a:lnTo>
                  <a:lnTo>
                    <a:pt x="219075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20231" r="20232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724400" y="2796540"/>
              <a:ext cx="2362200" cy="28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Picar os legumes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5A7C36A-1FA2-C460-2ADA-66091E4C4BD3}"/>
              </a:ext>
            </a:extLst>
          </p:cNvPr>
          <p:cNvGrpSpPr/>
          <p:nvPr/>
        </p:nvGrpSpPr>
        <p:grpSpPr>
          <a:xfrm>
            <a:off x="6150610" y="3211911"/>
            <a:ext cx="2362200" cy="1287456"/>
            <a:chOff x="4724400" y="3390900"/>
            <a:chExt cx="2362200" cy="1287456"/>
          </a:xfrm>
        </p:grpSpPr>
        <p:sp>
          <p:nvSpPr>
            <p:cNvPr id="12" name="Freeform 12"/>
            <p:cNvSpPr/>
            <p:nvPr/>
          </p:nvSpPr>
          <p:spPr>
            <a:xfrm>
              <a:off x="5029200" y="3390900"/>
              <a:ext cx="1752600" cy="990600"/>
            </a:xfrm>
            <a:custGeom>
              <a:avLst/>
              <a:gdLst/>
              <a:ahLst/>
              <a:cxnLst/>
              <a:rect l="l" t="t" r="r" b="b"/>
              <a:pathLst>
                <a:path w="2190750" h="1238250">
                  <a:moveTo>
                    <a:pt x="0" y="0"/>
                  </a:moveTo>
                  <a:lnTo>
                    <a:pt x="2190750" y="0"/>
                  </a:lnTo>
                  <a:lnTo>
                    <a:pt x="219075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8739" r="8739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24400" y="4396740"/>
              <a:ext cx="2362200" cy="28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Descascar o ovo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21F0377-FDD1-2A53-E129-140F17AD45D5}"/>
              </a:ext>
            </a:extLst>
          </p:cNvPr>
          <p:cNvGrpSpPr/>
          <p:nvPr/>
        </p:nvGrpSpPr>
        <p:grpSpPr>
          <a:xfrm>
            <a:off x="8622030" y="3211911"/>
            <a:ext cx="2362200" cy="1287456"/>
            <a:chOff x="4724400" y="4991100"/>
            <a:chExt cx="2362200" cy="1287456"/>
          </a:xfrm>
        </p:grpSpPr>
        <p:sp>
          <p:nvSpPr>
            <p:cNvPr id="16" name="Freeform 16"/>
            <p:cNvSpPr/>
            <p:nvPr/>
          </p:nvSpPr>
          <p:spPr>
            <a:xfrm>
              <a:off x="5029200" y="4991100"/>
              <a:ext cx="1752600" cy="990600"/>
            </a:xfrm>
            <a:custGeom>
              <a:avLst/>
              <a:gdLst/>
              <a:ahLst/>
              <a:cxnLst/>
              <a:rect l="l" t="t" r="r" b="b"/>
              <a:pathLst>
                <a:path w="2190750" h="1238250">
                  <a:moveTo>
                    <a:pt x="0" y="0"/>
                  </a:moveTo>
                  <a:lnTo>
                    <a:pt x="2190750" y="0"/>
                  </a:lnTo>
                  <a:lnTo>
                    <a:pt x="219075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17029" r="17028"/>
              </a:stretch>
            </a:blipFill>
          </p:spPr>
          <p:txBody>
            <a:bodyPr/>
            <a:lstStyle/>
            <a:p>
              <a:endParaRPr lang="pt-BR" sz="112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24400" y="5996940"/>
              <a:ext cx="2362200" cy="2816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Montar</a:t>
              </a:r>
              <a:r>
                <a:rPr lang="en-US" sz="1740" b="1" dirty="0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a </a:t>
              </a:r>
              <a:r>
                <a:rPr lang="en-US" sz="1740" b="1" dirty="0" err="1">
                  <a:solidFill>
                    <a:srgbClr val="04307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salada</a:t>
              </a:r>
              <a:endParaRPr lang="en-US" sz="1740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57" name="text-113">
            <a:extLst>
              <a:ext uri="{FF2B5EF4-FFF2-40B4-BE49-F238E27FC236}">
                <a16:creationId xmlns:a16="http://schemas.microsoft.com/office/drawing/2014/main" id="{F5321AE8-66D8-756D-9F55-BD7A223AF503}"/>
              </a:ext>
            </a:extLst>
          </p:cNvPr>
          <p:cNvSpPr>
            <a:spLocks noGrp="1"/>
          </p:cNvSpPr>
          <p:nvPr/>
        </p:nvSpPr>
        <p:spPr>
          <a:xfrm>
            <a:off x="952500" y="894710"/>
            <a:ext cx="3263900" cy="4311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incronismo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13">
            <a:extLst>
              <a:ext uri="{FF2B5EF4-FFF2-40B4-BE49-F238E27FC236}">
                <a16:creationId xmlns:a16="http://schemas.microsoft.com/office/drawing/2014/main" id="{B9EE982A-227B-45CD-BAED-DF3371CEF73B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Sincronismo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assincronismo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-114">
            <a:extLst>
              <a:ext uri="{FF2B5EF4-FFF2-40B4-BE49-F238E27FC236}">
                <a16:creationId xmlns:a16="http://schemas.microsoft.com/office/drawing/2014/main" id="{B7CD21C1-30C2-44E1-B5A5-621B4FE406FF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3" name="text-115">
            <a:extLst>
              <a:ext uri="{FF2B5EF4-FFF2-40B4-BE49-F238E27FC236}">
                <a16:creationId xmlns:a16="http://schemas.microsoft.com/office/drawing/2014/main" id="{F2841096-6CE0-41D6-B13B-A0BA5CCE6EE0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diferença está no que acontece durante a espera.</a:t>
            </a:r>
          </a:p>
        </p:txBody>
      </p:sp>
      <p:sp>
        <p:nvSpPr>
          <p:cNvPr id="4" name="surface-116">
            <a:extLst>
              <a:ext uri="{FF2B5EF4-FFF2-40B4-BE49-F238E27FC236}">
                <a16:creationId xmlns:a16="http://schemas.microsoft.com/office/drawing/2014/main" id="{E6B99470-6112-4285-BD05-132EE39E3CE3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117">
            <a:extLst>
              <a:ext uri="{FF2B5EF4-FFF2-40B4-BE49-F238E27FC236}">
                <a16:creationId xmlns:a16="http://schemas.microsoft.com/office/drawing/2014/main" id="{513AF6BC-78DD-4010-A0C9-E8BF44A825A5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Síncrono</a:t>
            </a:r>
          </a:p>
        </p:txBody>
      </p:sp>
      <p:sp>
        <p:nvSpPr>
          <p:cNvPr id="6" name="text-118">
            <a:extLst>
              <a:ext uri="{FF2B5EF4-FFF2-40B4-BE49-F238E27FC236}">
                <a16:creationId xmlns:a16="http://schemas.microsoft.com/office/drawing/2014/main" id="{60EA2798-26F2-4A45-96C7-FF4549F02896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Espera o ovo cozinhar.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Depois, pica os legumes.</a:t>
            </a:r>
          </a:p>
        </p:txBody>
      </p:sp>
      <p:sp>
        <p:nvSpPr>
          <p:cNvPr id="7" name="surface-119">
            <a:extLst>
              <a:ext uri="{FF2B5EF4-FFF2-40B4-BE49-F238E27FC236}">
                <a16:creationId xmlns:a16="http://schemas.microsoft.com/office/drawing/2014/main" id="{22067006-FEA2-4C2D-A8B9-9E7346D5F712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120">
            <a:extLst>
              <a:ext uri="{FF2B5EF4-FFF2-40B4-BE49-F238E27FC236}">
                <a16:creationId xmlns:a16="http://schemas.microsoft.com/office/drawing/2014/main" id="{5959A7D3-D6D6-4A31-AB4B-EE3756CB8774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Assíncrono</a:t>
            </a:r>
          </a:p>
        </p:txBody>
      </p:sp>
      <p:sp>
        <p:nvSpPr>
          <p:cNvPr id="9" name="text-121">
            <a:extLst>
              <a:ext uri="{FF2B5EF4-FFF2-40B4-BE49-F238E27FC236}">
                <a16:creationId xmlns:a16="http://schemas.microsoft.com/office/drawing/2014/main" id="{03C6F372-B35D-4217-9571-DD1E77F7C923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 o cozimento.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Durante a espera, pica os legumes.</a:t>
            </a:r>
          </a:p>
        </p:txBody>
      </p:sp>
      <p:sp>
        <p:nvSpPr>
          <p:cNvPr id="10" name="surface-122">
            <a:extLst>
              <a:ext uri="{FF2B5EF4-FFF2-40B4-BE49-F238E27FC236}">
                <a16:creationId xmlns:a16="http://schemas.microsoft.com/office/drawing/2014/main" id="{1A49215A-2E10-49E5-A163-236C8B2265A1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123">
            <a:extLst>
              <a:ext uri="{FF2B5EF4-FFF2-40B4-BE49-F238E27FC236}">
                <a16:creationId xmlns:a16="http://schemas.microsoft.com/office/drawing/2014/main" id="{E32FCCFD-0B62-4AA3-8220-F1E7897085AD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Descascar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pronto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ambos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8590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24">
            <a:extLst>
              <a:ext uri="{FF2B5EF4-FFF2-40B4-BE49-F238E27FC236}">
                <a16:creationId xmlns:a16="http://schemas.microsoft.com/office/drawing/2014/main" id="{D81A9507-471C-4337-AAB0-722D015BCBD1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.then()</a:t>
            </a:r>
          </a:p>
        </p:txBody>
      </p:sp>
      <p:sp>
        <p:nvSpPr>
          <p:cNvPr id="2" name="text-125">
            <a:extLst>
              <a:ext uri="{FF2B5EF4-FFF2-40B4-BE49-F238E27FC236}">
                <a16:creationId xmlns:a16="http://schemas.microsoft.com/office/drawing/2014/main" id="{E93F5F6F-0733-406A-92AD-4D307D2F7D70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urface-126">
            <a:extLst>
              <a:ext uri="{FF2B5EF4-FFF2-40B4-BE49-F238E27FC236}">
                <a16:creationId xmlns:a16="http://schemas.microsoft.com/office/drawing/2014/main" id="{AF6F1A93-E391-4339-94B8-DC71C086114C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10687050" cy="2857500"/>
          </a:xfrm>
          <a:prstGeom prst="roundRect">
            <a:avLst>
              <a:gd name="adj" fmla="val 5333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-127">
            <a:extLst>
              <a:ext uri="{FF2B5EF4-FFF2-40B4-BE49-F238E27FC236}">
                <a16:creationId xmlns:a16="http://schemas.microsoft.com/office/drawing/2014/main" id="{0FE99611-1B50-4441-A2D0-51E9EDF05A5C}"/>
              </a:ext>
            </a:extLst>
          </p:cNvPr>
          <p:cNvSpPr>
            <a:spLocks noGrp="1"/>
          </p:cNvSpPr>
          <p:nvPr/>
        </p:nvSpPr>
        <p:spPr>
          <a:xfrm>
            <a:off x="1000125" y="2038350"/>
            <a:ext cx="1028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get(Uri.parse(url)).then((response) {</a:t>
            </a:r>
          </a:p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print("Resposta recebida");</a:t>
            </a:r>
          </a:p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});</a:t>
            </a:r>
          </a:p>
          <a:p>
            <a:endParaRPr sz="2025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print("Continuando o programa");</a:t>
            </a:r>
          </a:p>
        </p:txBody>
      </p:sp>
      <p:sp>
        <p:nvSpPr>
          <p:cNvPr id="5" name="surface-128">
            <a:extLst>
              <a:ext uri="{FF2B5EF4-FFF2-40B4-BE49-F238E27FC236}">
                <a16:creationId xmlns:a16="http://schemas.microsoft.com/office/drawing/2014/main" id="{D6F48BAE-741A-4168-93FA-48A996A9428B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-129">
            <a:extLst>
              <a:ext uri="{FF2B5EF4-FFF2-40B4-BE49-F238E27FC236}">
                <a16:creationId xmlns:a16="http://schemas.microsoft.com/office/drawing/2014/main" id="{41943E81-7853-41A9-9D75-11AB49A0F226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Continuando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2.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recebida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24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30">
            <a:extLst>
              <a:ext uri="{FF2B5EF4-FFF2-40B4-BE49-F238E27FC236}">
                <a16:creationId xmlns:a16="http://schemas.microsoft.com/office/drawing/2014/main" id="{50263B79-5DCB-46CC-AA81-4A8BF8BA8CC3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async e await</a:t>
            </a:r>
          </a:p>
        </p:txBody>
      </p:sp>
      <p:sp>
        <p:nvSpPr>
          <p:cNvPr id="2" name="text-131">
            <a:extLst>
              <a:ext uri="{FF2B5EF4-FFF2-40B4-BE49-F238E27FC236}">
                <a16:creationId xmlns:a16="http://schemas.microsoft.com/office/drawing/2014/main" id="{58E3404C-201D-4E73-A62D-D54BA5EA1DF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3" name="text-132">
            <a:extLst>
              <a:ext uri="{FF2B5EF4-FFF2-40B4-BE49-F238E27FC236}">
                <a16:creationId xmlns:a16="http://schemas.microsoft.com/office/drawing/2014/main" id="{ADA4B9B5-C80F-40BB-B83B-74904980F655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leitura fica em sequência, mesmo com uma operação assíncrona.</a:t>
            </a:r>
          </a:p>
        </p:txBody>
      </p:sp>
      <p:sp>
        <p:nvSpPr>
          <p:cNvPr id="4" name="surface-133">
            <a:extLst>
              <a:ext uri="{FF2B5EF4-FFF2-40B4-BE49-F238E27FC236}">
                <a16:creationId xmlns:a16="http://schemas.microsoft.com/office/drawing/2014/main" id="{C2A5AF62-92FC-48B8-ABDF-92F3E483A395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-134">
            <a:extLst>
              <a:ext uri="{FF2B5EF4-FFF2-40B4-BE49-F238E27FC236}">
                <a16:creationId xmlns:a16="http://schemas.microsoft.com/office/drawing/2014/main" id="{5F6B0861-3076-4FD4-A331-D603C7194518}"/>
              </a:ext>
            </a:extLst>
          </p:cNvPr>
          <p:cNvSpPr>
            <a:spLocks noGrp="1"/>
          </p:cNvSpPr>
          <p:nvPr/>
        </p:nvSpPr>
        <p:spPr>
          <a:xfrm>
            <a:off x="1066800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</a:p>
        </p:txBody>
      </p:sp>
      <p:sp>
        <p:nvSpPr>
          <p:cNvPr id="6" name="text-135">
            <a:extLst>
              <a:ext uri="{FF2B5EF4-FFF2-40B4-BE49-F238E27FC236}">
                <a16:creationId xmlns:a16="http://schemas.microsoft.com/office/drawing/2014/main" id="{4F543057-D287-4E00-88B7-FA3C4F445003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Marca a função como assíncrona.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Permite usar await no corpo.</a:t>
            </a:r>
          </a:p>
        </p:txBody>
      </p:sp>
      <p:sp>
        <p:nvSpPr>
          <p:cNvPr id="7" name="surface-136">
            <a:extLst>
              <a:ext uri="{FF2B5EF4-FFF2-40B4-BE49-F238E27FC236}">
                <a16:creationId xmlns:a16="http://schemas.microsoft.com/office/drawing/2014/main" id="{CEF5E02C-8699-48D5-8F45-54BC8B1F2539}"/>
              </a:ext>
            </a:extLst>
          </p:cNvPr>
          <p:cNvSpPr>
            <a:spLocks noGrp="1"/>
          </p:cNvSpPr>
          <p:nvPr/>
        </p:nvSpPr>
        <p:spPr>
          <a:xfrm>
            <a:off x="6353175" y="2571750"/>
            <a:ext cx="5248275" cy="2571750"/>
          </a:xfrm>
          <a:prstGeom prst="roundRect">
            <a:avLst>
              <a:gd name="adj" fmla="val 5926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-137">
            <a:extLst>
              <a:ext uri="{FF2B5EF4-FFF2-40B4-BE49-F238E27FC236}">
                <a16:creationId xmlns:a16="http://schemas.microsoft.com/office/drawing/2014/main" id="{989E7A3C-C0AF-4616-9A21-C9F872538833}"/>
              </a:ext>
            </a:extLst>
          </p:cNvPr>
          <p:cNvSpPr>
            <a:spLocks noGrp="1"/>
          </p:cNvSpPr>
          <p:nvPr/>
        </p:nvSpPr>
        <p:spPr>
          <a:xfrm>
            <a:off x="6619875" y="2819400"/>
            <a:ext cx="4714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await</a:t>
            </a:r>
          </a:p>
        </p:txBody>
      </p:sp>
      <p:sp>
        <p:nvSpPr>
          <p:cNvPr id="9" name="text-138">
            <a:extLst>
              <a:ext uri="{FF2B5EF4-FFF2-40B4-BE49-F238E27FC236}">
                <a16:creationId xmlns:a16="http://schemas.microsoft.com/office/drawing/2014/main" id="{51D0753C-54A2-4634-BDCE-ADC1868E7966}"/>
              </a:ext>
            </a:extLst>
          </p:cNvPr>
          <p:cNvSpPr>
            <a:spLocks noGrp="1"/>
          </p:cNvSpPr>
          <p:nvPr/>
        </p:nvSpPr>
        <p:spPr>
          <a:xfrm>
            <a:off x="6619875" y="3619500"/>
            <a:ext cx="4714875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Aguarda um Future.</a:t>
            </a:r>
          </a:p>
          <a:p>
            <a:endParaRPr sz="1950" b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9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Obtém o valor quando ele chega.</a:t>
            </a:r>
          </a:p>
        </p:txBody>
      </p:sp>
      <p:sp>
        <p:nvSpPr>
          <p:cNvPr id="10" name="surface-139">
            <a:extLst>
              <a:ext uri="{FF2B5EF4-FFF2-40B4-BE49-F238E27FC236}">
                <a16:creationId xmlns:a16="http://schemas.microsoft.com/office/drawing/2014/main" id="{42C716FB-CCF7-4063-8A59-39EE58B24455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140">
            <a:extLst>
              <a:ext uri="{FF2B5EF4-FFF2-40B4-BE49-F238E27FC236}">
                <a16:creationId xmlns:a16="http://schemas.microsoft.com/office/drawing/2014/main" id="{85904F01-6D09-4C7D-B636-963B5751B1C0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função atual pausa na espera. A aplicação pode atender outras tarefas.</a:t>
            </a:r>
          </a:p>
        </p:txBody>
      </p:sp>
    </p:spTree>
    <p:extLst>
      <p:ext uri="{BB962C8B-B14F-4D97-AF65-F5344CB8AC3E}">
        <p14:creationId xmlns:p14="http://schemas.microsoft.com/office/powerpoint/2010/main" val="510058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141">
            <a:extLst>
              <a:ext uri="{FF2B5EF4-FFF2-40B4-BE49-F238E27FC236}">
                <a16:creationId xmlns:a16="http://schemas.microsoft.com/office/drawing/2014/main" id="{540AFFA1-2C62-4563-8801-8D3EAB82495F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prática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aguardando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resposta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-142">
            <a:extLst>
              <a:ext uri="{FF2B5EF4-FFF2-40B4-BE49-F238E27FC236}">
                <a16:creationId xmlns:a16="http://schemas.microsoft.com/office/drawing/2014/main" id="{E610F609-0387-45E9-902F-A77AE1DD36C6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surface-143">
            <a:extLst>
              <a:ext uri="{FF2B5EF4-FFF2-40B4-BE49-F238E27FC236}">
                <a16:creationId xmlns:a16="http://schemas.microsoft.com/office/drawing/2014/main" id="{6EB4B57A-79A4-4B8C-90A7-010BF9B8D38B}"/>
              </a:ext>
            </a:extLst>
          </p:cNvPr>
          <p:cNvSpPr>
            <a:spLocks noGrp="1"/>
          </p:cNvSpPr>
          <p:nvPr/>
        </p:nvSpPr>
        <p:spPr>
          <a:xfrm>
            <a:off x="800100" y="1743075"/>
            <a:ext cx="10687050" cy="3762375"/>
          </a:xfrm>
          <a:prstGeom prst="roundRect">
            <a:avLst>
              <a:gd name="adj" fmla="val 4051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-144">
            <a:extLst>
              <a:ext uri="{FF2B5EF4-FFF2-40B4-BE49-F238E27FC236}">
                <a16:creationId xmlns:a16="http://schemas.microsoft.com/office/drawing/2014/main" id="{7060B26F-2ECD-4B28-824E-B87349755C18}"/>
              </a:ext>
            </a:extLst>
          </p:cNvPr>
          <p:cNvSpPr>
            <a:spLocks noGrp="1"/>
          </p:cNvSpPr>
          <p:nvPr/>
        </p:nvSpPr>
        <p:spPr>
          <a:xfrm>
            <a:off x="1000125" y="1933575"/>
            <a:ext cx="10287000" cy="3381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Future&lt;void&gt; requestDataAsync() async {</a:t>
            </a:r>
          </a:p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Response response = await get(Uri.parse(url));</a:t>
            </a:r>
          </a:p>
          <a:p>
            <a:endParaRPr sz="1875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List&lt;dynamic&gt; listaFilmes =</a:t>
            </a:r>
          </a:p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    json.decode(response.body);</a:t>
            </a:r>
          </a:p>
          <a:p>
            <a:endParaRPr sz="1875" b="0">
              <a:solidFill>
                <a:srgbClr val="043073"/>
              </a:solidFill>
              <a:latin typeface="Courier New"/>
              <a:ea typeface="Courier New"/>
              <a:cs typeface="Courier New"/>
            </a:endParaRPr>
          </a:p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print(listaFilmes[0]);</a:t>
            </a:r>
          </a:p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print("Último a ser executado");</a:t>
            </a:r>
          </a:p>
          <a:p>
            <a:pPr>
              <a:def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5" name="surface-145">
            <a:extLst>
              <a:ext uri="{FF2B5EF4-FFF2-40B4-BE49-F238E27FC236}">
                <a16:creationId xmlns:a16="http://schemas.microsoft.com/office/drawing/2014/main" id="{EC7A6124-6923-4E31-830A-D21CEF2B00F0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-146">
            <a:extLst>
              <a:ext uri="{FF2B5EF4-FFF2-40B4-BE49-F238E27FC236}">
                <a16:creationId xmlns:a16="http://schemas.microsoft.com/office/drawing/2014/main" id="{170CB9B4-FF33-4DE2-A52C-3D76C907582E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próxima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instrução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só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quando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await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terminar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1771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47">
            <a:extLst>
              <a:ext uri="{FF2B5EF4-FFF2-40B4-BE49-F238E27FC236}">
                <a16:creationId xmlns:a16="http://schemas.microsoft.com/office/drawing/2014/main" id="{81DBB3D7-2371-48DA-8FE5-5FEE02B89302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.then() e await: duas formas de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continuar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-148">
            <a:extLst>
              <a:ext uri="{FF2B5EF4-FFF2-40B4-BE49-F238E27FC236}">
                <a16:creationId xmlns:a16="http://schemas.microsoft.com/office/drawing/2014/main" id="{5EE853D3-CEF1-417E-86D7-34FD7ABC0D93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cs typeface="Times New Roman" panose="02020603050405020304" pitchFamily="18" charset="0"/>
              </a:rPr>
              <a:t>18</a:t>
            </a:r>
          </a:p>
        </p:txBody>
      </p:sp>
      <p:sp>
        <p:nvSpPr>
          <p:cNvPr id="3" name="text-149">
            <a:extLst>
              <a:ext uri="{FF2B5EF4-FFF2-40B4-BE49-F238E27FC236}">
                <a16:creationId xmlns:a16="http://schemas.microsoft.com/office/drawing/2014/main" id="{EF931A0A-5C9D-4DFF-8C0C-88E1B1376E3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Ambos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permitem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usar o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um Future.</a:t>
            </a:r>
          </a:p>
        </p:txBody>
      </p:sp>
      <p:sp>
        <p:nvSpPr>
          <p:cNvPr id="4" name="surface-150">
            <a:extLst>
              <a:ext uri="{FF2B5EF4-FFF2-40B4-BE49-F238E27FC236}">
                <a16:creationId xmlns:a16="http://schemas.microsoft.com/office/drawing/2014/main" id="{383912BA-5AEF-42D9-AC22-5FE00671DB32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5238750" cy="2381250"/>
          </a:xfrm>
          <a:prstGeom prst="roundRect">
            <a:avLst>
              <a:gd name="adj" fmla="val 6400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urface-151">
            <a:extLst>
              <a:ext uri="{FF2B5EF4-FFF2-40B4-BE49-F238E27FC236}">
                <a16:creationId xmlns:a16="http://schemas.microsoft.com/office/drawing/2014/main" id="{9FAD2C6B-CE4D-4337-97AF-736298DDDF86}"/>
              </a:ext>
            </a:extLst>
          </p:cNvPr>
          <p:cNvSpPr>
            <a:spLocks noGrp="1"/>
          </p:cNvSpPr>
          <p:nvPr/>
        </p:nvSpPr>
        <p:spPr>
          <a:xfrm>
            <a:off x="6343650" y="2571750"/>
            <a:ext cx="5257800" cy="2381250"/>
          </a:xfrm>
          <a:prstGeom prst="roundRect">
            <a:avLst>
              <a:gd name="adj" fmla="val 6400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-152">
            <a:extLst>
              <a:ext uri="{FF2B5EF4-FFF2-40B4-BE49-F238E27FC236}">
                <a16:creationId xmlns:a16="http://schemas.microsoft.com/office/drawing/2014/main" id="{0DE0DF1F-B22F-4956-B3F6-951F4C9AF9BD}"/>
              </a:ext>
            </a:extLst>
          </p:cNvPr>
          <p:cNvSpPr>
            <a:spLocks noGrp="1"/>
          </p:cNvSpPr>
          <p:nvPr/>
        </p:nvSpPr>
        <p:spPr>
          <a:xfrm>
            <a:off x="1047750" y="27241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cs typeface="Times New Roman" panose="02020603050405020304" pitchFamily="18" charset="0"/>
              </a:rPr>
              <a:t>.then()</a:t>
            </a:r>
          </a:p>
        </p:txBody>
      </p:sp>
      <p:sp>
        <p:nvSpPr>
          <p:cNvPr id="7" name="text-153">
            <a:extLst>
              <a:ext uri="{FF2B5EF4-FFF2-40B4-BE49-F238E27FC236}">
                <a16:creationId xmlns:a16="http://schemas.microsoft.com/office/drawing/2014/main" id="{8810D776-98CF-4EDF-956C-358308B9FCE8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43073"/>
                </a:solidFill>
              </a:rPr>
              <a:t>get(uri).then((response) {</a:t>
            </a:r>
          </a:p>
          <a:p>
            <a: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43073"/>
                </a:solidFill>
              </a:rPr>
              <a:t>  print(response.body);</a:t>
            </a:r>
          </a:p>
          <a:p>
            <a: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43073"/>
                </a:solidFill>
              </a:rPr>
              <a:t>});</a:t>
            </a:r>
          </a:p>
        </p:txBody>
      </p:sp>
      <p:sp>
        <p:nvSpPr>
          <p:cNvPr id="8" name="text-154">
            <a:extLst>
              <a:ext uri="{FF2B5EF4-FFF2-40B4-BE49-F238E27FC236}">
                <a16:creationId xmlns:a16="http://schemas.microsoft.com/office/drawing/2014/main" id="{4551461F-BFEC-40A8-89A1-859A923D5B24}"/>
              </a:ext>
            </a:extLst>
          </p:cNvPr>
          <p:cNvSpPr>
            <a:spLocks noGrp="1"/>
          </p:cNvSpPr>
          <p:nvPr/>
        </p:nvSpPr>
        <p:spPr>
          <a:xfrm>
            <a:off x="6591300" y="27241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cs typeface="Times New Roman" panose="02020603050405020304" pitchFamily="18" charset="0"/>
              </a:rPr>
              <a:t>await</a:t>
            </a:r>
          </a:p>
        </p:txBody>
      </p:sp>
      <p:sp>
        <p:nvSpPr>
          <p:cNvPr id="9" name="text-155">
            <a:extLst>
              <a:ext uri="{FF2B5EF4-FFF2-40B4-BE49-F238E27FC236}">
                <a16:creationId xmlns:a16="http://schemas.microsoft.com/office/drawing/2014/main" id="{A791F850-8203-418E-A047-34D5EFA7F467}"/>
              </a:ext>
            </a:extLst>
          </p:cNvPr>
          <p:cNvSpPr>
            <a:spLocks noGrp="1"/>
          </p:cNvSpPr>
          <p:nvPr/>
        </p:nvSpPr>
        <p:spPr>
          <a:xfrm>
            <a:off x="6591300" y="33337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43073"/>
                </a:solidFill>
              </a:rPr>
              <a:t>Response response =</a:t>
            </a:r>
          </a:p>
          <a:p>
            <a: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43073"/>
                </a:solidFill>
              </a:rPr>
              <a:t>    await get(uri);</a:t>
            </a:r>
          </a:p>
          <a:p>
            <a:pPr>
              <a:defRPr sz="172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043073"/>
                </a:solidFill>
              </a:rPr>
              <a:t>print(response.body);</a:t>
            </a:r>
          </a:p>
        </p:txBody>
      </p:sp>
      <p:sp>
        <p:nvSpPr>
          <p:cNvPr id="10" name="surface-156">
            <a:extLst>
              <a:ext uri="{FF2B5EF4-FFF2-40B4-BE49-F238E27FC236}">
                <a16:creationId xmlns:a16="http://schemas.microsoft.com/office/drawing/2014/main" id="{BBCA683D-9CFE-40D6-A1D3-C6099BEC9B00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-157">
            <a:extLst>
              <a:ext uri="{FF2B5EF4-FFF2-40B4-BE49-F238E27FC236}">
                <a16:creationId xmlns:a16="http://schemas.microsoft.com/office/drawing/2014/main" id="{5066EEF9-1158-48E2-AE36-B062791FB2EF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await, o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trecho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dentro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async.</a:t>
            </a:r>
          </a:p>
        </p:txBody>
      </p:sp>
    </p:spTree>
    <p:extLst>
      <p:ext uri="{BB962C8B-B14F-4D97-AF65-F5344CB8AC3E}">
        <p14:creationId xmlns:p14="http://schemas.microsoft.com/office/powerpoint/2010/main" val="300729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158">
            <a:extLst>
              <a:ext uri="{FF2B5EF4-FFF2-40B4-BE49-F238E27FC236}">
                <a16:creationId xmlns:a16="http://schemas.microsoft.com/office/drawing/2014/main" id="{478701E9-72AB-4DDB-A6DE-D32BBFCF3C04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chamada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main()</a:t>
            </a:r>
          </a:p>
        </p:txBody>
      </p:sp>
      <p:sp>
        <p:nvSpPr>
          <p:cNvPr id="2" name="text-159">
            <a:extLst>
              <a:ext uri="{FF2B5EF4-FFF2-40B4-BE49-F238E27FC236}">
                <a16:creationId xmlns:a16="http://schemas.microsoft.com/office/drawing/2014/main" id="{6A440B0C-7DF0-4026-A32F-2C46DFD0D0DA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text-160">
            <a:extLst>
              <a:ext uri="{FF2B5EF4-FFF2-40B4-BE49-F238E27FC236}">
                <a16:creationId xmlns:a16="http://schemas.microsoft.com/office/drawing/2014/main" id="{FFFCCFD6-97D0-4109-B481-15B0A9BD86C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Quem chama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função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assíncrona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também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pode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aguardar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seu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</a:t>
            </a:r>
            <a:r>
              <a:rPr sz="2100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urface-161">
            <a:extLst>
              <a:ext uri="{FF2B5EF4-FFF2-40B4-BE49-F238E27FC236}">
                <a16:creationId xmlns:a16="http://schemas.microsoft.com/office/drawing/2014/main" id="{D289F55A-2F9C-41C4-915C-7C6A0562CDC2}"/>
              </a:ext>
            </a:extLst>
          </p:cNvPr>
          <p:cNvSpPr>
            <a:spLocks noGrp="1"/>
          </p:cNvSpPr>
          <p:nvPr/>
        </p:nvSpPr>
        <p:spPr>
          <a:xfrm>
            <a:off x="800100" y="2333625"/>
            <a:ext cx="10687050" cy="2286000"/>
          </a:xfrm>
          <a:prstGeom prst="roundRect">
            <a:avLst>
              <a:gd name="adj" fmla="val 6667"/>
            </a:avLst>
          </a:prstGeom>
          <a:solidFill>
            <a:srgbClr val="EFF0F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-162">
            <a:extLst>
              <a:ext uri="{FF2B5EF4-FFF2-40B4-BE49-F238E27FC236}">
                <a16:creationId xmlns:a16="http://schemas.microsoft.com/office/drawing/2014/main" id="{E5B5A76F-E36D-46F2-A63C-2B9912E1A3C2}"/>
              </a:ext>
            </a:extLst>
          </p:cNvPr>
          <p:cNvSpPr>
            <a:spLocks noGrp="1"/>
          </p:cNvSpPr>
          <p:nvPr/>
        </p:nvSpPr>
        <p:spPr>
          <a:xfrm>
            <a:off x="1000125" y="2524125"/>
            <a:ext cx="102870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Future&lt;void&gt; main() async {</a:t>
            </a:r>
          </a:p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await requestDataAsync();</a:t>
            </a:r>
          </a:p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  print("Consulta finalizada no main");</a:t>
            </a:r>
          </a:p>
          <a:p>
            <a:pPr>
              <a:def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04307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6" name="surface-163">
            <a:extLst>
              <a:ext uri="{FF2B5EF4-FFF2-40B4-BE49-F238E27FC236}">
                <a16:creationId xmlns:a16="http://schemas.microsoft.com/office/drawing/2014/main" id="{4951A80E-9FCB-4CDF-AE30-1D83F52265F1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-164">
            <a:extLst>
              <a:ext uri="{FF2B5EF4-FFF2-40B4-BE49-F238E27FC236}">
                <a16:creationId xmlns:a16="http://schemas.microsoft.com/office/drawing/2014/main" id="{21FE05F4-93F9-4BA8-B886-4F5EB19F8CEC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 await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chamada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main continua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enquanto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consulta </a:t>
            </a:r>
            <a:r>
              <a:rPr sz="1725" b="0" dirty="0" err="1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está</a:t>
            </a:r>
            <a:r>
              <a:rPr sz="1725" b="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pendente.</a:t>
            </a:r>
          </a:p>
        </p:txBody>
      </p:sp>
    </p:spTree>
    <p:extLst>
      <p:ext uri="{BB962C8B-B14F-4D97-AF65-F5344CB8AC3E}">
        <p14:creationId xmlns:p14="http://schemas.microsoft.com/office/powerpoint/2010/main" val="1882730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165">
            <a:extLst>
              <a:ext uri="{FF2B5EF4-FFF2-40B4-BE49-F238E27FC236}">
                <a16:creationId xmlns:a16="http://schemas.microsoft.com/office/drawing/2014/main" id="{88639FB4-E0E1-42A4-823A-E33CD6D3F96B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caminho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 dados</a:t>
            </a:r>
          </a:p>
        </p:txBody>
      </p:sp>
      <p:sp>
        <p:nvSpPr>
          <p:cNvPr id="2" name="text-166">
            <a:extLst>
              <a:ext uri="{FF2B5EF4-FFF2-40B4-BE49-F238E27FC236}">
                <a16:creationId xmlns:a16="http://schemas.microsoft.com/office/drawing/2014/main" id="{C4EC6344-8439-43E3-93EB-3E4F3E091578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" name="text-167">
            <a:extLst>
              <a:ext uri="{FF2B5EF4-FFF2-40B4-BE49-F238E27FC236}">
                <a16:creationId xmlns:a16="http://schemas.microsoft.com/office/drawing/2014/main" id="{345EC9C8-71FC-484D-A1DE-1C22A983AC16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57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" name="text-168">
            <a:extLst>
              <a:ext uri="{FF2B5EF4-FFF2-40B4-BE49-F238E27FC236}">
                <a16:creationId xmlns:a16="http://schemas.microsoft.com/office/drawing/2014/main" id="{FE4700D7-3420-4EE3-9109-67D09F948437}"/>
              </a:ext>
            </a:extLst>
          </p:cNvPr>
          <p:cNvSpPr>
            <a:spLocks noGrp="1"/>
          </p:cNvSpPr>
          <p:nvPr/>
        </p:nvSpPr>
        <p:spPr>
          <a:xfrm>
            <a:off x="1619250" y="1905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Uri.parse(url)</a:t>
            </a:r>
          </a:p>
        </p:txBody>
      </p:sp>
      <p:sp>
        <p:nvSpPr>
          <p:cNvPr id="5" name="text-169">
            <a:extLst>
              <a:ext uri="{FF2B5EF4-FFF2-40B4-BE49-F238E27FC236}">
                <a16:creationId xmlns:a16="http://schemas.microsoft.com/office/drawing/2014/main" id="{F3A9E12A-D7D1-4908-A161-1D277C744E52}"/>
              </a:ext>
            </a:extLst>
          </p:cNvPr>
          <p:cNvSpPr>
            <a:spLocks noGrp="1"/>
          </p:cNvSpPr>
          <p:nvPr/>
        </p:nvSpPr>
        <p:spPr>
          <a:xfrm>
            <a:off x="1619250" y="236220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 o endereço</a:t>
            </a:r>
          </a:p>
        </p:txBody>
      </p:sp>
      <p:sp>
        <p:nvSpPr>
          <p:cNvPr id="6" name="text-170">
            <a:extLst>
              <a:ext uri="{FF2B5EF4-FFF2-40B4-BE49-F238E27FC236}">
                <a16:creationId xmlns:a16="http://schemas.microsoft.com/office/drawing/2014/main" id="{8DA69924-1715-4F13-9C05-94BB21FA9B11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57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-171">
            <a:extLst>
              <a:ext uri="{FF2B5EF4-FFF2-40B4-BE49-F238E27FC236}">
                <a16:creationId xmlns:a16="http://schemas.microsoft.com/office/drawing/2014/main" id="{B5E310B3-B7A1-4606-A41B-A208CFE0F377}"/>
              </a:ext>
            </a:extLst>
          </p:cNvPr>
          <p:cNvSpPr>
            <a:spLocks noGrp="1"/>
          </p:cNvSpPr>
          <p:nvPr/>
        </p:nvSpPr>
        <p:spPr>
          <a:xfrm>
            <a:off x="1619250" y="31051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get(...)</a:t>
            </a:r>
          </a:p>
        </p:txBody>
      </p:sp>
      <p:sp>
        <p:nvSpPr>
          <p:cNvPr id="8" name="text-172">
            <a:extLst>
              <a:ext uri="{FF2B5EF4-FFF2-40B4-BE49-F238E27FC236}">
                <a16:creationId xmlns:a16="http://schemas.microsoft.com/office/drawing/2014/main" id="{051390C9-E607-43B7-BF59-B1607E6C0D25}"/>
              </a:ext>
            </a:extLst>
          </p:cNvPr>
          <p:cNvSpPr>
            <a:spLocks noGrp="1"/>
          </p:cNvSpPr>
          <p:nvPr/>
        </p:nvSpPr>
        <p:spPr>
          <a:xfrm>
            <a:off x="1619250" y="356235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Inicia a requisição</a:t>
            </a:r>
          </a:p>
        </p:txBody>
      </p:sp>
      <p:sp>
        <p:nvSpPr>
          <p:cNvPr id="9" name="text-173">
            <a:extLst>
              <a:ext uri="{FF2B5EF4-FFF2-40B4-BE49-F238E27FC236}">
                <a16:creationId xmlns:a16="http://schemas.microsoft.com/office/drawing/2014/main" id="{DD6CDC15-5416-4E40-8588-73B4EEC5AFD2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57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" name="text-174">
            <a:extLst>
              <a:ext uri="{FF2B5EF4-FFF2-40B4-BE49-F238E27FC236}">
                <a16:creationId xmlns:a16="http://schemas.microsoft.com/office/drawing/2014/main" id="{D84F3FFC-6E20-4BF6-926E-4DC1FE380407}"/>
              </a:ext>
            </a:extLst>
          </p:cNvPr>
          <p:cNvSpPr>
            <a:spLocks noGrp="1"/>
          </p:cNvSpPr>
          <p:nvPr/>
        </p:nvSpPr>
        <p:spPr>
          <a:xfrm>
            <a:off x="1619250" y="43053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ou await</a:t>
            </a:r>
          </a:p>
        </p:txBody>
      </p:sp>
      <p:sp>
        <p:nvSpPr>
          <p:cNvPr id="11" name="text-175">
            <a:extLst>
              <a:ext uri="{FF2B5EF4-FFF2-40B4-BE49-F238E27FC236}">
                <a16:creationId xmlns:a16="http://schemas.microsoft.com/office/drawing/2014/main" id="{99EF1AB8-0C4B-427F-A152-7E66B8051304}"/>
              </a:ext>
            </a:extLst>
          </p:cNvPr>
          <p:cNvSpPr>
            <a:spLocks noGrp="1"/>
          </p:cNvSpPr>
          <p:nvPr/>
        </p:nvSpPr>
        <p:spPr>
          <a:xfrm>
            <a:off x="1619250" y="476250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Obtém a resposta</a:t>
            </a:r>
          </a:p>
        </p:txBody>
      </p:sp>
      <p:sp>
        <p:nvSpPr>
          <p:cNvPr id="12" name="text-176">
            <a:extLst>
              <a:ext uri="{FF2B5EF4-FFF2-40B4-BE49-F238E27FC236}">
                <a16:creationId xmlns:a16="http://schemas.microsoft.com/office/drawing/2014/main" id="{4572F6BD-1CDF-4009-B7B6-9CC1FCDEA8F6}"/>
              </a:ext>
            </a:extLst>
          </p:cNvPr>
          <p:cNvSpPr>
            <a:spLocks noGrp="1"/>
          </p:cNvSpPr>
          <p:nvPr/>
        </p:nvSpPr>
        <p:spPr>
          <a:xfrm>
            <a:off x="6572250" y="1905000"/>
            <a:ext cx="57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text-177">
            <a:extLst>
              <a:ext uri="{FF2B5EF4-FFF2-40B4-BE49-F238E27FC236}">
                <a16:creationId xmlns:a16="http://schemas.microsoft.com/office/drawing/2014/main" id="{D1D28DDE-6270-4181-BE0B-EABD9CBCCE29}"/>
              </a:ext>
            </a:extLst>
          </p:cNvPr>
          <p:cNvSpPr>
            <a:spLocks noGrp="1"/>
          </p:cNvSpPr>
          <p:nvPr/>
        </p:nvSpPr>
        <p:spPr>
          <a:xfrm>
            <a:off x="7239000" y="19050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json.decode(...)</a:t>
            </a:r>
          </a:p>
        </p:txBody>
      </p:sp>
      <p:sp>
        <p:nvSpPr>
          <p:cNvPr id="14" name="text-178">
            <a:extLst>
              <a:ext uri="{FF2B5EF4-FFF2-40B4-BE49-F238E27FC236}">
                <a16:creationId xmlns:a16="http://schemas.microsoft.com/office/drawing/2014/main" id="{742B1F27-F4AC-41E9-9CA5-741D78A3537B}"/>
              </a:ext>
            </a:extLst>
          </p:cNvPr>
          <p:cNvSpPr>
            <a:spLocks noGrp="1"/>
          </p:cNvSpPr>
          <p:nvPr/>
        </p:nvSpPr>
        <p:spPr>
          <a:xfrm>
            <a:off x="7239000" y="236220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 o texto</a:t>
            </a:r>
          </a:p>
        </p:txBody>
      </p:sp>
      <p:sp>
        <p:nvSpPr>
          <p:cNvPr id="15" name="text-179">
            <a:extLst>
              <a:ext uri="{FF2B5EF4-FFF2-40B4-BE49-F238E27FC236}">
                <a16:creationId xmlns:a16="http://schemas.microsoft.com/office/drawing/2014/main" id="{A96DE394-A235-4E17-8E38-4C80251DEF24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57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" name="text-180">
            <a:extLst>
              <a:ext uri="{FF2B5EF4-FFF2-40B4-BE49-F238E27FC236}">
                <a16:creationId xmlns:a16="http://schemas.microsoft.com/office/drawing/2014/main" id="{AA35D38C-39CC-4F11-A719-31754E0E3252}"/>
              </a:ext>
            </a:extLst>
          </p:cNvPr>
          <p:cNvSpPr>
            <a:spLocks noGrp="1"/>
          </p:cNvSpPr>
          <p:nvPr/>
        </p:nvSpPr>
        <p:spPr>
          <a:xfrm>
            <a:off x="7239000" y="310515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firstWhere(...)</a:t>
            </a:r>
          </a:p>
        </p:txBody>
      </p:sp>
      <p:sp>
        <p:nvSpPr>
          <p:cNvPr id="17" name="text-181">
            <a:extLst>
              <a:ext uri="{FF2B5EF4-FFF2-40B4-BE49-F238E27FC236}">
                <a16:creationId xmlns:a16="http://schemas.microsoft.com/office/drawing/2014/main" id="{5A46D6C2-9690-4974-A694-6561E3C0711E}"/>
              </a:ext>
            </a:extLst>
          </p:cNvPr>
          <p:cNvSpPr>
            <a:spLocks noGrp="1"/>
          </p:cNvSpPr>
          <p:nvPr/>
        </p:nvSpPr>
        <p:spPr>
          <a:xfrm>
            <a:off x="7239000" y="356235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Encontra o filme</a:t>
            </a:r>
          </a:p>
        </p:txBody>
      </p:sp>
      <p:sp>
        <p:nvSpPr>
          <p:cNvPr id="18" name="text-182">
            <a:extLst>
              <a:ext uri="{FF2B5EF4-FFF2-40B4-BE49-F238E27FC236}">
                <a16:creationId xmlns:a16="http://schemas.microsoft.com/office/drawing/2014/main" id="{BB3C02A7-0475-42B8-999F-5719F8E29AFE}"/>
              </a:ext>
            </a:extLst>
          </p:cNvPr>
          <p:cNvSpPr>
            <a:spLocks noGrp="1"/>
          </p:cNvSpPr>
          <p:nvPr/>
        </p:nvSpPr>
        <p:spPr>
          <a:xfrm>
            <a:off x="6572250" y="4305300"/>
            <a:ext cx="571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33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9" name="text-183">
            <a:extLst>
              <a:ext uri="{FF2B5EF4-FFF2-40B4-BE49-F238E27FC236}">
                <a16:creationId xmlns:a16="http://schemas.microsoft.com/office/drawing/2014/main" id="{A4B6CE7F-1A26-4B62-9825-472CBC2CD188}"/>
              </a:ext>
            </a:extLst>
          </p:cNvPr>
          <p:cNvSpPr>
            <a:spLocks noGrp="1"/>
          </p:cNvSpPr>
          <p:nvPr/>
        </p:nvSpPr>
        <p:spPr>
          <a:xfrm>
            <a:off x="7239000" y="4305300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print(...)</a:t>
            </a:r>
          </a:p>
        </p:txBody>
      </p:sp>
      <p:sp>
        <p:nvSpPr>
          <p:cNvPr id="20" name="text-184">
            <a:extLst>
              <a:ext uri="{FF2B5EF4-FFF2-40B4-BE49-F238E27FC236}">
                <a16:creationId xmlns:a16="http://schemas.microsoft.com/office/drawing/2014/main" id="{161FB069-CEF5-40B2-AEEC-080AE6D5B434}"/>
              </a:ext>
            </a:extLst>
          </p:cNvPr>
          <p:cNvSpPr>
            <a:spLocks noGrp="1"/>
          </p:cNvSpPr>
          <p:nvPr/>
        </p:nvSpPr>
        <p:spPr>
          <a:xfrm>
            <a:off x="7239000" y="4762500"/>
            <a:ext cx="4381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8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Mostra a duração</a:t>
            </a:r>
          </a:p>
        </p:txBody>
      </p:sp>
    </p:spTree>
    <p:extLst>
      <p:ext uri="{BB962C8B-B14F-4D97-AF65-F5344CB8AC3E}">
        <p14:creationId xmlns:p14="http://schemas.microsoft.com/office/powerpoint/2010/main" val="236927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85">
            <a:extLst>
              <a:ext uri="{FF2B5EF4-FFF2-40B4-BE49-F238E27FC236}">
                <a16:creationId xmlns:a16="http://schemas.microsoft.com/office/drawing/2014/main" id="{98C2584D-C697-4AF4-B867-97B06DB835BF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Cuidados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antes de usar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dados</a:t>
            </a:r>
          </a:p>
        </p:txBody>
      </p:sp>
      <p:sp>
        <p:nvSpPr>
          <p:cNvPr id="2" name="text-186">
            <a:extLst>
              <a:ext uri="{FF2B5EF4-FFF2-40B4-BE49-F238E27FC236}">
                <a16:creationId xmlns:a16="http://schemas.microsoft.com/office/drawing/2014/main" id="{CAE84A87-4BE4-49D9-A61F-B9C81A26E6FB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</p:txBody>
      </p:sp>
      <p:sp>
        <p:nvSpPr>
          <p:cNvPr id="3" name="text-187">
            <a:extLst>
              <a:ext uri="{FF2B5EF4-FFF2-40B4-BE49-F238E27FC236}">
                <a16:creationId xmlns:a16="http://schemas.microsoft.com/office/drawing/2014/main" id="{7AFE667F-9F09-462A-AD44-8482A9A1AA8D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resposta precisa ser verificada antes da leitura.</a:t>
            </a:r>
          </a:p>
        </p:txBody>
      </p:sp>
      <p:sp>
        <p:nvSpPr>
          <p:cNvPr id="4" name="text-188">
            <a:extLst>
              <a:ext uri="{FF2B5EF4-FFF2-40B4-BE49-F238E27FC236}">
                <a16:creationId xmlns:a16="http://schemas.microsoft.com/office/drawing/2014/main" id="{52987E3B-445C-4C85-971C-F305781DA15D}"/>
              </a:ext>
            </a:extLst>
          </p:cNvPr>
          <p:cNvSpPr>
            <a:spLocks noGrp="1"/>
          </p:cNvSpPr>
          <p:nvPr/>
        </p:nvSpPr>
        <p:spPr>
          <a:xfrm>
            <a:off x="1047750" y="264795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Conexão</a:t>
            </a:r>
          </a:p>
        </p:txBody>
      </p:sp>
      <p:sp>
        <p:nvSpPr>
          <p:cNvPr id="5" name="text-189">
            <a:extLst>
              <a:ext uri="{FF2B5EF4-FFF2-40B4-BE49-F238E27FC236}">
                <a16:creationId xmlns:a16="http://schemas.microsoft.com/office/drawing/2014/main" id="{F096050E-94AF-47FD-89A2-D36E64544DC7}"/>
              </a:ext>
            </a:extLst>
          </p:cNvPr>
          <p:cNvSpPr>
            <a:spLocks noGrp="1"/>
          </p:cNvSpPr>
          <p:nvPr/>
        </p:nvSpPr>
        <p:spPr>
          <a:xfrm>
            <a:off x="4000500" y="2647950"/>
            <a:ext cx="723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requisição pode falhar.</a:t>
            </a:r>
          </a:p>
        </p:txBody>
      </p:sp>
      <p:sp>
        <p:nvSpPr>
          <p:cNvPr id="6" name="text-190">
            <a:extLst>
              <a:ext uri="{FF2B5EF4-FFF2-40B4-BE49-F238E27FC236}">
                <a16:creationId xmlns:a16="http://schemas.microsoft.com/office/drawing/2014/main" id="{4407D9D0-A9F2-4D0D-909A-44EF5FF72CF6}"/>
              </a:ext>
            </a:extLst>
          </p:cNvPr>
          <p:cNvSpPr>
            <a:spLocks noGrp="1"/>
          </p:cNvSpPr>
          <p:nvPr/>
        </p:nvSpPr>
        <p:spPr>
          <a:xfrm>
            <a:off x="1047750" y="352425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HTTP</a:t>
            </a:r>
          </a:p>
        </p:txBody>
      </p:sp>
      <p:sp>
        <p:nvSpPr>
          <p:cNvPr id="7" name="text-191">
            <a:extLst>
              <a:ext uri="{FF2B5EF4-FFF2-40B4-BE49-F238E27FC236}">
                <a16:creationId xmlns:a16="http://schemas.microsoft.com/office/drawing/2014/main" id="{12B1CB1C-3015-46AA-AB7E-564B3B699A05}"/>
              </a:ext>
            </a:extLst>
          </p:cNvPr>
          <p:cNvSpPr>
            <a:spLocks noGrp="1"/>
          </p:cNvSpPr>
          <p:nvPr/>
        </p:nvSpPr>
        <p:spPr>
          <a:xfrm>
            <a:off x="4000500" y="352425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resposta pode conter um erro HTTP.</a:t>
            </a:r>
          </a:p>
        </p:txBody>
      </p:sp>
      <p:sp>
        <p:nvSpPr>
          <p:cNvPr id="8" name="text-192">
            <a:extLst>
              <a:ext uri="{FF2B5EF4-FFF2-40B4-BE49-F238E27FC236}">
                <a16:creationId xmlns:a16="http://schemas.microsoft.com/office/drawing/2014/main" id="{DF2A8DB4-B787-47A7-91C5-1859A39ECC09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75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Conteúdo</a:t>
            </a:r>
          </a:p>
        </p:txBody>
      </p:sp>
      <p:sp>
        <p:nvSpPr>
          <p:cNvPr id="9" name="text-193">
            <a:extLst>
              <a:ext uri="{FF2B5EF4-FFF2-40B4-BE49-F238E27FC236}">
                <a16:creationId xmlns:a16="http://schemas.microsoft.com/office/drawing/2014/main" id="{CDD4C4B6-A729-4D96-9863-0ADC57F18566}"/>
              </a:ext>
            </a:extLst>
          </p:cNvPr>
          <p:cNvSpPr>
            <a:spLocks noGrp="1"/>
          </p:cNvSpPr>
          <p:nvPr/>
        </p:nvSpPr>
        <p:spPr>
          <a:xfrm>
            <a:off x="4000500" y="4476750"/>
            <a:ext cx="723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0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lista pode estar vazia ou o filme pode faltar.</a:t>
            </a:r>
          </a:p>
        </p:txBody>
      </p:sp>
      <p:sp>
        <p:nvSpPr>
          <p:cNvPr id="10" name="surface-194">
            <a:extLst>
              <a:ext uri="{FF2B5EF4-FFF2-40B4-BE49-F238E27FC236}">
                <a16:creationId xmlns:a16="http://schemas.microsoft.com/office/drawing/2014/main" id="{6EA057FF-7B80-4552-A366-63BD760E7C65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195">
            <a:extLst>
              <a:ext uri="{FF2B5EF4-FFF2-40B4-BE49-F238E27FC236}">
                <a16:creationId xmlns:a16="http://schemas.microsoft.com/office/drawing/2014/main" id="{4E5EB532-379F-41F4-98A5-EFA895F84CB7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Próximo passo: verificar statusCode e trabalhar com try/catch.</a:t>
            </a:r>
          </a:p>
        </p:txBody>
      </p:sp>
    </p:spTree>
    <p:extLst>
      <p:ext uri="{BB962C8B-B14F-4D97-AF65-F5344CB8AC3E}">
        <p14:creationId xmlns:p14="http://schemas.microsoft.com/office/powerpoint/2010/main" val="554995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96">
            <a:extLst>
              <a:ext uri="{FF2B5EF4-FFF2-40B4-BE49-F238E27FC236}">
                <a16:creationId xmlns:a16="http://schemas.microsoft.com/office/drawing/2014/main" id="{8CE09038-68C3-4F1E-8096-EF6B6FAE6A89}"/>
              </a:ext>
            </a:extLst>
          </p:cNvPr>
          <p:cNvSpPr>
            <a:spLocks noGrp="1"/>
          </p:cNvSpPr>
          <p:nvPr/>
        </p:nvSpPr>
        <p:spPr>
          <a:xfrm>
            <a:off x="952500" y="828675"/>
            <a:ext cx="9525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defPPr>
            <a:lvl1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1pPr>
            <a:lvl2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2pPr>
            <a:lvl3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3pPr>
            <a:lvl4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4pPr>
            <a:lvl5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5pPr>
            <a:lvl6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6pPr>
            <a:lvl7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7pPr>
            <a:lvl8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8pPr>
            <a:lvl9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400" b="1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Vamos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fazer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juntos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-197">
            <a:extLst>
              <a:ext uri="{FF2B5EF4-FFF2-40B4-BE49-F238E27FC236}">
                <a16:creationId xmlns:a16="http://schemas.microsoft.com/office/drawing/2014/main" id="{26E309CD-9BD4-49C9-B98B-1B2837FEAEE7}"/>
              </a:ext>
            </a:extLst>
          </p:cNvPr>
          <p:cNvSpPr>
            <a:spLocks noGrp="1"/>
          </p:cNvSpPr>
          <p:nvPr/>
        </p:nvSpPr>
        <p:spPr>
          <a:xfrm>
            <a:off x="11191875" y="6419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200" b="0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3" name="text-198">
            <a:extLst>
              <a:ext uri="{FF2B5EF4-FFF2-40B4-BE49-F238E27FC236}">
                <a16:creationId xmlns:a16="http://schemas.microsoft.com/office/drawing/2014/main" id="{C45DA259-0196-4F04-B36E-985E9CD2490A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10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 alteração por vez, observando o console.</a:t>
            </a:r>
          </a:p>
        </p:txBody>
      </p:sp>
      <p:sp>
        <p:nvSpPr>
          <p:cNvPr id="4" name="text-199">
            <a:extLst>
              <a:ext uri="{FF2B5EF4-FFF2-40B4-BE49-F238E27FC236}">
                <a16:creationId xmlns:a16="http://schemas.microsoft.com/office/drawing/2014/main" id="{DE7D9402-7BD6-4FBB-A43B-44210D6E3560}"/>
              </a:ext>
            </a:extLst>
          </p:cNvPr>
          <p:cNvSpPr>
            <a:spLocks noGrp="1"/>
          </p:cNvSpPr>
          <p:nvPr/>
        </p:nvSpPr>
        <p:spPr>
          <a:xfrm>
            <a:off x="952500" y="2619375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text-200">
            <a:extLst>
              <a:ext uri="{FF2B5EF4-FFF2-40B4-BE49-F238E27FC236}">
                <a16:creationId xmlns:a16="http://schemas.microsoft.com/office/drawing/2014/main" id="{ED8B826D-B54F-42A3-AC62-6F04BD8B56DC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Exibir o título do primeiro filme.</a:t>
            </a:r>
          </a:p>
        </p:txBody>
      </p:sp>
      <p:sp>
        <p:nvSpPr>
          <p:cNvPr id="6" name="text-201">
            <a:extLst>
              <a:ext uri="{FF2B5EF4-FFF2-40B4-BE49-F238E27FC236}">
                <a16:creationId xmlns:a16="http://schemas.microsoft.com/office/drawing/2014/main" id="{817D6D77-AC28-4E19-80FD-F16C9A188EEA}"/>
              </a:ext>
            </a:extLst>
          </p:cNvPr>
          <p:cNvSpPr>
            <a:spLocks noGrp="1"/>
          </p:cNvSpPr>
          <p:nvPr/>
        </p:nvSpPr>
        <p:spPr>
          <a:xfrm>
            <a:off x="952500" y="3571875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" name="text-202">
            <a:extLst>
              <a:ext uri="{FF2B5EF4-FFF2-40B4-BE49-F238E27FC236}">
                <a16:creationId xmlns:a16="http://schemas.microsoft.com/office/drawing/2014/main" id="{58A8EA7B-393A-4CD7-8B47-476A20397AE9}"/>
              </a:ext>
            </a:extLst>
          </p:cNvPr>
          <p:cNvSpPr>
            <a:spLocks noGrp="1"/>
          </p:cNvSpPr>
          <p:nvPr/>
        </p:nvSpPr>
        <p:spPr>
          <a:xfrm>
            <a:off x="1714500" y="361950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Buscar outro título com firstWhere().</a:t>
            </a:r>
          </a:p>
        </p:txBody>
      </p:sp>
      <p:sp>
        <p:nvSpPr>
          <p:cNvPr id="8" name="text-203">
            <a:extLst>
              <a:ext uri="{FF2B5EF4-FFF2-40B4-BE49-F238E27FC236}">
                <a16:creationId xmlns:a16="http://schemas.microsoft.com/office/drawing/2014/main" id="{D169A8B3-5FAC-4953-9815-7A67A47A5D8D}"/>
              </a:ext>
            </a:extLst>
          </p:cNvPr>
          <p:cNvSpPr>
            <a:spLocks noGrp="1"/>
          </p:cNvSpPr>
          <p:nvPr/>
        </p:nvSpPr>
        <p:spPr>
          <a:xfrm>
            <a:off x="952500" y="4524375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  <a:lvl1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1pPr>
            <a:lvl2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2pPr>
            <a:lvl3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3pPr>
            <a:lvl4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4pPr>
            <a:lvl5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5pPr>
            <a:lvl6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6pPr>
            <a:lvl7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7pPr>
            <a:lvl8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8pPr>
            <a:lvl9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85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" name="text-204">
            <a:extLst>
              <a:ext uri="{FF2B5EF4-FFF2-40B4-BE49-F238E27FC236}">
                <a16:creationId xmlns:a16="http://schemas.microsoft.com/office/drawing/2014/main" id="{5F51335E-5359-40D7-A610-D64FB14F92F1}"/>
              </a:ext>
            </a:extLst>
          </p:cNvPr>
          <p:cNvSpPr>
            <a:spLocks noGrp="1"/>
          </p:cNvSpPr>
          <p:nvPr/>
        </p:nvSpPr>
        <p:spPr>
          <a:xfrm>
            <a:off x="1714500" y="457200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2250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2250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Reescrever a consulta usando async e await.</a:t>
            </a:r>
          </a:p>
        </p:txBody>
      </p:sp>
      <p:sp>
        <p:nvSpPr>
          <p:cNvPr id="10" name="surface-205">
            <a:extLst>
              <a:ext uri="{FF2B5EF4-FFF2-40B4-BE49-F238E27FC236}">
                <a16:creationId xmlns:a16="http://schemas.microsoft.com/office/drawing/2014/main" id="{F6CEBDA2-9DD6-4F57-BCF8-312115BBDC44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801350" cy="714375"/>
          </a:xfrm>
          <a:prstGeom prst="roundRect">
            <a:avLst>
              <a:gd name="adj" fmla="val 21333"/>
            </a:avLst>
          </a:prstGeom>
          <a:solidFill>
            <a:srgbClr val="E3E5F6"/>
          </a:solidFill>
          <a:ln w="0">
            <a:noFill/>
            <a:prstDash val="solid"/>
          </a:ln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-206">
            <a:extLst>
              <a:ext uri="{FF2B5EF4-FFF2-40B4-BE49-F238E27FC236}">
                <a16:creationId xmlns:a16="http://schemas.microsoft.com/office/drawing/2014/main" id="{91196C1B-E256-4DAB-8BE7-7DB26DD84FAB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  <a:lvl1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1pPr>
            <a:lvl2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2pPr>
            <a:lvl3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3pPr>
            <a:lvl4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4pPr>
            <a:lvl5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5pPr>
            <a:lvl6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6pPr>
            <a:lvl7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7pPr>
            <a:lvl8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8pPr>
            <a:lvl9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lvl9pPr>
          </a:lstStyle>
          <a:p>
            <a:pPr>
              <a:defRPr sz="1725" b="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Pergunta à turma: qual mensagem aparece primeiro em cada versão?</a:t>
            </a:r>
          </a:p>
        </p:txBody>
      </p:sp>
    </p:spTree>
    <p:extLst>
      <p:ext uri="{BB962C8B-B14F-4D97-AF65-F5344CB8AC3E}">
        <p14:creationId xmlns:p14="http://schemas.microsoft.com/office/powerpoint/2010/main" val="2517589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2236</Words>
  <Application>Microsoft Office PowerPoint</Application>
  <DocSecurity>0</DocSecurity>
  <PresentationFormat>Widescreen</PresentationFormat>
  <Paragraphs>269</Paragraphs>
  <Slides>25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Courier New</vt:lpstr>
      <vt:lpstr>Times New Roman</vt:lpstr>
      <vt:lpstr>Calibri</vt:lpstr>
      <vt:lpstr>Arial</vt:lpstr>
      <vt:lpstr>Inter</vt:lpstr>
      <vt:lpstr>Tema2</vt:lpstr>
      <vt:lpstr>Requisições de API com Dart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Pedro Miho</cp:lastModifiedBy>
  <cp:revision>6</cp:revision>
  <dcterms:created xsi:type="dcterms:W3CDTF">2026-10-26T02:30:48Z</dcterms:created>
  <dcterms:modified xsi:type="dcterms:W3CDTF">2026-10-26T11:45:53Z</dcterms:modified>
</cp:coreProperties>
</file>