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78" r:id="rId3"/>
    <p:sldId id="297" r:id="rId4"/>
    <p:sldId id="298" r:id="rId5"/>
    <p:sldId id="304" r:id="rId6"/>
    <p:sldId id="305" r:id="rId7"/>
    <p:sldId id="299" r:id="rId8"/>
    <p:sldId id="300" r:id="rId9"/>
    <p:sldId id="301" r:id="rId10"/>
    <p:sldId id="302" r:id="rId11"/>
    <p:sldId id="308" r:id="rId12"/>
    <p:sldId id="303" r:id="rId13"/>
    <p:sldId id="306" r:id="rId14"/>
    <p:sldId id="307" r:id="rId15"/>
    <p:sldId id="309" r:id="rId16"/>
    <p:sldId id="310" r:id="rId17"/>
    <p:sldId id="311" r:id="rId1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9A3B9811-863C-4514-A203-A948633EA0E6}">
          <p14:sldIdLst>
            <p14:sldId id="256"/>
            <p14:sldId id="278"/>
            <p14:sldId id="297"/>
            <p14:sldId id="298"/>
            <p14:sldId id="304"/>
            <p14:sldId id="305"/>
            <p14:sldId id="299"/>
            <p14:sldId id="300"/>
            <p14:sldId id="301"/>
            <p14:sldId id="302"/>
            <p14:sldId id="308"/>
            <p14:sldId id="303"/>
            <p14:sldId id="306"/>
            <p14:sldId id="307"/>
            <p14:sldId id="309"/>
            <p14:sldId id="310"/>
            <p14:sldId id="31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1A1C"/>
    <a:srgbClr val="043073"/>
    <a:srgbClr val="48916E"/>
    <a:srgbClr val="3184F4"/>
    <a:srgbClr val="7E67A8"/>
    <a:srgbClr val="C08D5F"/>
    <a:srgbClr val="9C9B99"/>
    <a:srgbClr val="9BAD56"/>
    <a:srgbClr val="1F2024"/>
    <a:srgbClr val="EADD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76" d="100"/>
          <a:sy n="76" d="100"/>
        </p:scale>
        <p:origin x="720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D3856C12-D3CA-9CE2-7861-13FBF02F4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07102269-6BD9-547A-4740-3B8E3F48BF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CB7389AF-7009-AFBD-694C-4FEB5C402AF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1844675"/>
            <a:ext cx="5181600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17/09/2026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AF65EF7-14AA-3189-A9E5-924E752AE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17/09/2026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F8FEF21-0B4E-C030-F1F6-1E8EDC3D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17/09/2026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44675"/>
            <a:ext cx="5256212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566D364-0170-A389-F159-C7C9D62E4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76796487-CD7B-89D5-C833-332E8D160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345" y="1844675"/>
            <a:ext cx="5060308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773382"/>
            <a:ext cx="6172200" cy="40876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773382"/>
            <a:ext cx="3932237" cy="40956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29F35F0-D02B-295C-BF50-6E6DC9981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695394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66334"/>
            <a:ext cx="9144000" cy="2004930"/>
          </a:xfrm>
        </p:spPr>
        <p:txBody>
          <a:bodyPr/>
          <a:lstStyle/>
          <a:p>
            <a:r>
              <a:rPr lang="pt-BR"/>
              <a:t>Spring Security</a:t>
            </a:r>
            <a:endParaRPr lang="pt-BR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BFBF93-6A28-4A3A-BD49-BD5195EDB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 da aula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F56A5B-102D-41DD-8DEE-5A219D78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1800" dirty="0"/>
              <a:t>Nesta aula, vamos compreender como o Spring Security pode ser utilizado para proteger uma API REST, entendendo os principais conceitos de segurança e aplicando-os na prática. Ao final, seremos capazes de controlar quem pode acessar a API e quais recursos cada usuário pode utilizar.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Compreender o funcionamento do Spring Security;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Diferenciar autenticação e autorização;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Configurar a segurança de uma API REST;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Trabalhar com usuários, senhas e roles;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Utilizar </a:t>
            </a:r>
            <a:r>
              <a:rPr lang="pt-BR" dirty="0" err="1"/>
              <a:t>SecurityFilterChain</a:t>
            </a:r>
            <a:r>
              <a:rPr lang="pt-BR" dirty="0"/>
              <a:t>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Proteger </a:t>
            </a:r>
            <a:r>
              <a:rPr lang="pt-BR" dirty="0" err="1"/>
              <a:t>endpoints</a:t>
            </a:r>
            <a:r>
              <a:rPr lang="pt-BR" dirty="0"/>
              <a:t> de acordo com as permissões do usuário;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Compreender os códigos 401 </a:t>
            </a:r>
            <a:r>
              <a:rPr lang="pt-BR" dirty="0" err="1"/>
              <a:t>Unauthorized</a:t>
            </a:r>
            <a:r>
              <a:rPr lang="pt-BR" dirty="0"/>
              <a:t> e 403 </a:t>
            </a:r>
            <a:r>
              <a:rPr lang="pt-BR" dirty="0" err="1"/>
              <a:t>Forbidden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1646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C34165-6FFA-4177-89F2-387FE75CC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Spring Security?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F58F1C-1C0F-41EE-8215-06CF424B2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67858"/>
          </a:xfrm>
        </p:spPr>
        <p:txBody>
          <a:bodyPr/>
          <a:lstStyle/>
          <a:p>
            <a:r>
              <a:rPr lang="pt-BR" dirty="0"/>
              <a:t>Spring Security é um framework utilizado para adicionar mecanismos de segurança às aplicações Spring, principalmente autenticação e autorização.</a:t>
            </a:r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D17950D7-5C5D-4FAC-84D7-EBD18BA5FA14}"/>
              </a:ext>
            </a:extLst>
          </p:cNvPr>
          <p:cNvSpPr txBox="1">
            <a:spLocks/>
          </p:cNvSpPr>
          <p:nvPr/>
        </p:nvSpPr>
        <p:spPr>
          <a:xfrm>
            <a:off x="592347" y="2912533"/>
            <a:ext cx="11007306" cy="638572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dirty="0"/>
              <a:t>Autenticação </a:t>
            </a:r>
            <a:r>
              <a:rPr lang="pt-BR" sz="1800" dirty="0">
                <a:sym typeface="Wingdings" panose="05000000000000000000" pitchFamily="2" charset="2"/>
              </a:rPr>
              <a:t> Q</a:t>
            </a:r>
            <a:r>
              <a:rPr lang="pt-BR" sz="1800" dirty="0"/>
              <a:t>uem é você </a:t>
            </a: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8B212206-71E5-412D-8AC1-B984DB5F7187}"/>
              </a:ext>
            </a:extLst>
          </p:cNvPr>
          <p:cNvSpPr txBox="1">
            <a:spLocks/>
          </p:cNvSpPr>
          <p:nvPr/>
        </p:nvSpPr>
        <p:spPr>
          <a:xfrm>
            <a:off x="592347" y="4720853"/>
            <a:ext cx="11007306" cy="638572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dirty="0"/>
              <a:t>Autorização </a:t>
            </a:r>
            <a:r>
              <a:rPr lang="pt-BR" sz="1800" dirty="0">
                <a:sym typeface="Wingdings" panose="05000000000000000000" pitchFamily="2" charset="2"/>
              </a:rPr>
              <a:t> O que você pode fazer</a:t>
            </a:r>
            <a:endParaRPr lang="pt-BR" dirty="0"/>
          </a:p>
        </p:txBody>
      </p: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0940C319-2F72-4B66-9B00-C28916C530E9}"/>
              </a:ext>
            </a:extLst>
          </p:cNvPr>
          <p:cNvGrpSpPr/>
          <p:nvPr/>
        </p:nvGrpSpPr>
        <p:grpSpPr>
          <a:xfrm>
            <a:off x="592347" y="3600445"/>
            <a:ext cx="5613720" cy="1071068"/>
            <a:chOff x="592347" y="3429000"/>
            <a:chExt cx="5613720" cy="1071068"/>
          </a:xfrm>
        </p:grpSpPr>
        <p:sp>
          <p:nvSpPr>
            <p:cNvPr id="6" name="Shape 20">
              <a:extLst>
                <a:ext uri="{FF2B5EF4-FFF2-40B4-BE49-F238E27FC236}">
                  <a16:creationId xmlns:a16="http://schemas.microsoft.com/office/drawing/2014/main" id="{8298A4F9-0492-42CB-90EE-9A81D69D474F}"/>
                </a:ext>
              </a:extLst>
            </p:cNvPr>
            <p:cNvSpPr/>
            <p:nvPr/>
          </p:nvSpPr>
          <p:spPr>
            <a:xfrm>
              <a:off x="592347" y="3429000"/>
              <a:ext cx="5613720" cy="1071068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 21">
              <a:extLst>
                <a:ext uri="{FF2B5EF4-FFF2-40B4-BE49-F238E27FC236}">
                  <a16:creationId xmlns:a16="http://schemas.microsoft.com/office/drawing/2014/main" id="{6B23CDD4-A566-45FE-9416-07DD5666FDF2}"/>
                </a:ext>
              </a:extLst>
            </p:cNvPr>
            <p:cNvSpPr/>
            <p:nvPr/>
          </p:nvSpPr>
          <p:spPr>
            <a:xfrm>
              <a:off x="748861" y="3739090"/>
              <a:ext cx="1714940" cy="450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Usuário: </a:t>
              </a:r>
              <a:r>
                <a:rPr lang="pt-BR" sz="1600" kern="0" spc="-19" dirty="0" err="1">
                  <a:solidFill>
                    <a:srgbClr val="D73A49"/>
                  </a:solidFill>
                  <a:latin typeface="Consolas" pitchFamily="34" charset="0"/>
                </a:rPr>
                <a:t>pedro</a:t>
              </a:r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</a:p>
            <a:p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Senha: ********</a:t>
              </a:r>
              <a:endParaRPr lang="en-US" sz="1600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BDB712C6-48AC-4E66-A15B-5085D3AC5665}"/>
                </a:ext>
              </a:extLst>
            </p:cNvPr>
            <p:cNvSpPr/>
            <p:nvPr/>
          </p:nvSpPr>
          <p:spPr>
            <a:xfrm>
              <a:off x="2693436" y="3795257"/>
              <a:ext cx="3282996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  <a:sym typeface="Wingdings" panose="05000000000000000000" pitchFamily="2" charset="2"/>
                </a:rPr>
                <a:t></a:t>
              </a:r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 Identidade confirmada</a:t>
              </a: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74B18387-E7AB-45AC-98D3-FDD421897319}"/>
              </a:ext>
            </a:extLst>
          </p:cNvPr>
          <p:cNvGrpSpPr/>
          <p:nvPr/>
        </p:nvGrpSpPr>
        <p:grpSpPr>
          <a:xfrm>
            <a:off x="592347" y="5408765"/>
            <a:ext cx="11007306" cy="1071068"/>
            <a:chOff x="592347" y="3429000"/>
            <a:chExt cx="5613720" cy="1071068"/>
          </a:xfrm>
        </p:grpSpPr>
        <p:sp>
          <p:nvSpPr>
            <p:cNvPr id="20" name="Shape 20">
              <a:extLst>
                <a:ext uri="{FF2B5EF4-FFF2-40B4-BE49-F238E27FC236}">
                  <a16:creationId xmlns:a16="http://schemas.microsoft.com/office/drawing/2014/main" id="{913CB7A8-851E-4204-89F3-DBEA870BA272}"/>
                </a:ext>
              </a:extLst>
            </p:cNvPr>
            <p:cNvSpPr/>
            <p:nvPr/>
          </p:nvSpPr>
          <p:spPr>
            <a:xfrm>
              <a:off x="592347" y="3429000"/>
              <a:ext cx="5613720" cy="1071068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 dirty="0"/>
            </a:p>
          </p:txBody>
        </p:sp>
        <p:sp>
          <p:nvSpPr>
            <p:cNvPr id="21" name="Text 21">
              <a:extLst>
                <a:ext uri="{FF2B5EF4-FFF2-40B4-BE49-F238E27FC236}">
                  <a16:creationId xmlns:a16="http://schemas.microsoft.com/office/drawing/2014/main" id="{40F174B2-622B-4F7E-876A-FB20735F911C}"/>
                </a:ext>
              </a:extLst>
            </p:cNvPr>
            <p:cNvSpPr/>
            <p:nvPr/>
          </p:nvSpPr>
          <p:spPr>
            <a:xfrm>
              <a:off x="681997" y="3833795"/>
              <a:ext cx="5434420" cy="26147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Pedro → autenticado </a:t>
              </a:r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  <a:sym typeface="Wingdings" panose="05000000000000000000" pitchFamily="2" charset="2"/>
                </a:rPr>
                <a:t> Pode consultar dentista  Pode cadastrar Dentista  Pode excluir dentista</a:t>
              </a:r>
              <a:endParaRPr lang="en-US" sz="1600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8420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FCA8FF-B2E7-462C-9F1E-255534D8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Stateful</a:t>
            </a:r>
            <a:r>
              <a:rPr lang="pt-BR" dirty="0"/>
              <a:t> – Aplicação Web Tradicional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76B5ED-A7F3-42E2-A19E-46D5E7D97F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330325"/>
          </a:xfrm>
        </p:spPr>
        <p:txBody>
          <a:bodyPr/>
          <a:lstStyle/>
          <a:p>
            <a:r>
              <a:rPr lang="pt-BR" sz="1800" dirty="0"/>
              <a:t>Em uma arquitetura </a:t>
            </a:r>
            <a:r>
              <a:rPr lang="pt-BR" sz="1800" b="1" dirty="0" err="1"/>
              <a:t>Stateful</a:t>
            </a:r>
            <a:r>
              <a:rPr lang="pt-BR" sz="1800" b="1" dirty="0"/>
              <a:t> (com estado)</a:t>
            </a:r>
            <a:r>
              <a:rPr lang="pt-BR" sz="1800" dirty="0"/>
              <a:t>, o servidor </a:t>
            </a:r>
            <a:r>
              <a:rPr lang="pt-BR" sz="1800" b="1" dirty="0"/>
              <a:t>mantém informações sobre o estado do cliente</a:t>
            </a:r>
            <a:r>
              <a:rPr lang="pt-BR" sz="1800" dirty="0"/>
              <a:t> entre as requisições. Dessa forma, as próximas requisições podem utilizar informações armazenadas anteriormente, como uma sessão de usuário, permitindo que o servidor "lembre" do cliente.</a:t>
            </a:r>
          </a:p>
        </p:txBody>
      </p:sp>
      <p:pic>
        <p:nvPicPr>
          <p:cNvPr id="5" name="Gráfico 4" descr="Monitor">
            <a:extLst>
              <a:ext uri="{FF2B5EF4-FFF2-40B4-BE49-F238E27FC236}">
                <a16:creationId xmlns:a16="http://schemas.microsoft.com/office/drawing/2014/main" id="{69A35561-CC14-45D3-8A98-DEDF24F7C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90335" y="4234751"/>
            <a:ext cx="1515533" cy="1515533"/>
          </a:xfrm>
          <a:prstGeom prst="rect">
            <a:avLst/>
          </a:prstGeom>
        </p:spPr>
      </p:pic>
      <p:pic>
        <p:nvPicPr>
          <p:cNvPr id="7" name="Gráfico 6" descr="Servidor">
            <a:extLst>
              <a:ext uri="{FF2B5EF4-FFF2-40B4-BE49-F238E27FC236}">
                <a16:creationId xmlns:a16="http://schemas.microsoft.com/office/drawing/2014/main" id="{A55CC910-AA01-4263-9BCC-707DBE025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57534" y="4205117"/>
            <a:ext cx="1574800" cy="1574800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444BD14D-0455-4769-AEA5-5537FF4972A9}"/>
              </a:ext>
            </a:extLst>
          </p:cNvPr>
          <p:cNvGrpSpPr/>
          <p:nvPr/>
        </p:nvGrpSpPr>
        <p:grpSpPr>
          <a:xfrm>
            <a:off x="1329267" y="4174968"/>
            <a:ext cx="1363134" cy="1635098"/>
            <a:chOff x="1481667" y="4270218"/>
            <a:chExt cx="1363134" cy="1635098"/>
          </a:xfrm>
        </p:grpSpPr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B23AC287-6745-46CE-A09A-DBC4BA456E49}"/>
                </a:ext>
              </a:extLst>
            </p:cNvPr>
            <p:cNvSpPr/>
            <p:nvPr/>
          </p:nvSpPr>
          <p:spPr>
            <a:xfrm>
              <a:off x="1481667" y="4706939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PedroMiho</a:t>
              </a:r>
              <a:endPara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45BB8BB-C0B0-4E04-A613-5FE1D838561A}"/>
                </a:ext>
              </a:extLst>
            </p:cNvPr>
            <p:cNvSpPr txBox="1"/>
            <p:nvPr/>
          </p:nvSpPr>
          <p:spPr>
            <a:xfrm>
              <a:off x="1481667" y="4270218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Login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1B5FBF88-F39B-43D2-8E07-D4B80EB5C841}"/>
                </a:ext>
              </a:extLst>
            </p:cNvPr>
            <p:cNvSpPr/>
            <p:nvPr/>
          </p:nvSpPr>
          <p:spPr>
            <a:xfrm>
              <a:off x="1481667" y="5558182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admin1234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412B5B5-1102-40B7-8811-8ADBFFC0C04E}"/>
                </a:ext>
              </a:extLst>
            </p:cNvPr>
            <p:cNvSpPr txBox="1"/>
            <p:nvPr/>
          </p:nvSpPr>
          <p:spPr>
            <a:xfrm>
              <a:off x="1481667" y="5121462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Senha</a:t>
              </a:r>
            </a:p>
          </p:txBody>
        </p:sp>
      </p:grp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B6E79902-D094-4241-984C-5590DF4F1786}"/>
              </a:ext>
            </a:extLst>
          </p:cNvPr>
          <p:cNvCxnSpPr/>
          <p:nvPr/>
        </p:nvCxnSpPr>
        <p:spPr>
          <a:xfrm>
            <a:off x="4749800" y="4759592"/>
            <a:ext cx="25400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95C290FA-BD6D-4786-A1CF-48371576069D}"/>
              </a:ext>
            </a:extLst>
          </p:cNvPr>
          <p:cNvCxnSpPr/>
          <p:nvPr/>
        </p:nvCxnSpPr>
        <p:spPr>
          <a:xfrm flipH="1">
            <a:off x="4715934" y="5259033"/>
            <a:ext cx="25654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Gráfico 25" descr="Marca de seleção">
            <a:extLst>
              <a:ext uri="{FF2B5EF4-FFF2-40B4-BE49-F238E27FC236}">
                <a16:creationId xmlns:a16="http://schemas.microsoft.com/office/drawing/2014/main" id="{6E06301E-DF90-4AA3-83C5-B015B58B66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87734" y="3320351"/>
            <a:ext cx="914400" cy="914400"/>
          </a:xfrm>
          <a:prstGeom prst="rect">
            <a:avLst/>
          </a:prstGeom>
        </p:spPr>
      </p:pic>
      <p:sp>
        <p:nvSpPr>
          <p:cNvPr id="28" name="CaixaDeTexto 27">
            <a:extLst>
              <a:ext uri="{FF2B5EF4-FFF2-40B4-BE49-F238E27FC236}">
                <a16:creationId xmlns:a16="http://schemas.microsoft.com/office/drawing/2014/main" id="{0901316F-C4B1-4341-8DF2-D382136D579A}"/>
              </a:ext>
            </a:extLst>
          </p:cNvPr>
          <p:cNvSpPr txBox="1"/>
          <p:nvPr/>
        </p:nvSpPr>
        <p:spPr>
          <a:xfrm>
            <a:off x="8932334" y="3466453"/>
            <a:ext cx="210056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Cria um espaço na memória identificando sua sessão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C3C98F00-9C4B-4BAE-A1AC-377349B8164F}"/>
              </a:ext>
            </a:extLst>
          </p:cNvPr>
          <p:cNvSpPr/>
          <p:nvPr/>
        </p:nvSpPr>
        <p:spPr>
          <a:xfrm>
            <a:off x="5300134" y="5850786"/>
            <a:ext cx="1363134" cy="34713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1234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00C8D1CC-00E1-4C21-BED8-EC2F3311B5A4}"/>
              </a:ext>
            </a:extLst>
          </p:cNvPr>
          <p:cNvSpPr txBox="1"/>
          <p:nvPr/>
        </p:nvSpPr>
        <p:spPr>
          <a:xfrm>
            <a:off x="5300134" y="5414065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Sessão</a:t>
            </a:r>
          </a:p>
        </p:txBody>
      </p:sp>
    </p:spTree>
    <p:extLst>
      <p:ext uri="{BB962C8B-B14F-4D97-AF65-F5344CB8AC3E}">
        <p14:creationId xmlns:p14="http://schemas.microsoft.com/office/powerpoint/2010/main" val="1621214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FCA8FF-B2E7-462C-9F1E-255534D8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Stateful</a:t>
            </a:r>
            <a:r>
              <a:rPr lang="pt-BR" dirty="0"/>
              <a:t> – API </a:t>
            </a:r>
            <a:r>
              <a:rPr lang="pt-BR" dirty="0" err="1"/>
              <a:t>RestFul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76B5ED-A7F3-42E2-A19E-46D5E7D97F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330325"/>
          </a:xfrm>
        </p:spPr>
        <p:txBody>
          <a:bodyPr/>
          <a:lstStyle/>
          <a:p>
            <a:r>
              <a:rPr lang="pt-BR" sz="1800" dirty="0"/>
              <a:t>Em uma arquitetura </a:t>
            </a:r>
            <a:r>
              <a:rPr lang="pt-BR" sz="1800" b="1" dirty="0" err="1"/>
              <a:t>Stateless</a:t>
            </a:r>
            <a:r>
              <a:rPr lang="pt-BR" sz="1800" b="1" dirty="0"/>
              <a:t> (sem estado)</a:t>
            </a:r>
            <a:r>
              <a:rPr lang="pt-BR" sz="1800" dirty="0"/>
              <a:t>, o servidor </a:t>
            </a:r>
            <a:r>
              <a:rPr lang="pt-BR" sz="1800" b="1" dirty="0"/>
              <a:t>não armazena informações sobre o estado do cliente entre as requisições</a:t>
            </a:r>
            <a:r>
              <a:rPr lang="pt-BR" sz="1800" dirty="0"/>
              <a:t>. Cada requisição deve conter todas as informações necessárias para ser processada, tornando a aplicação mais simples de escalar e distribuir entre diferentes servidores.</a:t>
            </a:r>
          </a:p>
        </p:txBody>
      </p:sp>
      <p:pic>
        <p:nvPicPr>
          <p:cNvPr id="5" name="Gráfico 4" descr="Monitor">
            <a:extLst>
              <a:ext uri="{FF2B5EF4-FFF2-40B4-BE49-F238E27FC236}">
                <a16:creationId xmlns:a16="http://schemas.microsoft.com/office/drawing/2014/main" id="{69A35561-CC14-45D3-8A98-DEDF24F7C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90335" y="4234751"/>
            <a:ext cx="1515533" cy="1515533"/>
          </a:xfrm>
          <a:prstGeom prst="rect">
            <a:avLst/>
          </a:prstGeom>
        </p:spPr>
      </p:pic>
      <p:pic>
        <p:nvPicPr>
          <p:cNvPr id="7" name="Gráfico 6" descr="Servidor">
            <a:extLst>
              <a:ext uri="{FF2B5EF4-FFF2-40B4-BE49-F238E27FC236}">
                <a16:creationId xmlns:a16="http://schemas.microsoft.com/office/drawing/2014/main" id="{A55CC910-AA01-4263-9BCC-707DBE025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57534" y="4205117"/>
            <a:ext cx="1574800" cy="1574800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444BD14D-0455-4769-AEA5-5537FF4972A9}"/>
              </a:ext>
            </a:extLst>
          </p:cNvPr>
          <p:cNvGrpSpPr/>
          <p:nvPr/>
        </p:nvGrpSpPr>
        <p:grpSpPr>
          <a:xfrm>
            <a:off x="1405470" y="3942043"/>
            <a:ext cx="1363134" cy="1635098"/>
            <a:chOff x="1481667" y="4270218"/>
            <a:chExt cx="1363134" cy="1635098"/>
          </a:xfrm>
        </p:grpSpPr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B23AC287-6745-46CE-A09A-DBC4BA456E49}"/>
                </a:ext>
              </a:extLst>
            </p:cNvPr>
            <p:cNvSpPr/>
            <p:nvPr/>
          </p:nvSpPr>
          <p:spPr>
            <a:xfrm>
              <a:off x="1481667" y="4706939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PedroMiho</a:t>
              </a:r>
              <a:endPara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45BB8BB-C0B0-4E04-A613-5FE1D838561A}"/>
                </a:ext>
              </a:extLst>
            </p:cNvPr>
            <p:cNvSpPr txBox="1"/>
            <p:nvPr/>
          </p:nvSpPr>
          <p:spPr>
            <a:xfrm>
              <a:off x="1481667" y="4270218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Login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1B5FBF88-F39B-43D2-8E07-D4B80EB5C841}"/>
                </a:ext>
              </a:extLst>
            </p:cNvPr>
            <p:cNvSpPr/>
            <p:nvPr/>
          </p:nvSpPr>
          <p:spPr>
            <a:xfrm>
              <a:off x="1481667" y="5558182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admin1234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412B5B5-1102-40B7-8811-8ADBFFC0C04E}"/>
                </a:ext>
              </a:extLst>
            </p:cNvPr>
            <p:cNvSpPr txBox="1"/>
            <p:nvPr/>
          </p:nvSpPr>
          <p:spPr>
            <a:xfrm>
              <a:off x="1481667" y="5121462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Senha</a:t>
              </a:r>
            </a:p>
          </p:txBody>
        </p:sp>
      </p:grp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B6E79902-D094-4241-984C-5590DF4F1786}"/>
              </a:ext>
            </a:extLst>
          </p:cNvPr>
          <p:cNvCxnSpPr/>
          <p:nvPr/>
        </p:nvCxnSpPr>
        <p:spPr>
          <a:xfrm>
            <a:off x="4749800" y="4759592"/>
            <a:ext cx="25400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95C290FA-BD6D-4786-A1CF-48371576069D}"/>
              </a:ext>
            </a:extLst>
          </p:cNvPr>
          <p:cNvCxnSpPr/>
          <p:nvPr/>
        </p:nvCxnSpPr>
        <p:spPr>
          <a:xfrm flipH="1">
            <a:off x="4715934" y="5259033"/>
            <a:ext cx="25654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Gráfico 25" descr="Marca de seleção">
            <a:extLst>
              <a:ext uri="{FF2B5EF4-FFF2-40B4-BE49-F238E27FC236}">
                <a16:creationId xmlns:a16="http://schemas.microsoft.com/office/drawing/2014/main" id="{6E06301E-DF90-4AA3-83C5-B015B58B66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87734" y="3320351"/>
            <a:ext cx="914400" cy="914400"/>
          </a:xfrm>
          <a:prstGeom prst="rect">
            <a:avLst/>
          </a:prstGeom>
        </p:spPr>
      </p:pic>
      <p:sp>
        <p:nvSpPr>
          <p:cNvPr id="28" name="CaixaDeTexto 27">
            <a:extLst>
              <a:ext uri="{FF2B5EF4-FFF2-40B4-BE49-F238E27FC236}">
                <a16:creationId xmlns:a16="http://schemas.microsoft.com/office/drawing/2014/main" id="{0901316F-C4B1-4341-8DF2-D382136D579A}"/>
              </a:ext>
            </a:extLst>
          </p:cNvPr>
          <p:cNvSpPr txBox="1"/>
          <p:nvPr/>
        </p:nvSpPr>
        <p:spPr>
          <a:xfrm>
            <a:off x="8932334" y="3623552"/>
            <a:ext cx="266731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Gera um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token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autenticação e o retorna ao cliente, que deverá utilizá-lo nas próximas requisições, porem não salva esse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token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 memória 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C3C98F00-9C4B-4BAE-A1AC-377349B8164F}"/>
              </a:ext>
            </a:extLst>
          </p:cNvPr>
          <p:cNvSpPr/>
          <p:nvPr/>
        </p:nvSpPr>
        <p:spPr>
          <a:xfrm>
            <a:off x="5300134" y="5850786"/>
            <a:ext cx="1363134" cy="34713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222xs34df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00C8D1CC-00E1-4C21-BED8-EC2F3311B5A4}"/>
              </a:ext>
            </a:extLst>
          </p:cNvPr>
          <p:cNvSpPr txBox="1"/>
          <p:nvPr/>
        </p:nvSpPr>
        <p:spPr>
          <a:xfrm>
            <a:off x="5300134" y="5414065"/>
            <a:ext cx="758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</a:t>
            </a:r>
          </a:p>
        </p:txBody>
      </p:sp>
    </p:spTree>
    <p:extLst>
      <p:ext uri="{BB962C8B-B14F-4D97-AF65-F5344CB8AC3E}">
        <p14:creationId xmlns:p14="http://schemas.microsoft.com/office/powerpoint/2010/main" val="798440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FCA8FF-B2E7-462C-9F1E-255534D8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Stateful</a:t>
            </a:r>
            <a:r>
              <a:rPr lang="pt-BR" dirty="0"/>
              <a:t> – API </a:t>
            </a:r>
            <a:r>
              <a:rPr lang="pt-BR" dirty="0" err="1"/>
              <a:t>RestFul</a:t>
            </a:r>
            <a:endParaRPr lang="pt-BR" dirty="0"/>
          </a:p>
        </p:txBody>
      </p:sp>
      <p:pic>
        <p:nvPicPr>
          <p:cNvPr id="5" name="Gráfico 4" descr="Monitor">
            <a:extLst>
              <a:ext uri="{FF2B5EF4-FFF2-40B4-BE49-F238E27FC236}">
                <a16:creationId xmlns:a16="http://schemas.microsoft.com/office/drawing/2014/main" id="{69A35561-CC14-45D3-8A98-DEDF24F7C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33135" y="2981684"/>
            <a:ext cx="1515533" cy="1515533"/>
          </a:xfrm>
          <a:prstGeom prst="rect">
            <a:avLst/>
          </a:prstGeom>
        </p:spPr>
      </p:pic>
      <p:pic>
        <p:nvPicPr>
          <p:cNvPr id="7" name="Gráfico 6" descr="Servidor">
            <a:extLst>
              <a:ext uri="{FF2B5EF4-FFF2-40B4-BE49-F238E27FC236}">
                <a16:creationId xmlns:a16="http://schemas.microsoft.com/office/drawing/2014/main" id="{A55CC910-AA01-4263-9BCC-707DBE025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00334" y="2952050"/>
            <a:ext cx="1574800" cy="1574800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444BD14D-0455-4769-AEA5-5537FF4972A9}"/>
              </a:ext>
            </a:extLst>
          </p:cNvPr>
          <p:cNvGrpSpPr/>
          <p:nvPr/>
        </p:nvGrpSpPr>
        <p:grpSpPr>
          <a:xfrm>
            <a:off x="948270" y="2688976"/>
            <a:ext cx="1363134" cy="1635098"/>
            <a:chOff x="1481667" y="4270218"/>
            <a:chExt cx="1363134" cy="1635098"/>
          </a:xfrm>
        </p:grpSpPr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B23AC287-6745-46CE-A09A-DBC4BA456E49}"/>
                </a:ext>
              </a:extLst>
            </p:cNvPr>
            <p:cNvSpPr/>
            <p:nvPr/>
          </p:nvSpPr>
          <p:spPr>
            <a:xfrm>
              <a:off x="1481667" y="4706939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João Paulo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45BB8BB-C0B0-4E04-A613-5FE1D838561A}"/>
                </a:ext>
              </a:extLst>
            </p:cNvPr>
            <p:cNvSpPr txBox="1"/>
            <p:nvPr/>
          </p:nvSpPr>
          <p:spPr>
            <a:xfrm>
              <a:off x="1481667" y="4270218"/>
              <a:ext cx="8130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Nome: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1B5FBF88-F39B-43D2-8E07-D4B80EB5C841}"/>
                </a:ext>
              </a:extLst>
            </p:cNvPr>
            <p:cNvSpPr/>
            <p:nvPr/>
          </p:nvSpPr>
          <p:spPr>
            <a:xfrm>
              <a:off x="1481667" y="5558182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22343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412B5B5-1102-40B7-8811-8ADBFFC0C04E}"/>
                </a:ext>
              </a:extLst>
            </p:cNvPr>
            <p:cNvSpPr txBox="1"/>
            <p:nvPr/>
          </p:nvSpPr>
          <p:spPr>
            <a:xfrm>
              <a:off x="1481667" y="5121462"/>
              <a:ext cx="7232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CRO:</a:t>
              </a:r>
            </a:p>
          </p:txBody>
        </p:sp>
      </p:grp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B6E79902-D094-4241-984C-5590DF4F1786}"/>
              </a:ext>
            </a:extLst>
          </p:cNvPr>
          <p:cNvCxnSpPr/>
          <p:nvPr/>
        </p:nvCxnSpPr>
        <p:spPr>
          <a:xfrm>
            <a:off x="4292600" y="3506525"/>
            <a:ext cx="25400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95C290FA-BD6D-4786-A1CF-48371576069D}"/>
              </a:ext>
            </a:extLst>
          </p:cNvPr>
          <p:cNvCxnSpPr/>
          <p:nvPr/>
        </p:nvCxnSpPr>
        <p:spPr>
          <a:xfrm flipH="1">
            <a:off x="4258734" y="4005966"/>
            <a:ext cx="25654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Gráfico 25" descr="Marca de seleção">
            <a:extLst>
              <a:ext uri="{FF2B5EF4-FFF2-40B4-BE49-F238E27FC236}">
                <a16:creationId xmlns:a16="http://schemas.microsoft.com/office/drawing/2014/main" id="{6E06301E-DF90-4AA3-83C5-B015B58B66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30534" y="2067284"/>
            <a:ext cx="914400" cy="914400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9152A04C-0DA4-4513-A0C4-A2883EDB388A}"/>
              </a:ext>
            </a:extLst>
          </p:cNvPr>
          <p:cNvSpPr txBox="1"/>
          <p:nvPr/>
        </p:nvSpPr>
        <p:spPr>
          <a:xfrm>
            <a:off x="4089400" y="4233151"/>
            <a:ext cx="26673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Header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/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Authorization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TOKEN_JWT</a:t>
            </a:r>
          </a:p>
          <a:p>
            <a:pPr algn="just"/>
            <a:endParaRPr lang="pt-BR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Body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“nome” : “João Paulo”</a:t>
            </a:r>
          </a:p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“CRO” : “22343”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BC577B59-8DA2-41AF-BCDC-3EC3A5481474}"/>
              </a:ext>
            </a:extLst>
          </p:cNvPr>
          <p:cNvSpPr/>
          <p:nvPr/>
        </p:nvSpPr>
        <p:spPr>
          <a:xfrm>
            <a:off x="5063059" y="2040611"/>
            <a:ext cx="720000" cy="720000"/>
          </a:xfrm>
          <a:prstGeom prst="ellipse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679525E4-49AB-416A-9499-2662AB938E37}"/>
              </a:ext>
            </a:extLst>
          </p:cNvPr>
          <p:cNvSpPr txBox="1"/>
          <p:nvPr/>
        </p:nvSpPr>
        <p:spPr>
          <a:xfrm>
            <a:off x="4797855" y="2833906"/>
            <a:ext cx="12504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endParaRPr lang="pt-B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0B47891C-DF14-40E0-9F02-35FAC6B410F0}"/>
              </a:ext>
            </a:extLst>
          </p:cNvPr>
          <p:cNvGrpSpPr/>
          <p:nvPr/>
        </p:nvGrpSpPr>
        <p:grpSpPr>
          <a:xfrm>
            <a:off x="9086798" y="2074415"/>
            <a:ext cx="1585242" cy="1101072"/>
            <a:chOff x="9730737" y="1668078"/>
            <a:chExt cx="1585242" cy="1101072"/>
          </a:xfrm>
        </p:grpSpPr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9399BF78-5D3B-4ED9-9274-5B729B80C6F5}"/>
                </a:ext>
              </a:extLst>
            </p:cNvPr>
            <p:cNvSpPr/>
            <p:nvPr/>
          </p:nvSpPr>
          <p:spPr>
            <a:xfrm>
              <a:off x="10163358" y="1668078"/>
              <a:ext cx="720000" cy="720000"/>
            </a:xfrm>
            <a:prstGeom prst="ellipse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B2D770DE-AAEC-4822-8D35-4E83DF28E674}"/>
                </a:ext>
              </a:extLst>
            </p:cNvPr>
            <p:cNvSpPr txBox="1"/>
            <p:nvPr/>
          </p:nvSpPr>
          <p:spPr>
            <a:xfrm>
              <a:off x="9730737" y="2461373"/>
              <a:ext cx="158524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Validar Token JWT</a:t>
              </a:r>
            </a:p>
          </p:txBody>
        </p:sp>
      </p:grpSp>
      <p:sp>
        <p:nvSpPr>
          <p:cNvPr id="15" name="Fluxograma: Decisão 14">
            <a:extLst>
              <a:ext uri="{FF2B5EF4-FFF2-40B4-BE49-F238E27FC236}">
                <a16:creationId xmlns:a16="http://schemas.microsoft.com/office/drawing/2014/main" id="{7E105F45-C5AF-4B83-8E83-7FF720CF9B39}"/>
              </a:ext>
            </a:extLst>
          </p:cNvPr>
          <p:cNvSpPr/>
          <p:nvPr/>
        </p:nvSpPr>
        <p:spPr>
          <a:xfrm>
            <a:off x="9048701" y="3890187"/>
            <a:ext cx="1661437" cy="586794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Token Válido ?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90525F74-792B-488D-BCEC-FA1D6D585A3D}"/>
              </a:ext>
            </a:extLst>
          </p:cNvPr>
          <p:cNvSpPr/>
          <p:nvPr/>
        </p:nvSpPr>
        <p:spPr>
          <a:xfrm>
            <a:off x="7984066" y="5259758"/>
            <a:ext cx="1464733" cy="35838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Bloquear requisição</a:t>
            </a:r>
          </a:p>
        </p:txBody>
      </p:sp>
      <p:cxnSp>
        <p:nvCxnSpPr>
          <p:cNvPr id="24" name="Conector: Angulado 23">
            <a:extLst>
              <a:ext uri="{FF2B5EF4-FFF2-40B4-BE49-F238E27FC236}">
                <a16:creationId xmlns:a16="http://schemas.microsoft.com/office/drawing/2014/main" id="{9158A41F-881C-40F1-A28F-575F9815947C}"/>
              </a:ext>
            </a:extLst>
          </p:cNvPr>
          <p:cNvCxnSpPr>
            <a:cxnSpLocks/>
            <a:stCxn id="15" idx="1"/>
            <a:endCxn id="16" idx="0"/>
          </p:cNvCxnSpPr>
          <p:nvPr/>
        </p:nvCxnSpPr>
        <p:spPr>
          <a:xfrm rot="10800000" flipV="1">
            <a:off x="8716433" y="4183584"/>
            <a:ext cx="332268" cy="1076174"/>
          </a:xfrm>
          <a:prstGeom prst="bentConnector2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8E77D9FE-231B-434E-AB0A-51A3F13BE6B5}"/>
              </a:ext>
            </a:extLst>
          </p:cNvPr>
          <p:cNvSpPr/>
          <p:nvPr/>
        </p:nvSpPr>
        <p:spPr>
          <a:xfrm flipH="1">
            <a:off x="10422467" y="5306297"/>
            <a:ext cx="1343829" cy="31184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Liberar Requisição</a:t>
            </a:r>
          </a:p>
        </p:txBody>
      </p:sp>
      <p:cxnSp>
        <p:nvCxnSpPr>
          <p:cNvPr id="27" name="Conector: Angulado 26">
            <a:extLst>
              <a:ext uri="{FF2B5EF4-FFF2-40B4-BE49-F238E27FC236}">
                <a16:creationId xmlns:a16="http://schemas.microsoft.com/office/drawing/2014/main" id="{7E9661AA-327F-46A3-8336-2D44A4A64918}"/>
              </a:ext>
            </a:extLst>
          </p:cNvPr>
          <p:cNvCxnSpPr>
            <a:cxnSpLocks/>
            <a:stCxn id="15" idx="3"/>
            <a:endCxn id="29" idx="0"/>
          </p:cNvCxnSpPr>
          <p:nvPr/>
        </p:nvCxnSpPr>
        <p:spPr>
          <a:xfrm>
            <a:off x="10710138" y="4183584"/>
            <a:ext cx="384243" cy="1122713"/>
          </a:xfrm>
          <a:prstGeom prst="bentConnector2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D73C5C9F-59E4-4761-BC9A-2FA88FB30F10}"/>
              </a:ext>
            </a:extLst>
          </p:cNvPr>
          <p:cNvCxnSpPr>
            <a:cxnSpLocks/>
            <a:stCxn id="23" idx="2"/>
            <a:endCxn id="15" idx="0"/>
          </p:cNvCxnSpPr>
          <p:nvPr/>
        </p:nvCxnSpPr>
        <p:spPr>
          <a:xfrm>
            <a:off x="9879419" y="3175487"/>
            <a:ext cx="1" cy="714700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DEEFF12B-4E47-43B1-9B6E-001BBA25FDFB}"/>
              </a:ext>
            </a:extLst>
          </p:cNvPr>
          <p:cNvSpPr txBox="1"/>
          <p:nvPr/>
        </p:nvSpPr>
        <p:spPr>
          <a:xfrm>
            <a:off x="8450634" y="3801532"/>
            <a:ext cx="4844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Não</a:t>
            </a:r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3A51FCA2-619B-455E-8AAC-FC82B41FB9F6}"/>
              </a:ext>
            </a:extLst>
          </p:cNvPr>
          <p:cNvSpPr txBox="1"/>
          <p:nvPr/>
        </p:nvSpPr>
        <p:spPr>
          <a:xfrm>
            <a:off x="10857778" y="3801533"/>
            <a:ext cx="4732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</a:t>
            </a:r>
          </a:p>
        </p:txBody>
      </p:sp>
      <p:sp>
        <p:nvSpPr>
          <p:cNvPr id="57" name="Elipse 56">
            <a:extLst>
              <a:ext uri="{FF2B5EF4-FFF2-40B4-BE49-F238E27FC236}">
                <a16:creationId xmlns:a16="http://schemas.microsoft.com/office/drawing/2014/main" id="{1B3B5340-BF19-4B44-9199-F811693FE268}"/>
              </a:ext>
            </a:extLst>
          </p:cNvPr>
          <p:cNvSpPr/>
          <p:nvPr/>
        </p:nvSpPr>
        <p:spPr>
          <a:xfrm>
            <a:off x="9655327" y="4565648"/>
            <a:ext cx="448183" cy="443428"/>
          </a:xfrm>
          <a:prstGeom prst="ellipse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50239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8E007F-72E5-4666-AB74-CA2282B4B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Criando uma tabela de login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446F0B7-1871-4E8D-94D3-38D2898E4A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4"/>
            <a:ext cx="11007306" cy="4530725"/>
          </a:xfrm>
        </p:spPr>
        <p:txBody>
          <a:bodyPr/>
          <a:lstStyle/>
          <a:p>
            <a:r>
              <a:rPr lang="pt-BR" dirty="0"/>
              <a:t>É uma boa prática manter os </a:t>
            </a:r>
            <a:r>
              <a:rPr lang="pt-BR" b="1" dirty="0"/>
              <a:t>dados de autenticação separados das informações do usuário</a:t>
            </a:r>
            <a:r>
              <a:rPr lang="pt-BR" dirty="0"/>
              <a:t>, facilitando a segurança, a manutenção e o controle de acesso da aplicação. Dessa forma, informações como </a:t>
            </a:r>
            <a:r>
              <a:rPr lang="pt-BR" b="1" dirty="0"/>
              <a:t>login, senha e perfil de acesso</a:t>
            </a:r>
            <a:r>
              <a:rPr lang="pt-BR" dirty="0"/>
              <a:t> ficam concentradas em uma estrutura específica para autenticação.</a:t>
            </a:r>
          </a:p>
          <a:p>
            <a:endParaRPr lang="pt-BR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🔐 Segurança: informações de autenticação ficam isoladas.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👤 Reutilização: um usuário pode estar associado a diferentes tipos de perfil.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🛠️ Manutenção: alterações no sistema de autenticação não afetam diretamente a entidade Dentista.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🔑 Autorização: a tabela pode armazenar role, como USER ou ADMIN.</a:t>
            </a:r>
          </a:p>
        </p:txBody>
      </p:sp>
    </p:spTree>
    <p:extLst>
      <p:ext uri="{BB962C8B-B14F-4D97-AF65-F5344CB8AC3E}">
        <p14:creationId xmlns:p14="http://schemas.microsoft.com/office/powerpoint/2010/main" val="3019380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09526F-AC48-4818-BFFB-823D266C9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Anotação </a:t>
            </a:r>
            <a:r>
              <a:rPr lang="pt-BR" b="1" dirty="0"/>
              <a:t>@Service	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027F30-729A-426C-9362-DA7541F86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62427"/>
          </a:xfrm>
        </p:spPr>
        <p:txBody>
          <a:bodyPr/>
          <a:lstStyle/>
          <a:p>
            <a:r>
              <a:rPr lang="pt-BR" dirty="0"/>
              <a:t>A anotação </a:t>
            </a:r>
            <a:r>
              <a:rPr lang="pt-BR" b="1" dirty="0"/>
              <a:t>@Service</a:t>
            </a:r>
            <a:r>
              <a:rPr lang="pt-BR" dirty="0"/>
              <a:t> é usada para indicar ao Spring que uma classe pertence à </a:t>
            </a:r>
            <a:r>
              <a:rPr lang="pt-BR" b="1" dirty="0"/>
              <a:t>camada de serviço da aplicação</a:t>
            </a:r>
            <a:r>
              <a:rPr lang="pt-BR" dirty="0"/>
              <a:t>, normalmente onde ficam as </a:t>
            </a:r>
            <a:r>
              <a:rPr lang="pt-BR" b="1" dirty="0"/>
              <a:t>regras de negócio</a:t>
            </a:r>
            <a:r>
              <a:rPr lang="pt-BR" dirty="0"/>
              <a:t>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9BEE009-2E98-0957-5528-D7A06FB57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8144" y="3176529"/>
            <a:ext cx="5175712" cy="3450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826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030942-4DEA-4985-BDD9-E31DC1193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Interface </a:t>
            </a:r>
            <a:r>
              <a:rPr lang="pt-BR" b="1" dirty="0" err="1"/>
              <a:t>UserDetailsService</a:t>
            </a:r>
            <a:endParaRPr lang="pt-BR" b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E3C6A35-74C2-430D-910F-9D866EC2B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2270126"/>
          </a:xfrm>
        </p:spPr>
        <p:txBody>
          <a:bodyPr/>
          <a:lstStyle/>
          <a:p>
            <a:r>
              <a:rPr lang="pt-BR" sz="1600" dirty="0"/>
              <a:t>A interface </a:t>
            </a:r>
            <a:r>
              <a:rPr lang="pt-BR" sz="1600" b="1" dirty="0" err="1"/>
              <a:t>UserDetailsService</a:t>
            </a:r>
            <a:r>
              <a:rPr lang="pt-BR" sz="1600" dirty="0"/>
              <a:t> define como o Spring Security deve buscar os dados de um usuário durante a autenticação. Ao implementar essa interface, a classe deve implementar o método </a:t>
            </a:r>
            <a:r>
              <a:rPr lang="pt-BR" sz="1600" dirty="0" err="1"/>
              <a:t>loadUserByUsername</a:t>
            </a:r>
            <a:r>
              <a:rPr lang="pt-BR" sz="1600" dirty="0"/>
              <a:t>(), responsável por: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Receber o login informado pelo usuário.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Buscar o usuário no banco de dados.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Retornar os dados encontrados em um objeto do tipo </a:t>
            </a:r>
            <a:r>
              <a:rPr lang="pt-BR" sz="1400" dirty="0" err="1"/>
              <a:t>UserDetails</a:t>
            </a:r>
            <a:r>
              <a:rPr lang="pt-BR" sz="14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Lançar a exceção </a:t>
            </a:r>
            <a:r>
              <a:rPr lang="pt-BR" sz="1400" dirty="0" err="1"/>
              <a:t>UsernameNotFoundException</a:t>
            </a:r>
            <a:r>
              <a:rPr lang="pt-BR" sz="1400" dirty="0"/>
              <a:t> caso o usuário não seja encontrado.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0874A16A-2A57-F2FB-71D7-F1EAF2B0B764}"/>
              </a:ext>
            </a:extLst>
          </p:cNvPr>
          <p:cNvGrpSpPr/>
          <p:nvPr/>
        </p:nvGrpSpPr>
        <p:grpSpPr>
          <a:xfrm>
            <a:off x="2436961" y="4628206"/>
            <a:ext cx="7318077" cy="1873715"/>
            <a:chOff x="1972572" y="3586806"/>
            <a:chExt cx="7318077" cy="1873715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856EE8C4-D7CE-7A82-84C2-059031F4721E}"/>
                </a:ext>
              </a:extLst>
            </p:cNvPr>
            <p:cNvSpPr/>
            <p:nvPr/>
          </p:nvSpPr>
          <p:spPr>
            <a:xfrm>
              <a:off x="1972572" y="3586806"/>
              <a:ext cx="7318077" cy="1873715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9B7DE505-55E1-03DB-5CB7-3D1F40C92F19}"/>
                </a:ext>
              </a:extLst>
            </p:cNvPr>
            <p:cNvSpPr txBox="1"/>
            <p:nvPr/>
          </p:nvSpPr>
          <p:spPr>
            <a:xfrm>
              <a:off x="2510106" y="3923499"/>
              <a:ext cx="6243008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  <a:t>@Service</a:t>
              </a:r>
              <a:b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class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AutenticacaoService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implements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UserDetailsService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{</a:t>
              </a:r>
            </a:p>
            <a:p>
              <a:pPr>
                <a:buNone/>
              </a:pP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90325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B6B12F-4397-4B70-9BC2-D22B52BA7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</a:t>
            </a:r>
            <a:r>
              <a:rPr lang="pt-BR" b="1" dirty="0" err="1"/>
              <a:t>loadUserByUsername</a:t>
            </a:r>
            <a:r>
              <a:rPr lang="pt-BR" b="1" dirty="0"/>
              <a:t>()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072901B-00DF-4D10-8860-70FC53914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131438"/>
          </a:xfrm>
        </p:spPr>
        <p:txBody>
          <a:bodyPr/>
          <a:lstStyle/>
          <a:p>
            <a:r>
              <a:rPr lang="pt-BR" dirty="0"/>
              <a:t>O Método </a:t>
            </a:r>
            <a:r>
              <a:rPr lang="pt-BR" dirty="0" err="1"/>
              <a:t>loadUserByUsername</a:t>
            </a:r>
            <a:r>
              <a:rPr lang="pt-BR" dirty="0"/>
              <a:t>() é responsável por </a:t>
            </a:r>
            <a:r>
              <a:rPr lang="pt-BR" b="1" dirty="0"/>
              <a:t>buscar no banco de dados o usuário que está tentando fazer login</a:t>
            </a:r>
            <a:r>
              <a:rPr lang="pt-BR" dirty="0"/>
              <a:t> e entregar essas informações ao Spring Security.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94FDF691-948D-FA21-81BC-3D8144F9EDB9}"/>
              </a:ext>
            </a:extLst>
          </p:cNvPr>
          <p:cNvGrpSpPr/>
          <p:nvPr/>
        </p:nvGrpSpPr>
        <p:grpSpPr>
          <a:xfrm>
            <a:off x="736902" y="3647071"/>
            <a:ext cx="10718197" cy="2606760"/>
            <a:chOff x="668670" y="2879640"/>
            <a:chExt cx="10718197" cy="2606760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0B54F185-468C-A63D-A1BD-051BBF3754AC}"/>
                </a:ext>
              </a:extLst>
            </p:cNvPr>
            <p:cNvSpPr/>
            <p:nvPr/>
          </p:nvSpPr>
          <p:spPr>
            <a:xfrm>
              <a:off x="668670" y="2879640"/>
              <a:ext cx="10718197" cy="2606760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EA1429E2-57D2-D07E-B22D-B00AD3DE2CC5}"/>
                </a:ext>
              </a:extLst>
            </p:cNvPr>
            <p:cNvSpPr txBox="1"/>
            <p:nvPr/>
          </p:nvSpPr>
          <p:spPr>
            <a:xfrm>
              <a:off x="1378849" y="3167358"/>
              <a:ext cx="9297839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  <a:t>@Override</a:t>
              </a:r>
              <a:b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UserDetails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56A8F5"/>
                  </a:solidFill>
                  <a:effectLst/>
                  <a:latin typeface="JetBrains Mono"/>
                </a:rPr>
                <a:t>loadUserByUsername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(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String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username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)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throws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UsernameNotFoundException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{</a:t>
              </a:r>
            </a:p>
            <a:p>
              <a:pPr>
                <a:buNone/>
              </a:pP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pt-BR" dirty="0">
                  <a:solidFill>
                    <a:srgbClr val="7A7E85"/>
                  </a:solidFill>
                  <a:effectLst/>
                  <a:latin typeface="JetBrains Mono"/>
                </a:rPr>
                <a:t>//Busca no banco de dados o usuário pelo login</a:t>
              </a:r>
              <a:br>
                <a:rPr lang="pt-BR" dirty="0">
                  <a:solidFill>
                    <a:srgbClr val="7A7E85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7A7E85"/>
                  </a:solidFill>
                  <a:effectLst/>
                  <a:latin typeface="JetBrains Mono"/>
                </a:rPr>
                <a:t>   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return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C77DBB"/>
                  </a:solidFill>
                  <a:effectLst/>
                  <a:latin typeface="JetBrains Mono"/>
                </a:rPr>
                <a:t>repository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.findByLogin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(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username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);</a:t>
              </a: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endParaRPr lang="pt-BR" dirty="0">
                <a:solidFill>
                  <a:srgbClr val="BCBEC4"/>
                </a:solidFill>
                <a:effectLst/>
                <a:latin typeface="JetBrains Mono"/>
              </a:endParaRPr>
            </a:p>
            <a:p>
              <a:pPr>
                <a:buNone/>
              </a:pP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88276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25B4D7-FFEC-4729-8581-F801D08C1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Autenticação </a:t>
            </a:r>
            <a:r>
              <a:rPr lang="pt-BR" b="1" dirty="0" err="1"/>
              <a:t>Stateless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32CB1AC-4954-4F1E-94D5-06FE8802D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1600" dirty="0"/>
              <a:t>Por padrão, em aplicações com autenticação por sessão, o servidor mantém o estado de autenticação do usuário entre as requisições (</a:t>
            </a:r>
            <a:r>
              <a:rPr lang="pt-BR" sz="1600" b="1" dirty="0" err="1"/>
              <a:t>Stateful</a:t>
            </a:r>
            <a:r>
              <a:rPr lang="pt-BR" sz="1600" dirty="0"/>
              <a:t>).</a:t>
            </a:r>
          </a:p>
          <a:p>
            <a:endParaRPr lang="pt-BR" sz="1600" dirty="0"/>
          </a:p>
          <a:p>
            <a:r>
              <a:rPr lang="pt-BR" sz="1600" dirty="0"/>
              <a:t>Na nossa API, utilizaremos o modelo </a:t>
            </a:r>
            <a:r>
              <a:rPr lang="pt-BR" sz="1600" b="1" dirty="0" err="1"/>
              <a:t>Stateless</a:t>
            </a:r>
            <a:r>
              <a:rPr lang="pt-BR" sz="1600" dirty="0"/>
              <a:t>, em que cada requisição deve conter as informações necessárias para autenticar o usuário.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O Spring Security não cria nem utiliza uma sessão HTTP para manter a autenticação.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Após o login, o cliente recebe um </a:t>
            </a:r>
            <a:r>
              <a:rPr lang="pt-BR" sz="1400" dirty="0" err="1"/>
              <a:t>token</a:t>
            </a:r>
            <a:r>
              <a:rPr lang="pt-BR" sz="1400" dirty="0"/>
              <a:t> JWT.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O cliente envia esse </a:t>
            </a:r>
            <a:r>
              <a:rPr lang="pt-BR" sz="1400" dirty="0" err="1"/>
              <a:t>token</a:t>
            </a:r>
            <a:r>
              <a:rPr lang="pt-BR" sz="1400" dirty="0"/>
              <a:t> em cada requisição a uma rota protegida.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400" dirty="0"/>
              <a:t>A API valida o </a:t>
            </a:r>
            <a:r>
              <a:rPr lang="pt-BR" sz="1400" dirty="0" err="1"/>
              <a:t>token</a:t>
            </a:r>
            <a:r>
              <a:rPr lang="pt-BR" sz="1400" dirty="0"/>
              <a:t> antes de permitir o acesso.</a:t>
            </a:r>
          </a:p>
          <a:p>
            <a:pPr lvl="1"/>
            <a:endParaRPr lang="pt-BR" sz="1400" dirty="0"/>
          </a:p>
          <a:p>
            <a:r>
              <a:rPr lang="pt-BR" sz="1600" dirty="0"/>
              <a:t>A configuração STATELESS desabilita o uso da sessão para manter a autenticação. A geração e a validação do JWT serão implementadas separadamente.</a:t>
            </a:r>
          </a:p>
        </p:txBody>
      </p:sp>
    </p:spTree>
    <p:extLst>
      <p:ext uri="{BB962C8B-B14F-4D97-AF65-F5344CB8AC3E}">
        <p14:creationId xmlns:p14="http://schemas.microsoft.com/office/powerpoint/2010/main" val="3311506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43583B-0B6E-4C2D-B414-9D4FF2DC0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Anotação </a:t>
            </a:r>
            <a:r>
              <a:rPr lang="pt-BR" b="1" dirty="0"/>
              <a:t>@Configuration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BC6764-C18B-47FD-8EEC-BBCCA3C12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</a:t>
            </a:r>
            <a:r>
              <a:rPr lang="pt-BR" b="1" dirty="0"/>
              <a:t>@Configuration</a:t>
            </a:r>
            <a:r>
              <a:rPr lang="pt-BR" dirty="0"/>
              <a:t> serve para informar ao Spring que uma determinada classe contém </a:t>
            </a:r>
            <a:r>
              <a:rPr lang="pt-BR" b="1" dirty="0"/>
              <a:t>configurações da aplicação</a:t>
            </a:r>
            <a:r>
              <a:rPr lang="pt-BR" dirty="0"/>
              <a:t> que devem ser carregadas e gerenciadas pelo framework.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D5D52A4-E898-46AB-96A9-73A47EACF6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450" y="2902295"/>
            <a:ext cx="5753100" cy="383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620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236043-A129-D578-8E92-8131F162D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Anotação </a:t>
            </a:r>
            <a:r>
              <a:rPr lang="pt-BR" b="1" dirty="0"/>
              <a:t>@EnableWebSecurity</a:t>
            </a:r>
            <a:r>
              <a:rPr lang="pt-BR" dirty="0"/>
              <a:t>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C62FE0-36F3-1EBC-3002-181EB526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</a:t>
            </a:r>
            <a:r>
              <a:rPr lang="pt-BR" b="1" dirty="0"/>
              <a:t>@EnableWebSecurity</a:t>
            </a:r>
            <a:r>
              <a:rPr lang="pt-BR" dirty="0"/>
              <a:t> serve para </a:t>
            </a:r>
            <a:r>
              <a:rPr lang="pt-BR" b="1" dirty="0"/>
              <a:t>habilitar explicitamente o mecanismo de segurança web do Spring Security</a:t>
            </a:r>
            <a:r>
              <a:rPr lang="pt-BR" dirty="0"/>
              <a:t> na aplicação, permitindo que o Spring </a:t>
            </a:r>
            <a:r>
              <a:rPr lang="pt-BR" b="1" dirty="0"/>
              <a:t>Security passe a participar do processamento das requisições HTTP</a:t>
            </a:r>
            <a:r>
              <a:rPr lang="pt-BR" dirty="0"/>
              <a:t>, permitindo controlar:</a:t>
            </a:r>
          </a:p>
          <a:p>
            <a:endParaRPr lang="pt-BR" dirty="0"/>
          </a:p>
          <a:p>
            <a:pPr lvl="1"/>
            <a:r>
              <a:rPr lang="pt-BR" dirty="0"/>
              <a:t>🔐 Autenticação — quem é o usuário? </a:t>
            </a:r>
          </a:p>
          <a:p>
            <a:pPr lvl="1"/>
            <a:r>
              <a:rPr lang="pt-BR" dirty="0"/>
              <a:t>🛡️ Autorização — o usuário pode acessar? </a:t>
            </a:r>
          </a:p>
          <a:p>
            <a:pPr lvl="1"/>
            <a:r>
              <a:rPr lang="pt-BR" dirty="0"/>
              <a:t>👤 Usuários e permissões </a:t>
            </a:r>
          </a:p>
          <a:p>
            <a:pPr lvl="1"/>
            <a:r>
              <a:rPr lang="pt-BR" dirty="0"/>
              <a:t>🔑 Login e senhas </a:t>
            </a:r>
          </a:p>
          <a:p>
            <a:pPr lvl="1"/>
            <a:r>
              <a:rPr lang="pt-BR" dirty="0"/>
              <a:t>🚧 Proteção de </a:t>
            </a:r>
            <a:r>
              <a:rPr lang="pt-BR" dirty="0" err="1"/>
              <a:t>endpoints</a:t>
            </a:r>
            <a:r>
              <a:rPr lang="pt-BR" dirty="0"/>
              <a:t> </a:t>
            </a:r>
          </a:p>
          <a:p>
            <a:pPr lvl="1"/>
            <a:r>
              <a:rPr lang="pt-BR" dirty="0"/>
              <a:t>🔄 Filtros de segurança</a:t>
            </a:r>
          </a:p>
          <a:p>
            <a:endParaRPr lang="pt-BR" dirty="0"/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C7F7AB6C-17D9-C9B9-F3EE-39ABAACC4456}"/>
              </a:ext>
            </a:extLst>
          </p:cNvPr>
          <p:cNvGrpSpPr/>
          <p:nvPr/>
        </p:nvGrpSpPr>
        <p:grpSpPr>
          <a:xfrm>
            <a:off x="6096000" y="4129865"/>
            <a:ext cx="5357548" cy="1873715"/>
            <a:chOff x="7435551" y="5840444"/>
            <a:chExt cx="5357548" cy="1873715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768B58BF-F0C2-C5CF-7060-16A9ECA026C1}"/>
                </a:ext>
              </a:extLst>
            </p:cNvPr>
            <p:cNvSpPr/>
            <p:nvPr/>
          </p:nvSpPr>
          <p:spPr>
            <a:xfrm>
              <a:off x="7435551" y="5840444"/>
              <a:ext cx="5357548" cy="1873715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9E486EF1-CD61-40DD-35E4-17913C54B333}"/>
                </a:ext>
              </a:extLst>
            </p:cNvPr>
            <p:cNvSpPr txBox="1"/>
            <p:nvPr/>
          </p:nvSpPr>
          <p:spPr>
            <a:xfrm>
              <a:off x="7950173" y="6038637"/>
              <a:ext cx="4328304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  <a:t>@Configuration</a:t>
              </a:r>
              <a:b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  <a:t>@EnableWebSecurity</a:t>
              </a:r>
              <a:b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class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SecutiryConfigurations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{</a:t>
              </a: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55755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C62CB3-17A3-5713-2A67-502FA2005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@Configuration </a:t>
            </a:r>
            <a:r>
              <a:rPr lang="pt-BR" dirty="0"/>
              <a:t>+ </a:t>
            </a:r>
            <a:r>
              <a:rPr lang="pt-BR" b="1" dirty="0"/>
              <a:t>@EnableWebSecurity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99DAB3-6C0D-58F7-6C33-6DDBB2379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547499"/>
          </a:xfrm>
        </p:spPr>
        <p:txBody>
          <a:bodyPr/>
          <a:lstStyle/>
          <a:p>
            <a:r>
              <a:rPr lang="pt-BR" b="1" dirty="0"/>
              <a:t>@</a:t>
            </a:r>
            <a:r>
              <a:rPr lang="pt-BR" b="1" dirty="0" err="1"/>
              <a:t>Configuration</a:t>
            </a:r>
            <a:r>
              <a:rPr lang="pt-BR" b="1" dirty="0"/>
              <a:t>: </a:t>
            </a:r>
            <a:r>
              <a:rPr lang="pt-BR" dirty="0"/>
              <a:t>Informa que a classe contém configurações.</a:t>
            </a:r>
          </a:p>
          <a:p>
            <a:endParaRPr lang="pt-BR" dirty="0"/>
          </a:p>
          <a:p>
            <a:r>
              <a:rPr lang="pt-BR" b="1" dirty="0"/>
              <a:t>@</a:t>
            </a:r>
            <a:r>
              <a:rPr lang="pt-BR" b="1" dirty="0" err="1"/>
              <a:t>EnableWebSecuritydiz</a:t>
            </a:r>
            <a:r>
              <a:rPr lang="pt-BR" b="1" dirty="0"/>
              <a:t>: </a:t>
            </a:r>
            <a:r>
              <a:rPr lang="pt-BR" dirty="0"/>
              <a:t>Informa que essas configurações estão relacionadas à segurança web do Spring Security, com o intuito de definir as regras de segurança da aplicação.</a:t>
            </a:r>
          </a:p>
          <a:p>
            <a:endParaRPr lang="pt-BR" dirty="0"/>
          </a:p>
          <a:p>
            <a:r>
              <a:rPr lang="pt-BR" dirty="0"/>
              <a:t>A configuração STATELESS define que a aplicação não manterá sessões HTTP para os usuários. Dessa forma, cada requisição deve trazer as informações necessárias para autenticação, como um token JWT.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106710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E448DB-F761-4238-93B4-DA908273D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definir como STATELLES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4A24E51E-6BA4-4D41-8D0F-830F70C5B693}"/>
              </a:ext>
            </a:extLst>
          </p:cNvPr>
          <p:cNvGrpSpPr/>
          <p:nvPr/>
        </p:nvGrpSpPr>
        <p:grpSpPr>
          <a:xfrm>
            <a:off x="1027293" y="2319792"/>
            <a:ext cx="10137413" cy="3925590"/>
            <a:chOff x="749185" y="2285286"/>
            <a:chExt cx="6794615" cy="3925590"/>
          </a:xfrm>
        </p:grpSpPr>
        <p:sp>
          <p:nvSpPr>
            <p:cNvPr id="10" name="Shape 20">
              <a:extLst>
                <a:ext uri="{FF2B5EF4-FFF2-40B4-BE49-F238E27FC236}">
                  <a16:creationId xmlns:a16="http://schemas.microsoft.com/office/drawing/2014/main" id="{2DB2A50A-D986-4FB0-93B6-EACEECD789BB}"/>
                </a:ext>
              </a:extLst>
            </p:cNvPr>
            <p:cNvSpPr/>
            <p:nvPr/>
          </p:nvSpPr>
          <p:spPr>
            <a:xfrm>
              <a:off x="749185" y="2285286"/>
              <a:ext cx="6794615" cy="3925590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4A35801F-679B-4713-9557-FDEA683E30B2}"/>
                </a:ext>
              </a:extLst>
            </p:cNvPr>
            <p:cNvSpPr/>
            <p:nvPr/>
          </p:nvSpPr>
          <p:spPr>
            <a:xfrm>
              <a:off x="1098364" y="2538081"/>
              <a:ext cx="6096256" cy="342000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eaLnBrk="0" fontAlgn="base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pt-BR" altLang="pt-BR" dirty="0">
                  <a:solidFill>
                    <a:srgbClr val="B3AE60"/>
                  </a:solidFill>
                  <a:latin typeface="JetBrains Mono"/>
                </a:rPr>
                <a:t>@</a:t>
              </a:r>
              <a:r>
                <a:rPr lang="pt-BR" altLang="pt-BR" dirty="0" err="1">
                  <a:solidFill>
                    <a:srgbClr val="B3AE60"/>
                  </a:solidFill>
                  <a:latin typeface="JetBrains Mono"/>
                </a:rPr>
                <a:t>Bean</a:t>
              </a:r>
              <a:br>
                <a:rPr lang="pt-BR" altLang="pt-BR" dirty="0">
                  <a:solidFill>
                    <a:srgbClr val="B3AE60"/>
                  </a:solidFill>
                  <a:latin typeface="JetBrains Mono"/>
                </a:rPr>
              </a:br>
              <a:r>
                <a:rPr lang="pt-BR" altLang="pt-BR" dirty="0" err="1">
                  <a:solidFill>
                    <a:srgbClr val="CF8E6D"/>
                  </a:solidFill>
                  <a:latin typeface="JetBrains Mono"/>
                </a:rPr>
                <a:t>public</a:t>
              </a:r>
              <a:r>
                <a:rPr lang="pt-BR" altLang="pt-BR" dirty="0">
                  <a:solidFill>
                    <a:srgbClr val="CF8E6D"/>
                  </a:solidFill>
                  <a:latin typeface="JetBrains Mono"/>
                </a:rPr>
                <a:t>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SecurityFilterChain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</a:t>
              </a:r>
              <a:r>
                <a:rPr lang="pt-BR" altLang="pt-BR" dirty="0" err="1">
                  <a:solidFill>
                    <a:srgbClr val="56A8F5"/>
                  </a:solidFill>
                  <a:latin typeface="JetBrains Mono"/>
                </a:rPr>
                <a:t>securityFilterChain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HttpSecurity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http){</a:t>
              </a:r>
              <a:br>
                <a:rPr lang="pt-BR" altLang="pt-BR" dirty="0">
                  <a:solidFill>
                    <a:srgbClr val="BCBEC4"/>
                  </a:solidFill>
                  <a:latin typeface="JetBrains Mono"/>
                </a:rPr>
              </a:b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   </a:t>
              </a:r>
              <a:r>
                <a:rPr lang="pt-BR" altLang="pt-BR" dirty="0" err="1">
                  <a:solidFill>
                    <a:srgbClr val="CF8E6D"/>
                  </a:solidFill>
                  <a:latin typeface="JetBrains Mono"/>
                </a:rPr>
                <a:t>return</a:t>
              </a:r>
              <a:r>
                <a:rPr lang="pt-BR" altLang="pt-BR" dirty="0">
                  <a:solidFill>
                    <a:srgbClr val="CF8E6D"/>
                  </a:solidFill>
                  <a:latin typeface="JetBrains Mono"/>
                </a:rPr>
                <a:t>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http.csrf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csrf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-&gt;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csrf.disable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()).</a:t>
              </a:r>
              <a:br>
                <a:rPr lang="pt-BR" altLang="pt-BR" dirty="0">
                  <a:solidFill>
                    <a:srgbClr val="BCBEC4"/>
                  </a:solidFill>
                  <a:latin typeface="JetBrains Mono"/>
                </a:rPr>
              </a:b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          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sessionManagement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session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-&gt; 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session</a:t>
              </a:r>
              <a:br>
                <a:rPr lang="pt-BR" altLang="pt-BR" dirty="0">
                  <a:solidFill>
                    <a:srgbClr val="BCBEC4"/>
                  </a:solidFill>
                  <a:latin typeface="JetBrains Mono"/>
                </a:rPr>
              </a:b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           .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sessionCreationPolicy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(</a:t>
              </a:r>
              <a:r>
                <a:rPr lang="pt-BR" altLang="pt-BR" dirty="0" err="1">
                  <a:solidFill>
                    <a:srgbClr val="BCBEC4"/>
                  </a:solidFill>
                  <a:latin typeface="JetBrains Mono"/>
                </a:rPr>
                <a:t>SessionCreationPolicy.</a:t>
              </a:r>
              <a:r>
                <a:rPr lang="pt-BR" altLang="pt-BR" i="1" dirty="0" err="1">
                  <a:solidFill>
                    <a:srgbClr val="C77DBB"/>
                  </a:solidFill>
                  <a:latin typeface="JetBrains Mono"/>
                </a:rPr>
                <a:t>STATELESS</a:t>
              </a: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)</a:t>
              </a:r>
              <a:br>
                <a:rPr lang="pt-BR" altLang="pt-BR" dirty="0">
                  <a:solidFill>
                    <a:srgbClr val="BCBEC4"/>
                  </a:solidFill>
                  <a:latin typeface="JetBrains Mono"/>
                </a:rPr>
              </a:b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    ).build();</a:t>
              </a:r>
              <a:br>
                <a:rPr lang="pt-BR" altLang="pt-BR" dirty="0">
                  <a:solidFill>
                    <a:srgbClr val="BCBEC4"/>
                  </a:solidFill>
                  <a:latin typeface="JetBrains Mono"/>
                </a:rPr>
              </a:br>
              <a:r>
                <a:rPr lang="pt-BR" altLang="pt-BR" dirty="0">
                  <a:solidFill>
                    <a:srgbClr val="BCBEC4"/>
                  </a:solidFill>
                  <a:latin typeface="JetBrains Mono"/>
                </a:rPr>
                <a:t>}</a:t>
              </a:r>
              <a:endParaRPr lang="pt-BR" altLang="pt-BR" sz="4000" dirty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0194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4">
            <a:extLst>
              <a:ext uri="{FF2B5EF4-FFF2-40B4-BE49-F238E27FC236}">
                <a16:creationId xmlns:a16="http://schemas.microsoft.com/office/drawing/2014/main" id="{4705F5DA-0E06-40C7-B849-48716A42182F}"/>
              </a:ext>
            </a:extLst>
          </p:cNvPr>
          <p:cNvSpPr/>
          <p:nvPr/>
        </p:nvSpPr>
        <p:spPr>
          <a:xfrm>
            <a:off x="749185" y="1811868"/>
            <a:ext cx="11107643" cy="4670092"/>
          </a:xfrm>
          <a:prstGeom prst="roundRect">
            <a:avLst>
              <a:gd name="adj" fmla="val 3224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CB7C75F-A38A-40B1-B68A-8885637D9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cada um desses itens</a:t>
            </a:r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D963DA3C-6C6A-4B8A-B045-12383E65269F}"/>
              </a:ext>
            </a:extLst>
          </p:cNvPr>
          <p:cNvSpPr/>
          <p:nvPr/>
        </p:nvSpPr>
        <p:spPr>
          <a:xfrm>
            <a:off x="1028265" y="1995920"/>
            <a:ext cx="567021" cy="567035"/>
          </a:xfrm>
          <a:prstGeom prst="ellipse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A73A8F9F-F031-4EB6-893A-F8C166E2C391}"/>
              </a:ext>
            </a:extLst>
          </p:cNvPr>
          <p:cNvSpPr/>
          <p:nvPr/>
        </p:nvSpPr>
        <p:spPr>
          <a:xfrm>
            <a:off x="1028264" y="2687160"/>
            <a:ext cx="10545667" cy="3619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algn="just">
              <a:lnSpc>
                <a:spcPct val="150000"/>
              </a:lnSpc>
            </a:pP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</a:t>
            </a: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Bean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Registra o objeto retornado pelo método para que seja gerenciado pelo Spring.</a:t>
            </a:r>
          </a:p>
          <a:p>
            <a:pPr algn="just">
              <a:lnSpc>
                <a:spcPct val="150000"/>
              </a:lnSpc>
            </a:pP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SecurityFilterChain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Representa a cadeia de filtros que aplica a segurança às requisições.</a:t>
            </a:r>
          </a:p>
          <a:p>
            <a:pPr algn="just">
              <a:lnSpc>
                <a:spcPct val="150000"/>
              </a:lnSpc>
            </a:pP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HttpSecurity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Permite configurar a segurança HTTP da aplicação.</a:t>
            </a:r>
          </a:p>
          <a:p>
            <a:pPr algn="just">
              <a:lnSpc>
                <a:spcPct val="150000"/>
              </a:lnSpc>
            </a:pP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csrf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Configura a proteção contra requisições forjadas. O método 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disable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desabilita essa proteção.</a:t>
            </a:r>
          </a:p>
          <a:p>
            <a:pPr algn="just">
              <a:lnSpc>
                <a:spcPct val="150000"/>
              </a:lnSpc>
            </a:pP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sessionManagement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Configura como o Spring Security gerencia as sessões.</a:t>
            </a:r>
          </a:p>
          <a:p>
            <a:pPr algn="just">
              <a:lnSpc>
                <a:spcPct val="150000"/>
              </a:lnSpc>
            </a:pP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sessionCreationPolicy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Define a política de criação e utilização de sessões HTTP.</a:t>
            </a:r>
          </a:p>
          <a:p>
            <a:pPr algn="just">
              <a:lnSpc>
                <a:spcPct val="150000"/>
              </a:lnSpc>
            </a:pP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SessionCreationPolicy.STATELESS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Determina que o Spring Security não crie nem utilize sessões para manter a autenticação.</a:t>
            </a:r>
          </a:p>
          <a:p>
            <a:pPr algn="just">
              <a:lnSpc>
                <a:spcPct val="150000"/>
              </a:lnSpc>
            </a:pP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build()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Finaliza a configuração e cria a cadeia de filtros de segurança.</a:t>
            </a:r>
            <a:endParaRPr 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Gráfico 5" descr="Ponto de interrogação com preenchimento sólido">
            <a:extLst>
              <a:ext uri="{FF2B5EF4-FFF2-40B4-BE49-F238E27FC236}">
                <a16:creationId xmlns:a16="http://schemas.microsoft.com/office/drawing/2014/main" id="{E22C5352-300F-495F-9E33-96B2CFA85E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2462" y="2120125"/>
            <a:ext cx="318625" cy="318625"/>
          </a:xfrm>
          <a:prstGeom prst="rect">
            <a:avLst/>
          </a:prstGeom>
        </p:spPr>
      </p:pic>
      <p:sp>
        <p:nvSpPr>
          <p:cNvPr id="7" name="Título 4">
            <a:extLst>
              <a:ext uri="{FF2B5EF4-FFF2-40B4-BE49-F238E27FC236}">
                <a16:creationId xmlns:a16="http://schemas.microsoft.com/office/drawing/2014/main" id="{A6029976-3324-4121-9393-F0263BDFE0E9}"/>
              </a:ext>
            </a:extLst>
          </p:cNvPr>
          <p:cNvSpPr txBox="1">
            <a:spLocks/>
          </p:cNvSpPr>
          <p:nvPr/>
        </p:nvSpPr>
        <p:spPr>
          <a:xfrm>
            <a:off x="1826927" y="2081773"/>
            <a:ext cx="9747005" cy="39532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pt-BR" sz="2000" b="1" dirty="0"/>
              <a:t>O que significa cada item da configuração de segurança?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42053792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222ED1-4D9C-4C6F-A26D-52FA0E430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449CF5-6BFB-4FEE-A601-AAEAF1457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742412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499</TotalTime>
  <Words>1159</Words>
  <Application>Microsoft Office PowerPoint</Application>
  <PresentationFormat>Widescreen</PresentationFormat>
  <Paragraphs>120</Paragraphs>
  <Slides>17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5" baseType="lpstr">
      <vt:lpstr>Arial</vt:lpstr>
      <vt:lpstr>Calibri</vt:lpstr>
      <vt:lpstr>Calibri Light</vt:lpstr>
      <vt:lpstr>Consolas</vt:lpstr>
      <vt:lpstr>JetBrains Mono</vt:lpstr>
      <vt:lpstr>Times New Roman</vt:lpstr>
      <vt:lpstr>Wingdings</vt:lpstr>
      <vt:lpstr>Tema do Office</vt:lpstr>
      <vt:lpstr>Spring Security</vt:lpstr>
      <vt:lpstr>Objetivo da aula</vt:lpstr>
      <vt:lpstr>O que é Spring Security?</vt:lpstr>
      <vt:lpstr>Stateful – Aplicação Web Tradicional</vt:lpstr>
      <vt:lpstr>Stateful – API RestFul</vt:lpstr>
      <vt:lpstr>Stateful – API RestFul</vt:lpstr>
      <vt:lpstr>Criando uma tabela de login</vt:lpstr>
      <vt:lpstr>Anotação @Service </vt:lpstr>
      <vt:lpstr>Interface UserDetailsService</vt:lpstr>
      <vt:lpstr>Método loadUserByUsername()</vt:lpstr>
      <vt:lpstr>Autenticação Stateless</vt:lpstr>
      <vt:lpstr>Anotação @Configuration</vt:lpstr>
      <vt:lpstr>Anotação @EnableWebSecurity </vt:lpstr>
      <vt:lpstr>@Configuration + @EnableWebSecurity </vt:lpstr>
      <vt:lpstr>Como definir como STATELLES</vt:lpstr>
      <vt:lpstr>O que são cada um desses itens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Pedro Henrique Miho de Souza</cp:lastModifiedBy>
  <cp:revision>66</cp:revision>
  <dcterms:created xsi:type="dcterms:W3CDTF">2024-03-08T12:14:33Z</dcterms:created>
  <dcterms:modified xsi:type="dcterms:W3CDTF">2026-09-17T15:40:34Z</dcterms:modified>
</cp:coreProperties>
</file>