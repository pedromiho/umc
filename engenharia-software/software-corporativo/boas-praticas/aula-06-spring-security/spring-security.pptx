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8" r:id="rId3"/>
    <p:sldId id="297" r:id="rId4"/>
    <p:sldId id="298" r:id="rId5"/>
    <p:sldId id="304" r:id="rId6"/>
    <p:sldId id="305" r:id="rId7"/>
    <p:sldId id="299" r:id="rId8"/>
    <p:sldId id="300" r:id="rId9"/>
    <p:sldId id="301" r:id="rId10"/>
    <p:sldId id="302" r:id="rId11"/>
    <p:sldId id="308" r:id="rId12"/>
    <p:sldId id="303" r:id="rId13"/>
    <p:sldId id="306" r:id="rId14"/>
    <p:sldId id="307" r:id="rId15"/>
    <p:sldId id="309" r:id="rId16"/>
    <p:sldId id="310" r:id="rId17"/>
    <p:sldId id="311" r:id="rId18"/>
    <p:sldId id="312" r:id="rId19"/>
    <p:sldId id="313" r:id="rId20"/>
    <p:sldId id="315" r:id="rId21"/>
    <p:sldId id="314" r:id="rId22"/>
    <p:sldId id="316" r:id="rId23"/>
    <p:sldId id="317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278"/>
            <p14:sldId id="297"/>
            <p14:sldId id="298"/>
            <p14:sldId id="304"/>
            <p14:sldId id="305"/>
            <p14:sldId id="299"/>
            <p14:sldId id="300"/>
            <p14:sldId id="301"/>
            <p14:sldId id="302"/>
            <p14:sldId id="308"/>
            <p14:sldId id="303"/>
            <p14:sldId id="306"/>
            <p14:sldId id="307"/>
            <p14:sldId id="309"/>
            <p14:sldId id="310"/>
            <p14:sldId id="311"/>
            <p14:sldId id="312"/>
            <p14:sldId id="313"/>
            <p14:sldId id="315"/>
            <p14:sldId id="314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A1C"/>
    <a:srgbClr val="043073"/>
    <a:srgbClr val="48916E"/>
    <a:srgbClr val="3184F4"/>
    <a:srgbClr val="7E67A8"/>
    <a:srgbClr val="C08D5F"/>
    <a:srgbClr val="9C9B99"/>
    <a:srgbClr val="9BAD56"/>
    <a:srgbClr val="1F2024"/>
    <a:srgbClr val="EAD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6334"/>
            <a:ext cx="9144000" cy="2004930"/>
          </a:xfrm>
        </p:spPr>
        <p:txBody>
          <a:bodyPr/>
          <a:lstStyle/>
          <a:p>
            <a:r>
              <a:rPr lang="pt-BR"/>
              <a:t>Spring Security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Nesta aula, vamos compreender como o Spring Security pode ser utilizado para proteger uma API REST, entendendo os principais conceitos de segurança e aplicando-os na prática. Ao final, seremos capazes de controlar quem pode acessar a API e quais recursos cada usuário pode utilizar.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Compreender o funcionamento do Spring Security;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Diferenciar autenticação e autorização;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Configurar a segurança de uma API REST;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Trabalhar com usuários, senhas e roles;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Utilizar </a:t>
            </a:r>
            <a:r>
              <a:rPr lang="pt-BR" dirty="0" err="1"/>
              <a:t>SecurityFilterChain</a:t>
            </a:r>
            <a:r>
              <a:rPr lang="pt-BR" dirty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Proteger </a:t>
            </a:r>
            <a:r>
              <a:rPr lang="pt-BR" dirty="0" err="1"/>
              <a:t>endpoints</a:t>
            </a:r>
            <a:r>
              <a:rPr lang="pt-BR" dirty="0"/>
              <a:t> de acordo com as permissões do usuário;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Compreender os códigos 401 </a:t>
            </a:r>
            <a:r>
              <a:rPr lang="pt-BR" dirty="0" err="1"/>
              <a:t>Unauthorized</a:t>
            </a:r>
            <a:r>
              <a:rPr lang="pt-BR" dirty="0"/>
              <a:t> e 403 </a:t>
            </a:r>
            <a:r>
              <a:rPr lang="pt-BR" dirty="0" err="1"/>
              <a:t>Forbidden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34165-6FFA-4177-89F2-387FE75C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Spring Security?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F58F1C-1C0F-41EE-8215-06CF424B2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67858"/>
          </a:xfrm>
        </p:spPr>
        <p:txBody>
          <a:bodyPr/>
          <a:lstStyle/>
          <a:p>
            <a:r>
              <a:rPr lang="pt-BR" dirty="0"/>
              <a:t>Spring Security é um framework utilizado para adicionar mecanismos de segurança às aplicações Spring, principalmente autenticação e autorização.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17950D7-5C5D-4FAC-84D7-EBD18BA5FA14}"/>
              </a:ext>
            </a:extLst>
          </p:cNvPr>
          <p:cNvSpPr txBox="1">
            <a:spLocks/>
          </p:cNvSpPr>
          <p:nvPr/>
        </p:nvSpPr>
        <p:spPr>
          <a:xfrm>
            <a:off x="592347" y="291253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Autenticação </a:t>
            </a:r>
            <a:r>
              <a:rPr lang="pt-BR" sz="1800" dirty="0">
                <a:sym typeface="Wingdings" panose="05000000000000000000" pitchFamily="2" charset="2"/>
              </a:rPr>
              <a:t> Q</a:t>
            </a:r>
            <a:r>
              <a:rPr lang="pt-BR" sz="1800" dirty="0"/>
              <a:t>uem é você 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8B212206-71E5-412D-8AC1-B984DB5F7187}"/>
              </a:ext>
            </a:extLst>
          </p:cNvPr>
          <p:cNvSpPr txBox="1">
            <a:spLocks/>
          </p:cNvSpPr>
          <p:nvPr/>
        </p:nvSpPr>
        <p:spPr>
          <a:xfrm>
            <a:off x="592347" y="4720853"/>
            <a:ext cx="11007306" cy="63857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Autorização </a:t>
            </a:r>
            <a:r>
              <a:rPr lang="pt-BR" sz="1800" dirty="0">
                <a:sym typeface="Wingdings" panose="05000000000000000000" pitchFamily="2" charset="2"/>
              </a:rPr>
              <a:t> O que você pode fazer</a:t>
            </a:r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0940C319-2F72-4B66-9B00-C28916C530E9}"/>
              </a:ext>
            </a:extLst>
          </p:cNvPr>
          <p:cNvGrpSpPr/>
          <p:nvPr/>
        </p:nvGrpSpPr>
        <p:grpSpPr>
          <a:xfrm>
            <a:off x="592347" y="3600445"/>
            <a:ext cx="5613720" cy="1071068"/>
            <a:chOff x="592347" y="3429000"/>
            <a:chExt cx="5613720" cy="1071068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8298A4F9-0492-42CB-90EE-9A81D69D474F}"/>
                </a:ext>
              </a:extLst>
            </p:cNvPr>
            <p:cNvSpPr/>
            <p:nvPr/>
          </p:nvSpPr>
          <p:spPr>
            <a:xfrm>
              <a:off x="592347" y="3429000"/>
              <a:ext cx="5613720" cy="1071068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6B23CDD4-A566-45FE-9416-07DD5666FDF2}"/>
                </a:ext>
              </a:extLst>
            </p:cNvPr>
            <p:cNvSpPr/>
            <p:nvPr/>
          </p:nvSpPr>
          <p:spPr>
            <a:xfrm>
              <a:off x="748861" y="3739090"/>
              <a:ext cx="1714940" cy="450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Usuário: </a:t>
              </a:r>
              <a:r>
                <a:rPr lang="pt-BR" sz="1600" kern="0" spc="-19" dirty="0" err="1">
                  <a:solidFill>
                    <a:srgbClr val="D73A49"/>
                  </a:solidFill>
                  <a:latin typeface="Consolas" pitchFamily="34" charset="0"/>
                </a:rPr>
                <a:t>pedro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 </a:t>
              </a:r>
            </a:p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Senha: ********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DB712C6-48AC-4E66-A15B-5085D3AC5665}"/>
                </a:ext>
              </a:extLst>
            </p:cNvPr>
            <p:cNvSpPr/>
            <p:nvPr/>
          </p:nvSpPr>
          <p:spPr>
            <a:xfrm>
              <a:off x="2693436" y="3795257"/>
              <a:ext cx="328299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  <a:sym typeface="Wingdings" panose="05000000000000000000" pitchFamily="2" charset="2"/>
                </a:rPr>
                <a:t>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 Identidade confirmada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74B18387-E7AB-45AC-98D3-FDD421897319}"/>
              </a:ext>
            </a:extLst>
          </p:cNvPr>
          <p:cNvGrpSpPr/>
          <p:nvPr/>
        </p:nvGrpSpPr>
        <p:grpSpPr>
          <a:xfrm>
            <a:off x="592347" y="5408765"/>
            <a:ext cx="11007306" cy="1071068"/>
            <a:chOff x="592347" y="3429000"/>
            <a:chExt cx="5613720" cy="1071068"/>
          </a:xfrm>
        </p:grpSpPr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913CB7A8-851E-4204-89F3-DBEA870BA272}"/>
                </a:ext>
              </a:extLst>
            </p:cNvPr>
            <p:cNvSpPr/>
            <p:nvPr/>
          </p:nvSpPr>
          <p:spPr>
            <a:xfrm>
              <a:off x="592347" y="3429000"/>
              <a:ext cx="5613720" cy="1071068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1" name="Text 21">
              <a:extLst>
                <a:ext uri="{FF2B5EF4-FFF2-40B4-BE49-F238E27FC236}">
                  <a16:creationId xmlns:a16="http://schemas.microsoft.com/office/drawing/2014/main" id="{40F174B2-622B-4F7E-876A-FB20735F911C}"/>
                </a:ext>
              </a:extLst>
            </p:cNvPr>
            <p:cNvSpPr/>
            <p:nvPr/>
          </p:nvSpPr>
          <p:spPr>
            <a:xfrm>
              <a:off x="681997" y="3833795"/>
              <a:ext cx="5434420" cy="261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</a:rPr>
                <a:t>Pedro → autenticado </a:t>
              </a:r>
              <a:r>
                <a:rPr lang="pt-BR" sz="1600" kern="0" spc="-19" dirty="0">
                  <a:solidFill>
                    <a:srgbClr val="D73A49"/>
                  </a:solidFill>
                  <a:latin typeface="Consolas" pitchFamily="34" charset="0"/>
                  <a:sym typeface="Wingdings" panose="05000000000000000000" pitchFamily="2" charset="2"/>
                </a:rPr>
                <a:t> Pode consultar dentista  Pode cadastrar Dentista  Pode excluir dentista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8420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A8FF-B2E7-462C-9F1E-255534D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Stateful</a:t>
            </a:r>
            <a:r>
              <a:rPr lang="pt-BR" dirty="0"/>
              <a:t> – Aplicação Web Tradicional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6B5ED-A7F3-42E2-A19E-46D5E7D9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30325"/>
          </a:xfrm>
        </p:spPr>
        <p:txBody>
          <a:bodyPr/>
          <a:lstStyle/>
          <a:p>
            <a:r>
              <a:rPr lang="pt-BR" sz="1800" dirty="0"/>
              <a:t>Em uma arquitetura </a:t>
            </a:r>
            <a:r>
              <a:rPr lang="pt-BR" sz="1800" b="1" dirty="0" err="1"/>
              <a:t>Stateful</a:t>
            </a:r>
            <a:r>
              <a:rPr lang="pt-BR" sz="1800" b="1" dirty="0"/>
              <a:t> (com estado)</a:t>
            </a:r>
            <a:r>
              <a:rPr lang="pt-BR" sz="1800" dirty="0"/>
              <a:t>, o servidor </a:t>
            </a:r>
            <a:r>
              <a:rPr lang="pt-BR" sz="1800" b="1" dirty="0"/>
              <a:t>mantém informações sobre o estado do cliente</a:t>
            </a:r>
            <a:r>
              <a:rPr lang="pt-BR" sz="1800" dirty="0"/>
              <a:t> entre as requisições. Dessa forma, as próximas requisições podem utilizar informações armazenadas anteriormente, como uma sessão de usuário, permitindo que o servidor "lembre" do cliente.</a:t>
            </a:r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69A35561-CC14-45D3-8A98-DEDF24F7C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0335" y="4234751"/>
            <a:ext cx="1515533" cy="1515533"/>
          </a:xfrm>
          <a:prstGeom prst="rect">
            <a:avLst/>
          </a:prstGeom>
        </p:spPr>
      </p:pic>
      <p:pic>
        <p:nvPicPr>
          <p:cNvPr id="7" name="Gráfico 6" descr="Servidor">
            <a:extLst>
              <a:ext uri="{FF2B5EF4-FFF2-40B4-BE49-F238E27FC236}">
                <a16:creationId xmlns:a16="http://schemas.microsoft.com/office/drawing/2014/main" id="{A55CC910-AA01-4263-9BCC-707DBE025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7534" y="4205117"/>
            <a:ext cx="1574800" cy="15748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4BD14D-0455-4769-AEA5-5537FF4972A9}"/>
              </a:ext>
            </a:extLst>
          </p:cNvPr>
          <p:cNvGrpSpPr/>
          <p:nvPr/>
        </p:nvGrpSpPr>
        <p:grpSpPr>
          <a:xfrm>
            <a:off x="1329267" y="4174968"/>
            <a:ext cx="1363134" cy="1635098"/>
            <a:chOff x="1481667" y="4270218"/>
            <a:chExt cx="1363134" cy="1635098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23AC287-6745-46CE-A09A-DBC4BA456E49}"/>
                </a:ext>
              </a:extLst>
            </p:cNvPr>
            <p:cNvSpPr/>
            <p:nvPr/>
          </p:nvSpPr>
          <p:spPr>
            <a:xfrm>
              <a:off x="1481667" y="4706939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PedroMiho</a:t>
              </a:r>
              <a:endPara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45BB8BB-C0B0-4E04-A613-5FE1D838561A}"/>
                </a:ext>
              </a:extLst>
            </p:cNvPr>
            <p:cNvSpPr txBox="1"/>
            <p:nvPr/>
          </p:nvSpPr>
          <p:spPr>
            <a:xfrm>
              <a:off x="1481667" y="4270218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1B5FBF88-F39B-43D2-8E07-D4B80EB5C841}"/>
                </a:ext>
              </a:extLst>
            </p:cNvPr>
            <p:cNvSpPr/>
            <p:nvPr/>
          </p:nvSpPr>
          <p:spPr>
            <a:xfrm>
              <a:off x="1481667" y="5558182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admin1234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412B5B5-1102-40B7-8811-8ADBFFC0C04E}"/>
                </a:ext>
              </a:extLst>
            </p:cNvPr>
            <p:cNvSpPr txBox="1"/>
            <p:nvPr/>
          </p:nvSpPr>
          <p:spPr>
            <a:xfrm>
              <a:off x="1481667" y="5121462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Senha</a:t>
              </a:r>
            </a:p>
          </p:txBody>
        </p:sp>
      </p:grp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6E79902-D094-4241-984C-5590DF4F1786}"/>
              </a:ext>
            </a:extLst>
          </p:cNvPr>
          <p:cNvCxnSpPr/>
          <p:nvPr/>
        </p:nvCxnSpPr>
        <p:spPr>
          <a:xfrm>
            <a:off x="4749800" y="4759592"/>
            <a:ext cx="25400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C290FA-BD6D-4786-A1CF-48371576069D}"/>
              </a:ext>
            </a:extLst>
          </p:cNvPr>
          <p:cNvCxnSpPr/>
          <p:nvPr/>
        </p:nvCxnSpPr>
        <p:spPr>
          <a:xfrm flipH="1">
            <a:off x="4715934" y="5259033"/>
            <a:ext cx="25654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áfico 25" descr="Marca de seleção">
            <a:extLst>
              <a:ext uri="{FF2B5EF4-FFF2-40B4-BE49-F238E27FC236}">
                <a16:creationId xmlns:a16="http://schemas.microsoft.com/office/drawing/2014/main" id="{6E06301E-DF90-4AA3-83C5-B015B58B6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7734" y="3320351"/>
            <a:ext cx="914400" cy="9144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0901316F-C4B1-4341-8DF2-D382136D579A}"/>
              </a:ext>
            </a:extLst>
          </p:cNvPr>
          <p:cNvSpPr txBox="1"/>
          <p:nvPr/>
        </p:nvSpPr>
        <p:spPr>
          <a:xfrm>
            <a:off x="8932334" y="3466453"/>
            <a:ext cx="21005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 um espaço na memória identificando sua sessão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3C98F00-9C4B-4BAE-A1AC-377349B8164F}"/>
              </a:ext>
            </a:extLst>
          </p:cNvPr>
          <p:cNvSpPr/>
          <p:nvPr/>
        </p:nvSpPr>
        <p:spPr>
          <a:xfrm>
            <a:off x="5300134" y="5850786"/>
            <a:ext cx="1363134" cy="34713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0C8D1CC-00E1-4C21-BED8-EC2F3311B5A4}"/>
              </a:ext>
            </a:extLst>
          </p:cNvPr>
          <p:cNvSpPr txBox="1"/>
          <p:nvPr/>
        </p:nvSpPr>
        <p:spPr>
          <a:xfrm>
            <a:off x="5300134" y="541406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Sessão</a:t>
            </a:r>
          </a:p>
        </p:txBody>
      </p:sp>
    </p:spTree>
    <p:extLst>
      <p:ext uri="{BB962C8B-B14F-4D97-AF65-F5344CB8AC3E}">
        <p14:creationId xmlns:p14="http://schemas.microsoft.com/office/powerpoint/2010/main" val="162121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A8FF-B2E7-462C-9F1E-255534D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Stateful</a:t>
            </a:r>
            <a:r>
              <a:rPr lang="pt-BR" dirty="0"/>
              <a:t> – API </a:t>
            </a:r>
            <a:r>
              <a:rPr lang="pt-BR" dirty="0" err="1"/>
              <a:t>RestFul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6B5ED-A7F3-42E2-A19E-46D5E7D9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30325"/>
          </a:xfrm>
        </p:spPr>
        <p:txBody>
          <a:bodyPr/>
          <a:lstStyle/>
          <a:p>
            <a:r>
              <a:rPr lang="pt-BR" sz="1800" dirty="0"/>
              <a:t>Em uma arquitetura </a:t>
            </a:r>
            <a:r>
              <a:rPr lang="pt-BR" sz="1800" b="1" dirty="0" err="1"/>
              <a:t>Stateless</a:t>
            </a:r>
            <a:r>
              <a:rPr lang="pt-BR" sz="1800" b="1" dirty="0"/>
              <a:t> (sem estado)</a:t>
            </a:r>
            <a:r>
              <a:rPr lang="pt-BR" sz="1800" dirty="0"/>
              <a:t>, o servidor </a:t>
            </a:r>
            <a:r>
              <a:rPr lang="pt-BR" sz="1800" b="1" dirty="0"/>
              <a:t>não armazena informações sobre o estado do cliente entre as requisições</a:t>
            </a:r>
            <a:r>
              <a:rPr lang="pt-BR" sz="1800" dirty="0"/>
              <a:t>. Cada requisição deve conter todas as informações necessárias para ser processada, tornando a aplicação mais simples de escalar e distribuir entre diferentes servidores.</a:t>
            </a:r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69A35561-CC14-45D3-8A98-DEDF24F7C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0335" y="4234751"/>
            <a:ext cx="1515533" cy="1515533"/>
          </a:xfrm>
          <a:prstGeom prst="rect">
            <a:avLst/>
          </a:prstGeom>
        </p:spPr>
      </p:pic>
      <p:pic>
        <p:nvPicPr>
          <p:cNvPr id="7" name="Gráfico 6" descr="Servidor">
            <a:extLst>
              <a:ext uri="{FF2B5EF4-FFF2-40B4-BE49-F238E27FC236}">
                <a16:creationId xmlns:a16="http://schemas.microsoft.com/office/drawing/2014/main" id="{A55CC910-AA01-4263-9BCC-707DBE025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7534" y="4205117"/>
            <a:ext cx="1574800" cy="15748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4BD14D-0455-4769-AEA5-5537FF4972A9}"/>
              </a:ext>
            </a:extLst>
          </p:cNvPr>
          <p:cNvGrpSpPr/>
          <p:nvPr/>
        </p:nvGrpSpPr>
        <p:grpSpPr>
          <a:xfrm>
            <a:off x="1405470" y="3942043"/>
            <a:ext cx="1363134" cy="1635098"/>
            <a:chOff x="1481667" y="4270218"/>
            <a:chExt cx="1363134" cy="1635098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23AC287-6745-46CE-A09A-DBC4BA456E49}"/>
                </a:ext>
              </a:extLst>
            </p:cNvPr>
            <p:cNvSpPr/>
            <p:nvPr/>
          </p:nvSpPr>
          <p:spPr>
            <a:xfrm>
              <a:off x="1481667" y="4706939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PedroMiho</a:t>
              </a:r>
              <a:endPara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45BB8BB-C0B0-4E04-A613-5FE1D838561A}"/>
                </a:ext>
              </a:extLst>
            </p:cNvPr>
            <p:cNvSpPr txBox="1"/>
            <p:nvPr/>
          </p:nvSpPr>
          <p:spPr>
            <a:xfrm>
              <a:off x="1481667" y="4270218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1B5FBF88-F39B-43D2-8E07-D4B80EB5C841}"/>
                </a:ext>
              </a:extLst>
            </p:cNvPr>
            <p:cNvSpPr/>
            <p:nvPr/>
          </p:nvSpPr>
          <p:spPr>
            <a:xfrm>
              <a:off x="1481667" y="5558182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admin1234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412B5B5-1102-40B7-8811-8ADBFFC0C04E}"/>
                </a:ext>
              </a:extLst>
            </p:cNvPr>
            <p:cNvSpPr txBox="1"/>
            <p:nvPr/>
          </p:nvSpPr>
          <p:spPr>
            <a:xfrm>
              <a:off x="1481667" y="5121462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Senha</a:t>
              </a:r>
            </a:p>
          </p:txBody>
        </p:sp>
      </p:grp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6E79902-D094-4241-984C-5590DF4F1786}"/>
              </a:ext>
            </a:extLst>
          </p:cNvPr>
          <p:cNvCxnSpPr/>
          <p:nvPr/>
        </p:nvCxnSpPr>
        <p:spPr>
          <a:xfrm>
            <a:off x="4749800" y="4759592"/>
            <a:ext cx="25400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C290FA-BD6D-4786-A1CF-48371576069D}"/>
              </a:ext>
            </a:extLst>
          </p:cNvPr>
          <p:cNvCxnSpPr/>
          <p:nvPr/>
        </p:nvCxnSpPr>
        <p:spPr>
          <a:xfrm flipH="1">
            <a:off x="4715934" y="5259033"/>
            <a:ext cx="25654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áfico 25" descr="Marca de seleção">
            <a:extLst>
              <a:ext uri="{FF2B5EF4-FFF2-40B4-BE49-F238E27FC236}">
                <a16:creationId xmlns:a16="http://schemas.microsoft.com/office/drawing/2014/main" id="{6E06301E-DF90-4AA3-83C5-B015B58B6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7734" y="3320351"/>
            <a:ext cx="914400" cy="9144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0901316F-C4B1-4341-8DF2-D382136D579A}"/>
              </a:ext>
            </a:extLst>
          </p:cNvPr>
          <p:cNvSpPr txBox="1"/>
          <p:nvPr/>
        </p:nvSpPr>
        <p:spPr>
          <a:xfrm>
            <a:off x="8932334" y="3623552"/>
            <a:ext cx="26673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 um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autenticação e o retorna ao cliente, que deverá utilizá-lo nas próximas requisições, porem não salva esse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memória 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3C98F00-9C4B-4BAE-A1AC-377349B8164F}"/>
              </a:ext>
            </a:extLst>
          </p:cNvPr>
          <p:cNvSpPr/>
          <p:nvPr/>
        </p:nvSpPr>
        <p:spPr>
          <a:xfrm>
            <a:off x="5300134" y="5850786"/>
            <a:ext cx="1363134" cy="34713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222xs34df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0C8D1CC-00E1-4C21-BED8-EC2F3311B5A4}"/>
              </a:ext>
            </a:extLst>
          </p:cNvPr>
          <p:cNvSpPr txBox="1"/>
          <p:nvPr/>
        </p:nvSpPr>
        <p:spPr>
          <a:xfrm>
            <a:off x="5300134" y="5414065"/>
            <a:ext cx="758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79844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CA8FF-B2E7-462C-9F1E-255534D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Stateful</a:t>
            </a:r>
            <a:r>
              <a:rPr lang="pt-BR" dirty="0"/>
              <a:t> – API </a:t>
            </a:r>
            <a:r>
              <a:rPr lang="pt-BR" dirty="0" err="1"/>
              <a:t>RestFul</a:t>
            </a:r>
            <a:endParaRPr lang="pt-BR" dirty="0"/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69A35561-CC14-45D3-8A98-DEDF24F7C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135" y="2981684"/>
            <a:ext cx="1515533" cy="1515533"/>
          </a:xfrm>
          <a:prstGeom prst="rect">
            <a:avLst/>
          </a:prstGeom>
        </p:spPr>
      </p:pic>
      <p:pic>
        <p:nvPicPr>
          <p:cNvPr id="7" name="Gráfico 6" descr="Servidor">
            <a:extLst>
              <a:ext uri="{FF2B5EF4-FFF2-40B4-BE49-F238E27FC236}">
                <a16:creationId xmlns:a16="http://schemas.microsoft.com/office/drawing/2014/main" id="{A55CC910-AA01-4263-9BCC-707DBE025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0334" y="2952050"/>
            <a:ext cx="1574800" cy="1574800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4BD14D-0455-4769-AEA5-5537FF4972A9}"/>
              </a:ext>
            </a:extLst>
          </p:cNvPr>
          <p:cNvGrpSpPr/>
          <p:nvPr/>
        </p:nvGrpSpPr>
        <p:grpSpPr>
          <a:xfrm>
            <a:off x="948270" y="2688976"/>
            <a:ext cx="1363134" cy="1635098"/>
            <a:chOff x="1481667" y="4270218"/>
            <a:chExt cx="1363134" cy="1635098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23AC287-6745-46CE-A09A-DBC4BA456E49}"/>
                </a:ext>
              </a:extLst>
            </p:cNvPr>
            <p:cNvSpPr/>
            <p:nvPr/>
          </p:nvSpPr>
          <p:spPr>
            <a:xfrm>
              <a:off x="1481667" y="4706939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João Paulo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45BB8BB-C0B0-4E04-A613-5FE1D838561A}"/>
                </a:ext>
              </a:extLst>
            </p:cNvPr>
            <p:cNvSpPr txBox="1"/>
            <p:nvPr/>
          </p:nvSpPr>
          <p:spPr>
            <a:xfrm>
              <a:off x="1481667" y="4270218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Nome: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1B5FBF88-F39B-43D2-8E07-D4B80EB5C841}"/>
                </a:ext>
              </a:extLst>
            </p:cNvPr>
            <p:cNvSpPr/>
            <p:nvPr/>
          </p:nvSpPr>
          <p:spPr>
            <a:xfrm>
              <a:off x="1481667" y="5558182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22343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412B5B5-1102-40B7-8811-8ADBFFC0C04E}"/>
                </a:ext>
              </a:extLst>
            </p:cNvPr>
            <p:cNvSpPr txBox="1"/>
            <p:nvPr/>
          </p:nvSpPr>
          <p:spPr>
            <a:xfrm>
              <a:off x="1481667" y="5121462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CRO:</a:t>
              </a:r>
            </a:p>
          </p:txBody>
        </p:sp>
      </p:grp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6E79902-D094-4241-984C-5590DF4F1786}"/>
              </a:ext>
            </a:extLst>
          </p:cNvPr>
          <p:cNvCxnSpPr/>
          <p:nvPr/>
        </p:nvCxnSpPr>
        <p:spPr>
          <a:xfrm>
            <a:off x="4292600" y="3506525"/>
            <a:ext cx="25400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5C290FA-BD6D-4786-A1CF-48371576069D}"/>
              </a:ext>
            </a:extLst>
          </p:cNvPr>
          <p:cNvCxnSpPr/>
          <p:nvPr/>
        </p:nvCxnSpPr>
        <p:spPr>
          <a:xfrm flipH="1">
            <a:off x="4258734" y="4005966"/>
            <a:ext cx="25654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áfico 25" descr="Marca de seleção">
            <a:extLst>
              <a:ext uri="{FF2B5EF4-FFF2-40B4-BE49-F238E27FC236}">
                <a16:creationId xmlns:a16="http://schemas.microsoft.com/office/drawing/2014/main" id="{6E06301E-DF90-4AA3-83C5-B015B58B6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0534" y="2067284"/>
            <a:ext cx="914400" cy="91440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9152A04C-0DA4-4513-A0C4-A2883EDB388A}"/>
              </a:ext>
            </a:extLst>
          </p:cNvPr>
          <p:cNvSpPr txBox="1"/>
          <p:nvPr/>
        </p:nvSpPr>
        <p:spPr>
          <a:xfrm>
            <a:off x="4089400" y="4233151"/>
            <a:ext cx="26673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TOKEN_JWT</a:t>
            </a:r>
          </a:p>
          <a:p>
            <a:pPr algn="just"/>
            <a:endParaRPr lang="pt-B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“nome” : “João Paulo”</a:t>
            </a:r>
          </a:p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“CRO” : “22343”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C577B59-8DA2-41AF-BCDC-3EC3A5481474}"/>
              </a:ext>
            </a:extLst>
          </p:cNvPr>
          <p:cNvSpPr/>
          <p:nvPr/>
        </p:nvSpPr>
        <p:spPr>
          <a:xfrm>
            <a:off x="5063059" y="2040611"/>
            <a:ext cx="720000" cy="720000"/>
          </a:xfrm>
          <a:prstGeom prst="ellipse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79525E4-49AB-416A-9499-2662AB938E37}"/>
              </a:ext>
            </a:extLst>
          </p:cNvPr>
          <p:cNvSpPr txBox="1"/>
          <p:nvPr/>
        </p:nvSpPr>
        <p:spPr>
          <a:xfrm>
            <a:off x="4797855" y="2833906"/>
            <a:ext cx="1250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B47891C-DF14-40E0-9F02-35FAC6B410F0}"/>
              </a:ext>
            </a:extLst>
          </p:cNvPr>
          <p:cNvGrpSpPr/>
          <p:nvPr/>
        </p:nvGrpSpPr>
        <p:grpSpPr>
          <a:xfrm>
            <a:off x="9086798" y="2074415"/>
            <a:ext cx="1585242" cy="1101072"/>
            <a:chOff x="9730737" y="1668078"/>
            <a:chExt cx="1585242" cy="1101072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399BF78-5D3B-4ED9-9274-5B729B80C6F5}"/>
                </a:ext>
              </a:extLst>
            </p:cNvPr>
            <p:cNvSpPr/>
            <p:nvPr/>
          </p:nvSpPr>
          <p:spPr>
            <a:xfrm>
              <a:off x="10163358" y="1668078"/>
              <a:ext cx="720000" cy="720000"/>
            </a:xfrm>
            <a:prstGeom prst="ellipse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B2D770DE-AAEC-4822-8D35-4E83DF28E674}"/>
                </a:ext>
              </a:extLst>
            </p:cNvPr>
            <p:cNvSpPr txBox="1"/>
            <p:nvPr/>
          </p:nvSpPr>
          <p:spPr>
            <a:xfrm>
              <a:off x="9730737" y="2461373"/>
              <a:ext cx="1585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Validar Token JWT</a:t>
              </a:r>
            </a:p>
          </p:txBody>
        </p:sp>
      </p:grpSp>
      <p:sp>
        <p:nvSpPr>
          <p:cNvPr id="15" name="Fluxograma: Decisão 14">
            <a:extLst>
              <a:ext uri="{FF2B5EF4-FFF2-40B4-BE49-F238E27FC236}">
                <a16:creationId xmlns:a16="http://schemas.microsoft.com/office/drawing/2014/main" id="{7E105F45-C5AF-4B83-8E83-7FF720CF9B39}"/>
              </a:ext>
            </a:extLst>
          </p:cNvPr>
          <p:cNvSpPr/>
          <p:nvPr/>
        </p:nvSpPr>
        <p:spPr>
          <a:xfrm>
            <a:off x="9048701" y="3890187"/>
            <a:ext cx="1661437" cy="586794"/>
          </a:xfrm>
          <a:prstGeom prst="flowChartDecisi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Válido ?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0525F74-792B-488D-BCEC-FA1D6D585A3D}"/>
              </a:ext>
            </a:extLst>
          </p:cNvPr>
          <p:cNvSpPr/>
          <p:nvPr/>
        </p:nvSpPr>
        <p:spPr>
          <a:xfrm>
            <a:off x="7984066" y="5259758"/>
            <a:ext cx="1464733" cy="35838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Bloquear requisição</a:t>
            </a:r>
          </a:p>
        </p:txBody>
      </p: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9158A41F-881C-40F1-A28F-575F9815947C}"/>
              </a:ext>
            </a:extLst>
          </p:cNvPr>
          <p:cNvCxnSpPr>
            <a:cxnSpLocks/>
            <a:stCxn id="15" idx="1"/>
            <a:endCxn id="16" idx="0"/>
          </p:cNvCxnSpPr>
          <p:nvPr/>
        </p:nvCxnSpPr>
        <p:spPr>
          <a:xfrm rot="10800000" flipV="1">
            <a:off x="8716433" y="4183584"/>
            <a:ext cx="332268" cy="1076174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E77D9FE-231B-434E-AB0A-51A3F13BE6B5}"/>
              </a:ext>
            </a:extLst>
          </p:cNvPr>
          <p:cNvSpPr/>
          <p:nvPr/>
        </p:nvSpPr>
        <p:spPr>
          <a:xfrm flipH="1">
            <a:off x="10422467" y="5306297"/>
            <a:ext cx="1343829" cy="3118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Liberar Requisição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7E9661AA-327F-46A3-8336-2D44A4A64918}"/>
              </a:ext>
            </a:extLst>
          </p:cNvPr>
          <p:cNvCxnSpPr>
            <a:cxnSpLocks/>
            <a:stCxn id="15" idx="3"/>
            <a:endCxn id="29" idx="0"/>
          </p:cNvCxnSpPr>
          <p:nvPr/>
        </p:nvCxnSpPr>
        <p:spPr>
          <a:xfrm>
            <a:off x="10710138" y="4183584"/>
            <a:ext cx="384243" cy="1122713"/>
          </a:xfrm>
          <a:prstGeom prst="bentConnector2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D73C5C9F-59E4-4761-BC9A-2FA88FB30F10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>
            <a:off x="9879419" y="3175487"/>
            <a:ext cx="1" cy="71470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DEEFF12B-4E47-43B1-9B6E-001BBA25FDFB}"/>
              </a:ext>
            </a:extLst>
          </p:cNvPr>
          <p:cNvSpPr txBox="1"/>
          <p:nvPr/>
        </p:nvSpPr>
        <p:spPr>
          <a:xfrm>
            <a:off x="8450634" y="3801532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A51FCA2-619B-455E-8AAC-FC82B41FB9F6}"/>
              </a:ext>
            </a:extLst>
          </p:cNvPr>
          <p:cNvSpPr txBox="1"/>
          <p:nvPr/>
        </p:nvSpPr>
        <p:spPr>
          <a:xfrm>
            <a:off x="10857778" y="3801533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1B3B5340-BF19-4B44-9199-F811693FE268}"/>
              </a:ext>
            </a:extLst>
          </p:cNvPr>
          <p:cNvSpPr/>
          <p:nvPr/>
        </p:nvSpPr>
        <p:spPr>
          <a:xfrm>
            <a:off x="9655327" y="4565648"/>
            <a:ext cx="448183" cy="443428"/>
          </a:xfrm>
          <a:prstGeom prst="ellipse">
            <a:avLst/>
          </a:prstGeom>
          <a:solidFill>
            <a:srgbClr val="043073"/>
          </a:solidFill>
          <a:ln>
            <a:solidFill>
              <a:srgbClr val="043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023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E007F-72E5-4666-AB74-CA2282B4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tabela de login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46F0B7-1871-4E8D-94D3-38D2898E4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530725"/>
          </a:xfrm>
        </p:spPr>
        <p:txBody>
          <a:bodyPr/>
          <a:lstStyle/>
          <a:p>
            <a:r>
              <a:rPr lang="pt-BR" dirty="0"/>
              <a:t>É uma boa prática manter os </a:t>
            </a:r>
            <a:r>
              <a:rPr lang="pt-BR" b="1" dirty="0"/>
              <a:t>dados de autenticação separados das informações do usuário</a:t>
            </a:r>
            <a:r>
              <a:rPr lang="pt-BR" dirty="0"/>
              <a:t>, facilitando a segurança, a manutenção e o controle de acesso da aplicação. Dessa forma, informações como </a:t>
            </a:r>
            <a:r>
              <a:rPr lang="pt-BR" b="1" dirty="0"/>
              <a:t>login, senha e perfil de acesso</a:t>
            </a:r>
            <a:r>
              <a:rPr lang="pt-BR" dirty="0"/>
              <a:t> ficam concentradas em uma estrutura específica para autenticação.</a:t>
            </a:r>
          </a:p>
          <a:p>
            <a:endParaRPr lang="pt-B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🔐 Segurança: informações de autenticação ficam isoladas.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👤 Reutilização: um usuário pode estar associado a diferentes tipos de perfil.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🛠️ Manutenção: alterações no sistema de autenticação não afetam diretamente a entidade Dentista.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🔑 Autorização: a tabela pode armazenar role, como USER ou ADMIN.</a:t>
            </a:r>
          </a:p>
        </p:txBody>
      </p:sp>
    </p:spTree>
    <p:extLst>
      <p:ext uri="{BB962C8B-B14F-4D97-AF65-F5344CB8AC3E}">
        <p14:creationId xmlns:p14="http://schemas.microsoft.com/office/powerpoint/2010/main" val="301938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9526F-AC48-4818-BFFB-823D266C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Anotação </a:t>
            </a:r>
            <a:r>
              <a:rPr lang="pt-BR" b="1" dirty="0"/>
              <a:t>@Service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027F30-729A-426C-9362-DA7541F8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62427"/>
          </a:xfrm>
        </p:spPr>
        <p:txBody>
          <a:bodyPr/>
          <a:lstStyle/>
          <a:p>
            <a:r>
              <a:rPr lang="pt-BR" dirty="0"/>
              <a:t>A anotação </a:t>
            </a:r>
            <a:r>
              <a:rPr lang="pt-BR" b="1" dirty="0"/>
              <a:t>@Service</a:t>
            </a:r>
            <a:r>
              <a:rPr lang="pt-BR" dirty="0"/>
              <a:t> é usada para indicar ao Spring que uma classe pertence à </a:t>
            </a:r>
            <a:r>
              <a:rPr lang="pt-BR" b="1" dirty="0"/>
              <a:t>camada de serviço da aplicação</a:t>
            </a:r>
            <a:r>
              <a:rPr lang="pt-BR" dirty="0"/>
              <a:t>, normalmente onde ficam as </a:t>
            </a:r>
            <a:r>
              <a:rPr lang="pt-BR" b="1" dirty="0"/>
              <a:t>regras de negócio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BEE009-2E98-0957-5528-D7A06FB57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144" y="3176529"/>
            <a:ext cx="5175712" cy="345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26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30942-4DEA-4985-BDD9-E31DC119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</a:t>
            </a:r>
            <a:r>
              <a:rPr lang="pt-BR" b="1" dirty="0" err="1"/>
              <a:t>UserDetailsService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3C6A35-74C2-430D-910F-9D866EC2B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270126"/>
          </a:xfrm>
        </p:spPr>
        <p:txBody>
          <a:bodyPr/>
          <a:lstStyle/>
          <a:p>
            <a:r>
              <a:rPr lang="pt-BR" sz="1600" dirty="0"/>
              <a:t>A interface </a:t>
            </a:r>
            <a:r>
              <a:rPr lang="pt-BR" sz="1600" b="1" dirty="0" err="1"/>
              <a:t>UserDetailsService</a:t>
            </a:r>
            <a:r>
              <a:rPr lang="pt-BR" sz="1600" dirty="0"/>
              <a:t> define como o Spring Security deve buscar os dados de um usuário durante a autenticação. Ao implementar essa interface, a classe deve implementar o método </a:t>
            </a:r>
            <a:r>
              <a:rPr lang="pt-BR" sz="1600" dirty="0" err="1"/>
              <a:t>loadUserByUsername</a:t>
            </a:r>
            <a:r>
              <a:rPr lang="pt-BR" sz="1600" dirty="0"/>
              <a:t>(), responsável por: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Receber o login informado pelo usuário.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Buscar o usuário no banco de dados.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Retornar os dados encontrados em um objeto do tipo </a:t>
            </a:r>
            <a:r>
              <a:rPr lang="pt-BR" sz="1400" dirty="0" err="1"/>
              <a:t>UserDetails</a:t>
            </a:r>
            <a:r>
              <a:rPr lang="pt-BR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Lançar a exceção </a:t>
            </a:r>
            <a:r>
              <a:rPr lang="pt-BR" sz="1400" dirty="0" err="1"/>
              <a:t>UsernameNotFoundException</a:t>
            </a:r>
            <a:r>
              <a:rPr lang="pt-BR" sz="1400" dirty="0"/>
              <a:t> caso o usuário não seja encontrado.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874A16A-2A57-F2FB-71D7-F1EAF2B0B764}"/>
              </a:ext>
            </a:extLst>
          </p:cNvPr>
          <p:cNvGrpSpPr/>
          <p:nvPr/>
        </p:nvGrpSpPr>
        <p:grpSpPr>
          <a:xfrm>
            <a:off x="2436961" y="4628206"/>
            <a:ext cx="7318077" cy="1873715"/>
            <a:chOff x="1972572" y="3586806"/>
            <a:chExt cx="7318077" cy="1873715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856EE8C4-D7CE-7A82-84C2-059031F4721E}"/>
                </a:ext>
              </a:extLst>
            </p:cNvPr>
            <p:cNvSpPr/>
            <p:nvPr/>
          </p:nvSpPr>
          <p:spPr>
            <a:xfrm>
              <a:off x="1972572" y="3586806"/>
              <a:ext cx="7318077" cy="1873715"/>
            </a:xfrm>
            <a:prstGeom prst="roundRect">
              <a:avLst>
                <a:gd name="adj" fmla="val 8081"/>
              </a:avLst>
            </a:prstGeom>
            <a:solidFill>
              <a:srgbClr val="191A1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B7DE505-55E1-03DB-5CB7-3D1F40C92F19}"/>
                </a:ext>
              </a:extLst>
            </p:cNvPr>
            <p:cNvSpPr txBox="1"/>
            <p:nvPr/>
          </p:nvSpPr>
          <p:spPr>
            <a:xfrm>
              <a:off x="2510106" y="3923499"/>
              <a:ext cx="624300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  <a:t>@Service</a:t>
              </a:r>
              <a:b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</a:b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public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class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AutenticacaoService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implements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UserDetailsService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 {</a:t>
              </a:r>
            </a:p>
            <a:p>
              <a:pPr>
                <a:buNone/>
              </a:pPr>
              <a:b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03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6B12F-4397-4B70-9BC2-D22B52BA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b="1" dirty="0" err="1"/>
              <a:t>loadUserByUsername</a:t>
            </a:r>
            <a:r>
              <a:rPr lang="pt-BR" b="1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72901B-00DF-4D10-8860-70FC53914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31438"/>
          </a:xfrm>
        </p:spPr>
        <p:txBody>
          <a:bodyPr/>
          <a:lstStyle/>
          <a:p>
            <a:r>
              <a:rPr lang="pt-BR" dirty="0"/>
              <a:t>O Método </a:t>
            </a:r>
            <a:r>
              <a:rPr lang="pt-BR" dirty="0" err="1"/>
              <a:t>loadUserByUsername</a:t>
            </a:r>
            <a:r>
              <a:rPr lang="pt-BR" dirty="0"/>
              <a:t>() é responsável por </a:t>
            </a:r>
            <a:r>
              <a:rPr lang="pt-BR" b="1" dirty="0"/>
              <a:t>buscar no banco de dados o usuário que está tentando fazer login</a:t>
            </a:r>
            <a:r>
              <a:rPr lang="pt-BR" dirty="0"/>
              <a:t> e entregar essas informações ao Spring Security.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4FDF691-948D-FA21-81BC-3D8144F9EDB9}"/>
              </a:ext>
            </a:extLst>
          </p:cNvPr>
          <p:cNvGrpSpPr/>
          <p:nvPr/>
        </p:nvGrpSpPr>
        <p:grpSpPr>
          <a:xfrm>
            <a:off x="736902" y="3647071"/>
            <a:ext cx="10718197" cy="2606760"/>
            <a:chOff x="668670" y="2879640"/>
            <a:chExt cx="10718197" cy="2606760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0B54F185-468C-A63D-A1BD-051BBF3754AC}"/>
                </a:ext>
              </a:extLst>
            </p:cNvPr>
            <p:cNvSpPr/>
            <p:nvPr/>
          </p:nvSpPr>
          <p:spPr>
            <a:xfrm>
              <a:off x="668670" y="2879640"/>
              <a:ext cx="10718197" cy="2606760"/>
            </a:xfrm>
            <a:prstGeom prst="roundRect">
              <a:avLst>
                <a:gd name="adj" fmla="val 8081"/>
              </a:avLst>
            </a:prstGeom>
            <a:solidFill>
              <a:srgbClr val="191A1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EA1429E2-57D2-D07E-B22D-B00AD3DE2CC5}"/>
                </a:ext>
              </a:extLst>
            </p:cNvPr>
            <p:cNvSpPr txBox="1"/>
            <p:nvPr/>
          </p:nvSpPr>
          <p:spPr>
            <a:xfrm>
              <a:off x="1378849" y="3167358"/>
              <a:ext cx="9297839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  <a:t>@Override</a:t>
              </a:r>
              <a:b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</a:b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public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UserDetails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56A8F5"/>
                  </a:solidFill>
                  <a:effectLst/>
                  <a:latin typeface="JetBrains Mono"/>
                </a:rPr>
                <a:t>loadUserByUsername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(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String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username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) </a:t>
              </a: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throws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UsernameNotFoundException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 {</a:t>
              </a:r>
            </a:p>
            <a:p>
              <a:pPr>
                <a:buNone/>
              </a:pPr>
              <a:b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    </a:t>
              </a:r>
              <a:r>
                <a:rPr lang="pt-BR" dirty="0">
                  <a:solidFill>
                    <a:srgbClr val="7A7E85"/>
                  </a:solidFill>
                  <a:effectLst/>
                  <a:latin typeface="JetBrains Mono"/>
                </a:rPr>
                <a:t>//Busca no banco de dados o usuário pelo login</a:t>
              </a:r>
              <a:br>
                <a:rPr lang="pt-BR" dirty="0">
                  <a:solidFill>
                    <a:srgbClr val="7A7E85"/>
                  </a:solidFill>
                  <a:effectLst/>
                  <a:latin typeface="JetBrains Mono"/>
                </a:rPr>
              </a:br>
              <a:r>
                <a:rPr lang="pt-BR" dirty="0">
                  <a:solidFill>
                    <a:srgbClr val="7A7E85"/>
                  </a:solidFill>
                  <a:effectLst/>
                  <a:latin typeface="JetBrains Mono"/>
                </a:rPr>
                <a:t>    </a:t>
              </a: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return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C77DBB"/>
                  </a:solidFill>
                  <a:effectLst/>
                  <a:latin typeface="JetBrains Mono"/>
                </a:rPr>
                <a:t>repository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.findByLogin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(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username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);</a:t>
              </a:r>
              <a:b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</a:br>
              <a:endParaRPr lang="pt-BR" dirty="0">
                <a:solidFill>
                  <a:srgbClr val="BCBEC4"/>
                </a:solidFill>
                <a:effectLst/>
                <a:latin typeface="JetBrains Mono"/>
              </a:endParaRPr>
            </a:p>
            <a:p>
              <a:pPr>
                <a:buNone/>
              </a:pP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827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5B4D7-FFEC-4729-8581-F801D08C1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Autenticação </a:t>
            </a:r>
            <a:r>
              <a:rPr lang="pt-BR" b="1" dirty="0" err="1"/>
              <a:t>Stateless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2CB1AC-4954-4F1E-94D5-06FE8802D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600" dirty="0"/>
              <a:t>Por padrão, em aplicações com autenticação por sessão, o servidor mantém o estado de autenticação do usuário entre as requisições (</a:t>
            </a:r>
            <a:r>
              <a:rPr lang="pt-BR" sz="1600" b="1" dirty="0" err="1"/>
              <a:t>Stateful</a:t>
            </a:r>
            <a:r>
              <a:rPr lang="pt-BR" sz="1600" dirty="0"/>
              <a:t>).</a:t>
            </a:r>
          </a:p>
          <a:p>
            <a:endParaRPr lang="pt-BR" sz="1600" dirty="0"/>
          </a:p>
          <a:p>
            <a:r>
              <a:rPr lang="pt-BR" sz="1600" dirty="0"/>
              <a:t>Na nossa API, utilizaremos o modelo </a:t>
            </a:r>
            <a:r>
              <a:rPr lang="pt-BR" sz="1600" b="1" dirty="0" err="1"/>
              <a:t>Stateless</a:t>
            </a:r>
            <a:r>
              <a:rPr lang="pt-BR" sz="1600" dirty="0"/>
              <a:t>, em que cada requisição deve conter as informações necessárias para autenticar o usuário.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O Spring Security não cria nem utiliza uma sessão HTTP para manter a autenticação.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Após o login, o cliente recebe um </a:t>
            </a:r>
            <a:r>
              <a:rPr lang="pt-BR" sz="1400" dirty="0" err="1"/>
              <a:t>token</a:t>
            </a:r>
            <a:r>
              <a:rPr lang="pt-BR" sz="1400" dirty="0"/>
              <a:t> JWT.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O cliente envia esse </a:t>
            </a:r>
            <a:r>
              <a:rPr lang="pt-BR" sz="1400" dirty="0" err="1"/>
              <a:t>token</a:t>
            </a:r>
            <a:r>
              <a:rPr lang="pt-BR" sz="1400" dirty="0"/>
              <a:t> em cada requisição a uma rota protegida.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dirty="0"/>
              <a:t>A API valida o </a:t>
            </a:r>
            <a:r>
              <a:rPr lang="pt-BR" sz="1400" dirty="0" err="1"/>
              <a:t>token</a:t>
            </a:r>
            <a:r>
              <a:rPr lang="pt-BR" sz="1400" dirty="0"/>
              <a:t> antes de permitir o acesso.</a:t>
            </a:r>
          </a:p>
          <a:p>
            <a:pPr lvl="1"/>
            <a:endParaRPr lang="pt-BR" sz="1400" dirty="0"/>
          </a:p>
          <a:p>
            <a:r>
              <a:rPr lang="pt-BR" sz="1600" dirty="0"/>
              <a:t>A configuração STATELESS desabilita o uso da sessão para manter a autenticação. A geração e a validação do JWT serão implementadas separadamente.</a:t>
            </a:r>
          </a:p>
        </p:txBody>
      </p:sp>
    </p:spTree>
    <p:extLst>
      <p:ext uri="{BB962C8B-B14F-4D97-AF65-F5344CB8AC3E}">
        <p14:creationId xmlns:p14="http://schemas.microsoft.com/office/powerpoint/2010/main" val="3311506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3583B-0B6E-4C2D-B414-9D4FF2DC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Anotação </a:t>
            </a:r>
            <a:r>
              <a:rPr lang="pt-BR" b="1" dirty="0"/>
              <a:t>@Configuration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C6764-C18B-47FD-8EEC-BBCCA3C12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@Configuration</a:t>
            </a:r>
            <a:r>
              <a:rPr lang="pt-BR" dirty="0"/>
              <a:t> serve para informar ao Spring que uma determinada classe contém </a:t>
            </a:r>
            <a:r>
              <a:rPr lang="pt-BR" b="1" dirty="0"/>
              <a:t>configurações da aplicação</a:t>
            </a:r>
            <a:r>
              <a:rPr lang="pt-BR" dirty="0"/>
              <a:t> que devem ser carregadas e gerenciadas pelo framework.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5D52A4-E898-46AB-96A9-73A47EACF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0" y="2902295"/>
            <a:ext cx="57531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20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36043-A129-D578-8E92-8131F162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Anotação </a:t>
            </a:r>
            <a:r>
              <a:rPr lang="pt-BR" b="1" dirty="0"/>
              <a:t>@EnableWebSecurity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62FE0-36F3-1EBC-3002-181EB526F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@EnableWebSecurity</a:t>
            </a:r>
            <a:r>
              <a:rPr lang="pt-BR" dirty="0"/>
              <a:t> serve para </a:t>
            </a:r>
            <a:r>
              <a:rPr lang="pt-BR" b="1" dirty="0"/>
              <a:t>habilitar explicitamente o mecanismo de segurança web do Spring Security</a:t>
            </a:r>
            <a:r>
              <a:rPr lang="pt-BR" dirty="0"/>
              <a:t> na aplicação, permitindo que o Spring </a:t>
            </a:r>
            <a:r>
              <a:rPr lang="pt-BR" b="1" dirty="0"/>
              <a:t>Security passe a participar do processamento das requisições HTTP</a:t>
            </a:r>
            <a:r>
              <a:rPr lang="pt-BR" dirty="0"/>
              <a:t>, permitindo controlar:</a:t>
            </a:r>
          </a:p>
          <a:p>
            <a:endParaRPr lang="pt-BR" dirty="0"/>
          </a:p>
          <a:p>
            <a:pPr lvl="1"/>
            <a:r>
              <a:rPr lang="pt-BR" dirty="0"/>
              <a:t>🔐 Autenticação — quem é o usuário? </a:t>
            </a:r>
          </a:p>
          <a:p>
            <a:pPr lvl="1"/>
            <a:r>
              <a:rPr lang="pt-BR" dirty="0"/>
              <a:t>🛡️ Autorização — o usuário pode acessar? </a:t>
            </a:r>
          </a:p>
          <a:p>
            <a:pPr lvl="1"/>
            <a:r>
              <a:rPr lang="pt-BR" dirty="0"/>
              <a:t>👤 Usuários e permissões </a:t>
            </a:r>
          </a:p>
          <a:p>
            <a:pPr lvl="1"/>
            <a:r>
              <a:rPr lang="pt-BR" dirty="0"/>
              <a:t>🔑 Login e senhas </a:t>
            </a:r>
          </a:p>
          <a:p>
            <a:pPr lvl="1"/>
            <a:r>
              <a:rPr lang="pt-BR" dirty="0"/>
              <a:t>🚧 Proteção de </a:t>
            </a:r>
            <a:r>
              <a:rPr lang="pt-BR" dirty="0" err="1"/>
              <a:t>endpoints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🔄 Filtros de segurança</a:t>
            </a:r>
          </a:p>
          <a:p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C7F7AB6C-17D9-C9B9-F3EE-39ABAACC4456}"/>
              </a:ext>
            </a:extLst>
          </p:cNvPr>
          <p:cNvGrpSpPr/>
          <p:nvPr/>
        </p:nvGrpSpPr>
        <p:grpSpPr>
          <a:xfrm>
            <a:off x="6096000" y="4129865"/>
            <a:ext cx="5357548" cy="1873715"/>
            <a:chOff x="7435551" y="5840444"/>
            <a:chExt cx="5357548" cy="1873715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768B58BF-F0C2-C5CF-7060-16A9ECA026C1}"/>
                </a:ext>
              </a:extLst>
            </p:cNvPr>
            <p:cNvSpPr/>
            <p:nvPr/>
          </p:nvSpPr>
          <p:spPr>
            <a:xfrm>
              <a:off x="7435551" y="5840444"/>
              <a:ext cx="5357548" cy="1873715"/>
            </a:xfrm>
            <a:prstGeom prst="roundRect">
              <a:avLst>
                <a:gd name="adj" fmla="val 8081"/>
              </a:avLst>
            </a:prstGeom>
            <a:solidFill>
              <a:srgbClr val="191A1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E486EF1-CD61-40DD-35E4-17913C54B333}"/>
                </a:ext>
              </a:extLst>
            </p:cNvPr>
            <p:cNvSpPr txBox="1"/>
            <p:nvPr/>
          </p:nvSpPr>
          <p:spPr>
            <a:xfrm>
              <a:off x="7950173" y="6038637"/>
              <a:ext cx="432830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  <a:t>@Configuration</a:t>
              </a:r>
              <a:b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</a:br>
              <a: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  <a:t>@EnableWebSecurity</a:t>
              </a:r>
              <a:br>
                <a:rPr lang="pt-BR" dirty="0">
                  <a:solidFill>
                    <a:srgbClr val="B3AE60"/>
                  </a:solidFill>
                  <a:effectLst/>
                  <a:latin typeface="JetBrains Mono"/>
                </a:rPr>
              </a:b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public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CF8E6D"/>
                  </a:solidFill>
                  <a:effectLst/>
                  <a:latin typeface="JetBrains Mono"/>
                </a:rPr>
                <a:t>class</a:t>
              </a:r>
              <a:r>
                <a:rPr lang="pt-BR" dirty="0">
                  <a:solidFill>
                    <a:srgbClr val="CF8E6D"/>
                  </a:solidFill>
                  <a:effectLst/>
                  <a:latin typeface="JetBrains Mono"/>
                </a:rPr>
                <a:t> </a:t>
              </a:r>
              <a:r>
                <a:rPr lang="pt-BR" dirty="0" err="1">
                  <a:solidFill>
                    <a:srgbClr val="BCBEC4"/>
                  </a:solidFill>
                  <a:effectLst/>
                  <a:latin typeface="JetBrains Mono"/>
                </a:rPr>
                <a:t>SecutiryConfigurations</a:t>
              </a: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 {</a:t>
              </a:r>
              <a:b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</a:br>
              <a:b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</a:br>
              <a:r>
                <a:rPr lang="pt-BR" dirty="0">
                  <a:solidFill>
                    <a:srgbClr val="BCBEC4"/>
                  </a:solidFill>
                  <a:effectLst/>
                  <a:latin typeface="JetBrains Mono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5575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62CB3-17A3-5713-2A67-502FA200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@Configuration </a:t>
            </a:r>
            <a:r>
              <a:rPr lang="pt-BR" dirty="0"/>
              <a:t>+ </a:t>
            </a:r>
            <a:r>
              <a:rPr lang="pt-BR" b="1" dirty="0"/>
              <a:t>@EnableWebSecurity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9DAB3-6C0D-58F7-6C33-6DDBB2379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547499"/>
          </a:xfrm>
        </p:spPr>
        <p:txBody>
          <a:bodyPr/>
          <a:lstStyle/>
          <a:p>
            <a:r>
              <a:rPr lang="pt-BR" b="1" dirty="0"/>
              <a:t>@</a:t>
            </a:r>
            <a:r>
              <a:rPr lang="pt-BR" b="1" dirty="0" err="1"/>
              <a:t>Configuration</a:t>
            </a:r>
            <a:r>
              <a:rPr lang="pt-BR" b="1" dirty="0"/>
              <a:t>: </a:t>
            </a:r>
            <a:r>
              <a:rPr lang="pt-BR" dirty="0"/>
              <a:t>Informa que a classe contém configurações.</a:t>
            </a:r>
          </a:p>
          <a:p>
            <a:endParaRPr lang="pt-BR" dirty="0"/>
          </a:p>
          <a:p>
            <a:r>
              <a:rPr lang="pt-BR" b="1" dirty="0"/>
              <a:t>@</a:t>
            </a:r>
            <a:r>
              <a:rPr lang="pt-BR" b="1" dirty="0" err="1"/>
              <a:t>EnableWebSecuritydiz</a:t>
            </a:r>
            <a:r>
              <a:rPr lang="pt-BR" b="1" dirty="0"/>
              <a:t>: </a:t>
            </a:r>
            <a:r>
              <a:rPr lang="pt-BR" dirty="0"/>
              <a:t>Informa que essas configurações estão relacionadas à segurança web do Spring Security, com o intuito de definir as regras de segurança da aplicação.</a:t>
            </a:r>
          </a:p>
          <a:p>
            <a:endParaRPr lang="pt-BR" dirty="0"/>
          </a:p>
          <a:p>
            <a:r>
              <a:rPr lang="pt-BR" dirty="0"/>
              <a:t>A configuração STATELESS define que a aplicação não manterá sessões HTTP para os usuários. Dessa forma, cada requisição deve trazer as informações necessárias para autenticação, como um token JWT.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0671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448DB-F761-4238-93B4-DA908273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definir como STATELLES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A24E51E-6BA4-4D41-8D0F-830F70C5B693}"/>
              </a:ext>
            </a:extLst>
          </p:cNvPr>
          <p:cNvGrpSpPr/>
          <p:nvPr/>
        </p:nvGrpSpPr>
        <p:grpSpPr>
          <a:xfrm>
            <a:off x="1027293" y="2319792"/>
            <a:ext cx="10137413" cy="3925590"/>
            <a:chOff x="749185" y="2285286"/>
            <a:chExt cx="6794615" cy="3925590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2DB2A50A-D986-4FB0-93B6-EACEECD789BB}"/>
                </a:ext>
              </a:extLst>
            </p:cNvPr>
            <p:cNvSpPr/>
            <p:nvPr/>
          </p:nvSpPr>
          <p:spPr>
            <a:xfrm>
              <a:off x="749185" y="2285286"/>
              <a:ext cx="6794615" cy="3925590"/>
            </a:xfrm>
            <a:prstGeom prst="roundRect">
              <a:avLst>
                <a:gd name="adj" fmla="val 8081"/>
              </a:avLst>
            </a:prstGeom>
            <a:solidFill>
              <a:srgbClr val="191A1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A35801F-679B-4713-9557-FDEA683E30B2}"/>
                </a:ext>
              </a:extLst>
            </p:cNvPr>
            <p:cNvSpPr/>
            <p:nvPr/>
          </p:nvSpPr>
          <p:spPr>
            <a:xfrm>
              <a:off x="1098364" y="2538081"/>
              <a:ext cx="6096256" cy="34200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dirty="0">
                  <a:solidFill>
                    <a:srgbClr val="B3AE60"/>
                  </a:solidFill>
                  <a:latin typeface="JetBrains Mono"/>
                </a:rPr>
                <a:t>@</a:t>
              </a:r>
              <a:r>
                <a:rPr lang="pt-BR" altLang="pt-BR" dirty="0" err="1">
                  <a:solidFill>
                    <a:srgbClr val="B3AE60"/>
                  </a:solidFill>
                  <a:latin typeface="JetBrains Mono"/>
                </a:rPr>
                <a:t>Bean</a:t>
              </a:r>
              <a:br>
                <a:rPr lang="pt-BR" altLang="pt-BR" dirty="0">
                  <a:solidFill>
                    <a:srgbClr val="B3AE60"/>
                  </a:solidFill>
                  <a:latin typeface="JetBrains Mono"/>
                </a:rPr>
              </a:br>
              <a:r>
                <a:rPr lang="pt-BR" altLang="pt-BR" dirty="0" err="1">
                  <a:solidFill>
                    <a:srgbClr val="CF8E6D"/>
                  </a:solidFill>
                  <a:latin typeface="JetBrains Mono"/>
                </a:rPr>
                <a:t>public</a:t>
              </a:r>
              <a:r>
                <a:rPr lang="pt-BR" altLang="pt-BR" dirty="0">
                  <a:solidFill>
                    <a:srgbClr val="CF8E6D"/>
                  </a:solidFill>
                  <a:latin typeface="JetBrains Mono"/>
                </a:rPr>
                <a:t>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SecurityFilterChain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</a:t>
              </a:r>
              <a:r>
                <a:rPr lang="pt-BR" altLang="pt-BR" dirty="0" err="1">
                  <a:solidFill>
                    <a:srgbClr val="56A8F5"/>
                  </a:solidFill>
                  <a:latin typeface="JetBrains Mono"/>
                </a:rPr>
                <a:t>securityFilterChain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HttpSecurity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http){</a:t>
              </a:r>
              <a:br>
                <a:rPr lang="pt-BR" altLang="pt-BR" dirty="0">
                  <a:solidFill>
                    <a:srgbClr val="BCBEC4"/>
                  </a:solidFill>
                  <a:latin typeface="JetBrains Mono"/>
                </a:rPr>
              </a:b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   </a:t>
              </a:r>
              <a:r>
                <a:rPr lang="pt-BR" altLang="pt-BR" dirty="0" err="1">
                  <a:solidFill>
                    <a:srgbClr val="CF8E6D"/>
                  </a:solidFill>
                  <a:latin typeface="JetBrains Mono"/>
                </a:rPr>
                <a:t>return</a:t>
              </a:r>
              <a:r>
                <a:rPr lang="pt-BR" altLang="pt-BR" dirty="0">
                  <a:solidFill>
                    <a:srgbClr val="CF8E6D"/>
                  </a:solidFill>
                  <a:latin typeface="JetBrains Mono"/>
                </a:rPr>
                <a:t>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http.csrf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csrf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-&gt;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csrf.disable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()).</a:t>
              </a:r>
              <a:br>
                <a:rPr lang="pt-BR" altLang="pt-BR" dirty="0">
                  <a:solidFill>
                    <a:srgbClr val="BCBEC4"/>
                  </a:solidFill>
                  <a:latin typeface="JetBrains Mono"/>
                </a:rPr>
              </a:b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          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sessionManagement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session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-&gt;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session</a:t>
              </a:r>
              <a:br>
                <a:rPr lang="pt-BR" altLang="pt-BR" dirty="0">
                  <a:solidFill>
                    <a:srgbClr val="BCBEC4"/>
                  </a:solidFill>
                  <a:latin typeface="JetBrains Mono"/>
                </a:rPr>
              </a:b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           .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sessionCreationPolicy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SessionCreationPolicy.</a:t>
              </a:r>
              <a:r>
                <a:rPr lang="pt-BR" altLang="pt-BR" i="1" dirty="0" err="1">
                  <a:solidFill>
                    <a:srgbClr val="C77DBB"/>
                  </a:solidFill>
                  <a:latin typeface="JetBrains Mono"/>
                </a:rPr>
                <a:t>STATELESS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)</a:t>
              </a:r>
              <a:br>
                <a:rPr lang="pt-BR" altLang="pt-BR" dirty="0">
                  <a:solidFill>
                    <a:srgbClr val="BCBEC4"/>
                  </a:solidFill>
                  <a:latin typeface="JetBrains Mono"/>
                </a:rPr>
              </a:b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   ).build();</a:t>
              </a:r>
              <a:br>
                <a:rPr lang="pt-BR" altLang="pt-BR" dirty="0">
                  <a:solidFill>
                    <a:srgbClr val="BCBEC4"/>
                  </a:solidFill>
                  <a:latin typeface="JetBrains Mono"/>
                </a:rPr>
              </a:b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}</a:t>
              </a:r>
              <a:endParaRPr lang="pt-BR" altLang="pt-BR" sz="40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0194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>
            <a:extLst>
              <a:ext uri="{FF2B5EF4-FFF2-40B4-BE49-F238E27FC236}">
                <a16:creationId xmlns:a16="http://schemas.microsoft.com/office/drawing/2014/main" id="{4705F5DA-0E06-40C7-B849-48716A42182F}"/>
              </a:ext>
            </a:extLst>
          </p:cNvPr>
          <p:cNvSpPr/>
          <p:nvPr/>
        </p:nvSpPr>
        <p:spPr>
          <a:xfrm>
            <a:off x="749185" y="1811868"/>
            <a:ext cx="11107643" cy="4670092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B7C75F-A38A-40B1-B68A-8885637D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cada um desses itens</a:t>
            </a: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963DA3C-6C6A-4B8A-B045-12383E65269F}"/>
              </a:ext>
            </a:extLst>
          </p:cNvPr>
          <p:cNvSpPr/>
          <p:nvPr/>
        </p:nvSpPr>
        <p:spPr>
          <a:xfrm>
            <a:off x="1028265" y="1995920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A73A8F9F-F031-4EB6-893A-F8C166E2C391}"/>
              </a:ext>
            </a:extLst>
          </p:cNvPr>
          <p:cNvSpPr/>
          <p:nvPr/>
        </p:nvSpPr>
        <p:spPr>
          <a:xfrm>
            <a:off x="1028264" y="2687160"/>
            <a:ext cx="10545667" cy="3619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Bean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Registra o objeto retornado pelo método para que seja gerenciado pelo Spring.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SecurityFilterChain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Representa a cadeia de filtros que aplica a segurança às requisições.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HttpSecurity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Permite configurar a segurança HTTP da aplicação.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csrf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Configura a proteção contra requisições forjadas. O método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desabilita essa proteção.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sessionManagement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Configura como o Spring Security gerencia as sessões.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sessionCreationPolicy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 a política de criação e utilização de sessões HTTP.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SessionCreationPolicy.STATELESS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Determina que o Spring Security não crie nem utilize sessões para manter a autenticação.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build()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Finaliza a configuração e cria a cadeia de filtros de segurança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áfico 5" descr="Ponto de interrogação com preenchimento sólido">
            <a:extLst>
              <a:ext uri="{FF2B5EF4-FFF2-40B4-BE49-F238E27FC236}">
                <a16:creationId xmlns:a16="http://schemas.microsoft.com/office/drawing/2014/main" id="{E22C5352-300F-495F-9E33-96B2CFA85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462" y="2120125"/>
            <a:ext cx="318625" cy="318625"/>
          </a:xfrm>
          <a:prstGeom prst="rect">
            <a:avLst/>
          </a:prstGeom>
        </p:spPr>
      </p:pic>
      <p:sp>
        <p:nvSpPr>
          <p:cNvPr id="7" name="Título 4">
            <a:extLst>
              <a:ext uri="{FF2B5EF4-FFF2-40B4-BE49-F238E27FC236}">
                <a16:creationId xmlns:a16="http://schemas.microsoft.com/office/drawing/2014/main" id="{A6029976-3324-4121-9393-F0263BDFE0E9}"/>
              </a:ext>
            </a:extLst>
          </p:cNvPr>
          <p:cNvSpPr txBox="1">
            <a:spLocks/>
          </p:cNvSpPr>
          <p:nvPr/>
        </p:nvSpPr>
        <p:spPr>
          <a:xfrm>
            <a:off x="1826927" y="2081773"/>
            <a:ext cx="9747005" cy="3953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 sz="2000" b="1" dirty="0"/>
              <a:t>O que significa cada item da configuração de segurança?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205379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EAB793-5EE6-490B-85D5-34D898F4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Exemplo de Autenticação</a:t>
            </a:r>
          </a:p>
        </p:txBody>
      </p:sp>
      <p:pic>
        <p:nvPicPr>
          <p:cNvPr id="5" name="Gráfico 4" descr="Monitor">
            <a:extLst>
              <a:ext uri="{FF2B5EF4-FFF2-40B4-BE49-F238E27FC236}">
                <a16:creationId xmlns:a16="http://schemas.microsoft.com/office/drawing/2014/main" id="{46F5F4C7-69B9-4BF9-A6CB-AC0738320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4927" y="2981684"/>
            <a:ext cx="1515533" cy="1515533"/>
          </a:xfrm>
          <a:prstGeom prst="rect">
            <a:avLst/>
          </a:prstGeom>
        </p:spPr>
      </p:pic>
      <p:pic>
        <p:nvPicPr>
          <p:cNvPr id="6" name="Gráfico 5" descr="Servidor">
            <a:extLst>
              <a:ext uri="{FF2B5EF4-FFF2-40B4-BE49-F238E27FC236}">
                <a16:creationId xmlns:a16="http://schemas.microsoft.com/office/drawing/2014/main" id="{C820F0BF-8216-4110-8480-5F500684F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0326" y="2922417"/>
            <a:ext cx="1574800" cy="1574800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D1340034-08AC-49B5-B4D5-9D9A839A2D9A}"/>
              </a:ext>
            </a:extLst>
          </p:cNvPr>
          <p:cNvGrpSpPr/>
          <p:nvPr/>
        </p:nvGrpSpPr>
        <p:grpSpPr>
          <a:xfrm>
            <a:off x="750062" y="2688976"/>
            <a:ext cx="1363134" cy="1635098"/>
            <a:chOff x="1481667" y="4270218"/>
            <a:chExt cx="1363134" cy="1635098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2FFB741E-A6CE-4ECC-A2B7-AA2491190E18}"/>
                </a:ext>
              </a:extLst>
            </p:cNvPr>
            <p:cNvSpPr/>
            <p:nvPr/>
          </p:nvSpPr>
          <p:spPr>
            <a:xfrm>
              <a:off x="1481667" y="4706939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teste@gmail.com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CFDB697-5A36-4BA7-94D7-2071693F7DF1}"/>
                </a:ext>
              </a:extLst>
            </p:cNvPr>
            <p:cNvSpPr txBox="1"/>
            <p:nvPr/>
          </p:nvSpPr>
          <p:spPr>
            <a:xfrm>
              <a:off x="1481667" y="427021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Login: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899A42BE-68F9-4EC0-A0EC-9B1E9EED7F13}"/>
                </a:ext>
              </a:extLst>
            </p:cNvPr>
            <p:cNvSpPr/>
            <p:nvPr/>
          </p:nvSpPr>
          <p:spPr>
            <a:xfrm>
              <a:off x="1481667" y="5558182"/>
              <a:ext cx="1363134" cy="34713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1234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EAFF109E-894F-4A20-9345-3F08FA4596F1}"/>
                </a:ext>
              </a:extLst>
            </p:cNvPr>
            <p:cNvSpPr txBox="1"/>
            <p:nvPr/>
          </p:nvSpPr>
          <p:spPr>
            <a:xfrm>
              <a:off x="1481667" y="5121462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Senha:</a:t>
              </a:r>
            </a:p>
          </p:txBody>
        </p:sp>
      </p:grp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D843AD6-B2AD-4803-9EEC-579B0E7E5160}"/>
              </a:ext>
            </a:extLst>
          </p:cNvPr>
          <p:cNvCxnSpPr>
            <a:cxnSpLocks/>
          </p:cNvCxnSpPr>
          <p:nvPr/>
        </p:nvCxnSpPr>
        <p:spPr>
          <a:xfrm>
            <a:off x="4094392" y="3506525"/>
            <a:ext cx="220133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E830042-DD0B-4F4E-BD3F-E72EA08DD9E8}"/>
              </a:ext>
            </a:extLst>
          </p:cNvPr>
          <p:cNvCxnSpPr>
            <a:cxnSpLocks/>
          </p:cNvCxnSpPr>
          <p:nvPr/>
        </p:nvCxnSpPr>
        <p:spPr>
          <a:xfrm flipH="1">
            <a:off x="4060526" y="3976940"/>
            <a:ext cx="2167466" cy="290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6F73D86-E9C1-41F8-BF9D-CD84C5F5009F}"/>
              </a:ext>
            </a:extLst>
          </p:cNvPr>
          <p:cNvSpPr txBox="1"/>
          <p:nvPr/>
        </p:nvSpPr>
        <p:spPr>
          <a:xfrm>
            <a:off x="4116978" y="2905780"/>
            <a:ext cx="2254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“login” : “teste@gmail.com”</a:t>
            </a:r>
          </a:p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“senha” : “1234”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79D8A56A-E5AC-4365-BFFE-36854E223F53}"/>
              </a:ext>
            </a:extLst>
          </p:cNvPr>
          <p:cNvGrpSpPr/>
          <p:nvPr/>
        </p:nvGrpSpPr>
        <p:grpSpPr>
          <a:xfrm>
            <a:off x="4619248" y="1727183"/>
            <a:ext cx="1250407" cy="1101072"/>
            <a:chOff x="4797855" y="2040611"/>
            <a:chExt cx="1250407" cy="1101072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F51922C7-E34C-43C3-84B5-D5F8228256E2}"/>
                </a:ext>
              </a:extLst>
            </p:cNvPr>
            <p:cNvSpPr/>
            <p:nvPr/>
          </p:nvSpPr>
          <p:spPr>
            <a:xfrm>
              <a:off x="5063059" y="2040611"/>
              <a:ext cx="720000" cy="720000"/>
            </a:xfrm>
            <a:prstGeom prst="ellipse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248804F4-780B-4EEC-B5C9-ED0B8992DAF8}"/>
                </a:ext>
              </a:extLst>
            </p:cNvPr>
            <p:cNvSpPr txBox="1"/>
            <p:nvPr/>
          </p:nvSpPr>
          <p:spPr>
            <a:xfrm>
              <a:off x="4797855" y="2833906"/>
              <a:ext cx="12504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 </a:t>
              </a:r>
              <a:r>
                <a:rPr lang="pt-B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B9D514F-AB55-4678-81BC-89B5FCF2F6D5}"/>
              </a:ext>
            </a:extLst>
          </p:cNvPr>
          <p:cNvGrpSpPr/>
          <p:nvPr/>
        </p:nvGrpSpPr>
        <p:grpSpPr>
          <a:xfrm>
            <a:off x="8205546" y="1727183"/>
            <a:ext cx="1000338" cy="1101072"/>
            <a:chOff x="9722212" y="1685036"/>
            <a:chExt cx="1000338" cy="1101072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D54441C3-C7E3-468C-ADB5-ADE26AE782FF}"/>
                </a:ext>
              </a:extLst>
            </p:cNvPr>
            <p:cNvSpPr/>
            <p:nvPr/>
          </p:nvSpPr>
          <p:spPr>
            <a:xfrm>
              <a:off x="9862381" y="1685036"/>
              <a:ext cx="720000" cy="720000"/>
            </a:xfrm>
            <a:prstGeom prst="ellipse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B58A097B-8127-4664-A1A7-1C3AD0446D2D}"/>
                </a:ext>
              </a:extLst>
            </p:cNvPr>
            <p:cNvSpPr txBox="1"/>
            <p:nvPr/>
          </p:nvSpPr>
          <p:spPr>
            <a:xfrm>
              <a:off x="9722212" y="2478331"/>
              <a:ext cx="1000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 </a:t>
              </a:r>
              <a:r>
                <a:rPr lang="pt-B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</a:t>
              </a:r>
              <a:endParaRPr lang="pt-BR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4" name="Gráfico 33" descr="Banco de dados">
            <a:extLst>
              <a:ext uri="{FF2B5EF4-FFF2-40B4-BE49-F238E27FC236}">
                <a16:creationId xmlns:a16="http://schemas.microsoft.com/office/drawing/2014/main" id="{CB4AA1FB-CFA3-43A1-A49B-B7E7A9C57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8525" y="2842743"/>
            <a:ext cx="1793413" cy="1793413"/>
          </a:xfrm>
          <a:prstGeom prst="rect">
            <a:avLst/>
          </a:prstGeom>
        </p:spPr>
      </p:pic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935CBB51-E06F-4509-9AEC-1E0F6846E073}"/>
              </a:ext>
            </a:extLst>
          </p:cNvPr>
          <p:cNvCxnSpPr>
            <a:cxnSpLocks/>
          </p:cNvCxnSpPr>
          <p:nvPr/>
        </p:nvCxnSpPr>
        <p:spPr>
          <a:xfrm flipV="1">
            <a:off x="7762906" y="3506525"/>
            <a:ext cx="1885619" cy="912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339DA06-E376-4DB9-A686-DEFB35709935}"/>
              </a:ext>
            </a:extLst>
          </p:cNvPr>
          <p:cNvGrpSpPr/>
          <p:nvPr/>
        </p:nvGrpSpPr>
        <p:grpSpPr>
          <a:xfrm>
            <a:off x="6494816" y="4721325"/>
            <a:ext cx="1125821" cy="1316515"/>
            <a:chOff x="9697448" y="1817445"/>
            <a:chExt cx="1125821" cy="1316515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D3100A8D-BB60-4FD5-880C-47A24C5C11ED}"/>
                </a:ext>
              </a:extLst>
            </p:cNvPr>
            <p:cNvSpPr/>
            <p:nvPr/>
          </p:nvSpPr>
          <p:spPr>
            <a:xfrm>
              <a:off x="9900358" y="1817445"/>
              <a:ext cx="720000" cy="720000"/>
            </a:xfrm>
            <a:prstGeom prst="ellipse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9B1083FB-94AF-4A2A-84A7-9F284E0293EF}"/>
                </a:ext>
              </a:extLst>
            </p:cNvPr>
            <p:cNvSpPr txBox="1"/>
            <p:nvPr/>
          </p:nvSpPr>
          <p:spPr>
            <a:xfrm>
              <a:off x="9697448" y="2610740"/>
              <a:ext cx="11258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Gerar Token </a:t>
              </a:r>
            </a:p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JWT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BCA9EFD4-9DFE-4FA0-BBFB-E49B65CB8DED}"/>
              </a:ext>
            </a:extLst>
          </p:cNvPr>
          <p:cNvGrpSpPr/>
          <p:nvPr/>
        </p:nvGrpSpPr>
        <p:grpSpPr>
          <a:xfrm>
            <a:off x="3231998" y="4721325"/>
            <a:ext cx="1385507" cy="1316515"/>
            <a:chOff x="9536581" y="1817445"/>
            <a:chExt cx="1385507" cy="1316515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E1C5F67D-2A44-4E6E-97E6-32F6BA8A5F2D}"/>
                </a:ext>
              </a:extLst>
            </p:cNvPr>
            <p:cNvSpPr/>
            <p:nvPr/>
          </p:nvSpPr>
          <p:spPr>
            <a:xfrm>
              <a:off x="9869334" y="1817445"/>
              <a:ext cx="720000" cy="720000"/>
            </a:xfrm>
            <a:prstGeom prst="ellipse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877A3597-7FBD-40D9-BE90-979ED001732A}"/>
                </a:ext>
              </a:extLst>
            </p:cNvPr>
            <p:cNvSpPr txBox="1"/>
            <p:nvPr/>
          </p:nvSpPr>
          <p:spPr>
            <a:xfrm>
              <a:off x="9536581" y="2610740"/>
              <a:ext cx="13855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Devolver Token </a:t>
              </a:r>
            </a:p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JWT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742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84EEA-607C-4DFE-9B48-E64B7C3F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AuthenticationManager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9E31B5-084B-4720-8BB7-D050B6987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AuthenticationManager</a:t>
            </a:r>
            <a:r>
              <a:rPr lang="pt-BR" dirty="0"/>
              <a:t> é responsável por coordenar a autenticação do usuário. Ele recebe as credenciais e encaminha a verificação para um provedor de autenticação. Quando chamamos </a:t>
            </a:r>
            <a:r>
              <a:rPr lang="pt-BR" dirty="0" err="1"/>
              <a:t>authenticate</a:t>
            </a:r>
            <a:r>
              <a:rPr lang="pt-BR" dirty="0"/>
              <a:t>(), neste fluxo com usuário e senha no banco: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AuthenticationManager</a:t>
            </a:r>
            <a:r>
              <a:rPr lang="pt-BR" dirty="0"/>
              <a:t> encaminha as credenciais ao </a:t>
            </a:r>
            <a:r>
              <a:rPr lang="pt-BR" dirty="0" err="1"/>
              <a:t>UsernamePasswordAuthenticationToken</a:t>
            </a:r>
            <a:r>
              <a:rPr lang="pt-B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O provedor utiliza o </a:t>
            </a:r>
            <a:r>
              <a:rPr lang="pt-BR" dirty="0" err="1"/>
              <a:t>UserDetailsService</a:t>
            </a:r>
            <a:r>
              <a:rPr lang="pt-BR" dirty="0"/>
              <a:t> para buscar o usuário pelo método </a:t>
            </a:r>
            <a:r>
              <a:rPr lang="pt-BR" dirty="0" err="1"/>
              <a:t>loadUserByUsername</a:t>
            </a:r>
            <a:r>
              <a:rPr lang="pt-BR" dirty="0"/>
              <a:t>().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Utiliza o </a:t>
            </a:r>
            <a:r>
              <a:rPr lang="pt-BR" dirty="0" err="1"/>
              <a:t>PasswordEncoder</a:t>
            </a:r>
            <a:r>
              <a:rPr lang="pt-BR" dirty="0"/>
              <a:t> para verificar a senha.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Se estiver tudo correto, retorna um objeto </a:t>
            </a:r>
            <a:r>
              <a:rPr lang="pt-BR" dirty="0" err="1"/>
              <a:t>Authentication</a:t>
            </a:r>
            <a:r>
              <a:rPr lang="pt-BR" dirty="0"/>
              <a:t> com o usuário autenticado e suas permissões.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Se houver uma falha, como senha incorreta, lança uma exceção de autenticação.</a:t>
            </a:r>
          </a:p>
        </p:txBody>
      </p:sp>
    </p:spTree>
    <p:extLst>
      <p:ext uri="{BB962C8B-B14F-4D97-AF65-F5344CB8AC3E}">
        <p14:creationId xmlns:p14="http://schemas.microsoft.com/office/powerpoint/2010/main" val="3674778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0">
            <a:extLst>
              <a:ext uri="{FF2B5EF4-FFF2-40B4-BE49-F238E27FC236}">
                <a16:creationId xmlns:a16="http://schemas.microsoft.com/office/drawing/2014/main" id="{F2C759C7-698E-46CE-B2DA-66822D200ABA}"/>
              </a:ext>
            </a:extLst>
          </p:cNvPr>
          <p:cNvSpPr/>
          <p:nvPr/>
        </p:nvSpPr>
        <p:spPr>
          <a:xfrm>
            <a:off x="1439333" y="4882237"/>
            <a:ext cx="9725373" cy="1619984"/>
          </a:xfrm>
          <a:prstGeom prst="roundRect">
            <a:avLst>
              <a:gd name="adj" fmla="val 8081"/>
            </a:avLst>
          </a:prstGeom>
          <a:solidFill>
            <a:srgbClr val="191A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DD5622-BE74-4ADB-8BEE-68D9BBB9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Disponibilizando o </a:t>
            </a:r>
            <a:r>
              <a:rPr lang="pt-BR" dirty="0" err="1"/>
              <a:t>AuthenticationManager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42453D-E52A-4252-B33C-2DB628AC3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612" y="4977870"/>
            <a:ext cx="8778815" cy="1428718"/>
          </a:xfrm>
        </p:spPr>
        <p:txBody>
          <a:bodyPr/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solidFill>
                  <a:srgbClr val="B3AE60"/>
                </a:solidFill>
                <a:latin typeface="JetBrains Mono"/>
              </a:rPr>
              <a:t>@</a:t>
            </a:r>
            <a:r>
              <a:rPr lang="pt-BR" altLang="pt-BR" sz="1400" dirty="0" err="1">
                <a:solidFill>
                  <a:srgbClr val="B3AE60"/>
                </a:solidFill>
                <a:latin typeface="JetBrains Mono"/>
              </a:rPr>
              <a:t>Bean</a:t>
            </a:r>
            <a:br>
              <a:rPr lang="pt-BR" altLang="pt-BR" sz="1400" dirty="0">
                <a:solidFill>
                  <a:srgbClr val="B3AE60"/>
                </a:solidFill>
                <a:latin typeface="JetBrains Mono"/>
              </a:rPr>
            </a:br>
            <a:r>
              <a:rPr lang="pt-BR" altLang="pt-BR" sz="1400" dirty="0" err="1">
                <a:solidFill>
                  <a:srgbClr val="CF8E6D"/>
                </a:solidFill>
                <a:latin typeface="JetBrains Mono"/>
              </a:rPr>
              <a:t>public</a:t>
            </a:r>
            <a:r>
              <a:rPr lang="pt-BR" altLang="pt-BR" sz="1400" dirty="0">
                <a:solidFill>
                  <a:srgbClr val="CF8E6D"/>
                </a:solidFill>
                <a:latin typeface="JetBrains Mono"/>
              </a:rPr>
              <a:t>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AuthenticationManager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</a:t>
            </a:r>
            <a:r>
              <a:rPr lang="pt-BR" altLang="pt-BR" sz="1400" dirty="0" err="1">
                <a:solidFill>
                  <a:srgbClr val="56A8F5"/>
                </a:solidFill>
                <a:latin typeface="JetBrains Mono"/>
              </a:rPr>
              <a:t>authenticationManager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AuthenticationConfiguration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configuration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) </a:t>
            </a:r>
            <a:r>
              <a:rPr lang="pt-BR" altLang="pt-BR" sz="1400" dirty="0" err="1">
                <a:solidFill>
                  <a:srgbClr val="CF8E6D"/>
                </a:solidFill>
                <a:latin typeface="JetBrains Mono"/>
              </a:rPr>
              <a:t>throws</a:t>
            </a:r>
            <a:r>
              <a:rPr lang="pt-BR" altLang="pt-BR" sz="1400" dirty="0">
                <a:solidFill>
                  <a:srgbClr val="CF8E6D"/>
                </a:solidFill>
                <a:latin typeface="JetBrains Mono"/>
              </a:rPr>
              <a:t>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Exception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{</a:t>
            </a:r>
            <a:br>
              <a:rPr lang="pt-BR" altLang="pt-BR" sz="1400" dirty="0">
                <a:solidFill>
                  <a:srgbClr val="BCBEC4"/>
                </a:solidFill>
                <a:latin typeface="JetBrains Mono"/>
              </a:rPr>
            </a:b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   </a:t>
            </a:r>
            <a:r>
              <a:rPr lang="pt-BR" altLang="pt-BR" sz="1400" dirty="0" err="1">
                <a:solidFill>
                  <a:srgbClr val="CF8E6D"/>
                </a:solidFill>
                <a:latin typeface="JetBrains Mono"/>
              </a:rPr>
              <a:t>return</a:t>
            </a:r>
            <a:r>
              <a:rPr lang="pt-BR" altLang="pt-BR" sz="1400" dirty="0">
                <a:solidFill>
                  <a:srgbClr val="CF8E6D"/>
                </a:solidFill>
                <a:latin typeface="JetBrains Mono"/>
              </a:rPr>
              <a:t>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configuration.getAuthenticationManager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();</a:t>
            </a:r>
            <a:br>
              <a:rPr lang="pt-BR" altLang="pt-BR" sz="1400" dirty="0">
                <a:solidFill>
                  <a:srgbClr val="BCBEC4"/>
                </a:solidFill>
                <a:latin typeface="JetBrains Mono"/>
              </a:rPr>
            </a:b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}</a:t>
            </a:r>
            <a:endParaRPr lang="pt-BR" altLang="pt-BR" sz="3200" dirty="0">
              <a:latin typeface="Arial" panose="020B0604020202020204" pitchFamily="34" charset="0"/>
            </a:endParaRP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3986AC96-0FAF-403F-8DD1-10B69C22EFB1}"/>
              </a:ext>
            </a:extLst>
          </p:cNvPr>
          <p:cNvSpPr txBox="1">
            <a:spLocks/>
          </p:cNvSpPr>
          <p:nvPr/>
        </p:nvSpPr>
        <p:spPr>
          <a:xfrm>
            <a:off x="592347" y="1844675"/>
            <a:ext cx="11007306" cy="2710207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Para utilizar o gerenciador de autenticação no </a:t>
            </a:r>
            <a:r>
              <a:rPr lang="pt-BR" sz="1600" dirty="0" err="1"/>
              <a:t>controller</a:t>
            </a:r>
            <a:r>
              <a:rPr lang="pt-BR" sz="1600" dirty="0"/>
              <a:t>, precisamos disponibilizá-lo como um objeto gerenciado pelo Spring.</a:t>
            </a:r>
          </a:p>
          <a:p>
            <a:endParaRPr lang="pt-BR" sz="1600" dirty="0"/>
          </a:p>
          <a:p>
            <a:r>
              <a:rPr lang="pt-BR" sz="1600" dirty="0"/>
              <a:t>O método utiliza a </a:t>
            </a:r>
            <a:r>
              <a:rPr lang="pt-BR" sz="1600" dirty="0" err="1"/>
              <a:t>AuthenticationConfiguration</a:t>
            </a:r>
            <a:r>
              <a:rPr lang="pt-BR" sz="1600" dirty="0"/>
              <a:t> para obter o </a:t>
            </a:r>
            <a:r>
              <a:rPr lang="pt-BR" sz="1600" dirty="0" err="1"/>
              <a:t>AuthenticationManager</a:t>
            </a:r>
            <a:r>
              <a:rPr lang="pt-BR" sz="1600" dirty="0"/>
              <a:t> configurado. A anotação @</a:t>
            </a:r>
            <a:r>
              <a:rPr lang="pt-BR" sz="1600" dirty="0" err="1"/>
              <a:t>Bean</a:t>
            </a:r>
            <a:r>
              <a:rPr lang="pt-BR" sz="1600" dirty="0"/>
              <a:t> registra esse objeto, permitindo sua injeção no </a:t>
            </a:r>
            <a:r>
              <a:rPr lang="pt-BR" sz="1600" dirty="0" err="1"/>
              <a:t>controller</a:t>
            </a:r>
            <a:r>
              <a:rPr lang="pt-BR" sz="1600" dirty="0"/>
              <a:t> com @</a:t>
            </a:r>
            <a:r>
              <a:rPr lang="pt-BR" sz="1600" dirty="0" err="1"/>
              <a:t>Autowired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dirty="0"/>
              <a:t>Quando o </a:t>
            </a:r>
            <a:r>
              <a:rPr lang="pt-BR" sz="1600" dirty="0" err="1"/>
              <a:t>controller</a:t>
            </a:r>
            <a:r>
              <a:rPr lang="pt-BR" sz="1600" dirty="0"/>
              <a:t> chama </a:t>
            </a:r>
            <a:r>
              <a:rPr lang="pt-BR" sz="1600" dirty="0" err="1"/>
              <a:t>authenticate</a:t>
            </a:r>
            <a:r>
              <a:rPr lang="pt-BR" sz="1600" dirty="0"/>
              <a:t>(), o gerenciador coordena a verificação das credenciais, utilizando um provedor que busca o usuário pelo </a:t>
            </a:r>
            <a:r>
              <a:rPr lang="pt-BR" sz="1600" dirty="0" err="1"/>
              <a:t>UserDetailsService</a:t>
            </a:r>
            <a:r>
              <a:rPr lang="pt-BR" sz="1600" dirty="0"/>
              <a:t> e verifica a senha com o </a:t>
            </a:r>
            <a:r>
              <a:rPr lang="pt-BR" sz="1600" dirty="0" err="1"/>
              <a:t>PasswordEncoder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3812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F6B69-950F-4EFB-807F-493207E2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Preparando as credenciais para autenticação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C228A-4E8E-47FC-9701-5998D4D1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4792"/>
          </a:xfrm>
        </p:spPr>
        <p:txBody>
          <a:bodyPr/>
          <a:lstStyle/>
          <a:p>
            <a:r>
              <a:rPr lang="pt-BR" dirty="0"/>
              <a:t>A classe </a:t>
            </a:r>
            <a:r>
              <a:rPr lang="pt-BR" dirty="0" err="1"/>
              <a:t>UsernamePasswordAuthenticationToken</a:t>
            </a:r>
            <a:r>
              <a:rPr lang="pt-BR" dirty="0"/>
              <a:t> reúne o login e a senha recebidos em um único objeto, no formato esperado pelo Spring Security.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D95E6F4-DB36-406A-BDBA-3FBC8AD2A2B8}"/>
              </a:ext>
            </a:extLst>
          </p:cNvPr>
          <p:cNvGrpSpPr/>
          <p:nvPr/>
        </p:nvGrpSpPr>
        <p:grpSpPr>
          <a:xfrm>
            <a:off x="1233314" y="3278879"/>
            <a:ext cx="9725373" cy="1619984"/>
            <a:chOff x="1481666" y="2723237"/>
            <a:chExt cx="9725373" cy="1619984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891D1A5E-D865-4DA0-94FE-8B5E13A6CC24}"/>
                </a:ext>
              </a:extLst>
            </p:cNvPr>
            <p:cNvSpPr/>
            <p:nvPr/>
          </p:nvSpPr>
          <p:spPr>
            <a:xfrm>
              <a:off x="1481666" y="2723237"/>
              <a:ext cx="9725373" cy="1619984"/>
            </a:xfrm>
            <a:prstGeom prst="roundRect">
              <a:avLst>
                <a:gd name="adj" fmla="val 8081"/>
              </a:avLst>
            </a:prstGeom>
            <a:solidFill>
              <a:srgbClr val="191A1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68B12C5-4DD0-45C4-9254-E51A2BD03E4A}"/>
                </a:ext>
              </a:extLst>
            </p:cNvPr>
            <p:cNvSpPr/>
            <p:nvPr/>
          </p:nvSpPr>
          <p:spPr>
            <a:xfrm>
              <a:off x="1962852" y="2933065"/>
              <a:ext cx="876300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dirty="0">
                  <a:solidFill>
                    <a:srgbClr val="CF8E6D"/>
                  </a:solidFill>
                  <a:latin typeface="JetBrains Mono"/>
                </a:rPr>
                <a:t>var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token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= </a:t>
              </a:r>
              <a:r>
                <a:rPr lang="pt-BR" altLang="pt-BR" dirty="0">
                  <a:solidFill>
                    <a:srgbClr val="CF8E6D"/>
                  </a:solidFill>
                  <a:latin typeface="JetBrains Mono"/>
                </a:rPr>
                <a:t>new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UsernamePasswordAuthenticationToken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	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dadosAutenticacao.login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(),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	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dadosAutenticacao.senha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()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);</a:t>
              </a:r>
              <a:endParaRPr lang="pt-BR" altLang="pt-BR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1A9B01F9-69FB-40CD-8FF0-B617A9F49DE8}"/>
              </a:ext>
            </a:extLst>
          </p:cNvPr>
          <p:cNvSpPr txBox="1">
            <a:spLocks/>
          </p:cNvSpPr>
          <p:nvPr/>
        </p:nvSpPr>
        <p:spPr>
          <a:xfrm>
            <a:off x="592347" y="5248275"/>
            <a:ext cx="11007306" cy="108479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Esse objeto será enviado ao método </a:t>
            </a:r>
            <a:r>
              <a:rPr lang="pt-BR" dirty="0" err="1"/>
              <a:t>authenticate</a:t>
            </a:r>
            <a:r>
              <a:rPr lang="pt-BR" dirty="0"/>
              <a:t>(), que solicitará a verificação das credenciais.</a:t>
            </a:r>
          </a:p>
          <a:p>
            <a:r>
              <a:rPr lang="pt-BR" dirty="0"/>
              <a:t>Esse “</a:t>
            </a:r>
            <a:r>
              <a:rPr lang="pt-BR" dirty="0" err="1"/>
              <a:t>token</a:t>
            </a:r>
            <a:r>
              <a:rPr lang="pt-BR" dirty="0"/>
              <a:t>” não é um JWT e sua criação não significa que o usuário já foi autenticado.</a:t>
            </a:r>
          </a:p>
        </p:txBody>
      </p:sp>
    </p:spTree>
    <p:extLst>
      <p:ext uri="{BB962C8B-B14F-4D97-AF65-F5344CB8AC3E}">
        <p14:creationId xmlns:p14="http://schemas.microsoft.com/office/powerpoint/2010/main" val="1657425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1C5C3-8BB1-47DB-957B-7A551D8FB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as credenciais do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EEFF07-581F-4727-8B2A-78EFEE614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83192"/>
          </a:xfrm>
        </p:spPr>
        <p:txBody>
          <a:bodyPr/>
          <a:lstStyle/>
          <a:p>
            <a:r>
              <a:rPr lang="pt-BR" dirty="0"/>
              <a:t>O método </a:t>
            </a:r>
            <a:r>
              <a:rPr lang="pt-BR" dirty="0" err="1"/>
              <a:t>manager.authenticate</a:t>
            </a:r>
            <a:r>
              <a:rPr lang="pt-BR" dirty="0"/>
              <a:t>(</a:t>
            </a:r>
            <a:r>
              <a:rPr lang="pt-BR" dirty="0" err="1"/>
              <a:t>token</a:t>
            </a:r>
            <a:r>
              <a:rPr lang="pt-BR" dirty="0"/>
              <a:t>) solicita ao Spring Security a autenticação usando o login e a senha armazenados no objeto </a:t>
            </a:r>
            <a:r>
              <a:rPr lang="pt-BR" dirty="0" err="1"/>
              <a:t>token</a:t>
            </a:r>
            <a:r>
              <a:rPr lang="pt-BR" dirty="0"/>
              <a:t>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80DCB76-8526-472F-888B-7C314139960C}"/>
              </a:ext>
            </a:extLst>
          </p:cNvPr>
          <p:cNvGrpSpPr/>
          <p:nvPr/>
        </p:nvGrpSpPr>
        <p:grpSpPr>
          <a:xfrm>
            <a:off x="770148" y="3081439"/>
            <a:ext cx="6731000" cy="948695"/>
            <a:chOff x="1645179" y="2895600"/>
            <a:chExt cx="6731000" cy="948695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4B434716-53A7-40B9-84A2-032DA9D034DA}"/>
                </a:ext>
              </a:extLst>
            </p:cNvPr>
            <p:cNvSpPr/>
            <p:nvPr/>
          </p:nvSpPr>
          <p:spPr>
            <a:xfrm>
              <a:off x="1645179" y="2895600"/>
              <a:ext cx="6731000" cy="948695"/>
            </a:xfrm>
            <a:prstGeom prst="roundRect">
              <a:avLst>
                <a:gd name="adj" fmla="val 8081"/>
              </a:avLst>
            </a:prstGeom>
            <a:solidFill>
              <a:srgbClr val="191A1C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329B629-6D1F-460A-801A-D6CF6250F193}"/>
                </a:ext>
              </a:extLst>
            </p:cNvPr>
            <p:cNvSpPr/>
            <p:nvPr/>
          </p:nvSpPr>
          <p:spPr>
            <a:xfrm>
              <a:off x="1802017" y="3185281"/>
              <a:ext cx="48365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pt-BR" altLang="pt-BR" dirty="0">
                  <a:solidFill>
                    <a:srgbClr val="CF8E6D"/>
                  </a:solidFill>
                  <a:latin typeface="JetBrains Mono"/>
                </a:rPr>
                <a:t>var 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authenticaon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 = </a:t>
              </a:r>
              <a:r>
                <a:rPr lang="pt-BR" altLang="pt-BR" dirty="0" err="1">
                  <a:solidFill>
                    <a:srgbClr val="C77DBB"/>
                  </a:solidFill>
                  <a:latin typeface="JetBrains Mono"/>
                </a:rPr>
                <a:t>manager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.authenticate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(</a:t>
              </a:r>
              <a:r>
                <a:rPr lang="pt-BR" altLang="pt-BR" dirty="0" err="1">
                  <a:solidFill>
                    <a:srgbClr val="BCBEC4"/>
                  </a:solidFill>
                  <a:latin typeface="JetBrains Mono"/>
                </a:rPr>
                <a:t>token</a:t>
              </a:r>
              <a:r>
                <a:rPr lang="pt-BR" altLang="pt-BR" dirty="0">
                  <a:solidFill>
                    <a:srgbClr val="BCBEC4"/>
                  </a:solidFill>
                  <a:latin typeface="JetBrains Mono"/>
                </a:rPr>
                <a:t>);</a:t>
              </a:r>
              <a:endParaRPr lang="pt-BR" altLang="pt-BR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254C3FAF-18B5-40DE-9139-E5414056F6C4}"/>
              </a:ext>
            </a:extLst>
          </p:cNvPr>
          <p:cNvSpPr txBox="1">
            <a:spLocks/>
          </p:cNvSpPr>
          <p:nvPr/>
        </p:nvSpPr>
        <p:spPr>
          <a:xfrm>
            <a:off x="592347" y="4319815"/>
            <a:ext cx="11007306" cy="20979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manager</a:t>
            </a:r>
            <a:r>
              <a:rPr lang="pt-BR" sz="1800" dirty="0"/>
              <a:t> – Gerenciador que coordena a autenticação.</a:t>
            </a:r>
          </a:p>
          <a:p>
            <a:r>
              <a:rPr lang="pt-BR" sz="1800" b="1" dirty="0" err="1"/>
              <a:t>authenticate</a:t>
            </a:r>
            <a:r>
              <a:rPr lang="pt-BR" sz="1800" b="1" dirty="0"/>
              <a:t>(</a:t>
            </a:r>
            <a:r>
              <a:rPr lang="pt-BR" sz="1800" b="1" dirty="0" err="1"/>
              <a:t>token</a:t>
            </a:r>
            <a:r>
              <a:rPr lang="pt-BR" sz="1800" b="1" dirty="0"/>
              <a:t>) </a:t>
            </a:r>
            <a:r>
              <a:rPr lang="pt-BR" sz="1800" dirty="0"/>
              <a:t>– Encaminha as credenciais para verificação. Nesse fluxo, o provedor busca o usuário pelo </a:t>
            </a:r>
            <a:r>
              <a:rPr lang="pt-BR" sz="1800" dirty="0" err="1"/>
              <a:t>UserDetailsService</a:t>
            </a:r>
            <a:r>
              <a:rPr lang="pt-BR" sz="1800" dirty="0"/>
              <a:t> e verifica a senha com o </a:t>
            </a:r>
            <a:r>
              <a:rPr lang="pt-BR" sz="1800" dirty="0" err="1"/>
              <a:t>PasswordEncoder</a:t>
            </a:r>
            <a:r>
              <a:rPr lang="pt-BR" sz="1800" dirty="0"/>
              <a:t>.</a:t>
            </a:r>
          </a:p>
          <a:p>
            <a:r>
              <a:rPr lang="pt-BR" sz="1800" b="1" dirty="0" err="1"/>
              <a:t>autenticacao</a:t>
            </a:r>
            <a:r>
              <a:rPr lang="pt-BR" sz="1800" dirty="0"/>
              <a:t> – Armazena o resultado bem-sucedido, contendo o usuário autenticado e suas permissões.</a:t>
            </a:r>
          </a:p>
        </p:txBody>
      </p:sp>
    </p:spTree>
    <p:extLst>
      <p:ext uri="{BB962C8B-B14F-4D97-AF65-F5344CB8AC3E}">
        <p14:creationId xmlns:p14="http://schemas.microsoft.com/office/powerpoint/2010/main" val="21911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57CAC-C74C-4B18-B9C6-E445CABB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Proteção de senhas no banco de dados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A1A7B6-1C53-442D-AC35-8D229BEC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972858"/>
          </a:xfrm>
        </p:spPr>
        <p:txBody>
          <a:bodyPr/>
          <a:lstStyle/>
          <a:p>
            <a:r>
              <a:rPr lang="pt-BR" dirty="0"/>
              <a:t>As senhas não devem ser salvas diretamente no banco de dados, pois um vazamento poderia expor as credenciais dos usuários.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b="1" dirty="0" err="1"/>
              <a:t>BCrypt</a:t>
            </a:r>
            <a:r>
              <a:rPr lang="pt-BR" dirty="0"/>
              <a:t> protege as senhas transformando-as em um </a:t>
            </a:r>
            <a:r>
              <a:rPr lang="pt-BR" b="1" dirty="0" err="1"/>
              <a:t>hash</a:t>
            </a:r>
            <a:r>
              <a:rPr lang="pt-BR" dirty="0"/>
              <a:t>, um valor que não pode ser </a:t>
            </a:r>
            <a:r>
              <a:rPr lang="pt-BR" dirty="0" err="1"/>
              <a:t>descriptografado</a:t>
            </a:r>
            <a:r>
              <a:rPr lang="pt-BR" dirty="0"/>
              <a:t> para recuperar a senha original. Durante o login, o sistema verifica se a senha informada corresponde ao </a:t>
            </a:r>
            <a:r>
              <a:rPr lang="pt-BR" dirty="0" err="1"/>
              <a:t>hash</a:t>
            </a:r>
            <a:r>
              <a:rPr lang="pt-BR" dirty="0"/>
              <a:t> armazenado. Isso dificulta a descoberta das senhas caso o banco seja comprometido.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FD7291-C12A-4F9E-A248-690DD3D26625}"/>
              </a:ext>
            </a:extLst>
          </p:cNvPr>
          <p:cNvSpPr txBox="1"/>
          <p:nvPr/>
        </p:nvSpPr>
        <p:spPr>
          <a:xfrm>
            <a:off x="2428484" y="5627003"/>
            <a:ext cx="732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3AFE4B-BB90-423C-B07E-6B6591CDF1A3}"/>
              </a:ext>
            </a:extLst>
          </p:cNvPr>
          <p:cNvSpPr txBox="1"/>
          <p:nvPr/>
        </p:nvSpPr>
        <p:spPr>
          <a:xfrm>
            <a:off x="5589450" y="5319227"/>
            <a:ext cx="4174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$2a$12$L77O4AU7B8ZFN8bFfvE7BeAXsV5FeLcmLwwagCAVXlouHehOWcz8C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9FD1AF7-0BAC-4B44-9B3F-91FC8B4614E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60966" y="5827058"/>
            <a:ext cx="2428484" cy="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70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1DE31-3EAD-4099-9AC1-F9D21875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F4606-EDC8-41B3-B9CF-F573A920B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8433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</TotalTime>
  <Words>1664</Words>
  <Application>Microsoft Office PowerPoint</Application>
  <PresentationFormat>Widescreen</PresentationFormat>
  <Paragraphs>171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JetBrains Mono</vt:lpstr>
      <vt:lpstr>Times New Roman</vt:lpstr>
      <vt:lpstr>Wingdings</vt:lpstr>
      <vt:lpstr>Tema do Office</vt:lpstr>
      <vt:lpstr>Spring Security</vt:lpstr>
      <vt:lpstr>Objetivo da aula</vt:lpstr>
      <vt:lpstr>O que é Spring Security?</vt:lpstr>
      <vt:lpstr>Stateful – Aplicação Web Tradicional</vt:lpstr>
      <vt:lpstr>Stateful – API RestFul</vt:lpstr>
      <vt:lpstr>Stateful – API RestFul</vt:lpstr>
      <vt:lpstr>Criando uma tabela de login</vt:lpstr>
      <vt:lpstr>Anotação @Service </vt:lpstr>
      <vt:lpstr>Interface UserDetailsService</vt:lpstr>
      <vt:lpstr>Método loadUserByUsername()</vt:lpstr>
      <vt:lpstr>Autenticação Stateless</vt:lpstr>
      <vt:lpstr>Anotação @Configuration</vt:lpstr>
      <vt:lpstr>Anotação @EnableWebSecurity </vt:lpstr>
      <vt:lpstr>@Configuration + @EnableWebSecurity </vt:lpstr>
      <vt:lpstr>Como definir como STATELLES</vt:lpstr>
      <vt:lpstr>O que são cada um desses itens</vt:lpstr>
      <vt:lpstr>Exemplo de Autenticação</vt:lpstr>
      <vt:lpstr>AuthenticationManager</vt:lpstr>
      <vt:lpstr>Disponibilizando o AuthenticationManager</vt:lpstr>
      <vt:lpstr>Preparando as credenciais para autenticação</vt:lpstr>
      <vt:lpstr>Verificando as credenciais do usuário</vt:lpstr>
      <vt:lpstr>Proteção de senhas no banco de dados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Henrique Miho de Souza</cp:lastModifiedBy>
  <cp:revision>79</cp:revision>
  <dcterms:created xsi:type="dcterms:W3CDTF">2024-03-08T12:14:33Z</dcterms:created>
  <dcterms:modified xsi:type="dcterms:W3CDTF">2026-09-18T21:39:26Z</dcterms:modified>
</cp:coreProperties>
</file>