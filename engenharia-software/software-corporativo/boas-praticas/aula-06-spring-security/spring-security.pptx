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7" r:id="rId1"/>
  </p:sldMasterIdLst>
  <p:sldIdLst>
    <p:sldId id="256" r:id="rId2"/>
    <p:sldId id="278" r:id="rId3"/>
    <p:sldId id="297" r:id="rId4"/>
    <p:sldId id="298" r:id="rId5"/>
    <p:sldId id="304" r:id="rId6"/>
    <p:sldId id="305" r:id="rId7"/>
    <p:sldId id="299" r:id="rId8"/>
    <p:sldId id="300" r:id="rId9"/>
    <p:sldId id="301" r:id="rId10"/>
    <p:sldId id="302" r:id="rId11"/>
    <p:sldId id="308" r:id="rId12"/>
    <p:sldId id="303" r:id="rId13"/>
    <p:sldId id="306" r:id="rId14"/>
    <p:sldId id="307" r:id="rId15"/>
    <p:sldId id="309" r:id="rId16"/>
    <p:sldId id="310" r:id="rId17"/>
    <p:sldId id="311" r:id="rId18"/>
    <p:sldId id="312" r:id="rId19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ção Padrão" id="{9A3B9811-863C-4514-A203-A948633EA0E6}">
          <p14:sldIdLst>
            <p14:sldId id="256"/>
            <p14:sldId id="278"/>
            <p14:sldId id="297"/>
            <p14:sldId id="298"/>
            <p14:sldId id="304"/>
            <p14:sldId id="305"/>
            <p14:sldId id="299"/>
            <p14:sldId id="300"/>
            <p14:sldId id="301"/>
            <p14:sldId id="302"/>
            <p14:sldId id="308"/>
            <p14:sldId id="303"/>
            <p14:sldId id="306"/>
            <p14:sldId id="307"/>
            <p14:sldId id="309"/>
            <p14:sldId id="310"/>
            <p14:sldId id="311"/>
            <p14:sldId id="31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91A1C"/>
    <a:srgbClr val="043073"/>
    <a:srgbClr val="48916E"/>
    <a:srgbClr val="3184F4"/>
    <a:srgbClr val="7E67A8"/>
    <a:srgbClr val="C08D5F"/>
    <a:srgbClr val="9C9B99"/>
    <a:srgbClr val="9BAD56"/>
    <a:srgbClr val="1F2024"/>
    <a:srgbClr val="EADD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 showGuides="1">
      <p:cViewPr varScale="1">
        <p:scale>
          <a:sx n="113" d="100"/>
          <a:sy n="113" d="100"/>
        </p:scale>
        <p:origin x="510" y="11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9F73EA-414C-4929-B3E7-AD122EFFBF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652931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37FCEED-3F66-43BC-8B20-36021361A3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60550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 dirty="0"/>
              <a:t>Clique para editar o estilo do subtítulo Mestre</a:t>
            </a:r>
          </a:p>
        </p:txBody>
      </p:sp>
    </p:spTree>
    <p:extLst>
      <p:ext uri="{BB962C8B-B14F-4D97-AF65-F5344CB8AC3E}">
        <p14:creationId xmlns:p14="http://schemas.microsoft.com/office/powerpoint/2010/main" val="26395079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E5DFB8E-AD99-4A2B-8BE2-ED878F9124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1BA61F7-989E-45C9-916D-42CE0B17B3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4351338"/>
          </a:xfrm>
          <a:prstGeom prst="rect">
            <a:avLst/>
          </a:prstGeom>
        </p:spPr>
        <p:txBody>
          <a:bodyPr/>
          <a:lstStyle>
            <a:lvl1pPr marL="0" indent="0" algn="just">
              <a:lnSpc>
                <a:spcPct val="150000"/>
              </a:lnSpc>
              <a:spcBef>
                <a:spcPts val="0"/>
              </a:spcBef>
              <a:buNone/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just">
              <a:lnSpc>
                <a:spcPct val="150000"/>
              </a:lnSpc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914400" indent="0" algn="just">
              <a:lnSpc>
                <a:spcPct val="150000"/>
              </a:lnSpc>
              <a:spcBef>
                <a:spcPts val="0"/>
              </a:spcBef>
              <a:buNone/>
              <a:defRPr sz="1400"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0" algn="just">
              <a:lnSpc>
                <a:spcPct val="150000"/>
              </a:lnSpc>
              <a:spcBef>
                <a:spcPts val="0"/>
              </a:spcBef>
              <a:buNone/>
              <a:defRPr sz="1200"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828800" indent="0" algn="just">
              <a:lnSpc>
                <a:spcPct val="150000"/>
              </a:lnSpc>
              <a:spcBef>
                <a:spcPts val="0"/>
              </a:spcBef>
              <a:buNone/>
              <a:defRPr sz="1000"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pt-BR" dirty="0"/>
              <a:t>Editar estilos de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</p:spTree>
    <p:extLst>
      <p:ext uri="{BB962C8B-B14F-4D97-AF65-F5344CB8AC3E}">
        <p14:creationId xmlns:p14="http://schemas.microsoft.com/office/powerpoint/2010/main" val="29072721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0440976-951F-48E1-9F65-E2E7237C0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3F09C38-83BA-4379-9DE9-B52DAEE2D6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801F2F7-E203-4170-8B06-E39E4EF61BE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17/09/2026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E2FDAB5-81C4-491B-B1DB-3E7A63996A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F87684E-F6A9-4B10-B6C6-98901C57A4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226914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621A5A9C-1616-4A2F-9897-2AA0D6A7B0E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17/09/2026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819E4B8E-0EE6-4C64-9500-F64ED0B84D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BFE3A651-93A6-476E-86D8-9380EB0792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D3856C12-D3CA-9CE2-7861-13FBF02F48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  <p:sp>
        <p:nvSpPr>
          <p:cNvPr id="9" name="Espaço Reservado para Conteúdo 2">
            <a:extLst>
              <a:ext uri="{FF2B5EF4-FFF2-40B4-BE49-F238E27FC236}">
                <a16:creationId xmlns:a16="http://schemas.microsoft.com/office/drawing/2014/main" id="{07102269-6BD9-547A-4740-3B8E3F48BF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25625"/>
            <a:ext cx="5181600" cy="4370388"/>
          </a:xfrm>
          <a:prstGeom prst="rect">
            <a:avLst/>
          </a:prstGeom>
        </p:spPr>
        <p:txBody>
          <a:bodyPr/>
          <a:lstStyle>
            <a:lvl1pPr marL="0" indent="0" algn="just">
              <a:lnSpc>
                <a:spcPct val="150000"/>
              </a:lnSpc>
              <a:spcBef>
                <a:spcPts val="0"/>
              </a:spcBef>
              <a:buNone/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just">
              <a:lnSpc>
                <a:spcPct val="150000"/>
              </a:lnSpc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914400" indent="0" algn="just">
              <a:lnSpc>
                <a:spcPct val="150000"/>
              </a:lnSpc>
              <a:spcBef>
                <a:spcPts val="0"/>
              </a:spcBef>
              <a:buNone/>
              <a:defRPr sz="1400"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0" algn="just">
              <a:lnSpc>
                <a:spcPct val="150000"/>
              </a:lnSpc>
              <a:spcBef>
                <a:spcPts val="0"/>
              </a:spcBef>
              <a:buNone/>
              <a:defRPr sz="1200"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828800" indent="0" algn="just">
              <a:lnSpc>
                <a:spcPct val="150000"/>
              </a:lnSpc>
              <a:spcBef>
                <a:spcPts val="0"/>
              </a:spcBef>
              <a:buNone/>
              <a:defRPr sz="1000"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pt-BR" dirty="0"/>
              <a:t>Editar estilos de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  <p:sp>
        <p:nvSpPr>
          <p:cNvPr id="10" name="Espaço Reservado para Conteúdo 2">
            <a:extLst>
              <a:ext uri="{FF2B5EF4-FFF2-40B4-BE49-F238E27FC236}">
                <a16:creationId xmlns:a16="http://schemas.microsoft.com/office/drawing/2014/main" id="{CB7389AF-7009-AFBD-694C-4FEB5C402AF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096000" y="1844675"/>
            <a:ext cx="5181600" cy="4351338"/>
          </a:xfrm>
          <a:prstGeom prst="rect">
            <a:avLst/>
          </a:prstGeom>
        </p:spPr>
        <p:txBody>
          <a:bodyPr/>
          <a:lstStyle>
            <a:lvl1pPr marL="0" indent="0" algn="just">
              <a:lnSpc>
                <a:spcPct val="150000"/>
              </a:lnSpc>
              <a:spcBef>
                <a:spcPts val="0"/>
              </a:spcBef>
              <a:buNone/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just">
              <a:lnSpc>
                <a:spcPct val="150000"/>
              </a:lnSpc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914400" indent="0" algn="just">
              <a:lnSpc>
                <a:spcPct val="150000"/>
              </a:lnSpc>
              <a:spcBef>
                <a:spcPts val="0"/>
              </a:spcBef>
              <a:buNone/>
              <a:defRPr sz="1400"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0" algn="just">
              <a:lnSpc>
                <a:spcPct val="150000"/>
              </a:lnSpc>
              <a:spcBef>
                <a:spcPts val="0"/>
              </a:spcBef>
              <a:buNone/>
              <a:defRPr sz="1200"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828800" indent="0" algn="just">
              <a:lnSpc>
                <a:spcPct val="150000"/>
              </a:lnSpc>
              <a:spcBef>
                <a:spcPts val="0"/>
              </a:spcBef>
              <a:buNone/>
              <a:defRPr sz="1000"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pt-BR" dirty="0"/>
              <a:t>Editar estilos de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</p:spTree>
    <p:extLst>
      <p:ext uri="{BB962C8B-B14F-4D97-AF65-F5344CB8AC3E}">
        <p14:creationId xmlns:p14="http://schemas.microsoft.com/office/powerpoint/2010/main" val="21180244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57207A11-9E53-4968-BFBB-FBA312D24C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DE141C8A-81E9-4FD8-AF20-F5BD9DA313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CB1C8E84-38D3-49F5-9A51-7C0AF548DF7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F895D1BB-221B-469A-A06C-FD406B207A3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6EAA33C3-5B87-4019-8743-8F9C2F98300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17/09/2026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70BDA0B8-E9EF-4477-9209-5DEC09732C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FBCF0E10-CAD6-4E43-98B3-1AFB88B68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9AF65EF7-14AA-3189-A9E5-924E752AEF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</p:spTree>
    <p:extLst>
      <p:ext uri="{BB962C8B-B14F-4D97-AF65-F5344CB8AC3E}">
        <p14:creationId xmlns:p14="http://schemas.microsoft.com/office/powerpoint/2010/main" val="26450592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420D39C8-444E-4546-80F5-D0180A75AF9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17/09/2026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61C134A4-BE1B-4962-9516-659CD4519D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1CE7749A-36AE-46D1-BE46-BE0E2F45BD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6F8FEF21-0B4E-C030-F1F6-1E8EDC3D85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</p:spTree>
    <p:extLst>
      <p:ext uri="{BB962C8B-B14F-4D97-AF65-F5344CB8AC3E}">
        <p14:creationId xmlns:p14="http://schemas.microsoft.com/office/powerpoint/2010/main" val="34575335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E43BC826-C9FB-472E-956F-F80F0568AE2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17/09/2026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6E154652-AECB-47CC-A9CD-8426C4D1AC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7E24980-9E3E-413B-9621-9DCBCC5F48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37732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8FF34EE3-79AE-487D-B73B-1A408180A0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1844675"/>
            <a:ext cx="5256212" cy="43513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E5AF76A-9469-4EBF-8DAC-F6889FD7546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17/09/2026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8B4ED122-B6B8-4D0E-98A8-D12057984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14136D5D-BD69-4CD2-A354-F8289DAAC6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9566D364-0170-A389-F159-C7C9D62E46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  <p:sp>
        <p:nvSpPr>
          <p:cNvPr id="9" name="Espaço Reservado para Conteúdo 2">
            <a:extLst>
              <a:ext uri="{FF2B5EF4-FFF2-40B4-BE49-F238E27FC236}">
                <a16:creationId xmlns:a16="http://schemas.microsoft.com/office/drawing/2014/main" id="{76796487-CD7B-89D5-C833-332E8D160F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9345" y="1844675"/>
            <a:ext cx="5060308" cy="4351338"/>
          </a:xfrm>
          <a:prstGeom prst="rect">
            <a:avLst/>
          </a:prstGeom>
        </p:spPr>
        <p:txBody>
          <a:bodyPr/>
          <a:lstStyle>
            <a:lvl1pPr marL="0" indent="0" algn="just">
              <a:lnSpc>
                <a:spcPct val="150000"/>
              </a:lnSpc>
              <a:spcBef>
                <a:spcPts val="0"/>
              </a:spcBef>
              <a:buNone/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just">
              <a:lnSpc>
                <a:spcPct val="150000"/>
              </a:lnSpc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914400" indent="0" algn="just">
              <a:lnSpc>
                <a:spcPct val="150000"/>
              </a:lnSpc>
              <a:spcBef>
                <a:spcPts val="0"/>
              </a:spcBef>
              <a:buNone/>
              <a:defRPr sz="1400"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0" algn="just">
              <a:lnSpc>
                <a:spcPct val="150000"/>
              </a:lnSpc>
              <a:spcBef>
                <a:spcPts val="0"/>
              </a:spcBef>
              <a:buNone/>
              <a:defRPr sz="1200"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828800" indent="0" algn="just">
              <a:lnSpc>
                <a:spcPct val="150000"/>
              </a:lnSpc>
              <a:spcBef>
                <a:spcPts val="0"/>
              </a:spcBef>
              <a:buNone/>
              <a:defRPr sz="1000"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pt-BR" dirty="0"/>
              <a:t>Editar estilos de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</p:spTree>
    <p:extLst>
      <p:ext uri="{BB962C8B-B14F-4D97-AF65-F5344CB8AC3E}">
        <p14:creationId xmlns:p14="http://schemas.microsoft.com/office/powerpoint/2010/main" val="42814922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920F7117-B346-47D7-9DBC-5BBD02B232B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773382"/>
            <a:ext cx="6172200" cy="408766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DFDB8822-F4D3-4DE6-B130-D7308F116C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1773382"/>
            <a:ext cx="3932237" cy="409560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E370F3C1-6276-4A5F-B650-8B2E8FB0633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17/09/2026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142CF32-D9DD-42DF-9B63-B3207D85DB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62A81DD0-CB02-442E-A173-AFA500CC71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E29F35F0-D02B-295C-BF50-6E6DC99813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6953941" cy="44857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</p:spTree>
    <p:extLst>
      <p:ext uri="{BB962C8B-B14F-4D97-AF65-F5344CB8AC3E}">
        <p14:creationId xmlns:p14="http://schemas.microsoft.com/office/powerpoint/2010/main" val="17764785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56E30110-E419-43DB-AEFA-3636065754B3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0" y="6762736"/>
            <a:ext cx="12192000" cy="95264"/>
          </a:xfrm>
          <a:prstGeom prst="rect">
            <a:avLst/>
          </a:prstGeom>
          <a:solidFill>
            <a:schemeClr val="bg1"/>
          </a:solidFill>
          <a:ln>
            <a:solidFill>
              <a:srgbClr val="292A86"/>
            </a:solidFill>
          </a:ln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4AAA702B-ED3B-45E1-8C71-1ACC187886AA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582422" y="635357"/>
            <a:ext cx="122428" cy="888712"/>
          </a:xfrm>
          <a:prstGeom prst="rect">
            <a:avLst/>
          </a:prstGeom>
          <a:solidFill>
            <a:srgbClr val="292A86"/>
          </a:solidFill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49B168A8-B937-4519-802D-8D1D90A0A0EA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10283716" y="719713"/>
            <a:ext cx="127384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04958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7" Type="http://schemas.openxmlformats.org/officeDocument/2006/relationships/image" Target="../media/image1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B3B5C3A-A09A-4259-AF3D-EF5302F61C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566334"/>
            <a:ext cx="9144000" cy="2004930"/>
          </a:xfrm>
        </p:spPr>
        <p:txBody>
          <a:bodyPr/>
          <a:lstStyle/>
          <a:p>
            <a:r>
              <a:rPr lang="pt-BR"/>
              <a:t>Spring Security</a:t>
            </a:r>
            <a:endParaRPr lang="pt-BR" b="1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4FF2C9F-673D-46AD-83CF-B874F96C37E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pt-BR" dirty="0"/>
              <a:t>Prof. Esp. Pedro Miho</a:t>
            </a:r>
          </a:p>
        </p:txBody>
      </p:sp>
    </p:spTree>
    <p:extLst>
      <p:ext uri="{BB962C8B-B14F-4D97-AF65-F5344CB8AC3E}">
        <p14:creationId xmlns:p14="http://schemas.microsoft.com/office/powerpoint/2010/main" val="40469824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2BFBF93-6A28-4A3A-BD49-BD5195EDB4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Objetivo da aula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BF56A5B-102D-41DD-8DEE-5A219D7894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sz="1800" dirty="0"/>
              <a:t>Nesta aula, vamos compreender como o Spring Security pode ser utilizado para proteger uma API REST, entendendo os principais conceitos de segurança e aplicando-os na prática. Ao final, seremos capazes de controlar quem pode acessar a API e quais recursos cada usuário pode utilizar.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dirty="0"/>
              <a:t>Compreender o funcionamento do Spring Security;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dirty="0"/>
              <a:t>Diferenciar autenticação e autorização;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dirty="0"/>
              <a:t>Configurar a segurança de uma API REST;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dirty="0"/>
              <a:t>Trabalhar com usuários, senhas e roles;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dirty="0"/>
              <a:t>Utilizar </a:t>
            </a:r>
            <a:r>
              <a:rPr lang="pt-BR" dirty="0" err="1"/>
              <a:t>SecurityFilterChain</a:t>
            </a:r>
            <a:r>
              <a:rPr lang="pt-BR" dirty="0"/>
              <a:t>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dirty="0"/>
              <a:t>Proteger </a:t>
            </a:r>
            <a:r>
              <a:rPr lang="pt-BR" dirty="0" err="1"/>
              <a:t>endpoints</a:t>
            </a:r>
            <a:r>
              <a:rPr lang="pt-BR" dirty="0"/>
              <a:t> de acordo com as permissões do usuário;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dirty="0"/>
              <a:t>Compreender os códigos 401 </a:t>
            </a:r>
            <a:r>
              <a:rPr lang="pt-BR" dirty="0" err="1"/>
              <a:t>Unauthorized</a:t>
            </a:r>
            <a:r>
              <a:rPr lang="pt-BR" dirty="0"/>
              <a:t> e 403 </a:t>
            </a:r>
            <a:r>
              <a:rPr lang="pt-BR" dirty="0" err="1"/>
              <a:t>Forbidden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916466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3C34165-6FFA-4177-89F2-387FE75CC1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Spring Security?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FF58F1C-1C0F-41EE-8215-06CF424B2A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1067858"/>
          </a:xfrm>
        </p:spPr>
        <p:txBody>
          <a:bodyPr/>
          <a:lstStyle/>
          <a:p>
            <a:r>
              <a:rPr lang="pt-BR" dirty="0"/>
              <a:t>Spring Security é um framework utilizado para adicionar mecanismos de segurança às aplicações Spring, principalmente autenticação e autorização.</a:t>
            </a:r>
          </a:p>
        </p:txBody>
      </p:sp>
      <p:sp>
        <p:nvSpPr>
          <p:cNvPr id="4" name="Espaço Reservado para Conteúdo 2">
            <a:extLst>
              <a:ext uri="{FF2B5EF4-FFF2-40B4-BE49-F238E27FC236}">
                <a16:creationId xmlns:a16="http://schemas.microsoft.com/office/drawing/2014/main" id="{D17950D7-5C5D-4FAC-84D7-EBD18BA5FA14}"/>
              </a:ext>
            </a:extLst>
          </p:cNvPr>
          <p:cNvSpPr txBox="1">
            <a:spLocks/>
          </p:cNvSpPr>
          <p:nvPr/>
        </p:nvSpPr>
        <p:spPr>
          <a:xfrm>
            <a:off x="592347" y="2912533"/>
            <a:ext cx="11007306" cy="638572"/>
          </a:xfrm>
          <a:prstGeom prst="rect">
            <a:avLst/>
          </a:prstGeom>
        </p:spPr>
        <p:txBody>
          <a:bodyPr/>
          <a:lstStyle>
            <a:lvl1pPr marL="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4572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9144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3716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18288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800" dirty="0"/>
              <a:t>Autenticação </a:t>
            </a:r>
            <a:r>
              <a:rPr lang="pt-BR" sz="1800" dirty="0">
                <a:sym typeface="Wingdings" panose="05000000000000000000" pitchFamily="2" charset="2"/>
              </a:rPr>
              <a:t> Q</a:t>
            </a:r>
            <a:r>
              <a:rPr lang="pt-BR" sz="1800" dirty="0"/>
              <a:t>uem é você </a:t>
            </a:r>
            <a:endParaRPr lang="pt-BR" dirty="0"/>
          </a:p>
        </p:txBody>
      </p:sp>
      <p:sp>
        <p:nvSpPr>
          <p:cNvPr id="8" name="Espaço Reservado para Conteúdo 2">
            <a:extLst>
              <a:ext uri="{FF2B5EF4-FFF2-40B4-BE49-F238E27FC236}">
                <a16:creationId xmlns:a16="http://schemas.microsoft.com/office/drawing/2014/main" id="{8B212206-71E5-412D-8AC1-B984DB5F7187}"/>
              </a:ext>
            </a:extLst>
          </p:cNvPr>
          <p:cNvSpPr txBox="1">
            <a:spLocks/>
          </p:cNvSpPr>
          <p:nvPr/>
        </p:nvSpPr>
        <p:spPr>
          <a:xfrm>
            <a:off x="592347" y="4720853"/>
            <a:ext cx="11007306" cy="638572"/>
          </a:xfrm>
          <a:prstGeom prst="rect">
            <a:avLst/>
          </a:prstGeom>
        </p:spPr>
        <p:txBody>
          <a:bodyPr/>
          <a:lstStyle>
            <a:lvl1pPr marL="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4572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9144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3716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18288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800" dirty="0"/>
              <a:t>Autorização </a:t>
            </a:r>
            <a:r>
              <a:rPr lang="pt-BR" sz="1800" dirty="0">
                <a:sym typeface="Wingdings" panose="05000000000000000000" pitchFamily="2" charset="2"/>
              </a:rPr>
              <a:t> O que você pode fazer</a:t>
            </a:r>
            <a:endParaRPr lang="pt-BR" dirty="0"/>
          </a:p>
        </p:txBody>
      </p:sp>
      <p:grpSp>
        <p:nvGrpSpPr>
          <p:cNvPr id="13" name="Agrupar 12">
            <a:extLst>
              <a:ext uri="{FF2B5EF4-FFF2-40B4-BE49-F238E27FC236}">
                <a16:creationId xmlns:a16="http://schemas.microsoft.com/office/drawing/2014/main" id="{0940C319-2F72-4B66-9B00-C28916C530E9}"/>
              </a:ext>
            </a:extLst>
          </p:cNvPr>
          <p:cNvGrpSpPr/>
          <p:nvPr/>
        </p:nvGrpSpPr>
        <p:grpSpPr>
          <a:xfrm>
            <a:off x="592347" y="3600445"/>
            <a:ext cx="5613720" cy="1071068"/>
            <a:chOff x="592347" y="3429000"/>
            <a:chExt cx="5613720" cy="1071068"/>
          </a:xfrm>
        </p:grpSpPr>
        <p:sp>
          <p:nvSpPr>
            <p:cNvPr id="6" name="Shape 20">
              <a:extLst>
                <a:ext uri="{FF2B5EF4-FFF2-40B4-BE49-F238E27FC236}">
                  <a16:creationId xmlns:a16="http://schemas.microsoft.com/office/drawing/2014/main" id="{8298A4F9-0492-42CB-90EE-9A81D69D474F}"/>
                </a:ext>
              </a:extLst>
            </p:cNvPr>
            <p:cNvSpPr/>
            <p:nvPr/>
          </p:nvSpPr>
          <p:spPr>
            <a:xfrm>
              <a:off x="592347" y="3429000"/>
              <a:ext cx="5613720" cy="1071068"/>
            </a:xfrm>
            <a:prstGeom prst="roundRect">
              <a:avLst>
                <a:gd name="adj" fmla="val 8081"/>
              </a:avLst>
            </a:prstGeom>
            <a:solidFill>
              <a:srgbClr val="F2F2F2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 21">
              <a:extLst>
                <a:ext uri="{FF2B5EF4-FFF2-40B4-BE49-F238E27FC236}">
                  <a16:creationId xmlns:a16="http://schemas.microsoft.com/office/drawing/2014/main" id="{6B23CDD4-A566-45FE-9416-07DD5666FDF2}"/>
                </a:ext>
              </a:extLst>
            </p:cNvPr>
            <p:cNvSpPr/>
            <p:nvPr/>
          </p:nvSpPr>
          <p:spPr>
            <a:xfrm>
              <a:off x="748861" y="3739090"/>
              <a:ext cx="1714940" cy="4508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Autofit/>
            </a:bodyPr>
            <a:lstStyle/>
            <a:p>
              <a:r>
                <a:rPr lang="pt-BR" sz="1600" kern="0" spc="-19" dirty="0">
                  <a:solidFill>
                    <a:srgbClr val="D73A49"/>
                  </a:solidFill>
                  <a:latin typeface="Consolas" pitchFamily="34" charset="0"/>
                </a:rPr>
                <a:t>Usuário: </a:t>
              </a:r>
              <a:r>
                <a:rPr lang="pt-BR" sz="1600" kern="0" spc="-19" dirty="0" err="1">
                  <a:solidFill>
                    <a:srgbClr val="D73A49"/>
                  </a:solidFill>
                  <a:latin typeface="Consolas" pitchFamily="34" charset="0"/>
                </a:rPr>
                <a:t>pedro</a:t>
              </a:r>
              <a:r>
                <a:rPr lang="pt-BR" sz="1600" kern="0" spc="-19" dirty="0">
                  <a:solidFill>
                    <a:srgbClr val="D73A49"/>
                  </a:solidFill>
                  <a:latin typeface="Consolas" pitchFamily="34" charset="0"/>
                </a:rPr>
                <a:t> </a:t>
              </a:r>
            </a:p>
            <a:p>
              <a:r>
                <a:rPr lang="pt-BR" sz="1600" kern="0" spc="-19" dirty="0">
                  <a:solidFill>
                    <a:srgbClr val="D73A49"/>
                  </a:solidFill>
                  <a:latin typeface="Consolas" pitchFamily="34" charset="0"/>
                </a:rPr>
                <a:t>Senha: ********</a:t>
              </a:r>
              <a:endParaRPr lang="en-US" sz="1600" kern="0" spc="-19" dirty="0">
                <a:solidFill>
                  <a:srgbClr val="D73A49"/>
                </a:solidFill>
                <a:latin typeface="Consolas" pitchFamily="34" charset="0"/>
              </a:endParaRPr>
            </a:p>
          </p:txBody>
        </p:sp>
        <p:sp>
          <p:nvSpPr>
            <p:cNvPr id="12" name="Retângulo 11">
              <a:extLst>
                <a:ext uri="{FF2B5EF4-FFF2-40B4-BE49-F238E27FC236}">
                  <a16:creationId xmlns:a16="http://schemas.microsoft.com/office/drawing/2014/main" id="{BDB712C6-48AC-4E66-A15B-5085D3AC5665}"/>
                </a:ext>
              </a:extLst>
            </p:cNvPr>
            <p:cNvSpPr/>
            <p:nvPr/>
          </p:nvSpPr>
          <p:spPr>
            <a:xfrm>
              <a:off x="2693436" y="3795257"/>
              <a:ext cx="3282996" cy="33855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pt-BR" sz="1600" kern="0" spc="-19" dirty="0">
                  <a:solidFill>
                    <a:srgbClr val="D73A49"/>
                  </a:solidFill>
                  <a:latin typeface="Consolas" pitchFamily="34" charset="0"/>
                  <a:sym typeface="Wingdings" panose="05000000000000000000" pitchFamily="2" charset="2"/>
                </a:rPr>
                <a:t></a:t>
              </a:r>
              <a:r>
                <a:rPr lang="pt-BR" sz="1600" kern="0" spc="-19" dirty="0">
                  <a:solidFill>
                    <a:srgbClr val="D73A49"/>
                  </a:solidFill>
                  <a:latin typeface="Consolas" pitchFamily="34" charset="0"/>
                </a:rPr>
                <a:t> Identidade confirmada</a:t>
              </a:r>
            </a:p>
          </p:txBody>
        </p:sp>
      </p:grpSp>
      <p:grpSp>
        <p:nvGrpSpPr>
          <p:cNvPr id="19" name="Agrupar 18">
            <a:extLst>
              <a:ext uri="{FF2B5EF4-FFF2-40B4-BE49-F238E27FC236}">
                <a16:creationId xmlns:a16="http://schemas.microsoft.com/office/drawing/2014/main" id="{74B18387-E7AB-45AC-98D3-FDD421897319}"/>
              </a:ext>
            </a:extLst>
          </p:cNvPr>
          <p:cNvGrpSpPr/>
          <p:nvPr/>
        </p:nvGrpSpPr>
        <p:grpSpPr>
          <a:xfrm>
            <a:off x="592347" y="5408765"/>
            <a:ext cx="11007306" cy="1071068"/>
            <a:chOff x="592347" y="3429000"/>
            <a:chExt cx="5613720" cy="1071068"/>
          </a:xfrm>
        </p:grpSpPr>
        <p:sp>
          <p:nvSpPr>
            <p:cNvPr id="20" name="Shape 20">
              <a:extLst>
                <a:ext uri="{FF2B5EF4-FFF2-40B4-BE49-F238E27FC236}">
                  <a16:creationId xmlns:a16="http://schemas.microsoft.com/office/drawing/2014/main" id="{913CB7A8-851E-4204-89F3-DBEA870BA272}"/>
                </a:ext>
              </a:extLst>
            </p:cNvPr>
            <p:cNvSpPr/>
            <p:nvPr/>
          </p:nvSpPr>
          <p:spPr>
            <a:xfrm>
              <a:off x="592347" y="3429000"/>
              <a:ext cx="5613720" cy="1071068"/>
            </a:xfrm>
            <a:prstGeom prst="roundRect">
              <a:avLst>
                <a:gd name="adj" fmla="val 8081"/>
              </a:avLst>
            </a:prstGeom>
            <a:solidFill>
              <a:srgbClr val="F2F2F2"/>
            </a:solidFill>
            <a:ln/>
          </p:spPr>
          <p:txBody>
            <a:bodyPr/>
            <a:lstStyle/>
            <a:p>
              <a:endParaRPr lang="pt-BR" dirty="0"/>
            </a:p>
          </p:txBody>
        </p:sp>
        <p:sp>
          <p:nvSpPr>
            <p:cNvPr id="21" name="Text 21">
              <a:extLst>
                <a:ext uri="{FF2B5EF4-FFF2-40B4-BE49-F238E27FC236}">
                  <a16:creationId xmlns:a16="http://schemas.microsoft.com/office/drawing/2014/main" id="{40F174B2-622B-4F7E-876A-FB20735F911C}"/>
                </a:ext>
              </a:extLst>
            </p:cNvPr>
            <p:cNvSpPr/>
            <p:nvPr/>
          </p:nvSpPr>
          <p:spPr>
            <a:xfrm>
              <a:off x="681997" y="3833795"/>
              <a:ext cx="5434420" cy="26147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Autofit/>
            </a:bodyPr>
            <a:lstStyle/>
            <a:p>
              <a:r>
                <a:rPr lang="pt-BR" sz="1600" kern="0" spc="-19" dirty="0">
                  <a:solidFill>
                    <a:srgbClr val="D73A49"/>
                  </a:solidFill>
                  <a:latin typeface="Consolas" pitchFamily="34" charset="0"/>
                </a:rPr>
                <a:t>Pedro → autenticado </a:t>
              </a:r>
              <a:r>
                <a:rPr lang="pt-BR" sz="1600" kern="0" spc="-19" dirty="0">
                  <a:solidFill>
                    <a:srgbClr val="D73A49"/>
                  </a:solidFill>
                  <a:latin typeface="Consolas" pitchFamily="34" charset="0"/>
                  <a:sym typeface="Wingdings" panose="05000000000000000000" pitchFamily="2" charset="2"/>
                </a:rPr>
                <a:t> Pode consultar dentista  Pode cadastrar Dentista  Pode excluir dentista</a:t>
              </a:r>
              <a:endParaRPr lang="en-US" sz="1600" kern="0" spc="-19" dirty="0">
                <a:solidFill>
                  <a:srgbClr val="D73A49"/>
                </a:solidFill>
                <a:latin typeface="Consolas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684205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6FCA8FF-B2E7-462C-9F1E-255534D825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/>
              <a:t>Stateful</a:t>
            </a:r>
            <a:r>
              <a:rPr lang="pt-BR" dirty="0"/>
              <a:t> – Aplicação Web Tradicional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876B5ED-A7F3-42E2-A19E-46D5E7D97F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1330325"/>
          </a:xfrm>
        </p:spPr>
        <p:txBody>
          <a:bodyPr/>
          <a:lstStyle/>
          <a:p>
            <a:r>
              <a:rPr lang="pt-BR" sz="1800" dirty="0"/>
              <a:t>Em uma arquitetura </a:t>
            </a:r>
            <a:r>
              <a:rPr lang="pt-BR" sz="1800" b="1" dirty="0" err="1"/>
              <a:t>Stateful</a:t>
            </a:r>
            <a:r>
              <a:rPr lang="pt-BR" sz="1800" b="1" dirty="0"/>
              <a:t> (com estado)</a:t>
            </a:r>
            <a:r>
              <a:rPr lang="pt-BR" sz="1800" dirty="0"/>
              <a:t>, o servidor </a:t>
            </a:r>
            <a:r>
              <a:rPr lang="pt-BR" sz="1800" b="1" dirty="0"/>
              <a:t>mantém informações sobre o estado do cliente</a:t>
            </a:r>
            <a:r>
              <a:rPr lang="pt-BR" sz="1800" dirty="0"/>
              <a:t> entre as requisições. Dessa forma, as próximas requisições podem utilizar informações armazenadas anteriormente, como uma sessão de usuário, permitindo que o servidor "lembre" do cliente.</a:t>
            </a:r>
          </a:p>
        </p:txBody>
      </p:sp>
      <p:pic>
        <p:nvPicPr>
          <p:cNvPr id="5" name="Gráfico 4" descr="Monitor">
            <a:extLst>
              <a:ext uri="{FF2B5EF4-FFF2-40B4-BE49-F238E27FC236}">
                <a16:creationId xmlns:a16="http://schemas.microsoft.com/office/drawing/2014/main" id="{69A35561-CC14-45D3-8A98-DEDF24F7CB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090335" y="4234751"/>
            <a:ext cx="1515533" cy="1515533"/>
          </a:xfrm>
          <a:prstGeom prst="rect">
            <a:avLst/>
          </a:prstGeom>
        </p:spPr>
      </p:pic>
      <p:pic>
        <p:nvPicPr>
          <p:cNvPr id="7" name="Gráfico 6" descr="Servidor">
            <a:extLst>
              <a:ext uri="{FF2B5EF4-FFF2-40B4-BE49-F238E27FC236}">
                <a16:creationId xmlns:a16="http://schemas.microsoft.com/office/drawing/2014/main" id="{A55CC910-AA01-4263-9BCC-707DBE0256E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57534" y="4205117"/>
            <a:ext cx="1574800" cy="1574800"/>
          </a:xfrm>
          <a:prstGeom prst="rect">
            <a:avLst/>
          </a:prstGeom>
        </p:spPr>
      </p:pic>
      <p:grpSp>
        <p:nvGrpSpPr>
          <p:cNvPr id="18" name="Agrupar 17">
            <a:extLst>
              <a:ext uri="{FF2B5EF4-FFF2-40B4-BE49-F238E27FC236}">
                <a16:creationId xmlns:a16="http://schemas.microsoft.com/office/drawing/2014/main" id="{444BD14D-0455-4769-AEA5-5537FF4972A9}"/>
              </a:ext>
            </a:extLst>
          </p:cNvPr>
          <p:cNvGrpSpPr/>
          <p:nvPr/>
        </p:nvGrpSpPr>
        <p:grpSpPr>
          <a:xfrm>
            <a:off x="1329267" y="4174968"/>
            <a:ext cx="1363134" cy="1635098"/>
            <a:chOff x="1481667" y="4270218"/>
            <a:chExt cx="1363134" cy="1635098"/>
          </a:xfrm>
        </p:grpSpPr>
        <p:sp>
          <p:nvSpPr>
            <p:cNvPr id="8" name="Retângulo: Cantos Arredondados 7">
              <a:extLst>
                <a:ext uri="{FF2B5EF4-FFF2-40B4-BE49-F238E27FC236}">
                  <a16:creationId xmlns:a16="http://schemas.microsoft.com/office/drawing/2014/main" id="{B23AC287-6745-46CE-A09A-DBC4BA456E49}"/>
                </a:ext>
              </a:extLst>
            </p:cNvPr>
            <p:cNvSpPr/>
            <p:nvPr/>
          </p:nvSpPr>
          <p:spPr>
            <a:xfrm>
              <a:off x="1481667" y="4706939"/>
              <a:ext cx="1363134" cy="347134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PedroMiho</a:t>
              </a:r>
              <a:endParaRPr lang="pt-BR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id="{C45BB8BB-C0B0-4E04-A613-5FE1D838561A}"/>
                </a:ext>
              </a:extLst>
            </p:cNvPr>
            <p:cNvSpPr txBox="1"/>
            <p:nvPr/>
          </p:nvSpPr>
          <p:spPr>
            <a:xfrm>
              <a:off x="1481667" y="4270218"/>
              <a:ext cx="73609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Login</a:t>
              </a:r>
            </a:p>
          </p:txBody>
        </p:sp>
        <p:sp>
          <p:nvSpPr>
            <p:cNvPr id="10" name="Retângulo: Cantos Arredondados 9">
              <a:extLst>
                <a:ext uri="{FF2B5EF4-FFF2-40B4-BE49-F238E27FC236}">
                  <a16:creationId xmlns:a16="http://schemas.microsoft.com/office/drawing/2014/main" id="{1B5FBF88-F39B-43D2-8E07-D4B80EB5C841}"/>
                </a:ext>
              </a:extLst>
            </p:cNvPr>
            <p:cNvSpPr/>
            <p:nvPr/>
          </p:nvSpPr>
          <p:spPr>
            <a:xfrm>
              <a:off x="1481667" y="5558182"/>
              <a:ext cx="1363134" cy="347134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admin1234</a:t>
              </a:r>
            </a:p>
          </p:txBody>
        </p: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2412B5B5-1102-40B7-8811-8ADBFFC0C04E}"/>
                </a:ext>
              </a:extLst>
            </p:cNvPr>
            <p:cNvSpPr txBox="1"/>
            <p:nvPr/>
          </p:nvSpPr>
          <p:spPr>
            <a:xfrm>
              <a:off x="1481667" y="5121462"/>
              <a:ext cx="7489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Senha</a:t>
              </a:r>
            </a:p>
          </p:txBody>
        </p:sp>
      </p:grpSp>
      <p:cxnSp>
        <p:nvCxnSpPr>
          <p:cNvPr id="13" name="Conector de Seta Reta 12">
            <a:extLst>
              <a:ext uri="{FF2B5EF4-FFF2-40B4-BE49-F238E27FC236}">
                <a16:creationId xmlns:a16="http://schemas.microsoft.com/office/drawing/2014/main" id="{B6E79902-D094-4241-984C-5590DF4F1786}"/>
              </a:ext>
            </a:extLst>
          </p:cNvPr>
          <p:cNvCxnSpPr/>
          <p:nvPr/>
        </p:nvCxnSpPr>
        <p:spPr>
          <a:xfrm>
            <a:off x="4749800" y="4759592"/>
            <a:ext cx="2540000" cy="0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ector de Seta Reta 16">
            <a:extLst>
              <a:ext uri="{FF2B5EF4-FFF2-40B4-BE49-F238E27FC236}">
                <a16:creationId xmlns:a16="http://schemas.microsoft.com/office/drawing/2014/main" id="{95C290FA-BD6D-4786-A1CF-48371576069D}"/>
              </a:ext>
            </a:extLst>
          </p:cNvPr>
          <p:cNvCxnSpPr/>
          <p:nvPr/>
        </p:nvCxnSpPr>
        <p:spPr>
          <a:xfrm flipH="1">
            <a:off x="4715934" y="5259033"/>
            <a:ext cx="2565400" cy="0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6" name="Gráfico 25" descr="Marca de seleção">
            <a:extLst>
              <a:ext uri="{FF2B5EF4-FFF2-40B4-BE49-F238E27FC236}">
                <a16:creationId xmlns:a16="http://schemas.microsoft.com/office/drawing/2014/main" id="{6E06301E-DF90-4AA3-83C5-B015B58B66E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87734" y="3320351"/>
            <a:ext cx="914400" cy="914400"/>
          </a:xfrm>
          <a:prstGeom prst="rect">
            <a:avLst/>
          </a:prstGeom>
        </p:spPr>
      </p:pic>
      <p:sp>
        <p:nvSpPr>
          <p:cNvPr id="28" name="CaixaDeTexto 27">
            <a:extLst>
              <a:ext uri="{FF2B5EF4-FFF2-40B4-BE49-F238E27FC236}">
                <a16:creationId xmlns:a16="http://schemas.microsoft.com/office/drawing/2014/main" id="{0901316F-C4B1-4341-8DF2-D382136D579A}"/>
              </a:ext>
            </a:extLst>
          </p:cNvPr>
          <p:cNvSpPr txBox="1"/>
          <p:nvPr/>
        </p:nvSpPr>
        <p:spPr>
          <a:xfrm>
            <a:off x="8932334" y="3466453"/>
            <a:ext cx="210056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Cria um espaço na memória identificando sua sessão</a:t>
            </a:r>
          </a:p>
        </p:txBody>
      </p:sp>
      <p:sp>
        <p:nvSpPr>
          <p:cNvPr id="30" name="Retângulo: Cantos Arredondados 29">
            <a:extLst>
              <a:ext uri="{FF2B5EF4-FFF2-40B4-BE49-F238E27FC236}">
                <a16:creationId xmlns:a16="http://schemas.microsoft.com/office/drawing/2014/main" id="{C3C98F00-9C4B-4BAE-A1AC-377349B8164F}"/>
              </a:ext>
            </a:extLst>
          </p:cNvPr>
          <p:cNvSpPr/>
          <p:nvPr/>
        </p:nvSpPr>
        <p:spPr>
          <a:xfrm>
            <a:off x="5300134" y="5850786"/>
            <a:ext cx="1363134" cy="347134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1234</a:t>
            </a:r>
          </a:p>
        </p:txBody>
      </p:sp>
      <p:sp>
        <p:nvSpPr>
          <p:cNvPr id="31" name="CaixaDeTexto 30">
            <a:extLst>
              <a:ext uri="{FF2B5EF4-FFF2-40B4-BE49-F238E27FC236}">
                <a16:creationId xmlns:a16="http://schemas.microsoft.com/office/drawing/2014/main" id="{00C8D1CC-00E1-4C21-BED8-EC2F3311B5A4}"/>
              </a:ext>
            </a:extLst>
          </p:cNvPr>
          <p:cNvSpPr txBox="1"/>
          <p:nvPr/>
        </p:nvSpPr>
        <p:spPr>
          <a:xfrm>
            <a:off x="5300134" y="5414065"/>
            <a:ext cx="8130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Sessão</a:t>
            </a:r>
          </a:p>
        </p:txBody>
      </p:sp>
    </p:spTree>
    <p:extLst>
      <p:ext uri="{BB962C8B-B14F-4D97-AF65-F5344CB8AC3E}">
        <p14:creationId xmlns:p14="http://schemas.microsoft.com/office/powerpoint/2010/main" val="16212143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6FCA8FF-B2E7-462C-9F1E-255534D825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/>
              <a:t>Stateful</a:t>
            </a:r>
            <a:r>
              <a:rPr lang="pt-BR" dirty="0"/>
              <a:t> – API </a:t>
            </a:r>
            <a:r>
              <a:rPr lang="pt-BR" dirty="0" err="1"/>
              <a:t>RestFul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876B5ED-A7F3-42E2-A19E-46D5E7D97F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1330325"/>
          </a:xfrm>
        </p:spPr>
        <p:txBody>
          <a:bodyPr/>
          <a:lstStyle/>
          <a:p>
            <a:r>
              <a:rPr lang="pt-BR" sz="1800" dirty="0"/>
              <a:t>Em uma arquitetura </a:t>
            </a:r>
            <a:r>
              <a:rPr lang="pt-BR" sz="1800" b="1" dirty="0" err="1"/>
              <a:t>Stateless</a:t>
            </a:r>
            <a:r>
              <a:rPr lang="pt-BR" sz="1800" b="1" dirty="0"/>
              <a:t> (sem estado)</a:t>
            </a:r>
            <a:r>
              <a:rPr lang="pt-BR" sz="1800" dirty="0"/>
              <a:t>, o servidor </a:t>
            </a:r>
            <a:r>
              <a:rPr lang="pt-BR" sz="1800" b="1" dirty="0"/>
              <a:t>não armazena informações sobre o estado do cliente entre as requisições</a:t>
            </a:r>
            <a:r>
              <a:rPr lang="pt-BR" sz="1800" dirty="0"/>
              <a:t>. Cada requisição deve conter todas as informações necessárias para ser processada, tornando a aplicação mais simples de escalar e distribuir entre diferentes servidores.</a:t>
            </a:r>
          </a:p>
        </p:txBody>
      </p:sp>
      <p:pic>
        <p:nvPicPr>
          <p:cNvPr id="5" name="Gráfico 4" descr="Monitor">
            <a:extLst>
              <a:ext uri="{FF2B5EF4-FFF2-40B4-BE49-F238E27FC236}">
                <a16:creationId xmlns:a16="http://schemas.microsoft.com/office/drawing/2014/main" id="{69A35561-CC14-45D3-8A98-DEDF24F7CB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090335" y="4234751"/>
            <a:ext cx="1515533" cy="1515533"/>
          </a:xfrm>
          <a:prstGeom prst="rect">
            <a:avLst/>
          </a:prstGeom>
        </p:spPr>
      </p:pic>
      <p:pic>
        <p:nvPicPr>
          <p:cNvPr id="7" name="Gráfico 6" descr="Servidor">
            <a:extLst>
              <a:ext uri="{FF2B5EF4-FFF2-40B4-BE49-F238E27FC236}">
                <a16:creationId xmlns:a16="http://schemas.microsoft.com/office/drawing/2014/main" id="{A55CC910-AA01-4263-9BCC-707DBE0256E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57534" y="4205117"/>
            <a:ext cx="1574800" cy="1574800"/>
          </a:xfrm>
          <a:prstGeom prst="rect">
            <a:avLst/>
          </a:prstGeom>
        </p:spPr>
      </p:pic>
      <p:grpSp>
        <p:nvGrpSpPr>
          <p:cNvPr id="18" name="Agrupar 17">
            <a:extLst>
              <a:ext uri="{FF2B5EF4-FFF2-40B4-BE49-F238E27FC236}">
                <a16:creationId xmlns:a16="http://schemas.microsoft.com/office/drawing/2014/main" id="{444BD14D-0455-4769-AEA5-5537FF4972A9}"/>
              </a:ext>
            </a:extLst>
          </p:cNvPr>
          <p:cNvGrpSpPr/>
          <p:nvPr/>
        </p:nvGrpSpPr>
        <p:grpSpPr>
          <a:xfrm>
            <a:off x="1405470" y="3942043"/>
            <a:ext cx="1363134" cy="1635098"/>
            <a:chOff x="1481667" y="4270218"/>
            <a:chExt cx="1363134" cy="1635098"/>
          </a:xfrm>
        </p:grpSpPr>
        <p:sp>
          <p:nvSpPr>
            <p:cNvPr id="8" name="Retângulo: Cantos Arredondados 7">
              <a:extLst>
                <a:ext uri="{FF2B5EF4-FFF2-40B4-BE49-F238E27FC236}">
                  <a16:creationId xmlns:a16="http://schemas.microsoft.com/office/drawing/2014/main" id="{B23AC287-6745-46CE-A09A-DBC4BA456E49}"/>
                </a:ext>
              </a:extLst>
            </p:cNvPr>
            <p:cNvSpPr/>
            <p:nvPr/>
          </p:nvSpPr>
          <p:spPr>
            <a:xfrm>
              <a:off x="1481667" y="4706939"/>
              <a:ext cx="1363134" cy="347134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PedroMiho</a:t>
              </a:r>
              <a:endParaRPr lang="pt-BR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id="{C45BB8BB-C0B0-4E04-A613-5FE1D838561A}"/>
                </a:ext>
              </a:extLst>
            </p:cNvPr>
            <p:cNvSpPr txBox="1"/>
            <p:nvPr/>
          </p:nvSpPr>
          <p:spPr>
            <a:xfrm>
              <a:off x="1481667" y="4270218"/>
              <a:ext cx="73609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Login</a:t>
              </a:r>
            </a:p>
          </p:txBody>
        </p:sp>
        <p:sp>
          <p:nvSpPr>
            <p:cNvPr id="10" name="Retângulo: Cantos Arredondados 9">
              <a:extLst>
                <a:ext uri="{FF2B5EF4-FFF2-40B4-BE49-F238E27FC236}">
                  <a16:creationId xmlns:a16="http://schemas.microsoft.com/office/drawing/2014/main" id="{1B5FBF88-F39B-43D2-8E07-D4B80EB5C841}"/>
                </a:ext>
              </a:extLst>
            </p:cNvPr>
            <p:cNvSpPr/>
            <p:nvPr/>
          </p:nvSpPr>
          <p:spPr>
            <a:xfrm>
              <a:off x="1481667" y="5558182"/>
              <a:ext cx="1363134" cy="347134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admin1234</a:t>
              </a:r>
            </a:p>
          </p:txBody>
        </p: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2412B5B5-1102-40B7-8811-8ADBFFC0C04E}"/>
                </a:ext>
              </a:extLst>
            </p:cNvPr>
            <p:cNvSpPr txBox="1"/>
            <p:nvPr/>
          </p:nvSpPr>
          <p:spPr>
            <a:xfrm>
              <a:off x="1481667" y="5121462"/>
              <a:ext cx="7489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Senha</a:t>
              </a:r>
            </a:p>
          </p:txBody>
        </p:sp>
      </p:grpSp>
      <p:cxnSp>
        <p:nvCxnSpPr>
          <p:cNvPr id="13" name="Conector de Seta Reta 12">
            <a:extLst>
              <a:ext uri="{FF2B5EF4-FFF2-40B4-BE49-F238E27FC236}">
                <a16:creationId xmlns:a16="http://schemas.microsoft.com/office/drawing/2014/main" id="{B6E79902-D094-4241-984C-5590DF4F1786}"/>
              </a:ext>
            </a:extLst>
          </p:cNvPr>
          <p:cNvCxnSpPr/>
          <p:nvPr/>
        </p:nvCxnSpPr>
        <p:spPr>
          <a:xfrm>
            <a:off x="4749800" y="4759592"/>
            <a:ext cx="2540000" cy="0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ector de Seta Reta 16">
            <a:extLst>
              <a:ext uri="{FF2B5EF4-FFF2-40B4-BE49-F238E27FC236}">
                <a16:creationId xmlns:a16="http://schemas.microsoft.com/office/drawing/2014/main" id="{95C290FA-BD6D-4786-A1CF-48371576069D}"/>
              </a:ext>
            </a:extLst>
          </p:cNvPr>
          <p:cNvCxnSpPr/>
          <p:nvPr/>
        </p:nvCxnSpPr>
        <p:spPr>
          <a:xfrm flipH="1">
            <a:off x="4715934" y="5259033"/>
            <a:ext cx="2565400" cy="0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6" name="Gráfico 25" descr="Marca de seleção">
            <a:extLst>
              <a:ext uri="{FF2B5EF4-FFF2-40B4-BE49-F238E27FC236}">
                <a16:creationId xmlns:a16="http://schemas.microsoft.com/office/drawing/2014/main" id="{6E06301E-DF90-4AA3-83C5-B015B58B66E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87734" y="3320351"/>
            <a:ext cx="914400" cy="914400"/>
          </a:xfrm>
          <a:prstGeom prst="rect">
            <a:avLst/>
          </a:prstGeom>
        </p:spPr>
      </p:pic>
      <p:sp>
        <p:nvSpPr>
          <p:cNvPr id="28" name="CaixaDeTexto 27">
            <a:extLst>
              <a:ext uri="{FF2B5EF4-FFF2-40B4-BE49-F238E27FC236}">
                <a16:creationId xmlns:a16="http://schemas.microsoft.com/office/drawing/2014/main" id="{0901316F-C4B1-4341-8DF2-D382136D579A}"/>
              </a:ext>
            </a:extLst>
          </p:cNvPr>
          <p:cNvSpPr txBox="1"/>
          <p:nvPr/>
        </p:nvSpPr>
        <p:spPr>
          <a:xfrm>
            <a:off x="8932334" y="3623552"/>
            <a:ext cx="2667319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Gera um </a:t>
            </a:r>
            <a:r>
              <a:rPr lang="pt-BR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token</a:t>
            </a: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 autenticação e o retorna ao cliente, que deverá utilizá-lo nas próximas requisições, porem não salva esse </a:t>
            </a:r>
            <a:r>
              <a:rPr lang="pt-BR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token</a:t>
            </a: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na memória </a:t>
            </a:r>
          </a:p>
        </p:txBody>
      </p:sp>
      <p:sp>
        <p:nvSpPr>
          <p:cNvPr id="30" name="Retângulo: Cantos Arredondados 29">
            <a:extLst>
              <a:ext uri="{FF2B5EF4-FFF2-40B4-BE49-F238E27FC236}">
                <a16:creationId xmlns:a16="http://schemas.microsoft.com/office/drawing/2014/main" id="{C3C98F00-9C4B-4BAE-A1AC-377349B8164F}"/>
              </a:ext>
            </a:extLst>
          </p:cNvPr>
          <p:cNvSpPr/>
          <p:nvPr/>
        </p:nvSpPr>
        <p:spPr>
          <a:xfrm>
            <a:off x="5300134" y="5850786"/>
            <a:ext cx="1363134" cy="347134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222xs34df</a:t>
            </a:r>
          </a:p>
        </p:txBody>
      </p:sp>
      <p:sp>
        <p:nvSpPr>
          <p:cNvPr id="31" name="CaixaDeTexto 30">
            <a:extLst>
              <a:ext uri="{FF2B5EF4-FFF2-40B4-BE49-F238E27FC236}">
                <a16:creationId xmlns:a16="http://schemas.microsoft.com/office/drawing/2014/main" id="{00C8D1CC-00E1-4C21-BED8-EC2F3311B5A4}"/>
              </a:ext>
            </a:extLst>
          </p:cNvPr>
          <p:cNvSpPr txBox="1"/>
          <p:nvPr/>
        </p:nvSpPr>
        <p:spPr>
          <a:xfrm>
            <a:off x="5300134" y="5414065"/>
            <a:ext cx="7584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Token</a:t>
            </a:r>
          </a:p>
        </p:txBody>
      </p:sp>
    </p:spTree>
    <p:extLst>
      <p:ext uri="{BB962C8B-B14F-4D97-AF65-F5344CB8AC3E}">
        <p14:creationId xmlns:p14="http://schemas.microsoft.com/office/powerpoint/2010/main" val="7984409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6FCA8FF-B2E7-462C-9F1E-255534D825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/>
              <a:t>Stateful</a:t>
            </a:r>
            <a:r>
              <a:rPr lang="pt-BR" dirty="0"/>
              <a:t> – API </a:t>
            </a:r>
            <a:r>
              <a:rPr lang="pt-BR" dirty="0" err="1"/>
              <a:t>RestFul</a:t>
            </a:r>
            <a:endParaRPr lang="pt-BR" dirty="0"/>
          </a:p>
        </p:txBody>
      </p:sp>
      <p:pic>
        <p:nvPicPr>
          <p:cNvPr id="5" name="Gráfico 4" descr="Monitor">
            <a:extLst>
              <a:ext uri="{FF2B5EF4-FFF2-40B4-BE49-F238E27FC236}">
                <a16:creationId xmlns:a16="http://schemas.microsoft.com/office/drawing/2014/main" id="{69A35561-CC14-45D3-8A98-DEDF24F7CB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33135" y="2981684"/>
            <a:ext cx="1515533" cy="1515533"/>
          </a:xfrm>
          <a:prstGeom prst="rect">
            <a:avLst/>
          </a:prstGeom>
        </p:spPr>
      </p:pic>
      <p:pic>
        <p:nvPicPr>
          <p:cNvPr id="7" name="Gráfico 6" descr="Servidor">
            <a:extLst>
              <a:ext uri="{FF2B5EF4-FFF2-40B4-BE49-F238E27FC236}">
                <a16:creationId xmlns:a16="http://schemas.microsoft.com/office/drawing/2014/main" id="{A55CC910-AA01-4263-9BCC-707DBE0256E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900334" y="2952050"/>
            <a:ext cx="1574800" cy="1574800"/>
          </a:xfrm>
          <a:prstGeom prst="rect">
            <a:avLst/>
          </a:prstGeom>
        </p:spPr>
      </p:pic>
      <p:grpSp>
        <p:nvGrpSpPr>
          <p:cNvPr id="18" name="Agrupar 17">
            <a:extLst>
              <a:ext uri="{FF2B5EF4-FFF2-40B4-BE49-F238E27FC236}">
                <a16:creationId xmlns:a16="http://schemas.microsoft.com/office/drawing/2014/main" id="{444BD14D-0455-4769-AEA5-5537FF4972A9}"/>
              </a:ext>
            </a:extLst>
          </p:cNvPr>
          <p:cNvGrpSpPr/>
          <p:nvPr/>
        </p:nvGrpSpPr>
        <p:grpSpPr>
          <a:xfrm>
            <a:off x="948270" y="2688976"/>
            <a:ext cx="1363134" cy="1635098"/>
            <a:chOff x="1481667" y="4270218"/>
            <a:chExt cx="1363134" cy="1635098"/>
          </a:xfrm>
        </p:grpSpPr>
        <p:sp>
          <p:nvSpPr>
            <p:cNvPr id="8" name="Retângulo: Cantos Arredondados 7">
              <a:extLst>
                <a:ext uri="{FF2B5EF4-FFF2-40B4-BE49-F238E27FC236}">
                  <a16:creationId xmlns:a16="http://schemas.microsoft.com/office/drawing/2014/main" id="{B23AC287-6745-46CE-A09A-DBC4BA456E49}"/>
                </a:ext>
              </a:extLst>
            </p:cNvPr>
            <p:cNvSpPr/>
            <p:nvPr/>
          </p:nvSpPr>
          <p:spPr>
            <a:xfrm>
              <a:off x="1481667" y="4706939"/>
              <a:ext cx="1363134" cy="347134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João Paulo</a:t>
              </a:r>
            </a:p>
          </p:txBody>
        </p:sp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id="{C45BB8BB-C0B0-4E04-A613-5FE1D838561A}"/>
                </a:ext>
              </a:extLst>
            </p:cNvPr>
            <p:cNvSpPr txBox="1"/>
            <p:nvPr/>
          </p:nvSpPr>
          <p:spPr>
            <a:xfrm>
              <a:off x="1481667" y="4270218"/>
              <a:ext cx="81304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Nome:</a:t>
              </a:r>
            </a:p>
          </p:txBody>
        </p:sp>
        <p:sp>
          <p:nvSpPr>
            <p:cNvPr id="10" name="Retângulo: Cantos Arredondados 9">
              <a:extLst>
                <a:ext uri="{FF2B5EF4-FFF2-40B4-BE49-F238E27FC236}">
                  <a16:creationId xmlns:a16="http://schemas.microsoft.com/office/drawing/2014/main" id="{1B5FBF88-F39B-43D2-8E07-D4B80EB5C841}"/>
                </a:ext>
              </a:extLst>
            </p:cNvPr>
            <p:cNvSpPr/>
            <p:nvPr/>
          </p:nvSpPr>
          <p:spPr>
            <a:xfrm>
              <a:off x="1481667" y="5558182"/>
              <a:ext cx="1363134" cy="347134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22343</a:t>
              </a:r>
            </a:p>
          </p:txBody>
        </p: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2412B5B5-1102-40B7-8811-8ADBFFC0C04E}"/>
                </a:ext>
              </a:extLst>
            </p:cNvPr>
            <p:cNvSpPr txBox="1"/>
            <p:nvPr/>
          </p:nvSpPr>
          <p:spPr>
            <a:xfrm>
              <a:off x="1481667" y="5121462"/>
              <a:ext cx="72327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CRO:</a:t>
              </a:r>
            </a:p>
          </p:txBody>
        </p:sp>
      </p:grpSp>
      <p:cxnSp>
        <p:nvCxnSpPr>
          <p:cNvPr id="13" name="Conector de Seta Reta 12">
            <a:extLst>
              <a:ext uri="{FF2B5EF4-FFF2-40B4-BE49-F238E27FC236}">
                <a16:creationId xmlns:a16="http://schemas.microsoft.com/office/drawing/2014/main" id="{B6E79902-D094-4241-984C-5590DF4F1786}"/>
              </a:ext>
            </a:extLst>
          </p:cNvPr>
          <p:cNvCxnSpPr/>
          <p:nvPr/>
        </p:nvCxnSpPr>
        <p:spPr>
          <a:xfrm>
            <a:off x="4292600" y="3506525"/>
            <a:ext cx="2540000" cy="0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ector de Seta Reta 16">
            <a:extLst>
              <a:ext uri="{FF2B5EF4-FFF2-40B4-BE49-F238E27FC236}">
                <a16:creationId xmlns:a16="http://schemas.microsoft.com/office/drawing/2014/main" id="{95C290FA-BD6D-4786-A1CF-48371576069D}"/>
              </a:ext>
            </a:extLst>
          </p:cNvPr>
          <p:cNvCxnSpPr/>
          <p:nvPr/>
        </p:nvCxnSpPr>
        <p:spPr>
          <a:xfrm flipH="1">
            <a:off x="4258734" y="4005966"/>
            <a:ext cx="2565400" cy="0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6" name="Gráfico 25" descr="Marca de seleção">
            <a:extLst>
              <a:ext uri="{FF2B5EF4-FFF2-40B4-BE49-F238E27FC236}">
                <a16:creationId xmlns:a16="http://schemas.microsoft.com/office/drawing/2014/main" id="{6E06301E-DF90-4AA3-83C5-B015B58B66E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230534" y="2067284"/>
            <a:ext cx="914400" cy="914400"/>
          </a:xfrm>
          <a:prstGeom prst="rect">
            <a:avLst/>
          </a:prstGeom>
        </p:spPr>
      </p:pic>
      <p:sp>
        <p:nvSpPr>
          <p:cNvPr id="19" name="CaixaDeTexto 18">
            <a:extLst>
              <a:ext uri="{FF2B5EF4-FFF2-40B4-BE49-F238E27FC236}">
                <a16:creationId xmlns:a16="http://schemas.microsoft.com/office/drawing/2014/main" id="{9152A04C-0DA4-4513-A0C4-A2883EDB388A}"/>
              </a:ext>
            </a:extLst>
          </p:cNvPr>
          <p:cNvSpPr txBox="1"/>
          <p:nvPr/>
        </p:nvSpPr>
        <p:spPr>
          <a:xfrm>
            <a:off x="4089400" y="4233151"/>
            <a:ext cx="2667319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Header</a:t>
            </a: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algn="just"/>
            <a:r>
              <a:rPr lang="pt-BR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Authorization</a:t>
            </a: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TOKEN_JWT</a:t>
            </a:r>
          </a:p>
          <a:p>
            <a:pPr algn="just"/>
            <a:endParaRPr lang="pt-BR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pt-BR" sz="1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Body</a:t>
            </a:r>
            <a:r>
              <a:rPr lang="pt-BR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{</a:t>
            </a:r>
          </a:p>
          <a:p>
            <a:pPr algn="just"/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“nome” : “João Paulo”</a:t>
            </a:r>
          </a:p>
          <a:p>
            <a:pPr algn="just"/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“CRO” : “22343”</a:t>
            </a:r>
          </a:p>
        </p:txBody>
      </p:sp>
      <p:sp>
        <p:nvSpPr>
          <p:cNvPr id="12" name="Elipse 11">
            <a:extLst>
              <a:ext uri="{FF2B5EF4-FFF2-40B4-BE49-F238E27FC236}">
                <a16:creationId xmlns:a16="http://schemas.microsoft.com/office/drawing/2014/main" id="{BC577B59-8DA2-41AF-BCDC-3EC3A5481474}"/>
              </a:ext>
            </a:extLst>
          </p:cNvPr>
          <p:cNvSpPr/>
          <p:nvPr/>
        </p:nvSpPr>
        <p:spPr>
          <a:xfrm>
            <a:off x="5063059" y="2040611"/>
            <a:ext cx="720000" cy="720000"/>
          </a:xfrm>
          <a:prstGeom prst="ellipse">
            <a:avLst/>
          </a:prstGeom>
          <a:solidFill>
            <a:srgbClr val="043073"/>
          </a:solidFill>
          <a:ln>
            <a:solidFill>
              <a:srgbClr val="04307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679525E4-49AB-416A-9499-2662AB938E37}"/>
              </a:ext>
            </a:extLst>
          </p:cNvPr>
          <p:cNvSpPr txBox="1"/>
          <p:nvPr/>
        </p:nvSpPr>
        <p:spPr>
          <a:xfrm>
            <a:off x="4797855" y="2833906"/>
            <a:ext cx="12504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HTTP </a:t>
            </a:r>
            <a:r>
              <a:rPr lang="pt-BR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Request</a:t>
            </a:r>
            <a:endParaRPr lang="pt-BR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4" name="Agrupar 13">
            <a:extLst>
              <a:ext uri="{FF2B5EF4-FFF2-40B4-BE49-F238E27FC236}">
                <a16:creationId xmlns:a16="http://schemas.microsoft.com/office/drawing/2014/main" id="{0B47891C-DF14-40E0-9F02-35FAC6B410F0}"/>
              </a:ext>
            </a:extLst>
          </p:cNvPr>
          <p:cNvGrpSpPr/>
          <p:nvPr/>
        </p:nvGrpSpPr>
        <p:grpSpPr>
          <a:xfrm>
            <a:off x="9086798" y="2074415"/>
            <a:ext cx="1585242" cy="1101072"/>
            <a:chOff x="9730737" y="1668078"/>
            <a:chExt cx="1585242" cy="1101072"/>
          </a:xfrm>
        </p:grpSpPr>
        <p:sp>
          <p:nvSpPr>
            <p:cNvPr id="22" name="Elipse 21">
              <a:extLst>
                <a:ext uri="{FF2B5EF4-FFF2-40B4-BE49-F238E27FC236}">
                  <a16:creationId xmlns:a16="http://schemas.microsoft.com/office/drawing/2014/main" id="{9399BF78-5D3B-4ED9-9274-5B729B80C6F5}"/>
                </a:ext>
              </a:extLst>
            </p:cNvPr>
            <p:cNvSpPr/>
            <p:nvPr/>
          </p:nvSpPr>
          <p:spPr>
            <a:xfrm>
              <a:off x="10163358" y="1668078"/>
              <a:ext cx="720000" cy="720000"/>
            </a:xfrm>
            <a:prstGeom prst="ellipse">
              <a:avLst/>
            </a:prstGeom>
            <a:solidFill>
              <a:srgbClr val="043073"/>
            </a:solidFill>
            <a:ln>
              <a:solidFill>
                <a:srgbClr val="0430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</a:p>
          </p:txBody>
        </p:sp>
        <p:sp>
          <p:nvSpPr>
            <p:cNvPr id="23" name="CaixaDeTexto 22">
              <a:extLst>
                <a:ext uri="{FF2B5EF4-FFF2-40B4-BE49-F238E27FC236}">
                  <a16:creationId xmlns:a16="http://schemas.microsoft.com/office/drawing/2014/main" id="{B2D770DE-AAEC-4822-8D35-4E83DF28E674}"/>
                </a:ext>
              </a:extLst>
            </p:cNvPr>
            <p:cNvSpPr txBox="1"/>
            <p:nvPr/>
          </p:nvSpPr>
          <p:spPr>
            <a:xfrm>
              <a:off x="9730737" y="2461373"/>
              <a:ext cx="158524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Validar Token JWT</a:t>
              </a:r>
            </a:p>
          </p:txBody>
        </p:sp>
      </p:grpSp>
      <p:sp>
        <p:nvSpPr>
          <p:cNvPr id="15" name="Fluxograma: Decisão 14">
            <a:extLst>
              <a:ext uri="{FF2B5EF4-FFF2-40B4-BE49-F238E27FC236}">
                <a16:creationId xmlns:a16="http://schemas.microsoft.com/office/drawing/2014/main" id="{7E105F45-C5AF-4B83-8E83-7FF720CF9B39}"/>
              </a:ext>
            </a:extLst>
          </p:cNvPr>
          <p:cNvSpPr/>
          <p:nvPr/>
        </p:nvSpPr>
        <p:spPr>
          <a:xfrm>
            <a:off x="9048701" y="3890187"/>
            <a:ext cx="1661437" cy="586794"/>
          </a:xfrm>
          <a:prstGeom prst="flowChartDecision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pt-BR" sz="11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Token Válido ?</a:t>
            </a:r>
          </a:p>
        </p:txBody>
      </p:sp>
      <p:sp>
        <p:nvSpPr>
          <p:cNvPr id="16" name="Retângulo: Cantos Arredondados 15">
            <a:extLst>
              <a:ext uri="{FF2B5EF4-FFF2-40B4-BE49-F238E27FC236}">
                <a16:creationId xmlns:a16="http://schemas.microsoft.com/office/drawing/2014/main" id="{90525F74-792B-488D-BCEC-FA1D6D585A3D}"/>
              </a:ext>
            </a:extLst>
          </p:cNvPr>
          <p:cNvSpPr/>
          <p:nvPr/>
        </p:nvSpPr>
        <p:spPr>
          <a:xfrm>
            <a:off x="7984066" y="5259758"/>
            <a:ext cx="1464733" cy="358388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pt-BR" sz="11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Bloquear requisição</a:t>
            </a:r>
          </a:p>
        </p:txBody>
      </p:sp>
      <p:cxnSp>
        <p:nvCxnSpPr>
          <p:cNvPr id="24" name="Conector: Angulado 23">
            <a:extLst>
              <a:ext uri="{FF2B5EF4-FFF2-40B4-BE49-F238E27FC236}">
                <a16:creationId xmlns:a16="http://schemas.microsoft.com/office/drawing/2014/main" id="{9158A41F-881C-40F1-A28F-575F9815947C}"/>
              </a:ext>
            </a:extLst>
          </p:cNvPr>
          <p:cNvCxnSpPr>
            <a:cxnSpLocks/>
            <a:stCxn id="15" idx="1"/>
            <a:endCxn id="16" idx="0"/>
          </p:cNvCxnSpPr>
          <p:nvPr/>
        </p:nvCxnSpPr>
        <p:spPr>
          <a:xfrm rot="10800000" flipV="1">
            <a:off x="8716433" y="4183584"/>
            <a:ext cx="332268" cy="1076174"/>
          </a:xfrm>
          <a:prstGeom prst="bentConnector2">
            <a:avLst/>
          </a:prstGeom>
          <a:ln w="127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tângulo: Cantos Arredondados 28">
            <a:extLst>
              <a:ext uri="{FF2B5EF4-FFF2-40B4-BE49-F238E27FC236}">
                <a16:creationId xmlns:a16="http://schemas.microsoft.com/office/drawing/2014/main" id="{8E77D9FE-231B-434E-AB0A-51A3F13BE6B5}"/>
              </a:ext>
            </a:extLst>
          </p:cNvPr>
          <p:cNvSpPr/>
          <p:nvPr/>
        </p:nvSpPr>
        <p:spPr>
          <a:xfrm flipH="1">
            <a:off x="10422467" y="5306297"/>
            <a:ext cx="1343829" cy="311849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pt-BR" sz="11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Liberar Requisição</a:t>
            </a:r>
          </a:p>
        </p:txBody>
      </p:sp>
      <p:cxnSp>
        <p:nvCxnSpPr>
          <p:cNvPr id="27" name="Conector: Angulado 26">
            <a:extLst>
              <a:ext uri="{FF2B5EF4-FFF2-40B4-BE49-F238E27FC236}">
                <a16:creationId xmlns:a16="http://schemas.microsoft.com/office/drawing/2014/main" id="{7E9661AA-327F-46A3-8336-2D44A4A64918}"/>
              </a:ext>
            </a:extLst>
          </p:cNvPr>
          <p:cNvCxnSpPr>
            <a:cxnSpLocks/>
            <a:stCxn id="15" idx="3"/>
            <a:endCxn id="29" idx="0"/>
          </p:cNvCxnSpPr>
          <p:nvPr/>
        </p:nvCxnSpPr>
        <p:spPr>
          <a:xfrm>
            <a:off x="10710138" y="4183584"/>
            <a:ext cx="384243" cy="1122713"/>
          </a:xfrm>
          <a:prstGeom prst="bentConnector2">
            <a:avLst/>
          </a:prstGeom>
          <a:ln w="127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ector de Seta Reta 33">
            <a:extLst>
              <a:ext uri="{FF2B5EF4-FFF2-40B4-BE49-F238E27FC236}">
                <a16:creationId xmlns:a16="http://schemas.microsoft.com/office/drawing/2014/main" id="{D73C5C9F-59E4-4761-BC9A-2FA88FB30F10}"/>
              </a:ext>
            </a:extLst>
          </p:cNvPr>
          <p:cNvCxnSpPr>
            <a:cxnSpLocks/>
            <a:stCxn id="23" idx="2"/>
            <a:endCxn id="15" idx="0"/>
          </p:cNvCxnSpPr>
          <p:nvPr/>
        </p:nvCxnSpPr>
        <p:spPr>
          <a:xfrm>
            <a:off x="9879419" y="3175487"/>
            <a:ext cx="1" cy="714700"/>
          </a:xfrm>
          <a:prstGeom prst="straightConnector1">
            <a:avLst/>
          </a:prstGeom>
          <a:ln w="127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CaixaDeTexto 54">
            <a:extLst>
              <a:ext uri="{FF2B5EF4-FFF2-40B4-BE49-F238E27FC236}">
                <a16:creationId xmlns:a16="http://schemas.microsoft.com/office/drawing/2014/main" id="{DEEFF12B-4E47-43B1-9B6E-001BBA25FDFB}"/>
              </a:ext>
            </a:extLst>
          </p:cNvPr>
          <p:cNvSpPr txBox="1"/>
          <p:nvPr/>
        </p:nvSpPr>
        <p:spPr>
          <a:xfrm>
            <a:off x="8450634" y="3801532"/>
            <a:ext cx="48442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Não</a:t>
            </a:r>
          </a:p>
        </p:txBody>
      </p:sp>
      <p:sp>
        <p:nvSpPr>
          <p:cNvPr id="56" name="CaixaDeTexto 55">
            <a:extLst>
              <a:ext uri="{FF2B5EF4-FFF2-40B4-BE49-F238E27FC236}">
                <a16:creationId xmlns:a16="http://schemas.microsoft.com/office/drawing/2014/main" id="{3A51FCA2-619B-455E-8AAC-FC82B41FB9F6}"/>
              </a:ext>
            </a:extLst>
          </p:cNvPr>
          <p:cNvSpPr txBox="1"/>
          <p:nvPr/>
        </p:nvSpPr>
        <p:spPr>
          <a:xfrm>
            <a:off x="10857778" y="3801533"/>
            <a:ext cx="47320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</a:t>
            </a:r>
          </a:p>
        </p:txBody>
      </p:sp>
      <p:sp>
        <p:nvSpPr>
          <p:cNvPr id="57" name="Elipse 56">
            <a:extLst>
              <a:ext uri="{FF2B5EF4-FFF2-40B4-BE49-F238E27FC236}">
                <a16:creationId xmlns:a16="http://schemas.microsoft.com/office/drawing/2014/main" id="{1B3B5340-BF19-4B44-9199-F811693FE268}"/>
              </a:ext>
            </a:extLst>
          </p:cNvPr>
          <p:cNvSpPr/>
          <p:nvPr/>
        </p:nvSpPr>
        <p:spPr>
          <a:xfrm>
            <a:off x="9655327" y="4565648"/>
            <a:ext cx="448183" cy="443428"/>
          </a:xfrm>
          <a:prstGeom prst="ellipse">
            <a:avLst/>
          </a:prstGeom>
          <a:solidFill>
            <a:srgbClr val="043073"/>
          </a:solidFill>
          <a:ln>
            <a:solidFill>
              <a:srgbClr val="04307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7502399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18E007F-72E5-4666-AB74-CA2282B4B8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Criando uma tabela de login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446F0B7-1871-4E8D-94D3-38D2898E4A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4"/>
            <a:ext cx="11007306" cy="4530725"/>
          </a:xfrm>
        </p:spPr>
        <p:txBody>
          <a:bodyPr/>
          <a:lstStyle/>
          <a:p>
            <a:r>
              <a:rPr lang="pt-BR" dirty="0"/>
              <a:t>É uma boa prática manter os </a:t>
            </a:r>
            <a:r>
              <a:rPr lang="pt-BR" b="1" dirty="0"/>
              <a:t>dados de autenticação separados das informações do usuário</a:t>
            </a:r>
            <a:r>
              <a:rPr lang="pt-BR" dirty="0"/>
              <a:t>, facilitando a segurança, a manutenção e o controle de acesso da aplicação. Dessa forma, informações como </a:t>
            </a:r>
            <a:r>
              <a:rPr lang="pt-BR" b="1" dirty="0"/>
              <a:t>login, senha e perfil de acesso</a:t>
            </a:r>
            <a:r>
              <a:rPr lang="pt-BR" dirty="0"/>
              <a:t> ficam concentradas em uma estrutura específica para autenticação.</a:t>
            </a:r>
          </a:p>
          <a:p>
            <a:endParaRPr lang="pt-BR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dirty="0"/>
              <a:t>🔐 Segurança: informações de autenticação ficam isoladas.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dirty="0"/>
              <a:t>👤 Reutilização: um usuário pode estar associado a diferentes tipos de perfil.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dirty="0"/>
              <a:t>🛠️ Manutenção: alterações no sistema de autenticação não afetam diretamente a entidade Dentista.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dirty="0"/>
              <a:t>🔑 Autorização: a tabela pode armazenar role, como USER ou ADMIN.</a:t>
            </a:r>
          </a:p>
        </p:txBody>
      </p:sp>
    </p:spTree>
    <p:extLst>
      <p:ext uri="{BB962C8B-B14F-4D97-AF65-F5344CB8AC3E}">
        <p14:creationId xmlns:p14="http://schemas.microsoft.com/office/powerpoint/2010/main" val="30193800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F09526F-AC48-4818-BFFB-823D266C9B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Anotação </a:t>
            </a:r>
            <a:r>
              <a:rPr lang="pt-BR" b="1" dirty="0"/>
              <a:t>@Service	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4027F30-729A-426C-9362-DA7541F863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1062427"/>
          </a:xfrm>
        </p:spPr>
        <p:txBody>
          <a:bodyPr/>
          <a:lstStyle/>
          <a:p>
            <a:r>
              <a:rPr lang="pt-BR" dirty="0"/>
              <a:t>A anotação </a:t>
            </a:r>
            <a:r>
              <a:rPr lang="pt-BR" b="1" dirty="0"/>
              <a:t>@Service</a:t>
            </a:r>
            <a:r>
              <a:rPr lang="pt-BR" dirty="0"/>
              <a:t> é usada para indicar ao Spring que uma classe pertence à </a:t>
            </a:r>
            <a:r>
              <a:rPr lang="pt-BR" b="1" dirty="0"/>
              <a:t>camada de serviço da aplicação</a:t>
            </a:r>
            <a:r>
              <a:rPr lang="pt-BR" dirty="0"/>
              <a:t>, normalmente onde ficam as </a:t>
            </a:r>
            <a:r>
              <a:rPr lang="pt-BR" b="1" dirty="0"/>
              <a:t>regras de negócio</a:t>
            </a:r>
            <a:r>
              <a:rPr lang="pt-BR" dirty="0"/>
              <a:t>.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09BEE009-2E98-0957-5528-D7A06FB57B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8144" y="3176529"/>
            <a:ext cx="5175712" cy="3450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78262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A030942-4DEA-4985-BDD9-E31DC11937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Interface </a:t>
            </a:r>
            <a:r>
              <a:rPr lang="pt-BR" b="1" dirty="0" err="1"/>
              <a:t>UserDetailsService</a:t>
            </a:r>
            <a:endParaRPr lang="pt-BR" b="1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E3C6A35-74C2-430D-910F-9D866EC2BE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2270126"/>
          </a:xfrm>
        </p:spPr>
        <p:txBody>
          <a:bodyPr/>
          <a:lstStyle/>
          <a:p>
            <a:r>
              <a:rPr lang="pt-BR" sz="1600" dirty="0"/>
              <a:t>A interface </a:t>
            </a:r>
            <a:r>
              <a:rPr lang="pt-BR" sz="1600" b="1" dirty="0" err="1"/>
              <a:t>UserDetailsService</a:t>
            </a:r>
            <a:r>
              <a:rPr lang="pt-BR" sz="1600" dirty="0"/>
              <a:t> define como o Spring Security deve buscar os dados de um usuário durante a autenticação. Ao implementar essa interface, a classe deve implementar o método </a:t>
            </a:r>
            <a:r>
              <a:rPr lang="pt-BR" sz="1600" dirty="0" err="1"/>
              <a:t>loadUserByUsername</a:t>
            </a:r>
            <a:r>
              <a:rPr lang="pt-BR" sz="1600" dirty="0"/>
              <a:t>(), responsável por: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sz="1400" dirty="0"/>
              <a:t>Receber o login informado pelo usuário.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sz="1400" dirty="0"/>
              <a:t>Buscar o usuário no banco de dados.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sz="1400" dirty="0"/>
              <a:t>Retornar os dados encontrados em um objeto do tipo </a:t>
            </a:r>
            <a:r>
              <a:rPr lang="pt-BR" sz="1400" dirty="0" err="1"/>
              <a:t>UserDetails</a:t>
            </a:r>
            <a:r>
              <a:rPr lang="pt-BR" sz="1400" dirty="0"/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sz="1400" dirty="0"/>
              <a:t>Lançar a exceção </a:t>
            </a:r>
            <a:r>
              <a:rPr lang="pt-BR" sz="1400" dirty="0" err="1"/>
              <a:t>UsernameNotFoundException</a:t>
            </a:r>
            <a:r>
              <a:rPr lang="pt-BR" sz="1400" dirty="0"/>
              <a:t> caso o usuário não seja encontrado.</a:t>
            </a:r>
          </a:p>
        </p:txBody>
      </p:sp>
      <p:grpSp>
        <p:nvGrpSpPr>
          <p:cNvPr id="12" name="Agrupar 11">
            <a:extLst>
              <a:ext uri="{FF2B5EF4-FFF2-40B4-BE49-F238E27FC236}">
                <a16:creationId xmlns:a16="http://schemas.microsoft.com/office/drawing/2014/main" id="{0874A16A-2A57-F2FB-71D7-F1EAF2B0B764}"/>
              </a:ext>
            </a:extLst>
          </p:cNvPr>
          <p:cNvGrpSpPr/>
          <p:nvPr/>
        </p:nvGrpSpPr>
        <p:grpSpPr>
          <a:xfrm>
            <a:off x="2436961" y="4628206"/>
            <a:ext cx="7318077" cy="1873715"/>
            <a:chOff x="1972572" y="3586806"/>
            <a:chExt cx="7318077" cy="1873715"/>
          </a:xfrm>
        </p:grpSpPr>
        <p:sp>
          <p:nvSpPr>
            <p:cNvPr id="7" name="Shape 20">
              <a:extLst>
                <a:ext uri="{FF2B5EF4-FFF2-40B4-BE49-F238E27FC236}">
                  <a16:creationId xmlns:a16="http://schemas.microsoft.com/office/drawing/2014/main" id="{856EE8C4-D7CE-7A82-84C2-059031F4721E}"/>
                </a:ext>
              </a:extLst>
            </p:cNvPr>
            <p:cNvSpPr/>
            <p:nvPr/>
          </p:nvSpPr>
          <p:spPr>
            <a:xfrm>
              <a:off x="1972572" y="3586806"/>
              <a:ext cx="7318077" cy="1873715"/>
            </a:xfrm>
            <a:prstGeom prst="roundRect">
              <a:avLst>
                <a:gd name="adj" fmla="val 8081"/>
              </a:avLst>
            </a:prstGeom>
            <a:solidFill>
              <a:srgbClr val="191A1C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CaixaDeTexto 4">
              <a:extLst>
                <a:ext uri="{FF2B5EF4-FFF2-40B4-BE49-F238E27FC236}">
                  <a16:creationId xmlns:a16="http://schemas.microsoft.com/office/drawing/2014/main" id="{9B7DE505-55E1-03DB-5CB7-3D1F40C92F19}"/>
                </a:ext>
              </a:extLst>
            </p:cNvPr>
            <p:cNvSpPr txBox="1"/>
            <p:nvPr/>
          </p:nvSpPr>
          <p:spPr>
            <a:xfrm>
              <a:off x="2510106" y="3923499"/>
              <a:ext cx="6243008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buNone/>
              </a:pPr>
              <a:r>
                <a:rPr lang="pt-BR" dirty="0">
                  <a:solidFill>
                    <a:srgbClr val="B3AE60"/>
                  </a:solidFill>
                  <a:effectLst/>
                  <a:latin typeface="JetBrains Mono"/>
                </a:rPr>
                <a:t>@Service</a:t>
              </a:r>
              <a:br>
                <a:rPr lang="pt-BR" dirty="0">
                  <a:solidFill>
                    <a:srgbClr val="B3AE60"/>
                  </a:solidFill>
                  <a:effectLst/>
                  <a:latin typeface="JetBrains Mono"/>
                </a:rPr>
              </a:br>
              <a:r>
                <a:rPr lang="pt-BR" dirty="0" err="1">
                  <a:solidFill>
                    <a:srgbClr val="CF8E6D"/>
                  </a:solidFill>
                  <a:effectLst/>
                  <a:latin typeface="JetBrains Mono"/>
                </a:rPr>
                <a:t>public</a:t>
              </a:r>
              <a:r>
                <a:rPr lang="pt-BR" dirty="0">
                  <a:solidFill>
                    <a:srgbClr val="CF8E6D"/>
                  </a:solidFill>
                  <a:effectLst/>
                  <a:latin typeface="JetBrains Mono"/>
                </a:rPr>
                <a:t> </a:t>
              </a:r>
              <a:r>
                <a:rPr lang="pt-BR" dirty="0" err="1">
                  <a:solidFill>
                    <a:srgbClr val="CF8E6D"/>
                  </a:solidFill>
                  <a:effectLst/>
                  <a:latin typeface="JetBrains Mono"/>
                </a:rPr>
                <a:t>class</a:t>
              </a:r>
              <a:r>
                <a:rPr lang="pt-BR" dirty="0">
                  <a:solidFill>
                    <a:srgbClr val="CF8E6D"/>
                  </a:solidFill>
                  <a:effectLst/>
                  <a:latin typeface="JetBrains Mono"/>
                </a:rPr>
                <a:t> </a:t>
              </a:r>
              <a:r>
                <a:rPr lang="pt-BR" dirty="0" err="1">
                  <a:solidFill>
                    <a:srgbClr val="BCBEC4"/>
                  </a:solidFill>
                  <a:effectLst/>
                  <a:latin typeface="JetBrains Mono"/>
                </a:rPr>
                <a:t>AutenticacaoService</a:t>
              </a:r>
              <a:r>
                <a:rPr lang="pt-BR" dirty="0">
                  <a:solidFill>
                    <a:srgbClr val="BCBEC4"/>
                  </a:solidFill>
                  <a:effectLst/>
                  <a:latin typeface="JetBrains Mono"/>
                </a:rPr>
                <a:t> </a:t>
              </a:r>
              <a:r>
                <a:rPr lang="pt-BR" dirty="0" err="1">
                  <a:solidFill>
                    <a:srgbClr val="CF8E6D"/>
                  </a:solidFill>
                  <a:effectLst/>
                  <a:latin typeface="JetBrains Mono"/>
                </a:rPr>
                <a:t>implements</a:t>
              </a:r>
              <a:r>
                <a:rPr lang="pt-BR" dirty="0">
                  <a:solidFill>
                    <a:srgbClr val="CF8E6D"/>
                  </a:solidFill>
                  <a:effectLst/>
                  <a:latin typeface="JetBrains Mono"/>
                </a:rPr>
                <a:t> </a:t>
              </a:r>
              <a:r>
                <a:rPr lang="pt-BR" dirty="0" err="1">
                  <a:solidFill>
                    <a:srgbClr val="BCBEC4"/>
                  </a:solidFill>
                  <a:effectLst/>
                  <a:latin typeface="JetBrains Mono"/>
                </a:rPr>
                <a:t>UserDetailsService</a:t>
              </a:r>
              <a:r>
                <a:rPr lang="pt-BR" dirty="0">
                  <a:solidFill>
                    <a:srgbClr val="BCBEC4"/>
                  </a:solidFill>
                  <a:effectLst/>
                  <a:latin typeface="JetBrains Mono"/>
                </a:rPr>
                <a:t> {</a:t>
              </a:r>
            </a:p>
            <a:p>
              <a:pPr>
                <a:buNone/>
              </a:pPr>
              <a:br>
                <a:rPr lang="pt-BR" dirty="0">
                  <a:solidFill>
                    <a:srgbClr val="BCBEC4"/>
                  </a:solidFill>
                  <a:effectLst/>
                  <a:latin typeface="JetBrains Mono"/>
                </a:rPr>
              </a:br>
              <a:r>
                <a:rPr lang="pt-BR" dirty="0">
                  <a:solidFill>
                    <a:srgbClr val="BCBEC4"/>
                  </a:solidFill>
                  <a:effectLst/>
                  <a:latin typeface="JetBrains Mono"/>
                </a:rPr>
                <a:t>}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90325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9B6B12F-4397-4B70-9BC2-D22B52BA79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Método </a:t>
            </a:r>
            <a:r>
              <a:rPr lang="pt-BR" b="1" dirty="0" err="1"/>
              <a:t>loadUserByUsername</a:t>
            </a:r>
            <a:r>
              <a:rPr lang="pt-BR" b="1" dirty="0"/>
              <a:t>()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072901B-00DF-4D10-8860-70FC53914E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1131438"/>
          </a:xfrm>
        </p:spPr>
        <p:txBody>
          <a:bodyPr/>
          <a:lstStyle/>
          <a:p>
            <a:r>
              <a:rPr lang="pt-BR" dirty="0"/>
              <a:t>O Método </a:t>
            </a:r>
            <a:r>
              <a:rPr lang="pt-BR" dirty="0" err="1"/>
              <a:t>loadUserByUsername</a:t>
            </a:r>
            <a:r>
              <a:rPr lang="pt-BR" dirty="0"/>
              <a:t>() é responsável por </a:t>
            </a:r>
            <a:r>
              <a:rPr lang="pt-BR" b="1" dirty="0"/>
              <a:t>buscar no banco de dados o usuário que está tentando fazer login</a:t>
            </a:r>
            <a:r>
              <a:rPr lang="pt-BR" dirty="0"/>
              <a:t> e entregar essas informações ao Spring Security.</a:t>
            </a:r>
          </a:p>
        </p:txBody>
      </p:sp>
      <p:grpSp>
        <p:nvGrpSpPr>
          <p:cNvPr id="8" name="Agrupar 7">
            <a:extLst>
              <a:ext uri="{FF2B5EF4-FFF2-40B4-BE49-F238E27FC236}">
                <a16:creationId xmlns:a16="http://schemas.microsoft.com/office/drawing/2014/main" id="{94FDF691-948D-FA21-81BC-3D8144F9EDB9}"/>
              </a:ext>
            </a:extLst>
          </p:cNvPr>
          <p:cNvGrpSpPr/>
          <p:nvPr/>
        </p:nvGrpSpPr>
        <p:grpSpPr>
          <a:xfrm>
            <a:off x="736902" y="3647071"/>
            <a:ext cx="10718197" cy="2606760"/>
            <a:chOff x="668670" y="2879640"/>
            <a:chExt cx="10718197" cy="2606760"/>
          </a:xfrm>
        </p:grpSpPr>
        <p:sp>
          <p:nvSpPr>
            <p:cNvPr id="7" name="Shape 20">
              <a:extLst>
                <a:ext uri="{FF2B5EF4-FFF2-40B4-BE49-F238E27FC236}">
                  <a16:creationId xmlns:a16="http://schemas.microsoft.com/office/drawing/2014/main" id="{0B54F185-468C-A63D-A1BD-051BBF3754AC}"/>
                </a:ext>
              </a:extLst>
            </p:cNvPr>
            <p:cNvSpPr/>
            <p:nvPr/>
          </p:nvSpPr>
          <p:spPr>
            <a:xfrm>
              <a:off x="668670" y="2879640"/>
              <a:ext cx="10718197" cy="2606760"/>
            </a:xfrm>
            <a:prstGeom prst="roundRect">
              <a:avLst>
                <a:gd name="adj" fmla="val 8081"/>
              </a:avLst>
            </a:prstGeom>
            <a:solidFill>
              <a:srgbClr val="191A1C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CaixaDeTexto 4">
              <a:extLst>
                <a:ext uri="{FF2B5EF4-FFF2-40B4-BE49-F238E27FC236}">
                  <a16:creationId xmlns:a16="http://schemas.microsoft.com/office/drawing/2014/main" id="{EA1429E2-57D2-D07E-B22D-B00AD3DE2CC5}"/>
                </a:ext>
              </a:extLst>
            </p:cNvPr>
            <p:cNvSpPr txBox="1"/>
            <p:nvPr/>
          </p:nvSpPr>
          <p:spPr>
            <a:xfrm>
              <a:off x="1378849" y="3167358"/>
              <a:ext cx="9297839" cy="203132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buNone/>
              </a:pPr>
              <a:r>
                <a:rPr lang="pt-BR" dirty="0">
                  <a:solidFill>
                    <a:srgbClr val="B3AE60"/>
                  </a:solidFill>
                  <a:effectLst/>
                  <a:latin typeface="JetBrains Mono"/>
                </a:rPr>
                <a:t>@Override</a:t>
              </a:r>
              <a:br>
                <a:rPr lang="pt-BR" dirty="0">
                  <a:solidFill>
                    <a:srgbClr val="B3AE60"/>
                  </a:solidFill>
                  <a:effectLst/>
                  <a:latin typeface="JetBrains Mono"/>
                </a:rPr>
              </a:br>
              <a:r>
                <a:rPr lang="pt-BR" dirty="0" err="1">
                  <a:solidFill>
                    <a:srgbClr val="CF8E6D"/>
                  </a:solidFill>
                  <a:effectLst/>
                  <a:latin typeface="JetBrains Mono"/>
                </a:rPr>
                <a:t>public</a:t>
              </a:r>
              <a:r>
                <a:rPr lang="pt-BR" dirty="0">
                  <a:solidFill>
                    <a:srgbClr val="CF8E6D"/>
                  </a:solidFill>
                  <a:effectLst/>
                  <a:latin typeface="JetBrains Mono"/>
                </a:rPr>
                <a:t> </a:t>
              </a:r>
              <a:r>
                <a:rPr lang="pt-BR" dirty="0" err="1">
                  <a:solidFill>
                    <a:srgbClr val="BCBEC4"/>
                  </a:solidFill>
                  <a:effectLst/>
                  <a:latin typeface="JetBrains Mono"/>
                </a:rPr>
                <a:t>UserDetails</a:t>
              </a:r>
              <a:r>
                <a:rPr lang="pt-BR" dirty="0">
                  <a:solidFill>
                    <a:srgbClr val="BCBEC4"/>
                  </a:solidFill>
                  <a:effectLst/>
                  <a:latin typeface="JetBrains Mono"/>
                </a:rPr>
                <a:t> </a:t>
              </a:r>
              <a:r>
                <a:rPr lang="pt-BR" dirty="0" err="1">
                  <a:solidFill>
                    <a:srgbClr val="56A8F5"/>
                  </a:solidFill>
                  <a:effectLst/>
                  <a:latin typeface="JetBrains Mono"/>
                </a:rPr>
                <a:t>loadUserByUsername</a:t>
              </a:r>
              <a:r>
                <a:rPr lang="pt-BR" dirty="0">
                  <a:solidFill>
                    <a:srgbClr val="BCBEC4"/>
                  </a:solidFill>
                  <a:effectLst/>
                  <a:latin typeface="JetBrains Mono"/>
                </a:rPr>
                <a:t>(</a:t>
              </a:r>
              <a:r>
                <a:rPr lang="pt-BR" dirty="0" err="1">
                  <a:solidFill>
                    <a:srgbClr val="BCBEC4"/>
                  </a:solidFill>
                  <a:effectLst/>
                  <a:latin typeface="JetBrains Mono"/>
                </a:rPr>
                <a:t>String</a:t>
              </a:r>
              <a:r>
                <a:rPr lang="pt-BR" dirty="0">
                  <a:solidFill>
                    <a:srgbClr val="BCBEC4"/>
                  </a:solidFill>
                  <a:effectLst/>
                  <a:latin typeface="JetBrains Mono"/>
                </a:rPr>
                <a:t> </a:t>
              </a:r>
              <a:r>
                <a:rPr lang="pt-BR" dirty="0" err="1">
                  <a:solidFill>
                    <a:srgbClr val="BCBEC4"/>
                  </a:solidFill>
                  <a:effectLst/>
                  <a:latin typeface="JetBrains Mono"/>
                </a:rPr>
                <a:t>username</a:t>
              </a:r>
              <a:r>
                <a:rPr lang="pt-BR" dirty="0">
                  <a:solidFill>
                    <a:srgbClr val="BCBEC4"/>
                  </a:solidFill>
                  <a:effectLst/>
                  <a:latin typeface="JetBrains Mono"/>
                </a:rPr>
                <a:t>) </a:t>
              </a:r>
              <a:r>
                <a:rPr lang="pt-BR" dirty="0" err="1">
                  <a:solidFill>
                    <a:srgbClr val="CF8E6D"/>
                  </a:solidFill>
                  <a:effectLst/>
                  <a:latin typeface="JetBrains Mono"/>
                </a:rPr>
                <a:t>throws</a:t>
              </a:r>
              <a:r>
                <a:rPr lang="pt-BR" dirty="0">
                  <a:solidFill>
                    <a:srgbClr val="CF8E6D"/>
                  </a:solidFill>
                  <a:effectLst/>
                  <a:latin typeface="JetBrains Mono"/>
                </a:rPr>
                <a:t> </a:t>
              </a:r>
              <a:r>
                <a:rPr lang="pt-BR" dirty="0" err="1">
                  <a:solidFill>
                    <a:srgbClr val="BCBEC4"/>
                  </a:solidFill>
                  <a:effectLst/>
                  <a:latin typeface="JetBrains Mono"/>
                </a:rPr>
                <a:t>UsernameNotFoundException</a:t>
              </a:r>
              <a:r>
                <a:rPr lang="pt-BR" dirty="0">
                  <a:solidFill>
                    <a:srgbClr val="BCBEC4"/>
                  </a:solidFill>
                  <a:effectLst/>
                  <a:latin typeface="JetBrains Mono"/>
                </a:rPr>
                <a:t> {</a:t>
              </a:r>
            </a:p>
            <a:p>
              <a:pPr>
                <a:buNone/>
              </a:pPr>
              <a:br>
                <a:rPr lang="pt-BR" dirty="0">
                  <a:solidFill>
                    <a:srgbClr val="BCBEC4"/>
                  </a:solidFill>
                  <a:effectLst/>
                  <a:latin typeface="JetBrains Mono"/>
                </a:rPr>
              </a:br>
              <a:r>
                <a:rPr lang="pt-BR" dirty="0">
                  <a:solidFill>
                    <a:srgbClr val="BCBEC4"/>
                  </a:solidFill>
                  <a:effectLst/>
                  <a:latin typeface="JetBrains Mono"/>
                </a:rPr>
                <a:t>    </a:t>
              </a:r>
              <a:r>
                <a:rPr lang="pt-BR" dirty="0">
                  <a:solidFill>
                    <a:srgbClr val="7A7E85"/>
                  </a:solidFill>
                  <a:effectLst/>
                  <a:latin typeface="JetBrains Mono"/>
                </a:rPr>
                <a:t>//Busca no banco de dados o usuário pelo login</a:t>
              </a:r>
              <a:br>
                <a:rPr lang="pt-BR" dirty="0">
                  <a:solidFill>
                    <a:srgbClr val="7A7E85"/>
                  </a:solidFill>
                  <a:effectLst/>
                  <a:latin typeface="JetBrains Mono"/>
                </a:rPr>
              </a:br>
              <a:r>
                <a:rPr lang="pt-BR" dirty="0">
                  <a:solidFill>
                    <a:srgbClr val="7A7E85"/>
                  </a:solidFill>
                  <a:effectLst/>
                  <a:latin typeface="JetBrains Mono"/>
                </a:rPr>
                <a:t>    </a:t>
              </a:r>
              <a:r>
                <a:rPr lang="pt-BR" dirty="0" err="1">
                  <a:solidFill>
                    <a:srgbClr val="CF8E6D"/>
                  </a:solidFill>
                  <a:effectLst/>
                  <a:latin typeface="JetBrains Mono"/>
                </a:rPr>
                <a:t>return</a:t>
              </a:r>
              <a:r>
                <a:rPr lang="pt-BR" dirty="0">
                  <a:solidFill>
                    <a:srgbClr val="CF8E6D"/>
                  </a:solidFill>
                  <a:effectLst/>
                  <a:latin typeface="JetBrains Mono"/>
                </a:rPr>
                <a:t> </a:t>
              </a:r>
              <a:r>
                <a:rPr lang="pt-BR" dirty="0" err="1">
                  <a:solidFill>
                    <a:srgbClr val="C77DBB"/>
                  </a:solidFill>
                  <a:effectLst/>
                  <a:latin typeface="JetBrains Mono"/>
                </a:rPr>
                <a:t>repository</a:t>
              </a:r>
              <a:r>
                <a:rPr lang="pt-BR" dirty="0" err="1">
                  <a:solidFill>
                    <a:srgbClr val="BCBEC4"/>
                  </a:solidFill>
                  <a:effectLst/>
                  <a:latin typeface="JetBrains Mono"/>
                </a:rPr>
                <a:t>.findByLogin</a:t>
              </a:r>
              <a:r>
                <a:rPr lang="pt-BR" dirty="0">
                  <a:solidFill>
                    <a:srgbClr val="BCBEC4"/>
                  </a:solidFill>
                  <a:effectLst/>
                  <a:latin typeface="JetBrains Mono"/>
                </a:rPr>
                <a:t>(</a:t>
              </a:r>
              <a:r>
                <a:rPr lang="pt-BR" dirty="0" err="1">
                  <a:solidFill>
                    <a:srgbClr val="BCBEC4"/>
                  </a:solidFill>
                  <a:effectLst/>
                  <a:latin typeface="JetBrains Mono"/>
                </a:rPr>
                <a:t>username</a:t>
              </a:r>
              <a:r>
                <a:rPr lang="pt-BR" dirty="0">
                  <a:solidFill>
                    <a:srgbClr val="BCBEC4"/>
                  </a:solidFill>
                  <a:effectLst/>
                  <a:latin typeface="JetBrains Mono"/>
                </a:rPr>
                <a:t>);</a:t>
              </a:r>
              <a:br>
                <a:rPr lang="pt-BR" dirty="0">
                  <a:solidFill>
                    <a:srgbClr val="BCBEC4"/>
                  </a:solidFill>
                  <a:effectLst/>
                  <a:latin typeface="JetBrains Mono"/>
                </a:rPr>
              </a:br>
              <a:endParaRPr lang="pt-BR" dirty="0">
                <a:solidFill>
                  <a:srgbClr val="BCBEC4"/>
                </a:solidFill>
                <a:effectLst/>
                <a:latin typeface="JetBrains Mono"/>
              </a:endParaRPr>
            </a:p>
            <a:p>
              <a:pPr>
                <a:buNone/>
              </a:pPr>
              <a:r>
                <a:rPr lang="pt-BR" dirty="0">
                  <a:solidFill>
                    <a:srgbClr val="BCBEC4"/>
                  </a:solidFill>
                  <a:effectLst/>
                  <a:latin typeface="JetBrains Mono"/>
                </a:rPr>
                <a:t>}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882763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625B4D7-FFEC-4729-8581-F801D08C15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b="1" dirty="0"/>
              <a:t>Autenticação </a:t>
            </a:r>
            <a:r>
              <a:rPr lang="pt-BR" b="1" dirty="0" err="1"/>
              <a:t>Stateless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32CB1AC-4954-4F1E-94D5-06FE8802D7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sz="1600" dirty="0"/>
              <a:t>Por padrão, em aplicações com autenticação por sessão, o servidor mantém o estado de autenticação do usuário entre as requisições (</a:t>
            </a:r>
            <a:r>
              <a:rPr lang="pt-BR" sz="1600" b="1" dirty="0" err="1"/>
              <a:t>Stateful</a:t>
            </a:r>
            <a:r>
              <a:rPr lang="pt-BR" sz="1600" dirty="0"/>
              <a:t>).</a:t>
            </a:r>
          </a:p>
          <a:p>
            <a:endParaRPr lang="pt-BR" sz="1600" dirty="0"/>
          </a:p>
          <a:p>
            <a:r>
              <a:rPr lang="pt-BR" sz="1600" dirty="0"/>
              <a:t>Na nossa API, utilizaremos o modelo </a:t>
            </a:r>
            <a:r>
              <a:rPr lang="pt-BR" sz="1600" b="1" dirty="0" err="1"/>
              <a:t>Stateless</a:t>
            </a:r>
            <a:r>
              <a:rPr lang="pt-BR" sz="1600" dirty="0"/>
              <a:t>, em que cada requisição deve conter as informações necessárias para autenticar o usuário.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sz="1400" dirty="0"/>
              <a:t>O Spring Security não cria nem utiliza uma sessão HTTP para manter a autenticação.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sz="1400" dirty="0"/>
              <a:t>Após o login, o cliente recebe um </a:t>
            </a:r>
            <a:r>
              <a:rPr lang="pt-BR" sz="1400" dirty="0" err="1"/>
              <a:t>token</a:t>
            </a:r>
            <a:r>
              <a:rPr lang="pt-BR" sz="1400" dirty="0"/>
              <a:t> JWT.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sz="1400" dirty="0"/>
              <a:t>O cliente envia esse </a:t>
            </a:r>
            <a:r>
              <a:rPr lang="pt-BR" sz="1400" dirty="0" err="1"/>
              <a:t>token</a:t>
            </a:r>
            <a:r>
              <a:rPr lang="pt-BR" sz="1400" dirty="0"/>
              <a:t> em cada requisição a uma rota protegida.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sz="1400" dirty="0"/>
              <a:t>A API valida o </a:t>
            </a:r>
            <a:r>
              <a:rPr lang="pt-BR" sz="1400" dirty="0" err="1"/>
              <a:t>token</a:t>
            </a:r>
            <a:r>
              <a:rPr lang="pt-BR" sz="1400" dirty="0"/>
              <a:t> antes de permitir o acesso.</a:t>
            </a:r>
          </a:p>
          <a:p>
            <a:pPr lvl="1"/>
            <a:endParaRPr lang="pt-BR" sz="1400" dirty="0"/>
          </a:p>
          <a:p>
            <a:r>
              <a:rPr lang="pt-BR" sz="1600" dirty="0"/>
              <a:t>A configuração STATELESS desabilita o uso da sessão para manter a autenticação. A geração e a validação do JWT serão implementadas separadamente.</a:t>
            </a:r>
          </a:p>
        </p:txBody>
      </p:sp>
    </p:spTree>
    <p:extLst>
      <p:ext uri="{BB962C8B-B14F-4D97-AF65-F5344CB8AC3E}">
        <p14:creationId xmlns:p14="http://schemas.microsoft.com/office/powerpoint/2010/main" val="33115069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E43583B-0B6E-4C2D-B414-9D4FF2DC06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Anotação </a:t>
            </a:r>
            <a:r>
              <a:rPr lang="pt-BR" b="1" dirty="0"/>
              <a:t>@Configuration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DBC6764-C18B-47FD-8EEC-BBCCA3C12D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O </a:t>
            </a:r>
            <a:r>
              <a:rPr lang="pt-BR" b="1" dirty="0"/>
              <a:t>@Configuration</a:t>
            </a:r>
            <a:r>
              <a:rPr lang="pt-BR" dirty="0"/>
              <a:t> serve para informar ao Spring que uma determinada classe contém </a:t>
            </a:r>
            <a:r>
              <a:rPr lang="pt-BR" b="1" dirty="0"/>
              <a:t>configurações da aplicação</a:t>
            </a:r>
            <a:r>
              <a:rPr lang="pt-BR" dirty="0"/>
              <a:t> que devem ser carregadas e gerenciadas pelo framework.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8D5D52A4-E898-46AB-96A9-73A47EACF6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9450" y="2902295"/>
            <a:ext cx="5753100" cy="3835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06204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C236043-A129-D578-8E92-8131F162DB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Anotação </a:t>
            </a:r>
            <a:r>
              <a:rPr lang="pt-BR" b="1" dirty="0"/>
              <a:t>@EnableWebSecurity</a:t>
            </a:r>
            <a:r>
              <a:rPr lang="pt-BR" dirty="0"/>
              <a:t> 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C62FE0-36F3-1EBC-3002-181EB526F3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O </a:t>
            </a:r>
            <a:r>
              <a:rPr lang="pt-BR" b="1" dirty="0"/>
              <a:t>@EnableWebSecurity</a:t>
            </a:r>
            <a:r>
              <a:rPr lang="pt-BR" dirty="0"/>
              <a:t> serve para </a:t>
            </a:r>
            <a:r>
              <a:rPr lang="pt-BR" b="1" dirty="0"/>
              <a:t>habilitar explicitamente o mecanismo de segurança web do Spring Security</a:t>
            </a:r>
            <a:r>
              <a:rPr lang="pt-BR" dirty="0"/>
              <a:t> na aplicação, permitindo que o Spring </a:t>
            </a:r>
            <a:r>
              <a:rPr lang="pt-BR" b="1" dirty="0"/>
              <a:t>Security passe a participar do processamento das requisições HTTP</a:t>
            </a:r>
            <a:r>
              <a:rPr lang="pt-BR" dirty="0"/>
              <a:t>, permitindo controlar:</a:t>
            </a:r>
          </a:p>
          <a:p>
            <a:endParaRPr lang="pt-BR" dirty="0"/>
          </a:p>
          <a:p>
            <a:pPr lvl="1"/>
            <a:r>
              <a:rPr lang="pt-BR" dirty="0"/>
              <a:t>🔐 Autenticação — quem é o usuário? </a:t>
            </a:r>
          </a:p>
          <a:p>
            <a:pPr lvl="1"/>
            <a:r>
              <a:rPr lang="pt-BR" dirty="0"/>
              <a:t>🛡️ Autorização — o usuário pode acessar? </a:t>
            </a:r>
          </a:p>
          <a:p>
            <a:pPr lvl="1"/>
            <a:r>
              <a:rPr lang="pt-BR" dirty="0"/>
              <a:t>👤 Usuários e permissões </a:t>
            </a:r>
          </a:p>
          <a:p>
            <a:pPr lvl="1"/>
            <a:r>
              <a:rPr lang="pt-BR" dirty="0"/>
              <a:t>🔑 Login e senhas </a:t>
            </a:r>
          </a:p>
          <a:p>
            <a:pPr lvl="1"/>
            <a:r>
              <a:rPr lang="pt-BR" dirty="0"/>
              <a:t>🚧 Proteção de </a:t>
            </a:r>
            <a:r>
              <a:rPr lang="pt-BR" dirty="0" err="1"/>
              <a:t>endpoints</a:t>
            </a:r>
            <a:r>
              <a:rPr lang="pt-BR" dirty="0"/>
              <a:t> </a:t>
            </a:r>
          </a:p>
          <a:p>
            <a:pPr lvl="1"/>
            <a:r>
              <a:rPr lang="pt-BR" dirty="0"/>
              <a:t>🔄 Filtros de segurança</a:t>
            </a:r>
          </a:p>
          <a:p>
            <a:endParaRPr lang="pt-BR" dirty="0"/>
          </a:p>
        </p:txBody>
      </p:sp>
      <p:grpSp>
        <p:nvGrpSpPr>
          <p:cNvPr id="9" name="Agrupar 8">
            <a:extLst>
              <a:ext uri="{FF2B5EF4-FFF2-40B4-BE49-F238E27FC236}">
                <a16:creationId xmlns:a16="http://schemas.microsoft.com/office/drawing/2014/main" id="{C7F7AB6C-17D9-C9B9-F3EE-39ABAACC4456}"/>
              </a:ext>
            </a:extLst>
          </p:cNvPr>
          <p:cNvGrpSpPr/>
          <p:nvPr/>
        </p:nvGrpSpPr>
        <p:grpSpPr>
          <a:xfrm>
            <a:off x="6096000" y="4129865"/>
            <a:ext cx="5357548" cy="1873715"/>
            <a:chOff x="7435551" y="5840444"/>
            <a:chExt cx="5357548" cy="1873715"/>
          </a:xfrm>
        </p:grpSpPr>
        <p:sp>
          <p:nvSpPr>
            <p:cNvPr id="7" name="Shape 20">
              <a:extLst>
                <a:ext uri="{FF2B5EF4-FFF2-40B4-BE49-F238E27FC236}">
                  <a16:creationId xmlns:a16="http://schemas.microsoft.com/office/drawing/2014/main" id="{768B58BF-F0C2-C5CF-7060-16A9ECA026C1}"/>
                </a:ext>
              </a:extLst>
            </p:cNvPr>
            <p:cNvSpPr/>
            <p:nvPr/>
          </p:nvSpPr>
          <p:spPr>
            <a:xfrm>
              <a:off x="7435551" y="5840444"/>
              <a:ext cx="5357548" cy="1873715"/>
            </a:xfrm>
            <a:prstGeom prst="roundRect">
              <a:avLst>
                <a:gd name="adj" fmla="val 8081"/>
              </a:avLst>
            </a:prstGeom>
            <a:solidFill>
              <a:srgbClr val="191A1C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CaixaDeTexto 4">
              <a:extLst>
                <a:ext uri="{FF2B5EF4-FFF2-40B4-BE49-F238E27FC236}">
                  <a16:creationId xmlns:a16="http://schemas.microsoft.com/office/drawing/2014/main" id="{9E486EF1-CD61-40DD-35E4-17913C54B333}"/>
                </a:ext>
              </a:extLst>
            </p:cNvPr>
            <p:cNvSpPr txBox="1"/>
            <p:nvPr/>
          </p:nvSpPr>
          <p:spPr>
            <a:xfrm>
              <a:off x="7950173" y="6038637"/>
              <a:ext cx="4328304" cy="147732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buNone/>
              </a:pPr>
              <a:r>
                <a:rPr lang="pt-BR" dirty="0">
                  <a:solidFill>
                    <a:srgbClr val="B3AE60"/>
                  </a:solidFill>
                  <a:effectLst/>
                  <a:latin typeface="JetBrains Mono"/>
                </a:rPr>
                <a:t>@Configuration</a:t>
              </a:r>
              <a:br>
                <a:rPr lang="pt-BR" dirty="0">
                  <a:solidFill>
                    <a:srgbClr val="B3AE60"/>
                  </a:solidFill>
                  <a:effectLst/>
                  <a:latin typeface="JetBrains Mono"/>
                </a:rPr>
              </a:br>
              <a:r>
                <a:rPr lang="pt-BR" dirty="0">
                  <a:solidFill>
                    <a:srgbClr val="B3AE60"/>
                  </a:solidFill>
                  <a:effectLst/>
                  <a:latin typeface="JetBrains Mono"/>
                </a:rPr>
                <a:t>@EnableWebSecurity</a:t>
              </a:r>
              <a:br>
                <a:rPr lang="pt-BR" dirty="0">
                  <a:solidFill>
                    <a:srgbClr val="B3AE60"/>
                  </a:solidFill>
                  <a:effectLst/>
                  <a:latin typeface="JetBrains Mono"/>
                </a:rPr>
              </a:br>
              <a:r>
                <a:rPr lang="pt-BR" dirty="0" err="1">
                  <a:solidFill>
                    <a:srgbClr val="CF8E6D"/>
                  </a:solidFill>
                  <a:effectLst/>
                  <a:latin typeface="JetBrains Mono"/>
                </a:rPr>
                <a:t>public</a:t>
              </a:r>
              <a:r>
                <a:rPr lang="pt-BR" dirty="0">
                  <a:solidFill>
                    <a:srgbClr val="CF8E6D"/>
                  </a:solidFill>
                  <a:effectLst/>
                  <a:latin typeface="JetBrains Mono"/>
                </a:rPr>
                <a:t> </a:t>
              </a:r>
              <a:r>
                <a:rPr lang="pt-BR" dirty="0" err="1">
                  <a:solidFill>
                    <a:srgbClr val="CF8E6D"/>
                  </a:solidFill>
                  <a:effectLst/>
                  <a:latin typeface="JetBrains Mono"/>
                </a:rPr>
                <a:t>class</a:t>
              </a:r>
              <a:r>
                <a:rPr lang="pt-BR" dirty="0">
                  <a:solidFill>
                    <a:srgbClr val="CF8E6D"/>
                  </a:solidFill>
                  <a:effectLst/>
                  <a:latin typeface="JetBrains Mono"/>
                </a:rPr>
                <a:t> </a:t>
              </a:r>
              <a:r>
                <a:rPr lang="pt-BR" dirty="0" err="1">
                  <a:solidFill>
                    <a:srgbClr val="BCBEC4"/>
                  </a:solidFill>
                  <a:effectLst/>
                  <a:latin typeface="JetBrains Mono"/>
                </a:rPr>
                <a:t>SecutiryConfigurations</a:t>
              </a:r>
              <a:r>
                <a:rPr lang="pt-BR" dirty="0">
                  <a:solidFill>
                    <a:srgbClr val="BCBEC4"/>
                  </a:solidFill>
                  <a:effectLst/>
                  <a:latin typeface="JetBrains Mono"/>
                </a:rPr>
                <a:t> {</a:t>
              </a:r>
              <a:br>
                <a:rPr lang="pt-BR" dirty="0">
                  <a:solidFill>
                    <a:srgbClr val="BCBEC4"/>
                  </a:solidFill>
                  <a:effectLst/>
                  <a:latin typeface="JetBrains Mono"/>
                </a:rPr>
              </a:br>
              <a:br>
                <a:rPr lang="pt-BR" dirty="0">
                  <a:solidFill>
                    <a:srgbClr val="BCBEC4"/>
                  </a:solidFill>
                  <a:effectLst/>
                  <a:latin typeface="JetBrains Mono"/>
                </a:rPr>
              </a:br>
              <a:r>
                <a:rPr lang="pt-BR" dirty="0">
                  <a:solidFill>
                    <a:srgbClr val="BCBEC4"/>
                  </a:solidFill>
                  <a:effectLst/>
                  <a:latin typeface="JetBrains Mono"/>
                </a:rPr>
                <a:t>}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455755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0C62CB3-17A3-5713-2A67-502FA2005D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b="1" dirty="0"/>
              <a:t>@Configuration </a:t>
            </a:r>
            <a:r>
              <a:rPr lang="pt-BR" dirty="0"/>
              <a:t>+ </a:t>
            </a:r>
            <a:r>
              <a:rPr lang="pt-BR" b="1" dirty="0"/>
              <a:t>@EnableWebSecurity 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E99DAB3-6C0D-58F7-6C33-6DDBB23793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4547499"/>
          </a:xfrm>
        </p:spPr>
        <p:txBody>
          <a:bodyPr/>
          <a:lstStyle/>
          <a:p>
            <a:r>
              <a:rPr lang="pt-BR" b="1" dirty="0"/>
              <a:t>@</a:t>
            </a:r>
            <a:r>
              <a:rPr lang="pt-BR" b="1" dirty="0" err="1"/>
              <a:t>Configuration</a:t>
            </a:r>
            <a:r>
              <a:rPr lang="pt-BR" b="1" dirty="0"/>
              <a:t>: </a:t>
            </a:r>
            <a:r>
              <a:rPr lang="pt-BR" dirty="0"/>
              <a:t>Informa que a classe contém configurações.</a:t>
            </a:r>
          </a:p>
          <a:p>
            <a:endParaRPr lang="pt-BR" dirty="0"/>
          </a:p>
          <a:p>
            <a:r>
              <a:rPr lang="pt-BR" b="1" dirty="0"/>
              <a:t>@</a:t>
            </a:r>
            <a:r>
              <a:rPr lang="pt-BR" b="1" dirty="0" err="1"/>
              <a:t>EnableWebSecuritydiz</a:t>
            </a:r>
            <a:r>
              <a:rPr lang="pt-BR" b="1" dirty="0"/>
              <a:t>: </a:t>
            </a:r>
            <a:r>
              <a:rPr lang="pt-BR" dirty="0"/>
              <a:t>Informa que essas configurações estão relacionadas à segurança web do Spring Security, com o intuito de definir as regras de segurança da aplicação.</a:t>
            </a:r>
          </a:p>
          <a:p>
            <a:endParaRPr lang="pt-BR" dirty="0"/>
          </a:p>
          <a:p>
            <a:r>
              <a:rPr lang="pt-BR" dirty="0"/>
              <a:t>A configuração STATELESS define que a aplicação não manterá sessões HTTP para os usuários. Dessa forma, cada requisição deve trazer as informações necessárias para autenticação, como um token JWT.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5106710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3E448DB-F761-4238-93B4-DA908273D0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definir como STATELLES</a:t>
            </a:r>
          </a:p>
        </p:txBody>
      </p:sp>
      <p:grpSp>
        <p:nvGrpSpPr>
          <p:cNvPr id="12" name="Agrupar 11">
            <a:extLst>
              <a:ext uri="{FF2B5EF4-FFF2-40B4-BE49-F238E27FC236}">
                <a16:creationId xmlns:a16="http://schemas.microsoft.com/office/drawing/2014/main" id="{4A24E51E-6BA4-4D41-8D0F-830F70C5B693}"/>
              </a:ext>
            </a:extLst>
          </p:cNvPr>
          <p:cNvGrpSpPr/>
          <p:nvPr/>
        </p:nvGrpSpPr>
        <p:grpSpPr>
          <a:xfrm>
            <a:off x="1027293" y="2319792"/>
            <a:ext cx="10137413" cy="3925590"/>
            <a:chOff x="749185" y="2285286"/>
            <a:chExt cx="6794615" cy="3925590"/>
          </a:xfrm>
        </p:grpSpPr>
        <p:sp>
          <p:nvSpPr>
            <p:cNvPr id="10" name="Shape 20">
              <a:extLst>
                <a:ext uri="{FF2B5EF4-FFF2-40B4-BE49-F238E27FC236}">
                  <a16:creationId xmlns:a16="http://schemas.microsoft.com/office/drawing/2014/main" id="{2DB2A50A-D986-4FB0-93B6-EACEECD789BB}"/>
                </a:ext>
              </a:extLst>
            </p:cNvPr>
            <p:cNvSpPr/>
            <p:nvPr/>
          </p:nvSpPr>
          <p:spPr>
            <a:xfrm>
              <a:off x="749185" y="2285286"/>
              <a:ext cx="6794615" cy="3925590"/>
            </a:xfrm>
            <a:prstGeom prst="roundRect">
              <a:avLst>
                <a:gd name="adj" fmla="val 8081"/>
              </a:avLst>
            </a:prstGeom>
            <a:solidFill>
              <a:srgbClr val="191A1C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Retângulo 6">
              <a:extLst>
                <a:ext uri="{FF2B5EF4-FFF2-40B4-BE49-F238E27FC236}">
                  <a16:creationId xmlns:a16="http://schemas.microsoft.com/office/drawing/2014/main" id="{4A35801F-679B-4713-9557-FDEA683E30B2}"/>
                </a:ext>
              </a:extLst>
            </p:cNvPr>
            <p:cNvSpPr/>
            <p:nvPr/>
          </p:nvSpPr>
          <p:spPr>
            <a:xfrm>
              <a:off x="1098364" y="2538081"/>
              <a:ext cx="6096256" cy="342000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eaLnBrk="0" fontAlgn="base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pt-BR" altLang="pt-BR" dirty="0">
                  <a:solidFill>
                    <a:srgbClr val="B3AE60"/>
                  </a:solidFill>
                  <a:latin typeface="JetBrains Mono"/>
                </a:rPr>
                <a:t>@</a:t>
              </a:r>
              <a:r>
                <a:rPr lang="pt-BR" altLang="pt-BR" dirty="0" err="1">
                  <a:solidFill>
                    <a:srgbClr val="B3AE60"/>
                  </a:solidFill>
                  <a:latin typeface="JetBrains Mono"/>
                </a:rPr>
                <a:t>Bean</a:t>
              </a:r>
              <a:br>
                <a:rPr lang="pt-BR" altLang="pt-BR" dirty="0">
                  <a:solidFill>
                    <a:srgbClr val="B3AE60"/>
                  </a:solidFill>
                  <a:latin typeface="JetBrains Mono"/>
                </a:rPr>
              </a:br>
              <a:r>
                <a:rPr lang="pt-BR" altLang="pt-BR" dirty="0" err="1">
                  <a:solidFill>
                    <a:srgbClr val="CF8E6D"/>
                  </a:solidFill>
                  <a:latin typeface="JetBrains Mono"/>
                </a:rPr>
                <a:t>public</a:t>
              </a:r>
              <a:r>
                <a:rPr lang="pt-BR" altLang="pt-BR" dirty="0">
                  <a:solidFill>
                    <a:srgbClr val="CF8E6D"/>
                  </a:solidFill>
                  <a:latin typeface="JetBrains Mono"/>
                </a:rPr>
                <a:t> </a:t>
              </a:r>
              <a:r>
                <a:rPr lang="pt-BR" altLang="pt-BR" dirty="0" err="1">
                  <a:solidFill>
                    <a:srgbClr val="BCBEC4"/>
                  </a:solidFill>
                  <a:latin typeface="JetBrains Mono"/>
                </a:rPr>
                <a:t>SecurityFilterChain</a:t>
              </a:r>
              <a:r>
                <a:rPr lang="pt-BR" altLang="pt-BR" dirty="0">
                  <a:solidFill>
                    <a:srgbClr val="BCBEC4"/>
                  </a:solidFill>
                  <a:latin typeface="JetBrains Mono"/>
                </a:rPr>
                <a:t> </a:t>
              </a:r>
              <a:r>
                <a:rPr lang="pt-BR" altLang="pt-BR" dirty="0" err="1">
                  <a:solidFill>
                    <a:srgbClr val="56A8F5"/>
                  </a:solidFill>
                  <a:latin typeface="JetBrains Mono"/>
                </a:rPr>
                <a:t>securityFilterChain</a:t>
              </a:r>
              <a:r>
                <a:rPr lang="pt-BR" altLang="pt-BR" dirty="0">
                  <a:solidFill>
                    <a:srgbClr val="BCBEC4"/>
                  </a:solidFill>
                  <a:latin typeface="JetBrains Mono"/>
                </a:rPr>
                <a:t>(</a:t>
              </a:r>
              <a:r>
                <a:rPr lang="pt-BR" altLang="pt-BR" dirty="0" err="1">
                  <a:solidFill>
                    <a:srgbClr val="BCBEC4"/>
                  </a:solidFill>
                  <a:latin typeface="JetBrains Mono"/>
                </a:rPr>
                <a:t>HttpSecurity</a:t>
              </a:r>
              <a:r>
                <a:rPr lang="pt-BR" altLang="pt-BR" dirty="0">
                  <a:solidFill>
                    <a:srgbClr val="BCBEC4"/>
                  </a:solidFill>
                  <a:latin typeface="JetBrains Mono"/>
                </a:rPr>
                <a:t> http){</a:t>
              </a:r>
              <a:br>
                <a:rPr lang="pt-BR" altLang="pt-BR" dirty="0">
                  <a:solidFill>
                    <a:srgbClr val="BCBEC4"/>
                  </a:solidFill>
                  <a:latin typeface="JetBrains Mono"/>
                </a:rPr>
              </a:br>
              <a:r>
                <a:rPr lang="pt-BR" altLang="pt-BR" dirty="0">
                  <a:solidFill>
                    <a:srgbClr val="BCBEC4"/>
                  </a:solidFill>
                  <a:latin typeface="JetBrains Mono"/>
                </a:rPr>
                <a:t>    </a:t>
              </a:r>
              <a:r>
                <a:rPr lang="pt-BR" altLang="pt-BR" dirty="0" err="1">
                  <a:solidFill>
                    <a:srgbClr val="CF8E6D"/>
                  </a:solidFill>
                  <a:latin typeface="JetBrains Mono"/>
                </a:rPr>
                <a:t>return</a:t>
              </a:r>
              <a:r>
                <a:rPr lang="pt-BR" altLang="pt-BR" dirty="0">
                  <a:solidFill>
                    <a:srgbClr val="CF8E6D"/>
                  </a:solidFill>
                  <a:latin typeface="JetBrains Mono"/>
                </a:rPr>
                <a:t> </a:t>
              </a:r>
              <a:r>
                <a:rPr lang="pt-BR" altLang="pt-BR" dirty="0" err="1">
                  <a:solidFill>
                    <a:srgbClr val="BCBEC4"/>
                  </a:solidFill>
                  <a:latin typeface="JetBrains Mono"/>
                </a:rPr>
                <a:t>http.csrf</a:t>
              </a:r>
              <a:r>
                <a:rPr lang="pt-BR" altLang="pt-BR" dirty="0">
                  <a:solidFill>
                    <a:srgbClr val="BCBEC4"/>
                  </a:solidFill>
                  <a:latin typeface="JetBrains Mono"/>
                </a:rPr>
                <a:t>(</a:t>
              </a:r>
              <a:r>
                <a:rPr lang="pt-BR" altLang="pt-BR" dirty="0" err="1">
                  <a:solidFill>
                    <a:srgbClr val="BCBEC4"/>
                  </a:solidFill>
                  <a:latin typeface="JetBrains Mono"/>
                </a:rPr>
                <a:t>csrf</a:t>
              </a:r>
              <a:r>
                <a:rPr lang="pt-BR" altLang="pt-BR" dirty="0">
                  <a:solidFill>
                    <a:srgbClr val="BCBEC4"/>
                  </a:solidFill>
                  <a:latin typeface="JetBrains Mono"/>
                </a:rPr>
                <a:t> -&gt; </a:t>
              </a:r>
              <a:r>
                <a:rPr lang="pt-BR" altLang="pt-BR" dirty="0" err="1">
                  <a:solidFill>
                    <a:srgbClr val="BCBEC4"/>
                  </a:solidFill>
                  <a:latin typeface="JetBrains Mono"/>
                </a:rPr>
                <a:t>csrf.disable</a:t>
              </a:r>
              <a:r>
                <a:rPr lang="pt-BR" altLang="pt-BR" dirty="0">
                  <a:solidFill>
                    <a:srgbClr val="BCBEC4"/>
                  </a:solidFill>
                  <a:latin typeface="JetBrains Mono"/>
                </a:rPr>
                <a:t>()).</a:t>
              </a:r>
              <a:br>
                <a:rPr lang="pt-BR" altLang="pt-BR" dirty="0">
                  <a:solidFill>
                    <a:srgbClr val="BCBEC4"/>
                  </a:solidFill>
                  <a:latin typeface="JetBrains Mono"/>
                </a:rPr>
              </a:br>
              <a:r>
                <a:rPr lang="pt-BR" altLang="pt-BR" dirty="0">
                  <a:solidFill>
                    <a:srgbClr val="BCBEC4"/>
                  </a:solidFill>
                  <a:latin typeface="JetBrains Mono"/>
                </a:rPr>
                <a:t>            </a:t>
              </a:r>
              <a:r>
                <a:rPr lang="pt-BR" altLang="pt-BR" dirty="0" err="1">
                  <a:solidFill>
                    <a:srgbClr val="BCBEC4"/>
                  </a:solidFill>
                  <a:latin typeface="JetBrains Mono"/>
                </a:rPr>
                <a:t>sessionManagement</a:t>
              </a:r>
              <a:r>
                <a:rPr lang="pt-BR" altLang="pt-BR" dirty="0">
                  <a:solidFill>
                    <a:srgbClr val="BCBEC4"/>
                  </a:solidFill>
                  <a:latin typeface="JetBrains Mono"/>
                </a:rPr>
                <a:t>(</a:t>
              </a:r>
              <a:r>
                <a:rPr lang="pt-BR" altLang="pt-BR" dirty="0" err="1">
                  <a:solidFill>
                    <a:srgbClr val="BCBEC4"/>
                  </a:solidFill>
                  <a:latin typeface="JetBrains Mono"/>
                </a:rPr>
                <a:t>session</a:t>
              </a:r>
              <a:r>
                <a:rPr lang="pt-BR" altLang="pt-BR" dirty="0">
                  <a:solidFill>
                    <a:srgbClr val="BCBEC4"/>
                  </a:solidFill>
                  <a:latin typeface="JetBrains Mono"/>
                </a:rPr>
                <a:t> -&gt; </a:t>
              </a:r>
              <a:r>
                <a:rPr lang="pt-BR" altLang="pt-BR" dirty="0" err="1">
                  <a:solidFill>
                    <a:srgbClr val="BCBEC4"/>
                  </a:solidFill>
                  <a:latin typeface="JetBrains Mono"/>
                </a:rPr>
                <a:t>session</a:t>
              </a:r>
              <a:br>
                <a:rPr lang="pt-BR" altLang="pt-BR" dirty="0">
                  <a:solidFill>
                    <a:srgbClr val="BCBEC4"/>
                  </a:solidFill>
                  <a:latin typeface="JetBrains Mono"/>
                </a:rPr>
              </a:br>
              <a:r>
                <a:rPr lang="pt-BR" altLang="pt-BR" dirty="0">
                  <a:solidFill>
                    <a:srgbClr val="BCBEC4"/>
                  </a:solidFill>
                  <a:latin typeface="JetBrains Mono"/>
                </a:rPr>
                <a:t>            .</a:t>
              </a:r>
              <a:r>
                <a:rPr lang="pt-BR" altLang="pt-BR" dirty="0" err="1">
                  <a:solidFill>
                    <a:srgbClr val="BCBEC4"/>
                  </a:solidFill>
                  <a:latin typeface="JetBrains Mono"/>
                </a:rPr>
                <a:t>sessionCreationPolicy</a:t>
              </a:r>
              <a:r>
                <a:rPr lang="pt-BR" altLang="pt-BR" dirty="0">
                  <a:solidFill>
                    <a:srgbClr val="BCBEC4"/>
                  </a:solidFill>
                  <a:latin typeface="JetBrains Mono"/>
                </a:rPr>
                <a:t>(</a:t>
              </a:r>
              <a:r>
                <a:rPr lang="pt-BR" altLang="pt-BR" dirty="0" err="1">
                  <a:solidFill>
                    <a:srgbClr val="BCBEC4"/>
                  </a:solidFill>
                  <a:latin typeface="JetBrains Mono"/>
                </a:rPr>
                <a:t>SessionCreationPolicy.</a:t>
              </a:r>
              <a:r>
                <a:rPr lang="pt-BR" altLang="pt-BR" i="1" dirty="0" err="1">
                  <a:solidFill>
                    <a:srgbClr val="C77DBB"/>
                  </a:solidFill>
                  <a:latin typeface="JetBrains Mono"/>
                </a:rPr>
                <a:t>STATELESS</a:t>
              </a:r>
              <a:r>
                <a:rPr lang="pt-BR" altLang="pt-BR" dirty="0">
                  <a:solidFill>
                    <a:srgbClr val="BCBEC4"/>
                  </a:solidFill>
                  <a:latin typeface="JetBrains Mono"/>
                </a:rPr>
                <a:t>)</a:t>
              </a:r>
              <a:br>
                <a:rPr lang="pt-BR" altLang="pt-BR" dirty="0">
                  <a:solidFill>
                    <a:srgbClr val="BCBEC4"/>
                  </a:solidFill>
                  <a:latin typeface="JetBrains Mono"/>
                </a:rPr>
              </a:br>
              <a:r>
                <a:rPr lang="pt-BR" altLang="pt-BR" dirty="0">
                  <a:solidFill>
                    <a:srgbClr val="BCBEC4"/>
                  </a:solidFill>
                  <a:latin typeface="JetBrains Mono"/>
                </a:rPr>
                <a:t>    ).build();</a:t>
              </a:r>
              <a:br>
                <a:rPr lang="pt-BR" altLang="pt-BR" dirty="0">
                  <a:solidFill>
                    <a:srgbClr val="BCBEC4"/>
                  </a:solidFill>
                  <a:latin typeface="JetBrains Mono"/>
                </a:rPr>
              </a:br>
              <a:r>
                <a:rPr lang="pt-BR" altLang="pt-BR" dirty="0">
                  <a:solidFill>
                    <a:srgbClr val="BCBEC4"/>
                  </a:solidFill>
                  <a:latin typeface="JetBrains Mono"/>
                </a:rPr>
                <a:t>}</a:t>
              </a:r>
              <a:endParaRPr lang="pt-BR" altLang="pt-BR" sz="4000" dirty="0">
                <a:latin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601942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4">
            <a:extLst>
              <a:ext uri="{FF2B5EF4-FFF2-40B4-BE49-F238E27FC236}">
                <a16:creationId xmlns:a16="http://schemas.microsoft.com/office/drawing/2014/main" id="{4705F5DA-0E06-40C7-B849-48716A42182F}"/>
              </a:ext>
            </a:extLst>
          </p:cNvPr>
          <p:cNvSpPr/>
          <p:nvPr/>
        </p:nvSpPr>
        <p:spPr>
          <a:xfrm>
            <a:off x="749185" y="1811868"/>
            <a:ext cx="11107643" cy="4670092"/>
          </a:xfrm>
          <a:prstGeom prst="roundRect">
            <a:avLst>
              <a:gd name="adj" fmla="val 3224"/>
            </a:avLst>
          </a:prstGeom>
          <a:solidFill>
            <a:srgbClr val="DADBF1"/>
          </a:solidFill>
          <a:ln w="6350">
            <a:solidFill>
              <a:srgbClr val="C0C1D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CB7C75F-A38A-40B1-B68A-8885637D93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são cada um desses itens</a:t>
            </a:r>
          </a:p>
        </p:txBody>
      </p:sp>
      <p:sp>
        <p:nvSpPr>
          <p:cNvPr id="12" name="Shape 5">
            <a:extLst>
              <a:ext uri="{FF2B5EF4-FFF2-40B4-BE49-F238E27FC236}">
                <a16:creationId xmlns:a16="http://schemas.microsoft.com/office/drawing/2014/main" id="{D963DA3C-6C6A-4B8A-B045-12383E65269F}"/>
              </a:ext>
            </a:extLst>
          </p:cNvPr>
          <p:cNvSpPr/>
          <p:nvPr/>
        </p:nvSpPr>
        <p:spPr>
          <a:xfrm>
            <a:off x="1028265" y="1995920"/>
            <a:ext cx="567021" cy="567035"/>
          </a:xfrm>
          <a:prstGeom prst="ellipse">
            <a:avLst/>
          </a:prstGeom>
          <a:solidFill>
            <a:srgbClr val="4950BC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5" name="Text 7">
            <a:extLst>
              <a:ext uri="{FF2B5EF4-FFF2-40B4-BE49-F238E27FC236}">
                <a16:creationId xmlns:a16="http://schemas.microsoft.com/office/drawing/2014/main" id="{A73A8F9F-F031-4EB6-893A-F8C166E2C391}"/>
              </a:ext>
            </a:extLst>
          </p:cNvPr>
          <p:cNvSpPr/>
          <p:nvPr/>
        </p:nvSpPr>
        <p:spPr>
          <a:xfrm>
            <a:off x="1028264" y="2687160"/>
            <a:ext cx="10545667" cy="36194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just">
              <a:lnSpc>
                <a:spcPct val="150000"/>
              </a:lnSpc>
            </a:pPr>
            <a:r>
              <a:rPr lang="pt-BR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@</a:t>
            </a:r>
            <a:r>
              <a:rPr lang="pt-BR" sz="1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Bean</a:t>
            </a:r>
            <a:r>
              <a:rPr lang="pt-BR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– Registra o objeto retornado pelo método para que seja gerenciado pelo Spring.</a:t>
            </a:r>
          </a:p>
          <a:p>
            <a:pPr algn="just">
              <a:lnSpc>
                <a:spcPct val="150000"/>
              </a:lnSpc>
            </a:pPr>
            <a:r>
              <a:rPr lang="pt-BR" sz="1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SecurityFilterChain</a:t>
            </a:r>
            <a:r>
              <a:rPr lang="pt-BR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– Representa a cadeia de filtros que aplica a segurança às requisições.</a:t>
            </a:r>
          </a:p>
          <a:p>
            <a:pPr algn="just">
              <a:lnSpc>
                <a:spcPct val="150000"/>
              </a:lnSpc>
            </a:pPr>
            <a:r>
              <a:rPr lang="pt-BR" sz="1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HttpSecurity</a:t>
            </a:r>
            <a:r>
              <a:rPr lang="pt-BR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– Permite configurar a segurança HTTP da aplicação.</a:t>
            </a:r>
          </a:p>
          <a:p>
            <a:pPr algn="just">
              <a:lnSpc>
                <a:spcPct val="150000"/>
              </a:lnSpc>
            </a:pPr>
            <a:r>
              <a:rPr lang="pt-BR" sz="1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csrf</a:t>
            </a:r>
            <a:r>
              <a:rPr lang="pt-BR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– Configura a proteção contra requisições forjadas. O método </a:t>
            </a:r>
            <a:r>
              <a:rPr lang="pt-BR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disable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 desabilita essa proteção.</a:t>
            </a:r>
          </a:p>
          <a:p>
            <a:pPr algn="just">
              <a:lnSpc>
                <a:spcPct val="150000"/>
              </a:lnSpc>
            </a:pPr>
            <a:r>
              <a:rPr lang="pt-BR" sz="1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sessionManagement</a:t>
            </a:r>
            <a:r>
              <a:rPr lang="pt-BR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– Configura como o Spring Security gerencia as sessões.</a:t>
            </a:r>
          </a:p>
          <a:p>
            <a:pPr algn="just">
              <a:lnSpc>
                <a:spcPct val="150000"/>
              </a:lnSpc>
            </a:pPr>
            <a:r>
              <a:rPr lang="pt-BR" sz="1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sessionCreationPolicy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Define a política de criação e utilização de sessões HTTP.</a:t>
            </a:r>
          </a:p>
          <a:p>
            <a:pPr algn="just">
              <a:lnSpc>
                <a:spcPct val="150000"/>
              </a:lnSpc>
            </a:pPr>
            <a:r>
              <a:rPr lang="pt-BR" sz="1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SessionCreationPolicy.STATELESS</a:t>
            </a:r>
            <a:r>
              <a:rPr lang="pt-BR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– Determina que o Spring Security não crie nem utilize sessões para manter a autenticação.</a:t>
            </a:r>
          </a:p>
          <a:p>
            <a:pPr algn="just">
              <a:lnSpc>
                <a:spcPct val="150000"/>
              </a:lnSpc>
            </a:pPr>
            <a:r>
              <a:rPr lang="pt-BR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build() 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– Finaliza a configuração e cria a cadeia de filtros de segurança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pt-BR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Gráfico 5" descr="Ponto de interrogação com preenchimento sólido">
            <a:extLst>
              <a:ext uri="{FF2B5EF4-FFF2-40B4-BE49-F238E27FC236}">
                <a16:creationId xmlns:a16="http://schemas.microsoft.com/office/drawing/2014/main" id="{E22C5352-300F-495F-9E33-96B2CFA85E0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52462" y="2120125"/>
            <a:ext cx="318625" cy="318625"/>
          </a:xfrm>
          <a:prstGeom prst="rect">
            <a:avLst/>
          </a:prstGeom>
        </p:spPr>
      </p:pic>
      <p:sp>
        <p:nvSpPr>
          <p:cNvPr id="7" name="Título 4">
            <a:extLst>
              <a:ext uri="{FF2B5EF4-FFF2-40B4-BE49-F238E27FC236}">
                <a16:creationId xmlns:a16="http://schemas.microsoft.com/office/drawing/2014/main" id="{A6029976-3324-4121-9393-F0263BDFE0E9}"/>
              </a:ext>
            </a:extLst>
          </p:cNvPr>
          <p:cNvSpPr txBox="1">
            <a:spLocks/>
          </p:cNvSpPr>
          <p:nvPr/>
        </p:nvSpPr>
        <p:spPr>
          <a:xfrm>
            <a:off x="1826927" y="2081773"/>
            <a:ext cx="9747005" cy="395329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kern="1200">
                <a:solidFill>
                  <a:schemeClr val="tx1"/>
                </a:solidFill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defRPr>
            </a:lvl1pPr>
          </a:lstStyle>
          <a:p>
            <a:r>
              <a:rPr lang="pt-BR" sz="2000" b="1" dirty="0"/>
              <a:t>O que significa cada item da configuração de segurança?</a:t>
            </a:r>
            <a:endParaRPr lang="pt-BR" sz="2000" dirty="0"/>
          </a:p>
        </p:txBody>
      </p:sp>
    </p:spTree>
    <p:extLst>
      <p:ext uri="{BB962C8B-B14F-4D97-AF65-F5344CB8AC3E}">
        <p14:creationId xmlns:p14="http://schemas.microsoft.com/office/powerpoint/2010/main" val="420537926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EAEAB793-5EE6-490B-85D5-34D898F47A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</p:spPr>
        <p:txBody>
          <a:bodyPr/>
          <a:lstStyle/>
          <a:p>
            <a:r>
              <a:rPr lang="pt-BR" dirty="0"/>
              <a:t>Exemplo de Autenticação</a:t>
            </a:r>
          </a:p>
        </p:txBody>
      </p:sp>
      <p:pic>
        <p:nvPicPr>
          <p:cNvPr id="5" name="Gráfico 4" descr="Monitor">
            <a:extLst>
              <a:ext uri="{FF2B5EF4-FFF2-40B4-BE49-F238E27FC236}">
                <a16:creationId xmlns:a16="http://schemas.microsoft.com/office/drawing/2014/main" id="{46F5F4C7-69B9-4BF9-A6CB-AC07383203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434927" y="2981684"/>
            <a:ext cx="1515533" cy="1515533"/>
          </a:xfrm>
          <a:prstGeom prst="rect">
            <a:avLst/>
          </a:prstGeom>
        </p:spPr>
      </p:pic>
      <p:pic>
        <p:nvPicPr>
          <p:cNvPr id="6" name="Gráfico 5" descr="Servidor">
            <a:extLst>
              <a:ext uri="{FF2B5EF4-FFF2-40B4-BE49-F238E27FC236}">
                <a16:creationId xmlns:a16="http://schemas.microsoft.com/office/drawing/2014/main" id="{C820F0BF-8216-4110-8480-5F500684FE4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270326" y="2922417"/>
            <a:ext cx="1574800" cy="1574800"/>
          </a:xfrm>
          <a:prstGeom prst="rect">
            <a:avLst/>
          </a:prstGeom>
        </p:spPr>
      </p:pic>
      <p:grpSp>
        <p:nvGrpSpPr>
          <p:cNvPr id="7" name="Agrupar 6">
            <a:extLst>
              <a:ext uri="{FF2B5EF4-FFF2-40B4-BE49-F238E27FC236}">
                <a16:creationId xmlns:a16="http://schemas.microsoft.com/office/drawing/2014/main" id="{D1340034-08AC-49B5-B4D5-9D9A839A2D9A}"/>
              </a:ext>
            </a:extLst>
          </p:cNvPr>
          <p:cNvGrpSpPr/>
          <p:nvPr/>
        </p:nvGrpSpPr>
        <p:grpSpPr>
          <a:xfrm>
            <a:off x="750062" y="2688976"/>
            <a:ext cx="1363134" cy="1635098"/>
            <a:chOff x="1481667" y="4270218"/>
            <a:chExt cx="1363134" cy="1635098"/>
          </a:xfrm>
        </p:grpSpPr>
        <p:sp>
          <p:nvSpPr>
            <p:cNvPr id="8" name="Retângulo: Cantos Arredondados 7">
              <a:extLst>
                <a:ext uri="{FF2B5EF4-FFF2-40B4-BE49-F238E27FC236}">
                  <a16:creationId xmlns:a16="http://schemas.microsoft.com/office/drawing/2014/main" id="{2FFB741E-A6CE-4ECC-A2B7-AA2491190E18}"/>
                </a:ext>
              </a:extLst>
            </p:cNvPr>
            <p:cNvSpPr/>
            <p:nvPr/>
          </p:nvSpPr>
          <p:spPr>
            <a:xfrm>
              <a:off x="1481667" y="4706939"/>
              <a:ext cx="1363134" cy="347134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2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teste@gmail.com</a:t>
              </a:r>
            </a:p>
          </p:txBody>
        </p:sp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id="{0CFDB697-5A36-4BA7-94D7-2071693F7DF1}"/>
                </a:ext>
              </a:extLst>
            </p:cNvPr>
            <p:cNvSpPr txBox="1"/>
            <p:nvPr/>
          </p:nvSpPr>
          <p:spPr>
            <a:xfrm>
              <a:off x="1481667" y="4270218"/>
              <a:ext cx="80021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Login:</a:t>
              </a:r>
            </a:p>
          </p:txBody>
        </p:sp>
        <p:sp>
          <p:nvSpPr>
            <p:cNvPr id="10" name="Retângulo: Cantos Arredondados 9">
              <a:extLst>
                <a:ext uri="{FF2B5EF4-FFF2-40B4-BE49-F238E27FC236}">
                  <a16:creationId xmlns:a16="http://schemas.microsoft.com/office/drawing/2014/main" id="{899A42BE-68F9-4EC0-A0EC-9B1E9EED7F13}"/>
                </a:ext>
              </a:extLst>
            </p:cNvPr>
            <p:cNvSpPr/>
            <p:nvPr/>
          </p:nvSpPr>
          <p:spPr>
            <a:xfrm>
              <a:off x="1481667" y="5558182"/>
              <a:ext cx="1363134" cy="347134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pt-BR" sz="12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1234</a:t>
              </a:r>
            </a:p>
          </p:txBody>
        </p: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EAFF109E-894F-4A20-9345-3F08FA4596F1}"/>
                </a:ext>
              </a:extLst>
            </p:cNvPr>
            <p:cNvSpPr txBox="1"/>
            <p:nvPr/>
          </p:nvSpPr>
          <p:spPr>
            <a:xfrm>
              <a:off x="1481667" y="5121462"/>
              <a:ext cx="81304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Senha:</a:t>
              </a:r>
            </a:p>
          </p:txBody>
        </p:sp>
      </p:grpSp>
      <p:cxnSp>
        <p:nvCxnSpPr>
          <p:cNvPr id="12" name="Conector de Seta Reta 11">
            <a:extLst>
              <a:ext uri="{FF2B5EF4-FFF2-40B4-BE49-F238E27FC236}">
                <a16:creationId xmlns:a16="http://schemas.microsoft.com/office/drawing/2014/main" id="{BD843AD6-B2AD-4803-9EEC-579B0E7E5160}"/>
              </a:ext>
            </a:extLst>
          </p:cNvPr>
          <p:cNvCxnSpPr>
            <a:cxnSpLocks/>
          </p:cNvCxnSpPr>
          <p:nvPr/>
        </p:nvCxnSpPr>
        <p:spPr>
          <a:xfrm>
            <a:off x="4094392" y="3506525"/>
            <a:ext cx="2201333" cy="0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ector de Seta Reta 12">
            <a:extLst>
              <a:ext uri="{FF2B5EF4-FFF2-40B4-BE49-F238E27FC236}">
                <a16:creationId xmlns:a16="http://schemas.microsoft.com/office/drawing/2014/main" id="{8E830042-DD0B-4F4E-BD3F-E72EA08DD9E8}"/>
              </a:ext>
            </a:extLst>
          </p:cNvPr>
          <p:cNvCxnSpPr>
            <a:cxnSpLocks/>
          </p:cNvCxnSpPr>
          <p:nvPr/>
        </p:nvCxnSpPr>
        <p:spPr>
          <a:xfrm flipH="1">
            <a:off x="4060526" y="3976940"/>
            <a:ext cx="2167466" cy="29026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16F73D86-E9C1-41F8-BF9D-CD84C5F5009F}"/>
              </a:ext>
            </a:extLst>
          </p:cNvPr>
          <p:cNvSpPr txBox="1"/>
          <p:nvPr/>
        </p:nvSpPr>
        <p:spPr>
          <a:xfrm>
            <a:off x="4116978" y="2905780"/>
            <a:ext cx="225494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“login” : “teste@gmail.com”</a:t>
            </a:r>
          </a:p>
          <a:p>
            <a:pPr algn="just"/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“senha” : “1234”</a:t>
            </a:r>
          </a:p>
        </p:txBody>
      </p:sp>
      <p:grpSp>
        <p:nvGrpSpPr>
          <p:cNvPr id="30" name="Agrupar 29">
            <a:extLst>
              <a:ext uri="{FF2B5EF4-FFF2-40B4-BE49-F238E27FC236}">
                <a16:creationId xmlns:a16="http://schemas.microsoft.com/office/drawing/2014/main" id="{79D8A56A-E5AC-4365-BFFE-36854E223F53}"/>
              </a:ext>
            </a:extLst>
          </p:cNvPr>
          <p:cNvGrpSpPr/>
          <p:nvPr/>
        </p:nvGrpSpPr>
        <p:grpSpPr>
          <a:xfrm>
            <a:off x="4619248" y="1727183"/>
            <a:ext cx="1250407" cy="1101072"/>
            <a:chOff x="4797855" y="2040611"/>
            <a:chExt cx="1250407" cy="1101072"/>
          </a:xfrm>
        </p:grpSpPr>
        <p:sp>
          <p:nvSpPr>
            <p:cNvPr id="16" name="Elipse 15">
              <a:extLst>
                <a:ext uri="{FF2B5EF4-FFF2-40B4-BE49-F238E27FC236}">
                  <a16:creationId xmlns:a16="http://schemas.microsoft.com/office/drawing/2014/main" id="{F51922C7-E34C-43C3-84B5-D5F8228256E2}"/>
                </a:ext>
              </a:extLst>
            </p:cNvPr>
            <p:cNvSpPr/>
            <p:nvPr/>
          </p:nvSpPr>
          <p:spPr>
            <a:xfrm>
              <a:off x="5063059" y="2040611"/>
              <a:ext cx="720000" cy="720000"/>
            </a:xfrm>
            <a:prstGeom prst="ellipse">
              <a:avLst/>
            </a:prstGeom>
            <a:solidFill>
              <a:srgbClr val="043073"/>
            </a:solidFill>
            <a:ln>
              <a:solidFill>
                <a:srgbClr val="0430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</a:p>
          </p:txBody>
        </p:sp>
        <p:sp>
          <p:nvSpPr>
            <p:cNvPr id="17" name="CaixaDeTexto 16">
              <a:extLst>
                <a:ext uri="{FF2B5EF4-FFF2-40B4-BE49-F238E27FC236}">
                  <a16:creationId xmlns:a16="http://schemas.microsoft.com/office/drawing/2014/main" id="{248804F4-780B-4EEC-B5C9-ED0B8992DAF8}"/>
                </a:ext>
              </a:extLst>
            </p:cNvPr>
            <p:cNvSpPr txBox="1"/>
            <p:nvPr/>
          </p:nvSpPr>
          <p:spPr>
            <a:xfrm>
              <a:off x="4797855" y="2833906"/>
              <a:ext cx="125040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HTTP </a:t>
              </a:r>
              <a:r>
                <a:rPr lang="pt-BR" sz="14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Request</a:t>
              </a:r>
              <a:endParaRPr lang="pt-BR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8" name="Agrupar 17">
            <a:extLst>
              <a:ext uri="{FF2B5EF4-FFF2-40B4-BE49-F238E27FC236}">
                <a16:creationId xmlns:a16="http://schemas.microsoft.com/office/drawing/2014/main" id="{3B9D514F-AB55-4678-81BC-89B5FCF2F6D5}"/>
              </a:ext>
            </a:extLst>
          </p:cNvPr>
          <p:cNvGrpSpPr/>
          <p:nvPr/>
        </p:nvGrpSpPr>
        <p:grpSpPr>
          <a:xfrm>
            <a:off x="8205546" y="1727183"/>
            <a:ext cx="1000338" cy="1101072"/>
            <a:chOff x="9722212" y="1685036"/>
            <a:chExt cx="1000338" cy="1101072"/>
          </a:xfrm>
        </p:grpSpPr>
        <p:sp>
          <p:nvSpPr>
            <p:cNvPr id="19" name="Elipse 18">
              <a:extLst>
                <a:ext uri="{FF2B5EF4-FFF2-40B4-BE49-F238E27FC236}">
                  <a16:creationId xmlns:a16="http://schemas.microsoft.com/office/drawing/2014/main" id="{D54441C3-C7E3-468C-ADB5-ADE26AE782FF}"/>
                </a:ext>
              </a:extLst>
            </p:cNvPr>
            <p:cNvSpPr/>
            <p:nvPr/>
          </p:nvSpPr>
          <p:spPr>
            <a:xfrm>
              <a:off x="9862381" y="1685036"/>
              <a:ext cx="720000" cy="720000"/>
            </a:xfrm>
            <a:prstGeom prst="ellipse">
              <a:avLst/>
            </a:prstGeom>
            <a:solidFill>
              <a:srgbClr val="043073"/>
            </a:solidFill>
            <a:ln>
              <a:solidFill>
                <a:srgbClr val="0430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</a:p>
          </p:txBody>
        </p:sp>
        <p:sp>
          <p:nvSpPr>
            <p:cNvPr id="20" name="CaixaDeTexto 19">
              <a:extLst>
                <a:ext uri="{FF2B5EF4-FFF2-40B4-BE49-F238E27FC236}">
                  <a16:creationId xmlns:a16="http://schemas.microsoft.com/office/drawing/2014/main" id="{B58A097B-8127-4664-A1A7-1C3AD0446D2D}"/>
                </a:ext>
              </a:extLst>
            </p:cNvPr>
            <p:cNvSpPr txBox="1"/>
            <p:nvPr/>
          </p:nvSpPr>
          <p:spPr>
            <a:xfrm>
              <a:off x="9722212" y="2478331"/>
              <a:ext cx="100033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SQL </a:t>
              </a:r>
              <a:r>
                <a:rPr lang="pt-BR" sz="14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Select</a:t>
              </a:r>
              <a:endParaRPr lang="pt-BR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pic>
        <p:nvPicPr>
          <p:cNvPr id="34" name="Gráfico 33" descr="Banco de dados">
            <a:extLst>
              <a:ext uri="{FF2B5EF4-FFF2-40B4-BE49-F238E27FC236}">
                <a16:creationId xmlns:a16="http://schemas.microsoft.com/office/drawing/2014/main" id="{CB4AA1FB-CFA3-43A1-A49B-B7E7A9C5708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648525" y="2842743"/>
            <a:ext cx="1793413" cy="1793413"/>
          </a:xfrm>
          <a:prstGeom prst="rect">
            <a:avLst/>
          </a:prstGeom>
        </p:spPr>
      </p:pic>
      <p:cxnSp>
        <p:nvCxnSpPr>
          <p:cNvPr id="35" name="Conector de Seta Reta 34">
            <a:extLst>
              <a:ext uri="{FF2B5EF4-FFF2-40B4-BE49-F238E27FC236}">
                <a16:creationId xmlns:a16="http://schemas.microsoft.com/office/drawing/2014/main" id="{935CBB51-E06F-4509-9AEC-1E0F6846E073}"/>
              </a:ext>
            </a:extLst>
          </p:cNvPr>
          <p:cNvCxnSpPr>
            <a:cxnSpLocks/>
          </p:cNvCxnSpPr>
          <p:nvPr/>
        </p:nvCxnSpPr>
        <p:spPr>
          <a:xfrm flipV="1">
            <a:off x="7762906" y="3506525"/>
            <a:ext cx="1885619" cy="9129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9" name="Agrupar 38">
            <a:extLst>
              <a:ext uri="{FF2B5EF4-FFF2-40B4-BE49-F238E27FC236}">
                <a16:creationId xmlns:a16="http://schemas.microsoft.com/office/drawing/2014/main" id="{A339DA06-E376-4DB9-A686-DEFB35709935}"/>
              </a:ext>
            </a:extLst>
          </p:cNvPr>
          <p:cNvGrpSpPr/>
          <p:nvPr/>
        </p:nvGrpSpPr>
        <p:grpSpPr>
          <a:xfrm>
            <a:off x="6494816" y="4721325"/>
            <a:ext cx="1125821" cy="1316515"/>
            <a:chOff x="9697448" y="1817445"/>
            <a:chExt cx="1125821" cy="1316515"/>
          </a:xfrm>
        </p:grpSpPr>
        <p:sp>
          <p:nvSpPr>
            <p:cNvPr id="40" name="Elipse 39">
              <a:extLst>
                <a:ext uri="{FF2B5EF4-FFF2-40B4-BE49-F238E27FC236}">
                  <a16:creationId xmlns:a16="http://schemas.microsoft.com/office/drawing/2014/main" id="{D3100A8D-BB60-4FD5-880C-47A24C5C11ED}"/>
                </a:ext>
              </a:extLst>
            </p:cNvPr>
            <p:cNvSpPr/>
            <p:nvPr/>
          </p:nvSpPr>
          <p:spPr>
            <a:xfrm>
              <a:off x="9900358" y="1817445"/>
              <a:ext cx="720000" cy="720000"/>
            </a:xfrm>
            <a:prstGeom prst="ellipse">
              <a:avLst/>
            </a:prstGeom>
            <a:solidFill>
              <a:srgbClr val="043073"/>
            </a:solidFill>
            <a:ln>
              <a:solidFill>
                <a:srgbClr val="0430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</a:p>
          </p:txBody>
        </p:sp>
        <p:sp>
          <p:nvSpPr>
            <p:cNvPr id="41" name="CaixaDeTexto 40">
              <a:extLst>
                <a:ext uri="{FF2B5EF4-FFF2-40B4-BE49-F238E27FC236}">
                  <a16:creationId xmlns:a16="http://schemas.microsoft.com/office/drawing/2014/main" id="{9B1083FB-94AF-4A2A-84A7-9F284E0293EF}"/>
                </a:ext>
              </a:extLst>
            </p:cNvPr>
            <p:cNvSpPr txBox="1"/>
            <p:nvPr/>
          </p:nvSpPr>
          <p:spPr>
            <a:xfrm>
              <a:off x="9697448" y="2610740"/>
              <a:ext cx="112582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pt-BR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Gerar Token </a:t>
              </a:r>
            </a:p>
            <a:p>
              <a:pPr algn="ctr"/>
              <a:r>
                <a:rPr lang="pt-BR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JWT</a:t>
              </a:r>
            </a:p>
          </p:txBody>
        </p:sp>
      </p:grpSp>
      <p:grpSp>
        <p:nvGrpSpPr>
          <p:cNvPr id="42" name="Agrupar 41">
            <a:extLst>
              <a:ext uri="{FF2B5EF4-FFF2-40B4-BE49-F238E27FC236}">
                <a16:creationId xmlns:a16="http://schemas.microsoft.com/office/drawing/2014/main" id="{BCA9EFD4-9DFE-4FA0-BBFB-E49B65CB8DED}"/>
              </a:ext>
            </a:extLst>
          </p:cNvPr>
          <p:cNvGrpSpPr/>
          <p:nvPr/>
        </p:nvGrpSpPr>
        <p:grpSpPr>
          <a:xfrm>
            <a:off x="3231998" y="4721325"/>
            <a:ext cx="1385507" cy="1316515"/>
            <a:chOff x="9536581" y="1817445"/>
            <a:chExt cx="1385507" cy="1316515"/>
          </a:xfrm>
        </p:grpSpPr>
        <p:sp>
          <p:nvSpPr>
            <p:cNvPr id="43" name="Elipse 42">
              <a:extLst>
                <a:ext uri="{FF2B5EF4-FFF2-40B4-BE49-F238E27FC236}">
                  <a16:creationId xmlns:a16="http://schemas.microsoft.com/office/drawing/2014/main" id="{E1C5F67D-2A44-4E6E-97E6-32F6BA8A5F2D}"/>
                </a:ext>
              </a:extLst>
            </p:cNvPr>
            <p:cNvSpPr/>
            <p:nvPr/>
          </p:nvSpPr>
          <p:spPr>
            <a:xfrm>
              <a:off x="9869334" y="1817445"/>
              <a:ext cx="720000" cy="720000"/>
            </a:xfrm>
            <a:prstGeom prst="ellipse">
              <a:avLst/>
            </a:prstGeom>
            <a:solidFill>
              <a:srgbClr val="043073"/>
            </a:solidFill>
            <a:ln>
              <a:solidFill>
                <a:srgbClr val="0430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</a:p>
          </p:txBody>
        </p:sp>
        <p:sp>
          <p:nvSpPr>
            <p:cNvPr id="44" name="CaixaDeTexto 43">
              <a:extLst>
                <a:ext uri="{FF2B5EF4-FFF2-40B4-BE49-F238E27FC236}">
                  <a16:creationId xmlns:a16="http://schemas.microsoft.com/office/drawing/2014/main" id="{877A3597-7FBD-40D9-BE90-979ED001732A}"/>
                </a:ext>
              </a:extLst>
            </p:cNvPr>
            <p:cNvSpPr txBox="1"/>
            <p:nvPr/>
          </p:nvSpPr>
          <p:spPr>
            <a:xfrm>
              <a:off x="9536581" y="2610740"/>
              <a:ext cx="138550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pt-BR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Devolver Token </a:t>
              </a:r>
            </a:p>
            <a:p>
              <a:pPr algn="ctr"/>
              <a:r>
                <a:rPr lang="pt-BR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JWT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28742412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8984EEA-607C-4DFE-9B48-E64B7C3F6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/>
              <a:t>AuthenticationManager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89E31B5-084B-4720-8BB7-D050B69871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O </a:t>
            </a:r>
            <a:r>
              <a:rPr lang="pt-BR" dirty="0" err="1"/>
              <a:t>AuthenticationManager</a:t>
            </a:r>
            <a:r>
              <a:rPr lang="pt-BR" dirty="0"/>
              <a:t> é responsável por coordenar a autenticação do usuário. Ele recebe as credenciais e encaminha a verificação para um provedor de autenticação. Quando chamamos </a:t>
            </a:r>
            <a:r>
              <a:rPr lang="pt-BR" dirty="0" err="1"/>
              <a:t>authenticate</a:t>
            </a:r>
            <a:r>
              <a:rPr lang="pt-BR" dirty="0"/>
              <a:t>(), neste fluxo com usuário e senha no banco: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dirty="0"/>
              <a:t>O </a:t>
            </a:r>
            <a:r>
              <a:rPr lang="pt-BR" dirty="0" err="1"/>
              <a:t>AuthenticationManager</a:t>
            </a:r>
            <a:r>
              <a:rPr lang="pt-BR" dirty="0"/>
              <a:t> encaminha as credenciais ao </a:t>
            </a:r>
            <a:r>
              <a:rPr lang="pt-BR" dirty="0" err="1"/>
              <a:t>DaoAuthenticationProvider</a:t>
            </a:r>
            <a:r>
              <a:rPr lang="pt-BR" dirty="0"/>
              <a:t>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dirty="0"/>
              <a:t>O provedor utiliza o </a:t>
            </a:r>
            <a:r>
              <a:rPr lang="pt-BR" dirty="0" err="1"/>
              <a:t>UserDetailsService</a:t>
            </a:r>
            <a:r>
              <a:rPr lang="pt-BR" dirty="0"/>
              <a:t> para buscar o usuário pelo método </a:t>
            </a:r>
            <a:r>
              <a:rPr lang="pt-BR" dirty="0" err="1"/>
              <a:t>loadUserByUsername</a:t>
            </a:r>
            <a:r>
              <a:rPr lang="pt-BR" dirty="0"/>
              <a:t>().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dirty="0"/>
              <a:t>Utiliza o </a:t>
            </a:r>
            <a:r>
              <a:rPr lang="pt-BR" dirty="0" err="1"/>
              <a:t>PasswordEncoder</a:t>
            </a:r>
            <a:r>
              <a:rPr lang="pt-BR" dirty="0"/>
              <a:t> para verificar a senha.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dirty="0"/>
              <a:t>Se estiver tudo correto, retorna um objeto </a:t>
            </a:r>
            <a:r>
              <a:rPr lang="pt-BR" dirty="0" err="1"/>
              <a:t>Authentication</a:t>
            </a:r>
            <a:r>
              <a:rPr lang="pt-BR" dirty="0"/>
              <a:t> com o usuário autenticado e suas permissões.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dirty="0"/>
              <a:t>Se houver uma falha, como senha incorreta, lança uma exceção de autenticação.</a:t>
            </a:r>
          </a:p>
        </p:txBody>
      </p:sp>
    </p:spTree>
    <p:extLst>
      <p:ext uri="{BB962C8B-B14F-4D97-AF65-F5344CB8AC3E}">
        <p14:creationId xmlns:p14="http://schemas.microsoft.com/office/powerpoint/2010/main" val="367477882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535</TotalTime>
  <Words>1304</Words>
  <Application>Microsoft Office PowerPoint</Application>
  <PresentationFormat>Widescreen</PresentationFormat>
  <Paragraphs>144</Paragraphs>
  <Slides>18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18</vt:i4>
      </vt:variant>
    </vt:vector>
  </HeadingPairs>
  <TitlesOfParts>
    <vt:vector size="26" baseType="lpstr">
      <vt:lpstr>Arial</vt:lpstr>
      <vt:lpstr>Calibri</vt:lpstr>
      <vt:lpstr>Calibri Light</vt:lpstr>
      <vt:lpstr>Consolas</vt:lpstr>
      <vt:lpstr>JetBrains Mono</vt:lpstr>
      <vt:lpstr>Times New Roman</vt:lpstr>
      <vt:lpstr>Wingdings</vt:lpstr>
      <vt:lpstr>Tema do Office</vt:lpstr>
      <vt:lpstr>Spring Security</vt:lpstr>
      <vt:lpstr>Objetivo da aula</vt:lpstr>
      <vt:lpstr>O que é Spring Security?</vt:lpstr>
      <vt:lpstr>Stateful – Aplicação Web Tradicional</vt:lpstr>
      <vt:lpstr>Stateful – API RestFul</vt:lpstr>
      <vt:lpstr>Stateful – API RestFul</vt:lpstr>
      <vt:lpstr>Criando uma tabela de login</vt:lpstr>
      <vt:lpstr>Anotação @Service </vt:lpstr>
      <vt:lpstr>Interface UserDetailsService</vt:lpstr>
      <vt:lpstr>Método loadUserByUsername()</vt:lpstr>
      <vt:lpstr>Autenticação Stateless</vt:lpstr>
      <vt:lpstr>Anotação @Configuration</vt:lpstr>
      <vt:lpstr>Anotação @EnableWebSecurity </vt:lpstr>
      <vt:lpstr>@Configuration + @EnableWebSecurity </vt:lpstr>
      <vt:lpstr>Como definir como STATELLES</vt:lpstr>
      <vt:lpstr>O que são cada um desses itens</vt:lpstr>
      <vt:lpstr>Exemplo de Autenticação</vt:lpstr>
      <vt:lpstr>AuthenticationManager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Lucas Tadeu Monteiro Guedes Fernandes Salomao</dc:creator>
  <cp:lastModifiedBy>Pedro Henrique Miho de Souza</cp:lastModifiedBy>
  <cp:revision>72</cp:revision>
  <dcterms:created xsi:type="dcterms:W3CDTF">2024-03-08T12:14:33Z</dcterms:created>
  <dcterms:modified xsi:type="dcterms:W3CDTF">2026-09-18T01:46:14Z</dcterms:modified>
</cp:coreProperties>
</file>