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22"/>
  </p:notesMasterIdLst>
  <p:sldIdLst>
    <p:sldId id="256" r:id="rId2"/>
    <p:sldId id="278" r:id="rId3"/>
    <p:sldId id="297" r:id="rId4"/>
    <p:sldId id="298" r:id="rId5"/>
    <p:sldId id="301" r:id="rId6"/>
    <p:sldId id="302" r:id="rId7"/>
    <p:sldId id="303" r:id="rId8"/>
    <p:sldId id="316" r:id="rId9"/>
    <p:sldId id="304" r:id="rId10"/>
    <p:sldId id="305" r:id="rId11"/>
    <p:sldId id="306" r:id="rId12"/>
    <p:sldId id="307" r:id="rId13"/>
    <p:sldId id="308" r:id="rId14"/>
    <p:sldId id="309" r:id="rId15"/>
    <p:sldId id="310" r:id="rId16"/>
    <p:sldId id="311" r:id="rId17"/>
    <p:sldId id="312" r:id="rId18"/>
    <p:sldId id="313" r:id="rId19"/>
    <p:sldId id="315" r:id="rId20"/>
    <p:sldId id="314" r:id="rId2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297"/>
            <p14:sldId id="298"/>
            <p14:sldId id="301"/>
            <p14:sldId id="302"/>
            <p14:sldId id="303"/>
            <p14:sldId id="316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5"/>
            <p14:sldId id="3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7DB9"/>
    <a:srgbClr val="6462B0"/>
    <a:srgbClr val="FFFFFF"/>
    <a:srgbClr val="B87958"/>
    <a:srgbClr val="867568"/>
    <a:srgbClr val="548453"/>
    <a:srgbClr val="337165"/>
    <a:srgbClr val="1F232A"/>
    <a:srgbClr val="4D97DA"/>
    <a:srgbClr val="B078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62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900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27BCA-F434-4017-9BD8-33CEB0219D72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32E6D2-070F-4BF4-86C0-53D883C4AF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3752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 dirty="0"/>
              <a:t>JSON Web Token (JWT)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Ao final desta aula, os alunos deverão ser capazes 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Compreender o papel do JWT</a:t>
            </a:r>
            <a:r>
              <a:rPr lang="pt-BR" sz="1800" dirty="0"/>
              <a:t> na autenticação de uma API sem sessão (</a:t>
            </a:r>
            <a:r>
              <a:rPr lang="pt-BR" sz="1800" i="1" dirty="0" err="1"/>
              <a:t>stateless</a:t>
            </a:r>
            <a:r>
              <a:rPr lang="pt-BR" sz="18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Identificar a estrutura de um JWT:</a:t>
            </a:r>
            <a:r>
              <a:rPr lang="pt-BR" sz="1800" dirty="0"/>
              <a:t> cabeçalho (</a:t>
            </a:r>
            <a:r>
              <a:rPr lang="pt-BR" sz="1800" i="1" dirty="0"/>
              <a:t>header</a:t>
            </a:r>
            <a:r>
              <a:rPr lang="pt-BR" sz="1800" dirty="0"/>
              <a:t>), informações (</a:t>
            </a:r>
            <a:r>
              <a:rPr lang="pt-BR" sz="1800" i="1" dirty="0" err="1"/>
              <a:t>payload</a:t>
            </a:r>
            <a:r>
              <a:rPr lang="pt-BR" sz="1800" dirty="0"/>
              <a:t>) e assinatura.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Configurar uma biblioteca para trabalhar com JWT</a:t>
            </a:r>
            <a:r>
              <a:rPr lang="pt-BR" sz="1800" dirty="0"/>
              <a:t> no projeto Spring Boot.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Implementar um serviço de geração de tokens</a:t>
            </a:r>
            <a:r>
              <a:rPr lang="pt-BR" sz="1800" dirty="0"/>
              <a:t>, definindo a identificação do usuário, o emissor e o prazo de validade.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Integrar a geração do token ao login</a:t>
            </a:r>
            <a:r>
              <a:rPr lang="pt-BR" sz="1800" dirty="0"/>
              <a:t>, retornando-o ao cliente após a validação das credenciais.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1800" b="1" dirty="0"/>
              <a:t>Testar o </a:t>
            </a:r>
            <a:r>
              <a:rPr lang="pt-BR" sz="1800" b="1" dirty="0" err="1"/>
              <a:t>endpoint</a:t>
            </a:r>
            <a:r>
              <a:rPr lang="pt-BR" sz="1800" b="1" dirty="0"/>
              <a:t> de autenticação</a:t>
            </a:r>
            <a:r>
              <a:rPr lang="pt-BR" sz="1800" dirty="0"/>
              <a:t>, verificando o retorno do token para credenciais válidas e a rejeição de credenciais inválidas.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34165-6FFA-4177-89F2-387FE75C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pt-BR" sz="2400" dirty="0"/>
              <a:t>JWT (JSON Web Token) </a:t>
            </a:r>
            <a:endParaRPr lang="pt-BR" sz="3600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F58F1C-1C0F-41EE-8215-06CF424B2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96548"/>
            <a:ext cx="11007306" cy="3962568"/>
          </a:xfrm>
        </p:spPr>
        <p:txBody>
          <a:bodyPr/>
          <a:lstStyle/>
          <a:p>
            <a:r>
              <a:rPr lang="pt-BR" sz="1800" b="1"/>
              <a:t>JWT (JSON Web Token)</a:t>
            </a:r>
            <a:r>
              <a:rPr lang="pt-BR" sz="1800"/>
              <a:t> é </a:t>
            </a:r>
            <a:r>
              <a:rPr lang="pt-BR" sz="1800" dirty="0"/>
              <a:t>um formato de token utilizado para transmitir informações entre sistemas. Na autenticação, ele permite que o cliente apresente informações sobre o usuário autenticado, cuja assinatura </a:t>
            </a:r>
            <a:r>
              <a:rPr lang="pt-BR" sz="1800" dirty="0" err="1"/>
              <a:t>podeser</a:t>
            </a:r>
            <a:r>
              <a:rPr lang="pt-BR" sz="1800" dirty="0"/>
              <a:t> verificada pela API.</a:t>
            </a:r>
          </a:p>
          <a:p>
            <a:endParaRPr lang="pt-BR" sz="1800" dirty="0"/>
          </a:p>
          <a:p>
            <a:r>
              <a:rPr lang="pt-BR" sz="1800" dirty="0"/>
              <a:t>O JWT possui três partes, separadas por pontos:</a:t>
            </a:r>
          </a:p>
          <a:p>
            <a:endParaRPr lang="pt-BR" sz="1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Header: informa o tipo do token e o algoritmo de assinatura.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 err="1"/>
              <a:t>Payload</a:t>
            </a:r>
            <a:r>
              <a:rPr lang="pt-BR" dirty="0"/>
              <a:t>: contém informações como a identificação do usuário e a expiração.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/>
              <a:t>Assinatura: permite verificar se o token foi alterado e se foi assinado com a chave esperada.</a:t>
            </a:r>
          </a:p>
        </p:txBody>
      </p:sp>
    </p:spTree>
    <p:extLst>
      <p:ext uri="{BB962C8B-B14F-4D97-AF65-F5344CB8AC3E}">
        <p14:creationId xmlns:p14="http://schemas.microsoft.com/office/powerpoint/2010/main" val="116842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650BF0-2C44-C5F0-9056-D4A72A298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8266CC90-0DAD-400A-8CC5-546ACF88C87C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900A6DD-5EB2-33E4-5530-115078229CA4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b="1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b="1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67C2ACCC-A0C7-62BA-485E-D7BD9ADE6E0A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48007F21-3F63-8F13-C876-63881DF3AA8C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E59C0F0-D10A-C5A8-6DE5-0ADFC48E6F35}"/>
              </a:ext>
            </a:extLst>
          </p:cNvPr>
          <p:cNvSpPr>
            <a:spLocks noGrp="1"/>
          </p:cNvSpPr>
          <p:nvPr/>
        </p:nvSpPr>
        <p:spPr>
          <a:xfrm>
            <a:off x="8270315" y="2297737"/>
            <a:ext cx="1223697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Header</a:t>
            </a:r>
            <a:endParaRPr b="1" dirty="0">
              <a:solidFill>
                <a:srgbClr val="E8823E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0DDCD626-A080-C1D9-3226-69D224FF1AC4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693250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{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alg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"HS256"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  </a:t>
            </a:r>
            <a:r>
              <a:rPr lang="pt-BR" b="1" dirty="0">
                <a:latin typeface="Consolas" panose="020B0609020204030204" pitchFamily="49" charset="0"/>
              </a:rPr>
              <a:t>"</a:t>
            </a:r>
            <a:r>
              <a:rPr lang="pt-BR" b="1" dirty="0" err="1">
                <a:latin typeface="Consolas" panose="020B0609020204030204" pitchFamily="49" charset="0"/>
              </a:rPr>
              <a:t>typ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"JWT"</a:t>
            </a:r>
          </a:p>
          <a:p>
            <a:r>
              <a:rPr lang="pt-BR" b="1" dirty="0">
                <a:latin typeface="Consolas" panose="020B0609020204030204" pitchFamily="49" charset="0"/>
              </a:rPr>
              <a:t>}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521DA90-EE58-D051-0A5D-03B31B96D164}"/>
              </a:ext>
            </a:extLst>
          </p:cNvPr>
          <p:cNvSpPr txBox="1"/>
          <p:nvPr/>
        </p:nvSpPr>
        <p:spPr>
          <a:xfrm>
            <a:off x="917733" y="4992130"/>
            <a:ext cx="10475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algoritmo usado na assinatura. HS256 significa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HMAC com SHA-256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que utiliza uma chave secreta.</a:t>
            </a:r>
          </a:p>
          <a:p>
            <a:pPr algn="just"/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o tipo do token. Nesse caso,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JWT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Web Token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619611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7725-D9EB-EAF0-B1AA-B6F3A543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64B7B9-516B-31A9-45BE-FCE5F9CE2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631EF554-D61C-53C4-EE38-1409A6463D91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A466D11-1E46-FCCA-9B84-D89E1CF19917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b="1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b="1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CB0A537A-D74F-B308-53A8-5E7622C3DCFF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4F105558-920F-2A8A-A46B-980836D8F19D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242527F-E8D4-62D3-24EE-8647DC280F6A}"/>
              </a:ext>
            </a:extLst>
          </p:cNvPr>
          <p:cNvSpPr>
            <a:spLocks noGrp="1"/>
          </p:cNvSpPr>
          <p:nvPr/>
        </p:nvSpPr>
        <p:spPr>
          <a:xfrm>
            <a:off x="8224742" y="2297737"/>
            <a:ext cx="1314843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 err="1">
                <a:solidFill>
                  <a:srgbClr val="968BF9"/>
                </a:solidFill>
                <a:latin typeface="Consolas" panose="020B0609020204030204" pitchFamily="49" charset="0"/>
              </a:rPr>
              <a:t>Payload</a:t>
            </a:r>
            <a:endParaRPr b="1" dirty="0">
              <a:solidFill>
                <a:srgbClr val="968BF9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34E81E43-2BCB-45E5-87AE-28AEF19CBB28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693250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{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iss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"API Dentista"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latin typeface="Consolas" panose="020B0609020204030204" pitchFamily="49" charset="0"/>
              </a:rPr>
              <a:t>  "sub":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"pedro@gmail.com"</a:t>
            </a:r>
            <a:r>
              <a:rPr lang="pt-BR" b="1" dirty="0">
                <a:latin typeface="Consolas" panose="020B0609020204030204" pitchFamily="49" charset="0"/>
              </a:rPr>
              <a:t>,</a:t>
            </a:r>
          </a:p>
          <a:p>
            <a:r>
              <a:rPr lang="pt-BR" b="1" dirty="0">
                <a:latin typeface="Consolas" panose="020B0609020204030204" pitchFamily="49" charset="0"/>
              </a:rPr>
              <a:t>  "</a:t>
            </a:r>
            <a:r>
              <a:rPr lang="pt-BR" b="1" dirty="0" err="1">
                <a:latin typeface="Consolas" panose="020B0609020204030204" pitchFamily="49" charset="0"/>
              </a:rPr>
              <a:t>exp</a:t>
            </a:r>
            <a:r>
              <a:rPr lang="pt-BR" b="1" dirty="0">
                <a:latin typeface="Consolas" panose="020B0609020204030204" pitchFamily="49" charset="0"/>
              </a:rPr>
              <a:t>": 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1790646334</a:t>
            </a:r>
          </a:p>
          <a:p>
            <a:r>
              <a:rPr lang="pt-BR" b="1" dirty="0">
                <a:latin typeface="Consolas" panose="020B0609020204030204" pitchFamily="49" charset="0"/>
              </a:rPr>
              <a:t>}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B044A3A-DE76-EC67-ADB2-F1B47093E9D9}"/>
              </a:ext>
            </a:extLst>
          </p:cNvPr>
          <p:cNvSpPr txBox="1"/>
          <p:nvPr/>
        </p:nvSpPr>
        <p:spPr>
          <a:xfrm>
            <a:off x="917733" y="4992130"/>
            <a:ext cx="104752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Issuer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 quem emitiu o token: “API Dentista”.</a:t>
            </a:r>
          </a:p>
          <a:p>
            <a:pPr algn="just"/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Subject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 o usuário: “pedro@gmail.com”.</a:t>
            </a:r>
          </a:p>
          <a:p>
            <a:pPr algn="just"/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Expiration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 quando o token perde a validade.</a:t>
            </a:r>
          </a:p>
        </p:txBody>
      </p:sp>
    </p:spTree>
    <p:extLst>
      <p:ext uri="{BB962C8B-B14F-4D97-AF65-F5344CB8AC3E}">
        <p14:creationId xmlns:p14="http://schemas.microsoft.com/office/powerpoint/2010/main" val="61838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256D2-7388-109F-0715-A3AFF351D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956C3D-6761-60B9-83E8-85ACAAE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 Web Token (JWT) </a:t>
            </a:r>
            <a:r>
              <a:rPr lang="pt-BR" dirty="0" err="1"/>
              <a:t>Debugger</a:t>
            </a:r>
            <a:br>
              <a:rPr lang="pt-BR" dirty="0"/>
            </a:br>
            <a:endParaRPr lang="pt-BR" dirty="0"/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F8049104-872F-6B30-4940-880D33DA9BBF}"/>
              </a:ext>
            </a:extLst>
          </p:cNvPr>
          <p:cNvSpPr>
            <a:spLocks noGrp="1"/>
          </p:cNvSpPr>
          <p:nvPr/>
        </p:nvSpPr>
        <p:spPr>
          <a:xfrm>
            <a:off x="749185" y="2115485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2FF584A-B2C0-D36B-DD46-4B9BE5049D74}"/>
              </a:ext>
            </a:extLst>
          </p:cNvPr>
          <p:cNvSpPr>
            <a:spLocks noGrp="1"/>
          </p:cNvSpPr>
          <p:nvPr/>
        </p:nvSpPr>
        <p:spPr>
          <a:xfrm>
            <a:off x="1556492" y="2297737"/>
            <a:ext cx="3407081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2250" dirty="0">
                <a:solidFill>
                  <a:srgbClr val="757575"/>
                </a:solidFill>
                <a:latin typeface="Consolas"/>
                <a:ea typeface="Consolas"/>
                <a:cs typeface="Consolas"/>
              </a:rPr>
              <a:t>JSON Web Token (JWT)</a:t>
            </a:r>
            <a:endParaRPr sz="2250" dirty="0">
              <a:solidFill>
                <a:srgbClr val="757575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853A0386-2DD7-7678-F4A2-8B61496BBA47}"/>
              </a:ext>
            </a:extLst>
          </p:cNvPr>
          <p:cNvSpPr>
            <a:spLocks noGrp="1"/>
          </p:cNvSpPr>
          <p:nvPr/>
        </p:nvSpPr>
        <p:spPr>
          <a:xfrm>
            <a:off x="917733" y="2895225"/>
            <a:ext cx="4734403" cy="1693251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solidFill>
                  <a:srgbClr val="E8823E"/>
                </a:solidFill>
                <a:latin typeface="Consolas" panose="020B0609020204030204" pitchFamily="49" charset="0"/>
              </a:rPr>
              <a:t>eyJhbGciOiJIUzI1NiIsInR5cCI6IkpXVCJ9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968BF9"/>
                </a:solidFill>
                <a:latin typeface="Consolas" panose="020B0609020204030204" pitchFamily="49" charset="0"/>
              </a:rPr>
              <a:t>eyJpc3MiOiJBUEkgRGVudGlzdGEiLCJzdWIiOiJwZWRyb0BnbWFpbC5jb20iLCJleHAiOjE3OTA2NDYzMzR9</a:t>
            </a:r>
            <a:r>
              <a:rPr lang="pt-BR" dirty="0">
                <a:latin typeface="Consolas" panose="020B0609020204030204" pitchFamily="49" charset="0"/>
              </a:rPr>
              <a:t>.</a:t>
            </a: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M_EYnADTjDNKXJj7RJTpyyQRxQ5fRBp3bMJj6nT0xsk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37613147-D678-CD73-22BB-B848A7BCDF67}"/>
              </a:ext>
            </a:extLst>
          </p:cNvPr>
          <p:cNvSpPr>
            <a:spLocks noGrp="1"/>
          </p:cNvSpPr>
          <p:nvPr/>
        </p:nvSpPr>
        <p:spPr>
          <a:xfrm>
            <a:off x="6371316" y="2104524"/>
            <a:ext cx="5021695" cy="2604796"/>
          </a:xfrm>
          <a:prstGeom prst="roundRect">
            <a:avLst>
              <a:gd name="adj" fmla="val 8081"/>
            </a:avLst>
          </a:prstGeom>
          <a:solidFill>
            <a:srgbClr val="F1F1F1"/>
          </a:solidFill>
          <a:ln>
            <a:noFill/>
          </a:ln>
          <a:effectLst/>
        </p:spPr>
        <p:txBody>
          <a:bodyPr/>
          <a:lstStyle/>
          <a:p>
            <a:endParaRPr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33F8872-6018-111A-15DB-ED3E28106B15}"/>
              </a:ext>
            </a:extLst>
          </p:cNvPr>
          <p:cNvSpPr>
            <a:spLocks noGrp="1"/>
          </p:cNvSpPr>
          <p:nvPr/>
        </p:nvSpPr>
        <p:spPr>
          <a:xfrm>
            <a:off x="7973732" y="2297737"/>
            <a:ext cx="1816862" cy="4042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b="1" dirty="0">
                <a:solidFill>
                  <a:srgbClr val="0C945D"/>
                </a:solidFill>
                <a:latin typeface="Consolas" panose="020B0609020204030204" pitchFamily="49" charset="0"/>
              </a:rPr>
              <a:t>Assinatura</a:t>
            </a:r>
            <a:endParaRPr b="1" dirty="0">
              <a:solidFill>
                <a:srgbClr val="0C945D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20">
            <a:extLst>
              <a:ext uri="{FF2B5EF4-FFF2-40B4-BE49-F238E27FC236}">
                <a16:creationId xmlns:a16="http://schemas.microsoft.com/office/drawing/2014/main" id="{F9064ED9-4E07-E54B-1078-5258C486C98C}"/>
              </a:ext>
            </a:extLst>
          </p:cNvPr>
          <p:cNvSpPr>
            <a:spLocks noGrp="1"/>
          </p:cNvSpPr>
          <p:nvPr/>
        </p:nvSpPr>
        <p:spPr>
          <a:xfrm>
            <a:off x="6539864" y="2895226"/>
            <a:ext cx="4734403" cy="1446115"/>
          </a:xfrm>
          <a:prstGeom prst="roundRect">
            <a:avLst>
              <a:gd name="adj" fmla="val 8081"/>
            </a:avLst>
          </a:prstGeom>
          <a:solidFill>
            <a:schemeClr val="bg1"/>
          </a:solidFill>
          <a:ln>
            <a:noFill/>
          </a:ln>
          <a:effectLst/>
        </p:spPr>
        <p:txBody>
          <a:bodyPr/>
          <a:lstStyle/>
          <a:p>
            <a:r>
              <a:rPr lang="pt-BR" b="1" dirty="0">
                <a:latin typeface="Consolas" panose="020B0609020204030204" pitchFamily="49" charset="0"/>
              </a:rPr>
              <a:t>a-string-secret-at-least-256-bits-long</a:t>
            </a:r>
            <a:endParaRPr b="1" dirty="0">
              <a:latin typeface="Consolas" panose="020B0609020204030204" pitchFamily="49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7A17316-03FF-4294-C321-8FC88FAF50A3}"/>
              </a:ext>
            </a:extLst>
          </p:cNvPr>
          <p:cNvSpPr txBox="1"/>
          <p:nvPr/>
        </p:nvSpPr>
        <p:spPr>
          <a:xfrm>
            <a:off x="917733" y="4992130"/>
            <a:ext cx="10475278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Assinatura —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gerada pelo HMAC-SHA256 usando o header, o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payload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a chave secreta. Ao receber o token, o servidor recalcula a assinatura e compara com a recebida para verificar se houve alterações. A chave secreta permanece no servidor e não é enviada no JWT.</a:t>
            </a:r>
          </a:p>
        </p:txBody>
      </p:sp>
    </p:spTree>
    <p:extLst>
      <p:ext uri="{BB962C8B-B14F-4D97-AF65-F5344CB8AC3E}">
        <p14:creationId xmlns:p14="http://schemas.microsoft.com/office/powerpoint/2010/main" val="3941131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CCB3AB-D229-A2CB-E462-173E92DAD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000000"/>
                </a:solidFill>
                <a:ea typeface="Calibri Light"/>
              </a:rPr>
              <a:t>O método </a:t>
            </a:r>
            <a:r>
              <a:rPr lang="pt-BR" dirty="0" err="1">
                <a:solidFill>
                  <a:srgbClr val="000000"/>
                </a:solidFill>
                <a:ea typeface="Calibri Light"/>
              </a:rPr>
              <a:t>gerarToken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717CB-1FFB-F67B-C594-0DE83D800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34540"/>
            <a:ext cx="11007306" cy="633830"/>
          </a:xfrm>
        </p:spPr>
        <p:txBody>
          <a:bodyPr/>
          <a:lstStyle/>
          <a:p>
            <a:r>
              <a:rPr lang="pt-BR" dirty="0"/>
              <a:t>Recebe o usuário autenticado e devolve o JWT como texto.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857250" y="2268370"/>
            <a:ext cx="10477500" cy="360304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1095375" y="2498265"/>
            <a:ext cx="10001250" cy="31432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public String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gerarToken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(Usuario usuario)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try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var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= Algorithm.HMAC256("12345678");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return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JWT.create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withIssuer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("API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Dentista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withSubject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usuario.getLogin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withExpiresAt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        .sign(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} catch (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JWTCreationException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exception) {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throw new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RuntimeException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("Erro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ao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</a:t>
            </a: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o token", exception);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defRPr sz="16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16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  <a:endParaRPr sz="1400" b="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0C7FB90-4681-B1A0-3A2A-86C35AAB7B23}"/>
              </a:ext>
            </a:extLst>
          </p:cNvPr>
          <p:cNvSpPr txBox="1"/>
          <p:nvPr/>
        </p:nvSpPr>
        <p:spPr>
          <a:xfrm>
            <a:off x="592347" y="6147955"/>
            <a:ext cx="6112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Visão geral: configurar, preencher as informações e assinar.</a:t>
            </a:r>
          </a:p>
        </p:txBody>
      </p:sp>
    </p:spTree>
    <p:extLst>
      <p:ext uri="{BB962C8B-B14F-4D97-AF65-F5344CB8AC3E}">
        <p14:creationId xmlns:p14="http://schemas.microsoft.com/office/powerpoint/2010/main" val="4152361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18A9D4-F52E-85F4-D81C-F432B6828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HMAC256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EC520C4-45A9-3A63-E593-02467DAC8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HMAC256</a:t>
            </a:r>
            <a:r>
              <a:rPr lang="pt-BR" dirty="0"/>
              <a:t> é um método que configura o algoritmo </a:t>
            </a:r>
            <a:r>
              <a:rPr lang="pt-BR" b="1" dirty="0"/>
              <a:t>HMAC com SHA-256</a:t>
            </a:r>
            <a:r>
              <a:rPr lang="pt-BR" dirty="0"/>
              <a:t> e a </a:t>
            </a:r>
            <a:r>
              <a:rPr lang="pt-BR" b="1" dirty="0"/>
              <a:t>chave secreta</a:t>
            </a:r>
            <a:r>
              <a:rPr lang="pt-BR" dirty="0"/>
              <a:t> usada na assinatura do JWT. Essa assinatura permite verificar se o token foi gerado por quem conhece a chave e se seu conteúdo foi alterado.</a:t>
            </a:r>
          </a:p>
          <a:p>
            <a:endParaRPr lang="pt-BR" dirty="0"/>
          </a:p>
          <a:p>
            <a:r>
              <a:rPr lang="pt-BR" b="1" dirty="0"/>
              <a:t>SHA-256 é uma função de </a:t>
            </a:r>
            <a:r>
              <a:rPr lang="pt-BR" b="1" dirty="0" err="1"/>
              <a:t>hash</a:t>
            </a:r>
            <a:r>
              <a:rPr lang="pt-BR" b="1" dirty="0"/>
              <a:t>:</a:t>
            </a:r>
            <a:r>
              <a:rPr lang="pt-BR" dirty="0"/>
              <a:t> recebe dados e gera um resultado de tamanho fixo, com </a:t>
            </a:r>
            <a:r>
              <a:rPr lang="pt-BR" b="1" dirty="0"/>
              <a:t>256 bits</a:t>
            </a:r>
            <a:r>
              <a:rPr lang="pt-BR" dirty="0"/>
              <a:t>, como uma “impressão digital” desses dados.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Os mesmos dados sempre geram o mesmo resultado.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Uma pequena alteração nos dados muda o resultado.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Não existe uma operação de “descriptografar” o </a:t>
            </a:r>
            <a:r>
              <a:rPr lang="pt-BR" dirty="0" err="1"/>
              <a:t>hash</a:t>
            </a:r>
            <a:r>
              <a:rPr lang="pt-BR" dirty="0"/>
              <a:t> para recuperar os dados originais.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6161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1BCB6-ABC5-FFF3-ABBA-068DA6F83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Entrada e retorno do método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E2F937E-4CCE-8FBC-AF07-8E087A74A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818314"/>
          </a:xfrm>
        </p:spPr>
        <p:txBody>
          <a:bodyPr/>
          <a:lstStyle/>
          <a:p>
            <a:r>
              <a:rPr lang="pt-BR" dirty="0"/>
              <a:t>O parâmetro usuario fornece os dados de quem acabou de fazer login.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2994862"/>
            <a:ext cx="7920000" cy="12001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777290" y="3370527"/>
            <a:ext cx="6637421" cy="43611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25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2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public String </a:t>
            </a:r>
            <a:r>
              <a:rPr sz="225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gerarToken</a:t>
            </a:r>
            <a:r>
              <a:rPr sz="225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(Usuario usuario)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AC7D119-8438-9E7D-368E-5849E4072D73}"/>
              </a:ext>
            </a:extLst>
          </p:cNvPr>
          <p:cNvSpPr txBox="1"/>
          <p:nvPr/>
        </p:nvSpPr>
        <p:spPr>
          <a:xfrm>
            <a:off x="592347" y="4998804"/>
            <a:ext cx="6112042" cy="8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Usuario </a:t>
            </a:r>
            <a:r>
              <a:rPr lang="pt-BR" sz="1800" dirty="0" err="1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usuario</a:t>
            </a: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objeto recebido.</a:t>
            </a:r>
          </a:p>
          <a:p>
            <a:pPr algn="l">
              <a:lnSpc>
                <a:spcPct val="150000"/>
              </a:lnSpc>
              <a:defRPr sz="21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lang="pt-BR" sz="1800" dirty="0" err="1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String</a:t>
            </a:r>
            <a:r>
              <a:rPr lang="pt-BR" sz="1800" dirty="0">
                <a:solidFill>
                  <a:srgbClr val="0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: tipo do token devolvido pelo método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4196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DD734-2235-25E4-FFF7-171D3E517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 e chave secreta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668DE5-E4E8-447F-12B3-12EAB6095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96600"/>
          </a:xfrm>
        </p:spPr>
        <p:txBody>
          <a:bodyPr/>
          <a:lstStyle/>
          <a:p>
            <a:r>
              <a:rPr lang="pt-BR" dirty="0"/>
              <a:t>HMAC256 define a assinatura HMAC com SHA-256.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242303"/>
            <a:ext cx="7920000" cy="1041999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613085" y="3564243"/>
            <a:ext cx="6965830" cy="39811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1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1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var </a:t>
            </a:r>
            <a:r>
              <a:rPr sz="21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21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= Algorithm.HMAC256("12345678");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F1C4A8C3-4972-8082-0945-48E2FDC82600}"/>
              </a:ext>
            </a:extLst>
          </p:cNvPr>
          <p:cNvSpPr txBox="1">
            <a:spLocks/>
          </p:cNvSpPr>
          <p:nvPr/>
        </p:nvSpPr>
        <p:spPr>
          <a:xfrm>
            <a:off x="592347" y="5085331"/>
            <a:ext cx="11007306" cy="1041999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chave secreta participa da assinatura e da verificação.</a:t>
            </a:r>
          </a:p>
          <a:p>
            <a:r>
              <a:rPr lang="pt-BR" dirty="0"/>
              <a:t>“12345678” é didática. Em produção, use uma chave forte fora do código.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50031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FDFF7-BA76-E300-808A-1A1E7E4C3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Início da construção do token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57825-BE28-F1FA-01D3-270CD2A32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91491"/>
          </a:xfrm>
        </p:spPr>
        <p:txBody>
          <a:bodyPr/>
          <a:lstStyle/>
          <a:p>
            <a:r>
              <a:rPr lang="pt-BR" dirty="0" err="1"/>
              <a:t>JWT.create</a:t>
            </a:r>
            <a:r>
              <a:rPr lang="pt-BR" dirty="0"/>
              <a:t>() inicia a construção de um novo JWT.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65901"/>
            <a:ext cx="7920000" cy="123178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524916" y="3539802"/>
            <a:ext cx="3515264" cy="48397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return 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JWT.create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F26C6E5-B2F8-A0C9-1E0C-A5C01DEE8ADC}"/>
              </a:ext>
            </a:extLst>
          </p:cNvPr>
          <p:cNvSpPr txBox="1">
            <a:spLocks/>
          </p:cNvSpPr>
          <p:nvPr/>
        </p:nvSpPr>
        <p:spPr>
          <a:xfrm>
            <a:off x="611289" y="5027417"/>
            <a:ext cx="11007306" cy="123178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Os métodos seguintes adicionam informações ao token.</a:t>
            </a:r>
          </a:p>
          <a:p>
            <a:r>
              <a:rPr lang="pt-BR" dirty="0"/>
              <a:t>O </a:t>
            </a:r>
            <a:r>
              <a:rPr lang="pt-BR" dirty="0" err="1"/>
              <a:t>return</a:t>
            </a:r>
            <a:r>
              <a:rPr lang="pt-BR" dirty="0"/>
              <a:t> devolverá a </a:t>
            </a:r>
            <a:r>
              <a:rPr lang="pt-BR" dirty="0" err="1"/>
              <a:t>String</a:t>
            </a:r>
            <a:r>
              <a:rPr lang="pt-BR" dirty="0"/>
              <a:t> produzida por </a:t>
            </a:r>
            <a:r>
              <a:rPr lang="pt-BR" dirty="0" err="1"/>
              <a:t>sign</a:t>
            </a:r>
            <a:r>
              <a:rPr lang="pt-BR" dirty="0"/>
              <a:t>().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5478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8D1E0F-7C9A-1115-FAEF-E8CDF7898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Emissor do token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088FAE8-497E-1AF8-668D-A9E2EA87F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743250"/>
          </a:xfrm>
        </p:spPr>
        <p:txBody>
          <a:bodyPr/>
          <a:lstStyle/>
          <a:p>
            <a:r>
              <a:rPr lang="pt-BR" dirty="0" err="1"/>
              <a:t>withIssuer</a:t>
            </a:r>
            <a:r>
              <a:rPr lang="pt-BR" dirty="0"/>
              <a:t>() informa qual aplicação emitiu o token.</a:t>
            </a:r>
          </a:p>
          <a:p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1CE3781C-77C6-7AB2-70B8-B0B7A9C7EC56}"/>
              </a:ext>
            </a:extLst>
          </p:cNvPr>
          <p:cNvSpPr txBox="1">
            <a:spLocks/>
          </p:cNvSpPr>
          <p:nvPr/>
        </p:nvSpPr>
        <p:spPr>
          <a:xfrm>
            <a:off x="592347" y="5007692"/>
            <a:ext cx="11007306" cy="118607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Neste exemplo, o emissor é “API Dentista”.</a:t>
            </a:r>
          </a:p>
          <a:p>
            <a:r>
              <a:rPr lang="pt-BR" dirty="0"/>
              <a:t>Essa informação fica no campo </a:t>
            </a:r>
            <a:r>
              <a:rPr lang="pt-BR" dirty="0" err="1"/>
              <a:t>iss</a:t>
            </a:r>
            <a:r>
              <a:rPr lang="pt-BR" dirty="0"/>
              <a:t> do </a:t>
            </a:r>
            <a:r>
              <a:rPr lang="pt-BR" dirty="0" err="1"/>
              <a:t>payload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9607"/>
            <a:ext cx="7920000" cy="133350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421750" y="3532802"/>
            <a:ext cx="4774721" cy="52711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withIssuer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("API 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Dentista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556909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C9E559-6899-88CB-0B87-B93E617E9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Identificação do usuário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12824D-84D1-C700-B078-813FD2C68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734623"/>
          </a:xfrm>
        </p:spPr>
        <p:txBody>
          <a:bodyPr/>
          <a:lstStyle/>
          <a:p>
            <a:r>
              <a:rPr lang="pt-BR" dirty="0" err="1"/>
              <a:t>withSubject</a:t>
            </a:r>
            <a:r>
              <a:rPr lang="pt-BR" dirty="0"/>
              <a:t>() define a quem o token pertence.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EBCCE279-0BB7-A5C6-F0B3-36648C52FFCD}"/>
              </a:ext>
            </a:extLst>
          </p:cNvPr>
          <p:cNvSpPr txBox="1">
            <a:spLocks/>
          </p:cNvSpPr>
          <p:nvPr/>
        </p:nvSpPr>
        <p:spPr>
          <a:xfrm>
            <a:off x="592347" y="4852419"/>
            <a:ext cx="11007306" cy="1151161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getLogin</a:t>
            </a:r>
            <a:r>
              <a:rPr lang="pt-BR" dirty="0"/>
              <a:t>() obtém o login do usuário recebido.</a:t>
            </a:r>
          </a:p>
          <a:p>
            <a:r>
              <a:rPr lang="pt-BR" dirty="0"/>
              <a:t>O valor fica no campo sub do </a:t>
            </a:r>
            <a:r>
              <a:rPr lang="pt-BR" dirty="0" err="1"/>
              <a:t>payload</a:t>
            </a:r>
            <a:r>
              <a:rPr lang="pt-BR" dirty="0"/>
              <a:t>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1961431" y="3049108"/>
            <a:ext cx="7920000" cy="133350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247181" y="3409171"/>
            <a:ext cx="5680494" cy="6133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withSubject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usuario.getLogin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3553245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C0288-989F-97CF-147C-FC72C99C9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Prazo de validade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FAE0A2-0454-3FE8-2109-D8CADC223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743250"/>
          </a:xfrm>
        </p:spPr>
        <p:txBody>
          <a:bodyPr/>
          <a:lstStyle/>
          <a:p>
            <a:r>
              <a:rPr lang="pt-BR" dirty="0" err="1"/>
              <a:t>withExpiresAt</a:t>
            </a:r>
            <a:r>
              <a:rPr lang="pt-BR" dirty="0"/>
              <a:t>() registra o momento de expiração do token.</a:t>
            </a:r>
          </a:p>
          <a:p>
            <a:endParaRPr lang="pt-BR" dirty="0"/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05CFACAE-584D-9D92-721D-6887045CA489}"/>
              </a:ext>
            </a:extLst>
          </p:cNvPr>
          <p:cNvSpPr txBox="1">
            <a:spLocks/>
          </p:cNvSpPr>
          <p:nvPr/>
        </p:nvSpPr>
        <p:spPr>
          <a:xfrm>
            <a:off x="592347" y="4894443"/>
            <a:ext cx="11007306" cy="115156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err="1"/>
              <a:t>dataExpiracao</a:t>
            </a:r>
            <a:r>
              <a:rPr lang="pt-BR" dirty="0"/>
              <a:t>() é um método criado por nós para calcular esse momento.</a:t>
            </a:r>
          </a:p>
          <a:p>
            <a:r>
              <a:rPr lang="pt-BR" dirty="0"/>
              <a:t>A API deve verificar a expiração ao validar o token.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9607"/>
            <a:ext cx="7920000" cy="122315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428335" y="3434497"/>
            <a:ext cx="5404449" cy="6133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withExpiresAt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31032226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F607B4-5EE2-D5E4-24AB-B31F724EB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Assinatura e geração do JWT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E28F67-DB22-C007-2ED1-9EA25BC13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622480"/>
          </a:xfrm>
        </p:spPr>
        <p:txBody>
          <a:bodyPr/>
          <a:lstStyle/>
          <a:p>
            <a:r>
              <a:rPr lang="pt-BR" dirty="0" err="1"/>
              <a:t>sign</a:t>
            </a:r>
            <a:r>
              <a:rPr lang="pt-BR" dirty="0"/>
              <a:t>() usa o algoritmo e a chave definidos para assinar o token.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0074"/>
            <a:ext cx="7920000" cy="1035889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4377187" y="3370150"/>
            <a:ext cx="3437626" cy="5357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.sign(</a:t>
            </a: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algoritmo</a:t>
            </a:r>
            <a:r>
              <a:rPr sz="24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54539B01-62ED-F785-0E82-0E174A5B8864}"/>
              </a:ext>
            </a:extLst>
          </p:cNvPr>
          <p:cNvSpPr txBox="1">
            <a:spLocks/>
          </p:cNvSpPr>
          <p:nvPr/>
        </p:nvSpPr>
        <p:spPr>
          <a:xfrm>
            <a:off x="592347" y="4808882"/>
            <a:ext cx="11007306" cy="1194698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Esse método gera a </a:t>
            </a:r>
            <a:r>
              <a:rPr lang="pt-BR" dirty="0" err="1"/>
              <a:t>String</a:t>
            </a:r>
            <a:r>
              <a:rPr lang="pt-BR" dirty="0"/>
              <a:t> final do JWT.</a:t>
            </a:r>
          </a:p>
          <a:p>
            <a:r>
              <a:rPr lang="pt-BR" dirty="0"/>
              <a:t>A assinatura permite detectar alterações, mas não esconde o conteúdo.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9699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535210-2104-B5E9-6275-D12DED95B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Tratamento de falhas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339BFE-E94A-2D05-1B28-A4DA2606E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747" y="5036448"/>
            <a:ext cx="11007306" cy="1140065"/>
          </a:xfrm>
        </p:spPr>
        <p:txBody>
          <a:bodyPr/>
          <a:lstStyle/>
          <a:p>
            <a:r>
              <a:rPr lang="pt-BR" dirty="0" err="1"/>
              <a:t>RuntimeException</a:t>
            </a:r>
            <a:r>
              <a:rPr lang="pt-BR" dirty="0"/>
              <a:t> informa a falha ao código que chamou o método.</a:t>
            </a:r>
          </a:p>
          <a:p>
            <a:r>
              <a:rPr lang="pt-BR" dirty="0" err="1"/>
              <a:t>exception</a:t>
            </a:r>
            <a:r>
              <a:rPr lang="pt-BR" dirty="0"/>
              <a:t> preserva a causa original do erro.</a:t>
            </a:r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2834676"/>
            <a:ext cx="7920000" cy="1809750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2500942" y="3052943"/>
            <a:ext cx="7190117" cy="137321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catch (JWTCreationException exception) {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throw new RuntimeException(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"Erro ao gerar o token", exception);</a:t>
            </a:r>
          </a:p>
          <a:p>
            <a:pPr algn="l">
              <a:defRPr sz="2025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025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E50220C7-3DF3-0C51-AB5A-CD414DA05382}"/>
              </a:ext>
            </a:extLst>
          </p:cNvPr>
          <p:cNvSpPr txBox="1">
            <a:spLocks/>
          </p:cNvSpPr>
          <p:nvPr/>
        </p:nvSpPr>
        <p:spPr>
          <a:xfrm>
            <a:off x="744747" y="1997075"/>
            <a:ext cx="11007306" cy="70011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O catch captura JWTCreationException durante a criação do token.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82936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EDD820-2586-026C-E615-729B25A8F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Resultado da geração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D5CFBE-D260-DEBE-162F-3135C4902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91491"/>
          </a:xfrm>
        </p:spPr>
        <p:txBody>
          <a:bodyPr/>
          <a:lstStyle/>
          <a:p>
            <a:r>
              <a:rPr lang="pt-BR" dirty="0"/>
              <a:t>Ao final, </a:t>
            </a:r>
            <a:r>
              <a:rPr lang="pt-BR" dirty="0" err="1"/>
              <a:t>gerarToken</a:t>
            </a:r>
            <a:r>
              <a:rPr lang="pt-BR" dirty="0"/>
              <a:t>() retorna uma </a:t>
            </a:r>
            <a:r>
              <a:rPr lang="pt-BR" dirty="0" err="1"/>
              <a:t>String</a:t>
            </a:r>
            <a:r>
              <a:rPr lang="pt-BR" dirty="0"/>
              <a:t> com três partes.</a:t>
            </a:r>
          </a:p>
          <a:p>
            <a:endParaRPr lang="pt-BR" dirty="0"/>
          </a:p>
        </p:txBody>
      </p:sp>
      <p:sp>
        <p:nvSpPr>
          <p:cNvPr id="11" name="Shape 20">
            <a:extLst>
              <a:ext uri="{FF2B5EF4-FFF2-40B4-BE49-F238E27FC236}">
                <a16:creationId xmlns:a16="http://schemas.microsoft.com/office/drawing/2014/main" id="{EE383B37-7310-4563-9BC8-B173B5286B0D}"/>
              </a:ext>
            </a:extLst>
          </p:cNvPr>
          <p:cNvSpPr>
            <a:spLocks noGrp="1"/>
          </p:cNvSpPr>
          <p:nvPr/>
        </p:nvSpPr>
        <p:spPr>
          <a:xfrm>
            <a:off x="2136000" y="3124559"/>
            <a:ext cx="7920000" cy="122315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CE8AC7A-3364-4E97-BC2E-25CF018F1E04}"/>
              </a:ext>
            </a:extLst>
          </p:cNvPr>
          <p:cNvSpPr>
            <a:spLocks noGrp="1"/>
          </p:cNvSpPr>
          <p:nvPr/>
        </p:nvSpPr>
        <p:spPr>
          <a:xfrm>
            <a:off x="3730206" y="3468268"/>
            <a:ext cx="4731589" cy="5357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sz="24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header.payload.assinatura</a:t>
            </a:r>
            <a:endParaRPr sz="240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1A9E8C90-0EDA-90E3-170D-C456F86218C8}"/>
              </a:ext>
            </a:extLst>
          </p:cNvPr>
          <p:cNvSpPr txBox="1">
            <a:spLocks/>
          </p:cNvSpPr>
          <p:nvPr/>
        </p:nvSpPr>
        <p:spPr>
          <a:xfrm>
            <a:off x="592347" y="4936106"/>
            <a:ext cx="11007306" cy="1367226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O </a:t>
            </a:r>
            <a:r>
              <a:rPr lang="pt-BR" dirty="0" err="1"/>
              <a:t>controller</a:t>
            </a:r>
            <a:r>
              <a:rPr lang="pt-BR" dirty="0"/>
              <a:t> recebe essa </a:t>
            </a:r>
            <a:r>
              <a:rPr lang="pt-BR" dirty="0" err="1"/>
              <a:t>String</a:t>
            </a:r>
            <a:r>
              <a:rPr lang="pt-BR" dirty="0"/>
              <a:t> e pode devolvê-la na resposta do login.</a:t>
            </a:r>
          </a:p>
          <a:p>
            <a:r>
              <a:rPr lang="pt-BR" dirty="0"/>
              <a:t>Nas próximas requisições, a API precisará validar o token.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07768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D8B747-4C67-5760-0DEA-22D19C7E4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o prazo de validade do token JWT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6ED090-9A5D-5DBE-012C-38E83FB2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850900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Instant</a:t>
            </a:r>
            <a:r>
              <a:rPr lang="pt-BR" sz="1600" dirty="0"/>
              <a:t> representa um momento exato na linha do tempo, com data e hora, com referência em UTC. Nesse método, ele indica quando o token vai expirar.</a:t>
            </a:r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C713F90A-98C3-7128-5A9E-BF37EA3E68DE}"/>
              </a:ext>
            </a:extLst>
          </p:cNvPr>
          <p:cNvSpPr>
            <a:spLocks noGrp="1"/>
          </p:cNvSpPr>
          <p:nvPr/>
        </p:nvSpPr>
        <p:spPr>
          <a:xfrm>
            <a:off x="670766" y="3035540"/>
            <a:ext cx="10850468" cy="143908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552454E-3A28-F68C-53BA-B985DB79007C}"/>
              </a:ext>
            </a:extLst>
          </p:cNvPr>
          <p:cNvSpPr>
            <a:spLocks noGrp="1"/>
          </p:cNvSpPr>
          <p:nvPr/>
        </p:nvSpPr>
        <p:spPr>
          <a:xfrm>
            <a:off x="1169509" y="3284628"/>
            <a:ext cx="9852983" cy="94090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 err="1">
                <a:solidFill>
                  <a:srgbClr val="B07857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Instant </a:t>
            </a:r>
            <a:r>
              <a:rPr lang="pt-BR" sz="1600" dirty="0" err="1">
                <a:solidFill>
                  <a:srgbClr val="4D97DA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 {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pt-BR" sz="1600" dirty="0" err="1">
                <a:solidFill>
                  <a:srgbClr val="B07857"/>
                </a:solidFill>
                <a:latin typeface="Consolas"/>
              </a:rPr>
              <a:t>return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LocalDateTime.now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plusHours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(2).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toInstant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ZoneOffset.of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pt-BR" sz="1600" dirty="0">
                <a:solidFill>
                  <a:srgbClr val="548453"/>
                </a:solidFill>
                <a:latin typeface="Consolas"/>
                <a:ea typeface="Consolas"/>
                <a:cs typeface="Consolas"/>
              </a:rPr>
              <a:t>"-03:00"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));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  <a:endParaRPr sz="160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004E5172-6B42-B52D-5026-5A4169E1EF4B}"/>
              </a:ext>
            </a:extLst>
          </p:cNvPr>
          <p:cNvSpPr txBox="1">
            <a:spLocks/>
          </p:cNvSpPr>
          <p:nvPr/>
        </p:nvSpPr>
        <p:spPr>
          <a:xfrm>
            <a:off x="592347" y="4814589"/>
            <a:ext cx="11007306" cy="1633836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 err="1"/>
              <a:t>LocalDateTime.now</a:t>
            </a:r>
            <a:r>
              <a:rPr lang="pt-BR" sz="1600" b="1" dirty="0"/>
              <a:t>() </a:t>
            </a:r>
            <a:r>
              <a:rPr lang="pt-BR" sz="1600" dirty="0"/>
              <a:t>— Obtém a data e a hora atuais do servidor, sem guardar o fuso horário.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plusHours</a:t>
            </a:r>
            <a:r>
              <a:rPr lang="pt-BR" sz="1600" b="1" dirty="0"/>
              <a:t>(2) </a:t>
            </a:r>
            <a:r>
              <a:rPr lang="pt-BR" sz="1600" dirty="0"/>
              <a:t>— Adiciona duas horas a esse horário.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ZoneOffset.of</a:t>
            </a:r>
            <a:r>
              <a:rPr lang="pt-BR" sz="1600" b="1" dirty="0"/>
              <a:t>("-03:00") </a:t>
            </a:r>
            <a:r>
              <a:rPr lang="pt-BR" sz="1600" dirty="0"/>
              <a:t>— Define o deslocamento de três horas atrás do UTC.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toInstant</a:t>
            </a:r>
            <a:r>
              <a:rPr lang="pt-BR" sz="1600" b="1" dirty="0"/>
              <a:t>(...) </a:t>
            </a:r>
            <a:r>
              <a:rPr lang="pt-BR" sz="1600" dirty="0"/>
              <a:t>— Converte a data e a hora em um instante UTC, considerando o deslocamento</a:t>
            </a:r>
          </a:p>
        </p:txBody>
      </p:sp>
    </p:spTree>
    <p:extLst>
      <p:ext uri="{BB962C8B-B14F-4D97-AF65-F5344CB8AC3E}">
        <p14:creationId xmlns:p14="http://schemas.microsoft.com/office/powerpoint/2010/main" val="1221550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AFD3B-ED66-6B94-311D-32E12429B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F38EBC-B715-E031-137F-A5D22F76B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o prazo de validade do token JWT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5CBB8-BD99-3B03-8223-96AA95B97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850900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Instant</a:t>
            </a:r>
            <a:r>
              <a:rPr lang="pt-BR" sz="1600" dirty="0"/>
              <a:t> representa um momento exato na linha do tempo, com data e hora, com referência em UTC. Nesse método, ele indica quando o token vai expirar.</a:t>
            </a:r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28FBDC35-6754-8147-78FD-E9E9AE1D7026}"/>
              </a:ext>
            </a:extLst>
          </p:cNvPr>
          <p:cNvSpPr>
            <a:spLocks noGrp="1"/>
          </p:cNvSpPr>
          <p:nvPr/>
        </p:nvSpPr>
        <p:spPr>
          <a:xfrm>
            <a:off x="670766" y="3219152"/>
            <a:ext cx="10850468" cy="1439084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F805B7-DA1B-AA5F-39BC-907A71376424}"/>
              </a:ext>
            </a:extLst>
          </p:cNvPr>
          <p:cNvSpPr>
            <a:spLocks noGrp="1"/>
          </p:cNvSpPr>
          <p:nvPr/>
        </p:nvSpPr>
        <p:spPr>
          <a:xfrm>
            <a:off x="1169509" y="3468240"/>
            <a:ext cx="9852983" cy="94090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 err="1">
                <a:solidFill>
                  <a:srgbClr val="B07857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Instant </a:t>
            </a:r>
            <a:r>
              <a:rPr lang="pt-BR" sz="1600" dirty="0" err="1">
                <a:solidFill>
                  <a:srgbClr val="4D97DA"/>
                </a:solidFill>
                <a:latin typeface="Consolas"/>
                <a:ea typeface="Consolas"/>
                <a:cs typeface="Consolas"/>
              </a:rPr>
              <a:t>dataExpiracao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 {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pt-BR" sz="1600" dirty="0" err="1">
                <a:solidFill>
                  <a:srgbClr val="B07857"/>
                </a:solidFill>
                <a:latin typeface="Consolas"/>
              </a:rPr>
              <a:t>return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Instant.now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pt-BR" sz="1600" dirty="0" err="1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plusSeconds</a:t>
            </a: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(7200);</a:t>
            </a:r>
          </a:p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}</a:t>
            </a:r>
            <a:endParaRPr sz="1600" dirty="0">
              <a:solidFill>
                <a:srgbClr val="D4D4D4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A8CFB04C-D926-CAAE-DAC2-331011ED45F0}"/>
              </a:ext>
            </a:extLst>
          </p:cNvPr>
          <p:cNvSpPr txBox="1">
            <a:spLocks/>
          </p:cNvSpPr>
          <p:nvPr/>
        </p:nvSpPr>
        <p:spPr>
          <a:xfrm>
            <a:off x="592347" y="5181812"/>
            <a:ext cx="11007306" cy="986136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 err="1"/>
              <a:t>Instant.now</a:t>
            </a:r>
            <a:r>
              <a:rPr lang="pt-BR" sz="1600" b="1" dirty="0"/>
              <a:t>() — </a:t>
            </a:r>
            <a:r>
              <a:rPr lang="pt-BR" sz="1600" dirty="0"/>
              <a:t>Obtém o momento atual, com referência em UTC.</a:t>
            </a:r>
          </a:p>
          <a:p>
            <a:r>
              <a:rPr lang="pt-BR" sz="1600" b="1" dirty="0"/>
              <a:t>.</a:t>
            </a:r>
            <a:r>
              <a:rPr lang="pt-BR" sz="1600" b="1" dirty="0" err="1"/>
              <a:t>plusSeconds</a:t>
            </a:r>
            <a:r>
              <a:rPr lang="pt-BR" sz="1600" b="1" dirty="0"/>
              <a:t>(7200) — </a:t>
            </a:r>
            <a:r>
              <a:rPr lang="pt-BR" sz="1600" dirty="0"/>
              <a:t>Retorna um novo instante com 7.200 segundos (2 horas) adicionados.</a:t>
            </a:r>
          </a:p>
        </p:txBody>
      </p:sp>
    </p:spTree>
    <p:extLst>
      <p:ext uri="{BB962C8B-B14F-4D97-AF65-F5344CB8AC3E}">
        <p14:creationId xmlns:p14="http://schemas.microsoft.com/office/powerpoint/2010/main" val="885890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B7E92-BBA3-7E8C-4ACC-78BD04FA0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Recuperando o usuário autenticado para gerar o JWT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877F17-7921-4D37-B6EB-F1A2E4E71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b="1" dirty="0" err="1"/>
              <a:t>authenticate</a:t>
            </a:r>
            <a:r>
              <a:rPr lang="pt-BR" b="1" dirty="0"/>
              <a:t>()</a:t>
            </a:r>
            <a:r>
              <a:rPr lang="pt-BR" dirty="0"/>
              <a:t> retorna o resultado da autenticação. Para gerar o JWT, usamos </a:t>
            </a:r>
            <a:r>
              <a:rPr lang="pt-BR" b="1" dirty="0" err="1"/>
              <a:t>getPrincipal</a:t>
            </a:r>
            <a:r>
              <a:rPr lang="pt-BR" b="1" dirty="0"/>
              <a:t>()</a:t>
            </a:r>
            <a:r>
              <a:rPr lang="pt-BR" dirty="0"/>
              <a:t> para recuperar o usuário autenticado e fazemos o </a:t>
            </a:r>
            <a:r>
              <a:rPr lang="pt-BR" b="1" dirty="0" err="1"/>
              <a:t>cast</a:t>
            </a:r>
            <a:r>
              <a:rPr lang="pt-BR" b="1" dirty="0"/>
              <a:t> para </a:t>
            </a:r>
            <a:r>
              <a:rPr lang="pt-BR" b="1" dirty="0" err="1"/>
              <a:t>Usuario</a:t>
            </a:r>
            <a:r>
              <a:rPr lang="pt-BR" dirty="0"/>
              <a:t>, tipo esperado pelo método </a:t>
            </a:r>
            <a:r>
              <a:rPr lang="pt-BR" b="1" dirty="0" err="1"/>
              <a:t>gerarToken</a:t>
            </a:r>
            <a:r>
              <a:rPr lang="pt-BR" b="1" dirty="0"/>
              <a:t>()</a:t>
            </a:r>
            <a:r>
              <a:rPr lang="pt-BR" dirty="0"/>
              <a:t>.</a:t>
            </a:r>
          </a:p>
        </p:txBody>
      </p:sp>
      <p:sp>
        <p:nvSpPr>
          <p:cNvPr id="4" name="Shape 20">
            <a:extLst>
              <a:ext uri="{FF2B5EF4-FFF2-40B4-BE49-F238E27FC236}">
                <a16:creationId xmlns:a16="http://schemas.microsoft.com/office/drawing/2014/main" id="{8D268882-3BE3-3D6E-5088-1DCF5F2678C9}"/>
              </a:ext>
            </a:extLst>
          </p:cNvPr>
          <p:cNvSpPr>
            <a:spLocks noGrp="1"/>
          </p:cNvSpPr>
          <p:nvPr/>
        </p:nvSpPr>
        <p:spPr>
          <a:xfrm>
            <a:off x="749185" y="3537294"/>
            <a:ext cx="10850468" cy="866775"/>
          </a:xfrm>
          <a:prstGeom prst="roundRect">
            <a:avLst>
              <a:gd name="adj" fmla="val 8081"/>
            </a:avLst>
          </a:prstGeom>
          <a:solidFill>
            <a:srgbClr val="1E1E1E"/>
          </a:solidFill>
          <a:ln>
            <a:solidFill>
              <a:srgbClr val="1E1E1E"/>
            </a:solidFill>
          </a:ln>
        </p:spPr>
        <p:txBody>
          <a:bodyPr/>
          <a:lstStyle/>
          <a:p>
            <a:endParaRPr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81DA0D7-03F3-8047-D4EB-E71CB186A515}"/>
              </a:ext>
            </a:extLst>
          </p:cNvPr>
          <p:cNvSpPr>
            <a:spLocks noGrp="1"/>
          </p:cNvSpPr>
          <p:nvPr/>
        </p:nvSpPr>
        <p:spPr>
          <a:xfrm>
            <a:off x="1247928" y="3738037"/>
            <a:ext cx="9852983" cy="4652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defRPr sz="2400">
                <a:solidFill>
                  <a:srgbClr val="D4D4D4"/>
                </a:solidFill>
                <a:latin typeface="Consolas"/>
                <a:ea typeface="Consolas"/>
                <a:cs typeface="Consolas"/>
              </a:defRPr>
            </a:pP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>
                <a:solidFill>
                  <a:srgbClr val="B87958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tokenJWT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pt-BR" sz="1600" dirty="0" err="1">
                <a:solidFill>
                  <a:srgbClr val="C77DB9"/>
                </a:solidFill>
                <a:latin typeface="Consolas"/>
                <a:ea typeface="Consolas"/>
                <a:cs typeface="Consolas"/>
              </a:rPr>
              <a:t>tokenService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.gerarToken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((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Usuario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) </a:t>
            </a:r>
            <a:r>
              <a:rPr lang="pt-BR" sz="160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authenticaon.getPrincipal</a:t>
            </a:r>
            <a:r>
              <a:rPr lang="pt-BR" sz="160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());</a:t>
            </a:r>
            <a:endParaRPr sz="1600" dirty="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060042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825</TotalTime>
  <Words>1353</Words>
  <Application>Microsoft Office PowerPoint</Application>
  <PresentationFormat>Widescreen</PresentationFormat>
  <Paragraphs>138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 Light</vt:lpstr>
      <vt:lpstr>Consolas</vt:lpstr>
      <vt:lpstr>Times New Roman</vt:lpstr>
      <vt:lpstr>Tema do Office</vt:lpstr>
      <vt:lpstr>JSON Web Token (JWT)</vt:lpstr>
      <vt:lpstr>Objetivos da aula</vt:lpstr>
      <vt:lpstr>JWT (JSON Web Token) </vt:lpstr>
      <vt:lpstr>JSON Web Token (JWT) Debugger </vt:lpstr>
      <vt:lpstr>JSON Web Token (JWT) Debugger </vt:lpstr>
      <vt:lpstr>JSON Web Token (JWT) Debugger </vt:lpstr>
      <vt:lpstr>O método gerarToken</vt:lpstr>
      <vt:lpstr>HMAC256</vt:lpstr>
      <vt:lpstr>Entrada e retorno do método</vt:lpstr>
      <vt:lpstr>Algoritmo e chave secreta</vt:lpstr>
      <vt:lpstr>Início da construção do token</vt:lpstr>
      <vt:lpstr>Emissor do token</vt:lpstr>
      <vt:lpstr>Identificação do usuário</vt:lpstr>
      <vt:lpstr>Prazo de validade</vt:lpstr>
      <vt:lpstr>Assinatura e geração do JWT</vt:lpstr>
      <vt:lpstr>Tratamento de falhas</vt:lpstr>
      <vt:lpstr>Resultado da geração</vt:lpstr>
      <vt:lpstr>Definindo o prazo de validade do token JWT </vt:lpstr>
      <vt:lpstr>Definindo o prazo de validade do token JWT </vt:lpstr>
      <vt:lpstr>Recuperando o usuário autenticado para gerar o JWT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3314lab001</cp:lastModifiedBy>
  <cp:revision>119</cp:revision>
  <dcterms:created xsi:type="dcterms:W3CDTF">2024-03-08T12:14:33Z</dcterms:created>
  <dcterms:modified xsi:type="dcterms:W3CDTF">2026-09-29T13:08:50Z</dcterms:modified>
</cp:coreProperties>
</file>