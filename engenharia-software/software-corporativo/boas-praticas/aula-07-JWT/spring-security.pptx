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8"/>
  </p:notesMasterIdLst>
  <p:sldIdLst>
    <p:sldId id="256" r:id="rId2"/>
    <p:sldId id="278" r:id="rId3"/>
    <p:sldId id="297" r:id="rId4"/>
    <p:sldId id="298" r:id="rId5"/>
    <p:sldId id="301" r:id="rId6"/>
    <p:sldId id="302" r:id="rId7"/>
    <p:sldId id="303" r:id="rId8"/>
    <p:sldId id="304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1"/>
            <p14:sldId id="302"/>
            <p14:sldId id="303"/>
            <p14:sldId id="304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945D"/>
    <a:srgbClr val="E8823E"/>
    <a:srgbClr val="968BF9"/>
    <a:srgbClr val="757575"/>
    <a:srgbClr val="F1F1F1"/>
    <a:srgbClr val="191A1C"/>
    <a:srgbClr val="043073"/>
    <a:srgbClr val="48916E"/>
    <a:srgbClr val="3184F4"/>
    <a:srgbClr val="7E67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2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13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27BCA-F434-4017-9BD8-33CEB0219D72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32E6D2-070F-4BF4-86C0-53D883C4AF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3752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baseado no código do professor. Biblioteca Auth0 java-jwt. Referências: https://github.com/auth0/java-jwt e https://github.com/auth0/java-jwt/blob/master/lib/src/main/java/com/auth0/jwt/JWTCreator.java</a:t>
            </a:r>
          </a:p>
          <a:p>
            <a:r>
              <a:t>A autenticação deve ocorrer antes da emissão. Gerar um token não configura sua validação nas próximas requisições.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 b="1" dirty="0"/>
              <a:t>JSON Web Token (JWT)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Ao final desta aula, os alunos deverão ser capazes 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Compreender o papel do JWT</a:t>
            </a:r>
            <a:r>
              <a:rPr lang="pt-BR" sz="1800" dirty="0"/>
              <a:t> na autenticação de uma API sem sessão (</a:t>
            </a:r>
            <a:r>
              <a:rPr lang="pt-BR" sz="1800" i="1" dirty="0" err="1"/>
              <a:t>stateless</a:t>
            </a:r>
            <a:r>
              <a:rPr lang="pt-BR" sz="18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Identificar a estrutura de um JWT:</a:t>
            </a:r>
            <a:r>
              <a:rPr lang="pt-BR" sz="1800" dirty="0"/>
              <a:t> cabeçalho (</a:t>
            </a:r>
            <a:r>
              <a:rPr lang="pt-BR" sz="1800" i="1" dirty="0"/>
              <a:t>header</a:t>
            </a:r>
            <a:r>
              <a:rPr lang="pt-BR" sz="1800" dirty="0"/>
              <a:t>), informações (</a:t>
            </a:r>
            <a:r>
              <a:rPr lang="pt-BR" sz="1800" i="1" dirty="0" err="1"/>
              <a:t>payload</a:t>
            </a:r>
            <a:r>
              <a:rPr lang="pt-BR" sz="1800" dirty="0"/>
              <a:t>) e assinatura.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Configurar uma biblioteca para trabalhar com JWT</a:t>
            </a:r>
            <a:r>
              <a:rPr lang="pt-BR" sz="1800" dirty="0"/>
              <a:t> no projeto Spring Boot.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Implementar um serviço de geração de tokens</a:t>
            </a:r>
            <a:r>
              <a:rPr lang="pt-BR" sz="1800" dirty="0"/>
              <a:t>, definindo a identificação do usuário, o emissor e o prazo de validade.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Integrar a geração do token ao login</a:t>
            </a:r>
            <a:r>
              <a:rPr lang="pt-BR" sz="1800" dirty="0"/>
              <a:t>, retornando-o ao cliente após a validação das credenciais.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Testar o </a:t>
            </a:r>
            <a:r>
              <a:rPr lang="pt-BR" sz="1800" b="1" dirty="0" err="1"/>
              <a:t>endpoint</a:t>
            </a:r>
            <a:r>
              <a:rPr lang="pt-BR" sz="1800" b="1" dirty="0"/>
              <a:t> de autenticação</a:t>
            </a:r>
            <a:r>
              <a:rPr lang="pt-BR" sz="1800" dirty="0"/>
              <a:t>, verificando o retorno do token para credenciais válidas e a rejeição de credenciais inválidas.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2400" dirty="0"/>
              <a:t>JWT (JSON Web Token) </a:t>
            </a:r>
            <a:endParaRPr lang="pt-BR" sz="36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96548"/>
            <a:ext cx="11007306" cy="3962568"/>
          </a:xfrm>
        </p:spPr>
        <p:txBody>
          <a:bodyPr/>
          <a:lstStyle/>
          <a:p>
            <a:r>
              <a:rPr lang="pt-BR" sz="1800" b="1"/>
              <a:t>JWT (JSON Web Token)</a:t>
            </a:r>
            <a:r>
              <a:rPr lang="pt-BR" sz="1800"/>
              <a:t> é </a:t>
            </a:r>
            <a:r>
              <a:rPr lang="pt-BR" sz="1800" dirty="0"/>
              <a:t>um formato de token utilizado para transmitir informações entre sistemas. Na autenticação, ele permite que o cliente apresente informações sobre o usuário autenticado, cuja assinatura </a:t>
            </a:r>
            <a:r>
              <a:rPr lang="pt-BR" sz="1800" dirty="0" err="1"/>
              <a:t>podeser</a:t>
            </a:r>
            <a:r>
              <a:rPr lang="pt-BR" sz="1800" dirty="0"/>
              <a:t> verificada pela API.</a:t>
            </a:r>
          </a:p>
          <a:p>
            <a:endParaRPr lang="pt-BR" sz="1800" dirty="0"/>
          </a:p>
          <a:p>
            <a:r>
              <a:rPr lang="pt-BR" sz="1800" dirty="0"/>
              <a:t>O JWT possui três partes, separadas por pontos:</a:t>
            </a:r>
          </a:p>
          <a:p>
            <a:endParaRPr lang="pt-BR" sz="1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Header: informa o tipo do token e o algoritmo de assinatura.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 err="1"/>
              <a:t>Payload</a:t>
            </a:r>
            <a:r>
              <a:rPr lang="pt-BR" dirty="0"/>
              <a:t>: contém informações como a identificação do usuário e a expiração.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Assinatura: permite verificar se o token foi alterado e se foi assinado com a chave esperada.</a:t>
            </a:r>
          </a:p>
        </p:txBody>
      </p: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50BF0-2C44-C5F0-9056-D4A72A298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8266CC90-0DAD-400A-8CC5-546ACF88C87C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900A6DD-5EB2-33E4-5530-115078229CA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67C2ACCC-A0C7-62BA-485E-D7BD9ADE6E0A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8007F21-3F63-8F13-C876-63881DF3AA8C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E59C0F0-D10A-C5A8-6DE5-0ADFC48E6F35}"/>
              </a:ext>
            </a:extLst>
          </p:cNvPr>
          <p:cNvSpPr>
            <a:spLocks noGrp="1"/>
          </p:cNvSpPr>
          <p:nvPr/>
        </p:nvSpPr>
        <p:spPr>
          <a:xfrm>
            <a:off x="8270315" y="2297737"/>
            <a:ext cx="1223697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Header</a:t>
            </a:r>
            <a:endParaRPr b="1" dirty="0">
              <a:solidFill>
                <a:srgbClr val="E8823E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0DDCD626-A080-C1D9-3226-69D224FF1AC4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alg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"HS256"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  </a:t>
            </a:r>
            <a:r>
              <a:rPr lang="pt-BR" b="1" dirty="0">
                <a:latin typeface="Consolas" panose="020B0609020204030204" pitchFamily="49" charset="0"/>
              </a:rPr>
              <a:t>"</a:t>
            </a:r>
            <a:r>
              <a:rPr lang="pt-BR" b="1" dirty="0" err="1">
                <a:latin typeface="Consolas" panose="020B0609020204030204" pitchFamily="49" charset="0"/>
              </a:rPr>
              <a:t>typ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"JWT"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521DA90-EE58-D051-0A5D-03B31B96D164}"/>
              </a:ext>
            </a:extLst>
          </p:cNvPr>
          <p:cNvSpPr txBox="1"/>
          <p:nvPr/>
        </p:nvSpPr>
        <p:spPr>
          <a:xfrm>
            <a:off x="917733" y="4992130"/>
            <a:ext cx="10475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algoritmo usado na assinatura. HS256 significa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HMAC com SHA-256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que utiliza uma chave secreta.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tipo do token. Nesse caso,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JWT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Web Token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619611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7725-D9EB-EAF0-B1AA-B6F3A543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64B7B9-516B-31A9-45BE-FCE5F9CE2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631EF554-D61C-53C4-EE38-1409A6463D91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A466D11-1E46-FCCA-9B84-D89E1CF19917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CB0A537A-D74F-B308-53A8-5E7622C3DCFF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F105558-920F-2A8A-A46B-980836D8F19D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242527F-E8D4-62D3-24EE-8647DC280F6A}"/>
              </a:ext>
            </a:extLst>
          </p:cNvPr>
          <p:cNvSpPr>
            <a:spLocks noGrp="1"/>
          </p:cNvSpPr>
          <p:nvPr/>
        </p:nvSpPr>
        <p:spPr>
          <a:xfrm>
            <a:off x="8224742" y="2297737"/>
            <a:ext cx="1314843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 err="1">
                <a:solidFill>
                  <a:srgbClr val="968BF9"/>
                </a:solidFill>
                <a:latin typeface="Consolas" panose="020B0609020204030204" pitchFamily="49" charset="0"/>
              </a:rPr>
              <a:t>Payload</a:t>
            </a:r>
            <a:endParaRPr b="1" dirty="0">
              <a:solidFill>
                <a:srgbClr val="968BF9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34E81E43-2BCB-45E5-87AE-28AEF19CBB28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iss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"API Dentista"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latin typeface="Consolas" panose="020B0609020204030204" pitchFamily="49" charset="0"/>
              </a:rPr>
              <a:t>  "sub":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"pedro@gmail.com"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exp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1790646334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B044A3A-DE76-EC67-ADB2-F1B47093E9D9}"/>
              </a:ext>
            </a:extLst>
          </p:cNvPr>
          <p:cNvSpPr txBox="1"/>
          <p:nvPr/>
        </p:nvSpPr>
        <p:spPr>
          <a:xfrm>
            <a:off x="917733" y="4992130"/>
            <a:ext cx="104752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Issuer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 quem emitiu o token: “API Dentista”.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Subject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 o usuário: “pedro@gmail.com”.</a:t>
            </a:r>
          </a:p>
          <a:p>
            <a:pPr algn="just"/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Expiration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quando o token perde a validade.</a:t>
            </a:r>
          </a:p>
        </p:txBody>
      </p:sp>
    </p:spTree>
    <p:extLst>
      <p:ext uri="{BB962C8B-B14F-4D97-AF65-F5344CB8AC3E}">
        <p14:creationId xmlns:p14="http://schemas.microsoft.com/office/powerpoint/2010/main" val="61838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256D2-7388-109F-0715-A3AFF351D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956C3D-6761-60B9-83E8-85ACAAE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F8049104-872F-6B30-4940-880D33DA9BBF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2FF584A-B2C0-D36B-DD46-4B9BE5049D7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853A0386-2DD7-7678-F4A2-8B61496BBA47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37613147-D678-CD73-22BB-B848A7BCDF67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33F8872-6018-111A-15DB-ED3E28106B15}"/>
              </a:ext>
            </a:extLst>
          </p:cNvPr>
          <p:cNvSpPr>
            <a:spLocks noGrp="1"/>
          </p:cNvSpPr>
          <p:nvPr/>
        </p:nvSpPr>
        <p:spPr>
          <a:xfrm>
            <a:off x="8270315" y="2297737"/>
            <a:ext cx="1223697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 err="1">
                <a:solidFill>
                  <a:srgbClr val="0C945D"/>
                </a:solidFill>
                <a:latin typeface="Consolas" panose="020B0609020204030204" pitchFamily="49" charset="0"/>
              </a:rPr>
              <a:t>Secret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F9064ED9-4E07-E54B-1078-5258C486C98C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446115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a-string-secret-at-least-256-bits-long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7A17316-03FF-4294-C321-8FC88FAF50A3}"/>
              </a:ext>
            </a:extLst>
          </p:cNvPr>
          <p:cNvSpPr txBox="1"/>
          <p:nvPr/>
        </p:nvSpPr>
        <p:spPr>
          <a:xfrm>
            <a:off x="917733" y="4992130"/>
            <a:ext cx="10475278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secret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gerada pelo HMAC-SHA256 usando o header, o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payload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a chave secreta. Ao receber o token, o servidor recalcula a assinatura e compara com a recebida para verificar se houve alterações. A chave secreta permanece no servidor e não é enviada no JWT.</a:t>
            </a:r>
          </a:p>
        </p:txBody>
      </p:sp>
    </p:spTree>
    <p:extLst>
      <p:ext uri="{BB962C8B-B14F-4D97-AF65-F5344CB8AC3E}">
        <p14:creationId xmlns:p14="http://schemas.microsoft.com/office/powerpoint/2010/main" val="3941131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CCB3AB-D229-A2CB-E462-173E92DAD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00000"/>
                </a:solidFill>
                <a:ea typeface="Calibri Light"/>
              </a:rPr>
              <a:t>O método </a:t>
            </a:r>
            <a:r>
              <a:rPr lang="pt-BR" dirty="0" err="1">
                <a:solidFill>
                  <a:srgbClr val="000000"/>
                </a:solidFill>
                <a:ea typeface="Calibri Light"/>
              </a:rPr>
              <a:t>gerarToken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717CB-1FFB-F67B-C594-0DE83D800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34540"/>
            <a:ext cx="11007306" cy="633830"/>
          </a:xfrm>
        </p:spPr>
        <p:txBody>
          <a:bodyPr/>
          <a:lstStyle/>
          <a:p>
            <a:r>
              <a:rPr lang="pt-BR" dirty="0"/>
              <a:t>Recebe o usuário autenticado e devolve o JWT como texto.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268370"/>
            <a:ext cx="10477500" cy="360304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095375" y="2498265"/>
            <a:ext cx="10001250" cy="31432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public String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gerarToken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(Usuario usuario)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try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var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= Algorithm.HMAC256("12345678");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return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JWT.create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withIssuer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("API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Dentista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withSubject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usuario.getLogin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withExpiresAt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.sign(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} catch 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JWTCreationException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exception)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throw new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RuntimeException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("Erro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o token", exception);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400" b="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0C7FB90-4681-B1A0-3A2A-86C35AAB7B23}"/>
              </a:ext>
            </a:extLst>
          </p:cNvPr>
          <p:cNvSpPr txBox="1"/>
          <p:nvPr/>
        </p:nvSpPr>
        <p:spPr>
          <a:xfrm>
            <a:off x="592347" y="6147955"/>
            <a:ext cx="6112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Visão geral: configurar, preencher as informações e assinar.</a:t>
            </a:r>
          </a:p>
        </p:txBody>
      </p:sp>
    </p:spTree>
    <p:extLst>
      <p:ext uri="{BB962C8B-B14F-4D97-AF65-F5344CB8AC3E}">
        <p14:creationId xmlns:p14="http://schemas.microsoft.com/office/powerpoint/2010/main" val="4152361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1BCB6-ABC5-FFF3-ABBA-068DA6F83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Entrada e retorno do método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E2F937E-4CCE-8FBC-AF07-8E087A74A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818314"/>
          </a:xfrm>
        </p:spPr>
        <p:txBody>
          <a:bodyPr/>
          <a:lstStyle/>
          <a:p>
            <a:r>
              <a:rPr lang="pt-BR" dirty="0"/>
              <a:t>O parâmetro usuario fornece os dados de quem acabou de fazer login.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20294" y="2994862"/>
            <a:ext cx="7951412" cy="12001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777290" y="3370527"/>
            <a:ext cx="6637421" cy="43611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2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public String </a:t>
            </a:r>
            <a:r>
              <a:rPr sz="22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gerarToken</a:t>
            </a:r>
            <a:r>
              <a:rPr sz="22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(Usuario usuario)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AC7D119-8438-9E7D-368E-5849E4072D73}"/>
              </a:ext>
            </a:extLst>
          </p:cNvPr>
          <p:cNvSpPr txBox="1"/>
          <p:nvPr/>
        </p:nvSpPr>
        <p:spPr>
          <a:xfrm>
            <a:off x="592347" y="4998804"/>
            <a:ext cx="6112042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Usuario </a:t>
            </a:r>
            <a:r>
              <a:rPr lang="pt-BR" sz="1800" dirty="0" err="1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usuario</a:t>
            </a: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objeto recebido.</a:t>
            </a:r>
          </a:p>
          <a:p>
            <a:pPr algn="l">
              <a:lnSpc>
                <a:spcPct val="150000"/>
              </a:lnSpc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 err="1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String</a:t>
            </a: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tipo do token devolvido pelo método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4196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Algoritmo e chave secreta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HMAC256 define a assinatura HMAC com SHA-256.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1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1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var algoritmo = Algorithm.HMAC256("12345678");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C256F9A-320F-4308-970B-73CC74DE163B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chave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secreta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participa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da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assinatura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e da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verificação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“12345678” é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didática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Em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produção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uma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chave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forte fora do </a:t>
            </a:r>
            <a:r>
              <a:rPr sz="21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código</a:t>
            </a:r>
            <a:r>
              <a:rPr sz="21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0294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Início da construção do token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JWT.create() inicia a construção de um novo JWT.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return JWT.create()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30C5A26-7753-4D50-BCEF-4E3BB0EFA7A0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Os métodos seguintes adicionam informações ao token.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 return devolverá a String produzida por sign().</a:t>
            </a:r>
          </a:p>
        </p:txBody>
      </p:sp>
    </p:spTree>
    <p:extLst>
      <p:ext uri="{BB962C8B-B14F-4D97-AF65-F5344CB8AC3E}">
        <p14:creationId xmlns:p14="http://schemas.microsoft.com/office/powerpoint/2010/main" val="3265046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Emissor do token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withIssuer() informa qual aplicação emitiu o token.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.withIssuer("API Dentista")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8150B8E-0180-493E-A1C9-2DA4ED1F47D4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Neste exemplo, o emissor é “API Dentista”.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Essa informação fica no campo iss do payload.</a:t>
            </a:r>
          </a:p>
        </p:txBody>
      </p:sp>
    </p:spTree>
    <p:extLst>
      <p:ext uri="{BB962C8B-B14F-4D97-AF65-F5344CB8AC3E}">
        <p14:creationId xmlns:p14="http://schemas.microsoft.com/office/powerpoint/2010/main" val="3203962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Identificação do usuário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withSubject() define a quem o token pertence.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.withSubject(usuario.getLogin())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11847D07-BDBE-48C0-9AAE-576037B5A37D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getLogin() obtém o login do usuário recebido.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 valor fica no campo sub do payload.</a:t>
            </a:r>
          </a:p>
        </p:txBody>
      </p:sp>
    </p:spTree>
    <p:extLst>
      <p:ext uri="{BB962C8B-B14F-4D97-AF65-F5344CB8AC3E}">
        <p14:creationId xmlns:p14="http://schemas.microsoft.com/office/powerpoint/2010/main" val="260205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Prazo de validade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withExpiresAt() registra o momento de expiração do token.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.withExpiresAt(dataExpiracao())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B71F0EF-64D6-450C-8CA3-A9510514A359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dataExpiracao() é um método criado por nós para calcular esse momento.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API deve verificar a expiração ao validar o token.</a:t>
            </a:r>
          </a:p>
        </p:txBody>
      </p:sp>
    </p:spTree>
    <p:extLst>
      <p:ext uri="{BB962C8B-B14F-4D97-AF65-F5344CB8AC3E}">
        <p14:creationId xmlns:p14="http://schemas.microsoft.com/office/powerpoint/2010/main" val="679006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Assinatura e geração do JWT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sign() usa o algoritmo e a chave definidos para assinar o token.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.sign(algoritmo);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61CFA94-872C-4FD1-AE0A-00CFAFC57244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Esse método gera a String final do JWT.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assinatura permite detectar alterações, mas não esconde o conteúdo.</a:t>
            </a:r>
          </a:p>
        </p:txBody>
      </p:sp>
    </p:spTree>
    <p:extLst>
      <p:ext uri="{BB962C8B-B14F-4D97-AF65-F5344CB8AC3E}">
        <p14:creationId xmlns:p14="http://schemas.microsoft.com/office/powerpoint/2010/main" val="2376732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Tratamento de falhas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 catch captura JWTCreationException durante a criação do token.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0003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catch (JWTCreationException exception) {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throw new RuntimeException(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"Erro ao gerar o token", exception);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8AD5881-C2D8-42B9-B25B-797E0EEAD040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RuntimeException informa a falha ao código que chamou o método.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exception preserva a causa original do erro.</a:t>
            </a:r>
          </a:p>
        </p:txBody>
      </p:sp>
    </p:spTree>
    <p:extLst>
      <p:ext uri="{BB962C8B-B14F-4D97-AF65-F5344CB8AC3E}">
        <p14:creationId xmlns:p14="http://schemas.microsoft.com/office/powerpoint/2010/main" val="2946787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def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defRPr>
            </a:pPr>
            <a:r>
              <a:rPr sz="300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Resultado da geração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8096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4572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9144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3716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1828800" indent="0" algn="just" defTabSz="914400">
              <a:lnSpc>
                <a:spcPct val="150000"/>
              </a:lnSpc>
              <a:spcBef>
                <a:spcPts val="0"/>
              </a:spcBef>
              <a:buFont typeface="Arial"/>
              <a:buNone/>
              <a:defRPr sz="1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l">
              <a:defRPr sz="217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75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Ao final, gerarToken() retorna uma String com três partes.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104775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143000" y="3190875"/>
            <a:ext cx="10001250" cy="28651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header.payload.assinatura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B99E4F5A-80B5-4FCC-A324-04FBF17B8E3C}"/>
              </a:ext>
            </a:extLst>
          </p:cNvPr>
          <p:cNvSpPr>
            <a:spLocks noGrp="1"/>
          </p:cNvSpPr>
          <p:nvPr/>
        </p:nvSpPr>
        <p:spPr>
          <a:xfrm>
            <a:off x="685800" y="4905375"/>
            <a:ext cx="1082040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 controller recebe essa String e pode devolvê-la na resposta do login.</a:t>
            </a:r>
          </a:p>
          <a:p>
            <a:pPr algn="l"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Nas próximas requisições, a API precisará validar o token.</a:t>
            </a:r>
          </a:p>
        </p:txBody>
      </p:sp>
    </p:spTree>
    <p:extLst>
      <p:ext uri="{BB962C8B-B14F-4D97-AF65-F5344CB8AC3E}">
        <p14:creationId xmlns:p14="http://schemas.microsoft.com/office/powerpoint/2010/main" val="32544548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</TotalTime>
  <Words>1546</Words>
  <Application>Microsoft Office PowerPoint</Application>
  <PresentationFormat>Widescreen</PresentationFormat>
  <Paragraphs>128</Paragraphs>
  <Slides>16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Consolas</vt:lpstr>
      <vt:lpstr>Times New Roman</vt:lpstr>
      <vt:lpstr>Tema do Office</vt:lpstr>
      <vt:lpstr>JSON Web Token (JWT)</vt:lpstr>
      <vt:lpstr>Objetivos da aula</vt:lpstr>
      <vt:lpstr>JWT (JSON Web Token) </vt:lpstr>
      <vt:lpstr>JSON Web Token (JWT) Debugger </vt:lpstr>
      <vt:lpstr>JSON Web Token (JWT) Debugger </vt:lpstr>
      <vt:lpstr>JSON Web Token (JWT) Debugger </vt:lpstr>
      <vt:lpstr>O método gerarToken</vt:lpstr>
      <vt:lpstr>Entrada e retorno do método</vt:lpstr>
      <vt:lpstr>Algoritmo e chave secreta</vt:lpstr>
      <vt:lpstr>Início da construção do token</vt:lpstr>
      <vt:lpstr>Emissor do token</vt:lpstr>
      <vt:lpstr>Identificação do usuário</vt:lpstr>
      <vt:lpstr>Prazo de validade</vt:lpstr>
      <vt:lpstr>Assinatura e geração do JWT</vt:lpstr>
      <vt:lpstr>Tratamento de falhas</vt:lpstr>
      <vt:lpstr>Resultado da geração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100</cp:revision>
  <dcterms:created xsi:type="dcterms:W3CDTF">2024-03-08T12:14:33Z</dcterms:created>
  <dcterms:modified xsi:type="dcterms:W3CDTF">2026-09-29T00:08:37Z</dcterms:modified>
</cp:coreProperties>
</file>