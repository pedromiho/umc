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12"/>
  </p:notesMasterIdLst>
  <p:sldIdLst>
    <p:sldId id="256" r:id="rId2"/>
    <p:sldId id="317" r:id="rId3"/>
    <p:sldId id="322" r:id="rId4"/>
    <p:sldId id="318" r:id="rId5"/>
    <p:sldId id="319" r:id="rId6"/>
    <p:sldId id="323" r:id="rId7"/>
    <p:sldId id="320" r:id="rId8"/>
    <p:sldId id="321" r:id="rId9"/>
    <p:sldId id="324" r:id="rId10"/>
    <p:sldId id="325" r:id="rId1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9A3B9811-863C-4514-A203-A948633EA0E6}">
          <p14:sldIdLst>
            <p14:sldId id="256"/>
            <p14:sldId id="317"/>
            <p14:sldId id="322"/>
            <p14:sldId id="318"/>
            <p14:sldId id="319"/>
            <p14:sldId id="323"/>
            <p14:sldId id="320"/>
            <p14:sldId id="321"/>
            <p14:sldId id="324"/>
            <p14:sldId id="32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9E7"/>
    <a:srgbClr val="C77DB9"/>
    <a:srgbClr val="6462B0"/>
    <a:srgbClr val="FFFFFF"/>
    <a:srgbClr val="B87958"/>
    <a:srgbClr val="867568"/>
    <a:srgbClr val="548453"/>
    <a:srgbClr val="337165"/>
    <a:srgbClr val="1F232A"/>
    <a:srgbClr val="4D97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62" autoAdjust="0"/>
    <p:restoredTop sz="94660"/>
  </p:normalViewPr>
  <p:slideViewPr>
    <p:cSldViewPr snapToGrid="0" showGuides="1">
      <p:cViewPr varScale="1">
        <p:scale>
          <a:sx n="95" d="100"/>
          <a:sy n="95" d="100"/>
        </p:scale>
        <p:origin x="134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C27BCA-F434-4017-9BD8-33CEB0219D72}" type="datetimeFigureOut">
              <a:rPr lang="pt-BR" smtClean="0"/>
              <a:t>18/10/2026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32E6D2-070F-4BF4-86C0-53D883C4AF4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3752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9F73EA-414C-4929-B3E7-AD122EFFBF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52931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37FCEED-3F66-43BC-8B20-36021361A3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60550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dirty="0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639507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5DFB8E-AD99-4A2B-8BE2-ED878F912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1BA61F7-989E-45C9-916D-42CE0B17B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435133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50000"/>
              </a:lnSpc>
              <a:spcBef>
                <a:spcPts val="0"/>
              </a:spcBef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just">
              <a:lnSpc>
                <a:spcPct val="150000"/>
              </a:lnSpc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914400" indent="0" algn="just">
              <a:lnSpc>
                <a:spcPct val="150000"/>
              </a:lnSpc>
              <a:spcBef>
                <a:spcPts val="0"/>
              </a:spcBef>
              <a:buNone/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371600" indent="0" algn="just">
              <a:lnSpc>
                <a:spcPct val="150000"/>
              </a:lnSpc>
              <a:spcBef>
                <a:spcPts val="0"/>
              </a:spcBef>
              <a:buNone/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828800" indent="0" algn="just">
              <a:lnSpc>
                <a:spcPct val="150000"/>
              </a:lnSpc>
              <a:spcBef>
                <a:spcPts val="0"/>
              </a:spcBef>
              <a:buNone/>
              <a:defRPr sz="1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907272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440976-951F-48E1-9F65-E2E7237C0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3F09C38-83BA-4379-9DE9-B52DAEE2D6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801F2F7-E203-4170-8B06-E39E4EF61B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18/10/2026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E2FDAB5-81C4-491B-B1DB-3E7A63996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F87684E-F6A9-4B10-B6C6-98901C57A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2691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21A5A9C-1616-4A2F-9897-2AA0D6A7B0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18/10/2026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19E4B8E-0EE6-4C64-9500-F64ED0B84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FE3A651-93A6-476E-86D8-9380EB079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D3856C12-D3CA-9CE2-7861-13FBF02F4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07102269-6BD9-547A-4740-3B8E3F48BF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25625"/>
            <a:ext cx="5181600" cy="437038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50000"/>
              </a:lnSpc>
              <a:spcBef>
                <a:spcPts val="0"/>
              </a:spcBef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just">
              <a:lnSpc>
                <a:spcPct val="150000"/>
              </a:lnSpc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914400" indent="0" algn="just">
              <a:lnSpc>
                <a:spcPct val="150000"/>
              </a:lnSpc>
              <a:spcBef>
                <a:spcPts val="0"/>
              </a:spcBef>
              <a:buNone/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371600" indent="0" algn="just">
              <a:lnSpc>
                <a:spcPct val="150000"/>
              </a:lnSpc>
              <a:spcBef>
                <a:spcPts val="0"/>
              </a:spcBef>
              <a:buNone/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828800" indent="0" algn="just">
              <a:lnSpc>
                <a:spcPct val="150000"/>
              </a:lnSpc>
              <a:spcBef>
                <a:spcPts val="0"/>
              </a:spcBef>
              <a:buNone/>
              <a:defRPr sz="1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10" name="Espaço Reservado para Conteúdo 2">
            <a:extLst>
              <a:ext uri="{FF2B5EF4-FFF2-40B4-BE49-F238E27FC236}">
                <a16:creationId xmlns:a16="http://schemas.microsoft.com/office/drawing/2014/main" id="{CB7389AF-7009-AFBD-694C-4FEB5C402AF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0" y="1844675"/>
            <a:ext cx="5181600" cy="435133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50000"/>
              </a:lnSpc>
              <a:spcBef>
                <a:spcPts val="0"/>
              </a:spcBef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just">
              <a:lnSpc>
                <a:spcPct val="150000"/>
              </a:lnSpc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914400" indent="0" algn="just">
              <a:lnSpc>
                <a:spcPct val="150000"/>
              </a:lnSpc>
              <a:spcBef>
                <a:spcPts val="0"/>
              </a:spcBef>
              <a:buNone/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371600" indent="0" algn="just">
              <a:lnSpc>
                <a:spcPct val="150000"/>
              </a:lnSpc>
              <a:spcBef>
                <a:spcPts val="0"/>
              </a:spcBef>
              <a:buNone/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828800" indent="0" algn="just">
              <a:lnSpc>
                <a:spcPct val="150000"/>
              </a:lnSpc>
              <a:spcBef>
                <a:spcPts val="0"/>
              </a:spcBef>
              <a:buNone/>
              <a:defRPr sz="1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118024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7207A11-9E53-4968-BFBB-FBA312D24C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E141C8A-81E9-4FD8-AF20-F5BD9DA313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B1C8E84-38D3-49F5-9A51-7C0AF548D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95D1BB-221B-469A-A06C-FD406B207A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EAA33C3-5B87-4019-8743-8F9C2F9830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18/10/2026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0BDA0B8-E9EF-4477-9209-5DEC09732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BCF0E10-CAD6-4E43-98B3-1AFB88B68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9AF65EF7-14AA-3189-A9E5-924E752AE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645059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20D39C8-444E-4546-80F5-D0180A75AF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18/10/2026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1C134A4-BE1B-4962-9516-659CD4519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CE7749A-36AE-46D1-BE46-BE0E2F45B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6F8FEF21-0B4E-C030-F1F6-1E8EDC3D8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457533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43BC826-C9FB-472E-956F-F80F0568AE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18/10/2026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E154652-AECB-47CC-A9CD-8426C4D1A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7E24980-9E3E-413B-9621-9DCBCC5F4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3773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FF34EE3-79AE-487D-B73B-1A408180A0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844675"/>
            <a:ext cx="5256212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E5AF76A-9469-4EBF-8DAC-F6889FD754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18/10/2026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B4ED122-B6B8-4D0E-98A8-D12057984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4136D5D-BD69-4CD2-A354-F8289DAAC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9566D364-0170-A389-F159-C7C9D62E4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76796487-CD7B-89D5-C833-332E8D160F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9345" y="1844675"/>
            <a:ext cx="5060308" cy="435133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50000"/>
              </a:lnSpc>
              <a:spcBef>
                <a:spcPts val="0"/>
              </a:spcBef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just">
              <a:lnSpc>
                <a:spcPct val="150000"/>
              </a:lnSpc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914400" indent="0" algn="just">
              <a:lnSpc>
                <a:spcPct val="150000"/>
              </a:lnSpc>
              <a:spcBef>
                <a:spcPts val="0"/>
              </a:spcBef>
              <a:buNone/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371600" indent="0" algn="just">
              <a:lnSpc>
                <a:spcPct val="150000"/>
              </a:lnSpc>
              <a:spcBef>
                <a:spcPts val="0"/>
              </a:spcBef>
              <a:buNone/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828800" indent="0" algn="just">
              <a:lnSpc>
                <a:spcPct val="150000"/>
              </a:lnSpc>
              <a:spcBef>
                <a:spcPts val="0"/>
              </a:spcBef>
              <a:buNone/>
              <a:defRPr sz="1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4281492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20F7117-B346-47D7-9DBC-5BBD02B232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773382"/>
            <a:ext cx="6172200" cy="40876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FDB8822-F4D3-4DE6-B130-D7308F116C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773382"/>
            <a:ext cx="3932237" cy="40956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370F3C1-6276-4A5F-B650-8B2E8FB063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18/10/2026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142CF32-D9DD-42DF-9B63-B3207D85D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2A81DD0-CB02-442E-A173-AFA500CC7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E29F35F0-D02B-295C-BF50-6E6DC9981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6953941" cy="44857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776478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56E30110-E419-43DB-AEFA-3636065754B3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0" y="6762736"/>
            <a:ext cx="12192000" cy="95264"/>
          </a:xfrm>
          <a:prstGeom prst="rect">
            <a:avLst/>
          </a:prstGeom>
          <a:solidFill>
            <a:schemeClr val="bg1"/>
          </a:solidFill>
          <a:ln>
            <a:solidFill>
              <a:srgbClr val="292A86"/>
            </a:solidFill>
          </a:ln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4AAA702B-ED3B-45E1-8C71-1ACC187886AA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582422" y="635357"/>
            <a:ext cx="122428" cy="888712"/>
          </a:xfrm>
          <a:prstGeom prst="rect">
            <a:avLst/>
          </a:prstGeom>
          <a:solidFill>
            <a:srgbClr val="292A86"/>
          </a:solidFill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49B168A8-B937-4519-802D-8D1D90A0A0EA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0283716" y="719713"/>
            <a:ext cx="1273846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495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uth0/java-jwt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3B5C3A-A09A-4259-AF3D-EF5302F61C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66334"/>
            <a:ext cx="9144000" cy="2004930"/>
          </a:xfrm>
        </p:spPr>
        <p:txBody>
          <a:bodyPr/>
          <a:lstStyle/>
          <a:p>
            <a:r>
              <a:rPr lang="pt-BR" dirty="0"/>
              <a:t>Controle de acesso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FF2C9F-673D-46AD-83CF-B874F96C37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Prof. Esp. Pedro Miho</a:t>
            </a:r>
          </a:p>
        </p:txBody>
      </p:sp>
    </p:spTree>
    <p:extLst>
      <p:ext uri="{BB962C8B-B14F-4D97-AF65-F5344CB8AC3E}">
        <p14:creationId xmlns:p14="http://schemas.microsoft.com/office/powerpoint/2010/main" val="4046982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8775F5-DCB9-4A85-B504-823740C5D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Objetivos da Aula</a:t>
            </a:r>
            <a:br>
              <a:rPr lang="pt-BR" b="1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D2FB958-8178-48C9-BF2D-40050E59EB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Ao final da aula, o aluno será capaz de: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/>
              <a:t>Compreender o conceito de controle de acesso em uma API REST.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/>
              <a:t>Diferenciar autenticação de autorização.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/>
              <a:t>Entender como o Spring Security controla o acesso aos </a:t>
            </a:r>
            <a:r>
              <a:rPr lang="pt-BR" dirty="0" err="1"/>
              <a:t>endpoints</a:t>
            </a:r>
            <a:r>
              <a:rPr lang="pt-BR" dirty="0"/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/>
              <a:t>Configurar quais </a:t>
            </a:r>
            <a:r>
              <a:rPr lang="pt-BR" dirty="0" err="1"/>
              <a:t>endpoints</a:t>
            </a:r>
            <a:r>
              <a:rPr lang="pt-BR" dirty="0"/>
              <a:t> serão públicos e quais exigirão autenticação.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/>
              <a:t>Utilizar </a:t>
            </a:r>
            <a:r>
              <a:rPr lang="pt-BR" dirty="0" err="1"/>
              <a:t>requestMatchers</a:t>
            </a:r>
            <a:r>
              <a:rPr lang="pt-BR" dirty="0"/>
              <a:t> para definir regras de acesso.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/>
              <a:t>Compreender os retornos HTTP relacionados ao acesso, como 401 </a:t>
            </a:r>
            <a:r>
              <a:rPr lang="pt-BR" dirty="0" err="1"/>
              <a:t>Unauthorized</a:t>
            </a:r>
            <a:r>
              <a:rPr lang="pt-BR" dirty="0"/>
              <a:t> e 403 </a:t>
            </a:r>
            <a:r>
              <a:rPr lang="pt-BR" dirty="0" err="1"/>
              <a:t>Forbidden</a:t>
            </a:r>
            <a:r>
              <a:rPr lang="pt-BR" dirty="0"/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/>
              <a:t>Testar o acesso a </a:t>
            </a:r>
            <a:r>
              <a:rPr lang="pt-BR" dirty="0" err="1"/>
              <a:t>endpoints</a:t>
            </a:r>
            <a:r>
              <a:rPr lang="pt-BR" dirty="0"/>
              <a:t> protegidos utilizando um usuário autenticado.</a:t>
            </a:r>
          </a:p>
        </p:txBody>
      </p:sp>
    </p:spTree>
    <p:extLst>
      <p:ext uri="{BB962C8B-B14F-4D97-AF65-F5344CB8AC3E}">
        <p14:creationId xmlns:p14="http://schemas.microsoft.com/office/powerpoint/2010/main" val="40926955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>
            <a:extLst>
              <a:ext uri="{FF2B5EF4-FFF2-40B4-BE49-F238E27FC236}">
                <a16:creationId xmlns:a16="http://schemas.microsoft.com/office/drawing/2014/main" id="{36F70E81-612C-4623-9E18-4CAEB8DE00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878" y="1955799"/>
            <a:ext cx="9998243" cy="4165077"/>
          </a:xfrm>
          <a:prstGeom prst="rect">
            <a:avLst/>
          </a:prstGeom>
        </p:spPr>
      </p:pic>
      <p:sp>
        <p:nvSpPr>
          <p:cNvPr id="84" name="Título 1">
            <a:extLst>
              <a:ext uri="{FF2B5EF4-FFF2-40B4-BE49-F238E27FC236}">
                <a16:creationId xmlns:a16="http://schemas.microsoft.com/office/drawing/2014/main" id="{1E0522BC-323E-47A6-B8C0-2A0EE86C3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300" y="854075"/>
            <a:ext cx="9409113" cy="449263"/>
          </a:xfrm>
        </p:spPr>
        <p:txBody>
          <a:bodyPr/>
          <a:lstStyle/>
          <a:p>
            <a:r>
              <a:rPr lang="pt-BR" dirty="0"/>
              <a:t>Fluxo de uma requisição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EB96F9-88CB-4DF6-AAB5-D3FEDEE19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Funcionamento</a:t>
            </a:r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636BB57D-F393-48D6-82DF-DAC6CB3FD8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8149" y="1792632"/>
            <a:ext cx="3964518" cy="4605837"/>
          </a:xfrm>
          <a:prstGeom prst="rect">
            <a:avLst/>
          </a:prstGeom>
        </p:spPr>
      </p:pic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D468D98F-C6B3-49CB-8CB0-B242E91CC2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5933" y="1844675"/>
            <a:ext cx="6883719" cy="4351338"/>
          </a:xfrm>
        </p:spPr>
        <p:txBody>
          <a:bodyPr/>
          <a:lstStyle/>
          <a:p>
            <a:r>
              <a:rPr lang="pt-BR" sz="1600" b="1" dirty="0"/>
              <a:t>Spring Security </a:t>
            </a:r>
            <a:r>
              <a:rPr lang="pt-BR" sz="1600" b="1" dirty="0" err="1"/>
              <a:t>Filters</a:t>
            </a:r>
            <a:r>
              <a:rPr lang="pt-BR" sz="1600" b="1" dirty="0"/>
              <a:t>:</a:t>
            </a:r>
            <a:r>
              <a:rPr lang="pt-BR" sz="1600" dirty="0"/>
              <a:t> Interceptam a requisição antes de chegar ao </a:t>
            </a:r>
            <a:r>
              <a:rPr lang="pt-BR" sz="1600" dirty="0" err="1"/>
              <a:t>Controller</a:t>
            </a:r>
            <a:r>
              <a:rPr lang="pt-BR" sz="1600" dirty="0"/>
              <a:t>, validando o </a:t>
            </a:r>
            <a:r>
              <a:rPr lang="pt-BR" sz="1600" dirty="0" err="1"/>
              <a:t>token</a:t>
            </a:r>
            <a:r>
              <a:rPr lang="pt-BR" sz="1600" dirty="0"/>
              <a:t> JWT e identificando o usuário autenticado.</a:t>
            </a:r>
          </a:p>
          <a:p>
            <a:endParaRPr lang="pt-BR" sz="1600" dirty="0"/>
          </a:p>
          <a:p>
            <a:r>
              <a:rPr lang="pt-BR" sz="1600" b="1" dirty="0"/>
              <a:t>Autorização:</a:t>
            </a:r>
            <a:r>
              <a:rPr lang="pt-BR" sz="1600" dirty="0"/>
              <a:t> Verifica se o usuário possui permissão para acessar o </a:t>
            </a:r>
            <a:r>
              <a:rPr lang="pt-BR" sz="1600" dirty="0" err="1"/>
              <a:t>endpoint</a:t>
            </a:r>
            <a:r>
              <a:rPr lang="pt-BR" sz="1600" dirty="0"/>
              <a:t> solicitado, permitindo ou bloqueando a requisição.</a:t>
            </a:r>
          </a:p>
          <a:p>
            <a:endParaRPr lang="pt-BR" sz="1600" dirty="0"/>
          </a:p>
          <a:p>
            <a:r>
              <a:rPr lang="pt-BR" sz="1600" b="1" dirty="0" err="1"/>
              <a:t>DispatcherServlet</a:t>
            </a:r>
            <a:r>
              <a:rPr lang="pt-BR" sz="1600" b="1" dirty="0"/>
              <a:t>:</a:t>
            </a:r>
            <a:r>
              <a:rPr lang="pt-BR" sz="1600" dirty="0"/>
              <a:t> Recebe a requisição autorizada e identifica qual </a:t>
            </a:r>
            <a:r>
              <a:rPr lang="pt-BR" sz="1600" dirty="0" err="1"/>
              <a:t>Controller</a:t>
            </a:r>
            <a:r>
              <a:rPr lang="pt-BR" sz="1600" dirty="0"/>
              <a:t> será responsável por atendê-la.</a:t>
            </a:r>
          </a:p>
          <a:p>
            <a:endParaRPr lang="pt-BR" sz="1600" dirty="0"/>
          </a:p>
          <a:p>
            <a:r>
              <a:rPr lang="pt-BR" sz="1600" b="1" dirty="0"/>
              <a:t>Interceptor → </a:t>
            </a:r>
            <a:r>
              <a:rPr lang="pt-BR" sz="1600" b="1" dirty="0" err="1"/>
              <a:t>Controller</a:t>
            </a:r>
            <a:r>
              <a:rPr lang="pt-BR" sz="1600" b="1" dirty="0"/>
              <a:t>:</a:t>
            </a:r>
            <a:r>
              <a:rPr lang="pt-BR" sz="1600" dirty="0"/>
              <a:t> O Interceptor pode executar verificações ou ações adicionais antes do </a:t>
            </a:r>
            <a:r>
              <a:rPr lang="pt-BR" sz="1600" dirty="0" err="1"/>
              <a:t>Controller</a:t>
            </a:r>
            <a:r>
              <a:rPr lang="pt-BR" sz="1600" dirty="0"/>
              <a:t>, que processa a requisição e gera a resposta.</a:t>
            </a:r>
          </a:p>
        </p:txBody>
      </p:sp>
    </p:spTree>
    <p:extLst>
      <p:ext uri="{BB962C8B-B14F-4D97-AF65-F5344CB8AC3E}">
        <p14:creationId xmlns:p14="http://schemas.microsoft.com/office/powerpoint/2010/main" val="22428746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08A8B8-0BC1-49C1-A947-4459F6F28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SecurityFilter</a:t>
            </a:r>
            <a:r>
              <a:rPr lang="pt-BR" dirty="0"/>
              <a:t> e @</a:t>
            </a:r>
            <a:r>
              <a:rPr lang="pt-BR" dirty="0" err="1"/>
              <a:t>Controller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C248492-9B59-409B-9DCB-0B2946E4F7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 classe </a:t>
            </a:r>
            <a:r>
              <a:rPr lang="pt-BR" dirty="0" err="1"/>
              <a:t>OncePerRequestFilter</a:t>
            </a:r>
            <a:r>
              <a:rPr lang="pt-BR" dirty="0"/>
              <a:t> é uma classe do Spring utilizada para criar filtros personalizados que são executados uma única vez por requisição HTTP, dentro de uma mesma execução da cadeia de </a:t>
            </a:r>
            <a:r>
              <a:rPr lang="pt-BR" dirty="0" err="1"/>
              <a:t>filtros.Ela</a:t>
            </a:r>
            <a:r>
              <a:rPr lang="pt-BR" dirty="0"/>
              <a:t> é muito utilizada no Spring Security para validar </a:t>
            </a:r>
            <a:r>
              <a:rPr lang="pt-BR" dirty="0" err="1"/>
              <a:t>tokens</a:t>
            </a:r>
            <a:r>
              <a:rPr lang="pt-BR" dirty="0"/>
              <a:t> JWT antes que a requisição chegue ao </a:t>
            </a:r>
            <a:r>
              <a:rPr lang="pt-BR" dirty="0" err="1"/>
              <a:t>Controller</a:t>
            </a:r>
            <a:r>
              <a:rPr lang="pt-BR" dirty="0"/>
              <a:t>.</a:t>
            </a:r>
          </a:p>
          <a:p>
            <a:endParaRPr lang="pt-BR" dirty="0"/>
          </a:p>
          <a:p>
            <a:r>
              <a:rPr lang="pt-BR" dirty="0"/>
              <a:t>@</a:t>
            </a:r>
            <a:r>
              <a:rPr lang="pt-BR" dirty="0" err="1"/>
              <a:t>Component</a:t>
            </a:r>
            <a:r>
              <a:rPr lang="pt-BR" dirty="0"/>
              <a:t> informa ao Spring que uma classe deve ser identificada, instanciada e gerenciada automaticamente como um </a:t>
            </a:r>
            <a:r>
              <a:rPr lang="pt-BR" dirty="0" err="1"/>
              <a:t>Bean</a:t>
            </a:r>
            <a:r>
              <a:rPr lang="pt-BR" dirty="0"/>
              <a:t>, permitindo sua utilização em outras partes da aplicação.</a:t>
            </a:r>
          </a:p>
        </p:txBody>
      </p:sp>
    </p:spTree>
    <p:extLst>
      <p:ext uri="{BB962C8B-B14F-4D97-AF65-F5344CB8AC3E}">
        <p14:creationId xmlns:p14="http://schemas.microsoft.com/office/powerpoint/2010/main" val="19207515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FBED28-A137-4F25-AE30-7C763F02D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Sintaxe</a:t>
            </a:r>
          </a:p>
        </p:txBody>
      </p:sp>
      <p:sp>
        <p:nvSpPr>
          <p:cNvPr id="4" name="Shape 20">
            <a:extLst>
              <a:ext uri="{FF2B5EF4-FFF2-40B4-BE49-F238E27FC236}">
                <a16:creationId xmlns:a16="http://schemas.microsoft.com/office/drawing/2014/main" id="{6D5725EA-88EE-4B3C-A2AB-F01CC055B6F8}"/>
              </a:ext>
            </a:extLst>
          </p:cNvPr>
          <p:cNvSpPr>
            <a:spLocks noGrp="1"/>
          </p:cNvSpPr>
          <p:nvPr/>
        </p:nvSpPr>
        <p:spPr>
          <a:xfrm>
            <a:off x="856163" y="3306142"/>
            <a:ext cx="10479674" cy="1464918"/>
          </a:xfrm>
          <a:prstGeom prst="roundRect">
            <a:avLst>
              <a:gd name="adj" fmla="val 8081"/>
            </a:avLst>
          </a:prstGeom>
          <a:solidFill>
            <a:srgbClr val="1E1E1E"/>
          </a:solidFill>
          <a:ln>
            <a:solidFill>
              <a:srgbClr val="1E1E1E"/>
            </a:solidFill>
          </a:ln>
        </p:spPr>
        <p:txBody>
          <a:bodyPr/>
          <a:lstStyle/>
          <a:p>
            <a:r>
              <a:rPr lang="pt-BR" altLang="pt-BR" sz="1600" dirty="0">
                <a:solidFill>
                  <a:srgbClr val="B3AE60"/>
                </a:solidFill>
                <a:latin typeface="Consolas" panose="020B0609020204030204" pitchFamily="49" charset="0"/>
              </a:rPr>
              <a:t>@</a:t>
            </a:r>
            <a:r>
              <a:rPr lang="pt-BR" altLang="pt-BR" sz="1600" dirty="0" err="1">
                <a:solidFill>
                  <a:srgbClr val="B3AE60"/>
                </a:solidFill>
                <a:latin typeface="Consolas" panose="020B0609020204030204" pitchFamily="49" charset="0"/>
              </a:rPr>
              <a:t>Component</a:t>
            </a:r>
            <a:endParaRPr lang="pt-BR" altLang="pt-BR" sz="1600" dirty="0">
              <a:solidFill>
                <a:srgbClr val="B3AE60"/>
              </a:solidFill>
              <a:latin typeface="Consolas" panose="020B0609020204030204" pitchFamily="49" charset="0"/>
            </a:endParaRPr>
          </a:p>
          <a:p>
            <a:r>
              <a:rPr lang="pt-BR" altLang="pt-BR" sz="1600" dirty="0" err="1">
                <a:solidFill>
                  <a:srgbClr val="CF8E6D"/>
                </a:solidFill>
                <a:latin typeface="Consolas" panose="020B0609020204030204" pitchFamily="49" charset="0"/>
              </a:rPr>
              <a:t>public</a:t>
            </a:r>
            <a:r>
              <a:rPr lang="pt-BR" altLang="pt-BR" sz="1600" dirty="0">
                <a:solidFill>
                  <a:srgbClr val="CF8E6D"/>
                </a:solidFill>
                <a:latin typeface="Consolas" panose="020B0609020204030204" pitchFamily="49" charset="0"/>
              </a:rPr>
              <a:t> </a:t>
            </a:r>
            <a:r>
              <a:rPr lang="pt-BR" altLang="pt-BR" sz="1600" dirty="0" err="1">
                <a:solidFill>
                  <a:srgbClr val="CF8E6D"/>
                </a:solidFill>
                <a:latin typeface="Consolas" panose="020B0609020204030204" pitchFamily="49" charset="0"/>
              </a:rPr>
              <a:t>class</a:t>
            </a:r>
            <a:r>
              <a:rPr lang="pt-BR" altLang="pt-BR" sz="1600" dirty="0">
                <a:solidFill>
                  <a:srgbClr val="CF8E6D"/>
                </a:solidFill>
                <a:latin typeface="Consolas" panose="020B0609020204030204" pitchFamily="49" charset="0"/>
              </a:rPr>
              <a:t> </a:t>
            </a:r>
            <a:r>
              <a:rPr lang="pt-BR" altLang="pt-BR" sz="1600" dirty="0" err="1">
                <a:solidFill>
                  <a:srgbClr val="BCBEC4"/>
                </a:solidFill>
                <a:latin typeface="Consolas" panose="020B0609020204030204" pitchFamily="49" charset="0"/>
              </a:rPr>
              <a:t>SecutiryFilter</a:t>
            </a:r>
            <a:r>
              <a:rPr lang="pt-BR" altLang="pt-BR" sz="1600" dirty="0">
                <a:solidFill>
                  <a:srgbClr val="BCBEC4"/>
                </a:solidFill>
                <a:latin typeface="Consolas" panose="020B0609020204030204" pitchFamily="49" charset="0"/>
              </a:rPr>
              <a:t> </a:t>
            </a:r>
            <a:r>
              <a:rPr lang="pt-BR" altLang="pt-BR" sz="1600" dirty="0" err="1">
                <a:solidFill>
                  <a:srgbClr val="CF8E6D"/>
                </a:solidFill>
                <a:latin typeface="Consolas" panose="020B0609020204030204" pitchFamily="49" charset="0"/>
              </a:rPr>
              <a:t>extends</a:t>
            </a:r>
            <a:r>
              <a:rPr lang="pt-BR" altLang="pt-BR" sz="1600" dirty="0">
                <a:solidFill>
                  <a:srgbClr val="CF8E6D"/>
                </a:solidFill>
                <a:latin typeface="Consolas" panose="020B0609020204030204" pitchFamily="49" charset="0"/>
              </a:rPr>
              <a:t> </a:t>
            </a:r>
            <a:r>
              <a:rPr lang="pt-BR" altLang="pt-BR" sz="1600" dirty="0" err="1">
                <a:solidFill>
                  <a:srgbClr val="BCBEC4"/>
                </a:solidFill>
                <a:latin typeface="Consolas" panose="020B0609020204030204" pitchFamily="49" charset="0"/>
              </a:rPr>
              <a:t>OncePerRequestFilter</a:t>
            </a:r>
            <a:r>
              <a:rPr lang="pt-BR" altLang="pt-BR" sz="1600" dirty="0">
                <a:solidFill>
                  <a:srgbClr val="BCBEC4"/>
                </a:solidFill>
                <a:latin typeface="Consolas" panose="020B0609020204030204" pitchFamily="49" charset="0"/>
              </a:rPr>
              <a:t> {</a:t>
            </a:r>
            <a:br>
              <a:rPr lang="pt-BR" altLang="pt-BR" sz="1600" dirty="0">
                <a:solidFill>
                  <a:srgbClr val="BCBEC4"/>
                </a:solidFill>
                <a:latin typeface="Consolas" panose="020B0609020204030204" pitchFamily="49" charset="0"/>
              </a:rPr>
            </a:br>
            <a:br>
              <a:rPr lang="pt-BR" altLang="pt-BR" sz="1600" dirty="0">
                <a:solidFill>
                  <a:srgbClr val="BCBEC4"/>
                </a:solidFill>
                <a:latin typeface="Consolas" panose="020B0609020204030204" pitchFamily="49" charset="0"/>
              </a:rPr>
            </a:br>
            <a:br>
              <a:rPr lang="pt-BR" altLang="pt-BR" sz="1600" dirty="0">
                <a:solidFill>
                  <a:srgbClr val="BCBEC4"/>
                </a:solidFill>
                <a:latin typeface="Consolas" panose="020B0609020204030204" pitchFamily="49" charset="0"/>
              </a:rPr>
            </a:br>
            <a:r>
              <a:rPr lang="pt-BR" altLang="pt-BR" sz="1600" dirty="0">
                <a:solidFill>
                  <a:srgbClr val="BCBEC4"/>
                </a:solidFill>
                <a:latin typeface="Consolas" panose="020B0609020204030204" pitchFamily="49" charset="0"/>
              </a:rPr>
              <a:t>}</a:t>
            </a:r>
            <a:endParaRPr sz="1600" dirty="0">
              <a:latin typeface="Consolas" panose="020B0609020204030204" pitchFamily="49" charset="0"/>
            </a:endParaRPr>
          </a:p>
        </p:txBody>
      </p:sp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28EE170D-734E-418A-98A1-258E35428E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974725"/>
          </a:xfrm>
        </p:spPr>
        <p:txBody>
          <a:bodyPr/>
          <a:lstStyle/>
          <a:p>
            <a:r>
              <a:rPr lang="pt-BR" dirty="0"/>
              <a:t>Para isso devemos escrever o seguinte código</a:t>
            </a:r>
          </a:p>
        </p:txBody>
      </p:sp>
    </p:spTree>
    <p:extLst>
      <p:ext uri="{BB962C8B-B14F-4D97-AF65-F5344CB8AC3E}">
        <p14:creationId xmlns:p14="http://schemas.microsoft.com/office/powerpoint/2010/main" val="27231248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1372C5-1531-49F3-9E53-F162BB798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Parâmetros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4FA30C52-8F64-4854-984C-E517CE0541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675" y="1768475"/>
            <a:ext cx="9264650" cy="4632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7880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AC1302-0EA6-49E9-A463-C4D70723A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Validando o </a:t>
            </a:r>
            <a:r>
              <a:rPr lang="pt-BR" dirty="0" err="1"/>
              <a:t>token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AD525D2-CD5D-49A5-B85A-84CFE7FEC5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700398"/>
            <a:ext cx="11007306" cy="986757"/>
          </a:xfrm>
        </p:spPr>
        <p:txBody>
          <a:bodyPr/>
          <a:lstStyle/>
          <a:p>
            <a:r>
              <a:rPr lang="pt-BR" dirty="0"/>
              <a:t>Para validar o token devemos acessar o site </a:t>
            </a:r>
            <a:r>
              <a:rPr lang="pt-BR" dirty="0">
                <a:hlinkClick r:id="rId2"/>
              </a:rPr>
              <a:t>jwt.io</a:t>
            </a:r>
            <a:r>
              <a:rPr lang="pt-BR" dirty="0"/>
              <a:t> e insira o seguinte código:</a:t>
            </a:r>
          </a:p>
        </p:txBody>
      </p:sp>
      <p:sp>
        <p:nvSpPr>
          <p:cNvPr id="4" name="Shape 20">
            <a:extLst>
              <a:ext uri="{FF2B5EF4-FFF2-40B4-BE49-F238E27FC236}">
                <a16:creationId xmlns:a16="http://schemas.microsoft.com/office/drawing/2014/main" id="{76CE5B79-7649-0D81-1E74-3C2ED4CF01DC}"/>
              </a:ext>
            </a:extLst>
          </p:cNvPr>
          <p:cNvSpPr>
            <a:spLocks noGrp="1"/>
          </p:cNvSpPr>
          <p:nvPr/>
        </p:nvSpPr>
        <p:spPr>
          <a:xfrm>
            <a:off x="749185" y="2497482"/>
            <a:ext cx="10479674" cy="4095823"/>
          </a:xfrm>
          <a:prstGeom prst="roundRect">
            <a:avLst>
              <a:gd name="adj" fmla="val 8081"/>
            </a:avLst>
          </a:prstGeom>
          <a:solidFill>
            <a:srgbClr val="1E1E1E"/>
          </a:solidFill>
          <a:ln>
            <a:solidFill>
              <a:srgbClr val="1E1E1E"/>
            </a:solidFill>
          </a:ln>
        </p:spPr>
        <p:txBody>
          <a:bodyPr/>
          <a:lstStyle/>
          <a:p>
            <a:endParaRPr lang="pt-BR" altLang="pt-BR" sz="1600" dirty="0">
              <a:solidFill>
                <a:srgbClr val="B3AE60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C58AA94-9722-B4E2-F882-9C1A2491D851}"/>
              </a:ext>
            </a:extLst>
          </p:cNvPr>
          <p:cNvSpPr txBox="1"/>
          <p:nvPr/>
        </p:nvSpPr>
        <p:spPr>
          <a:xfrm>
            <a:off x="1052065" y="2775678"/>
            <a:ext cx="9873915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1600" dirty="0" err="1">
                <a:solidFill>
                  <a:srgbClr val="CF8E6D"/>
                </a:solidFill>
                <a:effectLst/>
                <a:latin typeface="JetBrains Mono"/>
              </a:rPr>
              <a:t>public</a:t>
            </a:r>
            <a:r>
              <a:rPr lang="pt-BR" sz="1600" dirty="0">
                <a:solidFill>
                  <a:srgbClr val="CF8E6D"/>
                </a:solidFill>
                <a:effectLst/>
                <a:latin typeface="JetBrains Mono"/>
              </a:rPr>
              <a:t> </a:t>
            </a:r>
            <a:r>
              <a:rPr lang="pt-BR" sz="1600" dirty="0" err="1">
                <a:solidFill>
                  <a:srgbClr val="BCBEC4"/>
                </a:solidFill>
                <a:effectLst/>
                <a:latin typeface="JetBrains Mono"/>
              </a:rPr>
              <a:t>String</a:t>
            </a:r>
            <a:r>
              <a:rPr lang="pt-BR" sz="1600" dirty="0">
                <a:solidFill>
                  <a:srgbClr val="BCBEC4"/>
                </a:solidFill>
                <a:effectLst/>
                <a:latin typeface="JetBrains Mono"/>
              </a:rPr>
              <a:t> </a:t>
            </a:r>
            <a:r>
              <a:rPr lang="pt-BR" sz="1600" dirty="0" err="1">
                <a:solidFill>
                  <a:srgbClr val="BCBEC4"/>
                </a:solidFill>
                <a:effectLst/>
                <a:latin typeface="JetBrains Mono"/>
              </a:rPr>
              <a:t>getSubject</a:t>
            </a:r>
            <a:r>
              <a:rPr lang="pt-BR" sz="16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pt-BR" sz="1600" dirty="0" err="1">
                <a:solidFill>
                  <a:srgbClr val="BCBEC4"/>
                </a:solidFill>
                <a:effectLst/>
                <a:latin typeface="JetBrains Mono"/>
              </a:rPr>
              <a:t>String</a:t>
            </a:r>
            <a:r>
              <a:rPr lang="pt-BR" sz="1600" dirty="0">
                <a:solidFill>
                  <a:srgbClr val="BCBEC4"/>
                </a:solidFill>
                <a:effectLst/>
                <a:latin typeface="JetBrains Mono"/>
              </a:rPr>
              <a:t> </a:t>
            </a:r>
            <a:r>
              <a:rPr lang="pt-BR" sz="1600" dirty="0" err="1">
                <a:solidFill>
                  <a:srgbClr val="BCBEC4"/>
                </a:solidFill>
                <a:effectLst/>
                <a:latin typeface="JetBrains Mono"/>
              </a:rPr>
              <a:t>tokenJWT</a:t>
            </a:r>
            <a:r>
              <a:rPr lang="pt-BR" sz="1600" dirty="0">
                <a:solidFill>
                  <a:srgbClr val="BCBEC4"/>
                </a:solidFill>
                <a:effectLst/>
                <a:latin typeface="JetBrains Mono"/>
              </a:rPr>
              <a:t>){</a:t>
            </a:r>
            <a:br>
              <a:rPr lang="pt-BR" sz="16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pt-BR" sz="16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pt-BR" sz="1600" dirty="0" err="1">
                <a:solidFill>
                  <a:srgbClr val="CF8E6D"/>
                </a:solidFill>
                <a:effectLst/>
                <a:latin typeface="JetBrains Mono"/>
              </a:rPr>
              <a:t>try</a:t>
            </a:r>
            <a:r>
              <a:rPr lang="pt-BR" sz="1600" dirty="0">
                <a:solidFill>
                  <a:srgbClr val="CF8E6D"/>
                </a:solidFill>
                <a:effectLst/>
                <a:latin typeface="JetBrains Mono"/>
              </a:rPr>
              <a:t> </a:t>
            </a:r>
            <a:r>
              <a:rPr lang="pt-BR" sz="1600" dirty="0">
                <a:solidFill>
                  <a:srgbClr val="BCBEC4"/>
                </a:solidFill>
                <a:effectLst/>
                <a:latin typeface="JetBrains Mono"/>
              </a:rPr>
              <a:t>{</a:t>
            </a:r>
            <a:br>
              <a:rPr lang="pt-BR" sz="16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pt-BR" sz="1600" dirty="0">
                <a:solidFill>
                  <a:srgbClr val="BCBEC4"/>
                </a:solidFill>
                <a:effectLst/>
                <a:latin typeface="JetBrains Mono"/>
              </a:rPr>
              <a:t>        var </a:t>
            </a:r>
            <a:r>
              <a:rPr lang="pt-BR" sz="1600" dirty="0" err="1">
                <a:solidFill>
                  <a:srgbClr val="BCBEC4"/>
                </a:solidFill>
                <a:effectLst/>
                <a:latin typeface="JetBrains Mono"/>
              </a:rPr>
              <a:t>algorithm</a:t>
            </a:r>
            <a:r>
              <a:rPr lang="pt-BR" sz="1600" dirty="0">
                <a:solidFill>
                  <a:srgbClr val="BCBEC4"/>
                </a:solidFill>
                <a:effectLst/>
                <a:latin typeface="JetBrains Mono"/>
              </a:rPr>
              <a:t> = Algorithm.HMAC256(</a:t>
            </a:r>
            <a:r>
              <a:rPr lang="pt-BR" sz="1600" dirty="0" err="1">
                <a:solidFill>
                  <a:srgbClr val="BCBEC4"/>
                </a:solidFill>
                <a:effectLst/>
                <a:latin typeface="JetBrains Mono"/>
              </a:rPr>
              <a:t>secr</a:t>
            </a:r>
            <a:r>
              <a:rPr lang="pt-BR" sz="1600" u="sng" dirty="0" err="1">
                <a:solidFill>
                  <a:srgbClr val="BCBEC4"/>
                </a:solidFill>
                <a:effectLst/>
                <a:latin typeface="JetBrains Mono"/>
              </a:rPr>
              <a:t>e</a:t>
            </a:r>
            <a:r>
              <a:rPr lang="pt-BR" sz="1600" dirty="0" err="1">
                <a:solidFill>
                  <a:srgbClr val="BCBEC4"/>
                </a:solidFill>
                <a:effectLst/>
                <a:latin typeface="JetBrains Mono"/>
              </a:rPr>
              <a:t>t</a:t>
            </a:r>
            <a:r>
              <a:rPr lang="pt-BR" sz="1600" dirty="0">
                <a:solidFill>
                  <a:srgbClr val="BCBEC4"/>
                </a:solidFill>
                <a:effectLst/>
                <a:latin typeface="JetBrains Mono"/>
              </a:rPr>
              <a:t>);</a:t>
            </a:r>
            <a:br>
              <a:rPr lang="pt-BR" sz="16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pt-BR" sz="16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pt-BR" sz="1600" dirty="0"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lang="pt-BR" sz="1600" dirty="0" err="1">
                <a:solidFill>
                  <a:srgbClr val="CF8E6D"/>
                </a:solidFill>
                <a:effectLst/>
                <a:latin typeface="JetBrains Mono"/>
              </a:rPr>
              <a:t>return</a:t>
            </a:r>
            <a:r>
              <a:rPr lang="pt-BR" sz="1600" dirty="0">
                <a:solidFill>
                  <a:srgbClr val="CF8E6D"/>
                </a:solidFill>
                <a:effectLst/>
                <a:latin typeface="JetBrains Mono"/>
              </a:rPr>
              <a:t> </a:t>
            </a:r>
            <a:r>
              <a:rPr lang="pt-BR" sz="1600" dirty="0" err="1">
                <a:solidFill>
                  <a:srgbClr val="BCBEC4"/>
                </a:solidFill>
                <a:effectLst/>
                <a:latin typeface="JetBrains Mono"/>
              </a:rPr>
              <a:t>JWT.require</a:t>
            </a:r>
            <a:r>
              <a:rPr lang="pt-BR" sz="16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pt-BR" sz="1600" dirty="0" err="1">
                <a:solidFill>
                  <a:srgbClr val="BCBEC4"/>
                </a:solidFill>
                <a:effectLst/>
                <a:latin typeface="JetBrains Mono"/>
              </a:rPr>
              <a:t>algorithm</a:t>
            </a:r>
            <a:r>
              <a:rPr lang="pt-BR" sz="16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pt-BR" sz="1600" dirty="0">
                <a:solidFill>
                  <a:srgbClr val="7A7E85"/>
                </a:solidFill>
                <a:effectLst/>
                <a:latin typeface="JetBrains Mono"/>
              </a:rPr>
            </a:br>
            <a:r>
              <a:rPr lang="pt-BR" sz="1600" dirty="0">
                <a:solidFill>
                  <a:srgbClr val="7A7E85"/>
                </a:solidFill>
                <a:effectLst/>
                <a:latin typeface="JetBrains Mono"/>
              </a:rPr>
              <a:t>                </a:t>
            </a:r>
            <a:r>
              <a:rPr lang="pt-BR" sz="1600" dirty="0">
                <a:solidFill>
                  <a:srgbClr val="BCBEC4"/>
                </a:solidFill>
                <a:effectLst/>
                <a:latin typeface="JetBrains Mono"/>
              </a:rPr>
              <a:t>.</a:t>
            </a:r>
            <a:r>
              <a:rPr lang="pt-BR" sz="1600" dirty="0" err="1">
                <a:solidFill>
                  <a:srgbClr val="BCBEC4"/>
                </a:solidFill>
                <a:effectLst/>
                <a:latin typeface="JetBrains Mono"/>
              </a:rPr>
              <a:t>withIssuer</a:t>
            </a:r>
            <a:r>
              <a:rPr lang="pt-BR" sz="16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pt-BR" sz="1600" dirty="0">
                <a:solidFill>
                  <a:srgbClr val="6AAB73"/>
                </a:solidFill>
                <a:effectLst/>
                <a:latin typeface="JetBrains Mono"/>
              </a:rPr>
              <a:t>"API PEDRO"</a:t>
            </a:r>
            <a:r>
              <a:rPr lang="pt-BR" sz="16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pt-BR" sz="1600" dirty="0">
                <a:solidFill>
                  <a:srgbClr val="7A7E85"/>
                </a:solidFill>
                <a:effectLst/>
                <a:latin typeface="JetBrains Mono"/>
              </a:rPr>
            </a:br>
            <a:r>
              <a:rPr lang="pt-BR" sz="1600" dirty="0">
                <a:solidFill>
                  <a:srgbClr val="7A7E85"/>
                </a:solidFill>
                <a:effectLst/>
                <a:latin typeface="JetBrains Mono"/>
              </a:rPr>
              <a:t>                </a:t>
            </a:r>
            <a:r>
              <a:rPr lang="pt-BR" sz="1600" dirty="0">
                <a:solidFill>
                  <a:srgbClr val="BCBEC4"/>
                </a:solidFill>
                <a:effectLst/>
                <a:latin typeface="JetBrains Mono"/>
              </a:rPr>
              <a:t>.build()</a:t>
            </a:r>
            <a:br>
              <a:rPr lang="pt-BR" sz="16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pt-BR" sz="1600" dirty="0">
                <a:solidFill>
                  <a:srgbClr val="BCBEC4"/>
                </a:solidFill>
                <a:effectLst/>
                <a:latin typeface="JetBrains Mono"/>
              </a:rPr>
              <a:t>                .</a:t>
            </a:r>
            <a:r>
              <a:rPr lang="pt-BR" sz="1600" dirty="0" err="1">
                <a:solidFill>
                  <a:srgbClr val="BCBEC4"/>
                </a:solidFill>
                <a:effectLst/>
                <a:latin typeface="JetBrains Mono"/>
              </a:rPr>
              <a:t>verify</a:t>
            </a:r>
            <a:r>
              <a:rPr lang="pt-BR" sz="16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pt-BR" sz="1600" dirty="0" err="1">
                <a:solidFill>
                  <a:srgbClr val="BCBEC4"/>
                </a:solidFill>
                <a:effectLst/>
                <a:latin typeface="JetBrains Mono"/>
              </a:rPr>
              <a:t>tokenJWT</a:t>
            </a:r>
            <a:r>
              <a:rPr lang="pt-BR" sz="16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pt-BR" sz="16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pt-BR" sz="1600" dirty="0">
                <a:solidFill>
                  <a:srgbClr val="BCBEC4"/>
                </a:solidFill>
                <a:effectLst/>
                <a:latin typeface="JetBrains Mono"/>
              </a:rPr>
              <a:t>                .</a:t>
            </a:r>
            <a:r>
              <a:rPr lang="pt-BR" sz="1600" dirty="0" err="1">
                <a:solidFill>
                  <a:srgbClr val="BCBEC4"/>
                </a:solidFill>
                <a:effectLst/>
                <a:latin typeface="JetBrains Mono"/>
              </a:rPr>
              <a:t>getSubject</a:t>
            </a:r>
            <a:r>
              <a:rPr lang="pt-BR" sz="1600" dirty="0">
                <a:solidFill>
                  <a:srgbClr val="BCBEC4"/>
                </a:solidFill>
                <a:effectLst/>
                <a:latin typeface="JetBrains Mono"/>
              </a:rPr>
              <a:t>();</a:t>
            </a:r>
            <a:br>
              <a:rPr lang="pt-BR" sz="16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pt-BR" sz="16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pt-BR" sz="1600" dirty="0">
                <a:solidFill>
                  <a:srgbClr val="BCBEC4"/>
                </a:solidFill>
                <a:effectLst/>
                <a:latin typeface="JetBrains Mono"/>
              </a:rPr>
              <a:t>    } </a:t>
            </a:r>
            <a:r>
              <a:rPr lang="pt-BR" sz="1600" dirty="0">
                <a:solidFill>
                  <a:srgbClr val="CF8E6D"/>
                </a:solidFill>
                <a:effectLst/>
                <a:latin typeface="JetBrains Mono"/>
              </a:rPr>
              <a:t>catch </a:t>
            </a:r>
            <a:r>
              <a:rPr lang="pt-BR" sz="16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pt-BR" sz="1600" dirty="0" err="1">
                <a:solidFill>
                  <a:srgbClr val="BCBEC4"/>
                </a:solidFill>
                <a:effectLst/>
                <a:latin typeface="JetBrains Mono"/>
              </a:rPr>
              <a:t>JWTVerificationException</a:t>
            </a:r>
            <a:r>
              <a:rPr lang="pt-BR" sz="1600" dirty="0">
                <a:solidFill>
                  <a:srgbClr val="BCBEC4"/>
                </a:solidFill>
                <a:effectLst/>
                <a:latin typeface="JetBrains Mono"/>
              </a:rPr>
              <a:t> </a:t>
            </a:r>
            <a:r>
              <a:rPr lang="pt-BR" sz="1600" dirty="0" err="1">
                <a:solidFill>
                  <a:srgbClr val="BCBEC4"/>
                </a:solidFill>
                <a:effectLst/>
                <a:latin typeface="JetBrains Mono"/>
              </a:rPr>
              <a:t>exception</a:t>
            </a:r>
            <a:r>
              <a:rPr lang="pt-BR" sz="1600" dirty="0">
                <a:solidFill>
                  <a:srgbClr val="BCBEC4"/>
                </a:solidFill>
                <a:effectLst/>
                <a:latin typeface="JetBrains Mono"/>
              </a:rPr>
              <a:t>){</a:t>
            </a:r>
            <a:br>
              <a:rPr lang="pt-BR" sz="16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pt-BR" sz="1600" dirty="0"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lang="pt-BR" sz="1600" dirty="0" err="1">
                <a:solidFill>
                  <a:srgbClr val="CF8E6D"/>
                </a:solidFill>
                <a:effectLst/>
                <a:latin typeface="JetBrains Mono"/>
              </a:rPr>
              <a:t>throw</a:t>
            </a:r>
            <a:r>
              <a:rPr lang="pt-BR" sz="1600" dirty="0">
                <a:solidFill>
                  <a:srgbClr val="CF8E6D"/>
                </a:solidFill>
                <a:effectLst/>
                <a:latin typeface="JetBrains Mono"/>
              </a:rPr>
              <a:t> new </a:t>
            </a:r>
            <a:r>
              <a:rPr lang="pt-BR" sz="1600" dirty="0" err="1">
                <a:solidFill>
                  <a:srgbClr val="BCBEC4"/>
                </a:solidFill>
                <a:effectLst/>
                <a:latin typeface="JetBrains Mono"/>
              </a:rPr>
              <a:t>RuntimeException</a:t>
            </a:r>
            <a:r>
              <a:rPr lang="pt-BR" sz="16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pt-BR" sz="1600" dirty="0">
                <a:solidFill>
                  <a:srgbClr val="6AAB73"/>
                </a:solidFill>
                <a:effectLst/>
                <a:latin typeface="JetBrains Mono"/>
              </a:rPr>
              <a:t>"Token </a:t>
            </a:r>
            <a:r>
              <a:rPr lang="pt-BR" sz="1600" dirty="0" err="1">
                <a:solidFill>
                  <a:srgbClr val="6AAB73"/>
                </a:solidFill>
                <a:effectLst/>
                <a:latin typeface="JetBrains Mono"/>
              </a:rPr>
              <a:t>jwt</a:t>
            </a:r>
            <a:r>
              <a:rPr lang="pt-BR" sz="1600" dirty="0">
                <a:solidFill>
                  <a:srgbClr val="6AAB73"/>
                </a:solidFill>
                <a:effectLst/>
                <a:latin typeface="JetBrains Mono"/>
              </a:rPr>
              <a:t> inválido"</a:t>
            </a:r>
            <a:r>
              <a:rPr lang="pt-BR" sz="1600" dirty="0">
                <a:solidFill>
                  <a:srgbClr val="BCBEC4"/>
                </a:solidFill>
                <a:effectLst/>
                <a:latin typeface="JetBrains Mono"/>
              </a:rPr>
              <a:t>);</a:t>
            </a:r>
            <a:br>
              <a:rPr lang="pt-BR" sz="16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pt-BR" sz="1600" dirty="0">
                <a:solidFill>
                  <a:srgbClr val="BCBEC4"/>
                </a:solidFill>
                <a:effectLst/>
                <a:latin typeface="JetBrains Mono"/>
              </a:rPr>
              <a:t>    }</a:t>
            </a:r>
            <a:br>
              <a:rPr lang="pt-BR" sz="16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pt-BR" sz="1600" dirty="0">
                <a:solidFill>
                  <a:srgbClr val="BCBEC4"/>
                </a:solidFill>
                <a:effectLst/>
                <a:latin typeface="JetBrains Mon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686658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1F3653-C0C4-49C1-9B6E-144AE3CAA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Permissão para acessar os tokens</a:t>
            </a:r>
          </a:p>
        </p:txBody>
      </p:sp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C7054B37-1FC8-4FC7-A1F9-F0596830FD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61341" y="2450772"/>
            <a:ext cx="4269317" cy="3892613"/>
          </a:xfrm>
        </p:spPr>
      </p:pic>
    </p:spTree>
    <p:extLst>
      <p:ext uri="{BB962C8B-B14F-4D97-AF65-F5344CB8AC3E}">
        <p14:creationId xmlns:p14="http://schemas.microsoft.com/office/powerpoint/2010/main" val="34704198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E5B3C4-4635-0866-9ACA-B88CCE6E6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Permissões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A336F2B-C7C8-C17F-8B02-3FC6BD32A6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914567"/>
          </a:xfrm>
        </p:spPr>
        <p:txBody>
          <a:bodyPr/>
          <a:lstStyle/>
          <a:p>
            <a:r>
              <a:rPr lang="pt-BR" dirty="0"/>
              <a:t>Para isso adicione o código abaixo para validação:</a:t>
            </a:r>
          </a:p>
        </p:txBody>
      </p:sp>
      <p:sp>
        <p:nvSpPr>
          <p:cNvPr id="4" name="Shape 20">
            <a:extLst>
              <a:ext uri="{FF2B5EF4-FFF2-40B4-BE49-F238E27FC236}">
                <a16:creationId xmlns:a16="http://schemas.microsoft.com/office/drawing/2014/main" id="{22966ACD-6D5C-9406-9895-613A81736678}"/>
              </a:ext>
            </a:extLst>
          </p:cNvPr>
          <p:cNvSpPr>
            <a:spLocks noGrp="1"/>
          </p:cNvSpPr>
          <p:nvPr/>
        </p:nvSpPr>
        <p:spPr>
          <a:xfrm>
            <a:off x="749185" y="3429000"/>
            <a:ext cx="10479674" cy="3001808"/>
          </a:xfrm>
          <a:prstGeom prst="roundRect">
            <a:avLst>
              <a:gd name="adj" fmla="val 8081"/>
            </a:avLst>
          </a:prstGeom>
          <a:solidFill>
            <a:srgbClr val="1E1E1E"/>
          </a:solidFill>
          <a:ln>
            <a:solidFill>
              <a:srgbClr val="1E1E1E"/>
            </a:solidFill>
          </a:ln>
        </p:spPr>
        <p:txBody>
          <a:bodyPr/>
          <a:lstStyle/>
          <a:p>
            <a:endParaRPr lang="pt-BR" altLang="pt-BR" sz="1600" dirty="0">
              <a:solidFill>
                <a:srgbClr val="B3AE60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07D562E-1D2E-7F5A-17D7-FFD266444DA0}"/>
              </a:ext>
            </a:extLst>
          </p:cNvPr>
          <p:cNvSpPr txBox="1"/>
          <p:nvPr/>
        </p:nvSpPr>
        <p:spPr>
          <a:xfrm>
            <a:off x="1163052" y="3637243"/>
            <a:ext cx="647298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dirty="0">
                <a:solidFill>
                  <a:srgbClr val="BCBEC4"/>
                </a:solidFill>
                <a:effectLst/>
                <a:latin typeface="JetBrains Mono"/>
              </a:rPr>
              <a:t>.</a:t>
            </a:r>
            <a:r>
              <a:rPr lang="pt-BR" dirty="0" err="1">
                <a:solidFill>
                  <a:srgbClr val="BCBEC4"/>
                </a:solidFill>
                <a:effectLst/>
                <a:latin typeface="JetBrains Mono"/>
              </a:rPr>
              <a:t>authorizeHttpRequests</a:t>
            </a:r>
            <a:r>
              <a:rPr lang="pt-BR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pt-BR" dirty="0" err="1">
                <a:solidFill>
                  <a:srgbClr val="BCBEC4"/>
                </a:solidFill>
                <a:effectLst/>
                <a:latin typeface="JetBrains Mono"/>
              </a:rPr>
              <a:t>auth</a:t>
            </a:r>
            <a:r>
              <a:rPr lang="pt-BR" dirty="0">
                <a:solidFill>
                  <a:srgbClr val="BCBEC4"/>
                </a:solidFill>
                <a:effectLst/>
                <a:latin typeface="JetBrains Mono"/>
              </a:rPr>
              <a:t> -&gt; </a:t>
            </a:r>
            <a:r>
              <a:rPr lang="pt-BR" dirty="0" err="1">
                <a:solidFill>
                  <a:srgbClr val="BCBEC4"/>
                </a:solidFill>
                <a:effectLst/>
                <a:latin typeface="JetBrains Mono"/>
              </a:rPr>
              <a:t>auth</a:t>
            </a:r>
            <a:br>
              <a:rPr lang="pt-BR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pt-BR" dirty="0">
                <a:solidFill>
                  <a:srgbClr val="BCBEC4"/>
                </a:solidFill>
                <a:effectLst/>
                <a:latin typeface="JetBrains Mono"/>
              </a:rPr>
              <a:t>        .</a:t>
            </a:r>
            <a:r>
              <a:rPr lang="pt-BR" dirty="0" err="1">
                <a:solidFill>
                  <a:srgbClr val="BCBEC4"/>
                </a:solidFill>
                <a:effectLst/>
                <a:latin typeface="JetBrains Mono"/>
              </a:rPr>
              <a:t>requestMatchers</a:t>
            </a:r>
            <a:r>
              <a:rPr lang="pt-BR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pt-BR" dirty="0" err="1">
                <a:solidFill>
                  <a:srgbClr val="BCBEC4"/>
                </a:solidFill>
                <a:effectLst/>
                <a:latin typeface="JetBrains Mono"/>
              </a:rPr>
              <a:t>HttpMethod.</a:t>
            </a:r>
            <a:r>
              <a:rPr lang="pt-BR" i="1" dirty="0" err="1">
                <a:solidFill>
                  <a:srgbClr val="C77DBB"/>
                </a:solidFill>
                <a:effectLst/>
                <a:latin typeface="JetBrains Mono"/>
              </a:rPr>
              <a:t>POST</a:t>
            </a:r>
            <a:r>
              <a:rPr lang="pt-BR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pt-BR" dirty="0">
                <a:solidFill>
                  <a:srgbClr val="6AAB73"/>
                </a:solidFill>
                <a:effectLst/>
                <a:latin typeface="JetBrains Mono"/>
              </a:rPr>
              <a:t>"/login"</a:t>
            </a:r>
            <a:r>
              <a:rPr lang="pt-BR" dirty="0">
                <a:solidFill>
                  <a:srgbClr val="BCBEC4"/>
                </a:solidFill>
                <a:effectLst/>
                <a:latin typeface="JetBrains Mono"/>
              </a:rPr>
              <a:t>).</a:t>
            </a:r>
            <a:r>
              <a:rPr lang="pt-BR" dirty="0" err="1">
                <a:solidFill>
                  <a:srgbClr val="BCBEC4"/>
                </a:solidFill>
                <a:effectLst/>
                <a:latin typeface="JetBrains Mono"/>
              </a:rPr>
              <a:t>permitAll</a:t>
            </a:r>
            <a:r>
              <a:rPr lang="pt-BR" dirty="0">
                <a:solidFill>
                  <a:srgbClr val="BCBEC4"/>
                </a:solidFill>
                <a:effectLst/>
                <a:latin typeface="JetBrains Mono"/>
              </a:rPr>
              <a:t>()</a:t>
            </a:r>
            <a:br>
              <a:rPr lang="pt-BR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pt-BR" dirty="0">
                <a:solidFill>
                  <a:srgbClr val="BCBEC4"/>
                </a:solidFill>
                <a:effectLst/>
                <a:latin typeface="JetBrains Mono"/>
              </a:rPr>
              <a:t>        .</a:t>
            </a:r>
            <a:r>
              <a:rPr lang="pt-BR" dirty="0" err="1">
                <a:solidFill>
                  <a:srgbClr val="BCBEC4"/>
                </a:solidFill>
                <a:effectLst/>
                <a:latin typeface="JetBrains Mono"/>
              </a:rPr>
              <a:t>anyRequest</a:t>
            </a:r>
            <a:r>
              <a:rPr lang="pt-BR" dirty="0">
                <a:solidFill>
                  <a:srgbClr val="BCBEC4"/>
                </a:solidFill>
                <a:effectLst/>
                <a:latin typeface="JetBrains Mono"/>
              </a:rPr>
              <a:t>().</a:t>
            </a:r>
            <a:r>
              <a:rPr lang="pt-BR" dirty="0" err="1">
                <a:solidFill>
                  <a:srgbClr val="BCBEC4"/>
                </a:solidFill>
                <a:effectLst/>
                <a:latin typeface="JetBrains Mono"/>
              </a:rPr>
              <a:t>authenticated</a:t>
            </a:r>
            <a:r>
              <a:rPr lang="pt-BR" dirty="0">
                <a:solidFill>
                  <a:srgbClr val="BCBEC4"/>
                </a:solidFill>
                <a:effectLst/>
                <a:latin typeface="JetBrains Mono"/>
              </a:rPr>
              <a:t>()</a:t>
            </a:r>
            <a:br>
              <a:rPr lang="pt-BR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pt-BR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pt-BR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pt-BR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pt-BR" dirty="0">
                <a:solidFill>
                  <a:srgbClr val="BCBEC4"/>
                </a:solidFill>
                <a:effectLst/>
                <a:latin typeface="JetBrains Mono"/>
              </a:rPr>
              <a:t>.</a:t>
            </a:r>
            <a:r>
              <a:rPr lang="pt-BR" dirty="0" err="1">
                <a:solidFill>
                  <a:srgbClr val="BCBEC4"/>
                </a:solidFill>
                <a:effectLst/>
                <a:latin typeface="JetBrains Mono"/>
              </a:rPr>
              <a:t>addFilterBefore</a:t>
            </a:r>
            <a:r>
              <a:rPr lang="pt-BR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br>
              <a:rPr lang="pt-BR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pt-BR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pt-BR" dirty="0" err="1">
                <a:solidFill>
                  <a:srgbClr val="C77DBB"/>
                </a:solidFill>
                <a:effectLst/>
                <a:latin typeface="JetBrains Mono"/>
              </a:rPr>
              <a:t>securityFilter</a:t>
            </a:r>
            <a:r>
              <a:rPr lang="pt-BR" dirty="0">
                <a:solidFill>
                  <a:srgbClr val="BCBEC4"/>
                </a:solidFill>
                <a:effectLst/>
                <a:latin typeface="JetBrains Mono"/>
              </a:rPr>
              <a:t>,</a:t>
            </a:r>
            <a:br>
              <a:rPr lang="pt-BR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pt-BR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pt-BR" dirty="0" err="1">
                <a:solidFill>
                  <a:srgbClr val="BCBEC4"/>
                </a:solidFill>
                <a:effectLst/>
                <a:latin typeface="JetBrains Mono"/>
              </a:rPr>
              <a:t>UsernamePasswordAuthenticationFilter.</a:t>
            </a:r>
            <a:r>
              <a:rPr lang="pt-BR" dirty="0" err="1">
                <a:solidFill>
                  <a:srgbClr val="CF8E6D"/>
                </a:solidFill>
                <a:effectLst/>
                <a:latin typeface="JetBrains Mono"/>
              </a:rPr>
              <a:t>class</a:t>
            </a:r>
            <a:br>
              <a:rPr lang="pt-BR" dirty="0">
                <a:solidFill>
                  <a:srgbClr val="CF8E6D"/>
                </a:solidFill>
                <a:effectLst/>
                <a:latin typeface="JetBrains Mono"/>
              </a:rPr>
            </a:br>
            <a:r>
              <a:rPr lang="pt-BR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8127789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952</TotalTime>
  <Words>451</Words>
  <Application>Microsoft Office PowerPoint</Application>
  <PresentationFormat>Widescreen</PresentationFormat>
  <Paragraphs>36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6" baseType="lpstr">
      <vt:lpstr>Aptos</vt:lpstr>
      <vt:lpstr>Arial</vt:lpstr>
      <vt:lpstr>Consolas</vt:lpstr>
      <vt:lpstr>JetBrains Mono</vt:lpstr>
      <vt:lpstr>Times New Roman</vt:lpstr>
      <vt:lpstr>Tema do Office</vt:lpstr>
      <vt:lpstr>Controle de acesso</vt:lpstr>
      <vt:lpstr>Objetivos da Aula </vt:lpstr>
      <vt:lpstr>Fluxo de uma requisição</vt:lpstr>
      <vt:lpstr>Funcionamento</vt:lpstr>
      <vt:lpstr>SecurityFilter e @Controller</vt:lpstr>
      <vt:lpstr>Sintaxe</vt:lpstr>
      <vt:lpstr>Parâmetros</vt:lpstr>
      <vt:lpstr>Validando o token</vt:lpstr>
      <vt:lpstr>Permissão para acessar os tokens</vt:lpstr>
      <vt:lpstr>Permissões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Lucas Tadeu Monteiro Guedes Fernandes Salomao</dc:creator>
  <cp:lastModifiedBy>Pedro Miho</cp:lastModifiedBy>
  <cp:revision>137</cp:revision>
  <dcterms:created xsi:type="dcterms:W3CDTF">2024-03-08T12:14:33Z</dcterms:created>
  <dcterms:modified xsi:type="dcterms:W3CDTF">2026-10-19T01:59:27Z</dcterms:modified>
</cp:coreProperties>
</file>