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notesMasterIdLst>
    <p:notesMasterId r:id="rId28"/>
  </p:notesMasterIdLst>
  <p:sldIdLst>
    <p:sldId id="256" r:id="rId2"/>
    <p:sldId id="317" r:id="rId3"/>
    <p:sldId id="322" r:id="rId4"/>
    <p:sldId id="318" r:id="rId5"/>
    <p:sldId id="319" r:id="rId6"/>
    <p:sldId id="320" r:id="rId7"/>
    <p:sldId id="321" r:id="rId8"/>
    <p:sldId id="278" r:id="rId9"/>
    <p:sldId id="297" r:id="rId10"/>
    <p:sldId id="298" r:id="rId11"/>
    <p:sldId id="301" r:id="rId12"/>
    <p:sldId id="302" r:id="rId13"/>
    <p:sldId id="303" r:id="rId14"/>
    <p:sldId id="316" r:id="rId15"/>
    <p:sldId id="304" r:id="rId16"/>
    <p:sldId id="305" r:id="rId17"/>
    <p:sldId id="306" r:id="rId18"/>
    <p:sldId id="307" r:id="rId19"/>
    <p:sldId id="308" r:id="rId20"/>
    <p:sldId id="309" r:id="rId21"/>
    <p:sldId id="310" r:id="rId22"/>
    <p:sldId id="311" r:id="rId23"/>
    <p:sldId id="312" r:id="rId24"/>
    <p:sldId id="313" r:id="rId25"/>
    <p:sldId id="315" r:id="rId26"/>
    <p:sldId id="314" r:id="rId2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9A3B9811-863C-4514-A203-A948633EA0E6}">
          <p14:sldIdLst>
            <p14:sldId id="256"/>
            <p14:sldId id="317"/>
            <p14:sldId id="322"/>
            <p14:sldId id="318"/>
            <p14:sldId id="319"/>
            <p14:sldId id="320"/>
            <p14:sldId id="321"/>
            <p14:sldId id="278"/>
            <p14:sldId id="297"/>
            <p14:sldId id="298"/>
            <p14:sldId id="301"/>
            <p14:sldId id="302"/>
            <p14:sldId id="303"/>
            <p14:sldId id="316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5"/>
            <p14:sldId id="31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9E7"/>
    <a:srgbClr val="C77DB9"/>
    <a:srgbClr val="6462B0"/>
    <a:srgbClr val="FFFFFF"/>
    <a:srgbClr val="B87958"/>
    <a:srgbClr val="867568"/>
    <a:srgbClr val="548453"/>
    <a:srgbClr val="337165"/>
    <a:srgbClr val="1F232A"/>
    <a:srgbClr val="4D97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62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900" y="3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C27BCA-F434-4017-9BD8-33CEB0219D72}" type="datetimeFigureOut">
              <a:rPr lang="pt-BR" smtClean="0"/>
              <a:t>05/10/2026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32E6D2-070F-4BF4-86C0-53D883C4AF4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37520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Clique para editar o estilo do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39507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90727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05/10/2026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2691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05/10/2026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D3856C12-D3CA-9CE2-7861-13FBF02F4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07102269-6BD9-547A-4740-3B8E3F48BF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25625"/>
            <a:ext cx="5181600" cy="437038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Espaço Reservado para Conteúdo 2">
            <a:extLst>
              <a:ext uri="{FF2B5EF4-FFF2-40B4-BE49-F238E27FC236}">
                <a16:creationId xmlns:a16="http://schemas.microsoft.com/office/drawing/2014/main" id="{CB7389AF-7009-AFBD-694C-4FEB5C402AF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6000" y="1844675"/>
            <a:ext cx="5181600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118024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05/10/2026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AF65EF7-14AA-3189-A9E5-924E752AE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45059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05/10/2026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F8FEF21-0B4E-C030-F1F6-1E8EDC3D8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3457533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05/10/2026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3773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844675"/>
            <a:ext cx="5256212" cy="43513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05/10/2026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566D364-0170-A389-F159-C7C9D62E4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76796487-CD7B-89D5-C833-332E8D160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345" y="1844675"/>
            <a:ext cx="5060308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4281492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773382"/>
            <a:ext cx="6172200" cy="408766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773382"/>
            <a:ext cx="3932237" cy="40956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05/10/2026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29F35F0-D02B-295C-BF50-6E6DC9981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695394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776478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495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26" Type="http://schemas.openxmlformats.org/officeDocument/2006/relationships/image" Target="../media/image27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5" Type="http://schemas.openxmlformats.org/officeDocument/2006/relationships/image" Target="../media/image26.pn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29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24" Type="http://schemas.openxmlformats.org/officeDocument/2006/relationships/image" Target="../media/image25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23" Type="http://schemas.openxmlformats.org/officeDocument/2006/relationships/image" Target="../media/image24.png"/><Relationship Id="rId28" Type="http://schemas.openxmlformats.org/officeDocument/2006/relationships/image" Target="../media/image29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31" Type="http://schemas.openxmlformats.org/officeDocument/2006/relationships/image" Target="../media/image32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Relationship Id="rId22" Type="http://schemas.openxmlformats.org/officeDocument/2006/relationships/image" Target="../media/image23.png"/><Relationship Id="rId27" Type="http://schemas.openxmlformats.org/officeDocument/2006/relationships/image" Target="../media/image28.png"/><Relationship Id="rId30" Type="http://schemas.openxmlformats.org/officeDocument/2006/relationships/image" Target="../media/image3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B5C3A-A09A-4259-AF3D-EF5302F61C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66334"/>
            <a:ext cx="9144000" cy="2004930"/>
          </a:xfrm>
        </p:spPr>
        <p:txBody>
          <a:bodyPr/>
          <a:lstStyle/>
          <a:p>
            <a:r>
              <a:rPr lang="pt-BR" dirty="0"/>
              <a:t>Controle de acesso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FF2C9F-673D-46AD-83CF-B874F96C37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4046982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8775F5-DCB9-4A85-B504-823740C5D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Objetivos da Aula</a:t>
            </a:r>
            <a:br>
              <a:rPr lang="pt-BR" b="1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2FB958-8178-48C9-BF2D-40050E59EB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Ao final da aula, o aluno será capaz de: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Compreender o conceito de controle de acesso em uma API REST.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Diferenciar autenticação de autorização.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Entender como o Spring Security controla o acesso aos </a:t>
            </a:r>
            <a:r>
              <a:rPr lang="pt-BR" dirty="0" err="1"/>
              <a:t>endpoints</a:t>
            </a:r>
            <a:r>
              <a:rPr lang="pt-BR" dirty="0"/>
              <a:t>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Configurar quais </a:t>
            </a:r>
            <a:r>
              <a:rPr lang="pt-BR" dirty="0" err="1"/>
              <a:t>endpoints</a:t>
            </a:r>
            <a:r>
              <a:rPr lang="pt-BR" dirty="0"/>
              <a:t> serão públicos e quais exigirão autenticação.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Utilizar </a:t>
            </a:r>
            <a:r>
              <a:rPr lang="pt-BR" dirty="0" err="1"/>
              <a:t>requestMatchers</a:t>
            </a:r>
            <a:r>
              <a:rPr lang="pt-BR" dirty="0"/>
              <a:t> para definir regras de acesso.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Compreender os retornos HTTP relacionados ao acesso, como 401 </a:t>
            </a:r>
            <a:r>
              <a:rPr lang="pt-BR" dirty="0" err="1"/>
              <a:t>Unauthorized</a:t>
            </a:r>
            <a:r>
              <a:rPr lang="pt-BR" dirty="0"/>
              <a:t> e 403 </a:t>
            </a:r>
            <a:r>
              <a:rPr lang="pt-BR" dirty="0" err="1"/>
              <a:t>Forbidden</a:t>
            </a:r>
            <a:r>
              <a:rPr lang="pt-BR" dirty="0"/>
              <a:t>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Testar o acesso a </a:t>
            </a:r>
            <a:r>
              <a:rPr lang="pt-BR" dirty="0" err="1"/>
              <a:t>endpoints</a:t>
            </a:r>
            <a:r>
              <a:rPr lang="pt-BR" dirty="0"/>
              <a:t> protegidos utilizando um usuário autenticado.</a:t>
            </a:r>
          </a:p>
        </p:txBody>
      </p:sp>
    </p:spTree>
    <p:extLst>
      <p:ext uri="{BB962C8B-B14F-4D97-AF65-F5344CB8AC3E}">
        <p14:creationId xmlns:p14="http://schemas.microsoft.com/office/powerpoint/2010/main" val="4092695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6397626" y="1482051"/>
            <a:ext cx="1990830" cy="464736"/>
          </a:xfrm>
          <a:custGeom>
            <a:avLst/>
            <a:gdLst/>
            <a:ahLst/>
            <a:cxnLst/>
            <a:rect l="l" t="t" r="r" b="b"/>
            <a:pathLst>
              <a:path w="3019425" h="704850">
                <a:moveTo>
                  <a:pt x="0" y="0"/>
                </a:moveTo>
                <a:lnTo>
                  <a:pt x="3019425" y="0"/>
                </a:lnTo>
                <a:lnTo>
                  <a:pt x="3019425" y="704850"/>
                </a:lnTo>
                <a:lnTo>
                  <a:pt x="0" y="7048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6642732" y="1555454"/>
            <a:ext cx="1420718" cy="2380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66" b="1" spc="-31" dirty="0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Spring MVC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40056" y="1823981"/>
            <a:ext cx="2393181" cy="212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3"/>
              </a:lnSpc>
            </a:pPr>
            <a:r>
              <a:rPr lang="en-US" sz="1364" spc="-27" dirty="0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-US" sz="1364" spc="-27" dirty="0" err="1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Gerencia</a:t>
            </a:r>
            <a:r>
              <a:rPr lang="en-US" sz="1364" spc="-27" dirty="0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 o </a:t>
            </a:r>
            <a:r>
              <a:rPr lang="en-US" sz="1364" spc="-27" dirty="0" err="1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fluxo</a:t>
            </a:r>
            <a:r>
              <a:rPr lang="en-US" sz="1364" spc="-27" dirty="0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 da </a:t>
            </a:r>
            <a:r>
              <a:rPr lang="en-US" sz="1364" spc="-27" dirty="0" err="1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requisição</a:t>
            </a:r>
            <a:r>
              <a:rPr lang="en-US" sz="1364" spc="-27" dirty="0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</a:p>
        </p:txBody>
      </p:sp>
      <p:sp>
        <p:nvSpPr>
          <p:cNvPr id="6" name="Freeform 6"/>
          <p:cNvSpPr/>
          <p:nvPr/>
        </p:nvSpPr>
        <p:spPr>
          <a:xfrm>
            <a:off x="-4187" y="2365318"/>
            <a:ext cx="1595176" cy="2085033"/>
          </a:xfrm>
          <a:custGeom>
            <a:avLst/>
            <a:gdLst/>
            <a:ahLst/>
            <a:cxnLst/>
            <a:rect l="l" t="t" r="r" b="b"/>
            <a:pathLst>
              <a:path w="2419350" h="3162300">
                <a:moveTo>
                  <a:pt x="0" y="0"/>
                </a:moveTo>
                <a:lnTo>
                  <a:pt x="2419350" y="0"/>
                </a:lnTo>
                <a:lnTo>
                  <a:pt x="2419350" y="3162300"/>
                </a:lnTo>
                <a:lnTo>
                  <a:pt x="0" y="31623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259582" y="2943098"/>
            <a:ext cx="1067637" cy="810148"/>
          </a:xfrm>
          <a:custGeom>
            <a:avLst/>
            <a:gdLst/>
            <a:ahLst/>
            <a:cxnLst/>
            <a:rect l="l" t="t" r="r" b="b"/>
            <a:pathLst>
              <a:path w="1619250" h="1228725">
                <a:moveTo>
                  <a:pt x="0" y="0"/>
                </a:moveTo>
                <a:lnTo>
                  <a:pt x="1619250" y="0"/>
                </a:lnTo>
                <a:lnTo>
                  <a:pt x="1619250" y="1228725"/>
                </a:lnTo>
                <a:lnTo>
                  <a:pt x="0" y="12287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86388" y="3786759"/>
            <a:ext cx="1195428" cy="345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077" spc="-21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(Navegador, Postman, App, etc.)</a:t>
            </a:r>
          </a:p>
        </p:txBody>
      </p:sp>
      <p:sp>
        <p:nvSpPr>
          <p:cNvPr id="11" name="Freeform 11"/>
          <p:cNvSpPr/>
          <p:nvPr/>
        </p:nvSpPr>
        <p:spPr>
          <a:xfrm>
            <a:off x="1452824" y="3056142"/>
            <a:ext cx="929473" cy="351692"/>
          </a:xfrm>
          <a:custGeom>
            <a:avLst/>
            <a:gdLst/>
            <a:ahLst/>
            <a:cxnLst/>
            <a:rect l="l" t="t" r="r" b="b"/>
            <a:pathLst>
              <a:path w="1409700" h="533400">
                <a:moveTo>
                  <a:pt x="0" y="0"/>
                </a:moveTo>
                <a:lnTo>
                  <a:pt x="1409700" y="0"/>
                </a:lnTo>
                <a:lnTo>
                  <a:pt x="1409700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594091" y="2978729"/>
            <a:ext cx="646939" cy="1660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077" b="1" spc="-21" dirty="0">
                <a:solidFill>
                  <a:srgbClr val="1C3569"/>
                </a:solidFill>
                <a:latin typeface="Roboto Bold"/>
                <a:ea typeface="Roboto Bold"/>
                <a:cs typeface="Roboto Bold"/>
                <a:sym typeface="Roboto Bold"/>
              </a:rPr>
              <a:t>Request</a:t>
            </a:r>
          </a:p>
        </p:txBody>
      </p:sp>
      <p:sp>
        <p:nvSpPr>
          <p:cNvPr id="13" name="Freeform 13"/>
          <p:cNvSpPr/>
          <p:nvPr/>
        </p:nvSpPr>
        <p:spPr>
          <a:xfrm>
            <a:off x="2244131" y="2245993"/>
            <a:ext cx="1331407" cy="2549769"/>
          </a:xfrm>
          <a:custGeom>
            <a:avLst/>
            <a:gdLst/>
            <a:ahLst/>
            <a:cxnLst/>
            <a:rect l="l" t="t" r="r" b="b"/>
            <a:pathLst>
              <a:path w="2019300" h="3867150">
                <a:moveTo>
                  <a:pt x="0" y="0"/>
                </a:moveTo>
                <a:lnTo>
                  <a:pt x="2019300" y="0"/>
                </a:lnTo>
                <a:lnTo>
                  <a:pt x="2019300" y="3867150"/>
                </a:lnTo>
                <a:lnTo>
                  <a:pt x="0" y="386715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2376016" y="2591405"/>
            <a:ext cx="540099" cy="2085033"/>
          </a:xfrm>
          <a:custGeom>
            <a:avLst/>
            <a:gdLst/>
            <a:ahLst/>
            <a:cxnLst/>
            <a:rect l="l" t="t" r="r" b="b"/>
            <a:pathLst>
              <a:path w="819150" h="3162300">
                <a:moveTo>
                  <a:pt x="0" y="0"/>
                </a:moveTo>
                <a:lnTo>
                  <a:pt x="819150" y="0"/>
                </a:lnTo>
                <a:lnTo>
                  <a:pt x="819150" y="3162300"/>
                </a:lnTo>
                <a:lnTo>
                  <a:pt x="0" y="31623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2909835" y="2591405"/>
            <a:ext cx="533819" cy="2085033"/>
          </a:xfrm>
          <a:custGeom>
            <a:avLst/>
            <a:gdLst/>
            <a:ahLst/>
            <a:cxnLst/>
            <a:rect l="l" t="t" r="r" b="b"/>
            <a:pathLst>
              <a:path w="809625" h="3162300">
                <a:moveTo>
                  <a:pt x="0" y="0"/>
                </a:moveTo>
                <a:lnTo>
                  <a:pt x="809625" y="0"/>
                </a:lnTo>
                <a:lnTo>
                  <a:pt x="809625" y="3162300"/>
                </a:lnTo>
                <a:lnTo>
                  <a:pt x="0" y="31623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3437374" y="3056142"/>
            <a:ext cx="935753" cy="351692"/>
          </a:xfrm>
          <a:custGeom>
            <a:avLst/>
            <a:gdLst/>
            <a:ahLst/>
            <a:cxnLst/>
            <a:rect l="l" t="t" r="r" b="b"/>
            <a:pathLst>
              <a:path w="1419225" h="533400">
                <a:moveTo>
                  <a:pt x="0" y="0"/>
                </a:moveTo>
                <a:lnTo>
                  <a:pt x="1419225" y="0"/>
                </a:lnTo>
                <a:lnTo>
                  <a:pt x="1419225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3437374" y="4092378"/>
            <a:ext cx="935753" cy="238648"/>
          </a:xfrm>
          <a:custGeom>
            <a:avLst/>
            <a:gdLst/>
            <a:ahLst/>
            <a:cxnLst/>
            <a:rect l="l" t="t" r="r" b="b"/>
            <a:pathLst>
              <a:path w="1419225" h="361950">
                <a:moveTo>
                  <a:pt x="0" y="0"/>
                </a:moveTo>
                <a:lnTo>
                  <a:pt x="1419225" y="0"/>
                </a:lnTo>
                <a:lnTo>
                  <a:pt x="1419225" y="361950"/>
                </a:lnTo>
                <a:lnTo>
                  <a:pt x="0" y="36195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21" name="TextBox 21"/>
          <p:cNvSpPr txBox="1"/>
          <p:nvPr/>
        </p:nvSpPr>
        <p:spPr>
          <a:xfrm>
            <a:off x="3626849" y="3916475"/>
            <a:ext cx="599101" cy="345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077" b="1" spc="-21" dirty="0">
                <a:solidFill>
                  <a:srgbClr val="1C3569"/>
                </a:solidFill>
                <a:latin typeface="Roboto Bold"/>
                <a:ea typeface="Roboto Bold"/>
                <a:cs typeface="Roboto Bold"/>
                <a:sym typeface="Roboto Bold"/>
              </a:rPr>
              <a:t>Response</a:t>
            </a:r>
          </a:p>
        </p:txBody>
      </p:sp>
      <p:sp>
        <p:nvSpPr>
          <p:cNvPr id="22" name="Freeform 22"/>
          <p:cNvSpPr/>
          <p:nvPr/>
        </p:nvSpPr>
        <p:spPr>
          <a:xfrm>
            <a:off x="4103077" y="2132949"/>
            <a:ext cx="7825154" cy="2662813"/>
          </a:xfrm>
          <a:custGeom>
            <a:avLst/>
            <a:gdLst/>
            <a:ahLst/>
            <a:cxnLst/>
            <a:rect l="l" t="t" r="r" b="b"/>
            <a:pathLst>
              <a:path w="11868150" h="4038600">
                <a:moveTo>
                  <a:pt x="0" y="0"/>
                </a:moveTo>
                <a:lnTo>
                  <a:pt x="11868150" y="0"/>
                </a:lnTo>
                <a:lnTo>
                  <a:pt x="11868150" y="4038600"/>
                </a:lnTo>
                <a:lnTo>
                  <a:pt x="0" y="403860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4234961" y="2710730"/>
            <a:ext cx="2260879" cy="1739621"/>
          </a:xfrm>
          <a:custGeom>
            <a:avLst/>
            <a:gdLst/>
            <a:ahLst/>
            <a:cxnLst/>
            <a:rect l="l" t="t" r="r" b="b"/>
            <a:pathLst>
              <a:path w="3429000" h="2638425">
                <a:moveTo>
                  <a:pt x="0" y="0"/>
                </a:moveTo>
                <a:lnTo>
                  <a:pt x="3429000" y="0"/>
                </a:lnTo>
                <a:lnTo>
                  <a:pt x="3429000" y="2638425"/>
                </a:lnTo>
                <a:lnTo>
                  <a:pt x="0" y="2638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24" name="TextBox 24"/>
          <p:cNvSpPr txBox="1"/>
          <p:nvPr/>
        </p:nvSpPr>
        <p:spPr>
          <a:xfrm>
            <a:off x="4707178" y="3544230"/>
            <a:ext cx="1316444" cy="561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68"/>
              </a:lnSpc>
            </a:pPr>
            <a:r>
              <a:rPr lang="en-US" sz="1130" spc="-22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Recebe a requisição, encontra o controller e coordena o fluxo.</a:t>
            </a:r>
          </a:p>
        </p:txBody>
      </p:sp>
      <p:sp>
        <p:nvSpPr>
          <p:cNvPr id="27" name="Freeform 27"/>
          <p:cNvSpPr/>
          <p:nvPr/>
        </p:nvSpPr>
        <p:spPr>
          <a:xfrm>
            <a:off x="6357676" y="3056142"/>
            <a:ext cx="797588" cy="351692"/>
          </a:xfrm>
          <a:custGeom>
            <a:avLst/>
            <a:gdLst/>
            <a:ahLst/>
            <a:cxnLst/>
            <a:rect l="l" t="t" r="r" b="b"/>
            <a:pathLst>
              <a:path w="1209675" h="533400">
                <a:moveTo>
                  <a:pt x="0" y="0"/>
                </a:moveTo>
                <a:lnTo>
                  <a:pt x="1209675" y="0"/>
                </a:lnTo>
                <a:lnTo>
                  <a:pt x="1209675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28" name="TextBox 28"/>
          <p:cNvSpPr txBox="1"/>
          <p:nvPr/>
        </p:nvSpPr>
        <p:spPr>
          <a:xfrm>
            <a:off x="6543139" y="2978729"/>
            <a:ext cx="498191" cy="345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077" b="1" spc="-21">
                <a:solidFill>
                  <a:srgbClr val="1C3569"/>
                </a:solidFill>
                <a:latin typeface="Roboto Bold"/>
                <a:ea typeface="Roboto Bold"/>
                <a:cs typeface="Roboto Bold"/>
                <a:sym typeface="Roboto Bold"/>
              </a:rPr>
              <a:t>Request</a:t>
            </a:r>
          </a:p>
        </p:txBody>
      </p:sp>
      <p:sp>
        <p:nvSpPr>
          <p:cNvPr id="29" name="Freeform 29"/>
          <p:cNvSpPr/>
          <p:nvPr/>
        </p:nvSpPr>
        <p:spPr>
          <a:xfrm>
            <a:off x="6357676" y="3866290"/>
            <a:ext cx="797588" cy="351692"/>
          </a:xfrm>
          <a:custGeom>
            <a:avLst/>
            <a:gdLst/>
            <a:ahLst/>
            <a:cxnLst/>
            <a:rect l="l" t="t" r="r" b="b"/>
            <a:pathLst>
              <a:path w="1209675" h="533400">
                <a:moveTo>
                  <a:pt x="0" y="0"/>
                </a:moveTo>
                <a:lnTo>
                  <a:pt x="1209675" y="0"/>
                </a:lnTo>
                <a:lnTo>
                  <a:pt x="1209675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7017099" y="2245993"/>
            <a:ext cx="1733341" cy="2549769"/>
          </a:xfrm>
          <a:custGeom>
            <a:avLst/>
            <a:gdLst/>
            <a:ahLst/>
            <a:cxnLst/>
            <a:rect l="l" t="t" r="r" b="b"/>
            <a:pathLst>
              <a:path w="2628900" h="3867150">
                <a:moveTo>
                  <a:pt x="0" y="0"/>
                </a:moveTo>
                <a:lnTo>
                  <a:pt x="2628900" y="0"/>
                </a:lnTo>
                <a:lnTo>
                  <a:pt x="2628900" y="3867150"/>
                </a:lnTo>
                <a:lnTo>
                  <a:pt x="0" y="386715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31" name="Freeform 31"/>
          <p:cNvSpPr/>
          <p:nvPr/>
        </p:nvSpPr>
        <p:spPr>
          <a:xfrm>
            <a:off x="7148983" y="2780450"/>
            <a:ext cx="671984" cy="1790151"/>
          </a:xfrm>
          <a:custGeom>
            <a:avLst/>
            <a:gdLst/>
            <a:ahLst/>
            <a:cxnLst/>
            <a:rect l="l" t="t" r="r" b="b"/>
            <a:pathLst>
              <a:path w="1019175" h="3162300">
                <a:moveTo>
                  <a:pt x="0" y="0"/>
                </a:moveTo>
                <a:lnTo>
                  <a:pt x="1019175" y="0"/>
                </a:lnTo>
                <a:lnTo>
                  <a:pt x="1019175" y="3162300"/>
                </a:lnTo>
                <a:lnTo>
                  <a:pt x="0" y="316230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32" name="Freeform 32"/>
          <p:cNvSpPr/>
          <p:nvPr/>
        </p:nvSpPr>
        <p:spPr>
          <a:xfrm>
            <a:off x="7814687" y="2813169"/>
            <a:ext cx="665703" cy="1790151"/>
          </a:xfrm>
          <a:custGeom>
            <a:avLst/>
            <a:gdLst/>
            <a:ahLst/>
            <a:cxnLst/>
            <a:rect l="l" t="t" r="r" b="b"/>
            <a:pathLst>
              <a:path w="1009650" h="3162300">
                <a:moveTo>
                  <a:pt x="0" y="0"/>
                </a:moveTo>
                <a:lnTo>
                  <a:pt x="1009650" y="0"/>
                </a:lnTo>
                <a:lnTo>
                  <a:pt x="1009650" y="3162300"/>
                </a:lnTo>
                <a:lnTo>
                  <a:pt x="0" y="316230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</p:sp>
      <p:sp>
        <p:nvSpPr>
          <p:cNvPr id="34" name="Freeform 34"/>
          <p:cNvSpPr/>
          <p:nvPr/>
        </p:nvSpPr>
        <p:spPr>
          <a:xfrm>
            <a:off x="8744159" y="3056142"/>
            <a:ext cx="797588" cy="351692"/>
          </a:xfrm>
          <a:custGeom>
            <a:avLst/>
            <a:gdLst/>
            <a:ahLst/>
            <a:cxnLst/>
            <a:rect l="l" t="t" r="r" b="b"/>
            <a:pathLst>
              <a:path w="1209675" h="533400">
                <a:moveTo>
                  <a:pt x="0" y="0"/>
                </a:moveTo>
                <a:lnTo>
                  <a:pt x="1209675" y="0"/>
                </a:lnTo>
                <a:lnTo>
                  <a:pt x="1209675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</p:sp>
      <p:sp>
        <p:nvSpPr>
          <p:cNvPr id="36" name="Freeform 36"/>
          <p:cNvSpPr/>
          <p:nvPr/>
        </p:nvSpPr>
        <p:spPr>
          <a:xfrm>
            <a:off x="8612274" y="4092378"/>
            <a:ext cx="929473" cy="238648"/>
          </a:xfrm>
          <a:custGeom>
            <a:avLst/>
            <a:gdLst/>
            <a:ahLst/>
            <a:cxnLst/>
            <a:rect l="l" t="t" r="r" b="b"/>
            <a:pathLst>
              <a:path w="1409700" h="361950">
                <a:moveTo>
                  <a:pt x="0" y="0"/>
                </a:moveTo>
                <a:lnTo>
                  <a:pt x="1409700" y="0"/>
                </a:lnTo>
                <a:lnTo>
                  <a:pt x="1409700" y="361950"/>
                </a:lnTo>
                <a:lnTo>
                  <a:pt x="0" y="36195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</p:sp>
      <p:sp>
        <p:nvSpPr>
          <p:cNvPr id="37" name="Freeform 37"/>
          <p:cNvSpPr/>
          <p:nvPr/>
        </p:nvSpPr>
        <p:spPr>
          <a:xfrm>
            <a:off x="9535467" y="2710729"/>
            <a:ext cx="2260879" cy="1620297"/>
          </a:xfrm>
          <a:custGeom>
            <a:avLst/>
            <a:gdLst/>
            <a:ahLst/>
            <a:cxnLst/>
            <a:rect l="l" t="t" r="r" b="b"/>
            <a:pathLst>
              <a:path w="3429000" h="2457450">
                <a:moveTo>
                  <a:pt x="0" y="0"/>
                </a:moveTo>
                <a:lnTo>
                  <a:pt x="3429000" y="0"/>
                </a:lnTo>
                <a:lnTo>
                  <a:pt x="3429000" y="2457450"/>
                </a:lnTo>
                <a:lnTo>
                  <a:pt x="0" y="245745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</p:sp>
      <p:sp>
        <p:nvSpPr>
          <p:cNvPr id="38" name="TextBox 38"/>
          <p:cNvSpPr txBox="1"/>
          <p:nvPr/>
        </p:nvSpPr>
        <p:spPr>
          <a:xfrm>
            <a:off x="10197919" y="3201795"/>
            <a:ext cx="935974" cy="2140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sz="1405" b="1" spc="-28" dirty="0">
                <a:solidFill>
                  <a:srgbClr val="9B400D"/>
                </a:solidFill>
                <a:latin typeface="Roboto Bold"/>
                <a:ea typeface="Roboto Bold"/>
                <a:cs typeface="Roboto Bold"/>
                <a:sym typeface="Roboto Bold"/>
              </a:rPr>
              <a:t>Controller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979005" y="3562041"/>
            <a:ext cx="1373802" cy="5251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077" spc="-21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Processa a requisição, executa a lógica e retorna a resposta.</a:t>
            </a:r>
          </a:p>
        </p:txBody>
      </p:sp>
      <p:sp>
        <p:nvSpPr>
          <p:cNvPr id="40" name="Freeform 40"/>
          <p:cNvSpPr/>
          <p:nvPr/>
        </p:nvSpPr>
        <p:spPr>
          <a:xfrm>
            <a:off x="-4187" y="4902526"/>
            <a:ext cx="1990830" cy="1620297"/>
          </a:xfrm>
          <a:custGeom>
            <a:avLst/>
            <a:gdLst/>
            <a:ahLst/>
            <a:cxnLst/>
            <a:rect l="l" t="t" r="r" b="b"/>
            <a:pathLst>
              <a:path w="3019425" h="2457450">
                <a:moveTo>
                  <a:pt x="0" y="0"/>
                </a:moveTo>
                <a:lnTo>
                  <a:pt x="3019425" y="0"/>
                </a:lnTo>
                <a:lnTo>
                  <a:pt x="3019425" y="2457450"/>
                </a:lnTo>
                <a:lnTo>
                  <a:pt x="0" y="245745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</p:sp>
      <p:sp>
        <p:nvSpPr>
          <p:cNvPr id="42" name="TextBox 42"/>
          <p:cNvSpPr txBox="1"/>
          <p:nvPr/>
        </p:nvSpPr>
        <p:spPr>
          <a:xfrm>
            <a:off x="667254" y="5060459"/>
            <a:ext cx="1048231" cy="3456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077" b="1" spc="-21" dirty="0" err="1">
                <a:solidFill>
                  <a:srgbClr val="1C3569"/>
                </a:solidFill>
                <a:latin typeface="Roboto Bold"/>
                <a:ea typeface="Roboto Bold"/>
                <a:cs typeface="Roboto Bold"/>
                <a:sym typeface="Roboto Bold"/>
              </a:rPr>
              <a:t>Requisição</a:t>
            </a:r>
            <a:r>
              <a:rPr lang="en-US" sz="1077" b="1" spc="-21" dirty="0">
                <a:solidFill>
                  <a:srgbClr val="1C3569"/>
                </a:solidFill>
                <a:latin typeface="Roboto Bold"/>
                <a:ea typeface="Roboto Bold"/>
                <a:cs typeface="Roboto Bold"/>
                <a:sym typeface="Roboto Bold"/>
              </a:rPr>
              <a:t> do </a:t>
            </a:r>
            <a:r>
              <a:rPr lang="en-US" sz="1077" b="1" spc="-21" dirty="0" err="1">
                <a:solidFill>
                  <a:srgbClr val="1C3569"/>
                </a:solidFill>
                <a:latin typeface="Roboto Bold"/>
                <a:ea typeface="Roboto Bold"/>
                <a:cs typeface="Roboto Bold"/>
                <a:sym typeface="Roboto Bold"/>
              </a:rPr>
              <a:t>Cliente</a:t>
            </a:r>
            <a:endParaRPr lang="en-US" sz="1077" b="1" spc="-21" dirty="0">
              <a:solidFill>
                <a:srgbClr val="1C3569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232588" y="5572183"/>
            <a:ext cx="1492907" cy="561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68"/>
              </a:lnSpc>
            </a:pPr>
            <a:r>
              <a:rPr lang="en-US" sz="1130" spc="-22" dirty="0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O </a:t>
            </a:r>
            <a:r>
              <a:rPr lang="en-US" sz="1130" spc="-22" dirty="0" err="1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cliente</a:t>
            </a:r>
            <a:r>
              <a:rPr lang="en-US" sz="1130" spc="-22" dirty="0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130" spc="-22" dirty="0" err="1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envia</a:t>
            </a:r>
            <a:r>
              <a:rPr lang="en-US" sz="1130" spc="-22" dirty="0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130" spc="-22" dirty="0" err="1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uma</a:t>
            </a:r>
            <a:r>
              <a:rPr lang="en-US" sz="1130" spc="-22" dirty="0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130" spc="-22" dirty="0" err="1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requisição</a:t>
            </a:r>
            <a:r>
              <a:rPr lang="en-US" sz="1130" spc="-22" dirty="0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 HTTP para a </a:t>
            </a:r>
            <a:r>
              <a:rPr lang="en-US" sz="1130" spc="-22" dirty="0" err="1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aplicação</a:t>
            </a:r>
            <a:r>
              <a:rPr lang="en-US" sz="1130" spc="-22" dirty="0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</p:txBody>
      </p:sp>
      <p:sp>
        <p:nvSpPr>
          <p:cNvPr id="44" name="Freeform 44"/>
          <p:cNvSpPr/>
          <p:nvPr/>
        </p:nvSpPr>
        <p:spPr>
          <a:xfrm>
            <a:off x="1980363" y="4902526"/>
            <a:ext cx="2128995" cy="1620297"/>
          </a:xfrm>
          <a:custGeom>
            <a:avLst/>
            <a:gdLst/>
            <a:ahLst/>
            <a:cxnLst/>
            <a:rect l="l" t="t" r="r" b="b"/>
            <a:pathLst>
              <a:path w="3228975" h="2457450">
                <a:moveTo>
                  <a:pt x="0" y="0"/>
                </a:moveTo>
                <a:lnTo>
                  <a:pt x="3228975" y="0"/>
                </a:lnTo>
                <a:lnTo>
                  <a:pt x="3228975" y="2457450"/>
                </a:lnTo>
                <a:lnTo>
                  <a:pt x="0" y="245745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/>
            </a:stretch>
          </a:blipFill>
        </p:spPr>
      </p:sp>
      <p:sp>
        <p:nvSpPr>
          <p:cNvPr id="45" name="Freeform 45"/>
          <p:cNvSpPr/>
          <p:nvPr/>
        </p:nvSpPr>
        <p:spPr>
          <a:xfrm>
            <a:off x="2112248" y="4902527"/>
            <a:ext cx="408214" cy="471016"/>
          </a:xfrm>
          <a:custGeom>
            <a:avLst/>
            <a:gdLst/>
            <a:ahLst/>
            <a:cxnLst/>
            <a:rect l="l" t="t" r="r" b="b"/>
            <a:pathLst>
              <a:path w="619125" h="714375">
                <a:moveTo>
                  <a:pt x="0" y="0"/>
                </a:moveTo>
                <a:lnTo>
                  <a:pt x="619125" y="0"/>
                </a:lnTo>
                <a:lnTo>
                  <a:pt x="619125" y="714375"/>
                </a:lnTo>
                <a:lnTo>
                  <a:pt x="0" y="71437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6" name="TextBox 46"/>
          <p:cNvSpPr txBox="1"/>
          <p:nvPr/>
        </p:nvSpPr>
        <p:spPr>
          <a:xfrm>
            <a:off x="2161423" y="5049919"/>
            <a:ext cx="267718" cy="2362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2"/>
              </a:lnSpc>
            </a:pPr>
            <a:r>
              <a:rPr lang="en-US" sz="1502" b="1" spc="-30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2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2234772" y="5375068"/>
            <a:ext cx="1589012" cy="94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68"/>
              </a:lnSpc>
            </a:pPr>
            <a:r>
              <a:rPr lang="en-US" sz="1130" spc="-22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A requisição passa pelos filtros (ex.: filtro de segurança, CORS, etc.) antes de chegar ao DispatcherServlet.</a:t>
            </a:r>
          </a:p>
        </p:txBody>
      </p:sp>
      <p:sp>
        <p:nvSpPr>
          <p:cNvPr id="48" name="Freeform 48"/>
          <p:cNvSpPr/>
          <p:nvPr/>
        </p:nvSpPr>
        <p:spPr>
          <a:xfrm>
            <a:off x="4103077" y="4902526"/>
            <a:ext cx="1990830" cy="1620297"/>
          </a:xfrm>
          <a:custGeom>
            <a:avLst/>
            <a:gdLst/>
            <a:ahLst/>
            <a:cxnLst/>
            <a:rect l="l" t="t" r="r" b="b"/>
            <a:pathLst>
              <a:path w="3019425" h="2457450">
                <a:moveTo>
                  <a:pt x="0" y="0"/>
                </a:moveTo>
                <a:lnTo>
                  <a:pt x="3019425" y="0"/>
                </a:lnTo>
                <a:lnTo>
                  <a:pt x="3019425" y="2457450"/>
                </a:lnTo>
                <a:lnTo>
                  <a:pt x="0" y="2457450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/>
            </a:stretch>
          </a:blipFill>
        </p:spPr>
      </p:sp>
      <p:sp>
        <p:nvSpPr>
          <p:cNvPr id="49" name="Freeform 49"/>
          <p:cNvSpPr/>
          <p:nvPr/>
        </p:nvSpPr>
        <p:spPr>
          <a:xfrm>
            <a:off x="4103077" y="4902527"/>
            <a:ext cx="401934" cy="471016"/>
          </a:xfrm>
          <a:custGeom>
            <a:avLst/>
            <a:gdLst/>
            <a:ahLst/>
            <a:cxnLst/>
            <a:rect l="l" t="t" r="r" b="b"/>
            <a:pathLst>
              <a:path w="609600" h="714375">
                <a:moveTo>
                  <a:pt x="0" y="0"/>
                </a:moveTo>
                <a:lnTo>
                  <a:pt x="609600" y="0"/>
                </a:lnTo>
                <a:lnTo>
                  <a:pt x="609600" y="714375"/>
                </a:lnTo>
                <a:lnTo>
                  <a:pt x="0" y="71437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/>
            </a:stretch>
          </a:blipFill>
        </p:spPr>
      </p:sp>
      <p:sp>
        <p:nvSpPr>
          <p:cNvPr id="50" name="TextBox 50"/>
          <p:cNvSpPr txBox="1"/>
          <p:nvPr/>
        </p:nvSpPr>
        <p:spPr>
          <a:xfrm>
            <a:off x="4564465" y="5047724"/>
            <a:ext cx="1076221" cy="345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077" b="1" spc="-21">
                <a:solidFill>
                  <a:srgbClr val="105B2B"/>
                </a:solidFill>
                <a:latin typeface="Roboto Bold"/>
                <a:ea typeface="Roboto Bold"/>
                <a:cs typeface="Roboto Bold"/>
                <a:sym typeface="Roboto Bold"/>
              </a:rPr>
              <a:t>DispatcherServlet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4287892" y="5375068"/>
            <a:ext cx="1527682" cy="94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68"/>
              </a:lnSpc>
            </a:pPr>
            <a:r>
              <a:rPr lang="en-US" sz="1130" spc="-22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Recebe a requisição, identifica qual controller deve ser chamado e coordena o fluxo da requisição.</a:t>
            </a:r>
          </a:p>
        </p:txBody>
      </p:sp>
      <p:sp>
        <p:nvSpPr>
          <p:cNvPr id="52" name="Freeform 52"/>
          <p:cNvSpPr/>
          <p:nvPr/>
        </p:nvSpPr>
        <p:spPr>
          <a:xfrm>
            <a:off x="6093907" y="4902526"/>
            <a:ext cx="1990830" cy="1620297"/>
          </a:xfrm>
          <a:custGeom>
            <a:avLst/>
            <a:gdLst/>
            <a:ahLst/>
            <a:cxnLst/>
            <a:rect l="l" t="t" r="r" b="b"/>
            <a:pathLst>
              <a:path w="3019425" h="2457450">
                <a:moveTo>
                  <a:pt x="0" y="0"/>
                </a:moveTo>
                <a:lnTo>
                  <a:pt x="3019425" y="0"/>
                </a:lnTo>
                <a:lnTo>
                  <a:pt x="3019425" y="2457450"/>
                </a:lnTo>
                <a:lnTo>
                  <a:pt x="0" y="2457450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/>
            </a:stretch>
          </a:blipFill>
        </p:spPr>
      </p:sp>
      <p:sp>
        <p:nvSpPr>
          <p:cNvPr id="53" name="Freeform 53"/>
          <p:cNvSpPr/>
          <p:nvPr/>
        </p:nvSpPr>
        <p:spPr>
          <a:xfrm>
            <a:off x="6093906" y="4902527"/>
            <a:ext cx="401934" cy="471016"/>
          </a:xfrm>
          <a:custGeom>
            <a:avLst/>
            <a:gdLst/>
            <a:ahLst/>
            <a:cxnLst/>
            <a:rect l="l" t="t" r="r" b="b"/>
            <a:pathLst>
              <a:path w="609600" h="714375">
                <a:moveTo>
                  <a:pt x="0" y="0"/>
                </a:moveTo>
                <a:lnTo>
                  <a:pt x="609600" y="0"/>
                </a:lnTo>
                <a:lnTo>
                  <a:pt x="609600" y="714375"/>
                </a:lnTo>
                <a:lnTo>
                  <a:pt x="0" y="71437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/>
            </a:stretch>
          </a:blipFill>
        </p:spPr>
      </p:sp>
      <p:sp>
        <p:nvSpPr>
          <p:cNvPr id="54" name="TextBox 54"/>
          <p:cNvSpPr txBox="1"/>
          <p:nvPr/>
        </p:nvSpPr>
        <p:spPr>
          <a:xfrm>
            <a:off x="6195045" y="5049919"/>
            <a:ext cx="267718" cy="2362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2"/>
              </a:lnSpc>
            </a:pPr>
            <a:r>
              <a:rPr lang="en-US" sz="1502" b="1" spc="-30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4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6574780" y="5047724"/>
            <a:ext cx="1245203" cy="345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077" b="1" spc="-21">
                <a:solidFill>
                  <a:srgbClr val="7946BD"/>
                </a:solidFill>
                <a:latin typeface="Roboto Bold"/>
                <a:ea typeface="Roboto Bold"/>
                <a:cs typeface="Roboto Bold"/>
                <a:sym typeface="Roboto Bold"/>
              </a:rPr>
              <a:t>Handler Interceptors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6358751" y="5360183"/>
            <a:ext cx="1477302" cy="94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68"/>
              </a:lnSpc>
            </a:pPr>
            <a:r>
              <a:rPr lang="en-US" sz="1130" spc="-22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Executam métodos antes e depois do controller (ex.: preHandle, postHandle, afterCompletion).</a:t>
            </a:r>
          </a:p>
        </p:txBody>
      </p:sp>
      <p:sp>
        <p:nvSpPr>
          <p:cNvPr id="57" name="Freeform 57"/>
          <p:cNvSpPr/>
          <p:nvPr/>
        </p:nvSpPr>
        <p:spPr>
          <a:xfrm>
            <a:off x="8078456" y="4902526"/>
            <a:ext cx="1997110" cy="1620297"/>
          </a:xfrm>
          <a:custGeom>
            <a:avLst/>
            <a:gdLst/>
            <a:ahLst/>
            <a:cxnLst/>
            <a:rect l="l" t="t" r="r" b="b"/>
            <a:pathLst>
              <a:path w="3028950" h="2457450">
                <a:moveTo>
                  <a:pt x="0" y="0"/>
                </a:moveTo>
                <a:lnTo>
                  <a:pt x="3028950" y="0"/>
                </a:lnTo>
                <a:lnTo>
                  <a:pt x="3028950" y="2457450"/>
                </a:lnTo>
                <a:lnTo>
                  <a:pt x="0" y="245745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/>
            </a:stretch>
          </a:blipFill>
        </p:spPr>
      </p:sp>
      <p:sp>
        <p:nvSpPr>
          <p:cNvPr id="58" name="Freeform 58"/>
          <p:cNvSpPr/>
          <p:nvPr/>
        </p:nvSpPr>
        <p:spPr>
          <a:xfrm>
            <a:off x="8210341" y="4902527"/>
            <a:ext cx="408214" cy="471016"/>
          </a:xfrm>
          <a:custGeom>
            <a:avLst/>
            <a:gdLst/>
            <a:ahLst/>
            <a:cxnLst/>
            <a:rect l="l" t="t" r="r" b="b"/>
            <a:pathLst>
              <a:path w="619125" h="714375">
                <a:moveTo>
                  <a:pt x="0" y="0"/>
                </a:moveTo>
                <a:lnTo>
                  <a:pt x="619125" y="0"/>
                </a:lnTo>
                <a:lnTo>
                  <a:pt x="619125" y="714375"/>
                </a:lnTo>
                <a:lnTo>
                  <a:pt x="0" y="714375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/>
            </a:stretch>
          </a:blipFill>
        </p:spPr>
      </p:sp>
      <p:sp>
        <p:nvSpPr>
          <p:cNvPr id="59" name="TextBox 59"/>
          <p:cNvSpPr txBox="1"/>
          <p:nvPr/>
        </p:nvSpPr>
        <p:spPr>
          <a:xfrm>
            <a:off x="8632133" y="5047724"/>
            <a:ext cx="600127" cy="345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077" b="1" spc="-21">
                <a:solidFill>
                  <a:srgbClr val="F47221"/>
                </a:solidFill>
                <a:latin typeface="Roboto Bold"/>
                <a:ea typeface="Roboto Bold"/>
                <a:cs typeface="Roboto Bold"/>
                <a:sym typeface="Roboto Bold"/>
              </a:rPr>
              <a:t>Controller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8356432" y="5368831"/>
            <a:ext cx="1605496" cy="8547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59"/>
              </a:lnSpc>
            </a:pPr>
            <a:r>
              <a:rPr lang="en-US" sz="1276" spc="-25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Processa a requisição, executa a lógica de resposta e retorna a JSON, HTML, etc.).</a:t>
            </a:r>
          </a:p>
        </p:txBody>
      </p:sp>
      <p:sp>
        <p:nvSpPr>
          <p:cNvPr id="61" name="Freeform 61"/>
          <p:cNvSpPr/>
          <p:nvPr/>
        </p:nvSpPr>
        <p:spPr>
          <a:xfrm>
            <a:off x="10069286" y="4902526"/>
            <a:ext cx="2122714" cy="1620297"/>
          </a:xfrm>
          <a:custGeom>
            <a:avLst/>
            <a:gdLst/>
            <a:ahLst/>
            <a:cxnLst/>
            <a:rect l="l" t="t" r="r" b="b"/>
            <a:pathLst>
              <a:path w="3219450" h="2457450">
                <a:moveTo>
                  <a:pt x="0" y="0"/>
                </a:moveTo>
                <a:lnTo>
                  <a:pt x="3219450" y="0"/>
                </a:lnTo>
                <a:lnTo>
                  <a:pt x="3219450" y="2457450"/>
                </a:lnTo>
                <a:lnTo>
                  <a:pt x="0" y="2457450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/>
            </a:stretch>
          </a:blipFill>
        </p:spPr>
      </p:sp>
      <p:sp>
        <p:nvSpPr>
          <p:cNvPr id="62" name="Freeform 62"/>
          <p:cNvSpPr/>
          <p:nvPr/>
        </p:nvSpPr>
        <p:spPr>
          <a:xfrm>
            <a:off x="10201170" y="4902527"/>
            <a:ext cx="401934" cy="471016"/>
          </a:xfrm>
          <a:custGeom>
            <a:avLst/>
            <a:gdLst/>
            <a:ahLst/>
            <a:cxnLst/>
            <a:rect l="l" t="t" r="r" b="b"/>
            <a:pathLst>
              <a:path w="609600" h="714375">
                <a:moveTo>
                  <a:pt x="0" y="0"/>
                </a:moveTo>
                <a:lnTo>
                  <a:pt x="609600" y="0"/>
                </a:lnTo>
                <a:lnTo>
                  <a:pt x="609600" y="714375"/>
                </a:lnTo>
                <a:lnTo>
                  <a:pt x="0" y="71437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>
              <a:fillRect/>
            </a:stretch>
          </a:blipFill>
        </p:spPr>
      </p:sp>
      <p:sp>
        <p:nvSpPr>
          <p:cNvPr id="63" name="TextBox 63"/>
          <p:cNvSpPr txBox="1"/>
          <p:nvPr/>
        </p:nvSpPr>
        <p:spPr>
          <a:xfrm>
            <a:off x="10210819" y="5049919"/>
            <a:ext cx="267718" cy="2362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2"/>
              </a:lnSpc>
            </a:pPr>
            <a:r>
              <a:rPr lang="en-US" sz="1502" b="1" spc="-30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3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10550371" y="5047724"/>
            <a:ext cx="1432658" cy="345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077" b="1" spc="-21">
                <a:solidFill>
                  <a:srgbClr val="C6302C"/>
                </a:solidFill>
                <a:latin typeface="Roboto Bold"/>
                <a:ea typeface="Roboto Bold"/>
                <a:cs typeface="Roboto Bold"/>
                <a:sym typeface="Roboto Bold"/>
              </a:rPr>
              <a:t>Resposta para o Cliente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10300959" y="5383883"/>
            <a:ext cx="1694652" cy="704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en-US" sz="1077" spc="-21">
                <a:solidFill>
                  <a:srgbClr val="1C3569"/>
                </a:solidFill>
                <a:latin typeface="Roboto"/>
                <a:ea typeface="Roboto"/>
                <a:cs typeface="Roboto"/>
                <a:sym typeface="Roboto"/>
              </a:rPr>
              <a:t>A resposta percorre o caminho de volta passando pelos interceptors e filtros até chegar ao cliente.</a:t>
            </a:r>
          </a:p>
        </p:txBody>
      </p:sp>
      <p:sp>
        <p:nvSpPr>
          <p:cNvPr id="66" name="TextBox 66"/>
          <p:cNvSpPr txBox="1"/>
          <p:nvPr/>
        </p:nvSpPr>
        <p:spPr>
          <a:xfrm rot="-5400000">
            <a:off x="7573826" y="3523450"/>
            <a:ext cx="1147424" cy="369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68"/>
              </a:lnSpc>
            </a:pPr>
            <a:r>
              <a:rPr lang="en-US" sz="1130" b="1" spc="-22" dirty="0" err="1">
                <a:solidFill>
                  <a:srgbClr val="1C3569"/>
                </a:solidFill>
                <a:latin typeface="Roboto Bold"/>
                <a:ea typeface="Roboto Bold"/>
                <a:cs typeface="Roboto Bold"/>
                <a:sym typeface="Roboto Bold"/>
              </a:rPr>
              <a:t>postHandle</a:t>
            </a:r>
            <a:r>
              <a:rPr lang="en-US" sz="1130" b="1" spc="-22" dirty="0">
                <a:solidFill>
                  <a:srgbClr val="1C3569"/>
                </a:solidFill>
                <a:latin typeface="Roboto Bold"/>
                <a:ea typeface="Roboto Bold"/>
                <a:cs typeface="Roboto Bold"/>
                <a:sym typeface="Roboto Bold"/>
              </a:rPr>
              <a:t>() </a:t>
            </a:r>
            <a:r>
              <a:rPr lang="en-US" sz="1130" b="1" spc="-22" dirty="0" err="1">
                <a:solidFill>
                  <a:srgbClr val="1C3569"/>
                </a:solidFill>
                <a:latin typeface="Roboto Bold"/>
                <a:ea typeface="Roboto Bold"/>
                <a:cs typeface="Roboto Bold"/>
                <a:sym typeface="Roboto Bold"/>
              </a:rPr>
              <a:t>afterCompletion</a:t>
            </a:r>
            <a:r>
              <a:rPr lang="en-US" sz="1130" b="1" spc="-22" dirty="0">
                <a:solidFill>
                  <a:srgbClr val="1C3569"/>
                </a:solidFill>
                <a:latin typeface="Roboto Bold"/>
                <a:ea typeface="Roboto Bold"/>
                <a:cs typeface="Roboto Bold"/>
                <a:sym typeface="Roboto Bold"/>
              </a:rPr>
              <a:t>()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4557790" y="3201794"/>
            <a:ext cx="1615220" cy="2140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sz="1405" b="1" spc="-28" dirty="0" err="1">
                <a:solidFill>
                  <a:srgbClr val="105B2B"/>
                </a:solidFill>
                <a:latin typeface="Roboto Bold"/>
                <a:ea typeface="Roboto Bold"/>
                <a:cs typeface="Roboto Bold"/>
                <a:sym typeface="Roboto Bold"/>
              </a:rPr>
              <a:t>DispatcherServlet</a:t>
            </a:r>
            <a:endParaRPr lang="en-US" sz="1405" b="1" spc="-28" dirty="0">
              <a:solidFill>
                <a:srgbClr val="105B2B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68" name="TextBox 68"/>
          <p:cNvSpPr txBox="1"/>
          <p:nvPr/>
        </p:nvSpPr>
        <p:spPr>
          <a:xfrm>
            <a:off x="7144637" y="2287636"/>
            <a:ext cx="1493341" cy="4187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59"/>
              </a:lnSpc>
            </a:pPr>
            <a:r>
              <a:rPr lang="en-US" sz="1276" b="1" spc="-25" dirty="0">
                <a:solidFill>
                  <a:srgbClr val="1C3569"/>
                </a:solidFill>
                <a:latin typeface="Roboto Bold"/>
                <a:ea typeface="Roboto Bold"/>
                <a:cs typeface="Roboto Bold"/>
                <a:sym typeface="Roboto Bold"/>
              </a:rPr>
              <a:t>Handler Interceptors</a:t>
            </a:r>
          </a:p>
        </p:txBody>
      </p:sp>
      <p:sp>
        <p:nvSpPr>
          <p:cNvPr id="69" name="TextBox 69"/>
          <p:cNvSpPr txBox="1"/>
          <p:nvPr/>
        </p:nvSpPr>
        <p:spPr>
          <a:xfrm rot="-5400000">
            <a:off x="2174407" y="3424537"/>
            <a:ext cx="943316" cy="4187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59"/>
              </a:lnSpc>
            </a:pPr>
            <a:r>
              <a:rPr lang="en-US" sz="1276" b="1" spc="-25" dirty="0" err="1">
                <a:solidFill>
                  <a:srgbClr val="1C3569"/>
                </a:solidFill>
                <a:latin typeface="Roboto Bold"/>
                <a:ea typeface="Roboto Bold"/>
                <a:cs typeface="Roboto Bold"/>
                <a:sym typeface="Roboto Bold"/>
              </a:rPr>
              <a:t>Filtro</a:t>
            </a:r>
            <a:r>
              <a:rPr lang="en-US" sz="1276" b="1" spc="-25" dirty="0">
                <a:solidFill>
                  <a:srgbClr val="1C3569"/>
                </a:solidFill>
                <a:latin typeface="Roboto Bold"/>
                <a:ea typeface="Roboto Bold"/>
                <a:cs typeface="Roboto Bold"/>
                <a:sym typeface="Roboto Bold"/>
              </a:rPr>
              <a:t> de </a:t>
            </a:r>
            <a:r>
              <a:rPr lang="en-US" sz="1276" b="1" spc="-25" dirty="0" err="1">
                <a:solidFill>
                  <a:srgbClr val="1C3569"/>
                </a:solidFill>
                <a:latin typeface="Roboto Bold"/>
                <a:ea typeface="Roboto Bold"/>
                <a:cs typeface="Roboto Bold"/>
                <a:sym typeface="Roboto Bold"/>
              </a:rPr>
              <a:t>Segurança</a:t>
            </a:r>
            <a:endParaRPr lang="en-US" sz="1276" b="1" spc="-25" dirty="0">
              <a:solidFill>
                <a:srgbClr val="1C3569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70" name="TextBox 70"/>
          <p:cNvSpPr txBox="1"/>
          <p:nvPr/>
        </p:nvSpPr>
        <p:spPr>
          <a:xfrm rot="-5400000">
            <a:off x="2766123" y="3461118"/>
            <a:ext cx="821242" cy="345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077" b="1" spc="-21" dirty="0">
                <a:solidFill>
                  <a:srgbClr val="1C3569"/>
                </a:solidFill>
                <a:latin typeface="Roboto Bold"/>
                <a:ea typeface="Roboto Bold"/>
                <a:cs typeface="Roboto Bold"/>
                <a:sym typeface="Roboto Bold"/>
              </a:rPr>
              <a:t>Outros </a:t>
            </a:r>
            <a:r>
              <a:rPr lang="en-US" sz="1077" b="1" spc="-21" dirty="0" err="1">
                <a:solidFill>
                  <a:srgbClr val="1C3569"/>
                </a:solidFill>
                <a:latin typeface="Roboto Bold"/>
                <a:ea typeface="Roboto Bold"/>
                <a:cs typeface="Roboto Bold"/>
                <a:sym typeface="Roboto Bold"/>
              </a:rPr>
              <a:t>Filtros</a:t>
            </a:r>
            <a:endParaRPr lang="en-US" sz="1077" b="1" spc="-21" dirty="0">
              <a:solidFill>
                <a:srgbClr val="1C3569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71" name="TextBox 71"/>
          <p:cNvSpPr txBox="1"/>
          <p:nvPr/>
        </p:nvSpPr>
        <p:spPr>
          <a:xfrm rot="-5400000">
            <a:off x="7034952" y="3592490"/>
            <a:ext cx="900047" cy="1660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077" b="1" spc="-21" dirty="0" err="1">
                <a:solidFill>
                  <a:srgbClr val="1C3569"/>
                </a:solidFill>
                <a:latin typeface="Roboto Bold"/>
                <a:ea typeface="Roboto Bold"/>
                <a:cs typeface="Roboto Bold"/>
                <a:sym typeface="Roboto Bold"/>
              </a:rPr>
              <a:t>preHandle</a:t>
            </a:r>
            <a:r>
              <a:rPr lang="en-US" sz="1077" b="1" spc="-21" dirty="0">
                <a:solidFill>
                  <a:srgbClr val="1C3569"/>
                </a:solidFill>
                <a:latin typeface="Roboto Bold"/>
                <a:ea typeface="Roboto Bold"/>
                <a:cs typeface="Roboto Bold"/>
                <a:sym typeface="Roboto Bold"/>
              </a:rPr>
              <a:t>()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502530" y="2554303"/>
            <a:ext cx="564570" cy="444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sz="1405" b="1" spc="-28">
                <a:solidFill>
                  <a:srgbClr val="1C3569"/>
                </a:solidFill>
                <a:latin typeface="Roboto Bold"/>
                <a:ea typeface="Roboto Bold"/>
                <a:cs typeface="Roboto Bold"/>
                <a:sym typeface="Roboto Bold"/>
              </a:rPr>
              <a:t>Cliente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8838432" y="3916475"/>
            <a:ext cx="599101" cy="345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077" b="1" spc="-21" dirty="0">
                <a:solidFill>
                  <a:srgbClr val="1C3569"/>
                </a:solidFill>
                <a:latin typeface="Roboto Bold"/>
                <a:ea typeface="Roboto Bold"/>
                <a:cs typeface="Roboto Bold"/>
                <a:sym typeface="Roboto Bold"/>
              </a:rPr>
              <a:t>Response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3594081" y="2978729"/>
            <a:ext cx="571575" cy="1660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077" b="1" spc="-21" dirty="0">
                <a:solidFill>
                  <a:srgbClr val="1C3569"/>
                </a:solidFill>
                <a:latin typeface="Roboto Bold"/>
                <a:ea typeface="Roboto Bold"/>
                <a:cs typeface="Roboto Bold"/>
                <a:sym typeface="Roboto Bold"/>
              </a:rPr>
              <a:t>Request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8863364" y="2978729"/>
            <a:ext cx="498191" cy="345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077" b="1" spc="-21" dirty="0">
                <a:solidFill>
                  <a:srgbClr val="1C3569"/>
                </a:solidFill>
                <a:latin typeface="Roboto Bold"/>
                <a:ea typeface="Roboto Bold"/>
                <a:cs typeface="Roboto Bold"/>
                <a:sym typeface="Roboto Bold"/>
              </a:rPr>
              <a:t>Request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2538808" y="2310460"/>
            <a:ext cx="720484" cy="200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59"/>
              </a:lnSpc>
            </a:pPr>
            <a:r>
              <a:rPr lang="en-US" sz="1276" b="1" spc="-25" dirty="0">
                <a:solidFill>
                  <a:srgbClr val="1C3569"/>
                </a:solidFill>
                <a:latin typeface="Roboto Bold"/>
                <a:ea typeface="Roboto Bold"/>
                <a:cs typeface="Roboto Bold"/>
                <a:sym typeface="Roboto Bold"/>
              </a:rPr>
              <a:t>Filters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2523921" y="5047724"/>
            <a:ext cx="377645" cy="345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077" b="1" spc="-21">
                <a:solidFill>
                  <a:srgbClr val="1C3569"/>
                </a:solidFill>
                <a:latin typeface="Roboto Bold"/>
                <a:ea typeface="Roboto Bold"/>
                <a:cs typeface="Roboto Bold"/>
                <a:sym typeface="Roboto Bold"/>
              </a:rPr>
              <a:t>Filters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8943619" y="3695396"/>
            <a:ext cx="267718" cy="2362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2"/>
              </a:lnSpc>
            </a:pPr>
            <a:r>
              <a:rPr lang="en-US" sz="1502" b="1" spc="-30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1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8247551" y="5049919"/>
            <a:ext cx="267718" cy="2362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2"/>
              </a:lnSpc>
            </a:pPr>
            <a:r>
              <a:rPr lang="en-US" sz="1502" b="1" spc="-30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5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4196082" y="5049919"/>
            <a:ext cx="267718" cy="2362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2"/>
              </a:lnSpc>
            </a:pPr>
            <a:r>
              <a:rPr lang="en-US" sz="1502" b="1" spc="-30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6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3749885" y="3695396"/>
            <a:ext cx="267718" cy="2362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2"/>
              </a:lnSpc>
            </a:pPr>
            <a:r>
              <a:rPr lang="en-US" sz="1502" b="1" spc="-30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1</a:t>
            </a:r>
          </a:p>
        </p:txBody>
      </p:sp>
      <p:grpSp>
        <p:nvGrpSpPr>
          <p:cNvPr id="87" name="Agrupar 86">
            <a:extLst>
              <a:ext uri="{FF2B5EF4-FFF2-40B4-BE49-F238E27FC236}">
                <a16:creationId xmlns:a16="http://schemas.microsoft.com/office/drawing/2014/main" id="{FF51DB15-A54F-4EF8-8E0C-58286E9BA517}"/>
              </a:ext>
            </a:extLst>
          </p:cNvPr>
          <p:cNvGrpSpPr/>
          <p:nvPr/>
        </p:nvGrpSpPr>
        <p:grpSpPr>
          <a:xfrm>
            <a:off x="182274" y="5107262"/>
            <a:ext cx="252000" cy="252000"/>
            <a:chOff x="142530" y="4994687"/>
            <a:chExt cx="252000" cy="252000"/>
          </a:xfrm>
        </p:grpSpPr>
        <p:sp>
          <p:nvSpPr>
            <p:cNvPr id="85" name="Elipse 84">
              <a:extLst>
                <a:ext uri="{FF2B5EF4-FFF2-40B4-BE49-F238E27FC236}">
                  <a16:creationId xmlns:a16="http://schemas.microsoft.com/office/drawing/2014/main" id="{919281F2-BFA5-413B-8C2B-C6104A312954}"/>
                </a:ext>
              </a:extLst>
            </p:cNvPr>
            <p:cNvSpPr/>
            <p:nvPr/>
          </p:nvSpPr>
          <p:spPr>
            <a:xfrm>
              <a:off x="142530" y="4994687"/>
              <a:ext cx="252000" cy="252000"/>
            </a:xfrm>
            <a:prstGeom prst="ellipse">
              <a:avLst/>
            </a:prstGeom>
            <a:solidFill>
              <a:srgbClr val="0079E7"/>
            </a:solidFill>
            <a:ln>
              <a:solidFill>
                <a:srgbClr val="0079E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92844" y="5040678"/>
              <a:ext cx="151373" cy="16001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/>
              <a:r>
                <a:rPr lang="en-US" sz="1000" b="1" spc="-30" dirty="0">
                  <a:solidFill>
                    <a:srgbClr val="FFFFFF"/>
                  </a:solidFill>
                  <a:latin typeface="Roboto Bold"/>
                  <a:ea typeface="Roboto Bold"/>
                  <a:cs typeface="Roboto Bold"/>
                  <a:sym typeface="Roboto Bold"/>
                </a:rPr>
                <a:t>1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EB96F9-88CB-4DF6-AAB5-D3FEDEE19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550DC3D-7D7F-49C8-9B28-2D7F4CE42C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28746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08A8B8-0BC1-49C1-A947-4459F6F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248492-9B59-409B-9DCB-0B2946E4F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07515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1372C5-1531-49F3-9E53-F162BB798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72C0B7-AE29-4F47-9644-FCA23DAF81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47880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AC1302-0EA6-49E9-A463-C4D70723A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AD525D2-CD5D-49A5-B85A-84CFE7FEC5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686658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BFBF93-6A28-4A3A-BD49-BD5195EDB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Objetivos da aula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F56A5B-102D-41DD-8DEE-5A219D78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Ao final desta aula, os alunos deverão ser capazes de: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800" b="1" dirty="0"/>
              <a:t>Compreender o papel do JWT</a:t>
            </a:r>
            <a:r>
              <a:rPr lang="pt-BR" sz="1800" dirty="0"/>
              <a:t> na autenticação de uma API sem sessão (</a:t>
            </a:r>
            <a:r>
              <a:rPr lang="pt-BR" sz="1800" i="1" dirty="0" err="1"/>
              <a:t>stateless</a:t>
            </a:r>
            <a:r>
              <a:rPr lang="pt-BR" sz="1800" dirty="0"/>
              <a:t>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800" b="1" dirty="0"/>
              <a:t>Identificar a estrutura de um JWT:</a:t>
            </a:r>
            <a:r>
              <a:rPr lang="pt-BR" sz="1800" dirty="0"/>
              <a:t> cabeçalho (</a:t>
            </a:r>
            <a:r>
              <a:rPr lang="pt-BR" sz="1800" i="1" dirty="0"/>
              <a:t>header</a:t>
            </a:r>
            <a:r>
              <a:rPr lang="pt-BR" sz="1800" dirty="0"/>
              <a:t>), informações (</a:t>
            </a:r>
            <a:r>
              <a:rPr lang="pt-BR" sz="1800" i="1" dirty="0" err="1"/>
              <a:t>payload</a:t>
            </a:r>
            <a:r>
              <a:rPr lang="pt-BR" sz="1800" dirty="0"/>
              <a:t>) e assinatura.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800" b="1" dirty="0"/>
              <a:t>Configurar uma biblioteca para trabalhar com JWT</a:t>
            </a:r>
            <a:r>
              <a:rPr lang="pt-BR" sz="1800" dirty="0"/>
              <a:t> no projeto Spring Boot.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800" b="1" dirty="0"/>
              <a:t>Implementar um serviço de geração de tokens</a:t>
            </a:r>
            <a:r>
              <a:rPr lang="pt-BR" sz="1800" dirty="0"/>
              <a:t>, definindo a identificação do usuário, o emissor e o prazo de validade.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800" b="1" dirty="0"/>
              <a:t>Integrar a geração do token ao login</a:t>
            </a:r>
            <a:r>
              <a:rPr lang="pt-BR" sz="1800" dirty="0"/>
              <a:t>, retornando-o ao cliente após a validação das credenciais.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800" b="1" dirty="0"/>
              <a:t>Testar o </a:t>
            </a:r>
            <a:r>
              <a:rPr lang="pt-BR" sz="1800" b="1" dirty="0" err="1"/>
              <a:t>endpoint</a:t>
            </a:r>
            <a:r>
              <a:rPr lang="pt-BR" sz="1800" b="1" dirty="0"/>
              <a:t> de autenticação</a:t>
            </a:r>
            <a:r>
              <a:rPr lang="pt-BR" sz="1800" dirty="0"/>
              <a:t>, verificando o retorno do token para credenciais válidas e a rejeição de credenciais inválidas.</a:t>
            </a:r>
          </a:p>
        </p:txBody>
      </p:sp>
    </p:spTree>
    <p:extLst>
      <p:ext uri="{BB962C8B-B14F-4D97-AF65-F5344CB8AC3E}">
        <p14:creationId xmlns:p14="http://schemas.microsoft.com/office/powerpoint/2010/main" val="3891646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C34165-6FFA-4177-89F2-387FE75CC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pt-BR" sz="2400" dirty="0"/>
              <a:t>JWT (JSON Web Token) </a:t>
            </a:r>
            <a:endParaRPr lang="pt-BR" sz="3600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F58F1C-1C0F-41EE-8215-06CF424B2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796548"/>
            <a:ext cx="11007306" cy="3962568"/>
          </a:xfrm>
        </p:spPr>
        <p:txBody>
          <a:bodyPr/>
          <a:lstStyle/>
          <a:p>
            <a:r>
              <a:rPr lang="pt-BR" sz="1800" b="1"/>
              <a:t>JWT (JSON Web Token)</a:t>
            </a:r>
            <a:r>
              <a:rPr lang="pt-BR" sz="1800"/>
              <a:t> é </a:t>
            </a:r>
            <a:r>
              <a:rPr lang="pt-BR" sz="1800" dirty="0"/>
              <a:t>um formato de token utilizado para transmitir informações entre sistemas. Na autenticação, ele permite que o cliente apresente informações sobre o usuário autenticado, cuja assinatura </a:t>
            </a:r>
            <a:r>
              <a:rPr lang="pt-BR" sz="1800" dirty="0" err="1"/>
              <a:t>podeser</a:t>
            </a:r>
            <a:r>
              <a:rPr lang="pt-BR" sz="1800" dirty="0"/>
              <a:t> verificada pela API.</a:t>
            </a:r>
          </a:p>
          <a:p>
            <a:endParaRPr lang="pt-BR" sz="1800" dirty="0"/>
          </a:p>
          <a:p>
            <a:r>
              <a:rPr lang="pt-BR" sz="1800" dirty="0"/>
              <a:t>O JWT possui três partes, separadas por pontos:</a:t>
            </a:r>
          </a:p>
          <a:p>
            <a:endParaRPr lang="pt-BR" sz="18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Header: informa o tipo do token e o algoritmo de assinatura.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 err="1"/>
              <a:t>Payload</a:t>
            </a:r>
            <a:r>
              <a:rPr lang="pt-BR" dirty="0"/>
              <a:t>: contém informações como a identificação do usuário e a expiração.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Assinatura: permite verificar se o token foi alterado e se foi assinado com a chave esperada.</a:t>
            </a:r>
          </a:p>
        </p:txBody>
      </p:sp>
    </p:spTree>
    <p:extLst>
      <p:ext uri="{BB962C8B-B14F-4D97-AF65-F5344CB8AC3E}">
        <p14:creationId xmlns:p14="http://schemas.microsoft.com/office/powerpoint/2010/main" val="11684205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650BF0-2C44-C5F0-9056-D4A72A298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JSON Web Token (JWT) </a:t>
            </a:r>
            <a:r>
              <a:rPr lang="pt-BR" dirty="0" err="1"/>
              <a:t>Debugger</a:t>
            </a:r>
            <a:br>
              <a:rPr lang="pt-BR" dirty="0"/>
            </a:br>
            <a:endParaRPr lang="pt-BR" dirty="0"/>
          </a:p>
        </p:txBody>
      </p:sp>
      <p:sp>
        <p:nvSpPr>
          <p:cNvPr id="4" name="Shape 20">
            <a:extLst>
              <a:ext uri="{FF2B5EF4-FFF2-40B4-BE49-F238E27FC236}">
                <a16:creationId xmlns:a16="http://schemas.microsoft.com/office/drawing/2014/main" id="{8266CC90-0DAD-400A-8CC5-546ACF88C87C}"/>
              </a:ext>
            </a:extLst>
          </p:cNvPr>
          <p:cNvSpPr>
            <a:spLocks noGrp="1"/>
          </p:cNvSpPr>
          <p:nvPr/>
        </p:nvSpPr>
        <p:spPr>
          <a:xfrm>
            <a:off x="749185" y="2115485"/>
            <a:ext cx="5021695" cy="2604796"/>
          </a:xfrm>
          <a:prstGeom prst="roundRect">
            <a:avLst>
              <a:gd name="adj" fmla="val 8081"/>
            </a:avLst>
          </a:prstGeom>
          <a:solidFill>
            <a:srgbClr val="F1F1F1"/>
          </a:solidFill>
          <a:ln>
            <a:noFill/>
          </a:ln>
          <a:effectLst/>
        </p:spPr>
        <p:txBody>
          <a:bodyPr/>
          <a:lstStyle/>
          <a:p>
            <a:endParaRPr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900A6DD-5EB2-33E4-5530-115078229CA4}"/>
              </a:ext>
            </a:extLst>
          </p:cNvPr>
          <p:cNvSpPr>
            <a:spLocks noGrp="1"/>
          </p:cNvSpPr>
          <p:nvPr/>
        </p:nvSpPr>
        <p:spPr>
          <a:xfrm>
            <a:off x="1556492" y="2297737"/>
            <a:ext cx="3407081" cy="4042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2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sz="2250" b="1" dirty="0">
                <a:solidFill>
                  <a:srgbClr val="757575"/>
                </a:solidFill>
                <a:latin typeface="Consolas"/>
                <a:ea typeface="Consolas"/>
                <a:cs typeface="Consolas"/>
              </a:rPr>
              <a:t>JSON Web Token (JWT)</a:t>
            </a:r>
            <a:endParaRPr sz="2250" b="1" dirty="0">
              <a:solidFill>
                <a:srgbClr val="75757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Shape 20">
            <a:extLst>
              <a:ext uri="{FF2B5EF4-FFF2-40B4-BE49-F238E27FC236}">
                <a16:creationId xmlns:a16="http://schemas.microsoft.com/office/drawing/2014/main" id="{67C2ACCC-A0C7-62BA-485E-D7BD9ADE6E0A}"/>
              </a:ext>
            </a:extLst>
          </p:cNvPr>
          <p:cNvSpPr>
            <a:spLocks noGrp="1"/>
          </p:cNvSpPr>
          <p:nvPr/>
        </p:nvSpPr>
        <p:spPr>
          <a:xfrm>
            <a:off x="917733" y="2895225"/>
            <a:ext cx="4734403" cy="1693251"/>
          </a:xfrm>
          <a:prstGeom prst="roundRect">
            <a:avLst>
              <a:gd name="adj" fmla="val 8081"/>
            </a:avLst>
          </a:prstGeom>
          <a:solidFill>
            <a:schemeClr val="bg1"/>
          </a:solidFill>
          <a:ln>
            <a:noFill/>
          </a:ln>
          <a:effectLst/>
        </p:spPr>
        <p:txBody>
          <a:bodyPr/>
          <a:lstStyle/>
          <a:p>
            <a:r>
              <a:rPr lang="pt-BR" b="1" dirty="0">
                <a:solidFill>
                  <a:srgbClr val="E8823E"/>
                </a:solidFill>
                <a:latin typeface="Consolas" panose="020B0609020204030204" pitchFamily="49" charset="0"/>
              </a:rPr>
              <a:t>eyJhbGciOiJIUzI1NiIsInR5cCI6IkpXVCJ9</a:t>
            </a:r>
            <a:r>
              <a:rPr lang="pt-BR" dirty="0">
                <a:latin typeface="Consolas" panose="020B0609020204030204" pitchFamily="49" charset="0"/>
              </a:rPr>
              <a:t>.</a:t>
            </a:r>
            <a:r>
              <a:rPr lang="pt-BR" b="1" dirty="0">
                <a:solidFill>
                  <a:srgbClr val="968BF9"/>
                </a:solidFill>
                <a:latin typeface="Consolas" panose="020B0609020204030204" pitchFamily="49" charset="0"/>
              </a:rPr>
              <a:t>eyJpc3MiOiJBUEkgRGVudGlzdGEiLCJzdWIiOiJwZWRyb0BnbWFpbC5jb20iLCJleHAiOjE3OTA2NDYzMzR9</a:t>
            </a:r>
            <a:r>
              <a:rPr lang="pt-BR" dirty="0">
                <a:latin typeface="Consolas" panose="020B0609020204030204" pitchFamily="49" charset="0"/>
              </a:rPr>
              <a:t>.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M_EYnADTjDNKXJj7RJTpyyQRxQ5fRBp3bMJj6nT0xsk</a:t>
            </a:r>
            <a:endParaRPr b="1" dirty="0">
              <a:solidFill>
                <a:srgbClr val="0C945D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48007F21-3F63-8F13-C876-63881DF3AA8C}"/>
              </a:ext>
            </a:extLst>
          </p:cNvPr>
          <p:cNvSpPr>
            <a:spLocks noGrp="1"/>
          </p:cNvSpPr>
          <p:nvPr/>
        </p:nvSpPr>
        <p:spPr>
          <a:xfrm>
            <a:off x="6371316" y="2104524"/>
            <a:ext cx="5021695" cy="2604796"/>
          </a:xfrm>
          <a:prstGeom prst="roundRect">
            <a:avLst>
              <a:gd name="adj" fmla="val 8081"/>
            </a:avLst>
          </a:prstGeom>
          <a:solidFill>
            <a:srgbClr val="F1F1F1"/>
          </a:solidFill>
          <a:ln>
            <a:noFill/>
          </a:ln>
          <a:effectLst/>
        </p:spPr>
        <p:txBody>
          <a:bodyPr/>
          <a:lstStyle/>
          <a:p>
            <a:endParaRPr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7E59C0F0-D10A-C5A8-6DE5-0ADFC48E6F35}"/>
              </a:ext>
            </a:extLst>
          </p:cNvPr>
          <p:cNvSpPr>
            <a:spLocks noGrp="1"/>
          </p:cNvSpPr>
          <p:nvPr/>
        </p:nvSpPr>
        <p:spPr>
          <a:xfrm>
            <a:off x="8270315" y="2297737"/>
            <a:ext cx="1223697" cy="4042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2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b="1" dirty="0">
                <a:solidFill>
                  <a:srgbClr val="E8823E"/>
                </a:solidFill>
                <a:latin typeface="Consolas" panose="020B0609020204030204" pitchFamily="49" charset="0"/>
              </a:rPr>
              <a:t>Header</a:t>
            </a:r>
            <a:endParaRPr b="1" dirty="0">
              <a:solidFill>
                <a:srgbClr val="E8823E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Shape 20">
            <a:extLst>
              <a:ext uri="{FF2B5EF4-FFF2-40B4-BE49-F238E27FC236}">
                <a16:creationId xmlns:a16="http://schemas.microsoft.com/office/drawing/2014/main" id="{0DDCD626-A080-C1D9-3226-69D224FF1AC4}"/>
              </a:ext>
            </a:extLst>
          </p:cNvPr>
          <p:cNvSpPr>
            <a:spLocks noGrp="1"/>
          </p:cNvSpPr>
          <p:nvPr/>
        </p:nvSpPr>
        <p:spPr>
          <a:xfrm>
            <a:off x="6539864" y="2895226"/>
            <a:ext cx="4734403" cy="1693250"/>
          </a:xfrm>
          <a:prstGeom prst="roundRect">
            <a:avLst>
              <a:gd name="adj" fmla="val 8081"/>
            </a:avLst>
          </a:prstGeom>
          <a:solidFill>
            <a:schemeClr val="bg1"/>
          </a:solidFill>
          <a:ln>
            <a:noFill/>
          </a:ln>
          <a:effectLst/>
        </p:spPr>
        <p:txBody>
          <a:bodyPr/>
          <a:lstStyle/>
          <a:p>
            <a:r>
              <a:rPr lang="pt-BR" b="1" dirty="0">
                <a:latin typeface="Consolas" panose="020B0609020204030204" pitchFamily="49" charset="0"/>
              </a:rPr>
              <a:t>{</a:t>
            </a:r>
          </a:p>
          <a:p>
            <a:r>
              <a:rPr lang="pt-BR" b="1" dirty="0">
                <a:latin typeface="Consolas" panose="020B0609020204030204" pitchFamily="49" charset="0"/>
              </a:rPr>
              <a:t>  "</a:t>
            </a:r>
            <a:r>
              <a:rPr lang="pt-BR" b="1" dirty="0" err="1">
                <a:latin typeface="Consolas" panose="020B0609020204030204" pitchFamily="49" charset="0"/>
              </a:rPr>
              <a:t>alg</a:t>
            </a:r>
            <a:r>
              <a:rPr lang="pt-BR" b="1" dirty="0">
                <a:latin typeface="Consolas" panose="020B0609020204030204" pitchFamily="49" charset="0"/>
              </a:rPr>
              <a:t>": 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"HS256"</a:t>
            </a:r>
            <a:r>
              <a:rPr lang="pt-BR" b="1" dirty="0">
                <a:latin typeface="Consolas" panose="020B0609020204030204" pitchFamily="49" charset="0"/>
              </a:rPr>
              <a:t>,</a:t>
            </a:r>
          </a:p>
          <a:p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  </a:t>
            </a:r>
            <a:r>
              <a:rPr lang="pt-BR" b="1" dirty="0">
                <a:latin typeface="Consolas" panose="020B0609020204030204" pitchFamily="49" charset="0"/>
              </a:rPr>
              <a:t>"</a:t>
            </a:r>
            <a:r>
              <a:rPr lang="pt-BR" b="1" dirty="0" err="1">
                <a:latin typeface="Consolas" panose="020B0609020204030204" pitchFamily="49" charset="0"/>
              </a:rPr>
              <a:t>typ</a:t>
            </a:r>
            <a:r>
              <a:rPr lang="pt-BR" b="1" dirty="0">
                <a:latin typeface="Consolas" panose="020B0609020204030204" pitchFamily="49" charset="0"/>
              </a:rPr>
              <a:t>": 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"JWT"</a:t>
            </a:r>
          </a:p>
          <a:p>
            <a:r>
              <a:rPr lang="pt-BR" b="1" dirty="0">
                <a:latin typeface="Consolas" panose="020B0609020204030204" pitchFamily="49" charset="0"/>
              </a:rPr>
              <a:t>}</a:t>
            </a:r>
            <a:endParaRPr b="1" dirty="0">
              <a:latin typeface="Consolas" panose="020B0609020204030204" pitchFamily="49" charset="0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0521DA90-EE58-D051-0A5D-03B31B96D164}"/>
              </a:ext>
            </a:extLst>
          </p:cNvPr>
          <p:cNvSpPr txBox="1"/>
          <p:nvPr/>
        </p:nvSpPr>
        <p:spPr>
          <a:xfrm>
            <a:off x="917733" y="4992130"/>
            <a:ext cx="104752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Indica o algoritmo usado na assinatura. HS256 significa 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HMAC com SHA-256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que utiliza uma chave secreta.</a:t>
            </a:r>
          </a:p>
          <a:p>
            <a:pPr algn="just"/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typ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Indica o tipo do token. Nesse caso, 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JWT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JSON Web Token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6196112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C7725-D9EB-EAF0-B1AA-B6F3A5435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64B7B9-516B-31A9-45BE-FCE5F9CE2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JSON Web Token (JWT) </a:t>
            </a:r>
            <a:r>
              <a:rPr lang="pt-BR" dirty="0" err="1"/>
              <a:t>Debugger</a:t>
            </a:r>
            <a:br>
              <a:rPr lang="pt-BR" dirty="0"/>
            </a:br>
            <a:endParaRPr lang="pt-BR" dirty="0"/>
          </a:p>
        </p:txBody>
      </p:sp>
      <p:sp>
        <p:nvSpPr>
          <p:cNvPr id="4" name="Shape 20">
            <a:extLst>
              <a:ext uri="{FF2B5EF4-FFF2-40B4-BE49-F238E27FC236}">
                <a16:creationId xmlns:a16="http://schemas.microsoft.com/office/drawing/2014/main" id="{631EF554-D61C-53C4-EE38-1409A6463D91}"/>
              </a:ext>
            </a:extLst>
          </p:cNvPr>
          <p:cNvSpPr>
            <a:spLocks noGrp="1"/>
          </p:cNvSpPr>
          <p:nvPr/>
        </p:nvSpPr>
        <p:spPr>
          <a:xfrm>
            <a:off x="749185" y="2115485"/>
            <a:ext cx="5021695" cy="2604796"/>
          </a:xfrm>
          <a:prstGeom prst="roundRect">
            <a:avLst>
              <a:gd name="adj" fmla="val 8081"/>
            </a:avLst>
          </a:prstGeom>
          <a:solidFill>
            <a:srgbClr val="F1F1F1"/>
          </a:solidFill>
          <a:ln>
            <a:noFill/>
          </a:ln>
          <a:effectLst/>
        </p:spPr>
        <p:txBody>
          <a:bodyPr/>
          <a:lstStyle/>
          <a:p>
            <a:endParaRPr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A466D11-1E46-FCCA-9B84-D89E1CF19917}"/>
              </a:ext>
            </a:extLst>
          </p:cNvPr>
          <p:cNvSpPr>
            <a:spLocks noGrp="1"/>
          </p:cNvSpPr>
          <p:nvPr/>
        </p:nvSpPr>
        <p:spPr>
          <a:xfrm>
            <a:off x="1556492" y="2297737"/>
            <a:ext cx="3407081" cy="4042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2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sz="2250" b="1" dirty="0">
                <a:solidFill>
                  <a:srgbClr val="757575"/>
                </a:solidFill>
                <a:latin typeface="Consolas"/>
                <a:ea typeface="Consolas"/>
                <a:cs typeface="Consolas"/>
              </a:rPr>
              <a:t>JSON Web Token (JWT)</a:t>
            </a:r>
            <a:endParaRPr sz="2250" b="1" dirty="0">
              <a:solidFill>
                <a:srgbClr val="75757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Shape 20">
            <a:extLst>
              <a:ext uri="{FF2B5EF4-FFF2-40B4-BE49-F238E27FC236}">
                <a16:creationId xmlns:a16="http://schemas.microsoft.com/office/drawing/2014/main" id="{CB0A537A-D74F-B308-53A8-5E7622C3DCFF}"/>
              </a:ext>
            </a:extLst>
          </p:cNvPr>
          <p:cNvSpPr>
            <a:spLocks noGrp="1"/>
          </p:cNvSpPr>
          <p:nvPr/>
        </p:nvSpPr>
        <p:spPr>
          <a:xfrm>
            <a:off x="917733" y="2895225"/>
            <a:ext cx="4734403" cy="1693251"/>
          </a:xfrm>
          <a:prstGeom prst="roundRect">
            <a:avLst>
              <a:gd name="adj" fmla="val 8081"/>
            </a:avLst>
          </a:prstGeom>
          <a:solidFill>
            <a:schemeClr val="bg1"/>
          </a:solidFill>
          <a:ln>
            <a:noFill/>
          </a:ln>
          <a:effectLst/>
        </p:spPr>
        <p:txBody>
          <a:bodyPr/>
          <a:lstStyle/>
          <a:p>
            <a:r>
              <a:rPr lang="pt-BR" b="1" dirty="0">
                <a:solidFill>
                  <a:srgbClr val="E8823E"/>
                </a:solidFill>
                <a:latin typeface="Consolas" panose="020B0609020204030204" pitchFamily="49" charset="0"/>
              </a:rPr>
              <a:t>eyJhbGciOiJIUzI1NiIsInR5cCI6IkpXVCJ9</a:t>
            </a:r>
            <a:r>
              <a:rPr lang="pt-BR" dirty="0">
                <a:latin typeface="Consolas" panose="020B0609020204030204" pitchFamily="49" charset="0"/>
              </a:rPr>
              <a:t>.</a:t>
            </a:r>
            <a:r>
              <a:rPr lang="pt-BR" b="1" dirty="0">
                <a:solidFill>
                  <a:srgbClr val="968BF9"/>
                </a:solidFill>
                <a:latin typeface="Consolas" panose="020B0609020204030204" pitchFamily="49" charset="0"/>
              </a:rPr>
              <a:t>eyJpc3MiOiJBUEkgRGVudGlzdGEiLCJzdWIiOiJwZWRyb0BnbWFpbC5jb20iLCJleHAiOjE3OTA2NDYzMzR9</a:t>
            </a:r>
            <a:r>
              <a:rPr lang="pt-BR" dirty="0">
                <a:latin typeface="Consolas" panose="020B0609020204030204" pitchFamily="49" charset="0"/>
              </a:rPr>
              <a:t>.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M_EYnADTjDNKXJj7RJTpyyQRxQ5fRBp3bMJj6nT0xsk</a:t>
            </a:r>
            <a:endParaRPr b="1" dirty="0">
              <a:solidFill>
                <a:srgbClr val="0C945D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4F105558-920F-2A8A-A46B-980836D8F19D}"/>
              </a:ext>
            </a:extLst>
          </p:cNvPr>
          <p:cNvSpPr>
            <a:spLocks noGrp="1"/>
          </p:cNvSpPr>
          <p:nvPr/>
        </p:nvSpPr>
        <p:spPr>
          <a:xfrm>
            <a:off x="6371316" y="2104524"/>
            <a:ext cx="5021695" cy="2604796"/>
          </a:xfrm>
          <a:prstGeom prst="roundRect">
            <a:avLst>
              <a:gd name="adj" fmla="val 8081"/>
            </a:avLst>
          </a:prstGeom>
          <a:solidFill>
            <a:srgbClr val="F1F1F1"/>
          </a:solidFill>
          <a:ln>
            <a:noFill/>
          </a:ln>
          <a:effectLst/>
        </p:spPr>
        <p:txBody>
          <a:bodyPr/>
          <a:lstStyle/>
          <a:p>
            <a:endParaRPr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4242527F-E8D4-62D3-24EE-8647DC280F6A}"/>
              </a:ext>
            </a:extLst>
          </p:cNvPr>
          <p:cNvSpPr>
            <a:spLocks noGrp="1"/>
          </p:cNvSpPr>
          <p:nvPr/>
        </p:nvSpPr>
        <p:spPr>
          <a:xfrm>
            <a:off x="8224742" y="2297737"/>
            <a:ext cx="1314843" cy="4042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2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b="1" dirty="0" err="1">
                <a:solidFill>
                  <a:srgbClr val="968BF9"/>
                </a:solidFill>
                <a:latin typeface="Consolas" panose="020B0609020204030204" pitchFamily="49" charset="0"/>
              </a:rPr>
              <a:t>Payload</a:t>
            </a:r>
            <a:endParaRPr b="1" dirty="0">
              <a:solidFill>
                <a:srgbClr val="968BF9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Shape 20">
            <a:extLst>
              <a:ext uri="{FF2B5EF4-FFF2-40B4-BE49-F238E27FC236}">
                <a16:creationId xmlns:a16="http://schemas.microsoft.com/office/drawing/2014/main" id="{34E81E43-2BCB-45E5-87AE-28AEF19CBB28}"/>
              </a:ext>
            </a:extLst>
          </p:cNvPr>
          <p:cNvSpPr>
            <a:spLocks noGrp="1"/>
          </p:cNvSpPr>
          <p:nvPr/>
        </p:nvSpPr>
        <p:spPr>
          <a:xfrm>
            <a:off x="6539864" y="2895226"/>
            <a:ext cx="4734403" cy="1693250"/>
          </a:xfrm>
          <a:prstGeom prst="roundRect">
            <a:avLst>
              <a:gd name="adj" fmla="val 8081"/>
            </a:avLst>
          </a:prstGeom>
          <a:solidFill>
            <a:schemeClr val="bg1"/>
          </a:solidFill>
          <a:ln>
            <a:noFill/>
          </a:ln>
          <a:effectLst/>
        </p:spPr>
        <p:txBody>
          <a:bodyPr/>
          <a:lstStyle/>
          <a:p>
            <a:r>
              <a:rPr lang="pt-BR" b="1" dirty="0">
                <a:latin typeface="Consolas" panose="020B0609020204030204" pitchFamily="49" charset="0"/>
              </a:rPr>
              <a:t>{</a:t>
            </a:r>
          </a:p>
          <a:p>
            <a:r>
              <a:rPr lang="pt-BR" b="1" dirty="0">
                <a:latin typeface="Consolas" panose="020B0609020204030204" pitchFamily="49" charset="0"/>
              </a:rPr>
              <a:t>  "</a:t>
            </a:r>
            <a:r>
              <a:rPr lang="pt-BR" b="1" dirty="0" err="1">
                <a:latin typeface="Consolas" panose="020B0609020204030204" pitchFamily="49" charset="0"/>
              </a:rPr>
              <a:t>iss</a:t>
            </a:r>
            <a:r>
              <a:rPr lang="pt-BR" b="1" dirty="0">
                <a:latin typeface="Consolas" panose="020B0609020204030204" pitchFamily="49" charset="0"/>
              </a:rPr>
              <a:t>": 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"API Dentista"</a:t>
            </a:r>
            <a:r>
              <a:rPr lang="pt-BR" b="1" dirty="0">
                <a:latin typeface="Consolas" panose="020B0609020204030204" pitchFamily="49" charset="0"/>
              </a:rPr>
              <a:t>,</a:t>
            </a:r>
          </a:p>
          <a:p>
            <a:r>
              <a:rPr lang="pt-BR" b="1" dirty="0">
                <a:latin typeface="Consolas" panose="020B0609020204030204" pitchFamily="49" charset="0"/>
              </a:rPr>
              <a:t>  "sub": 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"pedro@gmail.com"</a:t>
            </a:r>
            <a:r>
              <a:rPr lang="pt-BR" b="1" dirty="0">
                <a:latin typeface="Consolas" panose="020B0609020204030204" pitchFamily="49" charset="0"/>
              </a:rPr>
              <a:t>,</a:t>
            </a:r>
          </a:p>
          <a:p>
            <a:r>
              <a:rPr lang="pt-BR" b="1" dirty="0">
                <a:latin typeface="Consolas" panose="020B0609020204030204" pitchFamily="49" charset="0"/>
              </a:rPr>
              <a:t>  "</a:t>
            </a:r>
            <a:r>
              <a:rPr lang="pt-BR" b="1" dirty="0" err="1">
                <a:latin typeface="Consolas" panose="020B0609020204030204" pitchFamily="49" charset="0"/>
              </a:rPr>
              <a:t>exp</a:t>
            </a:r>
            <a:r>
              <a:rPr lang="pt-BR" b="1" dirty="0">
                <a:latin typeface="Consolas" panose="020B0609020204030204" pitchFamily="49" charset="0"/>
              </a:rPr>
              <a:t>": 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1790646334</a:t>
            </a:r>
          </a:p>
          <a:p>
            <a:r>
              <a:rPr lang="pt-BR" b="1" dirty="0">
                <a:latin typeface="Consolas" panose="020B0609020204030204" pitchFamily="49" charset="0"/>
              </a:rPr>
              <a:t>}</a:t>
            </a:r>
            <a:endParaRPr b="1" dirty="0">
              <a:latin typeface="Consolas" panose="020B0609020204030204" pitchFamily="49" charset="0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8B044A3A-DE76-EC67-ADB2-F1B47093E9D9}"/>
              </a:ext>
            </a:extLst>
          </p:cNvPr>
          <p:cNvSpPr txBox="1"/>
          <p:nvPr/>
        </p:nvSpPr>
        <p:spPr>
          <a:xfrm>
            <a:off x="917733" y="4992130"/>
            <a:ext cx="1047527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iss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Issuer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—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Identifica quem emitiu o token: “API Dentista”.</a:t>
            </a:r>
          </a:p>
          <a:p>
            <a:pPr algn="just"/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 (</a:t>
            </a:r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Subject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—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Identifica o usuário: “pedro@gmail.com”.</a:t>
            </a:r>
          </a:p>
          <a:p>
            <a:pPr algn="just"/>
            <a:endParaRPr lang="pt-B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Expiration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—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Indica quando o token perde a validade.</a:t>
            </a:r>
          </a:p>
        </p:txBody>
      </p:sp>
    </p:spTree>
    <p:extLst>
      <p:ext uri="{BB962C8B-B14F-4D97-AF65-F5344CB8AC3E}">
        <p14:creationId xmlns:p14="http://schemas.microsoft.com/office/powerpoint/2010/main" val="618386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256D2-7388-109F-0715-A3AFF351D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956C3D-6761-60B9-83E8-85ACAAE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JSON Web Token (JWT) </a:t>
            </a:r>
            <a:r>
              <a:rPr lang="pt-BR" dirty="0" err="1"/>
              <a:t>Debugger</a:t>
            </a:r>
            <a:br>
              <a:rPr lang="pt-BR" dirty="0"/>
            </a:br>
            <a:endParaRPr lang="pt-BR" dirty="0"/>
          </a:p>
        </p:txBody>
      </p:sp>
      <p:sp>
        <p:nvSpPr>
          <p:cNvPr id="4" name="Shape 20">
            <a:extLst>
              <a:ext uri="{FF2B5EF4-FFF2-40B4-BE49-F238E27FC236}">
                <a16:creationId xmlns:a16="http://schemas.microsoft.com/office/drawing/2014/main" id="{F8049104-872F-6B30-4940-880D33DA9BBF}"/>
              </a:ext>
            </a:extLst>
          </p:cNvPr>
          <p:cNvSpPr>
            <a:spLocks noGrp="1"/>
          </p:cNvSpPr>
          <p:nvPr/>
        </p:nvSpPr>
        <p:spPr>
          <a:xfrm>
            <a:off x="749185" y="2115485"/>
            <a:ext cx="5021695" cy="2604796"/>
          </a:xfrm>
          <a:prstGeom prst="roundRect">
            <a:avLst>
              <a:gd name="adj" fmla="val 8081"/>
            </a:avLst>
          </a:prstGeom>
          <a:solidFill>
            <a:srgbClr val="F1F1F1"/>
          </a:solidFill>
          <a:ln>
            <a:noFill/>
          </a:ln>
          <a:effectLst/>
        </p:spPr>
        <p:txBody>
          <a:bodyPr/>
          <a:lstStyle/>
          <a:p>
            <a:endParaRPr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2FF584A-B2C0-D36B-DD46-4B9BE5049D74}"/>
              </a:ext>
            </a:extLst>
          </p:cNvPr>
          <p:cNvSpPr>
            <a:spLocks noGrp="1"/>
          </p:cNvSpPr>
          <p:nvPr/>
        </p:nvSpPr>
        <p:spPr>
          <a:xfrm>
            <a:off x="1556492" y="2297737"/>
            <a:ext cx="3407081" cy="4042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2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sz="2250" dirty="0">
                <a:solidFill>
                  <a:srgbClr val="757575"/>
                </a:solidFill>
                <a:latin typeface="Consolas"/>
                <a:ea typeface="Consolas"/>
                <a:cs typeface="Consolas"/>
              </a:rPr>
              <a:t>JSON Web Token (JWT)</a:t>
            </a:r>
            <a:endParaRPr sz="2250" dirty="0">
              <a:solidFill>
                <a:srgbClr val="75757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Shape 20">
            <a:extLst>
              <a:ext uri="{FF2B5EF4-FFF2-40B4-BE49-F238E27FC236}">
                <a16:creationId xmlns:a16="http://schemas.microsoft.com/office/drawing/2014/main" id="{853A0386-2DD7-7678-F4A2-8B61496BBA47}"/>
              </a:ext>
            </a:extLst>
          </p:cNvPr>
          <p:cNvSpPr>
            <a:spLocks noGrp="1"/>
          </p:cNvSpPr>
          <p:nvPr/>
        </p:nvSpPr>
        <p:spPr>
          <a:xfrm>
            <a:off x="917733" y="2895225"/>
            <a:ext cx="4734403" cy="1693251"/>
          </a:xfrm>
          <a:prstGeom prst="roundRect">
            <a:avLst>
              <a:gd name="adj" fmla="val 8081"/>
            </a:avLst>
          </a:prstGeom>
          <a:solidFill>
            <a:schemeClr val="bg1"/>
          </a:solidFill>
          <a:ln>
            <a:noFill/>
          </a:ln>
          <a:effectLst/>
        </p:spPr>
        <p:txBody>
          <a:bodyPr/>
          <a:lstStyle/>
          <a:p>
            <a:r>
              <a:rPr lang="pt-BR" b="1" dirty="0">
                <a:solidFill>
                  <a:srgbClr val="E8823E"/>
                </a:solidFill>
                <a:latin typeface="Consolas" panose="020B0609020204030204" pitchFamily="49" charset="0"/>
              </a:rPr>
              <a:t>eyJhbGciOiJIUzI1NiIsInR5cCI6IkpXVCJ9</a:t>
            </a:r>
            <a:r>
              <a:rPr lang="pt-BR" dirty="0">
                <a:latin typeface="Consolas" panose="020B0609020204030204" pitchFamily="49" charset="0"/>
              </a:rPr>
              <a:t>.</a:t>
            </a:r>
            <a:r>
              <a:rPr lang="pt-BR" b="1" dirty="0">
                <a:solidFill>
                  <a:srgbClr val="968BF9"/>
                </a:solidFill>
                <a:latin typeface="Consolas" panose="020B0609020204030204" pitchFamily="49" charset="0"/>
              </a:rPr>
              <a:t>eyJpc3MiOiJBUEkgRGVudGlzdGEiLCJzdWIiOiJwZWRyb0BnbWFpbC5jb20iLCJleHAiOjE3OTA2NDYzMzR9</a:t>
            </a:r>
            <a:r>
              <a:rPr lang="pt-BR" dirty="0">
                <a:latin typeface="Consolas" panose="020B0609020204030204" pitchFamily="49" charset="0"/>
              </a:rPr>
              <a:t>.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M_EYnADTjDNKXJj7RJTpyyQRxQ5fRBp3bMJj6nT0xsk</a:t>
            </a:r>
            <a:endParaRPr b="1" dirty="0">
              <a:solidFill>
                <a:srgbClr val="0C945D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37613147-D678-CD73-22BB-B848A7BCDF67}"/>
              </a:ext>
            </a:extLst>
          </p:cNvPr>
          <p:cNvSpPr>
            <a:spLocks noGrp="1"/>
          </p:cNvSpPr>
          <p:nvPr/>
        </p:nvSpPr>
        <p:spPr>
          <a:xfrm>
            <a:off x="6371316" y="2104524"/>
            <a:ext cx="5021695" cy="2604796"/>
          </a:xfrm>
          <a:prstGeom prst="roundRect">
            <a:avLst>
              <a:gd name="adj" fmla="val 8081"/>
            </a:avLst>
          </a:prstGeom>
          <a:solidFill>
            <a:srgbClr val="F1F1F1"/>
          </a:solidFill>
          <a:ln>
            <a:noFill/>
          </a:ln>
          <a:effectLst/>
        </p:spPr>
        <p:txBody>
          <a:bodyPr/>
          <a:lstStyle/>
          <a:p>
            <a:endParaRPr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333F8872-6018-111A-15DB-ED3E28106B15}"/>
              </a:ext>
            </a:extLst>
          </p:cNvPr>
          <p:cNvSpPr>
            <a:spLocks noGrp="1"/>
          </p:cNvSpPr>
          <p:nvPr/>
        </p:nvSpPr>
        <p:spPr>
          <a:xfrm>
            <a:off x="7973732" y="2297737"/>
            <a:ext cx="1816862" cy="4042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2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Assinatura</a:t>
            </a:r>
            <a:endParaRPr b="1" dirty="0">
              <a:solidFill>
                <a:srgbClr val="0C945D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Shape 20">
            <a:extLst>
              <a:ext uri="{FF2B5EF4-FFF2-40B4-BE49-F238E27FC236}">
                <a16:creationId xmlns:a16="http://schemas.microsoft.com/office/drawing/2014/main" id="{F9064ED9-4E07-E54B-1078-5258C486C98C}"/>
              </a:ext>
            </a:extLst>
          </p:cNvPr>
          <p:cNvSpPr>
            <a:spLocks noGrp="1"/>
          </p:cNvSpPr>
          <p:nvPr/>
        </p:nvSpPr>
        <p:spPr>
          <a:xfrm>
            <a:off x="6539864" y="2895226"/>
            <a:ext cx="4734403" cy="1446115"/>
          </a:xfrm>
          <a:prstGeom prst="roundRect">
            <a:avLst>
              <a:gd name="adj" fmla="val 8081"/>
            </a:avLst>
          </a:prstGeom>
          <a:solidFill>
            <a:schemeClr val="bg1"/>
          </a:solidFill>
          <a:ln>
            <a:noFill/>
          </a:ln>
          <a:effectLst/>
        </p:spPr>
        <p:txBody>
          <a:bodyPr/>
          <a:lstStyle/>
          <a:p>
            <a:r>
              <a:rPr lang="pt-BR" b="1" dirty="0">
                <a:latin typeface="Consolas" panose="020B0609020204030204" pitchFamily="49" charset="0"/>
              </a:rPr>
              <a:t>a-string-secret-at-least-256-bits-long</a:t>
            </a:r>
            <a:endParaRPr b="1" dirty="0">
              <a:latin typeface="Consolas" panose="020B0609020204030204" pitchFamily="49" charset="0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E7A17316-03FF-4294-C321-8FC88FAF50A3}"/>
              </a:ext>
            </a:extLst>
          </p:cNvPr>
          <p:cNvSpPr txBox="1"/>
          <p:nvPr/>
        </p:nvSpPr>
        <p:spPr>
          <a:xfrm>
            <a:off x="917733" y="4992130"/>
            <a:ext cx="10475278" cy="1289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Assinatura —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gerada pelo HMAC-SHA256 usando o header, o </a:t>
            </a: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payload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a chave secreta. Ao receber o token, o servidor recalcula a assinatura e compara com a recebida para verificar se houve alterações. A chave secreta permanece no servidor e não é enviada no JWT.</a:t>
            </a:r>
          </a:p>
        </p:txBody>
      </p:sp>
    </p:spTree>
    <p:extLst>
      <p:ext uri="{BB962C8B-B14F-4D97-AF65-F5344CB8AC3E}">
        <p14:creationId xmlns:p14="http://schemas.microsoft.com/office/powerpoint/2010/main" val="3941131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CCB3AB-D229-A2CB-E462-173E92DAD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000000"/>
                </a:solidFill>
                <a:ea typeface="Calibri Light"/>
              </a:rPr>
              <a:t>O método </a:t>
            </a:r>
            <a:r>
              <a:rPr lang="pt-BR" dirty="0" err="1">
                <a:solidFill>
                  <a:srgbClr val="000000"/>
                </a:solidFill>
                <a:ea typeface="Calibri Light"/>
              </a:rPr>
              <a:t>gerarToken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F717CB-1FFB-F67B-C594-0DE83D800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634540"/>
            <a:ext cx="11007306" cy="633830"/>
          </a:xfrm>
        </p:spPr>
        <p:txBody>
          <a:bodyPr/>
          <a:lstStyle/>
          <a:p>
            <a:r>
              <a:rPr lang="pt-BR" dirty="0"/>
              <a:t>Recebe o usuário autenticado e devolve o JWT como texto.</a:t>
            </a:r>
          </a:p>
          <a:p>
            <a:endParaRPr lang="pt-BR" dirty="0"/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857250" y="2268370"/>
            <a:ext cx="10477500" cy="3603040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1095375" y="2498265"/>
            <a:ext cx="10001250" cy="314325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public String 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gerarToken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(Usuario usuario) {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try {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var 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algoritmo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= Algorithm.HMAC256("12345678");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return 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JWT.create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()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        .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withIssuer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("API 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Dentista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")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        .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withSubject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usuario.getLogin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())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        .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withExpiresAt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dataExpiracao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())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        .sign(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algoritmo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} catch (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JWTCreationException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exception) {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throw new 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RuntimeException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("Erro 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ao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gerar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o token", exception);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}</a:t>
            </a:r>
            <a:endParaRPr sz="1400" b="0" dirty="0">
              <a:solidFill>
                <a:srgbClr val="D4D4D4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0C7FB90-4681-B1A0-3A2A-86C35AAB7B23}"/>
              </a:ext>
            </a:extLst>
          </p:cNvPr>
          <p:cNvSpPr txBox="1"/>
          <p:nvPr/>
        </p:nvSpPr>
        <p:spPr>
          <a:xfrm>
            <a:off x="592347" y="6147955"/>
            <a:ext cx="6112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pt-BR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Visão geral: configurar, preencher as informações e assinar.</a:t>
            </a:r>
          </a:p>
        </p:txBody>
      </p:sp>
    </p:spTree>
    <p:extLst>
      <p:ext uri="{BB962C8B-B14F-4D97-AF65-F5344CB8AC3E}">
        <p14:creationId xmlns:p14="http://schemas.microsoft.com/office/powerpoint/2010/main" val="41523616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18A9D4-F52E-85F4-D81C-F432B6828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HMAC256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EC520C4-45A9-3A63-E593-02467DAC8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HMAC256</a:t>
            </a:r>
            <a:r>
              <a:rPr lang="pt-BR" dirty="0"/>
              <a:t> é um método que configura o algoritmo </a:t>
            </a:r>
            <a:r>
              <a:rPr lang="pt-BR" b="1" dirty="0"/>
              <a:t>HMAC com SHA-256</a:t>
            </a:r>
            <a:r>
              <a:rPr lang="pt-BR" dirty="0"/>
              <a:t> e a </a:t>
            </a:r>
            <a:r>
              <a:rPr lang="pt-BR" b="1" dirty="0"/>
              <a:t>chave secreta</a:t>
            </a:r>
            <a:r>
              <a:rPr lang="pt-BR" dirty="0"/>
              <a:t> usada na assinatura do JWT. Essa assinatura permite verificar se o token foi gerado por quem conhece a chave e se seu conteúdo foi alterado.</a:t>
            </a:r>
          </a:p>
          <a:p>
            <a:endParaRPr lang="pt-BR" dirty="0"/>
          </a:p>
          <a:p>
            <a:r>
              <a:rPr lang="pt-BR" b="1" dirty="0"/>
              <a:t>SHA-256 é uma função de </a:t>
            </a:r>
            <a:r>
              <a:rPr lang="pt-BR" b="1" dirty="0" err="1"/>
              <a:t>hash</a:t>
            </a:r>
            <a:r>
              <a:rPr lang="pt-BR" b="1" dirty="0"/>
              <a:t>:</a:t>
            </a:r>
            <a:r>
              <a:rPr lang="pt-BR" dirty="0"/>
              <a:t> recebe dados e gera um resultado de tamanho fixo, com </a:t>
            </a:r>
            <a:r>
              <a:rPr lang="pt-BR" b="1" dirty="0"/>
              <a:t>256 bits</a:t>
            </a:r>
            <a:r>
              <a:rPr lang="pt-BR" dirty="0"/>
              <a:t>, como uma “impressão digital” desses dados.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Os mesmos dados sempre geram o mesmo resultado.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Uma pequena alteração nos dados muda o resultado.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Não existe uma operação de “descriptografar” o </a:t>
            </a:r>
            <a:r>
              <a:rPr lang="pt-BR" dirty="0" err="1"/>
              <a:t>hash</a:t>
            </a:r>
            <a:r>
              <a:rPr lang="pt-BR" dirty="0"/>
              <a:t> para recuperar os dados originais.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561618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21BCB6-ABC5-FFF3-ABBA-068DA6F83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Entrada e retorno do método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E2F937E-4CCE-8FBC-AF07-8E087A74A1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818314"/>
          </a:xfrm>
        </p:spPr>
        <p:txBody>
          <a:bodyPr/>
          <a:lstStyle/>
          <a:p>
            <a:r>
              <a:rPr lang="pt-BR" dirty="0"/>
              <a:t>O parâmetro usuario fornece os dados de quem acabou de fazer login.</a:t>
            </a: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2136000" y="2994862"/>
            <a:ext cx="7920000" cy="1200150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2777290" y="3370527"/>
            <a:ext cx="6637421" cy="436117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2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2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public String </a:t>
            </a:r>
            <a:r>
              <a:rPr sz="22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gerarToken</a:t>
            </a:r>
            <a:r>
              <a:rPr sz="22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(Usuario usuario)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AC7D119-8438-9E7D-368E-5849E4072D73}"/>
              </a:ext>
            </a:extLst>
          </p:cNvPr>
          <p:cNvSpPr txBox="1"/>
          <p:nvPr/>
        </p:nvSpPr>
        <p:spPr>
          <a:xfrm>
            <a:off x="592347" y="4998804"/>
            <a:ext cx="6112042" cy="873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21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pt-BR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Usuario </a:t>
            </a:r>
            <a:r>
              <a:rPr lang="pt-BR" sz="1800" dirty="0" err="1">
                <a:solidFill>
                  <a:srgbClr val="00000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usuario</a:t>
            </a:r>
            <a:r>
              <a:rPr lang="pt-BR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: objeto recebido.</a:t>
            </a:r>
          </a:p>
          <a:p>
            <a:pPr algn="l">
              <a:lnSpc>
                <a:spcPct val="150000"/>
              </a:lnSpc>
              <a:defRPr sz="21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pt-BR" sz="1800" dirty="0" err="1">
                <a:solidFill>
                  <a:srgbClr val="00000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String</a:t>
            </a:r>
            <a:r>
              <a:rPr lang="pt-BR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: tipo do token devolvido pelo método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41968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0DD734-2235-25E4-FFF7-171D3E517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 e chave secreta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668DE5-E4E8-447F-12B3-12EAB60951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596600"/>
          </a:xfrm>
        </p:spPr>
        <p:txBody>
          <a:bodyPr/>
          <a:lstStyle/>
          <a:p>
            <a:r>
              <a:rPr lang="pt-BR" dirty="0"/>
              <a:t>HMAC256 define a assinatura HMAC com SHA-256.</a:t>
            </a:r>
          </a:p>
          <a:p>
            <a:endParaRPr lang="pt-BR" dirty="0"/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2136000" y="3242303"/>
            <a:ext cx="7920000" cy="1041999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2613085" y="3564243"/>
            <a:ext cx="6965830" cy="39811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1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1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var </a:t>
            </a:r>
            <a:r>
              <a:rPr sz="21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algoritmo</a:t>
            </a:r>
            <a:r>
              <a:rPr sz="21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= Algorithm.HMAC256("12345678");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F1C4A8C3-4972-8082-0945-48E2FDC82600}"/>
              </a:ext>
            </a:extLst>
          </p:cNvPr>
          <p:cNvSpPr txBox="1">
            <a:spLocks/>
          </p:cNvSpPr>
          <p:nvPr/>
        </p:nvSpPr>
        <p:spPr>
          <a:xfrm>
            <a:off x="592347" y="5085331"/>
            <a:ext cx="11007306" cy="1041999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 chave secreta participa da assinatura e da verificação.</a:t>
            </a:r>
          </a:p>
          <a:p>
            <a:r>
              <a:rPr lang="pt-BR" dirty="0"/>
              <a:t>“12345678” é didática. Em produção, use uma chave forte fora do código.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500319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BFDFF7-BA76-E300-808A-1A1E7E4C3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Início da construção do token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557825-BE28-F1FA-01D3-270CD2A327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691491"/>
          </a:xfrm>
        </p:spPr>
        <p:txBody>
          <a:bodyPr/>
          <a:lstStyle/>
          <a:p>
            <a:r>
              <a:rPr lang="pt-BR" dirty="0" err="1"/>
              <a:t>JWT.create</a:t>
            </a:r>
            <a:r>
              <a:rPr lang="pt-BR" dirty="0"/>
              <a:t>() inicia a construção de um novo JWT.</a:t>
            </a:r>
          </a:p>
          <a:p>
            <a:endParaRPr lang="pt-BR" dirty="0"/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2136000" y="3165901"/>
            <a:ext cx="7920000" cy="1231780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2524916" y="3539802"/>
            <a:ext cx="3515264" cy="48397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return </a:t>
            </a:r>
            <a:r>
              <a:rPr sz="24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JWT.create</a:t>
            </a: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()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CF26C6E5-B2F8-A0C9-1E0C-A5C01DEE8ADC}"/>
              </a:ext>
            </a:extLst>
          </p:cNvPr>
          <p:cNvSpPr txBox="1">
            <a:spLocks/>
          </p:cNvSpPr>
          <p:nvPr/>
        </p:nvSpPr>
        <p:spPr>
          <a:xfrm>
            <a:off x="611289" y="5027417"/>
            <a:ext cx="11007306" cy="1231780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Os métodos seguintes adicionam informações ao token.</a:t>
            </a:r>
          </a:p>
          <a:p>
            <a:r>
              <a:rPr lang="pt-BR" dirty="0"/>
              <a:t>O </a:t>
            </a:r>
            <a:r>
              <a:rPr lang="pt-BR" dirty="0" err="1"/>
              <a:t>return</a:t>
            </a:r>
            <a:r>
              <a:rPr lang="pt-BR" dirty="0"/>
              <a:t> devolverá a </a:t>
            </a:r>
            <a:r>
              <a:rPr lang="pt-BR" dirty="0" err="1"/>
              <a:t>String</a:t>
            </a:r>
            <a:r>
              <a:rPr lang="pt-BR" dirty="0"/>
              <a:t> produzida por </a:t>
            </a:r>
            <a:r>
              <a:rPr lang="pt-BR" dirty="0" err="1"/>
              <a:t>sign</a:t>
            </a:r>
            <a:r>
              <a:rPr lang="pt-BR" dirty="0"/>
              <a:t>().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54782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8D1E0F-7C9A-1115-FAEF-E8CDF7898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Emissor do token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088FAE8-497E-1AF8-668D-A9E2EA87F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743250"/>
          </a:xfrm>
        </p:spPr>
        <p:txBody>
          <a:bodyPr/>
          <a:lstStyle/>
          <a:p>
            <a:r>
              <a:rPr lang="pt-BR" dirty="0" err="1"/>
              <a:t>withIssuer</a:t>
            </a:r>
            <a:r>
              <a:rPr lang="pt-BR" dirty="0"/>
              <a:t>() informa qual aplicação emitiu o token.</a:t>
            </a:r>
          </a:p>
          <a:p>
            <a:endParaRPr lang="pt-BR" dirty="0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1CE3781C-77C6-7AB2-70B8-B0B7A9C7EC56}"/>
              </a:ext>
            </a:extLst>
          </p:cNvPr>
          <p:cNvSpPr txBox="1">
            <a:spLocks/>
          </p:cNvSpPr>
          <p:nvPr/>
        </p:nvSpPr>
        <p:spPr>
          <a:xfrm>
            <a:off x="592347" y="5007692"/>
            <a:ext cx="11007306" cy="1186073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Neste exemplo, o emissor é “API Dentista”.</a:t>
            </a:r>
          </a:p>
          <a:p>
            <a:r>
              <a:rPr lang="pt-BR" dirty="0"/>
              <a:t>Essa informação fica no campo </a:t>
            </a:r>
            <a:r>
              <a:rPr lang="pt-BR" dirty="0" err="1"/>
              <a:t>iss</a:t>
            </a:r>
            <a:r>
              <a:rPr lang="pt-BR" dirty="0"/>
              <a:t> do </a:t>
            </a:r>
            <a:r>
              <a:rPr lang="pt-BR" dirty="0" err="1"/>
              <a:t>payload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2136000" y="3129607"/>
            <a:ext cx="7920000" cy="1333500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2421750" y="3532802"/>
            <a:ext cx="4774721" cy="52711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24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withIssuer</a:t>
            </a: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("API </a:t>
            </a:r>
            <a:r>
              <a:rPr sz="24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Dentista</a:t>
            </a: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")</a:t>
            </a:r>
          </a:p>
        </p:txBody>
      </p:sp>
    </p:spTree>
    <p:extLst>
      <p:ext uri="{BB962C8B-B14F-4D97-AF65-F5344CB8AC3E}">
        <p14:creationId xmlns:p14="http://schemas.microsoft.com/office/powerpoint/2010/main" val="5569090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C9E559-6899-88CB-0B87-B93E617E9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Identificação do usuário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12824D-84D1-C700-B078-813FD2C689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734623"/>
          </a:xfrm>
        </p:spPr>
        <p:txBody>
          <a:bodyPr/>
          <a:lstStyle/>
          <a:p>
            <a:r>
              <a:rPr lang="pt-BR" dirty="0" err="1"/>
              <a:t>withSubject</a:t>
            </a:r>
            <a:r>
              <a:rPr lang="pt-BR" dirty="0"/>
              <a:t>() define a quem o token pertence.</a:t>
            </a:r>
          </a:p>
        </p:txBody>
      </p:sp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id="{EBCCE279-0BB7-A5C6-F0B3-36648C52FFCD}"/>
              </a:ext>
            </a:extLst>
          </p:cNvPr>
          <p:cNvSpPr txBox="1">
            <a:spLocks/>
          </p:cNvSpPr>
          <p:nvPr/>
        </p:nvSpPr>
        <p:spPr>
          <a:xfrm>
            <a:off x="592347" y="4852419"/>
            <a:ext cx="11007306" cy="1151161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 err="1"/>
              <a:t>getLogin</a:t>
            </a:r>
            <a:r>
              <a:rPr lang="pt-BR" dirty="0"/>
              <a:t>() obtém o login do usuário recebido.</a:t>
            </a:r>
          </a:p>
          <a:p>
            <a:r>
              <a:rPr lang="pt-BR" dirty="0"/>
              <a:t>O valor fica no campo sub do </a:t>
            </a:r>
            <a:r>
              <a:rPr lang="pt-BR" dirty="0" err="1"/>
              <a:t>payload</a:t>
            </a:r>
            <a:r>
              <a:rPr lang="pt-BR" dirty="0"/>
              <a:t>.</a:t>
            </a: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1961431" y="3049108"/>
            <a:ext cx="7920000" cy="1333500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2247181" y="3409171"/>
            <a:ext cx="5680494" cy="6133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24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withSubject</a:t>
            </a: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24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usuario.getLogin</a:t>
            </a: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35532454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EC0288-989F-97CF-147C-FC72C99C9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Prazo de validade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9FAE0A2-0454-3FE8-2109-D8CADC2230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743250"/>
          </a:xfrm>
        </p:spPr>
        <p:txBody>
          <a:bodyPr/>
          <a:lstStyle/>
          <a:p>
            <a:r>
              <a:rPr lang="pt-BR" dirty="0" err="1"/>
              <a:t>withExpiresAt</a:t>
            </a:r>
            <a:r>
              <a:rPr lang="pt-BR" dirty="0"/>
              <a:t>() registra o momento de expiração do token.</a:t>
            </a:r>
          </a:p>
          <a:p>
            <a:endParaRPr lang="pt-BR" dirty="0"/>
          </a:p>
        </p:txBody>
      </p:sp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id="{05CFACAE-584D-9D92-721D-6887045CA489}"/>
              </a:ext>
            </a:extLst>
          </p:cNvPr>
          <p:cNvSpPr txBox="1">
            <a:spLocks/>
          </p:cNvSpPr>
          <p:nvPr/>
        </p:nvSpPr>
        <p:spPr>
          <a:xfrm>
            <a:off x="592347" y="4894443"/>
            <a:ext cx="11007306" cy="1151567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 err="1"/>
              <a:t>dataExpiracao</a:t>
            </a:r>
            <a:r>
              <a:rPr lang="pt-BR" dirty="0"/>
              <a:t>() é um método criado por nós para calcular esse momento.</a:t>
            </a:r>
          </a:p>
          <a:p>
            <a:r>
              <a:rPr lang="pt-BR" dirty="0"/>
              <a:t>A API deve verificar a expiração ao validar o token.</a:t>
            </a:r>
          </a:p>
          <a:p>
            <a:endParaRPr lang="pt-BR" dirty="0"/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2136000" y="3129607"/>
            <a:ext cx="7920000" cy="1223154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2428335" y="3434497"/>
            <a:ext cx="5404449" cy="6133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24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withExpiresAt</a:t>
            </a: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24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dataExpiracao</a:t>
            </a: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31032226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F607B4-5EE2-D5E4-24AB-B31F724EB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Assinatura e geração do JWT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E28F67-DB22-C007-2ED1-9EA25BC13A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6"/>
            <a:ext cx="11007306" cy="622480"/>
          </a:xfrm>
        </p:spPr>
        <p:txBody>
          <a:bodyPr/>
          <a:lstStyle/>
          <a:p>
            <a:r>
              <a:rPr lang="pt-BR" dirty="0" err="1"/>
              <a:t>sign</a:t>
            </a:r>
            <a:r>
              <a:rPr lang="pt-BR" dirty="0"/>
              <a:t>() usa o algoritmo e a chave definidos para assinar o token.</a:t>
            </a:r>
          </a:p>
          <a:p>
            <a:endParaRPr lang="pt-BR" dirty="0"/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2136000" y="3120074"/>
            <a:ext cx="7920000" cy="1035889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4377187" y="3370150"/>
            <a:ext cx="3437626" cy="535736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.sign(</a:t>
            </a:r>
            <a:r>
              <a:rPr sz="24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algoritmo</a:t>
            </a: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);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54539B01-62ED-F785-0E82-0E174A5B8864}"/>
              </a:ext>
            </a:extLst>
          </p:cNvPr>
          <p:cNvSpPr txBox="1">
            <a:spLocks/>
          </p:cNvSpPr>
          <p:nvPr/>
        </p:nvSpPr>
        <p:spPr>
          <a:xfrm>
            <a:off x="592347" y="4808882"/>
            <a:ext cx="11007306" cy="1194698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Esse método gera a </a:t>
            </a:r>
            <a:r>
              <a:rPr lang="pt-BR" dirty="0" err="1"/>
              <a:t>String</a:t>
            </a:r>
            <a:r>
              <a:rPr lang="pt-BR" dirty="0"/>
              <a:t> final do JWT.</a:t>
            </a:r>
          </a:p>
          <a:p>
            <a:r>
              <a:rPr lang="pt-BR" dirty="0"/>
              <a:t>A assinatura permite detectar alterações, mas não esconde o conteúdo.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496996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535210-2104-B5E9-6275-D12DED95B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Tratamento de falhas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0339BFE-E94A-2D05-1B28-A4DA2606ED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747" y="5036448"/>
            <a:ext cx="11007306" cy="1140065"/>
          </a:xfrm>
        </p:spPr>
        <p:txBody>
          <a:bodyPr/>
          <a:lstStyle/>
          <a:p>
            <a:r>
              <a:rPr lang="pt-BR" dirty="0" err="1"/>
              <a:t>RuntimeException</a:t>
            </a:r>
            <a:r>
              <a:rPr lang="pt-BR" dirty="0"/>
              <a:t> informa a falha ao código que chamou o método.</a:t>
            </a:r>
          </a:p>
          <a:p>
            <a:r>
              <a:rPr lang="pt-BR" dirty="0" err="1"/>
              <a:t>exception</a:t>
            </a:r>
            <a:r>
              <a:rPr lang="pt-BR" dirty="0"/>
              <a:t> preserva a causa original do erro.</a:t>
            </a: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2136000" y="2834676"/>
            <a:ext cx="7920000" cy="1809750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2500942" y="3052943"/>
            <a:ext cx="7190117" cy="1373217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025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025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catch (JWTCreationException exception) {</a:t>
            </a:r>
          </a:p>
          <a:p>
            <a:pPr algn="l">
              <a:defRPr sz="2025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025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throw new RuntimeException(</a:t>
            </a:r>
          </a:p>
          <a:p>
            <a:pPr algn="l">
              <a:defRPr sz="2025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025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"Erro ao gerar o token", exception);</a:t>
            </a:r>
          </a:p>
          <a:p>
            <a:pPr algn="l">
              <a:defRPr sz="2025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025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E50220C7-3DF3-0C51-AB5A-CD414DA05382}"/>
              </a:ext>
            </a:extLst>
          </p:cNvPr>
          <p:cNvSpPr txBox="1">
            <a:spLocks/>
          </p:cNvSpPr>
          <p:nvPr/>
        </p:nvSpPr>
        <p:spPr>
          <a:xfrm>
            <a:off x="744747" y="1997075"/>
            <a:ext cx="11007306" cy="700117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O catch captura JWTCreationException durante a criação do token.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082936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EDD820-2586-026C-E615-729B25A8F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Resultado da geração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3D5CFBE-D260-DEBE-162F-3135C49022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691491"/>
          </a:xfrm>
        </p:spPr>
        <p:txBody>
          <a:bodyPr/>
          <a:lstStyle/>
          <a:p>
            <a:r>
              <a:rPr lang="pt-BR" dirty="0"/>
              <a:t>Ao final, </a:t>
            </a:r>
            <a:r>
              <a:rPr lang="pt-BR" dirty="0" err="1"/>
              <a:t>gerarToken</a:t>
            </a:r>
            <a:r>
              <a:rPr lang="pt-BR" dirty="0"/>
              <a:t>() retorna uma </a:t>
            </a:r>
            <a:r>
              <a:rPr lang="pt-BR" dirty="0" err="1"/>
              <a:t>String</a:t>
            </a:r>
            <a:r>
              <a:rPr lang="pt-BR" dirty="0"/>
              <a:t> com três partes.</a:t>
            </a:r>
          </a:p>
          <a:p>
            <a:endParaRPr lang="pt-BR" dirty="0"/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2136000" y="3124559"/>
            <a:ext cx="7920000" cy="1223154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3730206" y="3468268"/>
            <a:ext cx="4731589" cy="535736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4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header.payload.assinatura</a:t>
            </a:r>
            <a:endParaRPr sz="2400" dirty="0">
              <a:solidFill>
                <a:srgbClr val="D4D4D4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1A9E8C90-0EDA-90E3-170D-C456F86218C8}"/>
              </a:ext>
            </a:extLst>
          </p:cNvPr>
          <p:cNvSpPr txBox="1">
            <a:spLocks/>
          </p:cNvSpPr>
          <p:nvPr/>
        </p:nvSpPr>
        <p:spPr>
          <a:xfrm>
            <a:off x="592347" y="4936106"/>
            <a:ext cx="11007306" cy="1367226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O </a:t>
            </a:r>
            <a:r>
              <a:rPr lang="pt-BR" dirty="0" err="1"/>
              <a:t>controller</a:t>
            </a:r>
            <a:r>
              <a:rPr lang="pt-BR" dirty="0"/>
              <a:t> recebe essa </a:t>
            </a:r>
            <a:r>
              <a:rPr lang="pt-BR" dirty="0" err="1"/>
              <a:t>String</a:t>
            </a:r>
            <a:r>
              <a:rPr lang="pt-BR" dirty="0"/>
              <a:t> e pode devolvê-la na resposta do login.</a:t>
            </a:r>
          </a:p>
          <a:p>
            <a:r>
              <a:rPr lang="pt-BR" dirty="0"/>
              <a:t>Nas próximas requisições, a API precisará validar o token.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077685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D8B747-4C67-5760-0DEA-22D19C7E4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Definindo o prazo de validade do token JWT</a:t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A6ED090-9A5D-5DBE-012C-38E83FB228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6"/>
            <a:ext cx="11007306" cy="850900"/>
          </a:xfrm>
        </p:spPr>
        <p:txBody>
          <a:bodyPr/>
          <a:lstStyle/>
          <a:p>
            <a:r>
              <a:rPr lang="pt-BR" sz="1600" dirty="0"/>
              <a:t>O </a:t>
            </a:r>
            <a:r>
              <a:rPr lang="pt-BR" sz="1600" b="1" dirty="0"/>
              <a:t>Instant</a:t>
            </a:r>
            <a:r>
              <a:rPr lang="pt-BR" sz="1600" dirty="0"/>
              <a:t> representa um momento exato na linha do tempo, com data e hora, com referência em UTC. Nesse método, ele indica quando o token vai expirar.</a:t>
            </a:r>
          </a:p>
        </p:txBody>
      </p:sp>
      <p:sp>
        <p:nvSpPr>
          <p:cNvPr id="4" name="Shape 20">
            <a:extLst>
              <a:ext uri="{FF2B5EF4-FFF2-40B4-BE49-F238E27FC236}">
                <a16:creationId xmlns:a16="http://schemas.microsoft.com/office/drawing/2014/main" id="{C713F90A-98C3-7128-5A9E-BF37EA3E68DE}"/>
              </a:ext>
            </a:extLst>
          </p:cNvPr>
          <p:cNvSpPr>
            <a:spLocks noGrp="1"/>
          </p:cNvSpPr>
          <p:nvPr/>
        </p:nvSpPr>
        <p:spPr>
          <a:xfrm>
            <a:off x="670766" y="3035540"/>
            <a:ext cx="10850468" cy="1439084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552454E-3A28-F68C-53BA-B985DB79007C}"/>
              </a:ext>
            </a:extLst>
          </p:cNvPr>
          <p:cNvSpPr>
            <a:spLocks noGrp="1"/>
          </p:cNvSpPr>
          <p:nvPr/>
        </p:nvSpPr>
        <p:spPr>
          <a:xfrm>
            <a:off x="1169509" y="3284628"/>
            <a:ext cx="9852983" cy="940909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sz="1600" dirty="0" err="1">
                <a:solidFill>
                  <a:srgbClr val="B07857"/>
                </a:solidFill>
                <a:latin typeface="Consolas"/>
                <a:ea typeface="Consolas"/>
                <a:cs typeface="Consolas"/>
              </a:rPr>
              <a:t>private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Instant </a:t>
            </a:r>
            <a:r>
              <a:rPr lang="pt-BR" sz="1600" dirty="0" err="1">
                <a:solidFill>
                  <a:srgbClr val="4D97DA"/>
                </a:solidFill>
                <a:latin typeface="Consolas"/>
                <a:ea typeface="Consolas"/>
                <a:cs typeface="Consolas"/>
              </a:rPr>
              <a:t>dataExpiracao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() {</a:t>
            </a:r>
          </a:p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pt-BR" sz="1600" dirty="0" err="1">
                <a:solidFill>
                  <a:srgbClr val="B07857"/>
                </a:solidFill>
                <a:latin typeface="Consolas"/>
              </a:rPr>
              <a:t>return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pt-BR" sz="16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LocalDateTime.now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().</a:t>
            </a:r>
            <a:r>
              <a:rPr lang="pt-BR" sz="16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plusHours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(2).</a:t>
            </a:r>
            <a:r>
              <a:rPr lang="pt-BR" sz="16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toInstant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pt-BR" sz="16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ZoneOffset.of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pt-BR" sz="1600" dirty="0">
                <a:solidFill>
                  <a:srgbClr val="548453"/>
                </a:solidFill>
                <a:latin typeface="Consolas"/>
                <a:ea typeface="Consolas"/>
                <a:cs typeface="Consolas"/>
              </a:rPr>
              <a:t>"-03:00"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));</a:t>
            </a:r>
          </a:p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}</a:t>
            </a:r>
            <a:endParaRPr sz="1600" dirty="0">
              <a:solidFill>
                <a:srgbClr val="D4D4D4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004E5172-6B42-B52D-5026-5A4169E1EF4B}"/>
              </a:ext>
            </a:extLst>
          </p:cNvPr>
          <p:cNvSpPr txBox="1">
            <a:spLocks/>
          </p:cNvSpPr>
          <p:nvPr/>
        </p:nvSpPr>
        <p:spPr>
          <a:xfrm>
            <a:off x="592347" y="4814589"/>
            <a:ext cx="11007306" cy="1633836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 err="1"/>
              <a:t>LocalDateTime.now</a:t>
            </a:r>
            <a:r>
              <a:rPr lang="pt-BR" sz="1600" b="1" dirty="0"/>
              <a:t>() </a:t>
            </a:r>
            <a:r>
              <a:rPr lang="pt-BR" sz="1600" dirty="0"/>
              <a:t>— Obtém a data e a hora atuais do servidor, sem guardar o fuso horário.</a:t>
            </a:r>
          </a:p>
          <a:p>
            <a:r>
              <a:rPr lang="pt-BR" sz="1600" b="1" dirty="0"/>
              <a:t>.</a:t>
            </a:r>
            <a:r>
              <a:rPr lang="pt-BR" sz="1600" b="1" dirty="0" err="1"/>
              <a:t>plusHours</a:t>
            </a:r>
            <a:r>
              <a:rPr lang="pt-BR" sz="1600" b="1" dirty="0"/>
              <a:t>(2) </a:t>
            </a:r>
            <a:r>
              <a:rPr lang="pt-BR" sz="1600" dirty="0"/>
              <a:t>— Adiciona duas horas a esse horário.</a:t>
            </a:r>
          </a:p>
          <a:p>
            <a:r>
              <a:rPr lang="pt-BR" sz="1600" b="1" dirty="0"/>
              <a:t>.</a:t>
            </a:r>
            <a:r>
              <a:rPr lang="pt-BR" sz="1600" b="1" dirty="0" err="1"/>
              <a:t>ZoneOffset.of</a:t>
            </a:r>
            <a:r>
              <a:rPr lang="pt-BR" sz="1600" b="1" dirty="0"/>
              <a:t>("-03:00") </a:t>
            </a:r>
            <a:r>
              <a:rPr lang="pt-BR" sz="1600" dirty="0"/>
              <a:t>— Define o deslocamento de três horas atrás do UTC.</a:t>
            </a:r>
          </a:p>
          <a:p>
            <a:r>
              <a:rPr lang="pt-BR" sz="1600" b="1" dirty="0"/>
              <a:t>.</a:t>
            </a:r>
            <a:r>
              <a:rPr lang="pt-BR" sz="1600" b="1" dirty="0" err="1"/>
              <a:t>toInstant</a:t>
            </a:r>
            <a:r>
              <a:rPr lang="pt-BR" sz="1600" b="1" dirty="0"/>
              <a:t>(...) </a:t>
            </a:r>
            <a:r>
              <a:rPr lang="pt-BR" sz="1600" dirty="0"/>
              <a:t>— Converte a data e a hora em um instante UTC, considerando o deslocamento</a:t>
            </a:r>
          </a:p>
        </p:txBody>
      </p:sp>
    </p:spTree>
    <p:extLst>
      <p:ext uri="{BB962C8B-B14F-4D97-AF65-F5344CB8AC3E}">
        <p14:creationId xmlns:p14="http://schemas.microsoft.com/office/powerpoint/2010/main" val="12215500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AFD3B-ED66-6B94-311D-32E12429B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F38EBC-B715-E031-137F-A5D22F76B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Definindo o prazo de validade do token JWT</a:t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125CBB8-BD99-3B03-8223-96AA95B97E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6"/>
            <a:ext cx="11007306" cy="850900"/>
          </a:xfrm>
        </p:spPr>
        <p:txBody>
          <a:bodyPr/>
          <a:lstStyle/>
          <a:p>
            <a:r>
              <a:rPr lang="pt-BR" sz="1600" dirty="0"/>
              <a:t>O </a:t>
            </a:r>
            <a:r>
              <a:rPr lang="pt-BR" sz="1600" b="1" dirty="0"/>
              <a:t>Instant</a:t>
            </a:r>
            <a:r>
              <a:rPr lang="pt-BR" sz="1600" dirty="0"/>
              <a:t> representa um momento exato na linha do tempo, com data e hora, com referência em UTC. Nesse método, ele indica quando o token vai expirar.</a:t>
            </a:r>
          </a:p>
        </p:txBody>
      </p:sp>
      <p:sp>
        <p:nvSpPr>
          <p:cNvPr id="4" name="Shape 20">
            <a:extLst>
              <a:ext uri="{FF2B5EF4-FFF2-40B4-BE49-F238E27FC236}">
                <a16:creationId xmlns:a16="http://schemas.microsoft.com/office/drawing/2014/main" id="{28FBDC35-6754-8147-78FD-E9E9AE1D7026}"/>
              </a:ext>
            </a:extLst>
          </p:cNvPr>
          <p:cNvSpPr>
            <a:spLocks noGrp="1"/>
          </p:cNvSpPr>
          <p:nvPr/>
        </p:nvSpPr>
        <p:spPr>
          <a:xfrm>
            <a:off x="670766" y="3219152"/>
            <a:ext cx="10850468" cy="1439084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8F805B7-DA1B-AA5F-39BC-907A71376424}"/>
              </a:ext>
            </a:extLst>
          </p:cNvPr>
          <p:cNvSpPr>
            <a:spLocks noGrp="1"/>
          </p:cNvSpPr>
          <p:nvPr/>
        </p:nvSpPr>
        <p:spPr>
          <a:xfrm>
            <a:off x="1169509" y="3468240"/>
            <a:ext cx="9852983" cy="940909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sz="1600" dirty="0" err="1">
                <a:solidFill>
                  <a:srgbClr val="B07857"/>
                </a:solidFill>
                <a:latin typeface="Consolas"/>
                <a:ea typeface="Consolas"/>
                <a:cs typeface="Consolas"/>
              </a:rPr>
              <a:t>private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Instant </a:t>
            </a:r>
            <a:r>
              <a:rPr lang="pt-BR" sz="1600" dirty="0" err="1">
                <a:solidFill>
                  <a:srgbClr val="4D97DA"/>
                </a:solidFill>
                <a:latin typeface="Consolas"/>
                <a:ea typeface="Consolas"/>
                <a:cs typeface="Consolas"/>
              </a:rPr>
              <a:t>dataExpiracao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() {</a:t>
            </a:r>
          </a:p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pt-BR" sz="1600" dirty="0" err="1">
                <a:solidFill>
                  <a:srgbClr val="B07857"/>
                </a:solidFill>
                <a:latin typeface="Consolas"/>
              </a:rPr>
              <a:t>return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pt-BR" sz="16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Instant.now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().</a:t>
            </a:r>
            <a:r>
              <a:rPr lang="pt-BR" sz="16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plusSeconds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(7200);</a:t>
            </a:r>
          </a:p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}</a:t>
            </a:r>
            <a:endParaRPr sz="1600" dirty="0">
              <a:solidFill>
                <a:srgbClr val="D4D4D4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A8CFB04C-D926-CAAE-DAC2-331011ED45F0}"/>
              </a:ext>
            </a:extLst>
          </p:cNvPr>
          <p:cNvSpPr txBox="1">
            <a:spLocks/>
          </p:cNvSpPr>
          <p:nvPr/>
        </p:nvSpPr>
        <p:spPr>
          <a:xfrm>
            <a:off x="592347" y="5181812"/>
            <a:ext cx="11007306" cy="986136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 err="1"/>
              <a:t>Instant.now</a:t>
            </a:r>
            <a:r>
              <a:rPr lang="pt-BR" sz="1600" b="1" dirty="0"/>
              <a:t>() — </a:t>
            </a:r>
            <a:r>
              <a:rPr lang="pt-BR" sz="1600" dirty="0"/>
              <a:t>Obtém o momento atual, com referência em UTC.</a:t>
            </a:r>
          </a:p>
          <a:p>
            <a:r>
              <a:rPr lang="pt-BR" sz="1600" b="1" dirty="0"/>
              <a:t>.</a:t>
            </a:r>
            <a:r>
              <a:rPr lang="pt-BR" sz="1600" b="1" dirty="0" err="1"/>
              <a:t>plusSeconds</a:t>
            </a:r>
            <a:r>
              <a:rPr lang="pt-BR" sz="1600" b="1" dirty="0"/>
              <a:t>(7200) — </a:t>
            </a:r>
            <a:r>
              <a:rPr lang="pt-BR" sz="1600" dirty="0"/>
              <a:t>Retorna um novo instante com 7.200 segundos (2 horas) adicionados.</a:t>
            </a:r>
          </a:p>
        </p:txBody>
      </p:sp>
    </p:spTree>
    <p:extLst>
      <p:ext uri="{BB962C8B-B14F-4D97-AF65-F5344CB8AC3E}">
        <p14:creationId xmlns:p14="http://schemas.microsoft.com/office/powerpoint/2010/main" val="8858900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6B7E92-BBA3-7E8C-4ACC-78BD04FA0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Recuperando o usuário autenticado para gerar o JWT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0877F17-7921-4D37-B6EB-F1A2E4E71B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584325"/>
          </a:xfrm>
        </p:spPr>
        <p:txBody>
          <a:bodyPr/>
          <a:lstStyle/>
          <a:p>
            <a:r>
              <a:rPr lang="pt-BR" dirty="0"/>
              <a:t>O método </a:t>
            </a:r>
            <a:r>
              <a:rPr lang="pt-BR" b="1" dirty="0" err="1"/>
              <a:t>authenticate</a:t>
            </a:r>
            <a:r>
              <a:rPr lang="pt-BR" b="1" dirty="0"/>
              <a:t>()</a:t>
            </a:r>
            <a:r>
              <a:rPr lang="pt-BR" dirty="0"/>
              <a:t> retorna o resultado da autenticação. Para gerar o JWT, usamos </a:t>
            </a:r>
            <a:r>
              <a:rPr lang="pt-BR" b="1" dirty="0" err="1"/>
              <a:t>getPrincipal</a:t>
            </a:r>
            <a:r>
              <a:rPr lang="pt-BR" b="1" dirty="0"/>
              <a:t>()</a:t>
            </a:r>
            <a:r>
              <a:rPr lang="pt-BR" dirty="0"/>
              <a:t> para recuperar o usuário autenticado e fazemos o </a:t>
            </a:r>
            <a:r>
              <a:rPr lang="pt-BR" b="1" dirty="0" err="1"/>
              <a:t>cast</a:t>
            </a:r>
            <a:r>
              <a:rPr lang="pt-BR" b="1" dirty="0"/>
              <a:t> para </a:t>
            </a:r>
            <a:r>
              <a:rPr lang="pt-BR" b="1" dirty="0" err="1"/>
              <a:t>Usuario</a:t>
            </a:r>
            <a:r>
              <a:rPr lang="pt-BR" dirty="0"/>
              <a:t>, tipo esperado pelo método </a:t>
            </a:r>
            <a:r>
              <a:rPr lang="pt-BR" b="1" dirty="0" err="1"/>
              <a:t>gerarToken</a:t>
            </a:r>
            <a:r>
              <a:rPr lang="pt-BR" b="1" dirty="0"/>
              <a:t>()</a:t>
            </a:r>
            <a:r>
              <a:rPr lang="pt-BR" dirty="0"/>
              <a:t>.</a:t>
            </a:r>
          </a:p>
        </p:txBody>
      </p:sp>
      <p:sp>
        <p:nvSpPr>
          <p:cNvPr id="4" name="Shape 20">
            <a:extLst>
              <a:ext uri="{FF2B5EF4-FFF2-40B4-BE49-F238E27FC236}">
                <a16:creationId xmlns:a16="http://schemas.microsoft.com/office/drawing/2014/main" id="{8D268882-3BE3-3D6E-5088-1DCF5F2678C9}"/>
              </a:ext>
            </a:extLst>
          </p:cNvPr>
          <p:cNvSpPr>
            <a:spLocks noGrp="1"/>
          </p:cNvSpPr>
          <p:nvPr/>
        </p:nvSpPr>
        <p:spPr>
          <a:xfrm>
            <a:off x="749185" y="3537294"/>
            <a:ext cx="10850468" cy="866775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881DA0D7-03F3-8047-D4EB-E71CB186A515}"/>
              </a:ext>
            </a:extLst>
          </p:cNvPr>
          <p:cNvSpPr>
            <a:spLocks noGrp="1"/>
          </p:cNvSpPr>
          <p:nvPr/>
        </p:nvSpPr>
        <p:spPr>
          <a:xfrm>
            <a:off x="1247928" y="3738037"/>
            <a:ext cx="9852983" cy="46528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sz="16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pt-BR" sz="1600" dirty="0">
                <a:solidFill>
                  <a:srgbClr val="B87958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lang="pt-BR" sz="16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pt-BR" sz="1600" dirty="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tokenJWT</a:t>
            </a:r>
            <a:r>
              <a:rPr lang="pt-BR" sz="16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 = </a:t>
            </a:r>
            <a:r>
              <a:rPr lang="pt-BR" sz="1600" dirty="0" err="1">
                <a:solidFill>
                  <a:srgbClr val="C77DB9"/>
                </a:solidFill>
                <a:latin typeface="Consolas"/>
                <a:ea typeface="Consolas"/>
                <a:cs typeface="Consolas"/>
              </a:rPr>
              <a:t>tokenService</a:t>
            </a:r>
            <a:r>
              <a:rPr lang="pt-BR" sz="1600" dirty="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.gerarToken</a:t>
            </a:r>
            <a:r>
              <a:rPr lang="pt-BR" sz="16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((</a:t>
            </a:r>
            <a:r>
              <a:rPr lang="pt-BR" sz="1600" dirty="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Usuario</a:t>
            </a:r>
            <a:r>
              <a:rPr lang="pt-BR" sz="16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) </a:t>
            </a:r>
            <a:r>
              <a:rPr lang="pt-BR" sz="1600" dirty="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authenticaon.getPrincipal</a:t>
            </a:r>
            <a:r>
              <a:rPr lang="pt-BR" sz="16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());</a:t>
            </a:r>
            <a:endParaRPr sz="1600" dirty="0">
              <a:solidFill>
                <a:schemeClr val="bg1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8060042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842</TotalTime>
  <Words>1622</Words>
  <Application>Microsoft Office PowerPoint</Application>
  <PresentationFormat>Widescreen</PresentationFormat>
  <Paragraphs>187</Paragraphs>
  <Slides>26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26</vt:i4>
      </vt:variant>
    </vt:vector>
  </HeadingPairs>
  <TitlesOfParts>
    <vt:vector size="35" baseType="lpstr">
      <vt:lpstr>Aptos</vt:lpstr>
      <vt:lpstr>Arial</vt:lpstr>
      <vt:lpstr>Calibri</vt:lpstr>
      <vt:lpstr>Calibri Light</vt:lpstr>
      <vt:lpstr>Consolas</vt:lpstr>
      <vt:lpstr>Roboto</vt:lpstr>
      <vt:lpstr>Roboto Bold</vt:lpstr>
      <vt:lpstr>Times New Roman</vt:lpstr>
      <vt:lpstr>Tema do Office</vt:lpstr>
      <vt:lpstr>Controle de acesso</vt:lpstr>
      <vt:lpstr>Objetivos da Aula 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Objetivos da aula</vt:lpstr>
      <vt:lpstr>JWT (JSON Web Token) </vt:lpstr>
      <vt:lpstr>JSON Web Token (JWT) Debugger </vt:lpstr>
      <vt:lpstr>JSON Web Token (JWT) Debugger </vt:lpstr>
      <vt:lpstr>JSON Web Token (JWT) Debugger </vt:lpstr>
      <vt:lpstr>O método gerarToken</vt:lpstr>
      <vt:lpstr>HMAC256</vt:lpstr>
      <vt:lpstr>Entrada e retorno do método</vt:lpstr>
      <vt:lpstr>Algoritmo e chave secreta</vt:lpstr>
      <vt:lpstr>Início da construção do token</vt:lpstr>
      <vt:lpstr>Emissor do token</vt:lpstr>
      <vt:lpstr>Identificação do usuário</vt:lpstr>
      <vt:lpstr>Prazo de validade</vt:lpstr>
      <vt:lpstr>Assinatura e geração do JWT</vt:lpstr>
      <vt:lpstr>Tratamento de falhas</vt:lpstr>
      <vt:lpstr>Resultado da geração</vt:lpstr>
      <vt:lpstr>Definindo o prazo de validade do token JWT </vt:lpstr>
      <vt:lpstr>Definindo o prazo de validade do token JWT </vt:lpstr>
      <vt:lpstr>Recuperando o usuário autenticado para gerar o JWT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Lucas Tadeu Monteiro Guedes Fernandes Salomao</dc:creator>
  <cp:lastModifiedBy>Pedro Henrique Miho de Souza</cp:lastModifiedBy>
  <cp:revision>125</cp:revision>
  <dcterms:created xsi:type="dcterms:W3CDTF">2024-03-08T12:14:33Z</dcterms:created>
  <dcterms:modified xsi:type="dcterms:W3CDTF">2026-10-05T18:03:53Z</dcterms:modified>
</cp:coreProperties>
</file>