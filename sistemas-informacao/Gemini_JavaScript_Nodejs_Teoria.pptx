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c08921fa5c41d0" /><Relationship Type="http://schemas.openxmlformats.org/officeDocument/2006/relationships/extended-properties" Target="/docProps/app.xml" Id="Rfd0a4f5ae0f34ce7" /><Relationship Type="http://schemas.openxmlformats.org/officeDocument/2006/relationships/officeDocument" Target="/ppt/presentation.xml" Id="R7808d0f9ade947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6a9e20eb6f4812"/>
  </p:sldMasterIdLst>
  <p:notesMasterIdLst>
    <p:notesMasterId xmlns:r="http://schemas.openxmlformats.org/officeDocument/2006/relationships" r:id="Rcee053954e8b431a"/>
  </p:notesMasterIdLst>
  <p:sldIdLst>
    <p:sldId xmlns:r="http://schemas.openxmlformats.org/officeDocument/2006/relationships" id="256" r:id="R31129a9d235244fa"/>
    <p:sldId xmlns:r="http://schemas.openxmlformats.org/officeDocument/2006/relationships" id="257" r:id="Rcda5f05e09324b62"/>
    <p:sldId xmlns:r="http://schemas.openxmlformats.org/officeDocument/2006/relationships" id="258" r:id="Rf0bcd7d9fca54c2f"/>
    <p:sldId xmlns:r="http://schemas.openxmlformats.org/officeDocument/2006/relationships" id="259" r:id="R9b480a43f66240c6"/>
    <p:sldId xmlns:r="http://schemas.openxmlformats.org/officeDocument/2006/relationships" id="260" r:id="R9a0f15fd88d642da"/>
    <p:sldId xmlns:r="http://schemas.openxmlformats.org/officeDocument/2006/relationships" id="261" r:id="Rb1bfeff6df384baf"/>
    <p:sldId xmlns:r="http://schemas.openxmlformats.org/officeDocument/2006/relationships" id="262" r:id="R9a5f45d6d7574840"/>
    <p:sldId xmlns:r="http://schemas.openxmlformats.org/officeDocument/2006/relationships" id="263" r:id="R9f6a20b980eb4ae9"/>
    <p:sldId xmlns:r="http://schemas.openxmlformats.org/officeDocument/2006/relationships" id="264" r:id="Rfcb6399cd60546c4"/>
    <p:sldId xmlns:r="http://schemas.openxmlformats.org/officeDocument/2006/relationships" id="265" r:id="R2a188bc701164d78"/>
    <p:sldId xmlns:r="http://schemas.openxmlformats.org/officeDocument/2006/relationships" id="266" r:id="R8d2460208da542d6"/>
    <p:sldId xmlns:r="http://schemas.openxmlformats.org/officeDocument/2006/relationships" id="267" r:id="R2ba1ab7802864cc1"/>
    <p:sldId xmlns:r="http://schemas.openxmlformats.org/officeDocument/2006/relationships" id="268" r:id="R25ca742baf5c4bea"/>
    <p:sldId xmlns:r="http://schemas.openxmlformats.org/officeDocument/2006/relationships" id="269" r:id="R365d7e4baf2f41e0"/>
    <p:sldId xmlns:r="http://schemas.openxmlformats.org/officeDocument/2006/relationships" id="270" r:id="Re4bfb57a4ec64e71"/>
    <p:sldId xmlns:r="http://schemas.openxmlformats.org/officeDocument/2006/relationships" id="271" r:id="R980bb3fcdc444f7c"/>
    <p:sldId xmlns:r="http://schemas.openxmlformats.org/officeDocument/2006/relationships" id="272" r:id="R0a5a542c45d84fff"/>
    <p:sldId xmlns:r="http://schemas.openxmlformats.org/officeDocument/2006/relationships" id="273" r:id="Rd79570cf918b470a"/>
    <p:sldId xmlns:r="http://schemas.openxmlformats.org/officeDocument/2006/relationships" id="274" r:id="Rd9aa6f93877a4fee"/>
    <p:sldId xmlns:r="http://schemas.openxmlformats.org/officeDocument/2006/relationships" id="275" r:id="R55baa8ef02fd4670"/>
    <p:sldId xmlns:r="http://schemas.openxmlformats.org/officeDocument/2006/relationships" id="276" r:id="R44583fa8e68c449c"/>
    <p:sldId xmlns:r="http://schemas.openxmlformats.org/officeDocument/2006/relationships" id="277" r:id="R84a1d3b13ec0439f"/>
    <p:sldId xmlns:r="http://schemas.openxmlformats.org/officeDocument/2006/relationships" id="278" r:id="Re96cb2c283754092"/>
    <p:sldId xmlns:r="http://schemas.openxmlformats.org/officeDocument/2006/relationships" id="279" r:id="R9ea7a9f1017748ee"/>
    <p:sldId xmlns:r="http://schemas.openxmlformats.org/officeDocument/2006/relationships" id="280" r:id="R8a2101c449b340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3f6db0c2e24ab9" /><Relationship Type="http://schemas.openxmlformats.org/officeDocument/2006/relationships/slideMaster" Target="/ppt/slideMasters/slideMaster1.xml" Id="Rf46a9e20eb6f4812" /><Relationship Type="http://schemas.openxmlformats.org/officeDocument/2006/relationships/notesMaster" Target="/ppt/notesMasters/notesMaster1.xml" Id="Rcee053954e8b431a" /><Relationship Type="http://schemas.openxmlformats.org/officeDocument/2006/relationships/presProps" Target="/ppt/presProps.xml" Id="R2bbb2eb0af424f0c" /><Relationship Type="http://schemas.openxmlformats.org/officeDocument/2006/relationships/tableStyles" Target="/ppt/tableStyles.xml" Id="Rf04fa4ac90504fcc" /><Relationship Type="http://schemas.openxmlformats.org/officeDocument/2006/relationships/slide" Target="/ppt/slides/slide1.xml" Id="R31129a9d235244fa" /><Relationship Type="http://schemas.openxmlformats.org/officeDocument/2006/relationships/slide" Target="/ppt/slides/slide2.xml" Id="Rcda5f05e09324b62" /><Relationship Type="http://schemas.openxmlformats.org/officeDocument/2006/relationships/slide" Target="/ppt/slides/slide3.xml" Id="Rf0bcd7d9fca54c2f" /><Relationship Type="http://schemas.openxmlformats.org/officeDocument/2006/relationships/slide" Target="/ppt/slides/slide4.xml" Id="R9b480a43f66240c6" /><Relationship Type="http://schemas.openxmlformats.org/officeDocument/2006/relationships/slide" Target="/ppt/slides/slide5.xml" Id="R9a0f15fd88d642da" /><Relationship Type="http://schemas.openxmlformats.org/officeDocument/2006/relationships/slide" Target="/ppt/slides/slide6.xml" Id="Rb1bfeff6df384baf" /><Relationship Type="http://schemas.openxmlformats.org/officeDocument/2006/relationships/slide" Target="/ppt/slides/slide7.xml" Id="R9a5f45d6d7574840" /><Relationship Type="http://schemas.openxmlformats.org/officeDocument/2006/relationships/slide" Target="/ppt/slides/slide8.xml" Id="R9f6a20b980eb4ae9" /><Relationship Type="http://schemas.openxmlformats.org/officeDocument/2006/relationships/slide" Target="/ppt/slides/slide9.xml" Id="Rfcb6399cd60546c4" /><Relationship Type="http://schemas.openxmlformats.org/officeDocument/2006/relationships/slide" Target="/ppt/slides/slide10.xml" Id="R2a188bc701164d78" /><Relationship Type="http://schemas.openxmlformats.org/officeDocument/2006/relationships/slide" Target="/ppt/slides/slide11.xml" Id="R8d2460208da542d6" /><Relationship Type="http://schemas.openxmlformats.org/officeDocument/2006/relationships/slide" Target="/ppt/slides/slide12.xml" Id="R2ba1ab7802864cc1" /><Relationship Type="http://schemas.openxmlformats.org/officeDocument/2006/relationships/slide" Target="/ppt/slides/slide13.xml" Id="R25ca742baf5c4bea" /><Relationship Type="http://schemas.openxmlformats.org/officeDocument/2006/relationships/slide" Target="/ppt/slides/slide14.xml" Id="R365d7e4baf2f41e0" /><Relationship Type="http://schemas.openxmlformats.org/officeDocument/2006/relationships/slide" Target="/ppt/slides/slide15.xml" Id="Re4bfb57a4ec64e71" /><Relationship Type="http://schemas.openxmlformats.org/officeDocument/2006/relationships/slide" Target="/ppt/slides/slide16.xml" Id="R980bb3fcdc444f7c" /><Relationship Type="http://schemas.openxmlformats.org/officeDocument/2006/relationships/slide" Target="/ppt/slides/slide17.xml" Id="R0a5a542c45d84fff" /><Relationship Type="http://schemas.openxmlformats.org/officeDocument/2006/relationships/slide" Target="/ppt/slides/slide18.xml" Id="Rd79570cf918b470a" /><Relationship Type="http://schemas.openxmlformats.org/officeDocument/2006/relationships/slide" Target="/ppt/slides/slide19.xml" Id="Rd9aa6f93877a4fee" /><Relationship Type="http://schemas.openxmlformats.org/officeDocument/2006/relationships/slide" Target="/ppt/slides/slide20.xml" Id="R55baa8ef02fd4670" /><Relationship Type="http://schemas.openxmlformats.org/officeDocument/2006/relationships/slide" Target="/ppt/slides/slide21.xml" Id="R44583fa8e68c449c" /><Relationship Type="http://schemas.openxmlformats.org/officeDocument/2006/relationships/slide" Target="/ppt/slides/slide22.xml" Id="R84a1d3b13ec0439f" /><Relationship Type="http://schemas.openxmlformats.org/officeDocument/2006/relationships/slide" Target="/ppt/slides/slide23.xml" Id="Re96cb2c283754092" /><Relationship Type="http://schemas.openxmlformats.org/officeDocument/2006/relationships/slide" Target="/ppt/slides/slide24.xml" Id="R9ea7a9f1017748ee" /><Relationship Type="http://schemas.openxmlformats.org/officeDocument/2006/relationships/slide" Target="/ppt/slides/slide25.xml" Id="R8a2101c449b340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c0065578034d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3edd08b9c546d7" /><Relationship Type="http://schemas.openxmlformats.org/officeDocument/2006/relationships/notesMaster" Target="/ppt/notesMasters/notesMaster1.xml" Id="R58987996c36d4f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1f3a47a91b4fa7" /><Relationship Type="http://schemas.openxmlformats.org/officeDocument/2006/relationships/notesMaster" Target="/ppt/notesMasters/notesMaster1.xml" Id="R8383eee9162b4e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1aed2a2f5f4ed3" /><Relationship Type="http://schemas.openxmlformats.org/officeDocument/2006/relationships/notesMaster" Target="/ppt/notesMasters/notesMaster1.xml" Id="Rffa519d112b14b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1ff58c27a1441f" /><Relationship Type="http://schemas.openxmlformats.org/officeDocument/2006/relationships/notesMaster" Target="/ppt/notesMasters/notesMaster1.xml" Id="Rd3b87d4446ea4d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b6cd9f705c4f66" /><Relationship Type="http://schemas.openxmlformats.org/officeDocument/2006/relationships/notesMaster" Target="/ppt/notesMasters/notesMaster1.xml" Id="Rcfdf0f9cb9404f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bab2da18df437c" /><Relationship Type="http://schemas.openxmlformats.org/officeDocument/2006/relationships/notesMaster" Target="/ppt/notesMasters/notesMaster1.xml" Id="R21f13d7ee33f4e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a5ea3921fa4ff2" /><Relationship Type="http://schemas.openxmlformats.org/officeDocument/2006/relationships/notesMaster" Target="/ppt/notesMasters/notesMaster1.xml" Id="R1d359b787b1740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ac9e92d1474352" /><Relationship Type="http://schemas.openxmlformats.org/officeDocument/2006/relationships/notesMaster" Target="/ppt/notesMasters/notesMaster1.xml" Id="R91c10246f32e4f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233af306e14688" /><Relationship Type="http://schemas.openxmlformats.org/officeDocument/2006/relationships/notesMaster" Target="/ppt/notesMasters/notesMaster1.xml" Id="Rea2481c2fd434b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f55f6e5bc14a32" /><Relationship Type="http://schemas.openxmlformats.org/officeDocument/2006/relationships/notesMaster" Target="/ppt/notesMasters/notesMaster1.xml" Id="Reb131ecfcbdd4c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6b57cd9be64f3b" /><Relationship Type="http://schemas.openxmlformats.org/officeDocument/2006/relationships/notesMaster" Target="/ppt/notesMasters/notesMaster1.xml" Id="Rf62b7f03b17c4a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213d99cba8433c" /><Relationship Type="http://schemas.openxmlformats.org/officeDocument/2006/relationships/notesMaster" Target="/ppt/notesMasters/notesMaster1.xml" Id="R332b01a138d646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b9c440378d4cdd" /><Relationship Type="http://schemas.openxmlformats.org/officeDocument/2006/relationships/notesMaster" Target="/ppt/notesMasters/notesMaster1.xml" Id="Raa1538ff1b394b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198e9fb1e641cd" /><Relationship Type="http://schemas.openxmlformats.org/officeDocument/2006/relationships/notesMaster" Target="/ppt/notesMasters/notesMaster1.xml" Id="R3353c53d8bee4b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3147241137452a" /><Relationship Type="http://schemas.openxmlformats.org/officeDocument/2006/relationships/notesMaster" Target="/ppt/notesMasters/notesMaster1.xml" Id="Re1ac88a0598d49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065139e7ce4283" /><Relationship Type="http://schemas.openxmlformats.org/officeDocument/2006/relationships/notesMaster" Target="/ppt/notesMasters/notesMaster1.xml" Id="Rb872653a37b14e9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07cbdd740934d34" /><Relationship Type="http://schemas.openxmlformats.org/officeDocument/2006/relationships/notesMaster" Target="/ppt/notesMasters/notesMaster1.xml" Id="Rb1cf7d4501e043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0fe43787074de3" /><Relationship Type="http://schemas.openxmlformats.org/officeDocument/2006/relationships/notesMaster" Target="/ppt/notesMasters/notesMaster1.xml" Id="R9ddd22135af1427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b24fc087cf949ba" /><Relationship Type="http://schemas.openxmlformats.org/officeDocument/2006/relationships/notesMaster" Target="/ppt/notesMasters/notesMaster1.xml" Id="R7428d979a9a64db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723ca883bc4815" /><Relationship Type="http://schemas.openxmlformats.org/officeDocument/2006/relationships/notesMaster" Target="/ppt/notesMasters/notesMaster1.xml" Id="R9126e8d743b64ba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c4269098e0847f0" /><Relationship Type="http://schemas.openxmlformats.org/officeDocument/2006/relationships/notesMaster" Target="/ppt/notesMasters/notesMaster1.xml" Id="R9bc82b418289474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51da4ec528d492b" /><Relationship Type="http://schemas.openxmlformats.org/officeDocument/2006/relationships/notesMaster" Target="/ppt/notesMasters/notesMaster1.xml" Id="R2fa7f5397433404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c33b3b5307f4c3c" /><Relationship Type="http://schemas.openxmlformats.org/officeDocument/2006/relationships/notesMaster" Target="/ppt/notesMasters/notesMaster1.xml" Id="Rc84e85c026f349d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c2f56247b9f4014" /><Relationship Type="http://schemas.openxmlformats.org/officeDocument/2006/relationships/notesMaster" Target="/ppt/notesMasters/notesMaster1.xml" Id="Rca718e89b3e2489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2ccde82b543429a" /><Relationship Type="http://schemas.openxmlformats.org/officeDocument/2006/relationships/notesMaster" Target="/ppt/notesMasters/notesMaster1.xml" Id="R3c8d0849a5cd44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Abertura: perguntar quem já usou um chatbot e quem já conectou dois sistemas. Esta apresentação cobre a teoria. O laboratório possui instruções de implementação.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resultado antes de introduzir as ferramentas. A geração ocorre no serviço remoto, não no computador do aluno.</a:t>
            </a:r>
          </a:p>
          <a:p xmlns:a="http://schemas.openxmlformats.org/drawingml/2006/main">
            <a:r>
              <a:t>Fonte: https://ai.google.dev/gemini-api/docs/get-started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Analogia: cardápio e pedido. A interface oferece opções e regras, sem expor todos os detalhes da cozinha. Nem toda API utiliza HTTP.</a:t>
            </a:r>
          </a:p>
          <a:p xmlns:a="http://schemas.openxmlformats.org/drawingml/2006/main">
            <a:r>
              <a:t>Fonte: https://developer.mozilla.org/en-US/docs/Web/HTTP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chatbot pronto e uma aplicação criada com a API são produtos distintos. Acesso ao chatbot não garante a mesma cota na API.</a:t>
            </a:r>
          </a:p>
          <a:p xmlns:a="http://schemas.openxmlformats.org/drawingml/2006/main">
            <a:r>
              <a:t>Fonte: https://ai.google.dev/gemini-api/docs/get-started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Node.js não é uma linguagem e não gera a resposta de IA por conta própria.</a:t>
            </a:r>
          </a:p>
          <a:p xmlns:a="http://schemas.openxmlformats.org/drawingml/2006/main">
            <a:r>
              <a:t>Fonte: https://nodejs.org/en/learn/getting-started/introduction-to-nodejs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Pergunte: em qual lado a chave deve ficar? Manter a chave no servidor não substitui autenticação e limites de uso do endpoint.</a:t>
            </a:r>
          </a:p>
          <a:p xmlns:a="http://schemas.openxmlformats.org/drawingml/2006/main">
            <a:r>
              <a:t>Fonte: https://ai.google.dev/gemini-api/docs/api-key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servidor é servidor para o navegador e cliente para o Gemini. A resposta do Gemini pode ser transformada antes do retorno.</a:t>
            </a:r>
          </a:p>
          <a:p xmlns:a="http://schemas.openxmlformats.org/drawingml/2006/main">
            <a:r>
              <a:t>Fonte: https://ai.google.dev/gemini-api/docs/get-started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localhost identifica a própria máquina. A porta identifica o serviço. O caminho /api/perguntar identifica a rota de nossa aplicação, não a API do Google.</a:t>
            </a:r>
          </a:p>
          <a:p xmlns:a="http://schemas.openxmlformats.org/drawingml/2006/main">
            <a:r>
              <a:t>Fonte: https://developer.mozilla.org/en-US/docs/Web/HTTP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 não criptografa dados. HTTPS protege o tráfego. A semântica dos métodos deve orientar o projeto da API.</a:t>
            </a:r>
          </a:p>
          <a:p xmlns:a="http://schemas.openxmlformats.org/drawingml/2006/main">
            <a:r>
              <a:t>Fonte: https://developer.mozilla.org/en-US/docs/Web/HTTP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Autenticação pode aparecer em cabeçalhos. Nunca mostrar uma chave verdadeira na projeção.</a:t>
            </a:r>
          </a:p>
          <a:p xmlns:a="http://schemas.openxmlformats.org/drawingml/2006/main">
            <a:r>
              <a:t>Fonte: https://developer.mozilla.org/en-US/docs/Web/HTTP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Diferencie objeto JavaScript em memória e texto JSON. JSON usa aspas duplas em nomes de propriedades e strings.</a:t>
            </a:r>
          </a:p>
          <a:p xmlns:a="http://schemas.openxmlformats.org/drawingml/2006/main">
            <a:r>
              <a:t>Fonte: https://developer.mozilla.org/en-US/docs/Web/HTTP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interpretação falha se o corpo não for JSON válido. Não confundir o objeto Response com o objeto dos dados recebidos.</a:t>
            </a:r>
          </a:p>
          <a:p xmlns:a="http://schemas.openxmlformats.org/drawingml/2006/main">
            <a:r>
              <a:t>Fonte: https://developer.mozilla.org/en-US/docs/Web/API/Fetch_API/Using_Fetch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arquivo .env não criptografa segredos. Em produção use gerenciamento de segredos. Uma chave vazada deve ser revogada ou rotacionada. A chave do Gemini não faz login dos usuários em nossa aplicação.</a:t>
            </a:r>
          </a:p>
          <a:p xmlns:a="http://schemas.openxmlformats.org/drawingml/2006/main">
            <a:r>
              <a:t>Fonte: https://ai.google.dev/gemini-api/docs/api-key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SDK continua usando a API. Biblioteca não significa execução local do modelo. Nomes de métodos e modelos dependem da versão documentada.</a:t>
            </a:r>
          </a:p>
          <a:p xmlns:a="http://schemas.openxmlformats.org/drawingml/2006/main">
            <a:r>
              <a:t>Fonte: https://ai.google.dev/gemini-api/docs/get-started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Relacione package.json com a configuração e as dependências. Express é um framework e dotenv é uma biblioteca. A instalação detalhada pertence ao laboratório.</a:t>
            </a:r>
          </a:p>
          <a:p xmlns:a="http://schemas.openxmlformats.org/drawingml/2006/main">
            <a:r>
              <a:t>Fonte: https://nodejs.org/en/learn/getting-started/introduction-to-nodejs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Peça à turma para melhorar um pedido genérico. Mais detalhes úteis ajudam, mas não garantem correção. Instruções no prompt não substituem controles de segurança.</a:t>
            </a:r>
          </a:p>
          <a:p xmlns:a="http://schemas.openxmlformats.org/drawingml/2006/main">
            <a:r>
              <a:t>Fonte: https://ai.google.dev/gemini-api/docs/prompting-strategies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Evitar equivalência fixa entre token e palavra. O histórico não aparece automaticamente: a aplicação precisa gerenciá-lo ou usar um recurso de conversa. Confirmar preços e cotas antes do laboratório.</a:t>
            </a:r>
          </a:p>
          <a:p xmlns:a="http://schemas.openxmlformats.org/drawingml/2006/main">
            <a:r>
              <a:t>Fonte: https://ai.google.dev/gemini-api/docs/get-started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await não trava todo o servidor. Mostre a analogia de fazer um pedido e aguardar ser chamado, sem impedir outros atendimentos.</a:t>
            </a:r>
          </a:p>
          <a:p xmlns:a="http://schemas.openxmlformats.org/drawingml/2006/main">
            <a:r>
              <a:t>Fonte: https://nodejs.org/en/learn/getting-started/introduction-to-nodejs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Falhas de rede podem rejeitar fetch. Em respostas HTTP, verificar response.ok ou response.status. O corpo também pode falhar ao ser interpretado.</a:t>
            </a:r>
          </a:p>
          <a:p xmlns:a="http://schemas.openxmlformats.org/drawingml/2006/main">
            <a:r>
              <a:t>Fonte: https://developer.mozilla.org/en-US/docs/Web/API/Fetch_API/Using_Fetch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Diferencie mensagem amigável para o usuário e diagnóstico no servidor. Evite expor chaves ou detalhes internos nos logs e nas respostas.</a:t>
            </a:r>
          </a:p>
          <a:p xmlns:a="http://schemas.openxmlformats.org/drawingml/2006/main">
            <a:r>
              <a:t>Fonte: https://developer.mozilla.org/en-US/docs/Web/API/Fetch_API/Using_Fetch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Nem toda falha deve retornar 500. Discutir validação de tipo e conteúdo da pergunta. Diferenciar ausência de credenciais, falta de permissão e cota.</a:t>
            </a:r>
          </a:p>
          <a:p xmlns:a="http://schemas.openxmlformats.org/drawingml/2006/main">
            <a:r>
              <a:t>Fonte: https://developer.mozilla.org/en-US/docs/Web/HTTP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endpoint público pode consumir a cota mesmo com a chave escondida. Em produção, acrescentar autenticação, limites de uso e monitoramento.</a:t>
            </a:r>
          </a:p>
          <a:p xmlns:a="http://schemas.openxmlformats.org/drawingml/2006/main">
            <a:r>
              <a:t>Fonte: https://ai.google.dev/gemini-api/docs/api-key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Respostas: a chave pode ser extraída e usada por terceiros. Deve ficar no servidor. No 429, reduzir volume e respeitar o tempo de espera e as cotas, sem repetição infinita.</a:t>
            </a:r>
          </a:p>
          <a:p xmlns:a="http://schemas.openxmlformats.org/drawingml/2006/main">
            <a:r>
              <a:t>Fonte: https://ai.google.dev/gemini-api/docs/api-key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Peça aos alunos que descrevam o fluxo sem olhar os slides. Só então passe para o roteiro prático no Notion.</a:t>
            </a:r>
          </a:p>
          <a:p xmlns:a="http://schemas.openxmlformats.org/drawingml/2006/main">
            <a:r>
              <a:t>Fonte: https://ai.google.dev/gemini-api/docs/get-started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Roteiro: https://app.notion.com/p/3da31aa75fea81e883e3c6bbd78b1f39</a:t>
            </a:r>
          </a:p>
          <a:p xmlns:a="http://schemas.openxmlformats.org/drawingml/2006/main">
            <a:r>
              <a:t>https://nodejs.org/en/learn/getting-started/introduction-to-nodejs</a:t>
            </a:r>
          </a:p>
          <a:p xmlns:a="http://schemas.openxmlformats.org/drawingml/2006/main">
            <a:r>
              <a:t>https://ai.google.dev/gemini-api/docs/get-started</a:t>
            </a:r>
          </a:p>
          <a:p xmlns:a="http://schemas.openxmlformats.org/drawingml/2006/main">
            <a:r>
              <a:t>https://ai.google.dev/gemini-api/docs/api-key</a:t>
            </a:r>
          </a:p>
          <a:p xmlns:a="http://schemas.openxmlformats.org/drawingml/2006/main">
            <a:r>
              <a:t>https://developer.mozilla.org/en-US/docs/Web/API/Fetch_API/Using_Fetch</a:t>
            </a:r>
          </a:p>
          <a:p xmlns:a="http://schemas.openxmlformats.org/drawingml/2006/main">
            <a:r>
              <a:t>https://developer.mozilla.org/en-US/docs/Web/HTTP</a:t>
            </a:r>
          </a:p>
          <a:p xmlns:a="http://schemas.openxmlformats.org/drawingml/2006/main">
            <a:r>
              <a:t>https://ai.google.dev/gemini-api/docs/prompting-strategies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598ab1de249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cd3502a93848b5" /><Relationship Type="http://schemas.openxmlformats.org/officeDocument/2006/relationships/slideLayout" Target="/ppt/slideLayouts/slideLayout1.xml" Id="Rf0534eab82d44e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534eab82d44e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99492ddd043da" /><Relationship Type="http://schemas.openxmlformats.org/officeDocument/2006/relationships/notesSlide" Target="/ppt/notesSlides/notesSlide1.xml" Id="R01e49f5c725c4e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f7b790c2443be" /><Relationship Type="http://schemas.openxmlformats.org/officeDocument/2006/relationships/notesSlide" Target="/ppt/notesSlides/notesSlide2.xml" Id="R5a54ba935bc647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80cd271a04cd6" /><Relationship Type="http://schemas.openxmlformats.org/officeDocument/2006/relationships/notesSlide" Target="/ppt/notesSlides/notesSlide3.xml" Id="Rab6e2ea891e34a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4f08559964dc6" /><Relationship Type="http://schemas.openxmlformats.org/officeDocument/2006/relationships/notesSlide" Target="/ppt/notesSlides/notesSlide4.xml" Id="Red50d1e91db84d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c1f91210644b2" /><Relationship Type="http://schemas.openxmlformats.org/officeDocument/2006/relationships/notesSlide" Target="/ppt/notesSlides/notesSlide5.xml" Id="R5ea97563885c45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a5e3935cc47ee" /><Relationship Type="http://schemas.openxmlformats.org/officeDocument/2006/relationships/notesSlide" Target="/ppt/notesSlides/notesSlide6.xml" Id="R9726f90f3c4140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27cc3a92b405c" /><Relationship Type="http://schemas.openxmlformats.org/officeDocument/2006/relationships/notesSlide" Target="/ppt/notesSlides/notesSlide7.xml" Id="R7ca807b67e9a46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6b52842334458" /><Relationship Type="http://schemas.openxmlformats.org/officeDocument/2006/relationships/notesSlide" Target="/ppt/notesSlides/notesSlide8.xml" Id="R67ecd90e83054c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03c74e972458a" /><Relationship Type="http://schemas.openxmlformats.org/officeDocument/2006/relationships/notesSlide" Target="/ppt/notesSlides/notesSlide9.xml" Id="R43cbe0e80f7844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88a47d84f43cd" /><Relationship Type="http://schemas.openxmlformats.org/officeDocument/2006/relationships/notesSlide" Target="/ppt/notesSlides/notesSlide10.xml" Id="R8a8b20479d3c4d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d54ca7ab144e6" /><Relationship Type="http://schemas.openxmlformats.org/officeDocument/2006/relationships/notesSlide" Target="/ppt/notesSlides/notesSlide11.xml" Id="R353950023a4644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d56052d2f46aa" /><Relationship Type="http://schemas.openxmlformats.org/officeDocument/2006/relationships/notesSlide" Target="/ppt/notesSlides/notesSlide12.xml" Id="R9cc60f6dbc0048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a5e715aba4848" /><Relationship Type="http://schemas.openxmlformats.org/officeDocument/2006/relationships/notesSlide" Target="/ppt/notesSlides/notesSlide13.xml" Id="R8358943dc73a43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63f7b44944ce8" /><Relationship Type="http://schemas.openxmlformats.org/officeDocument/2006/relationships/notesSlide" Target="/ppt/notesSlides/notesSlide14.xml" Id="R292c03b8839843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fa9e7b5e44afe" /><Relationship Type="http://schemas.openxmlformats.org/officeDocument/2006/relationships/notesSlide" Target="/ppt/notesSlides/notesSlide15.xml" Id="Rff0e9f2419264d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40756a6b84547" /><Relationship Type="http://schemas.openxmlformats.org/officeDocument/2006/relationships/notesSlide" Target="/ppt/notesSlides/notesSlide16.xml" Id="R1d1b299d1c634b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bd0f6993043c7" /><Relationship Type="http://schemas.openxmlformats.org/officeDocument/2006/relationships/notesSlide" Target="/ppt/notesSlides/notesSlide17.xml" Id="Rcc01f428d47543c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87530cd0c46a5" /><Relationship Type="http://schemas.openxmlformats.org/officeDocument/2006/relationships/notesSlide" Target="/ppt/notesSlides/notesSlide18.xml" Id="R9b814e42010c496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b7a6c3c9e4db5" /><Relationship Type="http://schemas.openxmlformats.org/officeDocument/2006/relationships/notesSlide" Target="/ppt/notesSlides/notesSlide19.xml" Id="Re8645f5004cc42c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8da320ce64f34" /><Relationship Type="http://schemas.openxmlformats.org/officeDocument/2006/relationships/notesSlide" Target="/ppt/notesSlides/notesSlide20.xml" Id="R09b47475c21e440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b1826486b40fd" /><Relationship Type="http://schemas.openxmlformats.org/officeDocument/2006/relationships/notesSlide" Target="/ppt/notesSlides/notesSlide21.xml" Id="R3490c2a956a6422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00dea1b754dae" /><Relationship Type="http://schemas.openxmlformats.org/officeDocument/2006/relationships/notesSlide" Target="/ppt/notesSlides/notesSlide22.xml" Id="Rc534529e724f487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8e0a1437944e2" /><Relationship Type="http://schemas.openxmlformats.org/officeDocument/2006/relationships/notesSlide" Target="/ppt/notesSlides/notesSlide23.xml" Id="Rddd2be563e0b4ef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3309fe9274a6c" /><Relationship Type="http://schemas.openxmlformats.org/officeDocument/2006/relationships/notesSlide" Target="/ppt/notesSlides/notesSlide24.xml" Id="R6c7e8a111ebe40c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b825164ad4029" /><Relationship Type="http://schemas.openxmlformats.org/officeDocument/2006/relationships/notesSlide" Target="/ppt/notesSlides/notesSlide25.xml" Id="R4ad79194e4584d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2AAC3-7CAF-411E-AC81-0337361D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APIs de inteligência artificial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2DC5F-F8F0-4A85-976B-E21CA3EF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FD3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D3D5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775AA-311F-423A-B1F0-44413D98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47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JavaScript e Node.js</a:t>
            </a:r>
          </a:p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na integração com o Gemini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1C78D-A007-43AD-9080-78AE21D4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958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FD3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AFD3D5"/>
                </a:solidFill>
                <a:latin typeface="Bitstream Charter"/>
                <a:ea typeface="Bitstream Charter"/>
                <a:cs typeface="Bitstream Charter"/>
              </a:rPr>
              <a:t>Fundamentos para a aula prática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86639-47B3-4EF3-AB3E-2E98B586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5307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FD3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AFD3D5"/>
                </a:solidFill>
                <a:latin typeface="Bitstream Charter"/>
                <a:ea typeface="Bitstream Charter"/>
                <a:cs typeface="Bitstream Charter"/>
              </a:rPr>
              <a:t>Prof. Pedro Miho</a:t>
            </a:r>
          </a:p>
        </p:txBody>
      </p:sp>
    </p:spTree>
    <p:extLst>
      <p:ext uri="{BB962C8B-B14F-4D97-AF65-F5344CB8AC3E}">
        <p14:creationId xmlns:p14="http://schemas.microsoft.com/office/powerpoint/2010/main" val="119887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76618-0CDA-4E90-AC23-9F5F2A06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O projeto da aula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1CA16-09DA-49CB-87E2-2BC66BBB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BB32E-A25A-48C6-A7D5-22AD19CB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Um assistente que recebe uma pergunta e apresenta uma resposta gerada por 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BFC46-E685-4924-A925-A84E521D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Interface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1792A-2676-4EE1-9580-C03C3950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O usuário escreve a pergunta no navegador.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7588D-70EC-41AE-9A7D-8095EDB0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Aplicação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89386-6A5D-4213-A2FB-B84CA7F3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Nosso servidor valida os dados e consulta o Gemini.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00DE3-51C7-4AF6-84DC-72899EE2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Resultado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F970B-4838-47EA-9202-1E7746A8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A página apresenta a resposta ou uma mensagem de erro.</a:t>
            </a:r>
          </a:p>
        </p:txBody>
      </p:sp>
    </p:spTree>
    <p:extLst>
      <p:ext uri="{BB962C8B-B14F-4D97-AF65-F5344CB8AC3E}">
        <p14:creationId xmlns:p14="http://schemas.microsoft.com/office/powerpoint/2010/main" val="101941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E5BF5-3129-44C8-A10E-9E53BDDB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O que é uma API?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F0D99-2174-4CCD-9B70-0B4971C9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E918F-FC83-43EF-8ECC-569A9E1D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Uma interface que define como um software pode utilizar recursos de outro.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6CCED-0923-492A-A9CD-C3680C77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Contrato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C28FD-ACB8-449F-9BD9-6D7D8F01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Define operações, entradas e respostas esperadas.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F2CF9-1F51-4D8C-A58B-399311E7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Comunicação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4F0B1-02FA-4F25-80A0-554926FD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Uma API web permite trocar dados usando HTTP.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238E6-D032-48B9-91E0-AC3E7810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Exemplo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E5195-434C-40E1-906D-FADF28B1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Um sistema consulta previsão do tempo sem desenvolver um serviço meteorológico.</a:t>
            </a:r>
          </a:p>
        </p:txBody>
      </p:sp>
    </p:spTree>
    <p:extLst>
      <p:ext uri="{BB962C8B-B14F-4D97-AF65-F5344CB8AC3E}">
        <p14:creationId xmlns:p14="http://schemas.microsoft.com/office/powerpoint/2010/main" val="653056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8889D-CC1F-4E5A-8FB9-AABDC35B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API, modelo e aplicativo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E29F2-E6B4-438E-921C-646CC239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E2BC7-35E0-4328-9A3C-345C1502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Modelo de 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3C8D9-ADDA-49E1-A9CC-C479672B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API e aplicativo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2C11E-3024-4836-A544-9BC107F7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857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Processa a entrada e gera conteúdo.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O Gemini oferece modelos que nossa aplicação pode utilizar.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C1E5F-3A0A-4056-B333-C0DDDEAD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4857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A API oferece acesso ao serviço.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Nosso aplicativo organiza a experiência do usuário.</a:t>
            </a:r>
          </a:p>
        </p:txBody>
      </p:sp>
    </p:spTree>
    <p:extLst>
      <p:ext uri="{BB962C8B-B14F-4D97-AF65-F5344CB8AC3E}">
        <p14:creationId xmlns:p14="http://schemas.microsoft.com/office/powerpoint/2010/main" val="1290735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6D548-98E6-435F-B18D-6C82CCD3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O papel do Node.js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56890-336F-46D3-97CB-0DF89F1D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FE372-BF8F-4DD3-9F16-9B330FC1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Node.js é um ambiente que executa JavaScript fora do navegador.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47669-058F-4ED5-A579-F47E78BF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Linguagem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AF837-B6CF-429D-B59D-EC32773C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JavaScript continua sendo a linguagem utilizada.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5682D-B9B8-4B98-A29E-B58B69FC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Execução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50005-1711-44D1-925C-2396D0E6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Node.js permite criar servidores e acessar recursos do ambiente.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D2757-9EA8-4B03-9534-806810F1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Nesta aula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702E8-B11B-4551-9D55-D64FC675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O servidor recebe perguntas e chama o serviço de IA.</a:t>
            </a:r>
          </a:p>
        </p:txBody>
      </p:sp>
    </p:spTree>
    <p:extLst>
      <p:ext uri="{BB962C8B-B14F-4D97-AF65-F5344CB8AC3E}">
        <p14:creationId xmlns:p14="http://schemas.microsoft.com/office/powerpoint/2010/main" val="908873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BDE28-4555-4856-96A5-D84C245A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Front-end e back-end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687CB-86E8-46BD-9398-E47DC249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DACD8-29D3-40F1-9F54-82329BD2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Front-end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EFAEF-F36F-4C3C-8FEA-34C8AE39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Back-end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BC8EA-8B8B-4583-B2DB-E8CAE4DC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857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Executa no navegador.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Coleta a pergunta, mostra o carregamento e apresenta a resposta.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Seu código fica acessível ao usuário.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F56E4-6076-4D46-9A14-9452306B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4857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Executa no servidor.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Valida os dados, guarda a chave e consulta o Gemini.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Aplica regras e controles de acesso.</a:t>
            </a:r>
          </a:p>
        </p:txBody>
      </p:sp>
    </p:spTree>
    <p:extLst>
      <p:ext uri="{BB962C8B-B14F-4D97-AF65-F5344CB8AC3E}">
        <p14:creationId xmlns:p14="http://schemas.microsoft.com/office/powerpoint/2010/main" val="20064572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62976-45D9-4111-8894-8D29D2A9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O caminho de uma pergunta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0D587-C4D7-4311-BBA8-CF29A1DA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E60C6-A3AD-4F0C-A976-7998F273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Há duas comunicações: navegador com nosso servidor e servidor com o Gemini.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B4823-9C84-4730-B3F7-1D77D551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1. Envio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D8AD7-5F66-4C49-9AB7-EBBF524E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O navegador envia a pergunta para nossa API.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C7847-AA10-42CF-B667-7E60DB13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2. Consulta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1C7DA-5328-43E1-9E63-108A4BB8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Nosso servidor valida a entrada e solicita uma geração ao Gemini.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E985C-9AB7-4B18-9CFD-F8DD7F82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3. Retorno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5D738-C4E3-403B-98F1-B6200C01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O servidor recebe o resultado e responde ao navegador.</a:t>
            </a:r>
          </a:p>
        </p:txBody>
      </p:sp>
    </p:spTree>
    <p:extLst>
      <p:ext uri="{BB962C8B-B14F-4D97-AF65-F5344CB8AC3E}">
        <p14:creationId xmlns:p14="http://schemas.microsoft.com/office/powerpoint/2010/main" val="5109316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71F12-E07B-4A2E-BE03-BB26E88F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HTTP e endpoint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875D3-8E33-44A7-8D45-3E1A4E85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D7461-1325-4C3A-A8D8-A31A2144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HTTP define mensagens de requisição e resposta entre cliente e servidor.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700E6-1013-433F-83EA-EE45D5FE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Endpoint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F4DCE-D91C-4187-BB85-9FBEFDCE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Endereço de acesso a uma operação da API.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10A4E-E772-4632-9C7A-0A93F5F1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Método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3789B-267C-4560-8AAB-C76D77E4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Informa o tipo de operação, como GET ou POST.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DCC30-9BE3-403C-A3DA-1380003F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Exemplo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21B7C-81BA-4EBB-BCE0-E94B6C8E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POST http://localhost:3000/api/perguntar</a:t>
            </a:r>
          </a:p>
        </p:txBody>
      </p:sp>
    </p:spTree>
    <p:extLst>
      <p:ext uri="{BB962C8B-B14F-4D97-AF65-F5344CB8AC3E}">
        <p14:creationId xmlns:p14="http://schemas.microsoft.com/office/powerpoint/2010/main" val="2108256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DB391-F330-4137-B2E5-CAD10E2C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GET e POST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D53E2-9694-4819-B4B8-9CC99B35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CC120-AC16-47C7-97FA-3ACB86EE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C1EB9-6B76-4DBF-AE13-4158A421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POST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52F63-F574-410E-8FC1-71FA694D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857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Solicita a representação de um recurso.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Exemplo: consultar uma lista de produtos.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D3771-3754-44DF-B72F-2C120F3B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4857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Envia dados para processamento.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Nesta aula: enviar uma pergunta para gerar uma resposta.</a:t>
            </a:r>
          </a:p>
        </p:txBody>
      </p:sp>
    </p:spTree>
    <p:extLst>
      <p:ext uri="{BB962C8B-B14F-4D97-AF65-F5344CB8AC3E}">
        <p14:creationId xmlns:p14="http://schemas.microsoft.com/office/powerpoint/2010/main" val="2034494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FCFFD-1C89-4D94-9DED-39E0DBF4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Anatomia de uma requisição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D0581-35A4-448D-86CE-D5CB79F4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BAD25-7DB5-4D08-A345-18BF6349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Uma requisição combina destino, operação, metadados e, quando necessário, dados.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51D96-5E4C-47A4-8168-33BAA834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URL e método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5AC82-4D71-4F66-80EA-60BA573D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Indicam para onde enviar e qual operação solicitar.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3F071-2CE3-4799-B7EF-B8EAA238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Headers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83B64-C85D-4BE5-9A33-51D8EDAF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Descrevem a mensagem. Exemplo: Content-Type: application/json.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57A71-7E7A-40FD-A338-1C1A3B77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Body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5D2A1-4E2C-4F08-B870-89916BEC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Transporta os dados. No projeto, contém a pergunta do usuário.</a:t>
            </a:r>
          </a:p>
        </p:txBody>
      </p:sp>
    </p:spTree>
    <p:extLst>
      <p:ext uri="{BB962C8B-B14F-4D97-AF65-F5344CB8AC3E}">
        <p14:creationId xmlns:p14="http://schemas.microsoft.com/office/powerpoint/2010/main" val="19383216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F58AE-927B-4D1C-8DD0-80B74CC5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JSON na troca de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41A89-9F5A-4D5C-817D-19B6E32A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F5D97-D916-4013-844C-0642C64E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Formato de transporte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4B735-BBD1-4443-AEC9-7AC0ABD8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Exemplo de corpo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C13B5-9D00-412D-951B-7813E412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857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JSON representa dados em 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Usa propriedades e valores, como texto, números, listas e objetos.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CF368-1CB8-4769-8345-C465EF84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4857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{</a:t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  "pergunta": "O que é nuvem?"</a:t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A propriedade precisa corresponder ao contrato do servidor.</a:t>
            </a:r>
          </a:p>
        </p:txBody>
      </p:sp>
    </p:spTree>
    <p:extLst>
      <p:ext uri="{BB962C8B-B14F-4D97-AF65-F5344CB8AC3E}">
        <p14:creationId xmlns:p14="http://schemas.microsoft.com/office/powerpoint/2010/main" val="3202772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83B35-3916-4559-8381-DF3970DD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Objeto JavaScript e JSON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3D0CE-A29B-45E7-A1C2-C37ABC9C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5301C-D13F-4373-8FA2-AAC1B11B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A aplicação converte dados ao enviar e ao receber mensagens.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D5DD8-19B6-4C30-BAAF-47AD654E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No programa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B9AEC-31FB-42F7-A5B7-216C51F8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Um objeto permite acessar propriedades e trabalhar com os valores.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40256-7DE2-44FB-B1F1-6952DE79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No envio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0A0A6-9F3A-4DC5-B00F-067DE298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JSON.stringify converte o objeto em texto JSON.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6A65D-91BA-4BB9-871C-9AA350CC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Na resposta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CC842-50F7-4B70-98F7-8A6D5EC7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response.json() lê o corpo e interpreta o JSON de forma assíncrona.</a:t>
            </a:r>
          </a:p>
        </p:txBody>
      </p:sp>
    </p:spTree>
    <p:extLst>
      <p:ext uri="{BB962C8B-B14F-4D97-AF65-F5344CB8AC3E}">
        <p14:creationId xmlns:p14="http://schemas.microsoft.com/office/powerpoint/2010/main" val="9862069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7839D-3E26-48B1-8B03-FE92844F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API Key e variáveis de ambiente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E1004-6295-4E46-8612-A1BA10C7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C8C18-760B-4249-AD24-F76CE238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A chave identifica o projeto na API e deve permanecer confidencial.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5BE25-EA20-4392-86BA-67D09CD9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API Key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2EACF-3C8C-47C7-B127-8E3D33A7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Permite autenticar chamadas e associar o uso ao projeto.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7C4B1-131F-49C0-9D23-B532D815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Variável de ambiente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9E1A1-C59C-488F-9569-83DA2062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Separa a configuração do código. No laboratório, usamos um arquivo .env.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27D15-0B78-41B1-B94B-DCC349BB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Proteção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91DBB-4282-442A-B9BE-B388B87E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O .gitignore evita novos arquivos secretos no Git. Não remove segredos já publicados.</a:t>
            </a:r>
          </a:p>
        </p:txBody>
      </p:sp>
    </p:spTree>
    <p:extLst>
      <p:ext uri="{BB962C8B-B14F-4D97-AF65-F5344CB8AC3E}">
        <p14:creationId xmlns:p14="http://schemas.microsoft.com/office/powerpoint/2010/main" val="14960386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0E8D6-54F4-457D-B6F6-F8CEB95C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API e SDK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3A6BA-D445-43BD-A641-C3160F45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4B02F-FCEC-4BAA-9EAB-8D8F2F6C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36B3D-9697-4F8B-9AD6-E225582D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SDK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CEA8C-431C-416D-8B19-FD49B317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857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Define como acessar o serviço.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É possível fazer chamadas HTTP diretamente, conforme o contrato.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2B460-1C0B-4294-BE53-5A3D809C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4857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Oferece classes e métodos que facilitam essas chamadas.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@google/genai é o pacote utilizado no laboratório.</a:t>
            </a:r>
          </a:p>
        </p:txBody>
      </p:sp>
    </p:spTree>
    <p:extLst>
      <p:ext uri="{BB962C8B-B14F-4D97-AF65-F5344CB8AC3E}">
        <p14:creationId xmlns:p14="http://schemas.microsoft.com/office/powerpoint/2010/main" val="21164554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F2EEC-5FAE-4803-B507-599FE934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NPM, Express e dotenv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1F707-A1EC-4B21-9BEE-893BC01C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DA1A9-AC73-4266-953A-BA5887D7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Cada ferramenta resolve uma necessidade diferente da aplicação.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59909-31C0-41CF-AF05-5773A281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NPM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9F55D-C868-4B45-8960-CB0C68FA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Gerencia os pacotes e as dependências do projeto.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79989-310A-4986-A8C4-BBA78FD1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Express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8507E-118B-43B8-97D2-16048A7B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Organiza rotas HTTP e o processamento de requisições.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61AEF-2B08-48C4-8D66-D38849A7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dotenv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40C8D-DBFB-46F0-A951-C807E5B1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Carrega variáveis de um arquivo .env para o processo Node.js.</a:t>
            </a:r>
          </a:p>
        </p:txBody>
      </p:sp>
    </p:spTree>
    <p:extLst>
      <p:ext uri="{BB962C8B-B14F-4D97-AF65-F5344CB8AC3E}">
        <p14:creationId xmlns:p14="http://schemas.microsoft.com/office/powerpoint/2010/main" val="14807372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5AFAB-9019-489E-888E-29E0CD9B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Prompt, contexto e formato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7072F-270E-4819-A19B-2A883F67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3E443-BB43-4CE7-9854-72C8CF65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O prompt orienta a tarefa que o modelo deverá realizar.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63258-D5A4-4560-870F-CE85E318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Pedido genérico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5B540-157A-498A-A0EF-41F94B50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“Explique computação em nuvem.”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79557-85BD-4921-ABED-7B127E66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Pedido contextualizado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2CDEA-6DF4-4A94-8C9E-F1EE7007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“Explique para um aluno iniciante e use uma analogia.”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8B1A8-8140-4621-A83D-0CE8FC98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Formato esperado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CB386-7BDE-4AC6-B1CC-A0F20E05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“Responda em até cinco linhas e inclua um exemplo.”</a:t>
            </a:r>
          </a:p>
        </p:txBody>
      </p:sp>
    </p:spTree>
    <p:extLst>
      <p:ext uri="{BB962C8B-B14F-4D97-AF65-F5344CB8AC3E}">
        <p14:creationId xmlns:p14="http://schemas.microsoft.com/office/powerpoint/2010/main" val="11491673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E8895-F54F-486D-9157-97C90286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Tokens, contexto e limites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FB900-D2E7-46F8-8904-8630D6D3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21104-3B8B-47A5-8CE6-DA737471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Modelos processam o conteúdo em unidades chamadas tokens.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D5474-3F1C-4BBA-9722-F0BE499B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Tokens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E0ECD-62AA-4DE6-AD79-7782E3DC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Podem representar partes de palavras, palavras ou outros elementos.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52BE5-87C4-42B9-BCAD-B010EB24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Contexto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D29C6-B39D-48C7-BA6A-935E6A0E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O modelo utiliza o conteúdo disponível na requisição ou na conversa configurada.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C9B09-CACA-471E-BF6D-27F76A50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Consumo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63230-3812-4BB3-9DC7-D9820805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Entrada, saída e limites do serviço influenciam custo e disponibilidade.</a:t>
            </a:r>
          </a:p>
        </p:txBody>
      </p:sp>
    </p:spTree>
    <p:extLst>
      <p:ext uri="{BB962C8B-B14F-4D97-AF65-F5344CB8AC3E}">
        <p14:creationId xmlns:p14="http://schemas.microsoft.com/office/powerpoint/2010/main" val="2558171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98CC1-FDAD-4E78-8E9A-12E41ECD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Assincronismo e Promise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91D35-08D2-4556-871F-A0BBF634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8AB55-B63E-4079-B77F-DC24A8A8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Uma chamada de rede leva tempo e pode terminar com sucesso ou falha.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57536-CDE4-4845-BB7A-A784AF73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Promise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B4019-2A30-4C26-B2C5-2E1EB92D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Representa o resultado futuro de uma operação.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F750E-EE54-403A-B4B8-0B9E9E4B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async e await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D6895-EE04-46AA-810F-83B7AA2F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Permitem escrever o fluxo de espera de forma legível.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C8D03-8B25-4B65-B13A-24BA12CE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Durante a espera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79188-4653-4825-91FF-00EE5539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A função aguarda, enquanto o ambiente pode realizar outras tarefas.</a:t>
            </a:r>
          </a:p>
        </p:txBody>
      </p:sp>
    </p:spTree>
    <p:extLst>
      <p:ext uri="{BB962C8B-B14F-4D97-AF65-F5344CB8AC3E}">
        <p14:creationId xmlns:p14="http://schemas.microsoft.com/office/powerpoint/2010/main" val="9869531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BCF62-E511-4B1C-B510-36709E83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Fetch e resposta HTTP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BB00D-E549-46CB-8232-8BC53BC4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0F5AA-2FB0-46A1-8B28-42EC37DC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fetch inicia uma requisição e retorna uma Promise com um objeto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A5946-ADA2-474C-91F7-55FCE5B4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00B48-EFFB-4AAD-B2BF-7EAAD165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Indica o resultado HTTP recebido.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13085-194D-44C0-9993-46C76D52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Corpo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7B9A2-9B51-4A9F-8657-CE8C84BE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Contém os dados que a aplicação precisa interpretar.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294D8-D661-4338-80DF-15D15BF9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Falhas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36D9E-AA99-45F1-8D52-3010C476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Uma resposta 400 ou 500 exige verificação explícita. Não gera rejeição automaticamente.</a:t>
            </a:r>
          </a:p>
        </p:txBody>
      </p:sp>
    </p:spTree>
    <p:extLst>
      <p:ext uri="{BB962C8B-B14F-4D97-AF65-F5344CB8AC3E}">
        <p14:creationId xmlns:p14="http://schemas.microsoft.com/office/powerpoint/2010/main" val="12840429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1F060-8963-4CBB-9687-342843CA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Tratamento de erros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13D34-E2A0-4C6A-9735-78BA9631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669A9-541D-404E-A629-1BE67799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O sistema precisa prever entradas inválidas e falhas de serviços externos.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DA6FF-10A9-45F5-85E2-FCD21553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41600-D8BA-46C6-AB0C-F3B9ACB1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Executa a operação que pode falhar.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E02C4-0958-41FD-8BFD-93C8913F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catch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4500D-456F-4ADB-9769-631880D0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Trata a falha e apresenta uma mensagem adequada.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BBBF4-0EF7-4211-949B-E0440B17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finally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E29D7-9920-4911-94C9-95D65FDA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Executa a limpeza, como reativar o botão de envio.</a:t>
            </a:r>
          </a:p>
        </p:txBody>
      </p:sp>
    </p:spTree>
    <p:extLst>
      <p:ext uri="{BB962C8B-B14F-4D97-AF65-F5344CB8AC3E}">
        <p14:creationId xmlns:p14="http://schemas.microsoft.com/office/powerpoint/2010/main" val="5716056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AFC94-822D-4341-BD6D-4E1D6D83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Status HTTP na aplicação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796A5-9C01-469D-8EF9-2922F6CE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99950-7EB4-48F4-9B95-56F37DCD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Sucesso e entrada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4D197-7FCE-449A-9267-666B9E7C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Limite e servidor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046E7-6AEE-4B51-9ABE-1BA44AD8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857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200: operação concluída.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400: dados da requisição inválidos.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401 / 403: falha de autenticação ou acesso não permitido.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BE711-C3C4-40EE-922B-52F43E4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4857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429: limite de requisições atingido.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500: erro interno.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O status do Gemini pode ser tratado antes do retorno ao navegador.</a:t>
            </a:r>
          </a:p>
        </p:txBody>
      </p:sp>
    </p:spTree>
    <p:extLst>
      <p:ext uri="{BB962C8B-B14F-4D97-AF65-F5344CB8AC3E}">
        <p14:creationId xmlns:p14="http://schemas.microsoft.com/office/powerpoint/2010/main" val="21311375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E816A-56E8-48C4-9220-B893D541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Segurança e uso responsável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0C0B3-7295-43AF-894E-E4B82BE6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DDBE9-57DA-4588-8A9E-BE0225AF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Proteger a chave é apenas uma parte da proteção do sistema.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A0664-0677-4450-9DDA-45450918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Entrada e uso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F62B2-69DA-4134-98DD-078D954B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Validar os dados, limitar tamanho e controlar o volume de chamadas.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9D34C-A587-4CAA-B120-0BFBA5E9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Privacidade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9E202-675E-41BA-A437-45BAAC68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Evitar enviar dados pessoais ou confidenciais sem autorização.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A5703-2B04-4B44-8772-29F4FB0B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Qualidade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FE40D-0ACE-4837-B5A0-D7856C0D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Conferir respostas e reconhecer que o modelo pode produzir erros.</a:t>
            </a:r>
          </a:p>
        </p:txBody>
      </p:sp>
    </p:spTree>
    <p:extLst>
      <p:ext uri="{BB962C8B-B14F-4D97-AF65-F5344CB8AC3E}">
        <p14:creationId xmlns:p14="http://schemas.microsoft.com/office/powerpoint/2010/main" val="1919633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F3ACA-D69D-4194-B689-0751758D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Discussão com a turma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823BF-369B-406B-B917-4574C4C6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ABAD1-4B16-42FA-B376-0235C043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Situação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E772F-0983-4755-8654-65190483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Situação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40D6D-263B-4F6E-BA40-A6AED9B6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857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Um aluno colocou a chave no JavaScript da página.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Qual é o risco e onde ela deveria ficar?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09C9D-184B-44F5-B284-3A6A101C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4857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A aplicação recebeu status 429 e continuou enviando pedidos.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Por que isso piora o problema?</a:t>
            </a:r>
          </a:p>
        </p:txBody>
      </p:sp>
    </p:spTree>
    <p:extLst>
      <p:ext uri="{BB962C8B-B14F-4D97-AF65-F5344CB8AC3E}">
        <p14:creationId xmlns:p14="http://schemas.microsoft.com/office/powerpoint/2010/main" val="10718450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4DFE8-9E5E-4C2F-8851-D71E2702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Síntese antes do laboratório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7F8FF-0D0E-4686-B04C-3896C335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970DC-78D0-4995-8EFF-225AC16C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A aplicação conecta a interação do usuário a um serviço de IA remoto.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B365E-BB57-4278-9F6A-9A99C633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Comunicação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ECF97-41F1-4BFB-8420-D5C5BC7D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HTTP e JSON estruturam a troca de mensagens.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48C58-E9C3-46DE-B72F-6BBF7E08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Responsabilidades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935B7-AB04-4D8C-8882-7C6F8FCF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O navegador exibe. O servidor valida e protege a chave. O Gemini gera.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58384-993C-4020-B71D-6CDD9024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Confiabilidade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DE697-FBAB-4395-B5A5-15A68111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O sistema aguarda respostas, trata falhas e verifica resultados.</a:t>
            </a:r>
          </a:p>
        </p:txBody>
      </p:sp>
    </p:spTree>
    <p:extLst>
      <p:ext uri="{BB962C8B-B14F-4D97-AF65-F5344CB8AC3E}">
        <p14:creationId xmlns:p14="http://schemas.microsoft.com/office/powerpoint/2010/main" val="18297305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31DFB-FBEA-4842-8C69-5BD75F45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B3A"/>
                </a:solidFill>
                <a:latin typeface="Bitstream Charter"/>
                <a:ea typeface="Bitstream Charter"/>
                <a:cs typeface="Bitstream Charter"/>
              </a:rPr>
              <a:t>Materiais de apoio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D517F-9FB0-490B-A38E-D18965D5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46B77"/>
                </a:solidFill>
                <a:latin typeface="Bitstream Charter"/>
                <a:ea typeface="Bitstream Charter"/>
                <a:cs typeface="Bitstream Charter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801CE-705D-4E4B-9F13-0FBCC5A8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97A"/>
                </a:solidFill>
                <a:latin typeface="Bitstream Charter"/>
                <a:ea typeface="Bitstream Charter"/>
                <a:cs typeface="Bitstream Charter"/>
              </a:rPr>
              <a:t>Roteiro prático e documentação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564CF-BC44-43AB-BDEE-68B7BC06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572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Notion: aula prática da turma</a:t>
            </a:r>
          </a:p>
          <a:p xmlns:a="http://schemas.openxmlformats.org/drawingml/2006/main">
            <a:pPr>
              <a:defRPr sz="217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Google AI for Developers: documentação do Gemini</a:t>
            </a:r>
          </a:p>
          <a:p xmlns:a="http://schemas.openxmlformats.org/drawingml/2006/main">
            <a:pPr>
              <a:defRPr sz="217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Node.js Learn: fundamentos do ambiente</a:t>
            </a:r>
          </a:p>
          <a:p xmlns:a="http://schemas.openxmlformats.org/drawingml/2006/main">
            <a:pPr>
              <a:defRPr sz="217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83042"/>
                </a:solidFill>
                <a:latin typeface="Bitstream Charter"/>
                <a:ea typeface="Bitstream Charter"/>
                <a:cs typeface="Bitstream Charter"/>
              </a:rPr>
              <a:t>MDN: HTTP e Fetch API</a:t>
            </a:r>
          </a:p>
        </p:txBody>
      </p:sp>
    </p:spTree>
    <p:extLst>
      <p:ext uri="{BB962C8B-B14F-4D97-AF65-F5344CB8AC3E}">
        <p14:creationId xmlns:p14="http://schemas.microsoft.com/office/powerpoint/2010/main" val="1448322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2026-09-13T22:50:23.8360000Z</dcterms:created>
  <dcterms:modified xsi:type="dcterms:W3CDTF">2026-09-13T22:50:23.8360000Z</dcterms:modified>
</coreProperties>
</file>