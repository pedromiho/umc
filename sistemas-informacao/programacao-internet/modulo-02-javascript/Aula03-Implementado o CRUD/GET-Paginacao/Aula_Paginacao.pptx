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Evolução do GET e atualização da tabela</a:t>
            </a:r>
          </a:p>
          <a:p>
            <a:r>
              <a:t>Prof. Esp. Pedro Miho</a:t>
            </a:r>
          </a:p>
          <a:p>
            <a:endParaRPr/>
          </a:p>
          <a:p>
            <a:endParaRPr/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 primeira versão, o GET retornava todos os produtos e a tabela acrescentava uma linha para cada registro. Agora cada consulta solicita uma página ao servidor.</a:t>
            </a:r>
          </a:p>
          <a:p>
            <a:endParaRPr/>
          </a:p>
          <a:p>
            <a:r>
              <a:t>Escopo: arquivos api.js e consultasAPI.js anexados. Eles implementam paginação, mas ainda não contêm busca por nome nem preenchimento de cards.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projeto usa módulos JavaScript para separar a comunicação com a API da atualização da interface.</a:t>
            </a:r>
          </a:p>
          <a:p>
            <a:endParaRPr/>
          </a:p>
          <a:p>
            <a:r>
              <a:t>O HTML deve carregar consultasAPI.js com script type="module". O caminho ./api.js é relativo ao módulo que realiza a importação. O objeto consulta agrupa o método mostrarProdutos().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GET consulta um recurso. Os parâmetros após o ponto de interrogação informam ao servidor quais dados queremos receber.</a:t>
            </a:r>
          </a:p>
          <a:p>
            <a:endParaRPr/>
          </a:p>
          <a:p>
            <a:r>
              <a:t>Esses endereços são exemplos de URL, não instruções JavaScript. Os parâmetros _page e _per_page pertencem ao contrato do JSON Server v1, não ao padrão HTTP. Fonte: https://github.com/typicode/json-server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API seleciona quais produtos pertencem à página solicitada. O navegador recebe o resultado e cria somente as linhas dessa página.</a:t>
            </a:r>
          </a:p>
          <a:p>
            <a:endParaRPr/>
          </a:p>
          <a:p>
            <a:r>
              <a:t>As posições do exemplo não são os IDs. A ordem depende do servidor. Não há slice() nem cálculo local de páginas nos arquivos anexados. O total vem de resposta.pages. Paginação reduz os registros transmitidos por consulta, mas não garante eficiência interna do servidor.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api.js, o método passa a receber dois parâmetros com valores padrão. Os argumentos da chamada substituem esses valores quando são informados.</a:t>
            </a:r>
          </a:p>
          <a:p>
            <a:endParaRPr/>
          </a:p>
          <a:p>
            <a:r>
              <a:t>Parâmetros são os nomes na declaração. Argumentos são os valores enviados na chamada. O padrão é usado quando o argumento é omitido ou undefined. No arquivo consultasAPI.js, o valor 2 é passado explicitamente e prevalece sobre o padrão 5.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Substitua a URL fixa dentro do fetch pela URL que usa os parâmetros. As crases permitem inserir expressões com ${...}.</a:t>
            </a:r>
          </a:p>
          <a:p>
            <a:endParaRPr/>
          </a:p>
          <a:p>
            <a:r>
              <a:t>Este é o trecho do api.js anexado. As quebras de linha ficam fora da string. Aspas simples ou duplas não fazem a interpolação de ${...}. fetch usa GET por padrão.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resposta da rede chega depois que a requisição começa. Uma Promise representa um resultado futuro. await suspende a continuação da função assíncrona até esse resultado ficar disponível.</a:t>
            </a:r>
          </a:p>
          <a:p>
            <a:endParaRPr/>
          </a:p>
          <a:p>
            <a:r>
              <a:t>Trecho conceitual: url representa a URL montada no slide anterior. await não bloqueia toda a página. As duas operações são assíncronas. return entrega o resultado a quem chamou buscarProdutos(). Fonte: https://developer.mozilla.org/en-US/docs/Web/API/Fetch_API/Using_Fetch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Antes, o retorno sem paginação era um array. Com a paginação do JSON Server v1, o retorno é um objeto que contém os produtos e os dados de navegação.</a:t>
            </a:r>
          </a:p>
          <a:p>
            <a:endParaRPr/>
          </a:p>
          <a:p>
            <a:r>
              <a:t>Exemplo didático com campos e produtos abreviados. pages é o total de páginas, items é o total de registros e data é o array da página. Há outros campos na resposta. Fonte: https://github.com/typicode/json-server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início de consultasAPI.js, declare a página exibida e a quantidade de produtos solicitada por página. Esse estado é compartilhado pelo método e pelos eventos.</a:t>
            </a:r>
          </a:p>
          <a:p>
            <a:endParaRPr/>
          </a:p>
          <a:p>
            <a:r>
              <a:t>Estado é a informação que a aplicação mantém entre as interações. paginaAtual representa a última página carregada com sucesso. const impede reatribuição da variável, não torna objetos imutáveis.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DOM representa os elementos da página como objetos. querySelector() encontra o primeiro elemento que corresponde ao seletor CSS informado.</a:t>
            </a:r>
          </a:p>
          <a:p>
            <a:endParaRPr/>
          </a:p>
          <a:p>
            <a:r>
              <a:t>Se o seletor não encontra um elemento, o retorno é null. Acessar .disabled, .style ou .textContent em null provoca TypeError. Confira os IDs e carregue o script como módulo, como no material de referência.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IDs conectam os botões ao JavaScript. A propriedade disabled impede o uso das setas até a primeira consulta terminar.</a:t>
            </a:r>
          </a:p>
          <a:p>
            <a:endParaRPr/>
          </a:p>
          <a:p>
            <a:r>
              <a:t>Exemplo de HTML compatível com os seletores do arquivo. Preserve as divs e classes existentes. O botão central funciona apenas como indicador. aria-label fornece um nome acessível às setas. type=button evita submissão de formulário.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mostrarProdutos() recebe a página que será consultada. O valor padrão permite recarregar a página atual quando nenhum argumento é enviado.</a:t>
            </a:r>
          </a:p>
          <a:p>
            <a:endParaRPr/>
          </a:p>
          <a:p>
            <a:r>
              <a:t>A separação evita alterar o número exibido antes de saber se o carregamento deu certo. A declaração do método fica dentro do objeto consulta.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do try, guarde se cada botão estava bloqueado. Em seguida, bloqueie ambos para impedir novos cliques enquanto a requisição está pendente.</a:t>
            </a:r>
          </a:p>
          <a:p>
            <a:endParaRPr/>
          </a:p>
          <a:p>
            <a:r>
              <a:t>disabled contém um booleano: true ou false. Guardar uma cópia do valor permite restaurá-lo no catch. Bloquear as setas evita novos cliques normais, mas não impede outra parte do código de chamar mostrarProdutos() diretamente.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Dentro do try, envie a página desejada e a quantidade de produtos ao api.js. Depois passe somente o array data para listarProdutos().</a:t>
            </a:r>
          </a:p>
          <a:p>
            <a:endParaRPr/>
          </a:p>
          <a:p>
            <a:r>
              <a:t>Passar resposta inteira para listarProdutos causaria erro em forEach, porque a resposta paginada é um objeto. A notação com ponto acessa a propriedade data. O forEach continua recebendo um array.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Após listar os produtos, registre a página confirmada e atualize o texto do indicador. Esse trecho fica depois de listarProdutos(), dentro do try.</a:t>
            </a:r>
          </a:p>
          <a:p>
            <a:endParaRPr/>
          </a:p>
          <a:p>
            <a:r>
              <a:t>textContent altera o texto do elemento. A garantia vale para falhas de requisição antes da renderização. listarProdutos modifica o DOM progressivamente, portanto não existe rollback completo caso ocorra erro no meio da criação das linhas.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Após o sucesso, cada comparação produz um booleano que define se o botão deve ficar desabilitado.</a:t>
            </a:r>
          </a:p>
          <a:p>
            <a:endParaRPr/>
          </a:p>
          <a:p>
            <a:r>
              <a:t>=== compara valor e tipo. &gt;= significa maior ou igual. Atribuição usa =, comparação usa ===. resposta.pages é fornecido pelo servidor. Em uma resposta vazia, confira o comportamento do total de páginas da versão instalada.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addEventListener() registra uma função que será executada quando ocorrer o clique. Cada seta calcula a página desejada e chama novamente o método de consulta.</a:t>
            </a:r>
          </a:p>
          <a:p>
            <a:endParaRPr/>
          </a:p>
          <a:p>
            <a:r>
              <a:t>() =&gt; { ... } é uma função de callback, executada no evento. O cálculo +1 ou -1 não altera paginaAtual neste ponto. A alteração só acontece dentro de mostrarProdutos(), após o resultado. O evento inicia o GET, a resposta permite atualizar a tabela.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api.js, catch exibe o aviso e throw repassa o erro. Em consultasAPI.js, o catch restaura os controles e registra o erro para investigação.</a:t>
            </a:r>
          </a:p>
          <a:p>
            <a:endParaRPr/>
          </a:p>
          <a:p>
            <a:r>
              <a:t>try executa o trecho que pode falhar. catch recebe a exceção ou rejeição aguardada. Sem throw no api.js, o método poderia terminar com undefined e o chamador falharia ao acessar data. Se a primeira consulta falhar e ambos estavam bloqueados, será necessário recarregar ou ter um controle de tentar novamente.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Ponto de melhoria: o api.js anexado não verifica response.ok. fetch pode receber uma resposta HTTP 404 ou 500 sem rejeitar a Promise automaticamente.</a:t>
            </a:r>
          </a:p>
          <a:p>
            <a:endParaRPr/>
          </a:p>
          <a:p>
            <a:r>
              <a:t>Este bloco é uma melhoria sugerida, ainda não presente nos arquivos enviados. Não apresentar como alteração já realizada. Fonte: https://developer.mozilla.org/en-US/docs/Web/API/Fetch_API/Using_Fetch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função existente continua controlando a célula #verificaProduto. Agora listarProdutos() chama essa função usando o array da página recebida.</a:t>
            </a:r>
          </a:p>
          <a:p>
            <a:endParaRPr/>
          </a:p>
          <a:p>
            <a:r>
              <a:t>Trecho interno de verificarProdutosCadastrados(produtos). A variável passou de let para const porque não recebe outra atribuição. length conta os registros recebidos, não unidades em estoque. Uma página sem itens não prova isoladamente que todo o banco está vazio.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célula de aviso precisa permanecer na tabela. Limpar o conteúdo inteiro do tbody também apagaria o elemento usado por verificarProdutosCadastrados().</a:t>
            </a:r>
          </a:p>
          <a:p>
            <a:endParaRPr/>
          </a:p>
          <a:p>
            <a:r>
              <a:t>Exemplo de estrutura esperada. Não marque essa linha com a classe linha-produto. innerHTML = "" apagaria a célula e querySelector retornaria null na consulta seguinte, causando erro ao acessar style.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início de listarProdutos(), selecione somente as linhas que representam produtos e remova cada uma. A linha da mensagem permanece no DOM.</a:t>
            </a:r>
          </a:p>
          <a:p>
            <a:endParaRPr/>
          </a:p>
          <a:p>
            <a:r>
              <a:t>querySelectorAll devolve uma NodeList estática com todos os elementos correspondentes. O ponto no seletor indica uma classe CSS. forEach executa o callback para cada linha. remove retira a linha do DOM, sem excluir registros da API. Sem referências que os mantenham acessíveis, os nós removidos podem ter memória liberada pelo navegador.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Dentro do forEach, adicione a classe linha-produto a cada tr criado. Essa marca permite localizar a linha na próxima atualização.</a:t>
            </a:r>
          </a:p>
          <a:p>
            <a:endParaRPr/>
          </a:p>
          <a:p>
            <a:r>
              <a:t>Este é um esqueleto do trecho. Mantenha as seis células e os botões do código original dentro do forEach. classList.add recebe o nome sem ponto. A classe serve como identificador e não precisa ter regra de estilo no CSS.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preenchimento das células continua com a mesma lógica da primeira aula. A mudança está em quais produtos chegam à função e na substituição das linhas antigas.</a:t>
            </a:r>
          </a:p>
          <a:p>
            <a:endParaRPr/>
          </a:p>
          <a:p>
            <a:r>
              <a:t>Exemplo abreviado de operações existentes, não deve substituir o bloco completo. preco precisa ser numérico para toFixed(). Ele devolve uma string com duas casas decimais. O if do status testa estoque &gt; 0, independentemente do número de cadastros.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botões Editar e Excluir receberam type = "button". A chamada inicial fica uma única vez no final do arquivo.</a:t>
            </a:r>
          </a:p>
          <a:p>
            <a:endParaRPr/>
          </a:p>
          <a:p>
            <a:r>
              <a:t>As funções editarProduto e excluirProduto são referenciadas, mas não estão definidas nos anexos. Precisam existir ou ser importadas para as ações funcionarem. A versão inicial colada pelo professor já tinha uma chamada única: duplicação ocorreu numa versão intermediária, não deve ser descrita como diferença do código inicial fornecido.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Considere a página 1 já carregada. O usuário clica em Próxima para consultar a página 2.</a:t>
            </a:r>
          </a:p>
          <a:p>
            <a:endParaRPr/>
          </a:p>
          <a:p>
            <a:r>
              <a:t>Peça ao aluno localizar cada etapa nos dois arquivos. Se o GET falhar, as etapas de confirmação não ocorrem e catch restaura os estados guardados.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cinco produtos de exemplo e produtosPorPagina = 2. Abra as ferramentas do navegador e acompanhe as requisições na aba Network ou Rede.</a:t>
            </a:r>
          </a:p>
          <a:p>
            <a:endParaRPr/>
          </a:p>
          <a:p>
            <a:r>
              <a:t>Teste também zero produtos, um produto e um total divisível por dois. Para testar falha após uma consulta válida, pare o servidor e tente avançar. A página confirmada e os estados anteriores dos botões devem permanecer. Não altere o banco real para testar vazio sem preservar seus dados.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implementação atende à navegação pelas setas. Algumas situações ainda exigem tratamento adicional ou funcionalidades que serão implementadas depois.</a:t>
            </a:r>
          </a:p>
          <a:p>
            <a:endParaRPr/>
          </a:p>
          <a:p>
            <a:r>
              <a:t>Esses são limites da versão enviada, não funcionalidades já implementadas. O bloqueio dos botões resolve cliques enquanto o GET está pendente, mas não equivale a um bloqueio geral de requisições. Evite ampliar a implementação durante a explicação das mudanças atuais.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o caminho de uma requisição e relacione cada conceito com uma linha do código. Depois altere a quantidade de produtos por página para 3 e teste os limites.</a:t>
            </a:r>
          </a:p>
          <a:p>
            <a:endParaRPr/>
          </a:p>
          <a:p>
            <a:r>
              <a:t>Respostas: data é o array dentro do objeto paginado. A confirmação tardia mantém a página anterior em uma falha de requisição. innerHTML apagaria a célula de aviso. _page escolhe a página e _per_page define seu tamanho. throw propaga a falha para o catch do chamador. Com cinco produtos e três por página, ficam duas páginas com três e dois itens.</a:t>
            </a:r>
          </a:p>
          <a:p>
            <a:endParaRPr/>
          </a:p>
          <a:p>
            <a:r>
              <a:t>Base: códigos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60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/>
                <a:ea typeface="Times New Roman"/>
                <a:cs typeface="Times New Roma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/>
                <a:ea typeface="Times New Roman"/>
                <a:cs typeface="Times New Roman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/>
                <a:ea typeface="Times New Roman"/>
                <a:cs typeface="Times New Roman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/>
                <a:ea typeface="Times New Roman"/>
                <a:cs typeface="Times New Roman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29/09/2026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29/09/2026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/>
                <a:ea typeface="Times New Roman"/>
                <a:cs typeface="Times New Roman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/>
                <a:ea typeface="Times New Roman"/>
                <a:cs typeface="Times New Roman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/>
                <a:ea typeface="Times New Roman"/>
                <a:cs typeface="Times New Roman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/>
                <a:ea typeface="Times New Roman"/>
                <a:cs typeface="Times New Roman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/>
                <a:ea typeface="Times New Roman"/>
                <a:cs typeface="Times New Roman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/>
                <a:ea typeface="Times New Roman"/>
                <a:cs typeface="Times New Roman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29/09/2026</a:t>
            </a:fld>
            <a:endParaRPr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29/09/2026</a:t>
            </a:fld>
            <a:endParaRPr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29/09/2026</a:t>
            </a:fld>
            <a:endParaRPr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29/09/2026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/>
                <a:ea typeface="Times New Roman"/>
                <a:cs typeface="Times New Roman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/>
                <a:ea typeface="Times New Roman"/>
                <a:cs typeface="Times New Roman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/>
                <a:ea typeface="Times New Roman"/>
                <a:cs typeface="Times New Roman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/>
                <a:ea typeface="Times New Roman"/>
                <a:cs typeface="Times New Roman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Editar estilos de texto Mestre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t>29/09/2026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t>‹nº›</a:t>
            </a:fld>
            <a:endParaRPr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ln>
            <a:solidFill>
              <a:srgbClr val="292A86"/>
            </a:solidFill>
          </a:ln>
        </p:spPr>
      </p:pic>
      <p:pic>
        <p:nvPicPr>
          <p:cNvPr id="5" name="Imagem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</p:spPr>
      </p:pic>
      <p:pic>
        <p:nvPicPr>
          <p:cNvPr id="6" name="Imagem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38CB428-369A-EF61-CF72-17263C5B17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Paginação de produtos na API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FBF9BB7-B214-0B44-4DA0-F2D2F6C09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7188"/>
            <a:ext cx="9144000" cy="1655762"/>
          </a:xfrm>
        </p:spPr>
        <p:txBody>
          <a:bodyPr/>
          <a:lstStyle/>
          <a:p>
            <a:pPr>
              <a:defRPr sz="22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pt-BR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Evolução do GET e atualização da tabela</a:t>
            </a:r>
          </a:p>
          <a:p>
            <a:pPr>
              <a:defRPr sz="22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pt-BR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Prof. Esp. Pedro Miho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C8B817C-CC8B-42D4-A33D-6A2CF6718098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5F690D1-07B0-4CFA-BEC7-1ED4D5AC2FB9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pt-BR"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 primeira versão, o GET retornava todos os produtos e a tabela acrescentava uma linha para cada registro. Agora cada consulta solicita uma página ao servidor.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59BE276-FCB1-4CAF-81FA-5A8B6CF4ECDC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0763250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api.js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passou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receber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tamanho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consultasAPI.js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passou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controlar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navegação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listagem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remove as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anteriores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preserva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mensagem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interface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confirma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somente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após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receber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dados.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FFA5C6E-DA54-02F1-FFEB-53F27F94F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871225"/>
            <a:ext cx="9409981" cy="448573"/>
          </a:xfrm>
        </p:spPr>
        <p:txBody>
          <a:bodyPr/>
          <a:lstStyle/>
          <a:p>
            <a:r>
              <a:rPr lang="pt-BR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O que mudou no projeto</a:t>
            </a:r>
            <a:br>
              <a:rPr lang="pt-BR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6684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8C56FB5-B941-4988-A509-128C5E0CEFE4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lang="pt-BR"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Responsabilidade de cada arquivo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150B288-7D50-4227-886E-34B1DE3BFBD6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projeto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módulos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JavaScript para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separar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comunicação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com a API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atualização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 interface.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D4F2848-E461-46A5-8895-EE1266538C16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1508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// api.js disponibiliza o objeto com as requisições.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export default api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// consultasAPI.js utiliza esse objeto.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import api from "./api.js"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5D73464-2005-4FF6-83C6-5AC7E362900F}"/>
              </a:ext>
            </a:extLst>
          </p:cNvPr>
          <p:cNvSpPr>
            <a:spLocks noGrp="1"/>
          </p:cNvSpPr>
          <p:nvPr/>
        </p:nvSpPr>
        <p:spPr>
          <a:xfrm>
            <a:off x="685800" y="4756785"/>
            <a:ext cx="10763250" cy="176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api.js: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envia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GET e devolve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dados.</a:t>
            </a:r>
          </a:p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consultasAPI.js: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controla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botões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tabela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7980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BD96F73-3D14-4E68-8F31-45330F7460F8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GET 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parâmetros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de consulta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E00E3F8-F6ED-4DC4-9A2D-319648EC4BC3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GET consulta um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recurso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parâmetros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após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interrogação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informam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servidor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quais dados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queremos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receber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D420598-CEA5-42CF-B89D-0260AFA06B39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1508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// Antes: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solicita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a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lista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completa.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http://localhost:3000/produtos</a:t>
            </a:r>
          </a:p>
          <a:p>
            <a:endParaRPr sz="1800" dirty="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//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Depois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solicita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a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segunda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página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.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http://localhost:3000/produtos?_page=</a:t>
            </a:r>
            <a:r>
              <a:rPr lang="pt-BR"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&amp;_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per_page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=</a:t>
            </a:r>
            <a:r>
              <a:rPr lang="pt-BR"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1</a:t>
            </a:r>
            <a:endParaRPr sz="1800" dirty="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8FFB325-623F-44DF-B65A-665F74635E1D}"/>
              </a:ext>
            </a:extLst>
          </p:cNvPr>
          <p:cNvSpPr>
            <a:spLocks noGrp="1"/>
          </p:cNvSpPr>
          <p:nvPr/>
        </p:nvSpPr>
        <p:spPr>
          <a:xfrm>
            <a:off x="685800" y="4756785"/>
            <a:ext cx="10763250" cy="176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?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inicia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parâmetros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O &amp;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separa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parâmetros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/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continua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sendo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recurso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consultado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025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AB19299-880B-4FFA-A746-D07DB3B33BC9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Paginação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no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servidor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94749A9-5F49-4B96-8DD1-A889A365E5F7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API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seleciona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quais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pertencem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à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solicitada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navegador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resultado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cria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somente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dessa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ED748DE-6CEC-4D38-A702-A8E477C41CAB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0763250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Exemplo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didático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5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com 2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 1: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posições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1 e 2.</a:t>
            </a:r>
          </a:p>
          <a:p>
            <a:pPr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 2: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posições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3 e 4.</a:t>
            </a:r>
          </a:p>
          <a:p>
            <a:pPr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 3: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posição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5.</a:t>
            </a:r>
          </a:p>
          <a:p>
            <a:pPr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Cada clique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seta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provoca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um novo GET.</a:t>
            </a:r>
          </a:p>
        </p:txBody>
      </p:sp>
    </p:spTree>
    <p:extLst>
      <p:ext uri="{BB962C8B-B14F-4D97-AF65-F5344CB8AC3E}">
        <p14:creationId xmlns:p14="http://schemas.microsoft.com/office/powerpoint/2010/main" val="338878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9AF39EF-F5DD-4695-A022-5B152D4635DF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1.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Parâmetros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em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buscarProdutos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F42464E-77B0-42F7-AFAD-276683DBDD8C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 api.js,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método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passa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receber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dois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parâmetros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valores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padrão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argumentos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chamada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substituem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esses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valores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quando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informados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022193E-6223-4B44-8068-FE6CB11273B2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178765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async buscarProdutos(pagina = 1, produtosPorPagina = 5) {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// Requisição com os valores recebidos.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api.buscarProdutos()      // página 1, até 5 produtos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api.buscarProdutos(3, 2)  // página 3, até 2 produtos</a:t>
            </a:r>
          </a:p>
        </p:txBody>
      </p:sp>
    </p:spTree>
    <p:extLst>
      <p:ext uri="{BB962C8B-B14F-4D97-AF65-F5344CB8AC3E}">
        <p14:creationId xmlns:p14="http://schemas.microsoft.com/office/powerpoint/2010/main" val="1383363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C42C5F5-64B8-40F2-BAF9-1961A21FDC06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URL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dinâmica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com template literal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39D6574-6C16-41E1-8C3C-35AEF923380B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Substitua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URL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fixa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dentro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do fetch pela URL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parâmetros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As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crases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permitem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inserir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expressões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com ${...}.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EFF7849-077B-4AB6-9C3E-047295F5B63A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88125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response = await fetch(</a:t>
            </a:r>
          </a:p>
          <a:p>
            <a:pPr>
              <a:defRPr sz="165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`http://localhost:3000/produtos?_page=${pagina}&amp;_per_page=${produtosPorPagina}`</a:t>
            </a:r>
          </a:p>
          <a:p>
            <a:pPr>
              <a:defRPr sz="165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65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CCD5C7E-7052-4F33-9E65-1C028E36527B}"/>
              </a:ext>
            </a:extLst>
          </p:cNvPr>
          <p:cNvSpPr>
            <a:spLocks noGrp="1"/>
          </p:cNvSpPr>
          <p:nvPr/>
        </p:nvSpPr>
        <p:spPr>
          <a:xfrm>
            <a:off x="685800" y="4129278"/>
            <a:ext cx="10763250" cy="239534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= 3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produtosPorPagina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= 2:</a:t>
            </a:r>
          </a:p>
          <a:p>
            <a:pPr algn="just"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http://localhost:3000/produtos?_page=3&amp;_per_page=2</a:t>
            </a:r>
          </a:p>
        </p:txBody>
      </p:sp>
    </p:spTree>
    <p:extLst>
      <p:ext uri="{BB962C8B-B14F-4D97-AF65-F5344CB8AC3E}">
        <p14:creationId xmlns:p14="http://schemas.microsoft.com/office/powerpoint/2010/main" val="245516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B81F6B5-38B3-4101-8CE5-E15197AB126B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Promise, async e await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8F58329-2D6C-4E50-B055-E6E8ADF39781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resposta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 rede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chega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depois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requisição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começa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Uma Promise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representa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resultado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futuro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await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suspende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continuação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função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assíncrona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até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esse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resultado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ficar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disponível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4281D1D-53B1-4245-B4C0-083C75CC1CF3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67208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response = await fetch(url)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return await response.json()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68DE0EA-A03B-439F-B090-89805F7AD859}"/>
              </a:ext>
            </a:extLst>
          </p:cNvPr>
          <p:cNvSpPr>
            <a:spLocks noGrp="1"/>
          </p:cNvSpPr>
          <p:nvPr/>
        </p:nvSpPr>
        <p:spPr>
          <a:xfrm>
            <a:off x="685800" y="3920109"/>
            <a:ext cx="10763250" cy="260451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fetch()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entrega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Response.</a:t>
            </a:r>
          </a:p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response.json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()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lê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corpo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converte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JSON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dados JavaScript.</a:t>
            </a:r>
          </a:p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async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faz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método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retornar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Promise.</a:t>
            </a:r>
          </a:p>
        </p:txBody>
      </p:sp>
    </p:spTree>
    <p:extLst>
      <p:ext uri="{BB962C8B-B14F-4D97-AF65-F5344CB8AC3E}">
        <p14:creationId xmlns:p14="http://schemas.microsoft.com/office/powerpoint/2010/main" val="184329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7104150-ED81-412E-8A88-5353E220AB86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Array 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objeto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na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resposta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81418E7-3F3B-4C6D-BFC6-BFB2935CB4BE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Antes,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retorno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paginação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era um array. Com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paginação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do JSON Server v1,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retorno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é um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contém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dados 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navegação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7468796-6C61-4626-BCDF-F5734E529DAA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262432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// Exemplo reduzido de resposta paginada: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"pages": 3,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"items": 5,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"data": [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    { "id": "1", "nome": "Mouse" },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    { "id": "2", "nome": "Teclado" }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]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600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11251AB-DC9A-4FDE-9083-7501F79A62D0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2. Estado da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paginação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E4288EC-B0C6-46B0-997F-C875C3C62FF3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início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consultasAPI.js, declare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exibida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quantidade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solicitada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Esse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estado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é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compartilhado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pelo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método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pelos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eventos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0B52EEB-D70C-4624-BDA6-722570A1D41C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67208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let paginaAtual = 1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produtosPorPagina = 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4BBA8E6-9065-44E8-BCD2-BABE1ABEE929}"/>
              </a:ext>
            </a:extLst>
          </p:cNvPr>
          <p:cNvSpPr>
            <a:spLocks noGrp="1"/>
          </p:cNvSpPr>
          <p:nvPr/>
        </p:nvSpPr>
        <p:spPr>
          <a:xfrm>
            <a:off x="685800" y="3920109"/>
            <a:ext cx="10763250" cy="260451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let: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permite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atribuir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outro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número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à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atual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const: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mantém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tamanho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durante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execução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chamada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passa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2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api.js,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mesmo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padrão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5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naquele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arquivo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119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1440A65-83FF-4A1A-ABF4-1244A6C3B371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Seleção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dos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elementos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do DOM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FA9D04A-B226-474C-9190-71C9D9A12091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 DOM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representa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elementos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objetos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querySelector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()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encontra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primeiro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elemento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corresponde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seletor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CSS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informado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9D8B08A-855F-41A4-B8E5-CB0C46E94AEC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95097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botaoAnterior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document.querySelector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("#anterior")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botaoProxima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document.querySelector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("#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proxima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")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numeroPagina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document.querySelector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("#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paginaAtual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")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95519A7-BCF1-49B1-9E5E-AC61785FDB1B}"/>
              </a:ext>
            </a:extLst>
          </p:cNvPr>
          <p:cNvSpPr>
            <a:spLocks noGrp="1"/>
          </p:cNvSpPr>
          <p:nvPr/>
        </p:nvSpPr>
        <p:spPr>
          <a:xfrm>
            <a:off x="685800" y="4199001"/>
            <a:ext cx="10763250" cy="232562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#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identifica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um id no HTML.</a:t>
            </a:r>
          </a:p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variáveis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guardam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referências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elementos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encontrados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7339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08029C7-85DE-48CE-9B74-C694F3C907EA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IDs 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botões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no HTML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AA7A46-0050-49DB-9547-72246A3A6970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IDs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conectam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botões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JavaScript.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propriedade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disabled impede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setas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até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primeira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consulta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terminar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07DDB73-6ED6-4963-B4D3-6C5D77E08AA4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356000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&lt;button id="anterior" type="button" disabled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    aria-label="Página anterior"&gt;←</a:t>
            </a:r>
            <a:endParaRPr lang="pt-BR" sz="1800" dirty="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&lt;/button&gt;</a:t>
            </a:r>
          </a:p>
          <a:p>
            <a:endParaRPr sz="1800" dirty="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&lt;button id="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paginaAtual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" type="button" disabled&gt;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1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&lt;/button&gt;</a:t>
            </a:r>
          </a:p>
          <a:p>
            <a:endParaRPr sz="1800" dirty="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&lt;button id="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proxima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" type="button" disabled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    aria-label="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Próxima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dirty="0" err="1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página</a:t>
            </a: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"&gt;→</a:t>
            </a:r>
            <a:endParaRPr lang="pt-BR" sz="1800" dirty="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 dirty="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1613705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52A84D5-FB6E-40D8-B1D9-0FFFE7DAE7BA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3. Página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atual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página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desejada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A937CC-892A-44BC-8E98-58D8BA9D8242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mostrarProdutos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()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será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consultada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O valor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padrão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permite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recarregar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atual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quando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nenhum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argumento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é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enviado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50E3665-ED65-4104-915D-2072CD31BDCE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178765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async mostrarProdutos(paginaDesejada = paginaAtual) {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// Consulta e atualização da interface.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consulta.mostrarProdutos()   // consulta a página atual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consulta.mostrarProdutos(2)  // solicita a página 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B833F4D-5332-465B-8672-BD642C74A2F1}"/>
              </a:ext>
            </a:extLst>
          </p:cNvPr>
          <p:cNvSpPr>
            <a:spLocks noGrp="1"/>
          </p:cNvSpPr>
          <p:nvPr/>
        </p:nvSpPr>
        <p:spPr>
          <a:xfrm>
            <a:off x="685800" y="5035677"/>
            <a:ext cx="10763250" cy="148894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paginaDesejada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destino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requisição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paginaAtual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confirmada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após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carregar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tabela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653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1405670-8EC8-44EB-9C52-6FC9B97692E3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Estado dos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botões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durante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o GET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84937F9-088C-4B3E-89E9-BBD028DF4C8C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Antes do try,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guarde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se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botão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estava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bloqueado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Em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seguida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bloqueie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ambos para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impedir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novos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cliques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enquanto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requisição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está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pendente.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D4B34B4-9466-40F4-98DE-85F7D1FA471C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1508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anteriorEstavaDesabilitado = botaoAnterior.disabled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proximaEstavaDesabilitada = botaoProxima.disabled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botaoAnterior.disabled = true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botaoProxima.disabled = true</a:t>
            </a:r>
          </a:p>
        </p:txBody>
      </p:sp>
    </p:spTree>
    <p:extLst>
      <p:ext uri="{BB962C8B-B14F-4D97-AF65-F5344CB8AC3E}">
        <p14:creationId xmlns:p14="http://schemas.microsoft.com/office/powerpoint/2010/main" val="2115184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B4C7747-57C3-41B1-9355-24DD5983456D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Envio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da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página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leitura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de data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A5551DD-D60B-483C-89E4-110F7C67710D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Dentro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do try,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envie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desejada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quantidade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api.js.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Depois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passe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somente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array data para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listarProdutos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().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75DD4F4-DBA8-4A22-BE6F-C6044E5E0CCF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178765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resposta = await api.buscarProdutos(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paginaDesejada,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produtosPorPagina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listarProdutos(resposta.data)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9664416-3E51-4A0D-8097-CDEB6A55CEAA}"/>
              </a:ext>
            </a:extLst>
          </p:cNvPr>
          <p:cNvSpPr>
            <a:spLocks noGrp="1"/>
          </p:cNvSpPr>
          <p:nvPr/>
        </p:nvSpPr>
        <p:spPr>
          <a:xfrm>
            <a:off x="685800" y="5035677"/>
            <a:ext cx="10763250" cy="148894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Antes: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listarProdutos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Agora: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listarProdutos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resposta.data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00640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934717A-B30A-4466-967E-68D8AB590440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Confirmação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da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página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exibida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4EBCA30-F724-4A39-85AE-76E8BF71D2D8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Após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listar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registre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confirmada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atualize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texto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indicador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Esse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trecho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depois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listarProdutos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(),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dentro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do try.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61A3C9-2A6F-43A6-9F71-DCBD03687787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67208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paginaAtual = paginaDesejada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numeroPagina.textContent = paginaAtual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34C1CCB-1C48-4935-AFC5-E51B0E059F5A}"/>
              </a:ext>
            </a:extLst>
          </p:cNvPr>
          <p:cNvSpPr>
            <a:spLocks noGrp="1"/>
          </p:cNvSpPr>
          <p:nvPr/>
        </p:nvSpPr>
        <p:spPr>
          <a:xfrm>
            <a:off x="685800" y="3920109"/>
            <a:ext cx="10763250" cy="260451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 o GET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2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falhar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paginaAtual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permanece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1.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carregamento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terminar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indicador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passa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mostrar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2.</a:t>
            </a:r>
          </a:p>
        </p:txBody>
      </p:sp>
    </p:spTree>
    <p:extLst>
      <p:ext uri="{BB962C8B-B14F-4D97-AF65-F5344CB8AC3E}">
        <p14:creationId xmlns:p14="http://schemas.microsoft.com/office/powerpoint/2010/main" val="2353324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C9DA01C-E895-42D2-8AA1-BE15CDDCDB90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Limites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da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navegação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D7B90F9-8849-44CE-9B39-8842C128A9FD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Após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sucesso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comparação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produz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booleano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define se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botão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deve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ficar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desabilitado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3FDE693-0C4B-47CC-905A-2C6B372DA799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67208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botaoAnterior.disabled = paginaAtual === 1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botaoProxima.disabled = paginaAtual &gt;= resposta.pages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4B7017-FE0F-431B-B96C-2E450F9DD406}"/>
              </a:ext>
            </a:extLst>
          </p:cNvPr>
          <p:cNvSpPr>
            <a:spLocks noGrp="1"/>
          </p:cNvSpPr>
          <p:nvPr/>
        </p:nvSpPr>
        <p:spPr>
          <a:xfrm>
            <a:off x="685800" y="3920109"/>
            <a:ext cx="10763250" cy="260451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primeira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Anterior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bloqueado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última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Próxima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bloqueado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única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ambos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ficam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bloqueados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966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82F90CE-715B-43D5-A0ED-4CF42D35CA23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4.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Eventos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dos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botões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A2244CB-C431-45AD-8227-2948E72ECF56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addEventListener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()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registra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função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será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executada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quando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ocorrer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clique. Cada seta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calcula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desejada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chama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novamente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método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consulta.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05055C5-811B-4ECC-8EBB-9473E27FD7A1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206654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botaoAnterior.addEventListener("click", () =&gt; {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consulta.mostrarProdutos(paginaAtual - 1)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})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botaoProxima.addEventListener("click", () =&gt; {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consulta.mostrarProdutos(paginaAtual + 1)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827656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E15A6E3-4E20-48C0-B04A-89F2C060B52D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Tratamento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erros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nas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duas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camadas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A863C12-1E19-4945-A244-39938A0F7A01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 api.js, catch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exibe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aviso e throw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repassa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erro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Em consultasAPI.js, o catch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restaura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controles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registra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erro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para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investigação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EF248CF-C75A-4429-BC71-FFAF1F9D4E75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234543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// catch do api.js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alert("Erro ao buscar produtos")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throw error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// catch de mostrarProdutos()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botaoAnterior.disabled = anteriorEstavaDesabilitado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botaoProxima.disabled = proximaEstavaDesabilitada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console.error(error)</a:t>
            </a:r>
          </a:p>
        </p:txBody>
      </p:sp>
    </p:spTree>
    <p:extLst>
      <p:ext uri="{BB962C8B-B14F-4D97-AF65-F5344CB8AC3E}">
        <p14:creationId xmlns:p14="http://schemas.microsoft.com/office/powerpoint/2010/main" val="355905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799F3A1-23AF-4ED5-8B45-422F3F6ACB1F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Erro de rede 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erro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HTTP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D82C07-3F44-445A-9646-33586F9D7402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Ponto 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melhoria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o api.js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anexado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verifica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response.ok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fetch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pode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receber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resposta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HTTP 404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ou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500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rejeitar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Promise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automaticamente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AC7551C-2093-491A-94AA-1095E5F36731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178765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// Melhoria sugerida, após fetch e antes de response.json():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if (!response.ok) {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throw new Error("Erro HTTP: " + response.status)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return await response.json()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67DC34E-2D67-4454-906E-C814D50403D0}"/>
              </a:ext>
            </a:extLst>
          </p:cNvPr>
          <p:cNvSpPr>
            <a:spLocks noGrp="1"/>
          </p:cNvSpPr>
          <p:nvPr/>
        </p:nvSpPr>
        <p:spPr>
          <a:xfrm>
            <a:off x="685800" y="5035677"/>
            <a:ext cx="10763250" cy="148894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response.ok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é true para status entre 200 e 299.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throw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faz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erro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seguir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para o catch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existente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2506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029C08F-E750-4042-8ECE-3EB12062C3F9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5.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Mensagem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lista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vazia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070BDA5-5E62-4132-9C83-9040FAA60B09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função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existente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continua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controlando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célula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#verificaProduto. Agora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listarProdutos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() chama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essa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função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usando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array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recebida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34945A4-83DD-4273-B381-D16F067DE985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234543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produtosCadastrados = produtos.length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mensagem = document.querySelector("#verificaProduto")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if (produtosCadastrados &gt; 0) {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mensagem.style.display = "none"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} else {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mensagem.style.display = "table-cell"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5313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D62B8FC-BA3F-4257-954E-9FF367DB9207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Preservação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da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mensagem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no HTML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B5090E9-0432-45BB-B1B1-6637D48C6BB9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célula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aviso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precisa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permanecer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tabela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Limpar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conteúdo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inteiro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tbody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também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apagaria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elemento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verificarProdutosCadastrados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().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D48D129-9F2E-4881-8196-4FCCD36B61CC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206654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&lt;tbody id="mostrarProdutos"&gt;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&lt;tr&gt;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    &lt;td id="verificaProduto" colspan="6"&gt;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        Nenhum produto encontrado.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    &lt;/td&gt;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&lt;/tr&gt;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&lt;/tbody&gt;</a:t>
            </a:r>
          </a:p>
        </p:txBody>
      </p:sp>
    </p:spTree>
    <p:extLst>
      <p:ext uri="{BB962C8B-B14F-4D97-AF65-F5344CB8AC3E}">
        <p14:creationId xmlns:p14="http://schemas.microsoft.com/office/powerpoint/2010/main" val="2066741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B9A1412-57CF-4534-8ABC-50D060F0A9D3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Remoção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das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linhas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anteriores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162997-0D66-4663-84AE-026AA433AC08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início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listarProdutos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(),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selecione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somente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representam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remova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mensagem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permanece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no DOM.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D0EB1D5-8912-409A-91FE-686D9736369B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206654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const tabela = document.querySelector("#mostrarProdutos")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verificarProdutosCadastrados(produtos)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tabela.querySelectorAll(".linha-produto").forEach(linha =&gt; {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linha.remove()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3569307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D58E8DC-7315-49CA-BC73-15BEF46B2DAC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Identificação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criação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das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novas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linhas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D9F7ECF-652A-4E91-80ED-55CFCCBE8870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Dentro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forEach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adicione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classe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linha-produto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tr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criado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Essa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marca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permite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localizar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próxima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atualização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79D78A7-9738-4BB2-9630-28A679A750BA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234543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produtos.forEach(produto =&gt; {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const tr = document.createElement("tr")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tr.classList.add("linha-produto")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// Criação e preenchimento das células.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// Inclusão das células na linha.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    tabela.appendChild(tr)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106855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AA7C3DD-F305-4CCD-9815-3CFA5AEEF167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Código da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tabela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reaproveitado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9352668-F909-4619-97C4-6967CCB6D8BC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preenchimento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células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continua com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mesma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lógica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primeira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aula.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mudança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está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quais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chegam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à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função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substituição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antigas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A531C4-D084-440A-9BF0-1BEDAF8DF83C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178765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tdNome.textContent = produto.nome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tdPreco.textContent = `R$ ${produto.preco.toFixed(2)}`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tr.appendChild(tdNome)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tr.appendChild(tdPreco)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tabela.appendChild(tr)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58A1065-0EB4-4A66-AA0F-914B5ECF745C}"/>
              </a:ext>
            </a:extLst>
          </p:cNvPr>
          <p:cNvSpPr>
            <a:spLocks noGrp="1"/>
          </p:cNvSpPr>
          <p:nvPr/>
        </p:nvSpPr>
        <p:spPr>
          <a:xfrm>
            <a:off x="685800" y="5035677"/>
            <a:ext cx="10763250" cy="148894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createElement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cria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elemento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textContent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preenche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texto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appendChild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insere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filho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no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elemento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pai.</a:t>
            </a:r>
          </a:p>
        </p:txBody>
      </p:sp>
    </p:spTree>
    <p:extLst>
      <p:ext uri="{BB962C8B-B14F-4D97-AF65-F5344CB8AC3E}">
        <p14:creationId xmlns:p14="http://schemas.microsoft.com/office/powerpoint/2010/main" val="1276528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1AEE644-49B6-4E4D-AEB8-E79CCFD23360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Botões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ação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inicialização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BC38DA1-C104-448A-9251-AECD8B072D56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botões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Editar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Excluir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receberam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type = "button".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chamada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inicial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única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vez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no final do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arquivo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74E79CE-A9B9-48C1-BB09-CD693928A724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10572750" cy="1508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botaoEditar.type = "button"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botaoExcluir.type = "button"</a:t>
            </a:r>
          </a:p>
          <a:p>
            <a:endParaRPr sz="1800">
              <a:solidFill>
                <a:srgbClr val="153B75"/>
              </a:solidFill>
              <a:latin typeface="Consolas"/>
              <a:ea typeface="Consolas"/>
              <a:cs typeface="Consolas"/>
            </a:endParaRP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// Final do arquivo:</a:t>
            </a:r>
          </a:p>
          <a:p>
            <a:pPr>
              <a:defRPr sz="1800">
                <a:solidFill>
                  <a:srgbClr val="153B75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153B75"/>
                </a:solidFill>
                <a:latin typeface="Consolas"/>
                <a:ea typeface="Consolas"/>
                <a:cs typeface="Consolas"/>
              </a:rPr>
              <a:t>consulta.mostrarProdutos()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A0D04D9-219A-47ED-8665-99CA91FF95EF}"/>
              </a:ext>
            </a:extLst>
          </p:cNvPr>
          <p:cNvSpPr>
            <a:spLocks noGrp="1"/>
          </p:cNvSpPr>
          <p:nvPr/>
        </p:nvSpPr>
        <p:spPr>
          <a:xfrm>
            <a:off x="685800" y="4756785"/>
            <a:ext cx="10763250" cy="1767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type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evita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botão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envie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formulário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padrão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Uma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única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chamada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inicial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evita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dois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GETs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abertura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0739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FC3ECA7-DBCF-4359-A5E9-9BAF53C53FC4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Sequência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uma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troca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página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C35E556-CB68-4088-B2BA-8033EE9CF9C8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Considere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1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já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carregada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usuário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clica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Próxima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para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consultar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2.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5229218-008D-4CB8-9063-0C6F603A68D4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0763250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1.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evento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chama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mostrarProdutos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(2).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2.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método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guarda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bloqueia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estado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setas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3. api.js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envia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GET com _page=2 e _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per_page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=2.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4.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listarProdutos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data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substitui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5.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paginaAtual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2 e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indicador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é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atualizado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6.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botões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habilitados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ou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bloqueados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pelos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limites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353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081EA27-3186-4B6D-ACCD-8B6001A7E6E5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Verificação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no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navegador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1DFBAF4-2636-4EC9-A17E-AB91A458BB9B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Use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cinco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exemplo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produtosPorPagina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= 2. Abra as ferramentas do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navegador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acompanhe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requisições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aba Network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ou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Rede.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25DE91B-4E69-4057-B777-EAB7B5AEDC52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0763250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 1: 2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Anterior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bloqueado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 2: 2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ambos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botões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disponíveis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 3: 1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Próxima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bloqueado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voltar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tabela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deve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acumular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Confira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_page, _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per_page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 data e pages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requisição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resposta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204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B856E32-6ABE-4979-A2C8-A4843E113DA7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Cuidados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próximos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conteúdos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5096BA9-F7D3-4012-824D-BF1EF5B6F3C4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implementação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atende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à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navegação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pelas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setas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Algumas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situações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ainda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exigem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tratamento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adicional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ou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funcionalidades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serão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implementadas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depois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4651540-4B2A-4A96-AB69-AEBDF4253054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0763250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Falha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inicial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falta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controle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para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tentar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novamente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Exclusão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última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pode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exigir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ajuste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atual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Chamadas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simultâneas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código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há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controle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concorrência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Busca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nome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indicadores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dos cards: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ainda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estão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anexos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8068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55E3040-00E6-4476-BF9C-C7F7629EF761}"/>
              </a:ext>
            </a:extLst>
          </p:cNvPr>
          <p:cNvSpPr>
            <a:spLocks noGrp="1"/>
          </p:cNvSpPr>
          <p:nvPr/>
        </p:nvSpPr>
        <p:spPr>
          <a:xfrm>
            <a:off x="752475" y="819150"/>
            <a:ext cx="8905875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>
                <a:solidFill>
                  <a:srgbClr val="111111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Revisão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atividade</a:t>
            </a:r>
            <a:r>
              <a:rPr sz="2850" dirty="0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 de </a:t>
            </a:r>
            <a:r>
              <a:rPr sz="2850" dirty="0" err="1">
                <a:solidFill>
                  <a:srgbClr val="111111"/>
                </a:solidFill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</a:rPr>
              <a:t>fixação</a:t>
            </a:r>
            <a:endParaRPr sz="2850" dirty="0">
              <a:solidFill>
                <a:srgbClr val="111111"/>
              </a:solidFill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48DE674-37B1-4B75-AA33-2AD94845CFF7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5375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1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Explique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caminho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requisição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relacione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conceito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uma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linha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código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Depois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altere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quantidade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página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para 3 e teste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limites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BE98C8D-CB21-4DC9-BF7E-D3D030CDCF58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0763250" cy="3143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listarProdutos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recebe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resposta.data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paginaAtual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só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muda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depois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carregamento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Por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não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limpamos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tbody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com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innerHTML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Qual a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diferença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entre _page e _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per_page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defRPr sz="20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throw error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permite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que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 outro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arquivo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2000" dirty="0" err="1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faça</a:t>
            </a:r>
            <a:r>
              <a:rPr sz="2000" dirty="0">
                <a:solidFill>
                  <a:srgbClr val="11111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133540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4487</Words>
  <Application>Microsoft Office PowerPoint</Application>
  <DocSecurity>0</DocSecurity>
  <PresentationFormat>Widescreen</PresentationFormat>
  <Paragraphs>399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Times New Roman</vt:lpstr>
      <vt:lpstr>Tema do Office</vt:lpstr>
      <vt:lpstr>Paginação de produtos na API</vt:lpstr>
      <vt:lpstr>O que mudou no projeto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Pedro Henrique Miho de Souza</cp:lastModifiedBy>
  <cp:revision>5</cp:revision>
  <dcterms:created xsi:type="dcterms:W3CDTF">2026-09-25T11:50:14Z</dcterms:created>
  <dcterms:modified xsi:type="dcterms:W3CDTF">2026-09-29T14:59:23Z</dcterms:modified>
</cp:coreProperties>
</file>