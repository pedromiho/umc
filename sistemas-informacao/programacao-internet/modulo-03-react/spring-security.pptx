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8" r:id="rId3"/>
    <p:sldId id="320" r:id="rId4"/>
    <p:sldId id="325" r:id="rId5"/>
    <p:sldId id="321" r:id="rId6"/>
    <p:sldId id="322" r:id="rId7"/>
    <p:sldId id="326" r:id="rId8"/>
    <p:sldId id="324" r:id="rId9"/>
    <p:sldId id="327" r:id="rId10"/>
    <p:sldId id="330" r:id="rId11"/>
    <p:sldId id="328" r:id="rId12"/>
    <p:sldId id="329" r:id="rId13"/>
    <p:sldId id="332" r:id="rId14"/>
    <p:sldId id="333" r:id="rId15"/>
    <p:sldId id="33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A3B9811-863C-4514-A203-A948633EA0E6}">
          <p14:sldIdLst>
            <p14:sldId id="256"/>
            <p14:sldId id="278"/>
            <p14:sldId id="320"/>
            <p14:sldId id="325"/>
            <p14:sldId id="321"/>
            <p14:sldId id="322"/>
            <p14:sldId id="326"/>
            <p14:sldId id="324"/>
            <p14:sldId id="327"/>
            <p14:sldId id="330"/>
            <p14:sldId id="328"/>
            <p14:sldId id="329"/>
            <p14:sldId id="332"/>
            <p14:sldId id="333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66A480"/>
    <a:srgbClr val="191A1C"/>
    <a:srgbClr val="48916E"/>
    <a:srgbClr val="3184F4"/>
    <a:srgbClr val="7E67A8"/>
    <a:srgbClr val="C08D5F"/>
    <a:srgbClr val="9C9B99"/>
    <a:srgbClr val="9BAD56"/>
    <a:srgbClr val="1F2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6334"/>
            <a:ext cx="9144000" cy="2004930"/>
          </a:xfrm>
        </p:spPr>
        <p:txBody>
          <a:bodyPr/>
          <a:lstStyle/>
          <a:p>
            <a:r>
              <a:rPr lang="pt-BR" dirty="0"/>
              <a:t>Introdução ao </a:t>
            </a:r>
            <a:r>
              <a:rPr lang="pt-BR" dirty="0" err="1"/>
              <a:t>React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Ao final desta aula, os alunos serão capazes 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Compreender o que é </a:t>
            </a:r>
            <a:r>
              <a:rPr lang="pt-BR" dirty="0" err="1"/>
              <a:t>React</a:t>
            </a:r>
            <a:r>
              <a:rPr lang="pt-BR" dirty="0"/>
              <a:t> e sua importância no desenvolvimento de aplicações web modernas.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Diferenciar programação declarativa e imperativa, identificando suas principais características.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Conhecer os conceitos fundamentais do </a:t>
            </a:r>
            <a:r>
              <a:rPr lang="pt-BR" dirty="0" err="1"/>
              <a:t>React</a:t>
            </a:r>
            <a:r>
              <a:rPr lang="pt-BR" dirty="0"/>
              <a:t>, como componentes, JSX e </a:t>
            </a:r>
            <a:r>
              <a:rPr lang="pt-BR" dirty="0" err="1"/>
              <a:t>props</a:t>
            </a:r>
            <a:r>
              <a:rPr lang="pt-B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Entender a arquitetura de uma aplicação </a:t>
            </a:r>
            <a:r>
              <a:rPr lang="pt-BR" dirty="0" err="1"/>
              <a:t>React</a:t>
            </a:r>
            <a:r>
              <a:rPr lang="pt-BR" dirty="0"/>
              <a:t> e como seus componentes se relacionam.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Identificar as principais ferramentas do ecossistema </a:t>
            </a:r>
            <a:r>
              <a:rPr lang="pt-BR" dirty="0" err="1"/>
              <a:t>React</a:t>
            </a:r>
            <a:r>
              <a:rPr lang="pt-BR" dirty="0"/>
              <a:t>, como Node.js, NPM e Vite.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Reconhecer as vantagens da componentização, especialmente na organização, manutenção e reutilização de código.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7073F-1584-F6F4-37CA-7C40FA1A0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React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AE42D-606B-536E-9BA4-E86333376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5705" y="2462094"/>
            <a:ext cx="4574876" cy="4485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dirty="0"/>
              <a:t>Biblioteca JS para construir UI.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8CB3FAE-C25D-35FF-953B-6BF27D6EA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999" y="2403265"/>
            <a:ext cx="3839095" cy="3539166"/>
          </a:xfrm>
          <a:prstGeom prst="rect">
            <a:avLst/>
          </a:prstGeom>
        </p:spPr>
      </p:pic>
      <p:pic>
        <p:nvPicPr>
          <p:cNvPr id="13" name="Gráfico 12" descr="Web design com preenchimento sólido">
            <a:extLst>
              <a:ext uri="{FF2B5EF4-FFF2-40B4-BE49-F238E27FC236}">
                <a16:creationId xmlns:a16="http://schemas.microsoft.com/office/drawing/2014/main" id="{C2E04BFE-7F76-3842-765E-6680A11FC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645" y="2229180"/>
            <a:ext cx="914400" cy="91440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3556D282-837F-9A4F-FF9E-06DFDAA56D3A}"/>
              </a:ext>
            </a:extLst>
          </p:cNvPr>
          <p:cNvGrpSpPr/>
          <p:nvPr/>
        </p:nvGrpSpPr>
        <p:grpSpPr>
          <a:xfrm>
            <a:off x="744645" y="3720337"/>
            <a:ext cx="5845936" cy="914400"/>
            <a:chOff x="744645" y="3685344"/>
            <a:chExt cx="5845936" cy="914400"/>
          </a:xfrm>
        </p:grpSpPr>
        <p:pic>
          <p:nvPicPr>
            <p:cNvPr id="15" name="Gráfico 14" descr="Lupa com preenchimento sólido">
              <a:extLst>
                <a:ext uri="{FF2B5EF4-FFF2-40B4-BE49-F238E27FC236}">
                  <a16:creationId xmlns:a16="http://schemas.microsoft.com/office/drawing/2014/main" id="{A135CC0F-4DA7-0EE8-55A6-86CFF798E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4645" y="3685344"/>
              <a:ext cx="914400" cy="914400"/>
            </a:xfrm>
            <a:prstGeom prst="rect">
              <a:avLst/>
            </a:prstGeom>
          </p:spPr>
        </p:pic>
        <p:sp>
          <p:nvSpPr>
            <p:cNvPr id="16" name="Espaço Reservado para Conteúdo 2">
              <a:extLst>
                <a:ext uri="{FF2B5EF4-FFF2-40B4-BE49-F238E27FC236}">
                  <a16:creationId xmlns:a16="http://schemas.microsoft.com/office/drawing/2014/main" id="{0AD07C21-8ED8-DBB5-3E76-3338473171B7}"/>
                </a:ext>
              </a:extLst>
            </p:cNvPr>
            <p:cNvSpPr txBox="1">
              <a:spLocks/>
            </p:cNvSpPr>
            <p:nvPr/>
          </p:nvSpPr>
          <p:spPr>
            <a:xfrm>
              <a:off x="2015705" y="3918258"/>
              <a:ext cx="4574876" cy="448573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/>
                <a:t>Criando pelo Facebook em 2013.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6FDD20A6-D68D-41C5-6FA4-7FD36CF51F25}"/>
              </a:ext>
            </a:extLst>
          </p:cNvPr>
          <p:cNvGrpSpPr/>
          <p:nvPr/>
        </p:nvGrpSpPr>
        <p:grpSpPr>
          <a:xfrm>
            <a:off x="744645" y="5211493"/>
            <a:ext cx="5845936" cy="914400"/>
            <a:chOff x="744645" y="5211493"/>
            <a:chExt cx="5845936" cy="914400"/>
          </a:xfrm>
        </p:grpSpPr>
        <p:pic>
          <p:nvPicPr>
            <p:cNvPr id="7" name="Gráfico 6" descr="Lâmpada e engrenagem com preenchimento sólido">
              <a:extLst>
                <a:ext uri="{FF2B5EF4-FFF2-40B4-BE49-F238E27FC236}">
                  <a16:creationId xmlns:a16="http://schemas.microsoft.com/office/drawing/2014/main" id="{1BF5A40F-080B-8D6E-F5EC-F9A653A5C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44645" y="5211493"/>
              <a:ext cx="914400" cy="914400"/>
            </a:xfrm>
            <a:prstGeom prst="rect">
              <a:avLst/>
            </a:prstGeom>
          </p:spPr>
        </p:pic>
        <p:sp>
          <p:nvSpPr>
            <p:cNvPr id="30" name="Espaço Reservado para Conteúdo 2">
              <a:extLst>
                <a:ext uri="{FF2B5EF4-FFF2-40B4-BE49-F238E27FC236}">
                  <a16:creationId xmlns:a16="http://schemas.microsoft.com/office/drawing/2014/main" id="{3F847F28-AB34-93F5-748B-FC1040CD55DD}"/>
                </a:ext>
              </a:extLst>
            </p:cNvPr>
            <p:cNvSpPr txBox="1">
              <a:spLocks/>
            </p:cNvSpPr>
            <p:nvPr/>
          </p:nvSpPr>
          <p:spPr>
            <a:xfrm>
              <a:off x="2015705" y="5444407"/>
              <a:ext cx="4574876" cy="448573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Virou uma biblioteca padrão no mercado.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6669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A6F7D-F514-2ACF-B345-87FC612A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Front-</a:t>
            </a:r>
            <a:r>
              <a:rPr lang="pt-BR" dirty="0" err="1"/>
              <a:t>end</a:t>
            </a:r>
            <a:r>
              <a:rPr lang="pt-BR" dirty="0"/>
              <a:t> Imperativo?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36D5D9-A2A9-CC65-99D3-626B09FE2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44675"/>
            <a:ext cx="6619335" cy="1584325"/>
          </a:xfrm>
        </p:spPr>
        <p:txBody>
          <a:bodyPr/>
          <a:lstStyle/>
          <a:p>
            <a:r>
              <a:rPr lang="pt-BR" dirty="0"/>
              <a:t>É uma abordagem em que o desenvolvedor define passo a passo como a interface deve ser modificada, manipulando diretamente os elementos HTML.</a:t>
            </a:r>
          </a:p>
          <a:p>
            <a:endParaRPr lang="pt-BR" dirty="0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19E4942-5D09-1CD8-2E6C-E11F65DF7795}"/>
              </a:ext>
            </a:extLst>
          </p:cNvPr>
          <p:cNvGrpSpPr/>
          <p:nvPr/>
        </p:nvGrpSpPr>
        <p:grpSpPr>
          <a:xfrm>
            <a:off x="592347" y="3664070"/>
            <a:ext cx="6619336" cy="923026"/>
            <a:chOff x="592347" y="3735239"/>
            <a:chExt cx="6619336" cy="923026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7BD1732A-8BD2-7FB2-1B64-50A9C9FAC0E0}"/>
                </a:ext>
              </a:extLst>
            </p:cNvPr>
            <p:cNvSpPr/>
            <p:nvPr/>
          </p:nvSpPr>
          <p:spPr>
            <a:xfrm>
              <a:off x="592347" y="3735239"/>
              <a:ext cx="6619336" cy="923026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A000FFF5-EEAB-F159-C31D-953F4E990C2C}"/>
                </a:ext>
              </a:extLst>
            </p:cNvPr>
            <p:cNvSpPr/>
            <p:nvPr/>
          </p:nvSpPr>
          <p:spPr>
            <a:xfrm>
              <a:off x="735302" y="3861015"/>
              <a:ext cx="6333427" cy="6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&lt;h1 id="titulo"&gt;Olá, mundo!&lt;/h1&gt;</a:t>
              </a:r>
            </a:p>
            <a:p>
              <a:pPr>
                <a:lnSpc>
                  <a:spcPct val="150000"/>
                </a:lnSpc>
              </a:pP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&lt;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button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onclick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="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alterarTexto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()"&gt;Alterar texto&lt;/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button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&gt;</a:t>
              </a:r>
              <a:endParaRPr lang="en-US" sz="14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558F8E2-AB3A-34AF-68CD-D6C2D2D6438B}"/>
              </a:ext>
            </a:extLst>
          </p:cNvPr>
          <p:cNvGrpSpPr/>
          <p:nvPr/>
        </p:nvGrpSpPr>
        <p:grpSpPr>
          <a:xfrm>
            <a:off x="592346" y="4822167"/>
            <a:ext cx="6619336" cy="1584324"/>
            <a:chOff x="592346" y="4822167"/>
            <a:chExt cx="6619336" cy="1584324"/>
          </a:xfrm>
        </p:grpSpPr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362DAA60-1CE4-7135-BB7D-74DAFC465EBE}"/>
                </a:ext>
              </a:extLst>
            </p:cNvPr>
            <p:cNvSpPr/>
            <p:nvPr/>
          </p:nvSpPr>
          <p:spPr>
            <a:xfrm>
              <a:off x="592346" y="4822167"/>
              <a:ext cx="6619336" cy="1584324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21">
              <a:extLst>
                <a:ext uri="{FF2B5EF4-FFF2-40B4-BE49-F238E27FC236}">
                  <a16:creationId xmlns:a16="http://schemas.microsoft.com/office/drawing/2014/main" id="{87738A3D-C31C-0903-60DD-B16D5A0C87CD}"/>
                </a:ext>
              </a:extLst>
            </p:cNvPr>
            <p:cNvSpPr/>
            <p:nvPr/>
          </p:nvSpPr>
          <p:spPr>
            <a:xfrm>
              <a:off x="735301" y="4958722"/>
              <a:ext cx="6333427" cy="13112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function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alterarTexto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() {</a:t>
              </a:r>
            </a:p>
            <a:p>
              <a:pPr>
                <a:lnSpc>
                  <a:spcPct val="150000"/>
                </a:lnSpc>
              </a:pP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const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 titulo = 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document.getElementById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("titulo");</a:t>
              </a:r>
            </a:p>
            <a:p>
              <a:pPr>
                <a:lnSpc>
                  <a:spcPct val="150000"/>
                </a:lnSpc>
              </a:pP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titulo.textContent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 = "Bem-vindo ao </a:t>
              </a: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React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!";</a:t>
              </a:r>
            </a:p>
            <a:p>
              <a:pPr>
                <a:lnSpc>
                  <a:spcPct val="150000"/>
                </a:lnSpc>
              </a:pP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}</a:t>
              </a:r>
              <a:endParaRPr lang="en-US" sz="14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53BCBF76-E10B-0FB8-E99E-D0DE87B6A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922" y="2532357"/>
            <a:ext cx="2459189" cy="104329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105369EA-46FA-95E2-48D7-895FC83AB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922" y="4760898"/>
            <a:ext cx="2308230" cy="13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6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5BD9D-3E9B-2AF5-904E-DEDD0A8C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Front-</a:t>
            </a:r>
            <a:r>
              <a:rPr lang="pt-BR" dirty="0" err="1"/>
              <a:t>end</a:t>
            </a:r>
            <a:r>
              <a:rPr lang="pt-BR" dirty="0"/>
              <a:t> Declarativo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CA735E-912F-FCA3-CAA7-295B86324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4781910" cy="4351338"/>
          </a:xfrm>
        </p:spPr>
        <p:txBody>
          <a:bodyPr/>
          <a:lstStyle/>
          <a:p>
            <a:r>
              <a:rPr lang="pt-BR" dirty="0"/>
              <a:t>É uma abordagem em que o desenvolvedor define como a interface deve aparecer, sem precisar manipular diretamente os elementos HTML.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React</a:t>
            </a:r>
            <a:r>
              <a:rPr lang="pt-BR" dirty="0"/>
              <a:t> atualiza a interface automaticamente quando o estado muda.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D031E4-4E02-03B9-0176-5B51E9CBC5E2}"/>
              </a:ext>
            </a:extLst>
          </p:cNvPr>
          <p:cNvGrpSpPr/>
          <p:nvPr/>
        </p:nvGrpSpPr>
        <p:grpSpPr>
          <a:xfrm>
            <a:off x="6096000" y="2050929"/>
            <a:ext cx="5187351" cy="4351338"/>
            <a:chOff x="592347" y="3735239"/>
            <a:chExt cx="6619336" cy="4351338"/>
          </a:xfrm>
        </p:grpSpPr>
        <p:sp>
          <p:nvSpPr>
            <p:cNvPr id="5" name="Shape 20">
              <a:extLst>
                <a:ext uri="{FF2B5EF4-FFF2-40B4-BE49-F238E27FC236}">
                  <a16:creationId xmlns:a16="http://schemas.microsoft.com/office/drawing/2014/main" id="{46109ADB-6855-191A-B579-0CE46F16930B}"/>
                </a:ext>
              </a:extLst>
            </p:cNvPr>
            <p:cNvSpPr/>
            <p:nvPr/>
          </p:nvSpPr>
          <p:spPr>
            <a:xfrm>
              <a:off x="592347" y="3735239"/>
              <a:ext cx="6619336" cy="4351338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 21">
              <a:extLst>
                <a:ext uri="{FF2B5EF4-FFF2-40B4-BE49-F238E27FC236}">
                  <a16:creationId xmlns:a16="http://schemas.microsoft.com/office/drawing/2014/main" id="{FE509549-4E99-3FF1-8B9F-B032346B260D}"/>
                </a:ext>
              </a:extLst>
            </p:cNvPr>
            <p:cNvSpPr/>
            <p:nvPr/>
          </p:nvSpPr>
          <p:spPr>
            <a:xfrm>
              <a:off x="735302" y="3861015"/>
              <a:ext cx="6333427" cy="4019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import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{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useState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}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from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"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react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";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function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App() {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const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[titulo,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setTitulo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] =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useState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("Olá, mundo!");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return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(  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  &lt;&gt;    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     &lt;h1&gt;{titulo}&lt;/h1&gt;    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     &lt;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button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onClick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={() =&gt;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setTitulo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     ("Bem-vindo ao 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React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!")}&gt;     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       Alterar texto    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     &lt;/</a:t>
              </a: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button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&gt;  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  &lt;/&gt;  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  );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pt-BR" sz="1200" kern="0" spc="-19" dirty="0" err="1">
                  <a:solidFill>
                    <a:srgbClr val="D73A49"/>
                  </a:solidFill>
                  <a:latin typeface="Consolas" pitchFamily="34" charset="0"/>
                </a:rPr>
                <a:t>export</a:t>
              </a:r>
              <a:r>
                <a:rPr lang="pt-BR" sz="1200" kern="0" spc="-19" dirty="0">
                  <a:solidFill>
                    <a:srgbClr val="D73A49"/>
                  </a:solidFill>
                  <a:latin typeface="Consolas" pitchFamily="34" charset="0"/>
                </a:rPr>
                <a:t> default App;</a:t>
              </a:r>
              <a:endParaRPr lang="en-US" sz="12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151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EE42E-0BCA-4C47-B0B8-2B5E83A8D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JSX?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124CB4-5013-61A6-C2DC-4BAC501D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JSX (</a:t>
            </a:r>
            <a:r>
              <a:rPr lang="pt-BR" dirty="0" err="1"/>
              <a:t>JavaScript</a:t>
            </a:r>
            <a:r>
              <a:rPr lang="pt-BR" dirty="0"/>
              <a:t> XML) é uma extensão de sintaxe do </a:t>
            </a:r>
            <a:r>
              <a:rPr lang="pt-BR" dirty="0" err="1"/>
              <a:t>JavaScript</a:t>
            </a:r>
            <a:r>
              <a:rPr lang="pt-BR" dirty="0"/>
              <a:t> que permite escrever estruturas semelhantes ao HTML dentro do código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r>
              <a:rPr lang="pt-BR" dirty="0"/>
              <a:t>É muito utilizado no </a:t>
            </a:r>
            <a:r>
              <a:rPr lang="pt-BR" dirty="0" err="1"/>
              <a:t>React</a:t>
            </a:r>
            <a:r>
              <a:rPr lang="pt-BR" dirty="0"/>
              <a:t> para construir interfaces de forma simples e organizada.</a:t>
            </a:r>
          </a:p>
          <a:p>
            <a:endParaRPr lang="pt-BR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55E618B-C75B-53A1-3312-94C9BE28FC20}"/>
              </a:ext>
            </a:extLst>
          </p:cNvPr>
          <p:cNvGrpSpPr/>
          <p:nvPr/>
        </p:nvGrpSpPr>
        <p:grpSpPr>
          <a:xfrm>
            <a:off x="592347" y="4118682"/>
            <a:ext cx="6619336" cy="653077"/>
            <a:chOff x="592347" y="3644143"/>
            <a:chExt cx="6619336" cy="653077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C109B432-C8EC-C850-42D4-F75A9CB17BA5}"/>
                </a:ext>
              </a:extLst>
            </p:cNvPr>
            <p:cNvSpPr/>
            <p:nvPr/>
          </p:nvSpPr>
          <p:spPr>
            <a:xfrm>
              <a:off x="592347" y="3644143"/>
              <a:ext cx="6619336" cy="65307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19EA1496-81A6-47FA-5243-0551F5D85FE5}"/>
                </a:ext>
              </a:extLst>
            </p:cNvPr>
            <p:cNvSpPr/>
            <p:nvPr/>
          </p:nvSpPr>
          <p:spPr>
            <a:xfrm>
              <a:off x="735302" y="3769919"/>
              <a:ext cx="6333427" cy="4324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&lt;h1 id="titulo"&gt;Olá, mundo!&lt;/h1&gt;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2AB7C104-BD95-F183-9543-B785A91CCE75}"/>
              </a:ext>
            </a:extLst>
          </p:cNvPr>
          <p:cNvGrpSpPr/>
          <p:nvPr/>
        </p:nvGrpSpPr>
        <p:grpSpPr>
          <a:xfrm>
            <a:off x="592347" y="5461442"/>
            <a:ext cx="6619336" cy="653077"/>
            <a:chOff x="592347" y="5133638"/>
            <a:chExt cx="6619336" cy="653077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CCA33C15-84C0-F4A3-5CB5-6ACDD7E596AC}"/>
                </a:ext>
              </a:extLst>
            </p:cNvPr>
            <p:cNvSpPr/>
            <p:nvPr/>
          </p:nvSpPr>
          <p:spPr>
            <a:xfrm>
              <a:off x="592347" y="5133638"/>
              <a:ext cx="6619336" cy="65307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E0A43956-74C5-23B2-D9D3-E004C62CD16B}"/>
                </a:ext>
              </a:extLst>
            </p:cNvPr>
            <p:cNvSpPr/>
            <p:nvPr/>
          </p:nvSpPr>
          <p:spPr>
            <a:xfrm>
              <a:off x="735302" y="5259414"/>
              <a:ext cx="6333427" cy="4324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kern="0" spc="-19" dirty="0" err="1">
                  <a:solidFill>
                    <a:srgbClr val="D73A49"/>
                  </a:solidFill>
                  <a:latin typeface="Consolas" pitchFamily="34" charset="0"/>
                </a:rPr>
                <a:t>return</a:t>
              </a:r>
              <a:r>
                <a:rPr lang="pt-BR" sz="1400" kern="0" spc="-19" dirty="0">
                  <a:solidFill>
                    <a:srgbClr val="D73A49"/>
                  </a:solidFill>
                  <a:latin typeface="Consolas" pitchFamily="34" charset="0"/>
                </a:rPr>
                <a:t> &lt;h1&gt;Olá, mundo!&lt;/h1&gt;;</a:t>
              </a: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87F918-4731-992D-7658-83FF4D463E8E}"/>
              </a:ext>
            </a:extLst>
          </p:cNvPr>
          <p:cNvSpPr txBox="1"/>
          <p:nvPr/>
        </p:nvSpPr>
        <p:spPr>
          <a:xfrm>
            <a:off x="592347" y="491654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5F16DB1-BC33-6D2C-3495-739093BF0C55}"/>
              </a:ext>
            </a:extLst>
          </p:cNvPr>
          <p:cNvSpPr txBox="1"/>
          <p:nvPr/>
        </p:nvSpPr>
        <p:spPr>
          <a:xfrm>
            <a:off x="592347" y="3554776"/>
            <a:ext cx="6111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60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DA9DDB1-CAE4-41A9-9811-45A6B1C2EF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Regras do JSX</a:t>
            </a:r>
          </a:p>
        </p:txBody>
      </p:sp>
    </p:spTree>
    <p:extLst>
      <p:ext uri="{BB962C8B-B14F-4D97-AF65-F5344CB8AC3E}">
        <p14:creationId xmlns:p14="http://schemas.microsoft.com/office/powerpoint/2010/main" val="2968394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0A9DB-E10E-793D-F8AE-D7B6FC95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Retornar um único elemento pai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2D6596-BC6F-2F42-142A-0ABC2E7E6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65612"/>
          </a:xfrm>
        </p:spPr>
        <p:txBody>
          <a:bodyPr/>
          <a:lstStyle/>
          <a:p>
            <a:r>
              <a:rPr lang="pt-BR" dirty="0"/>
              <a:t>Todos os elementos devem estar dentro de um elemento principal ou fragmento (&lt;&gt; &lt;/&gt;).</a:t>
            </a:r>
          </a:p>
          <a:p>
            <a:endParaRPr lang="pt-BR" dirty="0"/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DBB5F927-6A29-A95D-B4AD-F2B8BBEB110B}"/>
              </a:ext>
            </a:extLst>
          </p:cNvPr>
          <p:cNvSpPr/>
          <p:nvPr/>
        </p:nvSpPr>
        <p:spPr>
          <a:xfrm>
            <a:off x="2769079" y="2775923"/>
            <a:ext cx="6653842" cy="2822620"/>
          </a:xfrm>
          <a:prstGeom prst="roundRect">
            <a:avLst>
              <a:gd name="adj" fmla="val 8081"/>
            </a:avLst>
          </a:prstGeom>
          <a:solidFill>
            <a:srgbClr val="F2F2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kern="0" spc="-19" dirty="0" err="1">
                <a:solidFill>
                  <a:srgbClr val="D73A49"/>
                </a:solidFill>
                <a:latin typeface="Consolas" pitchFamily="34" charset="0"/>
              </a:rPr>
              <a:t>return</a:t>
            </a:r>
            <a:r>
              <a:rPr lang="pt-BR" kern="0" spc="-19" dirty="0">
                <a:solidFill>
                  <a:srgbClr val="D73A49"/>
                </a:solidFill>
                <a:latin typeface="Consolas" pitchFamily="34" charset="0"/>
              </a:rPr>
              <a:t> (  </a:t>
            </a:r>
          </a:p>
          <a:p>
            <a:pPr>
              <a:lnSpc>
                <a:spcPct val="150000"/>
              </a:lnSpc>
            </a:pPr>
            <a:r>
              <a:rPr lang="pt-BR" kern="0" spc="-19" dirty="0">
                <a:solidFill>
                  <a:srgbClr val="D73A49"/>
                </a:solidFill>
                <a:latin typeface="Consolas" pitchFamily="34" charset="0"/>
              </a:rPr>
              <a:t>  &lt;&gt;    </a:t>
            </a:r>
          </a:p>
          <a:p>
            <a:pPr>
              <a:lnSpc>
                <a:spcPct val="150000"/>
              </a:lnSpc>
            </a:pPr>
            <a:r>
              <a:rPr lang="pt-BR" kern="0" spc="-19" dirty="0">
                <a:solidFill>
                  <a:srgbClr val="D73A49"/>
                </a:solidFill>
                <a:latin typeface="Consolas" pitchFamily="34" charset="0"/>
              </a:rPr>
              <a:t>    &lt;h1&gt;Olá, mundo!&lt;/h1&gt;    </a:t>
            </a:r>
          </a:p>
          <a:p>
            <a:pPr>
              <a:lnSpc>
                <a:spcPct val="150000"/>
              </a:lnSpc>
            </a:pPr>
            <a:r>
              <a:rPr lang="pt-BR" kern="0" spc="-19" dirty="0">
                <a:solidFill>
                  <a:srgbClr val="D73A49"/>
                </a:solidFill>
                <a:latin typeface="Consolas" pitchFamily="34" charset="0"/>
              </a:rPr>
              <a:t>    &lt;p&gt;Bem-vindo ao </a:t>
            </a:r>
            <a:r>
              <a:rPr lang="pt-BR" kern="0" spc="-19" dirty="0" err="1">
                <a:solidFill>
                  <a:srgbClr val="D73A49"/>
                </a:solidFill>
                <a:latin typeface="Consolas" pitchFamily="34" charset="0"/>
              </a:rPr>
              <a:t>React</a:t>
            </a:r>
            <a:r>
              <a:rPr lang="pt-BR" kern="0" spc="-19" dirty="0">
                <a:solidFill>
                  <a:srgbClr val="D73A49"/>
                </a:solidFill>
                <a:latin typeface="Consolas" pitchFamily="34" charset="0"/>
              </a:rPr>
              <a:t>.&lt;/p&gt;  </a:t>
            </a:r>
          </a:p>
          <a:p>
            <a:pPr>
              <a:lnSpc>
                <a:spcPct val="150000"/>
              </a:lnSpc>
            </a:pPr>
            <a:r>
              <a:rPr lang="pt-BR" kern="0" spc="-19" dirty="0">
                <a:solidFill>
                  <a:srgbClr val="D73A49"/>
                </a:solidFill>
                <a:latin typeface="Consolas" pitchFamily="34" charset="0"/>
              </a:rPr>
              <a:t>  &lt;/&gt;</a:t>
            </a:r>
          </a:p>
          <a:p>
            <a:pPr>
              <a:lnSpc>
                <a:spcPct val="150000"/>
              </a:lnSpc>
            </a:pPr>
            <a:r>
              <a:rPr lang="pt-BR" kern="0" spc="-19" dirty="0">
                <a:solidFill>
                  <a:srgbClr val="D73A49"/>
                </a:solidFill>
                <a:latin typeface="Consolas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6488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38DB6-24A7-2EE8-2F09-818FEA0B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Regra: Utilizar uma única </a:t>
            </a:r>
            <a:r>
              <a:rPr lang="pt-BR" dirty="0" err="1"/>
              <a:t>tag</a:t>
            </a:r>
            <a:r>
              <a:rPr lang="pt-BR" dirty="0"/>
              <a:t> pai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E731E1-BF12-8612-DF4A-E948BE49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722399"/>
          </a:xfrm>
        </p:spPr>
        <p:txBody>
          <a:bodyPr/>
          <a:lstStyle/>
          <a:p>
            <a:r>
              <a:rPr lang="pt-BR" dirty="0"/>
              <a:t>No JSX, todos os elementos retornados por um componente devem estar dentro de um único elemento pai.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C0AF780F-F8AB-7BFA-ED23-6114DA50AEC8}"/>
              </a:ext>
            </a:extLst>
          </p:cNvPr>
          <p:cNvGrpSpPr/>
          <p:nvPr/>
        </p:nvGrpSpPr>
        <p:grpSpPr>
          <a:xfrm>
            <a:off x="744152" y="3217654"/>
            <a:ext cx="4710023" cy="3168140"/>
            <a:chOff x="744152" y="3217654"/>
            <a:chExt cx="4710023" cy="3168140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6700C51B-411A-ED88-F128-08B49EA6AE41}"/>
                </a:ext>
              </a:extLst>
            </p:cNvPr>
            <p:cNvSpPr/>
            <p:nvPr/>
          </p:nvSpPr>
          <p:spPr>
            <a:xfrm>
              <a:off x="744152" y="3217654"/>
              <a:ext cx="4710023" cy="3168140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F5C5ADDE-0311-7903-7B55-714BAFDF1140}"/>
                </a:ext>
              </a:extLst>
            </p:cNvPr>
            <p:cNvSpPr txBox="1"/>
            <p:nvPr/>
          </p:nvSpPr>
          <p:spPr>
            <a:xfrm>
              <a:off x="935993" y="3837148"/>
              <a:ext cx="4326340" cy="2125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return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(  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 &lt;h1&gt;Olá, mundo!&lt;/h1&gt;  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 &lt;p&gt;Bem-vindo ao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React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!&lt;/p&gt;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);</a:t>
              </a:r>
            </a:p>
            <a:p>
              <a:pPr>
                <a:lnSpc>
                  <a:spcPct val="150000"/>
                </a:lnSpc>
              </a:pPr>
              <a:endParaRPr lang="pt-BR" sz="18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67A3347-55AE-0C96-0399-43E86CCC6C53}"/>
              </a:ext>
            </a:extLst>
          </p:cNvPr>
          <p:cNvGrpSpPr/>
          <p:nvPr/>
        </p:nvGrpSpPr>
        <p:grpSpPr>
          <a:xfrm>
            <a:off x="6737825" y="3217654"/>
            <a:ext cx="4710023" cy="3168141"/>
            <a:chOff x="6174419" y="3333708"/>
            <a:chExt cx="4710023" cy="3168141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55E654D0-04B0-CF34-5BED-4B0178C6C1DB}"/>
                </a:ext>
              </a:extLst>
            </p:cNvPr>
            <p:cNvSpPr/>
            <p:nvPr/>
          </p:nvSpPr>
          <p:spPr>
            <a:xfrm>
              <a:off x="6174419" y="3333708"/>
              <a:ext cx="4710023" cy="3168141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841F903-E94D-50FC-7CF1-62F588400304}"/>
                </a:ext>
              </a:extLst>
            </p:cNvPr>
            <p:cNvSpPr txBox="1"/>
            <p:nvPr/>
          </p:nvSpPr>
          <p:spPr>
            <a:xfrm>
              <a:off x="6366260" y="3647367"/>
              <a:ext cx="4326340" cy="2540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return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(  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 &lt;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div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&gt;    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   &lt;h1&gt;Olá, mundo!&lt;/h1&gt;    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   &lt;p&gt;Bem-vindo ao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React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!&lt;/p&gt;</a:t>
              </a:r>
            </a:p>
            <a:p>
              <a:pPr>
                <a:lnSpc>
                  <a:spcPct val="150000"/>
                </a:lnSpc>
              </a:pP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&lt;/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div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);  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24E89D1-DD63-C095-2DA2-4B55F7CBBC99}"/>
              </a:ext>
            </a:extLst>
          </p:cNvPr>
          <p:cNvSpPr txBox="1"/>
          <p:nvPr/>
        </p:nvSpPr>
        <p:spPr>
          <a:xfrm>
            <a:off x="744152" y="2609667"/>
            <a:ext cx="1485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Incorreto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D3C0AC0-0D08-6CDF-C19D-095023B1AB30}"/>
              </a:ext>
            </a:extLst>
          </p:cNvPr>
          <p:cNvSpPr txBox="1"/>
          <p:nvPr/>
        </p:nvSpPr>
        <p:spPr>
          <a:xfrm>
            <a:off x="6737825" y="2609667"/>
            <a:ext cx="3069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6A4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Correto — Utilizando </a:t>
            </a:r>
            <a:r>
              <a:rPr lang="pt-BR" b="1" dirty="0" err="1">
                <a:solidFill>
                  <a:srgbClr val="66A4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endParaRPr lang="pt-BR" b="1" dirty="0">
              <a:solidFill>
                <a:srgbClr val="66A4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538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5F3EE-8542-4FE6-9F83-4842ED12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F82BE-50BA-ED6B-D82E-1FC88A5C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Fechar todas as </a:t>
            </a:r>
            <a:r>
              <a:rPr lang="pt-BR" b="1" dirty="0" err="1"/>
              <a:t>tags</a:t>
            </a:r>
            <a:r>
              <a:rPr lang="pt-BR" b="1" dirty="0"/>
              <a:t> e </a:t>
            </a:r>
            <a:r>
              <a:rPr lang="pt-BR" b="1" dirty="0" err="1"/>
              <a:t>className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8A775A-2159-DA43-7547-727AFF19D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65612"/>
          </a:xfrm>
        </p:spPr>
        <p:txBody>
          <a:bodyPr/>
          <a:lstStyle/>
          <a:p>
            <a:r>
              <a:rPr lang="pt-BR" dirty="0"/>
              <a:t>Diferentemente do HTML, todas as </a:t>
            </a:r>
            <a:r>
              <a:rPr lang="pt-BR" dirty="0" err="1"/>
              <a:t>tags</a:t>
            </a:r>
            <a:r>
              <a:rPr lang="pt-BR" dirty="0"/>
              <a:t> precisam ser fechadas.</a:t>
            </a:r>
          </a:p>
          <a:p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270D815-E62B-85C4-F43A-1E3974A3111D}"/>
              </a:ext>
            </a:extLst>
          </p:cNvPr>
          <p:cNvGrpSpPr/>
          <p:nvPr/>
        </p:nvGrpSpPr>
        <p:grpSpPr>
          <a:xfrm>
            <a:off x="2769079" y="2775923"/>
            <a:ext cx="6653842" cy="760907"/>
            <a:chOff x="2769079" y="2775923"/>
            <a:chExt cx="6653842" cy="760907"/>
          </a:xfrm>
        </p:grpSpPr>
        <p:sp>
          <p:nvSpPr>
            <p:cNvPr id="5" name="Shape 20">
              <a:extLst>
                <a:ext uri="{FF2B5EF4-FFF2-40B4-BE49-F238E27FC236}">
                  <a16:creationId xmlns:a16="http://schemas.microsoft.com/office/drawing/2014/main" id="{9F6F9BCC-8EB2-DAA0-6556-010776F48F0F}"/>
                </a:ext>
              </a:extLst>
            </p:cNvPr>
            <p:cNvSpPr/>
            <p:nvPr/>
          </p:nvSpPr>
          <p:spPr>
            <a:xfrm>
              <a:off x="2769079" y="2775923"/>
              <a:ext cx="6653842" cy="76090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B4264FF-7B6D-19DD-34EF-49F53BDB99DC}"/>
                </a:ext>
              </a:extLst>
            </p:cNvPr>
            <p:cNvSpPr txBox="1"/>
            <p:nvPr/>
          </p:nvSpPr>
          <p:spPr>
            <a:xfrm>
              <a:off x="3040093" y="2924710"/>
              <a:ext cx="6111814" cy="463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&lt;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img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src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="foto.png" /&gt;</a:t>
              </a:r>
            </a:p>
          </p:txBody>
        </p:sp>
      </p:grp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2CA6218C-070D-DB92-8C8A-418A96129E7C}"/>
              </a:ext>
            </a:extLst>
          </p:cNvPr>
          <p:cNvSpPr txBox="1">
            <a:spLocks/>
          </p:cNvSpPr>
          <p:nvPr/>
        </p:nvSpPr>
        <p:spPr>
          <a:xfrm>
            <a:off x="592347" y="4311425"/>
            <a:ext cx="11007306" cy="66561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Utilizar </a:t>
            </a:r>
            <a:r>
              <a:rPr lang="pt-BR" dirty="0" err="1"/>
              <a:t>className</a:t>
            </a:r>
            <a:r>
              <a:rPr lang="pt-BR" dirty="0"/>
              <a:t> no lugar de </a:t>
            </a:r>
            <a:r>
              <a:rPr lang="pt-BR" dirty="0" err="1"/>
              <a:t>class</a:t>
            </a:r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58B7F11-3909-D287-0217-AC9B08B55F76}"/>
              </a:ext>
            </a:extLst>
          </p:cNvPr>
          <p:cNvGrpSpPr/>
          <p:nvPr/>
        </p:nvGrpSpPr>
        <p:grpSpPr>
          <a:xfrm>
            <a:off x="2769079" y="5242673"/>
            <a:ext cx="6653842" cy="760907"/>
            <a:chOff x="2769079" y="2775923"/>
            <a:chExt cx="6653842" cy="760907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68A49EF2-EE7E-AB9E-F3E3-B776853913CF}"/>
                </a:ext>
              </a:extLst>
            </p:cNvPr>
            <p:cNvSpPr/>
            <p:nvPr/>
          </p:nvSpPr>
          <p:spPr>
            <a:xfrm>
              <a:off x="2769079" y="2775923"/>
              <a:ext cx="6653842" cy="76090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C990807-0C75-8F5F-386C-47805E98D386}"/>
                </a:ext>
              </a:extLst>
            </p:cNvPr>
            <p:cNvSpPr txBox="1"/>
            <p:nvPr/>
          </p:nvSpPr>
          <p:spPr>
            <a:xfrm>
              <a:off x="3040093" y="2924710"/>
              <a:ext cx="6111814" cy="463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&lt;h1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className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="titulo"&gt;Olá, mundo!&lt;/h1&gt;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6862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23CAF-4495-AE72-6CD5-FE8B998B7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 b="1"/>
              <a:t>O que é Node.js?</a:t>
            </a:r>
            <a:endParaRPr lang="pt-BR" sz="26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95E892-0358-33D4-DF7F-C66F5A81A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pt-BR" dirty="0"/>
              <a:t>O Node.js é um ambiente de execução que permite utilizar </a:t>
            </a:r>
            <a:r>
              <a:rPr lang="pt-BR" dirty="0" err="1"/>
              <a:t>JavaScript</a:t>
            </a:r>
            <a:r>
              <a:rPr lang="pt-BR" dirty="0"/>
              <a:t> fora do navegador.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pt-BR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pt-BR" dirty="0"/>
              <a:t>No desenvolvimento com </a:t>
            </a:r>
            <a:r>
              <a:rPr lang="pt-BR" dirty="0" err="1"/>
              <a:t>React</a:t>
            </a:r>
            <a:r>
              <a:rPr lang="pt-BR" dirty="0"/>
              <a:t>, ele permite executar ferramentas, instalar dependências e iniciar o ambiente de desenvolvimento.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pt-BR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pt-BR" dirty="0"/>
              <a:t>Exemplo: Utilizamos o Node.js para executar comandos como </a:t>
            </a: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e </a:t>
            </a: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run</a:t>
            </a:r>
            <a:r>
              <a:rPr lang="pt-BR" dirty="0"/>
              <a:t> dev.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pt-BR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ACEEEB9-4C90-21AA-7874-11F64D705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435126"/>
            <a:ext cx="5181600" cy="317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52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C9D77-20DA-A54B-F0C0-56D7F739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 b="1"/>
              <a:t>O que é Vite?</a:t>
            </a:r>
            <a:endParaRPr lang="pt-BR" sz="26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6A8EA7-F9C0-0651-4E16-F3AA05F07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pt-BR" sz="1700"/>
              <a:t>O Vite é uma ferramenta que facilita a criação e o desenvolvimento de aplicações web, incluindo projetos </a:t>
            </a:r>
            <a:r>
              <a:rPr lang="pt-BR" sz="1700" err="1"/>
              <a:t>React</a:t>
            </a:r>
            <a:r>
              <a:rPr lang="pt-BR" sz="1700"/>
              <a:t>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pt-BR" sz="170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pt-BR" sz="1700"/>
              <a:t>Ele oferece um servidor de desenvolvimento rápido, atualização automática da página e recursos para gerar a versão de produção.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pt-BR" sz="170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pt-BR" sz="1700"/>
              <a:t>Exemplo: Utilizamos o Vite para criar e executar nosso projeto </a:t>
            </a:r>
            <a:r>
              <a:rPr lang="pt-BR" sz="1700" err="1"/>
              <a:t>React</a:t>
            </a:r>
            <a:r>
              <a:rPr lang="pt-BR" sz="1700"/>
              <a:t>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pt-BR" sz="17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ED886FF-190E-3CA4-BA4D-C7D6F24CD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8819" y="1844675"/>
            <a:ext cx="44159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0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026F4-A3E4-BABF-6CA2-040E332D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</a:t>
            </a:r>
            <a:r>
              <a:rPr lang="pt-BR" dirty="0" err="1"/>
              <a:t>React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718F706-70C9-F002-90A2-B4B3AC1C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5575540" cy="665612"/>
          </a:xfrm>
        </p:spPr>
        <p:txBody>
          <a:bodyPr/>
          <a:lstStyle/>
          <a:p>
            <a:r>
              <a:rPr lang="pt-BR" dirty="0"/>
              <a:t>Verificar se o node esta instalado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39D8E3B-DD94-62EF-8272-FA75EBE4852E}"/>
              </a:ext>
            </a:extLst>
          </p:cNvPr>
          <p:cNvGrpSpPr/>
          <p:nvPr/>
        </p:nvGrpSpPr>
        <p:grpSpPr>
          <a:xfrm>
            <a:off x="592347" y="2945576"/>
            <a:ext cx="5575540" cy="760907"/>
            <a:chOff x="2769079" y="2775923"/>
            <a:chExt cx="6653842" cy="760907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FD0DFF83-54C2-D708-6503-0A6634726B1B}"/>
                </a:ext>
              </a:extLst>
            </p:cNvPr>
            <p:cNvSpPr/>
            <p:nvPr/>
          </p:nvSpPr>
          <p:spPr>
            <a:xfrm>
              <a:off x="2769079" y="2775923"/>
              <a:ext cx="6653842" cy="76090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974C1CCC-332C-65E6-4D45-6AB07D460078}"/>
                </a:ext>
              </a:extLst>
            </p:cNvPr>
            <p:cNvSpPr txBox="1"/>
            <p:nvPr/>
          </p:nvSpPr>
          <p:spPr>
            <a:xfrm>
              <a:off x="3040093" y="2924710"/>
              <a:ext cx="6111814" cy="463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node -v</a:t>
              </a:r>
            </a:p>
          </p:txBody>
        </p:sp>
      </p:grp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7354809A-52C8-E9F5-AAC5-18496A69816E}"/>
              </a:ext>
            </a:extLst>
          </p:cNvPr>
          <p:cNvSpPr txBox="1">
            <a:spLocks/>
          </p:cNvSpPr>
          <p:nvPr/>
        </p:nvSpPr>
        <p:spPr>
          <a:xfrm>
            <a:off x="592347" y="4141772"/>
            <a:ext cx="5575540" cy="66561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Instalar o </a:t>
            </a:r>
            <a:r>
              <a:rPr lang="pt-BR" dirty="0" err="1"/>
              <a:t>vite</a:t>
            </a:r>
            <a:r>
              <a:rPr lang="pt-BR" dirty="0"/>
              <a:t>, cole o seguinte código no </a:t>
            </a:r>
            <a:r>
              <a:rPr lang="pt-BR" dirty="0" err="1"/>
              <a:t>vscode</a:t>
            </a:r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842500-4D17-1114-F4FD-8D706B151A46}"/>
              </a:ext>
            </a:extLst>
          </p:cNvPr>
          <p:cNvGrpSpPr/>
          <p:nvPr/>
        </p:nvGrpSpPr>
        <p:grpSpPr>
          <a:xfrm>
            <a:off x="592347" y="5242673"/>
            <a:ext cx="5575540" cy="760907"/>
            <a:chOff x="2769079" y="2775923"/>
            <a:chExt cx="6653842" cy="760907"/>
          </a:xfrm>
        </p:grpSpPr>
        <p:sp>
          <p:nvSpPr>
            <p:cNvPr id="14" name="Shape 20">
              <a:extLst>
                <a:ext uri="{FF2B5EF4-FFF2-40B4-BE49-F238E27FC236}">
                  <a16:creationId xmlns:a16="http://schemas.microsoft.com/office/drawing/2014/main" id="{20106EFE-EFD9-2CCF-09A6-DA10A9173B6C}"/>
                </a:ext>
              </a:extLst>
            </p:cNvPr>
            <p:cNvSpPr/>
            <p:nvPr/>
          </p:nvSpPr>
          <p:spPr>
            <a:xfrm>
              <a:off x="2769079" y="2775923"/>
              <a:ext cx="6653842" cy="76090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AEE24E1-9F2B-7649-185D-FEC3CBAA15CC}"/>
                </a:ext>
              </a:extLst>
            </p:cNvPr>
            <p:cNvSpPr txBox="1"/>
            <p:nvPr/>
          </p:nvSpPr>
          <p:spPr>
            <a:xfrm>
              <a:off x="3040093" y="2924710"/>
              <a:ext cx="6111814" cy="463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npm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create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vite@latest</a:t>
              </a:r>
              <a:endParaRPr lang="pt-BR" sz="18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  <p:pic>
        <p:nvPicPr>
          <p:cNvPr id="17" name="Imagem 16">
            <a:extLst>
              <a:ext uri="{FF2B5EF4-FFF2-40B4-BE49-F238E27FC236}">
                <a16:creationId xmlns:a16="http://schemas.microsoft.com/office/drawing/2014/main" id="{E98B4E31-6547-7952-F02F-467173844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730" y="1992083"/>
            <a:ext cx="4415786" cy="429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4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B93D4-56D3-6B6A-0B74-6AFDCAF3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0216A-99A0-25EB-7885-59242F22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Executar o ambiente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3ABC922-1A2F-0E51-4052-AB7165D5C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7870166" cy="665612"/>
          </a:xfrm>
        </p:spPr>
        <p:txBody>
          <a:bodyPr/>
          <a:lstStyle/>
          <a:p>
            <a:r>
              <a:rPr lang="pt-BR" dirty="0"/>
              <a:t>Para executar o ambiente, depois de sair </a:t>
            </a:r>
            <a:r>
              <a:rPr lang="pt-BR" dirty="0" err="1"/>
              <a:t>executeo</a:t>
            </a:r>
            <a:r>
              <a:rPr lang="pt-BR" dirty="0"/>
              <a:t> código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43EFCF6-9073-38C0-A7E2-6A04596DAFCA}"/>
              </a:ext>
            </a:extLst>
          </p:cNvPr>
          <p:cNvGrpSpPr/>
          <p:nvPr/>
        </p:nvGrpSpPr>
        <p:grpSpPr>
          <a:xfrm>
            <a:off x="592347" y="2807553"/>
            <a:ext cx="5575540" cy="1402138"/>
            <a:chOff x="2769079" y="2775923"/>
            <a:chExt cx="6653842" cy="760907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C0C30D26-CAEA-3257-7820-428A5252B225}"/>
                </a:ext>
              </a:extLst>
            </p:cNvPr>
            <p:cNvSpPr/>
            <p:nvPr/>
          </p:nvSpPr>
          <p:spPr>
            <a:xfrm>
              <a:off x="2769079" y="2775923"/>
              <a:ext cx="6653842" cy="76090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F27B937-B56D-3C17-F0E6-704692058889}"/>
                </a:ext>
              </a:extLst>
            </p:cNvPr>
            <p:cNvSpPr txBox="1"/>
            <p:nvPr/>
          </p:nvSpPr>
          <p:spPr>
            <a:xfrm>
              <a:off x="3040093" y="2924710"/>
              <a:ext cx="6111813" cy="476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cd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.\viva-cultural\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npm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run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dev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8937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4512702-CA98-AED0-F4EC-F2E255C8D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Estrutura da pasta SRC no </a:t>
            </a:r>
            <a:r>
              <a:rPr lang="pt-BR" b="1" dirty="0" err="1"/>
              <a:t>React</a:t>
            </a:r>
            <a:br>
              <a:rPr lang="pt-BR" b="1" dirty="0"/>
            </a:b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CC257C-638F-AE85-37F2-C80149CB4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24404"/>
          </a:xfrm>
        </p:spPr>
        <p:txBody>
          <a:bodyPr/>
          <a:lstStyle/>
          <a:p>
            <a:r>
              <a:rPr lang="pt-BR" dirty="0"/>
              <a:t>A pasta </a:t>
            </a:r>
            <a:r>
              <a:rPr lang="pt-BR" dirty="0" err="1"/>
              <a:t>src</a:t>
            </a:r>
            <a:r>
              <a:rPr lang="pt-BR" dirty="0"/>
              <a:t> (</a:t>
            </a:r>
            <a:r>
              <a:rPr lang="pt-BR" dirty="0" err="1"/>
              <a:t>source</a:t>
            </a:r>
            <a:r>
              <a:rPr lang="pt-BR" dirty="0"/>
              <a:t>) contém o código-fonte da aplicação </a:t>
            </a:r>
            <a:r>
              <a:rPr lang="pt-BR" dirty="0" err="1"/>
              <a:t>React</a:t>
            </a:r>
            <a:r>
              <a:rPr lang="pt-BR" dirty="0"/>
              <a:t>, incluindo componentes, estilos e recursos utilizados na interface.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566324D-3209-A44C-434D-6C83671EEAD3}"/>
              </a:ext>
            </a:extLst>
          </p:cNvPr>
          <p:cNvGrpSpPr/>
          <p:nvPr/>
        </p:nvGrpSpPr>
        <p:grpSpPr>
          <a:xfrm>
            <a:off x="744153" y="2923855"/>
            <a:ext cx="2991086" cy="3566160"/>
            <a:chOff x="744152" y="3217654"/>
            <a:chExt cx="4710023" cy="3168140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406E0138-2B2A-DDDA-9EB3-E934BA1D0A3A}"/>
                </a:ext>
              </a:extLst>
            </p:cNvPr>
            <p:cNvSpPr/>
            <p:nvPr/>
          </p:nvSpPr>
          <p:spPr>
            <a:xfrm>
              <a:off x="744152" y="3217654"/>
              <a:ext cx="4710023" cy="3168140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A53D28F-0A36-6DAE-136D-BE4BA3ABCFC6}"/>
                </a:ext>
              </a:extLst>
            </p:cNvPr>
            <p:cNvSpPr txBox="1"/>
            <p:nvPr/>
          </p:nvSpPr>
          <p:spPr>
            <a:xfrm>
              <a:off x="935993" y="3531312"/>
              <a:ext cx="4326340" cy="2540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src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/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├──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assets</a:t>
              </a: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/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├──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App.jsx</a:t>
              </a:r>
              <a:endParaRPr lang="pt-BR" sz="1800" kern="0" spc="-19" dirty="0">
                <a:solidFill>
                  <a:srgbClr val="D73A49"/>
                </a:solidFill>
                <a:latin typeface="Consolas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├── App.css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├── index.css</a:t>
              </a:r>
            </a:p>
            <a:p>
              <a:pPr>
                <a:lnSpc>
                  <a:spcPct val="150000"/>
                </a:lnSpc>
              </a:pPr>
              <a:r>
                <a:rPr lang="pt-BR" sz="1800" kern="0" spc="-19" dirty="0">
                  <a:solidFill>
                    <a:srgbClr val="D73A49"/>
                  </a:solidFill>
                  <a:latin typeface="Consolas" pitchFamily="34" charset="0"/>
                </a:rPr>
                <a:t>└── </a:t>
              </a:r>
              <a:r>
                <a:rPr lang="pt-BR" sz="1800" kern="0" spc="-19" dirty="0" err="1">
                  <a:solidFill>
                    <a:srgbClr val="D73A49"/>
                  </a:solidFill>
                  <a:latin typeface="Consolas" pitchFamily="34" charset="0"/>
                </a:rPr>
                <a:t>main.jsx</a:t>
              </a:r>
              <a:endParaRPr lang="pt-BR" sz="18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779C899A-4166-B2D8-D601-681A55A9F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951815"/>
              </p:ext>
            </p:extLst>
          </p:nvPr>
        </p:nvGraphicFramePr>
        <p:xfrm>
          <a:off x="4165715" y="3131389"/>
          <a:ext cx="7282132" cy="2889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0028">
                  <a:extLst>
                    <a:ext uri="{9D8B030D-6E8A-4147-A177-3AD203B41FA5}">
                      <a16:colId xmlns:a16="http://schemas.microsoft.com/office/drawing/2014/main" val="114620895"/>
                    </a:ext>
                  </a:extLst>
                </a:gridCol>
                <a:gridCol w="5392104">
                  <a:extLst>
                    <a:ext uri="{9D8B030D-6E8A-4147-A177-3AD203B41FA5}">
                      <a16:colId xmlns:a16="http://schemas.microsoft.com/office/drawing/2014/main" val="1815925444"/>
                    </a:ext>
                  </a:extLst>
                </a:gridCol>
              </a:tblGrid>
              <a:tr h="500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Arquivo / Pasta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 que serve?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484891"/>
                  </a:ext>
                </a:extLst>
              </a:tr>
              <a:tr h="416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</a:t>
                      </a: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Armazena imagens, ícones e outros recursos da aplicação.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51457"/>
                  </a:ext>
                </a:extLst>
              </a:tr>
              <a:tr h="4917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App.jsx</a:t>
                      </a:r>
                      <a:endParaRPr lang="pt-B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Componente principal, responsável por organizar a interface.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297138"/>
                  </a:ext>
                </a:extLst>
              </a:tr>
              <a:tr h="4917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App.css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Contém os estilos CSS utilizados no componente App.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906985"/>
                  </a:ext>
                </a:extLst>
              </a:tr>
              <a:tr h="4744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index.css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os estilos globais da aplicação.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91115"/>
                  </a:ext>
                </a:extLst>
              </a:tr>
              <a:tr h="515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main.jsx</a:t>
                      </a:r>
                      <a:endParaRPr lang="pt-B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Inicializa o </a:t>
                      </a:r>
                      <a:r>
                        <a:rPr lang="pt-BR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 renderiza o componente App na página.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0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7302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</TotalTime>
  <Words>847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Consolas</vt:lpstr>
      <vt:lpstr>Times New Roman</vt:lpstr>
      <vt:lpstr>Tema do Office</vt:lpstr>
      <vt:lpstr>Introdução ao React</vt:lpstr>
      <vt:lpstr>Objetivo da aula</vt:lpstr>
      <vt:lpstr>O que é o React ?</vt:lpstr>
      <vt:lpstr>O que é Front-end Imperativo?</vt:lpstr>
      <vt:lpstr>Front-end Declarativo</vt:lpstr>
      <vt:lpstr>O que é JSX?</vt:lpstr>
      <vt:lpstr>Regras do JSX</vt:lpstr>
      <vt:lpstr>Retornar um único elemento pai</vt:lpstr>
      <vt:lpstr>Regra: Utilizar uma única tag pai</vt:lpstr>
      <vt:lpstr>Fechar todas as tags e className</vt:lpstr>
      <vt:lpstr>O que é Node.js?</vt:lpstr>
      <vt:lpstr>O que é Vite?</vt:lpstr>
      <vt:lpstr>Instalação React</vt:lpstr>
      <vt:lpstr>Executar o ambiente</vt:lpstr>
      <vt:lpstr>Estrutura da pasta SRC no React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95</cp:revision>
  <dcterms:created xsi:type="dcterms:W3CDTF">2024-03-08T12:14:33Z</dcterms:created>
  <dcterms:modified xsi:type="dcterms:W3CDTF">2026-10-19T01:20:04Z</dcterms:modified>
</cp:coreProperties>
</file>